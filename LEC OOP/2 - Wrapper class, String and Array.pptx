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22"/>
  </p:notesMasterIdLst>
  <p:sldIdLst>
    <p:sldId id="256" r:id="rId5"/>
    <p:sldId id="257" r:id="rId6"/>
    <p:sldId id="277" r:id="rId7"/>
    <p:sldId id="280" r:id="rId8"/>
    <p:sldId id="281" r:id="rId9"/>
    <p:sldId id="279" r:id="rId10"/>
    <p:sldId id="283" r:id="rId11"/>
    <p:sldId id="270" r:id="rId12"/>
    <p:sldId id="276" r:id="rId13"/>
    <p:sldId id="284" r:id="rId14"/>
    <p:sldId id="285" r:id="rId15"/>
    <p:sldId id="286" r:id="rId16"/>
    <p:sldId id="287" r:id="rId17"/>
    <p:sldId id="288" r:id="rId18"/>
    <p:sldId id="289" r:id="rId19"/>
    <p:sldId id="291" r:id="rId20"/>
    <p:sldId id="290" r:id="rId21"/>
  </p:sldIdLst>
  <p:sldSz cx="24384000" cy="13716000"/>
  <p:notesSz cx="6858000" cy="9144000"/>
  <p:embeddedFontLst>
    <p:embeddedFont>
      <p:font typeface="OCRB" panose="020B0609020202020204" pitchFamily="49" charset="0"/>
      <p:regular r:id="rId23"/>
    </p:embeddedFont>
    <p:embeddedFont>
      <p:font typeface="Open Sans" panose="020B0606030504020204" pitchFamily="34" charset="0"/>
      <p:regular r:id="rId24"/>
      <p:bold r:id="rId25"/>
      <p:italic r:id="rId26"/>
      <p:boldItalic r:id="rId27"/>
    </p:embeddedFont>
    <p:embeddedFont>
      <p:font typeface="Open Sans ExtraBold" panose="020B0906030804020204" pitchFamily="34" charset="0"/>
      <p:bold r:id="rId28"/>
      <p:italic r:id="rId29"/>
      <p:boldItalic r:id="rId30"/>
    </p:embeddedFont>
    <p:embeddedFont>
      <p:font typeface="Open Sans Light" panose="020B0306030504020204" pitchFamily="34" charset="0"/>
      <p:regular r:id="rId31"/>
      <p:italic r:id="rId32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A92C32-FC4F-69D2-AEE4-ABC0F6ABA1DE}" v="2" dt="2026-01-05T02:19:00.15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6197"/>
  </p:normalViewPr>
  <p:slideViewPr>
    <p:cSldViewPr snapToGrid="0" snapToObjects="1">
      <p:cViewPr varScale="1">
        <p:scale>
          <a:sx n="51" d="100"/>
          <a:sy n="51" d="100"/>
        </p:scale>
        <p:origin x="288" y="55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IA PRICCILIA" userId="S::shania.priccilia@binus.ac.id::28f68feb-2ad7-4195-8423-6eee3405c604" providerId="AD" clId="Web-{EFA92C32-FC4F-69D2-AEE4-ABC0F6ABA1DE}"/>
    <pc:docChg chg="modSld">
      <pc:chgData name="SHANIA PRICCILIA" userId="S::shania.priccilia@binus.ac.id::28f68feb-2ad7-4195-8423-6eee3405c604" providerId="AD" clId="Web-{EFA92C32-FC4F-69D2-AEE4-ABC0F6ABA1DE}" dt="2026-01-05T02:18:57.418" v="0" actId="20577"/>
      <pc:docMkLst>
        <pc:docMk/>
      </pc:docMkLst>
      <pc:sldChg chg="modSp">
        <pc:chgData name="SHANIA PRICCILIA" userId="S::shania.priccilia@binus.ac.id::28f68feb-2ad7-4195-8423-6eee3405c604" providerId="AD" clId="Web-{EFA92C32-FC4F-69D2-AEE4-ABC0F6ABA1DE}" dt="2026-01-05T02:18:57.418" v="0" actId="20577"/>
        <pc:sldMkLst>
          <pc:docMk/>
          <pc:sldMk cId="3803013535" sldId="291"/>
        </pc:sldMkLst>
        <pc:spChg chg="mod">
          <ac:chgData name="SHANIA PRICCILIA" userId="S::shania.priccilia@binus.ac.id::28f68feb-2ad7-4195-8423-6eee3405c604" providerId="AD" clId="Web-{EFA92C32-FC4F-69D2-AEE4-ABC0F6ABA1DE}" dt="2026-01-05T02:18:57.418" v="0" actId="20577"/>
          <ac:spMkLst>
            <pc:docMk/>
            <pc:sldMk cId="3803013535" sldId="291"/>
            <ac:spMk id="8" creationId="{2D4EDDAF-1199-5258-8A0A-CF72A7252131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30T06:45:15.1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6021 197 24575,'-233'19'0,"89"-4"0,-500 11 0,-7-27 0,238-1 0,-324 2 0,647-4 0,-95-17 0,16 2 0,-45 6 0,-97-10 0,50-15 0,125 16 0,-192-7 0,227 29 0,-162-9 0,165-2 0,-401-25 0,481 36 0,-1 1 0,-22 3 0,34-2 0,0-1 0,1 1 0,-1 1 0,0-1 0,1 1 0,-1 0 0,1 0 0,0 1 0,-7 5 0,-1 3 0,0 1 0,1 0 0,1 1 0,-12 16 0,-39 66 0,35-52 0,9-15 0,5-10 0,1 1 0,2 0 0,0 1 0,-13 33 0,-3 45 0,-15 104 0,11-41 0,18-93 0,3 0 0,-1 77 0,11 141 0,3-143 0,-3-68 0,-1 39 0,24 189 0,-13-241 0,22 74 0,-24-114 0,0 0 0,1-1 0,2 0 0,0-1 0,1 0 0,20 26 0,31 27 0,4-4 0,101 85 0,-137-128 0,52 44 0,4-3 0,3-4 0,147 78 0,-192-121 1,2-1 1,1-2-1,0-3 0,1-1 0,0-3 0,81 8 0,304-7-87,-396-12 62,86-1-279,289-11 97,-342 5 206,-1-4 0,108-30 0,131-61 0,20-4 0,162-8-9,-136 35 120,-313 69 56,272-73 211,-245 61-390,-2-3 0,98-52 0,-79 29 12,-1-5 0,127-104 0,-175 121 0,-1-2 0,-1-2 0,55-83 0,16-21 0,-91 127 0,-1 0 0,-1-2 0,-1 1 0,0-2 0,-2 0 0,0 0 0,-1-1 0,12-42 0,11-151 0,-15 74 0,8-6 0,27-222 0,-46-101 0,-7 347 0,1 94 0,-2-1 0,-6-42 0,5 61 0,1 0 0,-1 0 0,0 1 0,-1-1 0,0 1 0,-1 0 0,0 0 0,0 0 0,-1 1 0,-11-12 0,-16-14-1365,4 8-5461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30T06:45:16.5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1460 24575,'100'-2'0,"128"-19"0,-212 19 0,398-52-1638,209-36-5025,193-38 4158,199-26 683,214-11 1222,779-34-291,12 116-838,-807 102 1346,-125 27 261,-136 6 92,-146-6 30,-148-11 94,-129-14 284,-94-24-67,-78-13 559,2-11 2238,358-74 1,-677 93-3144,-3 2 1617,67-22-1,-103 28-1520,1 0 0,-1-1 0,1 1 0,-1-1 0,1 0 0,-1 1 0,1-1 0,-1 0-1,1 0 1,-1 0 0,0 0 0,1 0 0,-1 0 0,0 0 0,0 0 0,0-1 0,0 1-1,0 0 1,0-1 0,0 1 0,-1 0 0,1-1 0,0 1 0,-1-1 0,1 0 0,-1 1-1,0-1 1,1 1 0,-1-1 0,0 0 0,0 1 0,0-1 0,0 0 0,0 1 0,-1-1-1,1 1 1,0-1 0,-1 0 0,1 1 0,-1-1 0,1 1 0,-1-1 0,0 1 0,0 0-1,0-1 1,-2-2 0,-4-7 272,-2 1 1,0 0-1,0 0 0,-16-13 0,21 19-266,-35-26 320,-77-48 0,89 62-371,-11-6-16,-78-30 0,-2-2 0,71 29 0,0-3 0,-77-60 0,109 75 0,-2 0 0,1 2 0,-30-17 0,29 24 0,17 4 0,-1 0 0,1 0 0,0 0 0,0 0 0,0 0 0,-1 0 0,1 1 0,0-1 0,0 0 0,0 0 0,-1 0 0,1 0 0,0 0 0,0 0 0,0 1 0,-1-1 0,1 0 0,0 0 0,0 0 0,0 0 0,0 1 0,0-1 0,0 0 0,-1 0 0,1 0 0,0 1 0,0-1 0,0 0 0,0 0 0,0 0 0,0 1 0,0-1 0,0 0 0,0 0 0,0 1 0,0-1 0,1 3 0,0 0 0,0 0 0,0 0 0,0 0 0,0 0 0,1 0 0,0-1 0,1 4 0,18 22 0,0-1 0,2-1 0,0-1 0,32 25 0,116 85 0,-132-106 0,211 173 0,-228-183 0,26 17 0,53 32 0,-40-29 0,-56-35 0,1 0 0,-1 0 0,0 0 0,0 0 0,0 1 0,4 6 0,-8-10 0,0 1 0,0-1 0,0 1 0,0-1 0,0 1 0,0 0 0,-1 0 0,1-1 0,-1 1 0,1 0 0,-1 0 0,0 0 0,0-1 0,0 1 0,0 0 0,0 0 0,0 0 0,0 0 0,0 0 0,-1-1 0,1 1 0,-1 0 0,0 0 0,1-1 0,-1 1 0,0 0 0,-1 1 0,-12 16 0,-1-1 0,-1 0 0,-20 16 0,27-24 0,-95 82 0,-19 20 0,103-92 0,2 1 0,0 1 0,2 1 0,-15 25 0,28-43 0,0 0 0,1 0 0,0 0 0,-1 1 0,2-1 0,-1 0 0,1 1 0,-1-1 0,1 7 0,1-8 0,0 0 0,1 0 0,0 0 0,-1 0 0,1 0 0,1-1 0,-1 1 0,0 0 0,1-1 0,0 1 0,0-1 0,0 1 0,0-1 0,1 0 0,-1 0 0,4 3 0,9 9 0,1-1 0,1-1 0,0 0 0,36 19 0,158 73-1365,31 1-5461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39.png"/><Relationship Id="rId4" Type="http://schemas.openxmlformats.org/officeDocument/2006/relationships/customXml" Target="../ink/ink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/>
              <a:t>Session 2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9600" dirty="0">
                <a:solidFill>
                  <a:schemeClr val="bg1"/>
                </a:solidFill>
              </a:rPr>
              <a:t>Wrapper class, string and array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D6421 – Muhammad Fikri Hasani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Course outline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779059" y="5334432"/>
            <a:ext cx="16422811" cy="4522264"/>
          </a:xfrm>
        </p:spPr>
        <p:txBody>
          <a:bodyPr>
            <a:noAutofit/>
          </a:bodyPr>
          <a:lstStyle/>
          <a:p>
            <a:r>
              <a:rPr lang="en-US" sz="3000" dirty="0"/>
              <a:t>Wrapper Class</a:t>
            </a:r>
          </a:p>
          <a:p>
            <a:r>
              <a:rPr lang="en-US" sz="3000" dirty="0"/>
              <a:t>String Class</a:t>
            </a:r>
          </a:p>
          <a:p>
            <a:r>
              <a:rPr lang="en-US" sz="3000" dirty="0"/>
              <a:t>String Method</a:t>
            </a:r>
          </a:p>
          <a:p>
            <a:r>
              <a:rPr lang="en-US" sz="3000" dirty="0"/>
              <a:t>Array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2FCB8-08B1-1061-B648-71B1FB85D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Wrapper class, string and Array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5AB45-631D-E54A-5C40-80510744A0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Wrapper Class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14F26-319B-72E9-ED03-F51DF022575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926541" y="4500282"/>
            <a:ext cx="17355671" cy="6795990"/>
          </a:xfrm>
        </p:spPr>
        <p:txBody>
          <a:bodyPr>
            <a:normAutofit/>
          </a:bodyPr>
          <a:lstStyle/>
          <a:p>
            <a:r>
              <a:rPr lang="en-US" sz="3000" dirty="0"/>
              <a:t>All primitive data types are wrapped into a class in Java and is fixed.</a:t>
            </a:r>
          </a:p>
          <a:p>
            <a:r>
              <a:rPr lang="en-US" sz="3000" dirty="0"/>
              <a:t>Contains in </a:t>
            </a:r>
            <a:r>
              <a:rPr lang="en-US" sz="3000" dirty="0" err="1"/>
              <a:t>java.lang</a:t>
            </a:r>
            <a:r>
              <a:rPr lang="en-US" sz="3000" dirty="0"/>
              <a:t> package </a:t>
            </a:r>
          </a:p>
          <a:p>
            <a:r>
              <a:rPr lang="en-US" sz="3000" dirty="0"/>
              <a:t>Used to symbolize the primitive data types in an object if necessary.</a:t>
            </a:r>
          </a:p>
          <a:p>
            <a:r>
              <a:rPr lang="en-US" sz="3000" dirty="0"/>
              <a:t>Is the final class and interface.</a:t>
            </a:r>
          </a:p>
          <a:p>
            <a:pPr eaLnBrk="1" hangingPunct="1"/>
            <a:r>
              <a:rPr lang="en-US" sz="2800" dirty="0"/>
              <a:t>There are 8 primitive data type to be wrapped as Class in Java</a:t>
            </a:r>
          </a:p>
          <a:p>
            <a:pPr lvl="1" eaLnBrk="1" hangingPunct="1"/>
            <a:endParaRPr lang="en-US" sz="1800" dirty="0"/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38435206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2FCB8-08B1-1061-B648-71B1FB85D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Wrapper class, string and Array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5AB45-631D-E54A-5C40-80510744A0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Wrapper Class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14F26-319B-72E9-ED03-F51DF022575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926541" y="4500282"/>
            <a:ext cx="17355671" cy="6795990"/>
          </a:xfrm>
        </p:spPr>
        <p:txBody>
          <a:bodyPr>
            <a:normAutofit/>
          </a:bodyPr>
          <a:lstStyle/>
          <a:p>
            <a:r>
              <a:rPr lang="en-US" sz="3200" dirty="0"/>
              <a:t>All numeric class which is derived from abstract class Numeric have method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doubleValue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(),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floatValue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(),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intValue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(),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longValue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(),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shortValue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() </a:t>
            </a:r>
            <a:r>
              <a:rPr lang="en-US" sz="3200" dirty="0"/>
              <a:t>and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byteValue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(), </a:t>
            </a:r>
            <a:r>
              <a:rPr lang="en-US" sz="3200" dirty="0"/>
              <a:t>which will return the value in to its primitive data type.</a:t>
            </a:r>
          </a:p>
          <a:p>
            <a:r>
              <a:rPr lang="en-US" sz="3200" dirty="0"/>
              <a:t>Every Wrapped class will override </a:t>
            </a:r>
            <a:r>
              <a:rPr lang="en-US" sz="3200" dirty="0" err="1"/>
              <a:t>toString</a:t>
            </a:r>
            <a:r>
              <a:rPr lang="en-US" sz="3200" dirty="0"/>
              <a:t>() and equals functions which has been define by class Object. </a:t>
            </a:r>
          </a:p>
          <a:p>
            <a:r>
              <a:rPr lang="en-US" sz="3200" dirty="0"/>
              <a:t>Some numerical and character classes implement the interface Comparable, </a:t>
            </a:r>
            <a:r>
              <a:rPr lang="en-US" sz="3200" dirty="0" err="1"/>
              <a:t>compareTo</a:t>
            </a:r>
            <a:r>
              <a:rPr lang="en-US" sz="3200" dirty="0"/>
              <a:t> function implemented in its class.</a:t>
            </a:r>
          </a:p>
        </p:txBody>
      </p:sp>
    </p:spTree>
    <p:extLst>
      <p:ext uri="{BB962C8B-B14F-4D97-AF65-F5344CB8AC3E}">
        <p14:creationId xmlns:p14="http://schemas.microsoft.com/office/powerpoint/2010/main" val="401023347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2FCB8-08B1-1061-B648-71B1FB85D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Wrapper class, string and Array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5AB45-631D-E54A-5C40-80510744A0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Wrapper Class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14F26-319B-72E9-ED03-F51DF022575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514164" y="4226012"/>
            <a:ext cx="17355671" cy="8462936"/>
          </a:xfrm>
        </p:spPr>
        <p:txBody>
          <a:bodyPr>
            <a:noAutofit/>
          </a:bodyPr>
          <a:lstStyle/>
          <a:p>
            <a:pPr>
              <a:spcBef>
                <a:spcPts val="3000"/>
              </a:spcBef>
            </a:pPr>
            <a:r>
              <a:rPr lang="en-US" sz="2800" dirty="0"/>
              <a:t>Each numeric class has constants : </a:t>
            </a:r>
          </a:p>
          <a:p>
            <a:pPr lvl="2">
              <a:spcBef>
                <a:spcPts val="3000"/>
              </a:spcBef>
            </a:pPr>
            <a:r>
              <a:rPr lang="en-US" sz="2800" dirty="0"/>
              <a:t>MAX_VALUE</a:t>
            </a:r>
          </a:p>
          <a:p>
            <a:pPr lvl="2">
              <a:spcBef>
                <a:spcPts val="3000"/>
              </a:spcBef>
            </a:pPr>
            <a:r>
              <a:rPr lang="en-US" sz="2800" dirty="0"/>
              <a:t>MIN_VALUE</a:t>
            </a:r>
          </a:p>
          <a:p>
            <a:pPr>
              <a:spcBef>
                <a:spcPts val="3000"/>
              </a:spcBef>
            </a:pPr>
            <a:r>
              <a:rPr lang="en-US" sz="2800" dirty="0"/>
              <a:t>MAX_VALUE : maximum value according to its data type</a:t>
            </a:r>
          </a:p>
          <a:p>
            <a:pPr>
              <a:spcBef>
                <a:spcPts val="3000"/>
              </a:spcBef>
            </a:pPr>
            <a:r>
              <a:rPr lang="en-US" sz="2800" dirty="0"/>
              <a:t>MIN_VALUE : minimum value</a:t>
            </a:r>
          </a:p>
          <a:p>
            <a:pPr lvl="2">
              <a:spcBef>
                <a:spcPts val="3000"/>
              </a:spcBef>
            </a:pPr>
            <a:r>
              <a:rPr lang="en-US" sz="2800" dirty="0"/>
              <a:t>For byte, short, int and long.</a:t>
            </a:r>
          </a:p>
          <a:p>
            <a:pPr lvl="2">
              <a:spcBef>
                <a:spcPts val="3000"/>
              </a:spcBef>
            </a:pPr>
            <a:r>
              <a:rPr lang="en-US" sz="2800" dirty="0"/>
              <a:t>For float and double showing positive values.</a:t>
            </a:r>
          </a:p>
          <a:p>
            <a:pPr>
              <a:spcBef>
                <a:spcPts val="3000"/>
              </a:spcBef>
            </a:pPr>
            <a:r>
              <a:rPr lang="en-US" sz="2800" dirty="0"/>
              <a:t>Max integer value = 2.147.483.647</a:t>
            </a:r>
          </a:p>
          <a:p>
            <a:pPr>
              <a:spcBef>
                <a:spcPts val="3000"/>
              </a:spcBef>
            </a:pPr>
            <a:r>
              <a:rPr lang="en-US" sz="2800" dirty="0"/>
              <a:t>Min float value = (1.4E-45)</a:t>
            </a:r>
          </a:p>
          <a:p>
            <a:pPr>
              <a:spcBef>
                <a:spcPts val="3000"/>
              </a:spcBef>
            </a:pPr>
            <a:r>
              <a:rPr lang="en-US" sz="2800" dirty="0"/>
              <a:t>Max double floating point value = (1.79769313486231570e+308d)</a:t>
            </a:r>
          </a:p>
        </p:txBody>
      </p:sp>
    </p:spTree>
    <p:extLst>
      <p:ext uri="{BB962C8B-B14F-4D97-AF65-F5344CB8AC3E}">
        <p14:creationId xmlns:p14="http://schemas.microsoft.com/office/powerpoint/2010/main" val="315319252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FB119-ADA8-E64A-DFB7-F5B216037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Wrapper class, string and java data structures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13D832-49D1-2F50-42FA-298C380222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Wrapper Class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31EFC7-1D80-4CEF-231F-2C6A6551AE6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373747" y="3223274"/>
            <a:ext cx="13714940" cy="803546"/>
          </a:xfrm>
        </p:spPr>
        <p:txBody>
          <a:bodyPr>
            <a:normAutofit/>
          </a:bodyPr>
          <a:lstStyle/>
          <a:p>
            <a:r>
              <a:rPr lang="en-US" sz="4000" dirty="0"/>
              <a:t>To initialize value to Wrapper Class, there are 2 ways: </a:t>
            </a:r>
            <a:endParaRPr lang="en-ID" sz="4000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28390AE-93CF-0D0D-6845-2252BFA7C86F}"/>
              </a:ext>
            </a:extLst>
          </p:cNvPr>
          <p:cNvSpPr txBox="1">
            <a:spLocks/>
          </p:cNvSpPr>
          <p:nvPr/>
        </p:nvSpPr>
        <p:spPr>
          <a:xfrm>
            <a:off x="1604043" y="4830365"/>
            <a:ext cx="5452740" cy="6062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sz="3000" dirty="0"/>
              <a:t>First is using assignment like in primitive data type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C7AF07-A42F-C98B-1A22-080DDFEF4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1" y="6677548"/>
            <a:ext cx="6645971" cy="1812537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5D0BFF0-AAF7-23FB-9E3A-84EAB46DA061}"/>
              </a:ext>
            </a:extLst>
          </p:cNvPr>
          <p:cNvSpPr txBox="1">
            <a:spLocks/>
          </p:cNvSpPr>
          <p:nvPr/>
        </p:nvSpPr>
        <p:spPr>
          <a:xfrm>
            <a:off x="8932494" y="4830365"/>
            <a:ext cx="13331157" cy="1113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sz="3000" dirty="0"/>
              <a:t>Using value of static method. This approach also can help conversing from string.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C00CA3-5803-F711-0378-B964619A4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4383" y="6216914"/>
            <a:ext cx="11264000" cy="1734390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5E18EDF-2E10-59E7-E8B7-B4D6B62E1D6C}"/>
              </a:ext>
            </a:extLst>
          </p:cNvPr>
          <p:cNvSpPr txBox="1">
            <a:spLocks/>
          </p:cNvSpPr>
          <p:nvPr/>
        </p:nvSpPr>
        <p:spPr>
          <a:xfrm>
            <a:off x="3515507" y="9360089"/>
            <a:ext cx="17058493" cy="1113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sz="3000" dirty="0"/>
              <a:t>Each wrapper class also have </a:t>
            </a:r>
            <a:r>
              <a:rPr lang="en-US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parseX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3000" dirty="0"/>
              <a:t>(</a:t>
            </a:r>
            <a:r>
              <a:rPr lang="en-US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parseInt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parseDouble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parseByte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3000" dirty="0"/>
              <a:t>) that can convert string to its corresponding primitive data type.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C8F6C8C-58F9-EED9-8F62-B4FE4CAF81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621" y="10859615"/>
            <a:ext cx="10288992" cy="196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87810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2FCB8-08B1-1061-B648-71B1FB85D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Wrapper class, string and Array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5AB45-631D-E54A-5C40-80510744A0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String Class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14F26-319B-72E9-ED03-F51DF022575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514164" y="4226012"/>
            <a:ext cx="17355671" cy="8462936"/>
          </a:xfrm>
        </p:spPr>
        <p:txBody>
          <a:bodyPr>
            <a:noAutofit/>
          </a:bodyPr>
          <a:lstStyle/>
          <a:p>
            <a:pPr>
              <a:spcBef>
                <a:spcPts val="3000"/>
              </a:spcBef>
            </a:pPr>
            <a:r>
              <a:rPr lang="en-US" sz="2800" dirty="0"/>
              <a:t>A collection of some characters into an array (Array of Character)</a:t>
            </a:r>
          </a:p>
          <a:p>
            <a:pPr>
              <a:spcBef>
                <a:spcPts val="3000"/>
              </a:spcBef>
            </a:pPr>
            <a:r>
              <a:rPr lang="en-US" sz="2800" dirty="0"/>
              <a:t>String declaration: </a:t>
            </a:r>
          </a:p>
          <a:p>
            <a:pPr marL="0" indent="0" algn="ctr">
              <a:spcBef>
                <a:spcPts val="3000"/>
              </a:spcBef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String s = "hello world";</a:t>
            </a:r>
          </a:p>
          <a:p>
            <a:pPr marL="0" indent="0" algn="ctr">
              <a:spcBef>
                <a:spcPts val="3000"/>
              </a:spcBef>
              <a:buNone/>
            </a:pPr>
            <a:r>
              <a:rPr lang="en-US" sz="2800" dirty="0"/>
              <a:t>Or </a:t>
            </a:r>
          </a:p>
          <a:p>
            <a:pPr marL="0" indent="0" algn="ctr">
              <a:spcBef>
                <a:spcPts val="3000"/>
              </a:spcBef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String s1 = new String("this is word");</a:t>
            </a:r>
          </a:p>
          <a:p>
            <a:pPr marL="0" indent="0" algn="ctr">
              <a:spcBef>
                <a:spcPts val="3000"/>
              </a:spcBef>
              <a:buNone/>
            </a:pPr>
            <a:r>
              <a:rPr lang="en-US" sz="2800" dirty="0"/>
              <a:t>Or using array of char:</a:t>
            </a:r>
          </a:p>
          <a:p>
            <a:pPr marL="0" indent="0" algn="ctr">
              <a:spcBef>
                <a:spcPts val="3000"/>
              </a:spcBef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char c[] = {'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h','e','l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'};</a:t>
            </a:r>
          </a:p>
          <a:p>
            <a:pPr marL="0" indent="0" algn="ctr">
              <a:spcBef>
                <a:spcPts val="3000"/>
              </a:spcBef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String s2 = new String(c);</a:t>
            </a:r>
            <a:endParaRPr lang="en-US" sz="2800" dirty="0"/>
          </a:p>
          <a:p>
            <a:pPr>
              <a:spcBef>
                <a:spcPts val="3000"/>
              </a:spcBef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0835698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2800A-FE45-B0BC-EC0B-B623A0393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Wrapper class, string and array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304B2-FCF8-5369-77FA-EE01FCFCE4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String methods 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A91B6E-9845-8AEF-8645-1E8AA5A8E40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67691" y="4007654"/>
            <a:ext cx="13714940" cy="477753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Simple methods for String: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Comparing String:</a:t>
            </a:r>
          </a:p>
          <a:p>
            <a:endParaRPr lang="en-US" dirty="0"/>
          </a:p>
          <a:p>
            <a:endParaRPr lang="en-US" dirty="0"/>
          </a:p>
          <a:p>
            <a:endParaRPr lang="en-ID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C8B493-FAA5-1E5B-E3D9-76E1BC46C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879" y="4848590"/>
            <a:ext cx="10889466" cy="30956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BA2D5B-C9B4-678F-5A32-D21363B90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3879" y="8785192"/>
            <a:ext cx="14513862" cy="403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25932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AB851-F856-1157-09C2-E013941F3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Wrapper class, string and Array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9EAEF-69E4-297B-2D98-B32836FC51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String methods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A58EDF-C710-D596-E3D5-B235233FC08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29697" y="3684926"/>
            <a:ext cx="11745644" cy="803546"/>
          </a:xfrm>
        </p:spPr>
        <p:txBody>
          <a:bodyPr/>
          <a:lstStyle/>
          <a:p>
            <a:r>
              <a:rPr lang="en-US" dirty="0"/>
              <a:t>Substring </a:t>
            </a:r>
            <a:r>
              <a:rPr lang="en-US" dirty="0">
                <a:sym typeface="Wingdings" panose="05000000000000000000" pitchFamily="2" charset="2"/>
              </a:rPr>
              <a:t> string inside of string</a:t>
            </a:r>
            <a:r>
              <a:rPr lang="en-US" dirty="0"/>
              <a:t> </a:t>
            </a: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C6E396-7D28-7B22-D16D-A61FBF2AB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727" y="4553635"/>
            <a:ext cx="14264544" cy="2336644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596E4C15-647E-7124-FC28-8A76466050DE}"/>
              </a:ext>
            </a:extLst>
          </p:cNvPr>
          <p:cNvSpPr txBox="1">
            <a:spLocks/>
          </p:cNvSpPr>
          <p:nvPr/>
        </p:nvSpPr>
        <p:spPr>
          <a:xfrm>
            <a:off x="1629697" y="7357214"/>
            <a:ext cx="11745644" cy="803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Finding a Character or a Substring in a String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2AAAFF-ECED-E2AF-EA5A-433FD4242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083" y="7758987"/>
            <a:ext cx="13975833" cy="548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51909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C09C5-352B-48CD-3826-833FAD806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Wrapper class, string and Array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DE388-8C42-D1F7-9D58-DA9A79270C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Array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FC48F-73C6-FD37-431C-2E122488EA7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989443" y="3637722"/>
            <a:ext cx="15445409" cy="610262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An array is used to store a collection of data, but often we find it more useful to think of an array as a collection of variables of the same type. </a:t>
            </a:r>
          </a:p>
          <a:p>
            <a:pPr algn="just"/>
            <a:r>
              <a:rPr lang="en-US" dirty="0"/>
              <a:t>The type can be primitive datatype, Wrapper class, or Class</a:t>
            </a:r>
          </a:p>
          <a:p>
            <a:r>
              <a:rPr lang="en-ID" dirty="0"/>
              <a:t>Declaring array: </a:t>
            </a:r>
          </a:p>
          <a:p>
            <a:pPr marL="0" indent="0" algn="ctr">
              <a:buNone/>
            </a:pPr>
            <a:r>
              <a:rPr lang="en-ID" sz="2800" b="0" i="0" u="none" strike="noStrike" baseline="0" dirty="0" err="1">
                <a:solidFill>
                  <a:srgbClr val="000000"/>
                </a:solidFill>
                <a:latin typeface="ArialMonoMTPro"/>
              </a:rPr>
              <a:t>arrayRefVar</a:t>
            </a:r>
            <a:r>
              <a:rPr lang="en-ID" sz="2800" b="0" i="0" u="none" strike="noStrike" baseline="0" dirty="0">
                <a:solidFill>
                  <a:srgbClr val="000000"/>
                </a:solidFill>
                <a:latin typeface="ArialMonoMTPro"/>
              </a:rPr>
              <a:t>[] = </a:t>
            </a:r>
            <a:r>
              <a:rPr lang="en-ID" sz="2800" b="1" i="0" u="none" strike="noStrike" baseline="0" dirty="0">
                <a:solidFill>
                  <a:srgbClr val="0000D7"/>
                </a:solidFill>
                <a:latin typeface="ArialMonoMTPro-Bold"/>
              </a:rPr>
              <a:t>new </a:t>
            </a:r>
            <a:r>
              <a:rPr lang="en-ID" sz="2800" b="0" i="0" u="none" strike="noStrike" baseline="0" dirty="0" err="1">
                <a:solidFill>
                  <a:srgbClr val="000000"/>
                </a:solidFill>
                <a:latin typeface="ArialMonoMTPro"/>
              </a:rPr>
              <a:t>elementType</a:t>
            </a:r>
            <a:r>
              <a:rPr lang="en-ID" sz="2800" b="0" i="0" u="none" strike="noStrike" baseline="0" dirty="0">
                <a:solidFill>
                  <a:srgbClr val="000000"/>
                </a:solidFill>
                <a:latin typeface="ArialMonoMTPro"/>
              </a:rPr>
              <a:t>[</a:t>
            </a:r>
            <a:r>
              <a:rPr lang="en-ID" sz="2800" b="0" i="0" u="none" strike="noStrike" baseline="0" dirty="0" err="1">
                <a:solidFill>
                  <a:srgbClr val="000000"/>
                </a:solidFill>
                <a:latin typeface="ArialMonoMTPro"/>
              </a:rPr>
              <a:t>arraySize</a:t>
            </a:r>
            <a:r>
              <a:rPr lang="en-ID" sz="2800" b="0" i="0" u="none" strike="noStrike" baseline="0" dirty="0">
                <a:solidFill>
                  <a:srgbClr val="000000"/>
                </a:solidFill>
                <a:latin typeface="ArialMonoMTPro"/>
              </a:rPr>
              <a:t>];</a:t>
            </a:r>
            <a:endParaRPr lang="en-ID" dirty="0"/>
          </a:p>
          <a:p>
            <a:r>
              <a:rPr lang="en-ID" dirty="0"/>
              <a:t>Example: </a:t>
            </a:r>
          </a:p>
          <a:p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360710-CE9E-CA30-D872-707A3DD77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3217" y="8648225"/>
            <a:ext cx="12172378" cy="361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03125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0B9CD-C49D-6A81-607E-21AA4F183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Wrapper class, string and Array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08ED00-074D-A0DC-A4EB-24044479C3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array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1A43A4-49E4-DA91-E164-D0E08E555C5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530" y="3218729"/>
            <a:ext cx="13714940" cy="10079828"/>
          </a:xfrm>
        </p:spPr>
        <p:txBody>
          <a:bodyPr/>
          <a:lstStyle/>
          <a:p>
            <a:r>
              <a:rPr lang="en-US" dirty="0"/>
              <a:t>Array initialization: </a:t>
            </a:r>
          </a:p>
          <a:p>
            <a:r>
              <a:rPr lang="en-US" dirty="0"/>
              <a:t>Via assignment for each elements: </a:t>
            </a:r>
          </a:p>
          <a:p>
            <a:endParaRPr lang="en-US" dirty="0"/>
          </a:p>
          <a:p>
            <a:pPr marL="0" indent="0">
              <a:buNone/>
            </a:pPr>
            <a:endParaRPr lang="en-ID" dirty="0"/>
          </a:p>
          <a:p>
            <a:r>
              <a:rPr lang="en-US" dirty="0"/>
              <a:t>Automatic initialization: </a:t>
            </a:r>
          </a:p>
          <a:p>
            <a:endParaRPr lang="en-ID" dirty="0"/>
          </a:p>
          <a:p>
            <a:r>
              <a:rPr lang="en-ID" dirty="0"/>
              <a:t>Use length property to check array length: </a:t>
            </a:r>
          </a:p>
          <a:p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51895F-191B-DE79-BD39-507BC5B44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1703" y="2821501"/>
            <a:ext cx="7482317" cy="36623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B0B262-422C-B40D-F960-663CF72E8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1547" y="7631206"/>
            <a:ext cx="18580905" cy="12548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8573EA-2E2B-16BC-BA78-E0E62088B2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0289" y="10041399"/>
            <a:ext cx="11821469" cy="12548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BE17279-0554-4B0B-1DC1-6EBC16C7F0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47452" y="9668796"/>
            <a:ext cx="7049168" cy="284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83496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30703-9C40-3B49-5EA3-E79CCC741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Wrapper class, string and Array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6D4FCF-F8BB-DDAE-8E05-8E68C9C1A8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Multidimensional array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B6794-AC7C-7510-DFA9-7A29F10C18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7560" y="3694099"/>
            <a:ext cx="13714940" cy="4522264"/>
          </a:xfrm>
        </p:spPr>
        <p:txBody>
          <a:bodyPr>
            <a:normAutofit/>
          </a:bodyPr>
          <a:lstStyle/>
          <a:p>
            <a:r>
              <a:rPr lang="en-US" dirty="0"/>
              <a:t>Store an array of array. </a:t>
            </a:r>
          </a:p>
          <a:p>
            <a:r>
              <a:rPr lang="en-US" dirty="0"/>
              <a:t>Usually used to represent table or matrix.</a:t>
            </a:r>
          </a:p>
          <a:p>
            <a:r>
              <a:rPr lang="en-US" dirty="0"/>
              <a:t>Syntax for 2D array:</a:t>
            </a:r>
          </a:p>
          <a:p>
            <a:pPr marL="0" indent="0" algn="ctr">
              <a:buNone/>
            </a:pPr>
            <a:r>
              <a:rPr lang="en-ID" sz="2400" b="0" i="0" u="none" strike="noStrike" baseline="0" dirty="0" err="1">
                <a:solidFill>
                  <a:srgbClr val="000000"/>
                </a:solidFill>
                <a:latin typeface="ArialMonoMTPro"/>
              </a:rPr>
              <a:t>arrayRefVar</a:t>
            </a:r>
            <a:r>
              <a:rPr lang="en-ID" sz="2400" b="0" i="0" u="none" strike="noStrike" baseline="0" dirty="0">
                <a:solidFill>
                  <a:srgbClr val="000000"/>
                </a:solidFill>
                <a:latin typeface="ArialMonoMTPro"/>
              </a:rPr>
              <a:t>[][] = </a:t>
            </a:r>
            <a:r>
              <a:rPr lang="en-ID" sz="2400" b="1" i="0" u="none" strike="noStrike" baseline="0" dirty="0">
                <a:solidFill>
                  <a:srgbClr val="0000D7"/>
                </a:solidFill>
                <a:latin typeface="ArialMonoMTPro-Bold"/>
              </a:rPr>
              <a:t>new </a:t>
            </a:r>
            <a:r>
              <a:rPr lang="en-ID" sz="2400" b="0" i="0" u="none" strike="noStrike" baseline="0" dirty="0" err="1">
                <a:solidFill>
                  <a:srgbClr val="000000"/>
                </a:solidFill>
                <a:latin typeface="ArialMonoMTPro"/>
              </a:rPr>
              <a:t>elementType</a:t>
            </a:r>
            <a:r>
              <a:rPr lang="en-ID" sz="2400" b="0" i="0" u="none" strike="noStrike" baseline="0" dirty="0">
                <a:solidFill>
                  <a:srgbClr val="000000"/>
                </a:solidFill>
                <a:latin typeface="ArialMonoMTPro"/>
              </a:rPr>
              <a:t>[</a:t>
            </a:r>
            <a:r>
              <a:rPr lang="en-ID" sz="2400" b="0" i="0" u="none" strike="noStrike" baseline="0" dirty="0" err="1">
                <a:solidFill>
                  <a:srgbClr val="000000"/>
                </a:solidFill>
                <a:latin typeface="ArialMonoMTPro"/>
              </a:rPr>
              <a:t>arraySize</a:t>
            </a:r>
            <a:r>
              <a:rPr lang="en-ID" sz="2400" b="0" i="0" u="none" strike="noStrike" baseline="0" dirty="0">
                <a:solidFill>
                  <a:srgbClr val="000000"/>
                </a:solidFill>
                <a:latin typeface="ArialMonoMTPro"/>
              </a:rPr>
              <a:t>] [</a:t>
            </a:r>
            <a:r>
              <a:rPr lang="en-ID" sz="2400" b="0" i="0" u="none" strike="noStrike" baseline="0" dirty="0" err="1">
                <a:solidFill>
                  <a:srgbClr val="000000"/>
                </a:solidFill>
                <a:latin typeface="ArialMonoMTPro"/>
              </a:rPr>
              <a:t>arraySize</a:t>
            </a:r>
            <a:r>
              <a:rPr lang="en-ID" sz="2400" b="0" i="0" u="none" strike="noStrike" baseline="0" dirty="0">
                <a:solidFill>
                  <a:srgbClr val="000000"/>
                </a:solidFill>
                <a:latin typeface="ArialMonoMTPro"/>
              </a:rPr>
              <a:t>];</a:t>
            </a:r>
            <a:r>
              <a:rPr lang="en-US" dirty="0"/>
              <a:t> </a:t>
            </a:r>
          </a:p>
          <a:p>
            <a:r>
              <a:rPr lang="en-US" dirty="0"/>
              <a:t>Example:</a:t>
            </a:r>
          </a:p>
          <a:p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32DF33-E30A-E204-8EDD-D93F566DE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424" y="8687188"/>
            <a:ext cx="12025212" cy="175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13267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80987-6024-2D23-AA3F-BE0843461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Wrapper class, string and Array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C74BE-535E-116B-F6CB-4EA90C4B2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Multidimensional array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9DA27E-F634-6D5E-DB88-3E65F0D2041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379834" y="3783927"/>
            <a:ext cx="13714940" cy="6831064"/>
          </a:xfrm>
        </p:spPr>
        <p:txBody>
          <a:bodyPr>
            <a:normAutofit/>
          </a:bodyPr>
          <a:lstStyle/>
          <a:p>
            <a:r>
              <a:rPr lang="en-US" dirty="0"/>
              <a:t>To initialize, you can use assignment such as previously (using loop is more preferred to automate multiple index).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Or directly:</a:t>
            </a:r>
          </a:p>
          <a:p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B7B862-2508-D899-C63C-BE97A7AEF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735" y="4962791"/>
            <a:ext cx="9405170" cy="29089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FF88A6-9DD0-3349-DF94-661F24D7E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802" y="9050654"/>
            <a:ext cx="7963642" cy="3293746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DE13E10-B14D-AE9F-C501-F55CE5E7DE44}"/>
              </a:ext>
            </a:extLst>
          </p:cNvPr>
          <p:cNvGrpSpPr/>
          <p:nvPr/>
        </p:nvGrpSpPr>
        <p:grpSpPr>
          <a:xfrm>
            <a:off x="7194772" y="9692249"/>
            <a:ext cx="7962120" cy="1325520"/>
            <a:chOff x="7194772" y="9692249"/>
            <a:chExt cx="7962120" cy="132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14D8DAD-358B-537C-0C52-3B45188CD6B9}"/>
                    </a:ext>
                  </a:extLst>
                </p14:cNvPr>
                <p14:cNvContentPartPr/>
                <p14:nvPr/>
              </p14:nvContentPartPr>
              <p14:xfrm>
                <a:off x="7194772" y="9827969"/>
                <a:ext cx="2167920" cy="1189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14D8DAD-358B-537C-0C52-3B45188CD6B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188652" y="9821849"/>
                  <a:ext cx="2180160" cy="12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2F342AB-94BA-40AC-F8C4-251CC320FE31}"/>
                    </a:ext>
                  </a:extLst>
                </p14:cNvPr>
                <p14:cNvContentPartPr/>
                <p14:nvPr/>
              </p14:nvContentPartPr>
              <p14:xfrm>
                <a:off x="9402652" y="9692249"/>
                <a:ext cx="5754240" cy="598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2F342AB-94BA-40AC-F8C4-251CC320FE3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396532" y="9686129"/>
                  <a:ext cx="5766480" cy="610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947BB6B-BF20-5375-EB07-FB4FBC7FC6B6}"/>
              </a:ext>
            </a:extLst>
          </p:cNvPr>
          <p:cNvSpPr txBox="1"/>
          <p:nvPr/>
        </p:nvSpPr>
        <p:spPr>
          <a:xfrm>
            <a:off x="14252596" y="10412475"/>
            <a:ext cx="8694688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Each inner element of higher dimension array is an array</a:t>
            </a:r>
            <a:b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</a:b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therefore, multidimensional array is array that hold another</a:t>
            </a:r>
            <a:b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</a:b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array as its element</a:t>
            </a:r>
            <a:endParaRPr kumimoji="0" lang="en-ID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50065445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479F5-66DA-5595-AD41-EF5FC1B37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Wrapper class, string and Array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58A2A-7C84-858A-DE19-9E115EBB1F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Copying array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5A15BA-E206-8397-71A9-B99E308975B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3873209"/>
            <a:ext cx="13714940" cy="4522264"/>
          </a:xfrm>
        </p:spPr>
        <p:txBody>
          <a:bodyPr>
            <a:normAutofit/>
          </a:bodyPr>
          <a:lstStyle/>
          <a:p>
            <a:r>
              <a:rPr lang="en-US" dirty="0"/>
              <a:t>There are multiple way to copy array value. Two of the most commons:</a:t>
            </a:r>
          </a:p>
          <a:p>
            <a:r>
              <a:rPr lang="en-ID" dirty="0"/>
              <a:t>First: </a:t>
            </a:r>
          </a:p>
          <a:p>
            <a:endParaRPr lang="en-ID" dirty="0"/>
          </a:p>
          <a:p>
            <a:r>
              <a:rPr lang="en-US" dirty="0"/>
              <a:t>However, this statement does not copy the contents of the array referenced by list1 to list2, but instead merely copies the reference value from list1 to list2</a:t>
            </a: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8EAFAF-FF90-4113-AB29-E214E2C81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1693" y="5406887"/>
            <a:ext cx="4160614" cy="11025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772268-52C2-CEA2-8BE5-90D7B232F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881" y="8043127"/>
            <a:ext cx="10670237" cy="437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60230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A93BA-65FA-4FB4-3A3F-F7F196C13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Wrapper class, string and Array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BD276-066C-32F0-2E97-7B3B6FFD3A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Copying array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328E3E-1F7D-9375-92DF-060BDD7BF23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To perfectly cloning array, use clone method: </a:t>
            </a:r>
          </a:p>
          <a:p>
            <a:endParaRPr lang="en-ID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17B4B11-BFD9-3BA7-7A09-B619E9723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3184" t="32227" r="48730" b="55080"/>
          <a:stretch>
            <a:fillRect/>
          </a:stretch>
        </p:blipFill>
        <p:spPr bwMode="auto">
          <a:xfrm>
            <a:off x="6473686" y="6175367"/>
            <a:ext cx="11741428" cy="2935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8318661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6F6C3-CB67-BBC9-2A9C-387022D3C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C9AEC-2547-2EFA-3FBE-935EA4C37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B6698-AFF0-1096-A054-35AF764894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Employee Management Menu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9CCA9-8395-F22F-415D-2424F5A8C16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97108" y="3102138"/>
            <a:ext cx="18487305" cy="3258574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ID" sz="2800" dirty="0"/>
              <a:t>You are asked to build a simple console-based employee management system.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800" dirty="0"/>
              <a:t>The program must provide a menu with 3 </a:t>
            </a:r>
            <a:r>
              <a:rPr lang="en-ID" sz="2800"/>
              <a:t>options:</a:t>
            </a:r>
            <a:endParaRPr lang="en-ID" sz="2800" dirty="0"/>
          </a:p>
          <a:p>
            <a:pPr marL="0" indent="0">
              <a:spcBef>
                <a:spcPts val="0"/>
              </a:spcBef>
              <a:buNone/>
            </a:pPr>
            <a:r>
              <a:rPr lang="en-ID" sz="2800" dirty="0"/>
              <a:t>1. Insert employee data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800" dirty="0"/>
              <a:t>2. View all employees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D" sz="2800" dirty="0"/>
              <a:t>3. Exit</a:t>
            </a:r>
          </a:p>
          <a:p>
            <a:pPr marL="0" indent="0">
              <a:spcBef>
                <a:spcPts val="0"/>
              </a:spcBef>
              <a:buNone/>
            </a:pPr>
            <a:endParaRPr lang="en-ID" sz="2800" dirty="0"/>
          </a:p>
          <a:p>
            <a:pPr marL="0" indent="0">
              <a:spcBef>
                <a:spcPts val="0"/>
              </a:spcBef>
              <a:buNone/>
            </a:pPr>
            <a:r>
              <a:rPr lang="en-ID" sz="2800" b="1" dirty="0"/>
              <a:t>Insert Employee Data:</a:t>
            </a:r>
          </a:p>
          <a:p>
            <a:pPr marL="0" indent="0">
              <a:spcBef>
                <a:spcPts val="0"/>
              </a:spcBef>
              <a:buNone/>
            </a:pPr>
            <a:endParaRPr lang="en-ID" sz="3600" b="1" dirty="0"/>
          </a:p>
          <a:p>
            <a:pPr marL="0" indent="0">
              <a:spcBef>
                <a:spcPts val="0"/>
              </a:spcBef>
              <a:buNone/>
            </a:pPr>
            <a:endParaRPr lang="en-ID" dirty="0"/>
          </a:p>
          <a:p>
            <a:pPr marL="0" indent="0">
              <a:spcBef>
                <a:spcPts val="0"/>
              </a:spcBef>
              <a:buNone/>
            </a:pP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2E08E6-AEE4-7704-D8AB-30C4CDA67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108" y="6360712"/>
            <a:ext cx="8739844" cy="11593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56AF59-1CA4-8F12-9752-BB3E3696C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7109" y="7777250"/>
            <a:ext cx="8739843" cy="1010544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D4EDDAF-1199-5258-8A0A-CF72A7252131}"/>
              </a:ext>
            </a:extLst>
          </p:cNvPr>
          <p:cNvSpPr txBox="1">
            <a:spLocks/>
          </p:cNvSpPr>
          <p:nvPr/>
        </p:nvSpPr>
        <p:spPr>
          <a:xfrm>
            <a:off x="11747992" y="6147963"/>
            <a:ext cx="9973487" cy="3258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spcBef>
                <a:spcPts val="0"/>
              </a:spcBef>
              <a:buFontTx/>
              <a:buNone/>
            </a:pPr>
            <a:r>
              <a:rPr lang="en-ID" sz="2800" dirty="0"/>
              <a:t>The program must:</a:t>
            </a:r>
          </a:p>
          <a:p>
            <a:pPr>
              <a:spcBef>
                <a:spcPts val="0"/>
              </a:spcBef>
            </a:pPr>
            <a:r>
              <a:rPr lang="en-ID" sz="2800" dirty="0"/>
              <a:t>Split the input using .split(";") and make sure it has 2 data (name and email only)</a:t>
            </a:r>
          </a:p>
          <a:p>
            <a:pPr>
              <a:spcBef>
                <a:spcPts val="0"/>
              </a:spcBef>
            </a:pPr>
            <a:r>
              <a:rPr lang="en-ID" sz="2800" dirty="0"/>
              <a:t>Validate that email contains '@'</a:t>
            </a:r>
          </a:p>
          <a:p>
            <a:pPr>
              <a:spcBef>
                <a:spcPts val="0"/>
              </a:spcBef>
            </a:pPr>
            <a:r>
              <a:rPr lang="en-ID" sz="2800" dirty="0"/>
              <a:t>If valid → save into an array</a:t>
            </a:r>
          </a:p>
          <a:p>
            <a:pPr>
              <a:spcBef>
                <a:spcPts val="0"/>
              </a:spcBef>
            </a:pPr>
            <a:r>
              <a:rPr lang="en-ID" sz="2800" dirty="0"/>
              <a:t>If not valid → show error</a:t>
            </a:r>
            <a:endParaRPr lang="en-ID" sz="3600" b="1" dirty="0"/>
          </a:p>
          <a:p>
            <a:pPr marL="0" indent="0">
              <a:spcBef>
                <a:spcPts val="0"/>
              </a:spcBef>
              <a:buFontTx/>
              <a:buNone/>
            </a:pPr>
            <a:endParaRPr lang="en-ID" dirty="0"/>
          </a:p>
          <a:p>
            <a:pPr marL="0" indent="0">
              <a:spcBef>
                <a:spcPts val="0"/>
              </a:spcBef>
              <a:buFontTx/>
              <a:buNone/>
            </a:pPr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F75AF4-F285-B3EA-BF3C-18B47C48D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7107" y="9880055"/>
            <a:ext cx="7707503" cy="28975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A04D1F-8373-B278-6664-BA62F355DB17}"/>
              </a:ext>
            </a:extLst>
          </p:cNvPr>
          <p:cNvSpPr txBox="1"/>
          <p:nvPr/>
        </p:nvSpPr>
        <p:spPr>
          <a:xfrm>
            <a:off x="2297108" y="9073457"/>
            <a:ext cx="12196482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ID" sz="2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View All Employees:</a:t>
            </a:r>
          </a:p>
        </p:txBody>
      </p:sp>
    </p:spTree>
    <p:extLst>
      <p:ext uri="{BB962C8B-B14F-4D97-AF65-F5344CB8AC3E}">
        <p14:creationId xmlns:p14="http://schemas.microsoft.com/office/powerpoint/2010/main" val="380301353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7EE87-10CD-DC1D-F282-A9030A4ED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Wrapper class, string and Array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16886-77F7-32E9-A659-337AC4B758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REferences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CB0FC1-8ED5-9CBF-9B5B-B21C5B87A73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Daniel Liang, Introduction to Java Programming and Data Structure, 13</a:t>
            </a:r>
            <a:r>
              <a:rPr lang="en-US" baseline="30000" dirty="0"/>
              <a:t>th</a:t>
            </a:r>
            <a:r>
              <a:rPr lang="en-US" dirty="0"/>
              <a:t> edition. 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3902318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CA077843E12C45ABBF89EA0D3E6ECB" ma:contentTypeVersion="12" ma:contentTypeDescription="Create a new document." ma:contentTypeScope="" ma:versionID="f220297e283031e9eab2ed307e5e4cdc">
  <xsd:schema xmlns:xsd="http://www.w3.org/2001/XMLSchema" xmlns:xs="http://www.w3.org/2001/XMLSchema" xmlns:p="http://schemas.microsoft.com/office/2006/metadata/properties" xmlns:ns2="02437cf3-862c-4aa8-bd7e-caeecb8e11df" xmlns:ns3="fc2d5289-3ec1-4d76-80c1-a1cd17baf85c" targetNamespace="http://schemas.microsoft.com/office/2006/metadata/properties" ma:root="true" ma:fieldsID="1da8f879ae0b13e42b7077458e0d2470" ns2:_="" ns3:_="">
    <xsd:import namespace="02437cf3-862c-4aa8-bd7e-caeecb8e11df"/>
    <xsd:import namespace="fc2d5289-3ec1-4d76-80c1-a1cd17baf8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437cf3-862c-4aa8-bd7e-caeecb8e11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2802744-7fd5-42e0-b4ac-2f85b671ef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2d5289-3ec1-4d76-80c1-a1cd17baf85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ed2725a-0247-41b8-b239-ecd86c77a8ad}" ma:internalName="TaxCatchAll" ma:showField="CatchAllData" ma:web="fc2d5289-3ec1-4d76-80c1-a1cd17baf8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c2d5289-3ec1-4d76-80c1-a1cd17baf85c" xsi:nil="true"/>
    <lcf76f155ced4ddcb4097134ff3c332f xmlns="02437cf3-862c-4aa8-bd7e-caeecb8e11df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7D8021-E687-4DB0-A9C4-B70725D151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437cf3-862c-4aa8-bd7e-caeecb8e11df"/>
    <ds:schemaRef ds:uri="fc2d5289-3ec1-4d76-80c1-a1cd17baf8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EAA1E87-4723-42DA-8AFD-6B354A8060C4}">
  <ds:schemaRefs>
    <ds:schemaRef ds:uri="http://schemas.microsoft.com/office/2006/metadata/properties"/>
    <ds:schemaRef ds:uri="http://schemas.microsoft.com/office/infopath/2007/PartnerControls"/>
    <ds:schemaRef ds:uri="6456c2c6-d044-4477-96fa-bf2a90b8f8d0"/>
    <ds:schemaRef ds:uri="aa01e5cc-3673-4952-8508-9ae9704a600f"/>
    <ds:schemaRef ds:uri="http://schemas.microsoft.com/sharepoint/v4"/>
    <ds:schemaRef ds:uri="fc2d5289-3ec1-4d76-80c1-a1cd17baf85c"/>
    <ds:schemaRef ds:uri="02437cf3-862c-4aa8-bd7e-caeecb8e11df"/>
  </ds:schemaRefs>
</ds:datastoreItem>
</file>

<file path=customXml/itemProps3.xml><?xml version="1.0" encoding="utf-8"?>
<ds:datastoreItem xmlns:ds="http://schemas.openxmlformats.org/officeDocument/2006/customXml" ds:itemID="{5FAFB4E7-5FD1-42DC-80A2-270DD4E788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Week 1 - Intro to Java Programming</Template>
  <TotalTime>3078</TotalTime>
  <Words>791</Words>
  <Application>Microsoft Office PowerPoint</Application>
  <PresentationFormat>Custom</PresentationFormat>
  <Paragraphs>121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21_BasicWhite</vt:lpstr>
      <vt:lpstr>Wrapper class, string and array</vt:lpstr>
      <vt:lpstr>Outline</vt:lpstr>
      <vt:lpstr>Wrapper class, string and Array</vt:lpstr>
      <vt:lpstr>Wrapper class, string and Array</vt:lpstr>
      <vt:lpstr>Wrapper class, string and Array</vt:lpstr>
      <vt:lpstr>Wrapper class, string and java data structures</vt:lpstr>
      <vt:lpstr>Wrapper class, string and Array</vt:lpstr>
      <vt:lpstr>Wrapper class, string and array</vt:lpstr>
      <vt:lpstr>Wrapper class, string and Array</vt:lpstr>
      <vt:lpstr>Wrapper class, string and Array</vt:lpstr>
      <vt:lpstr>Wrapper class, string and Array</vt:lpstr>
      <vt:lpstr>Wrapper class, string and Array</vt:lpstr>
      <vt:lpstr>Wrapper class, string and Array</vt:lpstr>
      <vt:lpstr>Wrapper class, string and Array</vt:lpstr>
      <vt:lpstr>Wrapper class, string and Array</vt:lpstr>
      <vt:lpstr>exercise</vt:lpstr>
      <vt:lpstr>Wrapper class, string and Array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 Algorithm</dc:title>
  <dc:creator>Muhammad Fikri Hasani</dc:creator>
  <cp:lastModifiedBy>Shania Priccilia</cp:lastModifiedBy>
  <cp:revision>6</cp:revision>
  <dcterms:created xsi:type="dcterms:W3CDTF">2023-11-28T09:27:32Z</dcterms:created>
  <dcterms:modified xsi:type="dcterms:W3CDTF">2026-01-05T02:19:07Z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0x010100B4CA077843E12C45ABBF89EA0D3E6ECB</vt:lpwstr>
  </property>
  <property fmtid="{D5CDD505-2E9C-101B-9397-08002B2CF9AE}" pid="3" name="_dlc_DocIdItemGuid">
    <vt:lpwstr>a78101e4-8b17-4f2d-a3b8-570d8fd56fbb</vt:lpwstr>
  </property>
  <property fmtid="{D5CDD505-2E9C-101B-9397-08002B2CF9AE}" pid="4" name="MediaServiceImageTags">
    <vt:lpwstr/>
  </property>
</Properties>
</file>