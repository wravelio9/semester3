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8"/>
  </p:notesMasterIdLst>
  <p:sldIdLst>
    <p:sldId id="256" r:id="rId2"/>
    <p:sldId id="257" r:id="rId3"/>
    <p:sldId id="308" r:id="rId4"/>
    <p:sldId id="258" r:id="rId5"/>
    <p:sldId id="259" r:id="rId6"/>
    <p:sldId id="336" r:id="rId7"/>
    <p:sldId id="355" r:id="rId8"/>
    <p:sldId id="356" r:id="rId9"/>
    <p:sldId id="311"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52" r:id="rId25"/>
    <p:sldId id="353" r:id="rId26"/>
    <p:sldId id="354" r:id="rId27"/>
    <p:sldId id="318" r:id="rId28"/>
    <p:sldId id="317"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278" r:id="rId47"/>
  </p:sldIdLst>
  <p:sldSz cx="24384000" cy="13716000"/>
  <p:notesSz cx="6858000" cy="9144000"/>
  <p:embeddedFontLst>
    <p:embeddedFont>
      <p:font typeface="Cambria Math" panose="02040503050406030204" pitchFamily="18" charset="0"/>
      <p:regular r:id="rId49"/>
    </p:embeddedFont>
    <p:embeddedFont>
      <p:font typeface="OCRB" panose="020B0609020202020204" pitchFamily="49" charset="77"/>
      <p:regular r:id="rId50"/>
    </p:embeddedFont>
    <p:embeddedFont>
      <p:font typeface="Open Sans" panose="020B0606030504020204" pitchFamily="34" charset="0"/>
      <p:regular r:id="rId51"/>
      <p:bold r:id="rId52"/>
      <p:italic r:id="rId53"/>
      <p:boldItalic r:id="rId54"/>
    </p:embeddedFont>
    <p:embeddedFont>
      <p:font typeface="Open Sans ExtraBold" panose="020B0906030804020204" pitchFamily="34" charset="0"/>
      <p:bold r:id="rId55"/>
      <p:italic r:id="rId56"/>
      <p:boldItalic r:id="rId57"/>
    </p:embeddedFont>
    <p:embeddedFont>
      <p:font typeface="Open Sans Light" panose="020B0306030504020204" pitchFamily="34" charset="0"/>
      <p:regular r:id="rId58"/>
      <p:italic r:id="rId59"/>
    </p:embeddedFont>
    <p:embeddedFont>
      <p:font typeface="Open Sans Semibold" panose="020B0706030804020204" pitchFamily="34" charset="0"/>
      <p:regular r:id="rId60"/>
      <p:bold r:id="rId61"/>
      <p:italic r:id="rId62"/>
      <p:boldItalic r:id="rId63"/>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a:srgbClr val="FFF7D6"/>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37" autoAdjust="0"/>
    <p:restoredTop sz="95584"/>
  </p:normalViewPr>
  <p:slideViewPr>
    <p:cSldViewPr snapToGrid="0" snapToObjects="1">
      <p:cViewPr varScale="1">
        <p:scale>
          <a:sx n="58" d="100"/>
          <a:sy n="58" d="100"/>
        </p:scale>
        <p:origin x="312" y="224"/>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font" Target="fonts/font7.fntdata"/><Relationship Id="rId63" Type="http://schemas.openxmlformats.org/officeDocument/2006/relationships/font" Target="fonts/font15.fntdata"/><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LUCKY" userId="9f9f0d3b-fafb-4a1f-811e-e1ce60336648" providerId="ADAL" clId="{87B23BC5-493B-58B6-9C8D-8C75A953FAD3}"/>
    <pc:docChg chg="modSld">
      <pc:chgData name="HENRY LUCKY" userId="9f9f0d3b-fafb-4a1f-811e-e1ce60336648" providerId="ADAL" clId="{87B23BC5-493B-58B6-9C8D-8C75A953FAD3}" dt="2026-09-04T08:13:36.383" v="5" actId="20577"/>
      <pc:docMkLst>
        <pc:docMk/>
      </pc:docMkLst>
      <pc:sldChg chg="modSp mod">
        <pc:chgData name="HENRY LUCKY" userId="9f9f0d3b-fafb-4a1f-811e-e1ce60336648" providerId="ADAL" clId="{87B23BC5-493B-58B6-9C8D-8C75A953FAD3}" dt="2026-09-04T08:13:36.383" v="5" actId="20577"/>
        <pc:sldMkLst>
          <pc:docMk/>
          <pc:sldMk cId="3026354553" sldId="355"/>
        </pc:sldMkLst>
        <pc:spChg chg="mod">
          <ac:chgData name="HENRY LUCKY" userId="9f9f0d3b-fafb-4a1f-811e-e1ce60336648" providerId="ADAL" clId="{87B23BC5-493B-58B6-9C8D-8C75A953FAD3}" dt="2026-09-04T08:13:36.383" v="5" actId="20577"/>
          <ac:spMkLst>
            <pc:docMk/>
            <pc:sldMk cId="3026354553" sldId="355"/>
            <ac:spMk id="4" creationId="{3D64F8D9-BDF0-46C2-59D7-97EEDC407CB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F8FC2-5C26-33A7-9770-5DF518D25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90C54-60C5-266B-567C-0E58520CB2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BA69FD-7CBA-83C2-82A4-30021C20778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5730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1254-9551-284B-BD25-4CD7D879B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04345-973C-4C74-F87E-2DACB5C7DCA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52BC2F-D4B5-7B00-B409-CF2EDC3E9E3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8983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AA362-85DE-0253-2BE1-F057485B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B7BEE-39F7-DC55-AEA8-5C56EB50A93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7D645A4-EEA2-7AED-B724-CDC1BAF5521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0019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F9390-FBAB-018E-E12A-15EB35585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56204-A431-DEB2-7A4A-24DBE45C5D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2C671B0-A9F5-18CC-EA47-794A6BB2790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9529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11AF6-8389-DB31-21BD-FA67B1E97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BF085-3769-1F18-5721-01BCAC106D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5C4659-E0AE-6C7B-E5E0-417AE310858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5137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709EF-97A3-366B-5592-6C9E6A331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12E214-530E-2AC2-6756-B0331DF6B31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857F5EF-DA27-430D-394F-7BDA56E3E7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8295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DF09A-39E9-993C-5FC5-C10C76570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77E6F-18DB-B4F0-32B6-FDAB29AB5A4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C81710F-29E0-ADD9-0C1C-5595C0A8208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90752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7D988-A1E2-D506-2975-285714C64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CFCF50-C813-6A8A-F14D-7E1D6574130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D785E46-A28C-940C-D6D6-79E2C124F97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81082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01875-A8B4-C0A2-ACF2-355665596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53117-C692-3DA7-D8A3-C460EAFDE98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D890E61-E095-9456-6563-460933592F9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079104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3167-0EB2-6E73-A6BC-8FC6C0026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3D4475-7351-F9F3-676B-27FC3EC1633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36C882F-3DF9-EC28-C09C-13C966C616C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79728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BE07E-4EFB-ABF6-9791-F1BE7BE5EA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774CC6-2A7E-59CA-3749-C87D86E9025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97316BA-47D2-5F3F-333C-E8810133855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089068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A04D5-FE72-D5A7-5F96-CD213AD62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AEFB83-7586-D329-C192-7E5D143A607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CFA4011-7DFB-190D-FFD2-C85C0D133A8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01308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F2D85-C155-6C47-3C1F-FE37F4D56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0654A-48F6-7D7C-E453-AAF2B044770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F68E7E9-A582-0385-C4BC-1CF364FFF587}"/>
              </a:ext>
            </a:extLst>
          </p:cNvPr>
          <p:cNvSpPr>
            <a:spLocks noGrp="1"/>
          </p:cNvSpPr>
          <p:nvPr>
            <p:ph type="body" idx="1"/>
          </p:nvPr>
        </p:nvSpPr>
        <p:spPr/>
        <p:txBody>
          <a:bodyPr/>
          <a:lstStyle/>
          <a:p>
            <a:r>
              <a:rPr lang="en-US" dirty="0"/>
              <a:t>A transportation firm, such as a trucking or railroad company, has a financial interest in finding shortest paths through a road or rail network because taking shorter paths results in lower labor and fuel costs. Or a routing node on the internet might need to find the shortest path through the network in order to route a message quickly. Or a person wishing to drive from New York to Boston might want to find driving directions using a navigation app.</a:t>
            </a:r>
          </a:p>
        </p:txBody>
      </p:sp>
    </p:spTree>
    <p:extLst>
      <p:ext uri="{BB962C8B-B14F-4D97-AF65-F5344CB8AC3E}">
        <p14:creationId xmlns:p14="http://schemas.microsoft.com/office/powerpoint/2010/main" val="9313166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7DDF6-CCC4-CF83-A66A-6A5C6EEA9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B7BA1-195E-03D6-D790-C4B48855B63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5E528D7-7BBB-C455-D3A5-6F9BDCC1AFD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07333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368FB-E87A-4577-D9A0-5BBDCC5F0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0867E-9225-9AAA-3A38-9855BF830D1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CD68837-551B-05B0-F49B-3A46D24D781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66696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F7FF6-26F8-52FD-63E8-602C7362C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3CFB1-2894-DBBC-4DA4-928DCFBF4FF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CB8D871-DDD3-5801-4E27-B3EC16B576F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188914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43158-C444-5940-BC63-DB084E63FF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D50AF3-4DAF-AC5C-E143-38F2320E22D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C88B2C7-7BF6-9B59-DBAF-BC6954AC561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042761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84078-746F-BEAD-8285-D070BD7D5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17F36-F131-2F88-0196-143CFE3A72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8ADCE54-C5BF-B60C-80E0-58AB9BC98AE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89321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682A5-4A92-04CB-7092-947D31CE8A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F4811-E968-67FA-B227-48E64AF5FD2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D43613A-7AFB-30EA-55A2-23CD042AA03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107985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DF54B-9599-657C-6FA4-7BB286141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6B876-80A2-91CF-1632-46ABB977128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BE129FE-5C92-887B-10CF-5FB2D3A2023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90366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09293-EE19-07E0-B4B5-263F0D43F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3982BE-C373-77C3-77A6-D0B46ACE473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C09BF64-FC49-51E8-CBCE-93D27A65EEB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29873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57393-64AE-85F1-3FA7-EA5167393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AA932-B189-3686-116F-3A918D525BF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0949676-903D-E9CD-DFCD-59EE2F1296F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260178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6748E-9C31-EA93-5256-754707301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F8FE8-EDB9-070B-C504-622680A98D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34F7B5A-6245-120F-F0E3-B827C901766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397447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83849-DB15-A88C-7866-B75EF8A65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8A0BD-C9AA-F985-C6B7-29BA6968A4D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0F8A286-6B4D-386F-5728-F7095C491D5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999921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D673A-A8A7-3A28-9268-C2A8C15B4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DE06C-8CC3-8A98-A740-32B17530183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B620078-F127-68CC-1C8E-3C755AFC9A7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858415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4A715-31EE-599F-1DAC-002EE494A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C5567-4115-A6D6-E134-923FACBFED8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423839B-E247-08FB-C797-D76825898FC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055957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6C82C-5646-851A-935E-BFA0304CE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ACCC4-4077-E61B-EAC8-51394E8298D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9308835-0EEF-36FC-090E-1E978E62024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786218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EE56A-E458-0891-BF1C-9759E9A88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B309E-B947-AC0C-CC85-ABD0490635C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128FD50-0E90-0D8A-6C26-244EC1DDB63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751714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1AA31-1D40-078D-FF80-E1497813E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3FF64A-4CBD-F5A7-B903-74325CE6D8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F65D437-A724-8D8C-2E51-5F97AE3075F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32271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6556-335A-44B2-EFD5-4CE07F1C3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C9B1A-C115-00D9-02A7-3DFFBDB887D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709F7F6-DBEB-F8EB-514F-9E109E8A4ED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547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6ABB-A6B5-A8CC-7B82-00060B8FA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D7F89-6EB6-C2FE-22F7-00572391ACA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DBF7C23-4E41-103E-5276-BAD4C8003CC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479490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615DA-F3F5-939B-8CB5-AAA40F688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2757A-E245-700D-8B04-E1151E0BC19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7251ED-1BE8-E00B-CB51-3BAFBE43BB2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584231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146C0-B832-790D-7E3B-6D507D56C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697A6-58FB-25AE-64A6-DC0D78A18E4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D5C6CCE-BA0F-0E39-EECC-2F06E7D0361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48340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E1409-5F1F-40EB-A783-D0B4347A3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87F36-6137-FD44-F2DF-DF12FDB339D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11E2CDB-C9BC-5150-C71F-C1414D6B823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872526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DAACD-5D97-582E-598B-3AA2BA31C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4169D-B2F4-22D9-6B96-E2CAFBD02FD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FEEC14E-88B2-0E2E-E0DB-491A4B78442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007504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8A81C-324A-AE3E-5474-C6A565C00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E0CA9C-8C53-FEC0-9559-6431012A9B1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F6DFA43-D904-79C1-49C2-7496A9EC4BE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821526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944EB-4DA7-F448-88A1-8B0B95C9B4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B8EEC-F09A-A7A5-19A9-2004F585242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38BDE6-D5C8-305B-A2F3-A53D4FD2BE7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552771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44D20-1BE6-1514-7142-D77FF852E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4994D-8CC6-084E-60D8-529D18E61D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AC7C7D-3718-19AA-DA15-8959F9FD58B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78064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BC4B5-6CD8-D75E-2304-90B7E2E4D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96E36-4C8D-E401-3DC2-5B09175D31F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E0BF29B-D760-064B-6435-08D1D1EFDA5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595203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FDE2D-575D-9745-EDBA-3E1B2A6A1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74E989-D5CF-1C99-4F1B-DF83430867F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DBFBF6-2836-F710-1A09-759B208B01F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471258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90AD-5D35-A521-B025-D45D25CBF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33319-5D4A-F287-8CC5-579B57744B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BACB86-BDA9-52AC-7B13-B40299DB135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35160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01</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US" b="1" dirty="0"/>
              <a:t>The Role Of Algorithms In Programming</a:t>
            </a:r>
            <a:endParaRPr lang="en-ID" b="1"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296296" y="11538583"/>
            <a:ext cx="5791408" cy="745888"/>
          </a:xfrm>
        </p:spPr>
        <p:txBody>
          <a:bodyPr/>
          <a:lstStyle/>
          <a:p>
            <a:r>
              <a:rPr lang="en-US" dirty="0"/>
              <a:t>Nikita Ananda Putri Masaling,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Course description</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algn="just"/>
            <a:r>
              <a:rPr lang="en-US" dirty="0"/>
              <a:t>The course (COMP6049 – Algorithm Design and Analysis) describes fundamental concept of design and analysis of algorithms in order to calculate time and space computation, complexity, and compare design algorithm methods. It gives the students knowledge of several algorithm that enable students for designing a good algorithm.</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61F8D-55B0-83E8-D26D-92158A982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251A2-AC99-FA15-EE33-A71934EB4DA6}"/>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F310198E-B608-50F8-3760-250A6613ACB0}"/>
              </a:ext>
            </a:extLst>
          </p:cNvPr>
          <p:cNvSpPr>
            <a:spLocks noGrp="1"/>
          </p:cNvSpPr>
          <p:nvPr>
            <p:ph type="body" sz="quarter" idx="10"/>
          </p:nvPr>
        </p:nvSpPr>
        <p:spPr/>
        <p:txBody>
          <a:bodyPr/>
          <a:lstStyle/>
          <a:p>
            <a:r>
              <a:rPr lang="en-ID" dirty="0"/>
              <a:t>ALGORITHM DESIGN &amp; ANALYSIS</a:t>
            </a:r>
          </a:p>
        </p:txBody>
      </p:sp>
      <p:sp>
        <p:nvSpPr>
          <p:cNvPr id="4" name="Content Placeholder 3">
            <a:extLst>
              <a:ext uri="{FF2B5EF4-FFF2-40B4-BE49-F238E27FC236}">
                <a16:creationId xmlns:a16="http://schemas.microsoft.com/office/drawing/2014/main" id="{316C8106-38DC-428F-D042-636BD720D8EB}"/>
              </a:ext>
            </a:extLst>
          </p:cNvPr>
          <p:cNvSpPr>
            <a:spLocks noGrp="1"/>
          </p:cNvSpPr>
          <p:nvPr>
            <p:ph sz="quarter" idx="11"/>
          </p:nvPr>
        </p:nvSpPr>
        <p:spPr>
          <a:xfrm>
            <a:off x="2167377" y="3714224"/>
            <a:ext cx="19309300" cy="8830702"/>
          </a:xfrm>
        </p:spPr>
        <p:txBody>
          <a:bodyPr>
            <a:normAutofit fontScale="85000" lnSpcReduction="20000"/>
          </a:bodyPr>
          <a:lstStyle/>
          <a:p>
            <a:pPr marL="0" indent="0">
              <a:buNone/>
            </a:pPr>
            <a:r>
              <a:rPr lang="en-US" dirty="0"/>
              <a:t>By the end of this course, students will be able to:</a:t>
            </a:r>
          </a:p>
          <a:p>
            <a:pPr algn="just"/>
            <a:r>
              <a:rPr lang="en-US" dirty="0"/>
              <a:t>LO 1: Evaluate the time and space complexity of algorithms using asymptotic notation and formal analysis methods, and prove algorithm correctness using loop invariants, induction, or exchange arguments.</a:t>
            </a:r>
          </a:p>
          <a:p>
            <a:pPr algn="just"/>
            <a:r>
              <a:rPr lang="en-US" dirty="0"/>
              <a:t>LO 2: Analyze unfamiliar computational problems by identifying their structural properties, classifying them into known algorithmic categories including graph, string, and combinatorial problems and recommending a solution strategy with justification.</a:t>
            </a:r>
          </a:p>
          <a:p>
            <a:pPr algn="just"/>
            <a:r>
              <a:rPr lang="en-US" dirty="0"/>
              <a:t>LO 3: Design solutions to unfamiliar computational problems by selecting and applying appropriate strategies including Divide and Conquer, Greedy, Dynamic Programming, and Backtracking.</a:t>
            </a:r>
          </a:p>
          <a:p>
            <a:pPr algn="just"/>
            <a:r>
              <a:rPr lang="en-US" dirty="0"/>
              <a:t>LO 4: Assess the computational complexity of problems by distinguishing tractable from intractable cases, verify NP membership through polynomial-time verification, and recognize NP-hardness by mapping problem structure to known NP-complete instances.</a:t>
            </a:r>
          </a:p>
        </p:txBody>
      </p:sp>
    </p:spTree>
    <p:extLst>
      <p:ext uri="{BB962C8B-B14F-4D97-AF65-F5344CB8AC3E}">
        <p14:creationId xmlns:p14="http://schemas.microsoft.com/office/powerpoint/2010/main" val="18466363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evaluation</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marL="571500" indent="-571500">
              <a:lnSpc>
                <a:spcPct val="120000"/>
              </a:lnSpc>
              <a:spcBef>
                <a:spcPts val="0"/>
              </a:spcBef>
            </a:pPr>
            <a:r>
              <a:rPr lang="id-ID" dirty="0" err="1"/>
              <a:t>Assignment</a:t>
            </a:r>
            <a:r>
              <a:rPr lang="id-ID" dirty="0"/>
              <a:t> (Individual </a:t>
            </a:r>
            <a:r>
              <a:rPr lang="id-ID" dirty="0" err="1"/>
              <a:t>Assignment</a:t>
            </a:r>
            <a:r>
              <a:rPr lang="id-ID" dirty="0"/>
              <a:t>)	: 20%</a:t>
            </a:r>
          </a:p>
          <a:p>
            <a:pPr marL="571500" indent="-571500">
              <a:lnSpc>
                <a:spcPct val="120000"/>
              </a:lnSpc>
              <a:spcBef>
                <a:spcPts val="0"/>
              </a:spcBef>
            </a:pPr>
            <a:r>
              <a:rPr lang="id-ID" dirty="0"/>
              <a:t>Assurance </a:t>
            </a:r>
            <a:r>
              <a:rPr lang="id-ID" dirty="0" err="1"/>
              <a:t>of</a:t>
            </a:r>
            <a:r>
              <a:rPr lang="id-ID" dirty="0"/>
              <a:t> </a:t>
            </a:r>
            <a:r>
              <a:rPr lang="id-ID" dirty="0" err="1"/>
              <a:t>Learning</a:t>
            </a:r>
            <a:r>
              <a:rPr lang="id-ID" dirty="0"/>
              <a:t> (</a:t>
            </a:r>
            <a:r>
              <a:rPr lang="id-ID" dirty="0" err="1"/>
              <a:t>AoL</a:t>
            </a:r>
            <a:r>
              <a:rPr lang="id-ID" dirty="0"/>
              <a:t>) 		: 20%</a:t>
            </a:r>
          </a:p>
          <a:p>
            <a:pPr marL="571500" indent="-571500">
              <a:lnSpc>
                <a:spcPct val="120000"/>
              </a:lnSpc>
              <a:spcBef>
                <a:spcPts val="0"/>
              </a:spcBef>
            </a:pPr>
            <a:r>
              <a:rPr lang="id-ID" dirty="0" err="1"/>
              <a:t>Mid</a:t>
            </a:r>
            <a:r>
              <a:rPr lang="id-ID" dirty="0"/>
              <a:t> </a:t>
            </a:r>
            <a:r>
              <a:rPr lang="id-ID" dirty="0" err="1"/>
              <a:t>Exam</a:t>
            </a:r>
            <a:r>
              <a:rPr lang="id-ID" dirty="0"/>
              <a:t>			</a:t>
            </a:r>
            <a:r>
              <a:rPr lang="en-US" dirty="0"/>
              <a:t>	</a:t>
            </a:r>
            <a:r>
              <a:rPr lang="id-ID" dirty="0"/>
              <a:t>: 30%</a:t>
            </a:r>
          </a:p>
          <a:p>
            <a:pPr marL="571500" indent="-571500">
              <a:lnSpc>
                <a:spcPct val="120000"/>
              </a:lnSpc>
              <a:spcBef>
                <a:spcPts val="0"/>
              </a:spcBef>
            </a:pPr>
            <a:r>
              <a:rPr lang="id-ID" dirty="0"/>
              <a:t>Final </a:t>
            </a:r>
            <a:r>
              <a:rPr lang="id-ID" dirty="0" err="1"/>
              <a:t>Exam</a:t>
            </a:r>
            <a:r>
              <a:rPr lang="id-ID" dirty="0"/>
              <a:t> 			</a:t>
            </a:r>
            <a:r>
              <a:rPr lang="en-US" dirty="0"/>
              <a:t>	</a:t>
            </a:r>
            <a:r>
              <a:rPr lang="id-ID" dirty="0"/>
              <a:t>: 30%</a:t>
            </a:r>
            <a:endParaRPr lang="en-US" dirty="0"/>
          </a:p>
          <a:p>
            <a:pPr marL="0" indent="0">
              <a:lnSpc>
                <a:spcPct val="120000"/>
              </a:lnSpc>
              <a:spcBef>
                <a:spcPts val="0"/>
              </a:spcBef>
              <a:buNone/>
            </a:pPr>
            <a:endParaRPr lang="en-US" dirty="0"/>
          </a:p>
          <a:p>
            <a:pPr marL="0" indent="0">
              <a:buNone/>
            </a:pPr>
            <a:r>
              <a:rPr lang="en-US" dirty="0"/>
              <a:t>For </a:t>
            </a:r>
            <a:r>
              <a:rPr lang="en-US" dirty="0" err="1"/>
              <a:t>AoL</a:t>
            </a:r>
            <a:r>
              <a:rPr lang="en-US" dirty="0"/>
              <a:t>, students have to participate in INC (Indonesia National Contest)</a:t>
            </a:r>
          </a:p>
          <a:p>
            <a:endParaRPr lang="en-US" dirty="0"/>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Indonesia national contest</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Inc</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a:bodyPr>
          <a:lstStyle/>
          <a:p>
            <a:pPr marL="673100" indent="-571500" algn="just"/>
            <a:r>
              <a:rPr lang="en-US" dirty="0"/>
              <a:t>Indonesia National Contest (INC) is programming contest for students from universities in Indonesia. INC is preparation contest to participate in International Collegiate Programming Contest (ICPC).</a:t>
            </a:r>
          </a:p>
          <a:p>
            <a:pPr marL="673100" indent="-571500" algn="just"/>
            <a:r>
              <a:rPr lang="en-US" dirty="0"/>
              <a:t>Every 3rd semester students majoring computer science BINUS University MUST participate in this contest (INC). Participant in this contest will get assignment score in this course (COMP6049- Algorithm Design &amp; Analysis).</a:t>
            </a:r>
          </a:p>
        </p:txBody>
      </p:sp>
    </p:spTree>
    <p:extLst>
      <p:ext uri="{BB962C8B-B14F-4D97-AF65-F5344CB8AC3E}">
        <p14:creationId xmlns:p14="http://schemas.microsoft.com/office/powerpoint/2010/main" val="34055093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0718A-4B1C-6F3C-0D55-454833551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0DBC3-A51D-AAD6-2995-C7E86834E983}"/>
              </a:ext>
            </a:extLst>
          </p:cNvPr>
          <p:cNvSpPr>
            <a:spLocks noGrp="1"/>
          </p:cNvSpPr>
          <p:nvPr>
            <p:ph type="title"/>
          </p:nvPr>
        </p:nvSpPr>
        <p:spPr/>
        <p:txBody>
          <a:bodyPr>
            <a:normAutofit fontScale="90000"/>
          </a:bodyPr>
          <a:lstStyle/>
          <a:p>
            <a:r>
              <a:rPr lang="en-ID" dirty="0"/>
              <a:t>Indonesia national contest</a:t>
            </a:r>
          </a:p>
        </p:txBody>
      </p:sp>
      <p:sp>
        <p:nvSpPr>
          <p:cNvPr id="3" name="Text Placeholder 2">
            <a:extLst>
              <a:ext uri="{FF2B5EF4-FFF2-40B4-BE49-F238E27FC236}">
                <a16:creationId xmlns:a16="http://schemas.microsoft.com/office/drawing/2014/main" id="{08F6B30D-D424-4B68-25E5-137D8A0668D3}"/>
              </a:ext>
            </a:extLst>
          </p:cNvPr>
          <p:cNvSpPr>
            <a:spLocks noGrp="1"/>
          </p:cNvSpPr>
          <p:nvPr>
            <p:ph type="body" sz="quarter" idx="10"/>
          </p:nvPr>
        </p:nvSpPr>
        <p:spPr/>
        <p:txBody>
          <a:bodyPr>
            <a:normAutofit/>
          </a:bodyPr>
          <a:lstStyle/>
          <a:p>
            <a:r>
              <a:rPr lang="en-ID" dirty="0"/>
              <a:t>Inc</a:t>
            </a:r>
          </a:p>
        </p:txBody>
      </p:sp>
      <p:sp>
        <p:nvSpPr>
          <p:cNvPr id="4" name="Content Placeholder 3">
            <a:extLst>
              <a:ext uri="{FF2B5EF4-FFF2-40B4-BE49-F238E27FC236}">
                <a16:creationId xmlns:a16="http://schemas.microsoft.com/office/drawing/2014/main" id="{013BA789-2C7C-8B60-6181-3FA78903BFDE}"/>
              </a:ext>
            </a:extLst>
          </p:cNvPr>
          <p:cNvSpPr>
            <a:spLocks noGrp="1"/>
          </p:cNvSpPr>
          <p:nvPr>
            <p:ph sz="quarter" idx="11"/>
          </p:nvPr>
        </p:nvSpPr>
        <p:spPr>
          <a:xfrm>
            <a:off x="2167377" y="3714224"/>
            <a:ext cx="19032265" cy="9138176"/>
          </a:xfrm>
        </p:spPr>
        <p:txBody>
          <a:bodyPr>
            <a:normAutofit fontScale="92500" lnSpcReduction="10000"/>
          </a:bodyPr>
          <a:lstStyle/>
          <a:p>
            <a:pPr marL="673100" indent="-571500" algn="just"/>
            <a:r>
              <a:rPr lang="en-US" dirty="0"/>
              <a:t>The ACM International Collegiate Programming Contest (ICPC) is a multitier, team-based, programming competition operating under the auspices of ACM and headquartered at Baylor University. The contest involves a global network of universities hosting regional competitions that advance teams to the ACM-ICPC World Finals. Participation has grown to several tens of thousands of the finest students and faculty in computing disciplines at almost 2,000 universities from over 80 countries on six continents. The contest fosters creativity, teamwork, and innovation in building new software programs, and enables students to test their ability to perform under pressure. Quite simply, it is the oldest, largest, and most prestigious programming contest in the world.</a:t>
            </a:r>
          </a:p>
          <a:p>
            <a:pPr marL="673100" indent="-571500" algn="just"/>
            <a:r>
              <a:rPr lang="en-US" dirty="0"/>
              <a:t>The contest will cover problem solving algorithm. Teams will be presented with set of problems that should be solved to meet the judges. solutions using C/C++/Java programming language. </a:t>
            </a:r>
          </a:p>
        </p:txBody>
      </p:sp>
    </p:spTree>
    <p:extLst>
      <p:ext uri="{BB962C8B-B14F-4D97-AF65-F5344CB8AC3E}">
        <p14:creationId xmlns:p14="http://schemas.microsoft.com/office/powerpoint/2010/main" val="2975347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F718-4A35-4649-64C6-90CA18F88C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724EC-7F14-978F-F067-73934F2ACB65}"/>
              </a:ext>
            </a:extLst>
          </p:cNvPr>
          <p:cNvSpPr>
            <a:spLocks noGrp="1"/>
          </p:cNvSpPr>
          <p:nvPr>
            <p:ph type="title"/>
          </p:nvPr>
        </p:nvSpPr>
        <p:spPr/>
        <p:txBody>
          <a:bodyPr>
            <a:normAutofit fontScale="90000"/>
          </a:bodyPr>
          <a:lstStyle/>
          <a:p>
            <a:r>
              <a:rPr lang="en-ID" dirty="0"/>
              <a:t>Information &amp; registration</a:t>
            </a:r>
          </a:p>
        </p:txBody>
      </p:sp>
      <p:sp>
        <p:nvSpPr>
          <p:cNvPr id="3" name="Text Placeholder 2">
            <a:extLst>
              <a:ext uri="{FF2B5EF4-FFF2-40B4-BE49-F238E27FC236}">
                <a16:creationId xmlns:a16="http://schemas.microsoft.com/office/drawing/2014/main" id="{CA2EF0C0-96E9-C68F-CE02-62D3D8FDFF7B}"/>
              </a:ext>
            </a:extLst>
          </p:cNvPr>
          <p:cNvSpPr>
            <a:spLocks noGrp="1"/>
          </p:cNvSpPr>
          <p:nvPr>
            <p:ph type="body" sz="quarter" idx="10"/>
          </p:nvPr>
        </p:nvSpPr>
        <p:spPr/>
        <p:txBody>
          <a:bodyPr>
            <a:normAutofit/>
          </a:bodyPr>
          <a:lstStyle/>
          <a:p>
            <a:r>
              <a:rPr lang="en-ID" dirty="0"/>
              <a:t>For </a:t>
            </a:r>
            <a:r>
              <a:rPr lang="en-ID" dirty="0" err="1"/>
              <a:t>inc</a:t>
            </a:r>
            <a:r>
              <a:rPr lang="en-ID" dirty="0"/>
              <a:t>/</a:t>
            </a:r>
            <a:r>
              <a:rPr lang="en-ID" dirty="0" err="1"/>
              <a:t>icpc</a:t>
            </a:r>
            <a:endParaRPr lang="en-ID" dirty="0"/>
          </a:p>
        </p:txBody>
      </p:sp>
      <p:sp>
        <p:nvSpPr>
          <p:cNvPr id="4" name="Content Placeholder 3">
            <a:extLst>
              <a:ext uri="{FF2B5EF4-FFF2-40B4-BE49-F238E27FC236}">
                <a16:creationId xmlns:a16="http://schemas.microsoft.com/office/drawing/2014/main" id="{3D64F8D9-BDF0-46C2-59D7-97EEDC407CB0}"/>
              </a:ext>
            </a:extLst>
          </p:cNvPr>
          <p:cNvSpPr>
            <a:spLocks noGrp="1"/>
          </p:cNvSpPr>
          <p:nvPr>
            <p:ph sz="quarter" idx="11"/>
          </p:nvPr>
        </p:nvSpPr>
        <p:spPr>
          <a:xfrm>
            <a:off x="2167377" y="3714224"/>
            <a:ext cx="19032265" cy="9138176"/>
          </a:xfrm>
        </p:spPr>
        <p:txBody>
          <a:bodyPr>
            <a:normAutofit fontScale="77500" lnSpcReduction="20000"/>
          </a:bodyPr>
          <a:lstStyle/>
          <a:p>
            <a:pPr marL="101600" indent="0">
              <a:spcBef>
                <a:spcPts val="1200"/>
              </a:spcBef>
              <a:buNone/>
            </a:pPr>
            <a:r>
              <a:rPr lang="en-US" b="1" dirty="0"/>
              <a:t>More information about INC/ICPC can be accessed in this link: </a:t>
            </a:r>
          </a:p>
          <a:p>
            <a:pPr marL="673100" indent="-571500">
              <a:spcBef>
                <a:spcPts val="1200"/>
              </a:spcBef>
            </a:pPr>
            <a:r>
              <a:rPr lang="en-US" dirty="0"/>
              <a:t>http://</a:t>
            </a:r>
            <a:r>
              <a:rPr lang="en-US" dirty="0" err="1"/>
              <a:t>competition.binus.ac.id</a:t>
            </a:r>
            <a:r>
              <a:rPr lang="en-US" dirty="0"/>
              <a:t>/</a:t>
            </a:r>
            <a:r>
              <a:rPr lang="en-US" dirty="0" err="1"/>
              <a:t>icpc</a:t>
            </a:r>
            <a:r>
              <a:rPr lang="en-US" dirty="0"/>
              <a:t>/</a:t>
            </a:r>
          </a:p>
          <a:p>
            <a:pPr marL="673100" indent="-571500">
              <a:spcBef>
                <a:spcPts val="1200"/>
              </a:spcBef>
            </a:pPr>
            <a:endParaRPr lang="en-US" dirty="0"/>
          </a:p>
          <a:p>
            <a:pPr marL="101600" indent="0">
              <a:spcBef>
                <a:spcPts val="1200"/>
              </a:spcBef>
              <a:buNone/>
            </a:pPr>
            <a:r>
              <a:rPr lang="en-US" b="1" dirty="0"/>
              <a:t>For LEARNING RESOURCES</a:t>
            </a:r>
          </a:p>
          <a:p>
            <a:pPr marL="673100" indent="-571500">
              <a:spcBef>
                <a:spcPts val="1200"/>
              </a:spcBef>
            </a:pPr>
            <a:r>
              <a:rPr lang="en-US" dirty="0"/>
              <a:t>https://tlx.toki.id/courses/basic (for newcomers with no coding experience)</a:t>
            </a:r>
          </a:p>
          <a:p>
            <a:pPr marL="673100" indent="-571500">
              <a:spcBef>
                <a:spcPts val="1200"/>
              </a:spcBef>
            </a:pPr>
            <a:r>
              <a:rPr lang="en-US" dirty="0"/>
              <a:t>https://tlx.toki.id/courses/competitive </a:t>
            </a:r>
          </a:p>
          <a:p>
            <a:pPr marL="673100" indent="-571500">
              <a:spcBef>
                <a:spcPts val="1200"/>
              </a:spcBef>
            </a:pPr>
            <a:r>
              <a:rPr lang="en-US" dirty="0"/>
              <a:t>https://usaco.guide/ </a:t>
            </a:r>
          </a:p>
          <a:p>
            <a:pPr marL="673100" indent="-571500">
              <a:spcBef>
                <a:spcPts val="1200"/>
              </a:spcBef>
            </a:pPr>
            <a:r>
              <a:rPr lang="en-US" dirty="0"/>
              <a:t>https://ksn.toki.id/data/pemrograman-kompetitif-dasar.pdf </a:t>
            </a:r>
          </a:p>
          <a:p>
            <a:pPr marL="673100" indent="-571500">
              <a:spcBef>
                <a:spcPts val="1200"/>
              </a:spcBef>
            </a:pPr>
            <a:endParaRPr lang="en-US" dirty="0"/>
          </a:p>
          <a:p>
            <a:pPr marL="101600" indent="0">
              <a:spcBef>
                <a:spcPts val="1200"/>
              </a:spcBef>
              <a:buNone/>
            </a:pPr>
            <a:r>
              <a:rPr lang="en-US" b="1" dirty="0"/>
              <a:t>For EXERCISE can be accessed in this link:</a:t>
            </a:r>
          </a:p>
          <a:p>
            <a:pPr marL="673100" indent="-571500">
              <a:spcBef>
                <a:spcPts val="1200"/>
              </a:spcBef>
            </a:pPr>
            <a:r>
              <a:rPr lang="en-US" dirty="0"/>
              <a:t>http://pandaoj.com </a:t>
            </a:r>
          </a:p>
          <a:p>
            <a:pPr marL="673100" indent="-571500">
              <a:spcBef>
                <a:spcPts val="1200"/>
              </a:spcBef>
            </a:pPr>
            <a:r>
              <a:rPr lang="en-US" dirty="0"/>
              <a:t>https://open.kattis.com/ </a:t>
            </a:r>
          </a:p>
          <a:p>
            <a:pPr marL="673100" indent="-571500">
              <a:spcBef>
                <a:spcPts val="1200"/>
              </a:spcBef>
            </a:pPr>
            <a:r>
              <a:rPr lang="en-US" dirty="0"/>
              <a:t>https://codeforces.com/ </a:t>
            </a:r>
          </a:p>
          <a:p>
            <a:pPr marL="673100" indent="-571500">
              <a:spcBef>
                <a:spcPts val="1200"/>
              </a:spcBef>
            </a:pPr>
            <a:r>
              <a:rPr lang="en-US" dirty="0"/>
              <a:t>https://atcoder.jp/ </a:t>
            </a:r>
          </a:p>
          <a:p>
            <a:pPr marL="673100" indent="-571500">
              <a:spcBef>
                <a:spcPts val="1200"/>
              </a:spcBef>
            </a:pPr>
            <a:r>
              <a:rPr lang="en-US" dirty="0"/>
              <a:t>https://tlx.toki.id/contests </a:t>
            </a:r>
          </a:p>
          <a:p>
            <a:pPr marL="673100" indent="-571500">
              <a:spcBef>
                <a:spcPts val="1200"/>
              </a:spcBef>
            </a:pPr>
            <a:r>
              <a:rPr lang="en-US" dirty="0"/>
              <a:t>https://tlx.toki.id/problems</a:t>
            </a:r>
            <a:r>
              <a:rPr lang="en-US"/>
              <a:t>/inc-2025 </a:t>
            </a:r>
            <a:endParaRPr lang="en-US" dirty="0"/>
          </a:p>
        </p:txBody>
      </p:sp>
    </p:spTree>
    <p:extLst>
      <p:ext uri="{BB962C8B-B14F-4D97-AF65-F5344CB8AC3E}">
        <p14:creationId xmlns:p14="http://schemas.microsoft.com/office/powerpoint/2010/main" val="302635455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595DF-0C31-1534-C394-73CD24428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10E5CF-B818-EE6A-A8D7-2CAC0816C2EC}"/>
              </a:ext>
            </a:extLst>
          </p:cNvPr>
          <p:cNvSpPr>
            <a:spLocks noGrp="1"/>
          </p:cNvSpPr>
          <p:nvPr>
            <p:ph type="title"/>
          </p:nvPr>
        </p:nvSpPr>
        <p:spPr/>
        <p:txBody>
          <a:bodyPr>
            <a:normAutofit fontScale="90000"/>
          </a:bodyPr>
          <a:lstStyle/>
          <a:p>
            <a:r>
              <a:rPr lang="en-ID" dirty="0"/>
              <a:t>Outline materials</a:t>
            </a:r>
          </a:p>
        </p:txBody>
      </p:sp>
      <p:sp>
        <p:nvSpPr>
          <p:cNvPr id="3" name="Text Placeholder 2">
            <a:extLst>
              <a:ext uri="{FF2B5EF4-FFF2-40B4-BE49-F238E27FC236}">
                <a16:creationId xmlns:a16="http://schemas.microsoft.com/office/drawing/2014/main" id="{05945441-109D-4F62-08CF-9439F0AAD484}"/>
              </a:ext>
            </a:extLst>
          </p:cNvPr>
          <p:cNvSpPr>
            <a:spLocks noGrp="1"/>
          </p:cNvSpPr>
          <p:nvPr>
            <p:ph type="body" sz="quarter" idx="10"/>
          </p:nvPr>
        </p:nvSpPr>
        <p:spPr/>
        <p:txBody>
          <a:bodyPr>
            <a:normAutofit/>
          </a:bodyPr>
          <a:lstStyle/>
          <a:p>
            <a:r>
              <a:rPr lang="en-US" dirty="0"/>
              <a:t>Session 01</a:t>
            </a:r>
            <a:endParaRPr lang="en-ID" dirty="0"/>
          </a:p>
        </p:txBody>
      </p:sp>
      <p:sp>
        <p:nvSpPr>
          <p:cNvPr id="4" name="Content Placeholder 3">
            <a:extLst>
              <a:ext uri="{FF2B5EF4-FFF2-40B4-BE49-F238E27FC236}">
                <a16:creationId xmlns:a16="http://schemas.microsoft.com/office/drawing/2014/main" id="{E2470393-932B-EEA2-8932-5B7F76497338}"/>
              </a:ext>
            </a:extLst>
          </p:cNvPr>
          <p:cNvSpPr>
            <a:spLocks noGrp="1"/>
          </p:cNvSpPr>
          <p:nvPr>
            <p:ph sz="quarter" idx="11"/>
          </p:nvPr>
        </p:nvSpPr>
        <p:spPr>
          <a:xfrm>
            <a:off x="2167377" y="3714224"/>
            <a:ext cx="19032265" cy="9138176"/>
          </a:xfrm>
        </p:spPr>
        <p:txBody>
          <a:bodyPr>
            <a:normAutofit/>
          </a:bodyPr>
          <a:lstStyle/>
          <a:p>
            <a:pPr marL="673100" indent="-571500" algn="just"/>
            <a:r>
              <a:rPr lang="en-US" dirty="0">
                <a:solidFill>
                  <a:schemeClr val="bg2">
                    <a:lumMod val="10000"/>
                  </a:schemeClr>
                </a:solidFill>
              </a:rPr>
              <a:t>Algorithms</a:t>
            </a:r>
          </a:p>
          <a:p>
            <a:pPr marL="673100" indent="-571500" algn="just"/>
            <a:r>
              <a:rPr lang="en-US" dirty="0">
                <a:solidFill>
                  <a:schemeClr val="bg2">
                    <a:lumMod val="10000"/>
                  </a:schemeClr>
                </a:solidFill>
              </a:rPr>
              <a:t>Algorithms as Technology</a:t>
            </a:r>
          </a:p>
          <a:p>
            <a:pPr lvl="0" fontAlgn="base"/>
            <a:r>
              <a:rPr lang="en-US" dirty="0"/>
              <a:t>Practical Math Warm-up: Factorial, Fibonacci, Prime, Sieve of Eratosthenes​</a:t>
            </a:r>
          </a:p>
          <a:p>
            <a:pPr lvl="0" fontAlgn="base"/>
            <a:r>
              <a:rPr lang="en-US" dirty="0"/>
              <a:t>Intuitive Order of Growth​</a:t>
            </a:r>
          </a:p>
          <a:p>
            <a:pPr lvl="0" fontAlgn="base"/>
            <a:r>
              <a:rPr lang="en-US" dirty="0"/>
              <a:t>Problem Modeling: Translating Real Problems into Algorithmic Problems​</a:t>
            </a:r>
          </a:p>
        </p:txBody>
      </p:sp>
    </p:spTree>
    <p:extLst>
      <p:ext uri="{BB962C8B-B14F-4D97-AF65-F5344CB8AC3E}">
        <p14:creationId xmlns:p14="http://schemas.microsoft.com/office/powerpoint/2010/main" val="48865025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F6CCF-E5FA-2229-9959-917CD67F7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54F46-BB84-CE95-B027-38D44444E6E7}"/>
              </a:ext>
            </a:extLst>
          </p:cNvPr>
          <p:cNvSpPr>
            <a:spLocks noGrp="1"/>
          </p:cNvSpPr>
          <p:nvPr>
            <p:ph type="title"/>
          </p:nvPr>
        </p:nvSpPr>
        <p:spPr/>
        <p:txBody>
          <a:bodyPr>
            <a:normAutofit fontScale="90000"/>
          </a:bodyPr>
          <a:lstStyle/>
          <a:p>
            <a:r>
              <a:rPr lang="en-ID" dirty="0"/>
              <a:t>Learning outcomes</a:t>
            </a:r>
          </a:p>
        </p:txBody>
      </p:sp>
      <p:sp>
        <p:nvSpPr>
          <p:cNvPr id="3" name="Text Placeholder 2">
            <a:extLst>
              <a:ext uri="{FF2B5EF4-FFF2-40B4-BE49-F238E27FC236}">
                <a16:creationId xmlns:a16="http://schemas.microsoft.com/office/drawing/2014/main" id="{FC13DF66-1869-8375-0401-259721391370}"/>
              </a:ext>
            </a:extLst>
          </p:cNvPr>
          <p:cNvSpPr>
            <a:spLocks noGrp="1"/>
          </p:cNvSpPr>
          <p:nvPr>
            <p:ph type="body" sz="quarter" idx="10"/>
          </p:nvPr>
        </p:nvSpPr>
        <p:spPr/>
        <p:txBody>
          <a:bodyPr>
            <a:normAutofit/>
          </a:bodyPr>
          <a:lstStyle/>
          <a:p>
            <a:r>
              <a:rPr lang="en-ID" dirty="0"/>
              <a:t>Session 01</a:t>
            </a:r>
          </a:p>
        </p:txBody>
      </p:sp>
      <p:sp>
        <p:nvSpPr>
          <p:cNvPr id="4" name="Content Placeholder 3">
            <a:extLst>
              <a:ext uri="{FF2B5EF4-FFF2-40B4-BE49-F238E27FC236}">
                <a16:creationId xmlns:a16="http://schemas.microsoft.com/office/drawing/2014/main" id="{A28A398B-BB08-C147-12A5-4EE9148A7C0B}"/>
              </a:ext>
            </a:extLst>
          </p:cNvPr>
          <p:cNvSpPr>
            <a:spLocks noGrp="1"/>
          </p:cNvSpPr>
          <p:nvPr>
            <p:ph sz="quarter" idx="11"/>
          </p:nvPr>
        </p:nvSpPr>
        <p:spPr>
          <a:xfrm>
            <a:off x="2167377" y="3714224"/>
            <a:ext cx="19032265" cy="9138176"/>
          </a:xfrm>
        </p:spPr>
        <p:txBody>
          <a:bodyPr>
            <a:normAutofit/>
          </a:bodyPr>
          <a:lstStyle/>
          <a:p>
            <a:pPr marL="673100" indent="-571500" algn="just"/>
            <a:r>
              <a:rPr lang="en-US" dirty="0"/>
              <a:t>LO 2: Analyze unfamiliar computational problems by identifying their structural properties, classifying them into known algorithmic categories including graph, string, and combinatorial problems and recommending a solution strategy with justification.</a:t>
            </a:r>
          </a:p>
          <a:p>
            <a:pPr marL="673100" indent="-571500" algn="just"/>
            <a:endParaRPr lang="en-US" dirty="0"/>
          </a:p>
        </p:txBody>
      </p:sp>
    </p:spTree>
    <p:extLst>
      <p:ext uri="{BB962C8B-B14F-4D97-AF65-F5344CB8AC3E}">
        <p14:creationId xmlns:p14="http://schemas.microsoft.com/office/powerpoint/2010/main" val="305918225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FE5D6-6088-E776-A0C7-CE03CDBC20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D80AAC-4B20-FD8D-022C-0C8458855C6B}"/>
              </a:ext>
            </a:extLst>
          </p:cNvPr>
          <p:cNvSpPr>
            <a:spLocks noGrp="1"/>
          </p:cNvSpPr>
          <p:nvPr>
            <p:ph type="title"/>
          </p:nvPr>
        </p:nvSpPr>
        <p:spPr/>
        <p:txBody>
          <a:bodyPr>
            <a:normAutofit fontScale="90000"/>
          </a:bodyPr>
          <a:lstStyle/>
          <a:p>
            <a:r>
              <a:rPr lang="en-ID" dirty="0"/>
              <a:t>algorithms</a:t>
            </a:r>
          </a:p>
        </p:txBody>
      </p:sp>
      <p:sp>
        <p:nvSpPr>
          <p:cNvPr id="3" name="Text Placeholder 2">
            <a:extLst>
              <a:ext uri="{FF2B5EF4-FFF2-40B4-BE49-F238E27FC236}">
                <a16:creationId xmlns:a16="http://schemas.microsoft.com/office/drawing/2014/main" id="{384096FB-E3ED-882B-10DE-206E983D3D40}"/>
              </a:ext>
            </a:extLst>
          </p:cNvPr>
          <p:cNvSpPr>
            <a:spLocks noGrp="1"/>
          </p:cNvSpPr>
          <p:nvPr>
            <p:ph type="body" sz="quarter" idx="10"/>
          </p:nvPr>
        </p:nvSpPr>
        <p:spPr/>
        <p:txBody>
          <a:bodyPr>
            <a:normAutofit/>
          </a:bodyPr>
          <a:lstStyle/>
          <a:p>
            <a:r>
              <a:rPr lang="en-ID" dirty="0"/>
              <a:t>definition</a:t>
            </a:r>
          </a:p>
        </p:txBody>
      </p:sp>
      <p:sp>
        <p:nvSpPr>
          <p:cNvPr id="4" name="Content Placeholder 3">
            <a:extLst>
              <a:ext uri="{FF2B5EF4-FFF2-40B4-BE49-F238E27FC236}">
                <a16:creationId xmlns:a16="http://schemas.microsoft.com/office/drawing/2014/main" id="{E1C17515-7E89-F191-8E4E-0FE70069889E}"/>
              </a:ext>
            </a:extLst>
          </p:cNvPr>
          <p:cNvSpPr>
            <a:spLocks noGrp="1"/>
          </p:cNvSpPr>
          <p:nvPr>
            <p:ph sz="quarter" idx="11"/>
          </p:nvPr>
        </p:nvSpPr>
        <p:spPr>
          <a:xfrm>
            <a:off x="2167377" y="3714224"/>
            <a:ext cx="19032265" cy="9138176"/>
          </a:xfrm>
        </p:spPr>
        <p:txBody>
          <a:bodyPr>
            <a:normAutofit/>
          </a:bodyPr>
          <a:lstStyle/>
          <a:p>
            <a:pPr marL="673100" indent="-571500" algn="just"/>
            <a:r>
              <a:rPr lang="en-US" dirty="0"/>
              <a:t>An algorithm is any well-defined computational procedure that takes some value, or set of values, as input and produces some value, or set of values, as output. </a:t>
            </a:r>
          </a:p>
          <a:p>
            <a:pPr marL="673100" indent="-571500" algn="just"/>
            <a:r>
              <a:rPr lang="en-US" dirty="0"/>
              <a:t>An algorithm is thus a sequence of computational steps that transform the input into the output. </a:t>
            </a:r>
          </a:p>
          <a:p>
            <a:pPr marL="673100" indent="-571500" algn="just"/>
            <a:r>
              <a:rPr lang="en-US" dirty="0"/>
              <a:t>A tool for solving a well-specified computational problem. </a:t>
            </a:r>
          </a:p>
          <a:p>
            <a:pPr marL="673100" indent="-571500" algn="just"/>
            <a:r>
              <a:rPr lang="en-US" dirty="0"/>
              <a:t>The statement of the problem specifies in general terms the desired input/output relationship. </a:t>
            </a:r>
          </a:p>
          <a:p>
            <a:pPr marL="673100" indent="-571500" algn="just"/>
            <a:r>
              <a:rPr lang="en-US" dirty="0"/>
              <a:t>The algorithm describes a specific computational procedure for achieving that input/output relationship.</a:t>
            </a:r>
          </a:p>
        </p:txBody>
      </p:sp>
    </p:spTree>
    <p:extLst>
      <p:ext uri="{BB962C8B-B14F-4D97-AF65-F5344CB8AC3E}">
        <p14:creationId xmlns:p14="http://schemas.microsoft.com/office/powerpoint/2010/main" val="165011498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D389-A95B-4CE3-7CD6-BB61ED94D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41736-AB1E-8B67-8D62-BA6214A2742B}"/>
              </a:ext>
            </a:extLst>
          </p:cNvPr>
          <p:cNvSpPr>
            <a:spLocks noGrp="1"/>
          </p:cNvSpPr>
          <p:nvPr>
            <p:ph type="title"/>
          </p:nvPr>
        </p:nvSpPr>
        <p:spPr/>
        <p:txBody>
          <a:bodyPr>
            <a:normAutofit fontScale="90000"/>
          </a:bodyPr>
          <a:lstStyle/>
          <a:p>
            <a:r>
              <a:rPr lang="en-ID" dirty="0"/>
              <a:t>algorithms</a:t>
            </a:r>
          </a:p>
        </p:txBody>
      </p:sp>
      <p:sp>
        <p:nvSpPr>
          <p:cNvPr id="3" name="Text Placeholder 2">
            <a:extLst>
              <a:ext uri="{FF2B5EF4-FFF2-40B4-BE49-F238E27FC236}">
                <a16:creationId xmlns:a16="http://schemas.microsoft.com/office/drawing/2014/main" id="{AC8F674D-DF5A-93FA-7560-7C6812D12B92}"/>
              </a:ext>
            </a:extLst>
          </p:cNvPr>
          <p:cNvSpPr>
            <a:spLocks noGrp="1"/>
          </p:cNvSpPr>
          <p:nvPr>
            <p:ph type="body" sz="quarter" idx="10"/>
          </p:nvPr>
        </p:nvSpPr>
        <p:spPr/>
        <p:txBody>
          <a:bodyPr>
            <a:normAutofit/>
          </a:bodyPr>
          <a:lstStyle/>
          <a:p>
            <a:r>
              <a:rPr lang="en-ID" dirty="0"/>
              <a:t>sorting</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8EB6EE8-E054-59C5-4CC5-CCFC596869E1}"/>
                  </a:ext>
                </a:extLst>
              </p:cNvPr>
              <p:cNvSpPr>
                <a:spLocks noGrp="1"/>
              </p:cNvSpPr>
              <p:nvPr>
                <p:ph sz="quarter" idx="11"/>
              </p:nvPr>
            </p:nvSpPr>
            <p:spPr>
              <a:xfrm>
                <a:off x="2167377" y="3714224"/>
                <a:ext cx="19032265" cy="9138176"/>
              </a:xfrm>
            </p:spPr>
            <p:txBody>
              <a:bodyPr>
                <a:normAutofit/>
              </a:bodyPr>
              <a:lstStyle/>
              <a:p>
                <a:pPr marL="673100" indent="-571500" algn="just"/>
                <a:r>
                  <a:rPr lang="en-US" dirty="0"/>
                  <a:t>As an example, suppose that you need to sort a sequence of numbers into monotonically increasing order. </a:t>
                </a:r>
              </a:p>
              <a:p>
                <a:pPr marL="673100" indent="-571500" algn="just"/>
                <a:r>
                  <a:rPr lang="en-US" dirty="0"/>
                  <a:t>This problem arises frequently in practice and provides fertile ground for introducing many standard design techniques and analysis tools.</a:t>
                </a:r>
              </a:p>
              <a:p>
                <a:pPr marL="673100" indent="-571500" algn="just"/>
                <a:r>
                  <a:rPr lang="en-US" dirty="0"/>
                  <a:t>Here is how we formally define the sorting problem:</a:t>
                </a:r>
              </a:p>
              <a:p>
                <a:pPr marL="1429100" lvl="1" indent="-571500" algn="just"/>
                <a:r>
                  <a:rPr lang="en-US" dirty="0"/>
                  <a:t>Input: A sequence of n numbers ⟨𝑎</a:t>
                </a:r>
                <a:r>
                  <a:rPr lang="en-US" baseline="-25000" dirty="0"/>
                  <a:t>1</a:t>
                </a:r>
                <a:r>
                  <a:rPr lang="en-US" dirty="0"/>
                  <a:t>, 𝑎</a:t>
                </a:r>
                <a:r>
                  <a:rPr lang="en-US" baseline="-25000" dirty="0"/>
                  <a:t>2</a:t>
                </a:r>
                <a:r>
                  <a:rPr lang="en-US" dirty="0"/>
                  <a:t>, …, 𝑎</a:t>
                </a:r>
                <a:r>
                  <a:rPr lang="en-US" baseline="-25000" dirty="0"/>
                  <a:t>𝑛</a:t>
                </a:r>
                <a:r>
                  <a:rPr lang="en-US" dirty="0"/>
                  <a:t> ⟩.</a:t>
                </a:r>
              </a:p>
              <a:p>
                <a:pPr marL="1429100" lvl="1" indent="-571500" algn="just"/>
                <a:r>
                  <a:rPr lang="en-US" dirty="0"/>
                  <a:t>Output: A permutation (reordering) ⟨𝑎</a:t>
                </a:r>
                <a14:m>
                  <m:oMath xmlns:m="http://schemas.openxmlformats.org/officeDocument/2006/math">
                    <m:r>
                      <a:rPr lang="en-US" i="1">
                        <a:latin typeface="Cambria Math" panose="02040503050406030204" pitchFamily="18" charset="0"/>
                      </a:rPr>
                      <m:t>′</m:t>
                    </m:r>
                  </m:oMath>
                </a14:m>
                <a:r>
                  <a:rPr lang="en-US" baseline="-25000" dirty="0"/>
                  <a:t>1</a:t>
                </a:r>
                <a:r>
                  <a:rPr lang="en-US" dirty="0"/>
                  <a:t>,𝑎</a:t>
                </a:r>
                <a14:m>
                  <m:oMath xmlns:m="http://schemas.openxmlformats.org/officeDocument/2006/math">
                    <m:r>
                      <a:rPr lang="en-US" i="1">
                        <a:latin typeface="Cambria Math" panose="02040503050406030204" pitchFamily="18" charset="0"/>
                      </a:rPr>
                      <m:t>′</m:t>
                    </m:r>
                  </m:oMath>
                </a14:m>
                <a:r>
                  <a:rPr lang="en-US" baseline="-25000" dirty="0"/>
                  <a:t>2</a:t>
                </a:r>
                <a:r>
                  <a:rPr lang="en-US" dirty="0"/>
                  <a:t>, …,𝑎</a:t>
                </a:r>
                <a14:m>
                  <m:oMath xmlns:m="http://schemas.openxmlformats.org/officeDocument/2006/math">
                    <m:r>
                      <a:rPr lang="en-US" i="1">
                        <a:latin typeface="Cambria Math" panose="02040503050406030204" pitchFamily="18" charset="0"/>
                      </a:rPr>
                      <m:t>′</m:t>
                    </m:r>
                  </m:oMath>
                </a14:m>
                <a:r>
                  <a:rPr lang="en-US" baseline="-25000" dirty="0"/>
                  <a:t>𝑛</a:t>
                </a:r>
                <a:r>
                  <a:rPr lang="en-US" dirty="0"/>
                  <a:t>⟩  of the input sequence such that 𝑎</a:t>
                </a:r>
                <a14:m>
                  <m:oMath xmlns:m="http://schemas.openxmlformats.org/officeDocument/2006/math">
                    <m:r>
                      <a:rPr lang="en-US" i="1">
                        <a:latin typeface="Cambria Math" panose="02040503050406030204" pitchFamily="18" charset="0"/>
                      </a:rPr>
                      <m:t>′</m:t>
                    </m:r>
                  </m:oMath>
                </a14:m>
                <a:r>
                  <a:rPr lang="en-US" baseline="-25000" dirty="0"/>
                  <a:t>1</a:t>
                </a:r>
                <a:r>
                  <a:rPr lang="en-US" dirty="0"/>
                  <a:t> ≤ 𝑎</a:t>
                </a:r>
                <a14:m>
                  <m:oMath xmlns:m="http://schemas.openxmlformats.org/officeDocument/2006/math">
                    <m:r>
                      <a:rPr lang="en-US" i="1">
                        <a:latin typeface="Cambria Math" panose="02040503050406030204" pitchFamily="18" charset="0"/>
                      </a:rPr>
                      <m:t>′</m:t>
                    </m:r>
                  </m:oMath>
                </a14:m>
                <a:r>
                  <a:rPr lang="en-US" baseline="-25000" dirty="0"/>
                  <a:t>2 </a:t>
                </a:r>
                <a:r>
                  <a:rPr lang="en-US" dirty="0"/>
                  <a:t>≤ … ≤ 𝑎</a:t>
                </a:r>
                <a14:m>
                  <m:oMath xmlns:m="http://schemas.openxmlformats.org/officeDocument/2006/math">
                    <m:r>
                      <a:rPr lang="en-US" i="1">
                        <a:latin typeface="Cambria Math" panose="02040503050406030204" pitchFamily="18" charset="0"/>
                      </a:rPr>
                      <m:t>′</m:t>
                    </m:r>
                  </m:oMath>
                </a14:m>
                <a:r>
                  <a:rPr lang="en-US" baseline="-25000" dirty="0"/>
                  <a:t>𝑛</a:t>
                </a:r>
                <a:endParaRPr lang="en-US" dirty="0"/>
              </a:p>
            </p:txBody>
          </p:sp>
        </mc:Choice>
        <mc:Fallback xmlns="">
          <p:sp>
            <p:nvSpPr>
              <p:cNvPr id="4" name="Content Placeholder 3">
                <a:extLst>
                  <a:ext uri="{FF2B5EF4-FFF2-40B4-BE49-F238E27FC236}">
                    <a16:creationId xmlns:a16="http://schemas.microsoft.com/office/drawing/2014/main" id="{B8EB6EE8-E054-59C5-4CC5-CCFC596869E1}"/>
                  </a:ext>
                </a:extLst>
              </p:cNvPr>
              <p:cNvSpPr>
                <a:spLocks noGrp="1" noRot="1" noChangeAspect="1" noMove="1" noResize="1" noEditPoints="1" noAdjustHandles="1" noChangeArrowheads="1" noChangeShapeType="1" noTextEdit="1"/>
              </p:cNvSpPr>
              <p:nvPr>
                <p:ph sz="quarter" idx="11"/>
              </p:nvPr>
            </p:nvSpPr>
            <p:spPr>
              <a:xfrm>
                <a:off x="2167377" y="3714224"/>
                <a:ext cx="19032265" cy="9138176"/>
              </a:xfrm>
              <a:blipFill>
                <a:blip r:embed="rId3"/>
                <a:stretch>
                  <a:fillRect l="-865" t="-1268" r="-1473"/>
                </a:stretch>
              </a:blipFill>
            </p:spPr>
            <p:txBody>
              <a:bodyPr/>
              <a:lstStyle/>
              <a:p>
                <a:r>
                  <a:rPr lang="en-ID">
                    <a:noFill/>
                  </a:rPr>
                  <a:t> </a:t>
                </a:r>
              </a:p>
            </p:txBody>
          </p:sp>
        </mc:Fallback>
      </mc:AlternateContent>
    </p:spTree>
    <p:extLst>
      <p:ext uri="{BB962C8B-B14F-4D97-AF65-F5344CB8AC3E}">
        <p14:creationId xmlns:p14="http://schemas.microsoft.com/office/powerpoint/2010/main" val="142191019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921A8-5C79-9668-B7CA-82A058056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093199-59DA-FAC3-BEC2-995E7712D117}"/>
              </a:ext>
            </a:extLst>
          </p:cNvPr>
          <p:cNvSpPr>
            <a:spLocks noGrp="1"/>
          </p:cNvSpPr>
          <p:nvPr>
            <p:ph type="title"/>
          </p:nvPr>
        </p:nvSpPr>
        <p:spPr/>
        <p:txBody>
          <a:bodyPr>
            <a:normAutofit fontScale="90000"/>
          </a:bodyPr>
          <a:lstStyle/>
          <a:p>
            <a:r>
              <a:rPr lang="en-ID" dirty="0"/>
              <a:t>algorithms</a:t>
            </a:r>
          </a:p>
        </p:txBody>
      </p:sp>
      <p:sp>
        <p:nvSpPr>
          <p:cNvPr id="3" name="Text Placeholder 2">
            <a:extLst>
              <a:ext uri="{FF2B5EF4-FFF2-40B4-BE49-F238E27FC236}">
                <a16:creationId xmlns:a16="http://schemas.microsoft.com/office/drawing/2014/main" id="{3CF77D53-0977-7947-464D-8DFECF8FAD18}"/>
              </a:ext>
            </a:extLst>
          </p:cNvPr>
          <p:cNvSpPr>
            <a:spLocks noGrp="1"/>
          </p:cNvSpPr>
          <p:nvPr>
            <p:ph type="body" sz="quarter" idx="10"/>
          </p:nvPr>
        </p:nvSpPr>
        <p:spPr/>
        <p:txBody>
          <a:bodyPr>
            <a:normAutofit/>
          </a:bodyPr>
          <a:lstStyle/>
          <a:p>
            <a:r>
              <a:rPr lang="en-ID" dirty="0"/>
              <a:t>sorting</a:t>
            </a:r>
          </a:p>
        </p:txBody>
      </p:sp>
      <p:sp>
        <p:nvSpPr>
          <p:cNvPr id="4" name="Content Placeholder 3">
            <a:extLst>
              <a:ext uri="{FF2B5EF4-FFF2-40B4-BE49-F238E27FC236}">
                <a16:creationId xmlns:a16="http://schemas.microsoft.com/office/drawing/2014/main" id="{A492E9AA-55D8-FF6F-A705-B53FF99CCE38}"/>
              </a:ext>
            </a:extLst>
          </p:cNvPr>
          <p:cNvSpPr>
            <a:spLocks noGrp="1"/>
          </p:cNvSpPr>
          <p:nvPr>
            <p:ph sz="quarter" idx="11"/>
          </p:nvPr>
        </p:nvSpPr>
        <p:spPr>
          <a:xfrm>
            <a:off x="2167377" y="3714224"/>
            <a:ext cx="19032265" cy="9138176"/>
          </a:xfrm>
        </p:spPr>
        <p:txBody>
          <a:bodyPr>
            <a:normAutofit/>
          </a:bodyPr>
          <a:lstStyle/>
          <a:p>
            <a:pPr marL="673100" indent="-571500" algn="just"/>
            <a:r>
              <a:rPr lang="en-US" dirty="0"/>
              <a:t>Thus, given the input sequence ⟨30, 20, 40, 10, 50⟩, a correct sorting algorithm returns as the output sequence ⟨10, 20, 30, 40, 50⟩.</a:t>
            </a:r>
          </a:p>
          <a:p>
            <a:pPr marL="673100" indent="-571500" algn="just"/>
            <a:r>
              <a:rPr lang="en-US" dirty="0"/>
              <a:t>Such an input sequence is called an instance of the sorting problem. In general, an instance of a problem consists of the input (satisfying whatever constraints are imposed in the problem statement) needed to compute a solution to the problem.</a:t>
            </a:r>
          </a:p>
        </p:txBody>
      </p:sp>
    </p:spTree>
    <p:extLst>
      <p:ext uri="{BB962C8B-B14F-4D97-AF65-F5344CB8AC3E}">
        <p14:creationId xmlns:p14="http://schemas.microsoft.com/office/powerpoint/2010/main" val="31045499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A5C6C-365D-256E-D162-EEE743EBEE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624295-8927-614A-E602-6E8C1F7FA686}"/>
              </a:ext>
            </a:extLst>
          </p:cNvPr>
          <p:cNvSpPr>
            <a:spLocks noGrp="1"/>
          </p:cNvSpPr>
          <p:nvPr>
            <p:ph type="title"/>
          </p:nvPr>
        </p:nvSpPr>
        <p:spPr/>
        <p:txBody>
          <a:bodyPr>
            <a:normAutofit fontScale="90000"/>
          </a:bodyPr>
          <a:lstStyle/>
          <a:p>
            <a:r>
              <a:rPr lang="en-ID" dirty="0"/>
              <a:t>algorithms</a:t>
            </a:r>
          </a:p>
        </p:txBody>
      </p:sp>
      <p:sp>
        <p:nvSpPr>
          <p:cNvPr id="3" name="Text Placeholder 2">
            <a:extLst>
              <a:ext uri="{FF2B5EF4-FFF2-40B4-BE49-F238E27FC236}">
                <a16:creationId xmlns:a16="http://schemas.microsoft.com/office/drawing/2014/main" id="{85763B7E-B4A8-4D82-FA5C-BDDD59741B8E}"/>
              </a:ext>
            </a:extLst>
          </p:cNvPr>
          <p:cNvSpPr>
            <a:spLocks noGrp="1"/>
          </p:cNvSpPr>
          <p:nvPr>
            <p:ph type="body" sz="quarter" idx="10"/>
          </p:nvPr>
        </p:nvSpPr>
        <p:spPr/>
        <p:txBody>
          <a:bodyPr>
            <a:normAutofit/>
          </a:bodyPr>
          <a:lstStyle/>
          <a:p>
            <a:r>
              <a:rPr lang="en-ID" dirty="0"/>
              <a:t>sorting</a:t>
            </a:r>
          </a:p>
        </p:txBody>
      </p:sp>
      <p:sp>
        <p:nvSpPr>
          <p:cNvPr id="4" name="Content Placeholder 3">
            <a:extLst>
              <a:ext uri="{FF2B5EF4-FFF2-40B4-BE49-F238E27FC236}">
                <a16:creationId xmlns:a16="http://schemas.microsoft.com/office/drawing/2014/main" id="{4E432E44-3C94-F8D0-E427-E05FE2DDB4E1}"/>
              </a:ext>
            </a:extLst>
          </p:cNvPr>
          <p:cNvSpPr>
            <a:spLocks noGrp="1"/>
          </p:cNvSpPr>
          <p:nvPr>
            <p:ph sz="quarter" idx="11"/>
          </p:nvPr>
        </p:nvSpPr>
        <p:spPr>
          <a:xfrm>
            <a:off x="2167377" y="3714224"/>
            <a:ext cx="19032265" cy="9138176"/>
          </a:xfrm>
        </p:spPr>
        <p:txBody>
          <a:bodyPr>
            <a:normAutofit fontScale="92500" lnSpcReduction="10000"/>
          </a:bodyPr>
          <a:lstStyle/>
          <a:p>
            <a:pPr marL="673100" indent="-571500" algn="just"/>
            <a:r>
              <a:rPr lang="en-US" dirty="0"/>
              <a:t>Because many programs use it as an intermediate step, sorting is a fundamental operation in computer science. </a:t>
            </a:r>
          </a:p>
          <a:p>
            <a:pPr marL="673100" indent="-571500" algn="just"/>
            <a:r>
              <a:rPr lang="en-US" dirty="0"/>
              <a:t>As a result, you have a large number of good sorting algorithms at your disposal. </a:t>
            </a:r>
          </a:p>
          <a:p>
            <a:pPr marL="673100" indent="-571500" algn="just"/>
            <a:r>
              <a:rPr lang="en-US" dirty="0"/>
              <a:t>Which algorithm is best for a given application depends on:</a:t>
            </a:r>
          </a:p>
          <a:p>
            <a:pPr marL="1429100" lvl="1" indent="-571500" algn="just"/>
            <a:r>
              <a:rPr lang="en-US" dirty="0"/>
              <a:t>the number of items to be sorted, </a:t>
            </a:r>
          </a:p>
          <a:p>
            <a:pPr marL="1429100" lvl="1" indent="-571500" algn="just"/>
            <a:r>
              <a:rPr lang="en-US" dirty="0"/>
              <a:t>the extent to which the items are already somewhat sorted, </a:t>
            </a:r>
          </a:p>
          <a:p>
            <a:pPr marL="1429100" lvl="1" indent="-571500" algn="just"/>
            <a:r>
              <a:rPr lang="en-US" dirty="0"/>
              <a:t>possible restrictions on the item values, </a:t>
            </a:r>
          </a:p>
          <a:p>
            <a:pPr marL="1429100" lvl="1" indent="-571500" algn="just"/>
            <a:r>
              <a:rPr lang="en-US" dirty="0"/>
              <a:t>the architecture of the computer, and </a:t>
            </a:r>
          </a:p>
          <a:p>
            <a:pPr marL="1429100" lvl="1" indent="-571500" algn="just"/>
            <a:r>
              <a:rPr lang="en-US" dirty="0"/>
              <a:t>the kind of storage devices to be used: main memory, disks.</a:t>
            </a:r>
          </a:p>
        </p:txBody>
      </p:sp>
    </p:spTree>
    <p:extLst>
      <p:ext uri="{BB962C8B-B14F-4D97-AF65-F5344CB8AC3E}">
        <p14:creationId xmlns:p14="http://schemas.microsoft.com/office/powerpoint/2010/main" val="152313019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E5E63-83DD-53FE-720F-2B936CE72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309E9-C45A-931A-2F20-511D6D4391A5}"/>
              </a:ext>
            </a:extLst>
          </p:cNvPr>
          <p:cNvSpPr>
            <a:spLocks noGrp="1"/>
          </p:cNvSpPr>
          <p:nvPr>
            <p:ph type="title"/>
          </p:nvPr>
        </p:nvSpPr>
        <p:spPr/>
        <p:txBody>
          <a:bodyPr>
            <a:normAutofit fontScale="90000"/>
          </a:bodyPr>
          <a:lstStyle/>
          <a:p>
            <a:r>
              <a:rPr lang="en-ID" dirty="0"/>
              <a:t>algorithms</a:t>
            </a:r>
          </a:p>
        </p:txBody>
      </p:sp>
      <p:sp>
        <p:nvSpPr>
          <p:cNvPr id="3" name="Text Placeholder 2">
            <a:extLst>
              <a:ext uri="{FF2B5EF4-FFF2-40B4-BE49-F238E27FC236}">
                <a16:creationId xmlns:a16="http://schemas.microsoft.com/office/drawing/2014/main" id="{5F1131E6-409F-78D8-D00D-4F8A3A808041}"/>
              </a:ext>
            </a:extLst>
          </p:cNvPr>
          <p:cNvSpPr>
            <a:spLocks noGrp="1"/>
          </p:cNvSpPr>
          <p:nvPr>
            <p:ph type="body" sz="quarter" idx="10"/>
          </p:nvPr>
        </p:nvSpPr>
        <p:spPr/>
        <p:txBody>
          <a:bodyPr>
            <a:normAutofit/>
          </a:bodyPr>
          <a:lstStyle/>
          <a:p>
            <a:r>
              <a:rPr lang="en-ID" dirty="0"/>
              <a:t>Correct algorithm</a:t>
            </a:r>
          </a:p>
        </p:txBody>
      </p:sp>
      <p:sp>
        <p:nvSpPr>
          <p:cNvPr id="4" name="Content Placeholder 3">
            <a:extLst>
              <a:ext uri="{FF2B5EF4-FFF2-40B4-BE49-F238E27FC236}">
                <a16:creationId xmlns:a16="http://schemas.microsoft.com/office/drawing/2014/main" id="{C7829FB4-1491-F35A-6F3D-B51D769A7EEF}"/>
              </a:ext>
            </a:extLst>
          </p:cNvPr>
          <p:cNvSpPr>
            <a:spLocks noGrp="1"/>
          </p:cNvSpPr>
          <p:nvPr>
            <p:ph sz="quarter" idx="11"/>
          </p:nvPr>
        </p:nvSpPr>
        <p:spPr>
          <a:xfrm>
            <a:off x="2167377" y="3714224"/>
            <a:ext cx="19032265" cy="9138176"/>
          </a:xfrm>
        </p:spPr>
        <p:txBody>
          <a:bodyPr>
            <a:normAutofit/>
          </a:bodyPr>
          <a:lstStyle/>
          <a:p>
            <a:pPr marL="673100" indent="-571500" algn="just"/>
            <a:r>
              <a:rPr lang="en-US" dirty="0"/>
              <a:t>An algorithm for a computational problem is correct if, for every problem in- stance provided as input, it halts (finishes its computing in finite time) and outputs the correct solution to the problem instance. </a:t>
            </a:r>
          </a:p>
          <a:p>
            <a:pPr marL="673100" indent="-571500" algn="just"/>
            <a:r>
              <a:rPr lang="en-US" dirty="0"/>
              <a:t>A correct algorithm solves the given computational problem. </a:t>
            </a:r>
          </a:p>
          <a:p>
            <a:pPr marL="673100" indent="-571500" algn="just"/>
            <a:r>
              <a:rPr lang="en-US" dirty="0"/>
              <a:t>An incorrect algorithm might not halt at all on some input instances, or it might halt with an incorrect answer.</a:t>
            </a:r>
          </a:p>
        </p:txBody>
      </p:sp>
    </p:spTree>
    <p:extLst>
      <p:ext uri="{BB962C8B-B14F-4D97-AF65-F5344CB8AC3E}">
        <p14:creationId xmlns:p14="http://schemas.microsoft.com/office/powerpoint/2010/main" val="342307719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B7D80-8973-5662-2FD2-BF1A6D32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D85B0-CD6D-F22F-B2F5-ACC6547B4419}"/>
              </a:ext>
            </a:extLst>
          </p:cNvPr>
          <p:cNvSpPr>
            <a:spLocks noGrp="1"/>
          </p:cNvSpPr>
          <p:nvPr>
            <p:ph type="title"/>
          </p:nvPr>
        </p:nvSpPr>
        <p:spPr/>
        <p:txBody>
          <a:bodyPr>
            <a:normAutofit fontScale="90000"/>
          </a:bodyPr>
          <a:lstStyle/>
          <a:p>
            <a:r>
              <a:rPr lang="en-ID" dirty="0"/>
              <a:t>algorithms</a:t>
            </a:r>
          </a:p>
        </p:txBody>
      </p:sp>
      <p:sp>
        <p:nvSpPr>
          <p:cNvPr id="3" name="Text Placeholder 2">
            <a:extLst>
              <a:ext uri="{FF2B5EF4-FFF2-40B4-BE49-F238E27FC236}">
                <a16:creationId xmlns:a16="http://schemas.microsoft.com/office/drawing/2014/main" id="{F9C5198E-EB48-8D63-6358-7D705ED3FD7E}"/>
              </a:ext>
            </a:extLst>
          </p:cNvPr>
          <p:cNvSpPr>
            <a:spLocks noGrp="1"/>
          </p:cNvSpPr>
          <p:nvPr>
            <p:ph type="body" sz="quarter" idx="10"/>
          </p:nvPr>
        </p:nvSpPr>
        <p:spPr/>
        <p:txBody>
          <a:bodyPr>
            <a:normAutofit/>
          </a:bodyPr>
          <a:lstStyle/>
          <a:p>
            <a:r>
              <a:rPr lang="en-ID" dirty="0"/>
              <a:t>Problems solved by algorithms</a:t>
            </a:r>
          </a:p>
        </p:txBody>
      </p:sp>
      <p:sp>
        <p:nvSpPr>
          <p:cNvPr id="4" name="Content Placeholder 3">
            <a:extLst>
              <a:ext uri="{FF2B5EF4-FFF2-40B4-BE49-F238E27FC236}">
                <a16:creationId xmlns:a16="http://schemas.microsoft.com/office/drawing/2014/main" id="{2CE6B2EF-F911-71F8-39AE-7D914F7D427C}"/>
              </a:ext>
            </a:extLst>
          </p:cNvPr>
          <p:cNvSpPr>
            <a:spLocks noGrp="1"/>
          </p:cNvSpPr>
          <p:nvPr>
            <p:ph sz="quarter" idx="11"/>
          </p:nvPr>
        </p:nvSpPr>
        <p:spPr>
          <a:xfrm>
            <a:off x="2167377" y="3714224"/>
            <a:ext cx="19032265" cy="9138176"/>
          </a:xfrm>
        </p:spPr>
        <p:txBody>
          <a:bodyPr>
            <a:normAutofit lnSpcReduction="10000"/>
          </a:bodyPr>
          <a:lstStyle/>
          <a:p>
            <a:pPr marL="673100" indent="-571500" algn="just"/>
            <a:r>
              <a:rPr lang="en-US" dirty="0"/>
              <a:t>The Human Genome Project has made great progress toward the goals of identifying all the roughly 30,000 genes in human DNA, determining the sequences of the roughly billion chemical base pairs that make up human DNA, storing this information in databases, and developing tools for data analysis. Each of these steps requires sophisticated algorithms. </a:t>
            </a:r>
            <a:r>
              <a:rPr lang="en-US" b="1" i="1" dirty="0"/>
              <a:t>Dynamic programming</a:t>
            </a:r>
            <a:r>
              <a:rPr lang="en-US" dirty="0"/>
              <a:t> is an important technique for solving several of these biological problems.</a:t>
            </a:r>
          </a:p>
          <a:p>
            <a:pPr marL="673100" indent="-571500" algn="just"/>
            <a:r>
              <a:rPr lang="en-US" dirty="0"/>
              <a:t>The internet enables people all around the world to quickly access and retrieve large amounts of information. With the aid of clever algorithms, sites on the internet are able to manage and manipulate this large volume of data. Examples of problems that make essential use of algorithms include </a:t>
            </a:r>
            <a:r>
              <a:rPr lang="en-US" b="1" i="1" dirty="0"/>
              <a:t>finding good routes </a:t>
            </a:r>
            <a:r>
              <a:rPr lang="en-US" dirty="0"/>
              <a:t>on which the data travels.</a:t>
            </a:r>
          </a:p>
        </p:txBody>
      </p:sp>
    </p:spTree>
    <p:extLst>
      <p:ext uri="{BB962C8B-B14F-4D97-AF65-F5344CB8AC3E}">
        <p14:creationId xmlns:p14="http://schemas.microsoft.com/office/powerpoint/2010/main" val="214371132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286B0-38CD-9F3C-1F19-1A3ECB68DA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146B8-8DB0-4A6F-8D6E-D604F2447E77}"/>
              </a:ext>
            </a:extLst>
          </p:cNvPr>
          <p:cNvSpPr>
            <a:spLocks noGrp="1"/>
          </p:cNvSpPr>
          <p:nvPr>
            <p:ph type="title"/>
          </p:nvPr>
        </p:nvSpPr>
        <p:spPr/>
        <p:txBody>
          <a:bodyPr>
            <a:normAutofit fontScale="90000"/>
          </a:bodyPr>
          <a:lstStyle/>
          <a:p>
            <a:r>
              <a:rPr lang="en-ID" dirty="0"/>
              <a:t>algorithms</a:t>
            </a:r>
          </a:p>
        </p:txBody>
      </p:sp>
      <p:sp>
        <p:nvSpPr>
          <p:cNvPr id="3" name="Text Placeholder 2">
            <a:extLst>
              <a:ext uri="{FF2B5EF4-FFF2-40B4-BE49-F238E27FC236}">
                <a16:creationId xmlns:a16="http://schemas.microsoft.com/office/drawing/2014/main" id="{96AE36FE-241D-0C12-F7F2-5B483EA405EF}"/>
              </a:ext>
            </a:extLst>
          </p:cNvPr>
          <p:cNvSpPr>
            <a:spLocks noGrp="1"/>
          </p:cNvSpPr>
          <p:nvPr>
            <p:ph type="body" sz="quarter" idx="10"/>
          </p:nvPr>
        </p:nvSpPr>
        <p:spPr/>
        <p:txBody>
          <a:bodyPr>
            <a:normAutofit/>
          </a:bodyPr>
          <a:lstStyle/>
          <a:p>
            <a:r>
              <a:rPr lang="en-ID" dirty="0"/>
              <a:t>Problems solved by algorithms</a:t>
            </a:r>
          </a:p>
        </p:txBody>
      </p:sp>
      <p:sp>
        <p:nvSpPr>
          <p:cNvPr id="4" name="Content Placeholder 3">
            <a:extLst>
              <a:ext uri="{FF2B5EF4-FFF2-40B4-BE49-F238E27FC236}">
                <a16:creationId xmlns:a16="http://schemas.microsoft.com/office/drawing/2014/main" id="{1FAD5D4E-6689-9488-9CC5-82D436738241}"/>
              </a:ext>
            </a:extLst>
          </p:cNvPr>
          <p:cNvSpPr>
            <a:spLocks noGrp="1"/>
          </p:cNvSpPr>
          <p:nvPr>
            <p:ph sz="quarter" idx="11"/>
          </p:nvPr>
        </p:nvSpPr>
        <p:spPr>
          <a:xfrm>
            <a:off x="2167377" y="3714224"/>
            <a:ext cx="19032265" cy="9138176"/>
          </a:xfrm>
        </p:spPr>
        <p:txBody>
          <a:bodyPr>
            <a:normAutofit fontScale="85000" lnSpcReduction="10000"/>
          </a:bodyPr>
          <a:lstStyle/>
          <a:p>
            <a:pPr marL="673100" indent="-571500" algn="just"/>
            <a:r>
              <a:rPr lang="en-US" dirty="0"/>
              <a:t>Manufacturing and other commercial enterprises often need to allocate scarce resources in the most beneficial way. </a:t>
            </a:r>
          </a:p>
          <a:p>
            <a:pPr marL="1429100" lvl="1" indent="-571500" algn="just"/>
            <a:r>
              <a:rPr lang="en-US" dirty="0"/>
              <a:t>An oil company might wish to know where to place its wells in order to maximize its expected profit. </a:t>
            </a:r>
          </a:p>
          <a:p>
            <a:pPr marL="1429100" lvl="1" indent="-571500" algn="just"/>
            <a:r>
              <a:rPr lang="en-US" dirty="0"/>
              <a:t>A political candidate might want to determine where to spend money buying campaign advertising in order to maximize the chances of winning an election. </a:t>
            </a:r>
          </a:p>
          <a:p>
            <a:pPr marL="1429100" lvl="1" indent="-571500" algn="just"/>
            <a:r>
              <a:rPr lang="en-US" dirty="0"/>
              <a:t>An airline might wish to assign crews to flights in the least expensive way possible, making sure that each flight is covered and that government regulations regarding crew scheduling are met. </a:t>
            </a:r>
          </a:p>
          <a:p>
            <a:pPr marL="1429100" lvl="1" indent="-571500" algn="just"/>
            <a:r>
              <a:rPr lang="en-US" dirty="0"/>
              <a:t>An internet service provider might wish to determine where to place additional resources in order to serve its customers more effectively. </a:t>
            </a:r>
          </a:p>
          <a:p>
            <a:pPr marL="673100" indent="-571500" algn="just"/>
            <a:r>
              <a:rPr lang="en-US" dirty="0"/>
              <a:t>All of these are examples of problems that can be solved by modeling them as </a:t>
            </a:r>
            <a:r>
              <a:rPr lang="en-US" b="1" i="1" dirty="0"/>
              <a:t>linear programs.</a:t>
            </a:r>
          </a:p>
        </p:txBody>
      </p:sp>
    </p:spTree>
    <p:extLst>
      <p:ext uri="{BB962C8B-B14F-4D97-AF65-F5344CB8AC3E}">
        <p14:creationId xmlns:p14="http://schemas.microsoft.com/office/powerpoint/2010/main" val="143595933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1021D-D887-7164-B2B7-5FEAF675D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6D2F8-46AC-64CC-F82D-F58A44E54E99}"/>
              </a:ext>
            </a:extLst>
          </p:cNvPr>
          <p:cNvSpPr>
            <a:spLocks noGrp="1"/>
          </p:cNvSpPr>
          <p:nvPr>
            <p:ph type="title"/>
          </p:nvPr>
        </p:nvSpPr>
        <p:spPr/>
        <p:txBody>
          <a:bodyPr>
            <a:normAutofit fontScale="90000"/>
          </a:bodyPr>
          <a:lstStyle/>
          <a:p>
            <a:r>
              <a:rPr lang="en-ID" dirty="0"/>
              <a:t>algorithms</a:t>
            </a:r>
          </a:p>
        </p:txBody>
      </p:sp>
      <p:sp>
        <p:nvSpPr>
          <p:cNvPr id="3" name="Text Placeholder 2">
            <a:extLst>
              <a:ext uri="{FF2B5EF4-FFF2-40B4-BE49-F238E27FC236}">
                <a16:creationId xmlns:a16="http://schemas.microsoft.com/office/drawing/2014/main" id="{B67F0141-F8A3-B811-5425-30C4A053C19A}"/>
              </a:ext>
            </a:extLst>
          </p:cNvPr>
          <p:cNvSpPr>
            <a:spLocks noGrp="1"/>
          </p:cNvSpPr>
          <p:nvPr>
            <p:ph type="body" sz="quarter" idx="10"/>
          </p:nvPr>
        </p:nvSpPr>
        <p:spPr/>
        <p:txBody>
          <a:bodyPr>
            <a:normAutofit/>
          </a:bodyPr>
          <a:lstStyle/>
          <a:p>
            <a:r>
              <a:rPr lang="en-ID" dirty="0"/>
              <a:t>Problems solved by algorithms</a:t>
            </a:r>
          </a:p>
        </p:txBody>
      </p:sp>
      <p:sp>
        <p:nvSpPr>
          <p:cNvPr id="4" name="Content Placeholder 3">
            <a:extLst>
              <a:ext uri="{FF2B5EF4-FFF2-40B4-BE49-F238E27FC236}">
                <a16:creationId xmlns:a16="http://schemas.microsoft.com/office/drawing/2014/main" id="{A07C2947-B1A6-AEC4-1ACA-3DEA6E18D902}"/>
              </a:ext>
            </a:extLst>
          </p:cNvPr>
          <p:cNvSpPr>
            <a:spLocks noGrp="1"/>
          </p:cNvSpPr>
          <p:nvPr>
            <p:ph sz="quarter" idx="11"/>
          </p:nvPr>
        </p:nvSpPr>
        <p:spPr>
          <a:xfrm>
            <a:off x="2167377" y="3714224"/>
            <a:ext cx="19032265" cy="9138176"/>
          </a:xfrm>
        </p:spPr>
        <p:txBody>
          <a:bodyPr>
            <a:normAutofit lnSpcReduction="10000"/>
          </a:bodyPr>
          <a:lstStyle/>
          <a:p>
            <a:pPr marL="673100" indent="-571500" algn="just"/>
            <a:r>
              <a:rPr lang="en-US" dirty="0"/>
              <a:t>Apart from the practical application of algorithms, there are also many techniques and the way to solve specific problems such as: Shortest path, file compression, topological sorting, etc.</a:t>
            </a:r>
          </a:p>
          <a:p>
            <a:pPr marL="673100" indent="-571500" algn="just"/>
            <a:r>
              <a:rPr lang="en-US" dirty="0"/>
              <a:t>These lists of the algorithmic problems are far from exhaustive, but they exhibit 2 characteristics common to many interesting algorithmic problems: </a:t>
            </a:r>
          </a:p>
          <a:p>
            <a:pPr marL="1429100" lvl="1" indent="-571500" algn="just"/>
            <a:r>
              <a:rPr lang="en-US" dirty="0"/>
              <a:t>They have many candidate solutions, the overwhelming majority of which do not solve the problem at hand. Finding one that does, or one that is “best” without explicitly examining each possible solution, can present quite a challenge. </a:t>
            </a:r>
          </a:p>
          <a:p>
            <a:pPr marL="1429100" lvl="1" indent="-571500" algn="just"/>
            <a:r>
              <a:rPr lang="en-US" dirty="0"/>
              <a:t>They have practical applications. Of the problems in the above list, finding the shortest path provides the easiest examples. </a:t>
            </a:r>
          </a:p>
        </p:txBody>
      </p:sp>
    </p:spTree>
    <p:extLst>
      <p:ext uri="{BB962C8B-B14F-4D97-AF65-F5344CB8AC3E}">
        <p14:creationId xmlns:p14="http://schemas.microsoft.com/office/powerpoint/2010/main" val="222421029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A218-51DC-3385-289E-426B8C3E57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D707C-750E-3665-B650-38131098DD63}"/>
              </a:ext>
            </a:extLst>
          </p:cNvPr>
          <p:cNvSpPr>
            <a:spLocks noGrp="1"/>
          </p:cNvSpPr>
          <p:nvPr>
            <p:ph type="title"/>
          </p:nvPr>
        </p:nvSpPr>
        <p:spPr/>
        <p:txBody>
          <a:bodyPr>
            <a:normAutofit fontScale="90000"/>
          </a:bodyPr>
          <a:lstStyle/>
          <a:p>
            <a:r>
              <a:rPr lang="en-ID" dirty="0"/>
              <a:t>algorithms</a:t>
            </a:r>
          </a:p>
        </p:txBody>
      </p:sp>
      <p:sp>
        <p:nvSpPr>
          <p:cNvPr id="3" name="Text Placeholder 2">
            <a:extLst>
              <a:ext uri="{FF2B5EF4-FFF2-40B4-BE49-F238E27FC236}">
                <a16:creationId xmlns:a16="http://schemas.microsoft.com/office/drawing/2014/main" id="{6F7D8EBA-B1D8-3E33-B8C8-DE50EB814165}"/>
              </a:ext>
            </a:extLst>
          </p:cNvPr>
          <p:cNvSpPr>
            <a:spLocks noGrp="1"/>
          </p:cNvSpPr>
          <p:nvPr>
            <p:ph type="body" sz="quarter" idx="10"/>
          </p:nvPr>
        </p:nvSpPr>
        <p:spPr/>
        <p:txBody>
          <a:bodyPr>
            <a:normAutofit/>
          </a:bodyPr>
          <a:lstStyle/>
          <a:p>
            <a:r>
              <a:rPr lang="en-ID" dirty="0"/>
              <a:t>pseudocode</a:t>
            </a:r>
          </a:p>
        </p:txBody>
      </p:sp>
      <p:sp>
        <p:nvSpPr>
          <p:cNvPr id="4" name="Content Placeholder 3">
            <a:extLst>
              <a:ext uri="{FF2B5EF4-FFF2-40B4-BE49-F238E27FC236}">
                <a16:creationId xmlns:a16="http://schemas.microsoft.com/office/drawing/2014/main" id="{DFB65C50-87AB-0809-4662-31B62F132F8E}"/>
              </a:ext>
            </a:extLst>
          </p:cNvPr>
          <p:cNvSpPr>
            <a:spLocks noGrp="1"/>
          </p:cNvSpPr>
          <p:nvPr>
            <p:ph sz="quarter" idx="11"/>
          </p:nvPr>
        </p:nvSpPr>
        <p:spPr>
          <a:xfrm>
            <a:off x="2167377" y="3714224"/>
            <a:ext cx="19032265" cy="9138176"/>
          </a:xfrm>
        </p:spPr>
        <p:txBody>
          <a:bodyPr>
            <a:normAutofit fontScale="85000" lnSpcReduction="10000"/>
          </a:bodyPr>
          <a:lstStyle/>
          <a:p>
            <a:pPr marL="673100" indent="-571500" algn="just"/>
            <a:r>
              <a:rPr lang="en-US" dirty="0"/>
              <a:t>An algorithm can be specified in English, as a computer program, or even as a hardware design. The only requirement is that the specification must provide a precise description of the computational procedure to be followed. </a:t>
            </a:r>
          </a:p>
          <a:p>
            <a:pPr marL="673100" indent="-571500" algn="just"/>
            <a:r>
              <a:rPr lang="en-US" dirty="0"/>
              <a:t>Pseudocode is one of methods to write  high-level specification of an algorithm.</a:t>
            </a:r>
          </a:p>
          <a:p>
            <a:pPr marL="673100" indent="-571500" algn="just"/>
            <a:r>
              <a:rPr lang="en-US" dirty="0"/>
              <a:t>It is usually written in combination of English and mathematic notations.</a:t>
            </a:r>
          </a:p>
          <a:p>
            <a:pPr marL="673100" indent="-571500" algn="just"/>
            <a:r>
              <a:rPr lang="en-US" dirty="0"/>
              <a:t>There are several components of pseudocode:</a:t>
            </a:r>
          </a:p>
          <a:p>
            <a:pPr marL="1429100" lvl="1" indent="-571500" algn="just"/>
            <a:r>
              <a:rPr lang="en-US" dirty="0"/>
              <a:t>Variable</a:t>
            </a:r>
          </a:p>
          <a:p>
            <a:pPr marL="1429100" lvl="1" indent="-571500" algn="just"/>
            <a:r>
              <a:rPr lang="en-US" dirty="0"/>
              <a:t>Iterative (loop): for-do, repeat-until, while-do</a:t>
            </a:r>
          </a:p>
          <a:p>
            <a:pPr marL="1429100" lvl="1" indent="-571500" algn="just"/>
            <a:r>
              <a:rPr lang="en-US" dirty="0"/>
              <a:t>Selection (branch): if-then, select-case</a:t>
            </a:r>
          </a:p>
          <a:p>
            <a:pPr marL="1429100" lvl="1" indent="-571500" algn="just"/>
            <a:r>
              <a:rPr lang="en-US" dirty="0"/>
              <a:t>Module: Procedure / Sub, Function, Recursive technique</a:t>
            </a:r>
          </a:p>
        </p:txBody>
      </p:sp>
    </p:spTree>
    <p:extLst>
      <p:ext uri="{BB962C8B-B14F-4D97-AF65-F5344CB8AC3E}">
        <p14:creationId xmlns:p14="http://schemas.microsoft.com/office/powerpoint/2010/main" val="279938747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AC143-6645-1069-2A94-AF85588E5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00A8F-7150-8C12-5FAD-1A4A5C3BA178}"/>
              </a:ext>
            </a:extLst>
          </p:cNvPr>
          <p:cNvSpPr>
            <a:spLocks noGrp="1"/>
          </p:cNvSpPr>
          <p:nvPr>
            <p:ph type="title"/>
          </p:nvPr>
        </p:nvSpPr>
        <p:spPr/>
        <p:txBody>
          <a:bodyPr>
            <a:normAutofit fontScale="90000"/>
          </a:bodyPr>
          <a:lstStyle/>
          <a:p>
            <a:r>
              <a:rPr lang="en-ID" dirty="0"/>
              <a:t>Algorithms as a technology</a:t>
            </a:r>
          </a:p>
        </p:txBody>
      </p:sp>
      <p:sp>
        <p:nvSpPr>
          <p:cNvPr id="3" name="Text Placeholder 2">
            <a:extLst>
              <a:ext uri="{FF2B5EF4-FFF2-40B4-BE49-F238E27FC236}">
                <a16:creationId xmlns:a16="http://schemas.microsoft.com/office/drawing/2014/main" id="{0949A553-9FD2-025E-ED12-F98FE8C61B65}"/>
              </a:ext>
            </a:extLst>
          </p:cNvPr>
          <p:cNvSpPr>
            <a:spLocks noGrp="1"/>
          </p:cNvSpPr>
          <p:nvPr>
            <p:ph type="body" sz="quarter" idx="10"/>
          </p:nvPr>
        </p:nvSpPr>
        <p:spPr/>
        <p:txBody>
          <a:bodyPr>
            <a:normAutofit/>
          </a:bodyPr>
          <a:lstStyle/>
          <a:p>
            <a:r>
              <a:rPr lang="en-ID" dirty="0"/>
              <a:t>Introduction</a:t>
            </a:r>
          </a:p>
        </p:txBody>
      </p:sp>
      <p:sp>
        <p:nvSpPr>
          <p:cNvPr id="4" name="Content Placeholder 3">
            <a:extLst>
              <a:ext uri="{FF2B5EF4-FFF2-40B4-BE49-F238E27FC236}">
                <a16:creationId xmlns:a16="http://schemas.microsoft.com/office/drawing/2014/main" id="{ACCFCE0D-46CE-85B4-614E-840714639002}"/>
              </a:ext>
            </a:extLst>
          </p:cNvPr>
          <p:cNvSpPr>
            <a:spLocks noGrp="1"/>
          </p:cNvSpPr>
          <p:nvPr>
            <p:ph sz="quarter" idx="11"/>
          </p:nvPr>
        </p:nvSpPr>
        <p:spPr>
          <a:xfrm>
            <a:off x="2167377" y="3714224"/>
            <a:ext cx="19032265" cy="9138176"/>
          </a:xfrm>
        </p:spPr>
        <p:txBody>
          <a:bodyPr>
            <a:normAutofit/>
          </a:bodyPr>
          <a:lstStyle/>
          <a:p>
            <a:pPr marL="673100" indent="-571500" algn="just"/>
            <a:r>
              <a:rPr lang="en-US" dirty="0"/>
              <a:t>Computers may be fast, but they are not infinitely fast. </a:t>
            </a:r>
          </a:p>
          <a:p>
            <a:pPr marL="673100" indent="-571500" algn="just"/>
            <a:r>
              <a:rPr lang="en-US" dirty="0"/>
              <a:t>Computing time is therefore a bounded resource, which makes it precious. </a:t>
            </a:r>
          </a:p>
          <a:p>
            <a:pPr marL="673100" indent="-571500" algn="just"/>
            <a:r>
              <a:rPr lang="en-US" dirty="0"/>
              <a:t>Although the saying goes, “Time is money” time is even more valuable than money: you can get back money after you spend it, but once time is spent, you can never get it back. </a:t>
            </a:r>
          </a:p>
          <a:p>
            <a:pPr marL="673100" indent="-571500" algn="just"/>
            <a:r>
              <a:rPr lang="en-US" dirty="0"/>
              <a:t>Memory may be inexpensive, but it is neither infinite nor free. You should choose algorithms that use the resources of time and space efficiently. </a:t>
            </a:r>
          </a:p>
        </p:txBody>
      </p:sp>
    </p:spTree>
    <p:extLst>
      <p:ext uri="{BB962C8B-B14F-4D97-AF65-F5344CB8AC3E}">
        <p14:creationId xmlns:p14="http://schemas.microsoft.com/office/powerpoint/2010/main" val="1768606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F4BB0-1524-9398-D036-4D94DF0B5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56AA41-71EC-69F9-7B50-BE402AE26D72}"/>
              </a:ext>
            </a:extLst>
          </p:cNvPr>
          <p:cNvSpPr>
            <a:spLocks noGrp="1"/>
          </p:cNvSpPr>
          <p:nvPr>
            <p:ph type="title"/>
          </p:nvPr>
        </p:nvSpPr>
        <p:spPr/>
        <p:txBody>
          <a:bodyPr>
            <a:normAutofit fontScale="90000"/>
          </a:bodyPr>
          <a:lstStyle/>
          <a:p>
            <a:r>
              <a:rPr lang="en-ID" dirty="0"/>
              <a:t>Algorithms as a technology</a:t>
            </a:r>
          </a:p>
        </p:txBody>
      </p:sp>
      <p:sp>
        <p:nvSpPr>
          <p:cNvPr id="3" name="Text Placeholder 2">
            <a:extLst>
              <a:ext uri="{FF2B5EF4-FFF2-40B4-BE49-F238E27FC236}">
                <a16:creationId xmlns:a16="http://schemas.microsoft.com/office/drawing/2014/main" id="{9F848C33-1638-54C6-FEB3-377636A5EFBE}"/>
              </a:ext>
            </a:extLst>
          </p:cNvPr>
          <p:cNvSpPr>
            <a:spLocks noGrp="1"/>
          </p:cNvSpPr>
          <p:nvPr>
            <p:ph type="body" sz="quarter" idx="10"/>
          </p:nvPr>
        </p:nvSpPr>
        <p:spPr/>
        <p:txBody>
          <a:bodyPr>
            <a:normAutofit/>
          </a:bodyPr>
          <a:lstStyle/>
          <a:p>
            <a:r>
              <a:rPr lang="en-ID" dirty="0"/>
              <a:t>efficiency</a:t>
            </a:r>
          </a:p>
        </p:txBody>
      </p:sp>
      <p:sp>
        <p:nvSpPr>
          <p:cNvPr id="4" name="Content Placeholder 3">
            <a:extLst>
              <a:ext uri="{FF2B5EF4-FFF2-40B4-BE49-F238E27FC236}">
                <a16:creationId xmlns:a16="http://schemas.microsoft.com/office/drawing/2014/main" id="{46256E4F-2229-7F77-245D-33845B447798}"/>
              </a:ext>
            </a:extLst>
          </p:cNvPr>
          <p:cNvSpPr>
            <a:spLocks noGrp="1"/>
          </p:cNvSpPr>
          <p:nvPr>
            <p:ph sz="quarter" idx="11"/>
          </p:nvPr>
        </p:nvSpPr>
        <p:spPr>
          <a:xfrm>
            <a:off x="2167376" y="3714224"/>
            <a:ext cx="20724707" cy="9138176"/>
          </a:xfrm>
        </p:spPr>
        <p:txBody>
          <a:bodyPr>
            <a:normAutofit fontScale="85000" lnSpcReduction="10000"/>
          </a:bodyPr>
          <a:lstStyle/>
          <a:p>
            <a:pPr marL="673100" indent="-571500" algn="just"/>
            <a:r>
              <a:rPr lang="en-US" dirty="0"/>
              <a:t>Different algorithms devised to solve the same problem often differ dramatically in their efficiency. These differences can be much more significant than differences due to hardware and software.</a:t>
            </a:r>
          </a:p>
          <a:p>
            <a:pPr marL="673100" indent="-571500" algn="just"/>
            <a:r>
              <a:rPr lang="en-US" dirty="0"/>
              <a:t>As an example, let’s use two algorithms for sorting (which you will learn later in session 3):</a:t>
            </a:r>
          </a:p>
          <a:p>
            <a:pPr marL="1429100" lvl="1" indent="-571500" algn="just"/>
            <a:r>
              <a:rPr lang="en-US" dirty="0"/>
              <a:t>Insertion sort: takes time roughly equal to 𝑐</a:t>
            </a:r>
            <a:r>
              <a:rPr lang="en-US" baseline="-25000" dirty="0"/>
              <a:t>1</a:t>
            </a:r>
            <a:r>
              <a:rPr lang="en-US" dirty="0"/>
              <a:t>𝑛</a:t>
            </a:r>
            <a:r>
              <a:rPr lang="en-US" baseline="30000" dirty="0"/>
              <a:t>2</a:t>
            </a:r>
            <a:r>
              <a:rPr lang="en-US" dirty="0"/>
              <a:t> to sort 𝑛 items, where to 𝑐</a:t>
            </a:r>
            <a:r>
              <a:rPr lang="en-US" baseline="-25000" dirty="0"/>
              <a:t>1</a:t>
            </a:r>
            <a:r>
              <a:rPr lang="en-US" dirty="0"/>
              <a:t> is a constant that does not depend on 𝑛.</a:t>
            </a:r>
          </a:p>
          <a:p>
            <a:pPr marL="1429100" lvl="1" indent="-571500" algn="just"/>
            <a:r>
              <a:rPr lang="en-US" dirty="0"/>
              <a:t>Merge sort: takes time takes time roughly equal to 𝑐</a:t>
            </a:r>
            <a:r>
              <a:rPr lang="en-US" baseline="-25000" dirty="0"/>
              <a:t>2</a:t>
            </a:r>
            <a:r>
              <a:rPr lang="en-US" dirty="0"/>
              <a:t>𝑛 lg 𝑛 to sort 𝑛 items, where lg ⁡𝑛 stands for 𝑙𝑜𝑔</a:t>
            </a:r>
            <a:r>
              <a:rPr lang="en-US" baseline="-25000" dirty="0"/>
              <a:t>2</a:t>
            </a:r>
            <a:r>
              <a:rPr lang="en-US" dirty="0"/>
              <a:t>  𝑛 and 𝑐</a:t>
            </a:r>
            <a:r>
              <a:rPr lang="en-US" baseline="-25000" dirty="0"/>
              <a:t>2</a:t>
            </a:r>
            <a:r>
              <a:rPr lang="en-US" dirty="0"/>
              <a:t> is another constant that does not depend on 𝑛.</a:t>
            </a:r>
          </a:p>
          <a:p>
            <a:pPr marL="673100" indent="-571500" algn="just"/>
            <a:r>
              <a:rPr lang="en-US" dirty="0"/>
              <a:t>Insertion sort typically has a smaller constant factor than merge sort, so that 𝑐</a:t>
            </a:r>
            <a:r>
              <a:rPr lang="en-US" baseline="-25000" dirty="0"/>
              <a:t>1</a:t>
            </a:r>
            <a:r>
              <a:rPr lang="en-US" dirty="0"/>
              <a:t> &lt; 𝑐</a:t>
            </a:r>
            <a:r>
              <a:rPr lang="en-US" baseline="-25000" dirty="0"/>
              <a:t>2</a:t>
            </a:r>
            <a:r>
              <a:rPr lang="en-US" dirty="0"/>
              <a:t>. </a:t>
            </a:r>
          </a:p>
          <a:p>
            <a:pPr marL="673100" indent="-571500" algn="just"/>
            <a:r>
              <a:rPr lang="en-US" dirty="0"/>
              <a:t>We’ll see that the constant factors can have far less of an impact on the running time than the dependence on the input size. </a:t>
            </a:r>
          </a:p>
        </p:txBody>
      </p:sp>
    </p:spTree>
    <p:extLst>
      <p:ext uri="{BB962C8B-B14F-4D97-AF65-F5344CB8AC3E}">
        <p14:creationId xmlns:p14="http://schemas.microsoft.com/office/powerpoint/2010/main" val="160538604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EADB2-48A6-4AE6-1204-E997DFB68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16A0CA-D4A0-0C54-36E1-5F80F825A662}"/>
              </a:ext>
            </a:extLst>
          </p:cNvPr>
          <p:cNvSpPr>
            <a:spLocks noGrp="1"/>
          </p:cNvSpPr>
          <p:nvPr>
            <p:ph type="title"/>
          </p:nvPr>
        </p:nvSpPr>
        <p:spPr/>
        <p:txBody>
          <a:bodyPr>
            <a:normAutofit fontScale="90000"/>
          </a:bodyPr>
          <a:lstStyle/>
          <a:p>
            <a:r>
              <a:rPr lang="en-ID" dirty="0"/>
              <a:t>Algorithms as a technology</a:t>
            </a:r>
          </a:p>
        </p:txBody>
      </p:sp>
      <p:sp>
        <p:nvSpPr>
          <p:cNvPr id="3" name="Text Placeholder 2">
            <a:extLst>
              <a:ext uri="{FF2B5EF4-FFF2-40B4-BE49-F238E27FC236}">
                <a16:creationId xmlns:a16="http://schemas.microsoft.com/office/drawing/2014/main" id="{F082A30A-03E4-7622-D117-4C889731AA0B}"/>
              </a:ext>
            </a:extLst>
          </p:cNvPr>
          <p:cNvSpPr>
            <a:spLocks noGrp="1"/>
          </p:cNvSpPr>
          <p:nvPr>
            <p:ph type="body" sz="quarter" idx="10"/>
          </p:nvPr>
        </p:nvSpPr>
        <p:spPr/>
        <p:txBody>
          <a:bodyPr>
            <a:normAutofit/>
          </a:bodyPr>
          <a:lstStyle/>
          <a:p>
            <a:r>
              <a:rPr lang="en-ID" dirty="0"/>
              <a:t>efficiency</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BE1F7F6-909B-571C-7BB5-7CD4CC26D03A}"/>
                  </a:ext>
                </a:extLst>
              </p:cNvPr>
              <p:cNvSpPr>
                <a:spLocks noGrp="1"/>
              </p:cNvSpPr>
              <p:nvPr>
                <p:ph sz="quarter" idx="11"/>
              </p:nvPr>
            </p:nvSpPr>
            <p:spPr>
              <a:xfrm>
                <a:off x="2167377" y="3714224"/>
                <a:ext cx="19032265" cy="9138176"/>
              </a:xfrm>
            </p:spPr>
            <p:txBody>
              <a:bodyPr>
                <a:normAutofit fontScale="92500" lnSpcReduction="10000"/>
              </a:bodyPr>
              <a:lstStyle/>
              <a:p>
                <a:pPr marL="673100" indent="-571500" algn="just"/>
                <a:r>
                  <a:rPr lang="en-US" dirty="0"/>
                  <a:t>Now we have 2 algorithms:</a:t>
                </a:r>
              </a:p>
              <a:p>
                <a:pPr marL="1429100" lvl="1" indent="-571500" algn="just"/>
                <a:r>
                  <a:rPr lang="en-US" dirty="0"/>
                  <a:t>Insertion sort: 𝑐</a:t>
                </a:r>
                <a:r>
                  <a:rPr lang="en-US" baseline="-25000" dirty="0"/>
                  <a:t>1</a:t>
                </a:r>
                <a:r>
                  <a:rPr lang="en-US" dirty="0"/>
                  <a:t>𝑛 </a:t>
                </a:r>
                <a14:m>
                  <m:oMath xmlns:m="http://schemas.openxmlformats.org/officeDocument/2006/math">
                    <m:r>
                      <a:rPr lang="en-US" i="1">
                        <a:latin typeface="Cambria Math" panose="02040503050406030204" pitchFamily="18" charset="0"/>
                        <a:ea typeface="Cambria Math" panose="02040503050406030204" pitchFamily="18" charset="0"/>
                      </a:rPr>
                      <m:t>∙</m:t>
                    </m:r>
                  </m:oMath>
                </a14:m>
                <a:r>
                  <a:rPr lang="en-US" dirty="0"/>
                  <a:t> 𝑛</a:t>
                </a:r>
              </a:p>
              <a:p>
                <a:pPr marL="1429100" lvl="1" indent="-571500" algn="just"/>
                <a:r>
                  <a:rPr lang="en-US" dirty="0"/>
                  <a:t>Merge sort: 𝑐</a:t>
                </a:r>
                <a:r>
                  <a:rPr lang="en-US" baseline="-25000" dirty="0"/>
                  <a:t>2</a:t>
                </a:r>
                <a:r>
                  <a:rPr lang="en-US" dirty="0"/>
                  <a:t>𝑛</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lg</m:t>
                        </m:r>
                      </m:fName>
                      <m:e>
                        <m:r>
                          <a:rPr lang="en-US" i="1">
                            <a:latin typeface="Cambria Math" panose="02040503050406030204" pitchFamily="18" charset="0"/>
                          </a:rPr>
                          <m:t>𝑛</m:t>
                        </m:r>
                      </m:e>
                    </m:func>
                  </m:oMath>
                </a14:m>
                <a:r>
                  <a:rPr lang="en-US" dirty="0"/>
                  <a:t> </a:t>
                </a:r>
              </a:p>
              <a:p>
                <a:pPr marL="673100" indent="-571500" algn="just"/>
                <a:r>
                  <a:rPr lang="en-US" dirty="0"/>
                  <a:t>Then we see that where insertion sort has a factor of 𝑛 in its running time, merge sort has a factor of </a:t>
                </a:r>
                <a14:m>
                  <m:oMath xmlns:m="http://schemas.openxmlformats.org/officeDocument/2006/math">
                    <m:func>
                      <m:funcPr>
                        <m:ctrlPr>
                          <a:rPr lang="en-US">
                            <a:latin typeface="Cambria Math" panose="02040503050406030204" pitchFamily="18" charset="0"/>
                          </a:rPr>
                        </m:ctrlPr>
                      </m:funcPr>
                      <m:fName>
                        <m:r>
                          <m:rPr>
                            <m:sty m:val="p"/>
                          </m:rPr>
                          <a:rPr lang="en-US">
                            <a:latin typeface="Cambria Math" panose="02040503050406030204" pitchFamily="18" charset="0"/>
                          </a:rPr>
                          <m:t>lg</m:t>
                        </m:r>
                      </m:fName>
                      <m:e>
                        <m:r>
                          <a:rPr lang="en-US" i="1">
                            <a:latin typeface="Cambria Math" panose="02040503050406030204" pitchFamily="18" charset="0"/>
                          </a:rPr>
                          <m:t>𝑛</m:t>
                        </m:r>
                      </m:e>
                    </m:func>
                  </m:oMath>
                </a14:m>
                <a:r>
                  <a:rPr lang="en-US" dirty="0"/>
                  <a:t>, which is much smaller. For example, when 𝑛 is 1000, </a:t>
                </a:r>
                <a14:m>
                  <m:oMath xmlns:m="http://schemas.openxmlformats.org/officeDocument/2006/math">
                    <m:func>
                      <m:funcPr>
                        <m:ctrlPr>
                          <a:rPr lang="en-US">
                            <a:latin typeface="Cambria Math" panose="02040503050406030204" pitchFamily="18" charset="0"/>
                          </a:rPr>
                        </m:ctrlPr>
                      </m:funcPr>
                      <m:fName>
                        <m:r>
                          <m:rPr>
                            <m:sty m:val="p"/>
                          </m:rPr>
                          <a:rPr lang="en-US">
                            <a:latin typeface="Cambria Math" panose="02040503050406030204" pitchFamily="18" charset="0"/>
                          </a:rPr>
                          <m:t>lg</m:t>
                        </m:r>
                      </m:fName>
                      <m:e>
                        <m:r>
                          <a:rPr lang="en-US" i="1">
                            <a:latin typeface="Cambria Math" panose="02040503050406030204" pitchFamily="18" charset="0"/>
                          </a:rPr>
                          <m:t>𝑛</m:t>
                        </m:r>
                      </m:e>
                    </m:func>
                  </m:oMath>
                </a14:m>
                <a:r>
                  <a:rPr lang="en-US" dirty="0"/>
                  <a:t> is approximately 10, and when 𝑛 is 1,000,000, </a:t>
                </a:r>
                <a14:m>
                  <m:oMath xmlns:m="http://schemas.openxmlformats.org/officeDocument/2006/math">
                    <m:func>
                      <m:funcPr>
                        <m:ctrlPr>
                          <a:rPr lang="en-US">
                            <a:latin typeface="Cambria Math" panose="02040503050406030204" pitchFamily="18" charset="0"/>
                          </a:rPr>
                        </m:ctrlPr>
                      </m:funcPr>
                      <m:fName>
                        <m:r>
                          <m:rPr>
                            <m:sty m:val="p"/>
                          </m:rPr>
                          <a:rPr lang="en-US">
                            <a:latin typeface="Cambria Math" panose="02040503050406030204" pitchFamily="18" charset="0"/>
                          </a:rPr>
                          <m:t>lg</m:t>
                        </m:r>
                      </m:fName>
                      <m:e>
                        <m:r>
                          <a:rPr lang="en-US" i="1">
                            <a:latin typeface="Cambria Math" panose="02040503050406030204" pitchFamily="18" charset="0"/>
                          </a:rPr>
                          <m:t>𝑛</m:t>
                        </m:r>
                      </m:e>
                    </m:func>
                    <m:r>
                      <a:rPr lang="en-US" i="1">
                        <a:latin typeface="Cambria Math" panose="02040503050406030204" pitchFamily="18" charset="0"/>
                      </a:rPr>
                      <m:t> </m:t>
                    </m:r>
                  </m:oMath>
                </a14:m>
                <a:r>
                  <a:rPr lang="en-US" dirty="0"/>
                  <a:t>is approximately only 20.</a:t>
                </a:r>
              </a:p>
              <a:p>
                <a:pPr marL="673100" indent="-571500" algn="just"/>
                <a:r>
                  <a:rPr lang="en-US" dirty="0"/>
                  <a:t>Although insertion sort usually runs faster than merge sort for small input sizes, once the input size becomes large enough, merge sort’s advantage of </a:t>
                </a:r>
                <a14:m>
                  <m:oMath xmlns:m="http://schemas.openxmlformats.org/officeDocument/2006/math">
                    <m:func>
                      <m:funcPr>
                        <m:ctrlPr>
                          <a:rPr lang="en-US">
                            <a:latin typeface="Cambria Math" panose="02040503050406030204" pitchFamily="18" charset="0"/>
                          </a:rPr>
                        </m:ctrlPr>
                      </m:funcPr>
                      <m:fName>
                        <m:r>
                          <m:rPr>
                            <m:sty m:val="p"/>
                          </m:rPr>
                          <a:rPr lang="en-US">
                            <a:latin typeface="Cambria Math" panose="02040503050406030204" pitchFamily="18" charset="0"/>
                          </a:rPr>
                          <m:t>lg</m:t>
                        </m:r>
                      </m:fName>
                      <m:e>
                        <m:r>
                          <a:rPr lang="en-US" i="1">
                            <a:latin typeface="Cambria Math" panose="02040503050406030204" pitchFamily="18" charset="0"/>
                          </a:rPr>
                          <m:t>𝑛</m:t>
                        </m:r>
                      </m:e>
                    </m:func>
                    <m:r>
                      <a:rPr lang="en-US" i="1">
                        <a:latin typeface="Cambria Math" panose="02040503050406030204" pitchFamily="18" charset="0"/>
                      </a:rPr>
                      <m:t> </m:t>
                    </m:r>
                  </m:oMath>
                </a14:m>
                <a:r>
                  <a:rPr lang="en-US" dirty="0"/>
                  <a:t>versus 𝑛 more than compensates for the difference in constant factors. </a:t>
                </a:r>
              </a:p>
              <a:p>
                <a:pPr marL="673100" indent="-571500" algn="just"/>
                <a:r>
                  <a:rPr lang="en-US" dirty="0"/>
                  <a:t>No matter how much smaller is 𝑐</a:t>
                </a:r>
                <a:r>
                  <a:rPr lang="en-US" baseline="-25000" dirty="0"/>
                  <a:t>1</a:t>
                </a:r>
                <a:r>
                  <a:rPr lang="en-US" dirty="0"/>
                  <a:t>  than 𝑐</a:t>
                </a:r>
                <a:r>
                  <a:rPr lang="en-US" baseline="-25000" dirty="0"/>
                  <a:t>2</a:t>
                </a:r>
                <a:r>
                  <a:rPr lang="en-US" dirty="0"/>
                  <a:t>, there is always a crossover point beyond which merge sort is faster.</a:t>
                </a:r>
              </a:p>
            </p:txBody>
          </p:sp>
        </mc:Choice>
        <mc:Fallback xmlns="">
          <p:sp>
            <p:nvSpPr>
              <p:cNvPr id="4" name="Content Placeholder 3">
                <a:extLst>
                  <a:ext uri="{FF2B5EF4-FFF2-40B4-BE49-F238E27FC236}">
                    <a16:creationId xmlns:a16="http://schemas.microsoft.com/office/drawing/2014/main" id="{0BE1F7F6-909B-571C-7BB5-7CD4CC26D03A}"/>
                  </a:ext>
                </a:extLst>
              </p:cNvPr>
              <p:cNvSpPr>
                <a:spLocks noGrp="1" noRot="1" noChangeAspect="1" noMove="1" noResize="1" noEditPoints="1" noAdjustHandles="1" noChangeArrowheads="1" noChangeShapeType="1" noTextEdit="1"/>
              </p:cNvSpPr>
              <p:nvPr>
                <p:ph sz="quarter" idx="11"/>
              </p:nvPr>
            </p:nvSpPr>
            <p:spPr>
              <a:xfrm>
                <a:off x="2167377" y="3714224"/>
                <a:ext cx="19032265" cy="9138176"/>
              </a:xfrm>
              <a:blipFill>
                <a:blip r:embed="rId3"/>
                <a:stretch>
                  <a:fillRect l="-737" t="-1801" r="-1345" b="-2201"/>
                </a:stretch>
              </a:blipFill>
            </p:spPr>
            <p:txBody>
              <a:bodyPr/>
              <a:lstStyle/>
              <a:p>
                <a:r>
                  <a:rPr lang="en-ID">
                    <a:noFill/>
                  </a:rPr>
                  <a:t> </a:t>
                </a:r>
              </a:p>
            </p:txBody>
          </p:sp>
        </mc:Fallback>
      </mc:AlternateContent>
    </p:spTree>
    <p:extLst>
      <p:ext uri="{BB962C8B-B14F-4D97-AF65-F5344CB8AC3E}">
        <p14:creationId xmlns:p14="http://schemas.microsoft.com/office/powerpoint/2010/main" val="207385142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D07E0-6001-A7AA-527A-2F79C5ACD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2C720D-A1AC-6CE1-E5DB-E0CDE9ECD18A}"/>
              </a:ext>
            </a:extLst>
          </p:cNvPr>
          <p:cNvSpPr>
            <a:spLocks noGrp="1"/>
          </p:cNvSpPr>
          <p:nvPr>
            <p:ph type="title"/>
          </p:nvPr>
        </p:nvSpPr>
        <p:spPr/>
        <p:txBody>
          <a:bodyPr>
            <a:normAutofit fontScale="90000"/>
          </a:bodyPr>
          <a:lstStyle/>
          <a:p>
            <a:r>
              <a:rPr lang="en-ID" dirty="0"/>
              <a:t>Algorithms as a technology</a:t>
            </a:r>
          </a:p>
        </p:txBody>
      </p:sp>
      <p:sp>
        <p:nvSpPr>
          <p:cNvPr id="3" name="Text Placeholder 2">
            <a:extLst>
              <a:ext uri="{FF2B5EF4-FFF2-40B4-BE49-F238E27FC236}">
                <a16:creationId xmlns:a16="http://schemas.microsoft.com/office/drawing/2014/main" id="{5E7190C9-0C15-7134-80C0-98B0BBDBA8BB}"/>
              </a:ext>
            </a:extLst>
          </p:cNvPr>
          <p:cNvSpPr>
            <a:spLocks noGrp="1"/>
          </p:cNvSpPr>
          <p:nvPr>
            <p:ph type="body" sz="quarter" idx="10"/>
          </p:nvPr>
        </p:nvSpPr>
        <p:spPr/>
        <p:txBody>
          <a:bodyPr>
            <a:normAutofit/>
          </a:bodyPr>
          <a:lstStyle/>
          <a:p>
            <a:r>
              <a:rPr lang="en-ID" dirty="0"/>
              <a:t>efficiency</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5BBFFF5-99CF-D052-B836-6A66D097920F}"/>
                  </a:ext>
                </a:extLst>
              </p:cNvPr>
              <p:cNvSpPr>
                <a:spLocks noGrp="1"/>
              </p:cNvSpPr>
              <p:nvPr>
                <p:ph sz="quarter" idx="11"/>
              </p:nvPr>
            </p:nvSpPr>
            <p:spPr>
              <a:xfrm>
                <a:off x="2167376" y="3714224"/>
                <a:ext cx="19280919" cy="9138176"/>
              </a:xfrm>
            </p:spPr>
            <p:txBody>
              <a:bodyPr>
                <a:normAutofit fontScale="92500" lnSpcReduction="10000"/>
              </a:bodyPr>
              <a:lstStyle/>
              <a:p>
                <a:pPr marL="673100" indent="-571500" algn="just"/>
                <a:r>
                  <a:rPr lang="en-US" dirty="0"/>
                  <a:t>Let’s use a more concrete example. </a:t>
                </a:r>
              </a:p>
              <a:p>
                <a:pPr marL="1429100" lvl="1" indent="-571500" algn="just"/>
                <a:r>
                  <a:rPr lang="en-US" dirty="0"/>
                  <a:t>Suppose we have a faster computer (computer A) running insertion sort against slower computer (computer B) running merge sort.</a:t>
                </a:r>
              </a:p>
              <a:p>
                <a:pPr marL="1429100" lvl="1" indent="-571500" algn="just"/>
                <a:r>
                  <a:rPr lang="en-US" dirty="0"/>
                  <a:t>They each must sort an array of 100 million numbers.</a:t>
                </a:r>
              </a:p>
              <a:p>
                <a:pPr marL="1429100" lvl="1" indent="-571500" algn="just"/>
                <a:r>
                  <a:rPr lang="en-US" dirty="0"/>
                  <a:t>Suppose that computer A executes 10 billion instructions per second (faster than any single sequential computer at the time of this writing) and computer B executes only 10 million instructions per second (much slower than most contemporary computers), so that computer A is 1000 times faster than computer B in raw computing power.</a:t>
                </a:r>
              </a:p>
              <a:p>
                <a:pPr marL="1429100" lvl="1" indent="-571500" algn="just"/>
                <a:r>
                  <a:rPr lang="en-US" dirty="0"/>
                  <a:t>To make it more dramatic, let’s say that insertion code only requires 2𝑛</a:t>
                </a:r>
                <a:r>
                  <a:rPr lang="en-US" baseline="30000" dirty="0"/>
                  <a:t>2</a:t>
                </a:r>
                <a:r>
                  <a:rPr lang="en-US" dirty="0"/>
                  <a:t> instructions to sort 𝑛 numbers, while merge sort requires 50 𝑛 </a:t>
                </a:r>
                <a14:m>
                  <m:oMath xmlns:m="http://schemas.openxmlformats.org/officeDocument/2006/math">
                    <m:func>
                      <m:funcPr>
                        <m:ctrlPr>
                          <a:rPr lang="en-US">
                            <a:latin typeface="Cambria Math" panose="02040503050406030204" pitchFamily="18" charset="0"/>
                          </a:rPr>
                        </m:ctrlPr>
                      </m:funcPr>
                      <m:fName>
                        <m:r>
                          <m:rPr>
                            <m:sty m:val="p"/>
                          </m:rPr>
                          <a:rPr lang="en-US">
                            <a:latin typeface="Cambria Math" panose="02040503050406030204" pitchFamily="18" charset="0"/>
                          </a:rPr>
                          <m:t>lg</m:t>
                        </m:r>
                      </m:fName>
                      <m:e>
                        <m:r>
                          <a:rPr lang="en-US" i="1">
                            <a:latin typeface="Cambria Math" panose="02040503050406030204" pitchFamily="18" charset="0"/>
                          </a:rPr>
                          <m:t>𝑛</m:t>
                        </m:r>
                      </m:e>
                    </m:func>
                    <m:r>
                      <a:rPr lang="en-US" i="1">
                        <a:latin typeface="Cambria Math" panose="02040503050406030204" pitchFamily="18" charset="0"/>
                      </a:rPr>
                      <m:t> </m:t>
                    </m:r>
                  </m:oMath>
                </a14:m>
                <a:r>
                  <a:rPr lang="en-US" dirty="0"/>
                  <a:t>instructions.</a:t>
                </a:r>
              </a:p>
            </p:txBody>
          </p:sp>
        </mc:Choice>
        <mc:Fallback xmlns="">
          <p:sp>
            <p:nvSpPr>
              <p:cNvPr id="4" name="Content Placeholder 3">
                <a:extLst>
                  <a:ext uri="{FF2B5EF4-FFF2-40B4-BE49-F238E27FC236}">
                    <a16:creationId xmlns:a16="http://schemas.microsoft.com/office/drawing/2014/main" id="{F5BBFFF5-99CF-D052-B836-6A66D097920F}"/>
                  </a:ext>
                </a:extLst>
              </p:cNvPr>
              <p:cNvSpPr>
                <a:spLocks noGrp="1" noRot="1" noChangeAspect="1" noMove="1" noResize="1" noEditPoints="1" noAdjustHandles="1" noChangeArrowheads="1" noChangeShapeType="1" noTextEdit="1"/>
              </p:cNvSpPr>
              <p:nvPr>
                <p:ph sz="quarter" idx="11"/>
              </p:nvPr>
            </p:nvSpPr>
            <p:spPr>
              <a:xfrm>
                <a:off x="2167376" y="3714224"/>
                <a:ext cx="19280919" cy="9138176"/>
              </a:xfrm>
              <a:blipFill>
                <a:blip r:embed="rId3"/>
                <a:stretch>
                  <a:fillRect l="-727" t="-1801" r="-1360"/>
                </a:stretch>
              </a:blipFill>
            </p:spPr>
            <p:txBody>
              <a:bodyPr/>
              <a:lstStyle/>
              <a:p>
                <a:r>
                  <a:rPr lang="en-ID">
                    <a:noFill/>
                  </a:rPr>
                  <a:t> </a:t>
                </a:r>
              </a:p>
            </p:txBody>
          </p:sp>
        </mc:Fallback>
      </mc:AlternateContent>
    </p:spTree>
    <p:extLst>
      <p:ext uri="{BB962C8B-B14F-4D97-AF65-F5344CB8AC3E}">
        <p14:creationId xmlns:p14="http://schemas.microsoft.com/office/powerpoint/2010/main" val="27721875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F8FBA-0F7B-DF68-F190-94379C08C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1271C-C0B3-3EF0-46BB-6B4904E26B45}"/>
              </a:ext>
            </a:extLst>
          </p:cNvPr>
          <p:cNvSpPr>
            <a:spLocks noGrp="1"/>
          </p:cNvSpPr>
          <p:nvPr>
            <p:ph type="title"/>
          </p:nvPr>
        </p:nvSpPr>
        <p:spPr/>
        <p:txBody>
          <a:bodyPr>
            <a:normAutofit fontScale="90000"/>
          </a:bodyPr>
          <a:lstStyle/>
          <a:p>
            <a:r>
              <a:rPr lang="en-ID" dirty="0"/>
              <a:t>Algorithms as a technology</a:t>
            </a:r>
          </a:p>
        </p:txBody>
      </p:sp>
      <p:sp>
        <p:nvSpPr>
          <p:cNvPr id="3" name="Text Placeholder 2">
            <a:extLst>
              <a:ext uri="{FF2B5EF4-FFF2-40B4-BE49-F238E27FC236}">
                <a16:creationId xmlns:a16="http://schemas.microsoft.com/office/drawing/2014/main" id="{C8B08A59-BF9D-5A36-3716-B57A8C1DDA47}"/>
              </a:ext>
            </a:extLst>
          </p:cNvPr>
          <p:cNvSpPr>
            <a:spLocks noGrp="1"/>
          </p:cNvSpPr>
          <p:nvPr>
            <p:ph type="body" sz="quarter" idx="10"/>
          </p:nvPr>
        </p:nvSpPr>
        <p:spPr/>
        <p:txBody>
          <a:bodyPr>
            <a:normAutofit/>
          </a:bodyPr>
          <a:lstStyle/>
          <a:p>
            <a:r>
              <a:rPr lang="en-ID" dirty="0"/>
              <a:t>efficiency</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29F3B5A8-C7A8-1736-7CA3-E340E85CE3B6}"/>
                  </a:ext>
                </a:extLst>
              </p:cNvPr>
              <p:cNvSpPr>
                <a:spLocks noGrp="1"/>
              </p:cNvSpPr>
              <p:nvPr>
                <p:ph sz="quarter" idx="11"/>
              </p:nvPr>
            </p:nvSpPr>
            <p:spPr>
              <a:xfrm>
                <a:off x="2167377" y="3714224"/>
                <a:ext cx="19032265" cy="9138176"/>
              </a:xfrm>
            </p:spPr>
            <p:txBody>
              <a:bodyPr>
                <a:normAutofit lnSpcReduction="10000"/>
              </a:bodyPr>
              <a:lstStyle/>
              <a:p>
                <a:pPr marL="673100" indent="-571500" algn="just"/>
                <a:r>
                  <a:rPr lang="en-US" dirty="0">
                    <a:latin typeface="+mj-lt"/>
                  </a:rPr>
                  <a:t>To sort 10 million numbers, computer A takes:</a:t>
                </a:r>
              </a:p>
              <a:p>
                <a:pPr marL="1613600" lvl="2" indent="0" algn="just">
                  <a:buNone/>
                </a:pPr>
                <a14:m>
                  <m:oMath xmlns:m="http://schemas.openxmlformats.org/officeDocument/2006/math">
                    <m:box>
                      <m:boxPr>
                        <m:ctrlPr>
                          <a:rPr lang="en-US" i="1" dirty="0">
                            <a:latin typeface="Cambria Math" panose="02040503050406030204" pitchFamily="18" charset="0"/>
                          </a:rPr>
                        </m:ctrlPr>
                      </m:boxPr>
                      <m:e>
                        <m:f>
                          <m:fPr>
                            <m:ctrlPr>
                              <a:rPr lang="en-US" dirty="0">
                                <a:latin typeface="Cambria Math" panose="02040503050406030204" pitchFamily="18" charset="0"/>
                              </a:rPr>
                            </m:ctrlPr>
                          </m:fPr>
                          <m:num>
                            <m:r>
                              <a:rPr lang="en-US" dirty="0">
                                <a:latin typeface="Cambria Math" panose="02040503050406030204" pitchFamily="18" charset="0"/>
                              </a:rPr>
                              <m:t>2</m:t>
                            </m:r>
                            <m:r>
                              <a:rPr lang="en-US" b="0" i="0" dirty="0" smtClean="0">
                                <a:latin typeface="Cambria Math" panose="02040503050406030204" pitchFamily="18" charset="0"/>
                              </a:rPr>
                              <m:t> </m:t>
                            </m:r>
                            <m:r>
                              <a:rPr lang="en-US" dirty="0">
                                <a:latin typeface="Cambria Math" panose="02040503050406030204" pitchFamily="18" charset="0"/>
                              </a:rPr>
                              <m:t>∙</m:t>
                            </m:r>
                            <m:r>
                              <a:rPr lang="en-US" b="0" i="0" dirty="0" smtClean="0">
                                <a:latin typeface="Cambria Math" panose="02040503050406030204" pitchFamily="18" charset="0"/>
                              </a:rPr>
                              <m:t> </m:t>
                            </m:r>
                            <m:r>
                              <a:rPr lang="en-US" dirty="0">
                                <a:latin typeface="Cambria Math" panose="02040503050406030204" pitchFamily="18" charset="0"/>
                              </a:rPr>
                              <m:t>(10</m:t>
                            </m:r>
                            <m:r>
                              <a:rPr lang="en-US" baseline="30000" dirty="0">
                                <a:latin typeface="Cambria Math" panose="02040503050406030204" pitchFamily="18" charset="0"/>
                              </a:rPr>
                              <m:t>7</m:t>
                            </m:r>
                            <m:r>
                              <a:rPr lang="en-US" dirty="0">
                                <a:latin typeface="Cambria Math" panose="02040503050406030204" pitchFamily="18" charset="0"/>
                              </a:rPr>
                              <m:t> )</m:t>
                            </m:r>
                            <m:r>
                              <a:rPr lang="en-US" baseline="30000" dirty="0">
                                <a:latin typeface="Cambria Math" panose="02040503050406030204" pitchFamily="18" charset="0"/>
                              </a:rPr>
                              <m:t>2</m:t>
                            </m:r>
                            <m:r>
                              <a:rPr lang="en-US" dirty="0">
                                <a:latin typeface="Cambria Math" panose="02040503050406030204" pitchFamily="18" charset="0"/>
                              </a:rPr>
                              <m:t>  </m:t>
                            </m:r>
                            <m:r>
                              <a:rPr lang="en-US" i="1" dirty="0">
                                <a:latin typeface="Cambria Math" panose="02040503050406030204" pitchFamily="18" charset="0"/>
                              </a:rPr>
                              <m:t>𝑖𝑛𝑠𝑡𝑟𝑢𝑐𝑡𝑖𝑜𝑛𝑠</m:t>
                            </m:r>
                          </m:num>
                          <m:den>
                            <m:r>
                              <a:rPr lang="en-US" dirty="0">
                                <a:latin typeface="Cambria Math" panose="02040503050406030204" pitchFamily="18" charset="0"/>
                              </a:rPr>
                              <m:t>10</m:t>
                            </m:r>
                            <m:r>
                              <a:rPr lang="en-US" baseline="30000" dirty="0">
                                <a:latin typeface="Cambria Math" panose="02040503050406030204" pitchFamily="18" charset="0"/>
                              </a:rPr>
                              <m:t>10</m:t>
                            </m:r>
                            <m:r>
                              <a:rPr lang="en-US" dirty="0">
                                <a:latin typeface="Cambria Math" panose="02040503050406030204" pitchFamily="18" charset="0"/>
                              </a:rPr>
                              <m:t> </m:t>
                            </m:r>
                            <m:r>
                              <a:rPr lang="en-US" i="1" dirty="0">
                                <a:latin typeface="Cambria Math" panose="02040503050406030204" pitchFamily="18" charset="0"/>
                              </a:rPr>
                              <m:t>𝑖𝑛𝑠𝑡𝑟𝑢𝑐𝑡𝑖𝑜𝑛𝑠</m:t>
                            </m:r>
                            <m:r>
                              <a:rPr lang="en-US" i="1" dirty="0">
                                <a:latin typeface="Cambria Math" panose="02040503050406030204" pitchFamily="18" charset="0"/>
                              </a:rPr>
                              <m:t>/</m:t>
                            </m:r>
                            <m:r>
                              <a:rPr lang="en-US" i="1" dirty="0">
                                <a:latin typeface="Cambria Math" panose="02040503050406030204" pitchFamily="18" charset="0"/>
                              </a:rPr>
                              <m:t>𝑠𝑒𝑐𝑜𝑛𝑑</m:t>
                            </m:r>
                          </m:den>
                        </m:f>
                      </m:e>
                    </m:box>
                  </m:oMath>
                </a14:m>
                <a:r>
                  <a:rPr lang="en-US" dirty="0">
                    <a:latin typeface="+mj-lt"/>
                  </a:rPr>
                  <a:t> = 20,000 𝑠𝑒𝑐𝑜𝑛𝑑𝑠 (𝑚𝑜𝑟𝑒 𝑡ℎ𝑎𝑛 5.5 ℎ𝑜𝑢𝑟𝑠)</a:t>
                </a:r>
              </a:p>
              <a:p>
                <a:pPr marL="673100" indent="-571500" algn="just"/>
                <a:r>
                  <a:rPr lang="en-US" dirty="0">
                    <a:latin typeface="+mj-lt"/>
                  </a:rPr>
                  <a:t>While computer B takes:</a:t>
                </a:r>
              </a:p>
              <a:p>
                <a:pPr marL="1613600" lvl="2" indent="0" algn="just">
                  <a:buNone/>
                </a:pPr>
                <a14:m>
                  <m:oMath xmlns:m="http://schemas.openxmlformats.org/officeDocument/2006/math">
                    <m:f>
                      <m:fPr>
                        <m:ctrlPr>
                          <a:rPr lang="en-US" i="1" dirty="0">
                            <a:latin typeface="Cambria Math" panose="02040503050406030204" pitchFamily="18" charset="0"/>
                          </a:rPr>
                        </m:ctrlPr>
                      </m:fPr>
                      <m:num>
                        <m:r>
                          <a:rPr lang="en-US" i="1" dirty="0">
                            <a:latin typeface="Cambria Math" panose="02040503050406030204" pitchFamily="18" charset="0"/>
                          </a:rPr>
                          <m:t>50</m:t>
                        </m:r>
                        <m:r>
                          <a:rPr lang="en-US" b="0" i="1" dirty="0" smtClean="0">
                            <a:latin typeface="Cambria Math" panose="02040503050406030204" pitchFamily="18" charset="0"/>
                          </a:rPr>
                          <m:t> </m:t>
                        </m:r>
                        <m:r>
                          <a:rPr lang="en-US" i="1" dirty="0">
                            <a:latin typeface="Cambria Math" panose="02040503050406030204" pitchFamily="18" charset="0"/>
                          </a:rPr>
                          <m:t>∙</m:t>
                        </m:r>
                        <m:r>
                          <a:rPr lang="en-US" b="0" i="1" dirty="0" smtClean="0">
                            <a:latin typeface="Cambria Math" panose="02040503050406030204" pitchFamily="18" charset="0"/>
                          </a:rPr>
                          <m:t> </m:t>
                        </m:r>
                        <m:r>
                          <a:rPr lang="en-US" i="1" dirty="0">
                            <a:latin typeface="Cambria Math" panose="02040503050406030204" pitchFamily="18" charset="0"/>
                          </a:rPr>
                          <m:t>10</m:t>
                        </m:r>
                        <m:r>
                          <a:rPr lang="en-US" i="1" baseline="30000" dirty="0">
                            <a:latin typeface="Cambria Math" panose="02040503050406030204" pitchFamily="18" charset="0"/>
                          </a:rPr>
                          <m:t>7</m:t>
                        </m:r>
                        <m:r>
                          <a:rPr lang="en-US" i="1" dirty="0">
                            <a:latin typeface="Cambria Math" panose="02040503050406030204" pitchFamily="18" charset="0"/>
                          </a:rPr>
                          <m:t> </m:t>
                        </m:r>
                        <m:r>
                          <a:rPr lang="en-US" i="1" dirty="0">
                            <a:latin typeface="Cambria Math" panose="02040503050406030204" pitchFamily="18" charset="0"/>
                          </a:rPr>
                          <m:t>𝑙</m:t>
                        </m:r>
                        <m:func>
                          <m:funcPr>
                            <m:ctrlPr>
                              <a:rPr lang="en-US" i="1" dirty="0">
                                <a:latin typeface="Cambria Math" panose="02040503050406030204" pitchFamily="18" charset="0"/>
                              </a:rPr>
                            </m:ctrlPr>
                          </m:funcPr>
                          <m:fName>
                            <m:r>
                              <a:rPr lang="en-US" i="1" dirty="0">
                                <a:latin typeface="Cambria Math" panose="02040503050406030204" pitchFamily="18" charset="0"/>
                              </a:rPr>
                              <m:t>𝑔</m:t>
                            </m:r>
                          </m:fName>
                          <m:e>
                            <m:r>
                              <a:rPr lang="en-US" i="1" dirty="0">
                                <a:latin typeface="Cambria Math" panose="02040503050406030204" pitchFamily="18" charset="0"/>
                              </a:rPr>
                              <m:t>10</m:t>
                            </m:r>
                            <m:r>
                              <a:rPr lang="en-US" i="1" baseline="30000" dirty="0">
                                <a:latin typeface="Cambria Math" panose="02040503050406030204" pitchFamily="18" charset="0"/>
                              </a:rPr>
                              <m:t>7</m:t>
                            </m:r>
                          </m:e>
                        </m:func>
                        <m:r>
                          <a:rPr lang="en-US" b="0" i="1" baseline="30000" dirty="0" smtClean="0">
                            <a:latin typeface="Cambria Math" panose="02040503050406030204" pitchFamily="18" charset="0"/>
                          </a:rPr>
                          <m:t> </m:t>
                        </m:r>
                        <m:r>
                          <a:rPr lang="en-US" i="1" dirty="0">
                            <a:latin typeface="Cambria Math" panose="02040503050406030204" pitchFamily="18" charset="0"/>
                          </a:rPr>
                          <m:t>𝑖𝑛𝑠𝑡𝑟𝑢𝑐𝑡𝑖𝑜𝑛𝑠</m:t>
                        </m:r>
                      </m:num>
                      <m:den>
                        <m:r>
                          <a:rPr lang="en-US" i="1" dirty="0">
                            <a:latin typeface="Cambria Math" panose="02040503050406030204" pitchFamily="18" charset="0"/>
                          </a:rPr>
                          <m:t>10</m:t>
                        </m:r>
                        <m:r>
                          <a:rPr lang="en-US" i="1" baseline="30000" dirty="0">
                            <a:latin typeface="Cambria Math" panose="02040503050406030204" pitchFamily="18" charset="0"/>
                          </a:rPr>
                          <m:t>7</m:t>
                        </m:r>
                        <m:r>
                          <a:rPr lang="en-US" i="1" dirty="0">
                            <a:latin typeface="Cambria Math" panose="02040503050406030204" pitchFamily="18" charset="0"/>
                          </a:rPr>
                          <m:t>  </m:t>
                        </m:r>
                        <m:r>
                          <a:rPr lang="en-US" i="1" dirty="0">
                            <a:latin typeface="Cambria Math" panose="02040503050406030204" pitchFamily="18" charset="0"/>
                          </a:rPr>
                          <m:t>𝑖𝑛𝑠𝑡𝑟𝑢𝑐𝑡𝑖𝑜𝑛𝑠</m:t>
                        </m:r>
                        <m:r>
                          <a:rPr lang="en-US" i="1" dirty="0">
                            <a:latin typeface="Cambria Math" panose="02040503050406030204" pitchFamily="18" charset="0"/>
                          </a:rPr>
                          <m:t>/</m:t>
                        </m:r>
                        <m:r>
                          <a:rPr lang="en-US" i="1" dirty="0">
                            <a:latin typeface="Cambria Math" panose="02040503050406030204" pitchFamily="18" charset="0"/>
                          </a:rPr>
                          <m:t>𝑠𝑒𝑐𝑜𝑛𝑑</m:t>
                        </m:r>
                      </m:den>
                    </m:f>
                  </m:oMath>
                </a14:m>
                <a:r>
                  <a:rPr lang="en-US" dirty="0">
                    <a:latin typeface="+mj-lt"/>
                  </a:rPr>
                  <a:t> ≈ 1163 𝑠𝑒𝑐𝑜𝑛𝑑𝑠 (𝑢𝑛𝑑𝑒𝑟 20 𝑚𝑖𝑛𝑢𝑡𝑒𝑠)</a:t>
                </a:r>
              </a:p>
              <a:p>
                <a:pPr marL="673100" indent="-571500" algn="just"/>
                <a:r>
                  <a:rPr lang="en-US" dirty="0">
                    <a:latin typeface="+mj-lt"/>
                  </a:rPr>
                  <a:t>By using an algorithm whose running time grows more slowly, even with a poor compiler, computer B runs more than times faster than computer A! </a:t>
                </a:r>
              </a:p>
              <a:p>
                <a:pPr marL="673100" indent="-571500" algn="just"/>
                <a:r>
                  <a:rPr lang="en-US" dirty="0">
                    <a:latin typeface="+mj-lt"/>
                  </a:rPr>
                  <a:t>The advantage of merge sort is even more pronounced when sorting 100 million numbers: where insertion sort takes more than 23 days, merge sort takes under four hours. </a:t>
                </a:r>
              </a:p>
            </p:txBody>
          </p:sp>
        </mc:Choice>
        <mc:Fallback xmlns="">
          <p:sp>
            <p:nvSpPr>
              <p:cNvPr id="4" name="Content Placeholder 3">
                <a:extLst>
                  <a:ext uri="{FF2B5EF4-FFF2-40B4-BE49-F238E27FC236}">
                    <a16:creationId xmlns:a16="http://schemas.microsoft.com/office/drawing/2014/main" id="{29F3B5A8-C7A8-1736-7CA3-E340E85CE3B6}"/>
                  </a:ext>
                </a:extLst>
              </p:cNvPr>
              <p:cNvSpPr>
                <a:spLocks noGrp="1" noRot="1" noChangeAspect="1" noMove="1" noResize="1" noEditPoints="1" noAdjustHandles="1" noChangeArrowheads="1" noChangeShapeType="1" noTextEdit="1"/>
              </p:cNvSpPr>
              <p:nvPr>
                <p:ph sz="quarter" idx="11"/>
              </p:nvPr>
            </p:nvSpPr>
            <p:spPr>
              <a:xfrm>
                <a:off x="2167377" y="3714224"/>
                <a:ext cx="19032265" cy="9138176"/>
              </a:xfrm>
              <a:blipFill>
                <a:blip r:embed="rId3"/>
                <a:stretch>
                  <a:fillRect l="-867" t="-2083" r="-1533" b="-2361"/>
                </a:stretch>
              </a:blipFill>
            </p:spPr>
            <p:txBody>
              <a:bodyPr/>
              <a:lstStyle/>
              <a:p>
                <a:r>
                  <a:rPr lang="en-US">
                    <a:noFill/>
                  </a:rPr>
                  <a:t> </a:t>
                </a:r>
              </a:p>
            </p:txBody>
          </p:sp>
        </mc:Fallback>
      </mc:AlternateContent>
    </p:spTree>
    <p:extLst>
      <p:ext uri="{BB962C8B-B14F-4D97-AF65-F5344CB8AC3E}">
        <p14:creationId xmlns:p14="http://schemas.microsoft.com/office/powerpoint/2010/main" val="354323850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25F22-3B39-5351-F46D-1820239279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79D6E-3F2F-D89D-EEBC-ED42E0D2D318}"/>
              </a:ext>
            </a:extLst>
          </p:cNvPr>
          <p:cNvSpPr>
            <a:spLocks noGrp="1"/>
          </p:cNvSpPr>
          <p:nvPr>
            <p:ph type="title"/>
          </p:nvPr>
        </p:nvSpPr>
        <p:spPr/>
        <p:txBody>
          <a:bodyPr>
            <a:normAutofit fontScale="90000"/>
          </a:bodyPr>
          <a:lstStyle/>
          <a:p>
            <a:r>
              <a:rPr lang="en-ID" dirty="0"/>
              <a:t>Algorithms as a technology</a:t>
            </a:r>
          </a:p>
        </p:txBody>
      </p:sp>
      <p:sp>
        <p:nvSpPr>
          <p:cNvPr id="3" name="Text Placeholder 2">
            <a:extLst>
              <a:ext uri="{FF2B5EF4-FFF2-40B4-BE49-F238E27FC236}">
                <a16:creationId xmlns:a16="http://schemas.microsoft.com/office/drawing/2014/main" id="{08134EA7-D684-FB5C-8191-13A2AD6F007D}"/>
              </a:ext>
            </a:extLst>
          </p:cNvPr>
          <p:cNvSpPr>
            <a:spLocks noGrp="1"/>
          </p:cNvSpPr>
          <p:nvPr>
            <p:ph type="body" sz="quarter" idx="10"/>
          </p:nvPr>
        </p:nvSpPr>
        <p:spPr/>
        <p:txBody>
          <a:bodyPr>
            <a:normAutofit/>
          </a:bodyPr>
          <a:lstStyle/>
          <a:p>
            <a:r>
              <a:rPr lang="en-ID" dirty="0"/>
              <a:t>Algorithms and other technology</a:t>
            </a:r>
          </a:p>
        </p:txBody>
      </p:sp>
      <p:sp>
        <p:nvSpPr>
          <p:cNvPr id="4" name="Content Placeholder 3">
            <a:extLst>
              <a:ext uri="{FF2B5EF4-FFF2-40B4-BE49-F238E27FC236}">
                <a16:creationId xmlns:a16="http://schemas.microsoft.com/office/drawing/2014/main" id="{632E17DC-ED1B-CC3E-D852-65F604C457DB}"/>
              </a:ext>
            </a:extLst>
          </p:cNvPr>
          <p:cNvSpPr>
            <a:spLocks noGrp="1"/>
          </p:cNvSpPr>
          <p:nvPr>
            <p:ph sz="quarter" idx="11"/>
          </p:nvPr>
        </p:nvSpPr>
        <p:spPr>
          <a:xfrm>
            <a:off x="2167377" y="3714224"/>
            <a:ext cx="19032265" cy="9138176"/>
          </a:xfrm>
        </p:spPr>
        <p:txBody>
          <a:bodyPr>
            <a:normAutofit fontScale="85000" lnSpcReduction="20000"/>
          </a:bodyPr>
          <a:lstStyle/>
          <a:p>
            <a:pPr marL="673100" indent="-571500" algn="just"/>
            <a:r>
              <a:rPr lang="en-US" dirty="0">
                <a:latin typeface="+mj-lt"/>
              </a:rPr>
              <a:t>The example from before shows that you should consider algorithms, like computer hardware, as a technology. Total system performance depends on choosing efficient algorithms as much as on choosing fast hardware. </a:t>
            </a:r>
          </a:p>
          <a:p>
            <a:pPr marL="673100" indent="-571500" algn="just"/>
            <a:r>
              <a:rPr lang="en-US" dirty="0">
                <a:latin typeface="+mj-lt"/>
              </a:rPr>
              <a:t>Algorithms are still truly important on contemporary computers besides other advanced technologies, such as:</a:t>
            </a:r>
          </a:p>
          <a:p>
            <a:pPr marL="1429100" lvl="1" indent="-571500" algn="just"/>
            <a:r>
              <a:rPr lang="en-US" dirty="0">
                <a:latin typeface="+mj-lt"/>
              </a:rPr>
              <a:t>advanced computer architectures and fabrication technologies,</a:t>
            </a:r>
          </a:p>
          <a:p>
            <a:pPr marL="1429100" lvl="1" indent="-571500" algn="just"/>
            <a:r>
              <a:rPr lang="en-US" dirty="0">
                <a:latin typeface="+mj-lt"/>
              </a:rPr>
              <a:t>easy-to-use, intuitive, graphical user interfaces (GUIs),</a:t>
            </a:r>
          </a:p>
          <a:p>
            <a:pPr marL="1429100" lvl="1" indent="-571500" algn="just"/>
            <a:r>
              <a:rPr lang="en-US" dirty="0">
                <a:latin typeface="+mj-lt"/>
              </a:rPr>
              <a:t>object-oriented systems,</a:t>
            </a:r>
          </a:p>
          <a:p>
            <a:pPr marL="1429100" lvl="1" indent="-571500" algn="just"/>
            <a:r>
              <a:rPr lang="en-US" dirty="0">
                <a:latin typeface="+mj-lt"/>
              </a:rPr>
              <a:t>integrated web technologies, </a:t>
            </a:r>
          </a:p>
          <a:p>
            <a:pPr marL="1429100" lvl="1" indent="-571500" algn="just"/>
            <a:r>
              <a:rPr lang="en-US" dirty="0">
                <a:latin typeface="+mj-lt"/>
              </a:rPr>
              <a:t>fast networking, both wired and wireless, </a:t>
            </a:r>
          </a:p>
          <a:p>
            <a:pPr marL="1429100" lvl="1" indent="-571500" algn="just"/>
            <a:r>
              <a:rPr lang="en-US" dirty="0">
                <a:latin typeface="+mj-lt"/>
              </a:rPr>
              <a:t>machine learning,</a:t>
            </a:r>
          </a:p>
          <a:p>
            <a:pPr marL="1429100" lvl="1" indent="-571500" algn="just"/>
            <a:r>
              <a:rPr lang="en-US" dirty="0">
                <a:latin typeface="+mj-lt"/>
              </a:rPr>
              <a:t>and mobile devices. </a:t>
            </a:r>
          </a:p>
        </p:txBody>
      </p:sp>
    </p:spTree>
    <p:extLst>
      <p:ext uri="{BB962C8B-B14F-4D97-AF65-F5344CB8AC3E}">
        <p14:creationId xmlns:p14="http://schemas.microsoft.com/office/powerpoint/2010/main" val="3016998810"/>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DB9C2-E1CC-B43F-D036-74DD872A46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697DA-C518-0F79-1FC6-E2716BC1DDE9}"/>
              </a:ext>
            </a:extLst>
          </p:cNvPr>
          <p:cNvSpPr>
            <a:spLocks noGrp="1"/>
          </p:cNvSpPr>
          <p:nvPr>
            <p:ph type="title"/>
          </p:nvPr>
        </p:nvSpPr>
        <p:spPr/>
        <p:txBody>
          <a:bodyPr>
            <a:normAutofit fontScale="90000"/>
          </a:bodyPr>
          <a:lstStyle/>
          <a:p>
            <a:r>
              <a:rPr lang="en-ID" dirty="0"/>
              <a:t>Algorithms as a technology</a:t>
            </a:r>
          </a:p>
        </p:txBody>
      </p:sp>
      <p:sp>
        <p:nvSpPr>
          <p:cNvPr id="3" name="Text Placeholder 2">
            <a:extLst>
              <a:ext uri="{FF2B5EF4-FFF2-40B4-BE49-F238E27FC236}">
                <a16:creationId xmlns:a16="http://schemas.microsoft.com/office/drawing/2014/main" id="{23B0096A-F70A-8535-670B-83E8628D1309}"/>
              </a:ext>
            </a:extLst>
          </p:cNvPr>
          <p:cNvSpPr>
            <a:spLocks noGrp="1"/>
          </p:cNvSpPr>
          <p:nvPr>
            <p:ph type="body" sz="quarter" idx="10"/>
          </p:nvPr>
        </p:nvSpPr>
        <p:spPr/>
        <p:txBody>
          <a:bodyPr>
            <a:normAutofit/>
          </a:bodyPr>
          <a:lstStyle/>
          <a:p>
            <a:r>
              <a:rPr lang="en-ID" dirty="0"/>
              <a:t>Algorithms and other technology</a:t>
            </a:r>
          </a:p>
        </p:txBody>
      </p:sp>
      <p:sp>
        <p:nvSpPr>
          <p:cNvPr id="4" name="Content Placeholder 3">
            <a:extLst>
              <a:ext uri="{FF2B5EF4-FFF2-40B4-BE49-F238E27FC236}">
                <a16:creationId xmlns:a16="http://schemas.microsoft.com/office/drawing/2014/main" id="{663F4323-41F6-723B-2937-051993380428}"/>
              </a:ext>
            </a:extLst>
          </p:cNvPr>
          <p:cNvSpPr>
            <a:spLocks noGrp="1"/>
          </p:cNvSpPr>
          <p:nvPr>
            <p:ph sz="quarter" idx="11"/>
          </p:nvPr>
        </p:nvSpPr>
        <p:spPr>
          <a:xfrm>
            <a:off x="2167377" y="3714224"/>
            <a:ext cx="19032265" cy="9138176"/>
          </a:xfrm>
        </p:spPr>
        <p:txBody>
          <a:bodyPr>
            <a:normAutofit fontScale="92500" lnSpcReduction="20000"/>
          </a:bodyPr>
          <a:lstStyle/>
          <a:p>
            <a:pPr marL="673100" indent="-571500" algn="just"/>
            <a:r>
              <a:rPr lang="en-US" dirty="0">
                <a:latin typeface="+mj-lt"/>
              </a:rPr>
              <a:t>Even an application that does not require algorithmic content at the application level relies heavily upon algorithms. Why?</a:t>
            </a:r>
          </a:p>
          <a:p>
            <a:pPr marL="1429100" lvl="1" indent="-571500" algn="just"/>
            <a:r>
              <a:rPr lang="en-US" dirty="0">
                <a:latin typeface="+mj-lt"/>
              </a:rPr>
              <a:t>The hardware design used algorithms </a:t>
            </a:r>
          </a:p>
          <a:p>
            <a:pPr marL="1429100" lvl="1" indent="-571500" algn="just"/>
            <a:r>
              <a:rPr lang="en-US" dirty="0">
                <a:latin typeface="+mj-lt"/>
              </a:rPr>
              <a:t>The design of any GUI relies on algorithms. </a:t>
            </a:r>
          </a:p>
          <a:p>
            <a:pPr marL="1429100" lvl="1" indent="-571500" algn="just"/>
            <a:r>
              <a:rPr lang="en-US" dirty="0">
                <a:latin typeface="+mj-lt"/>
              </a:rPr>
              <a:t>Routing in networks relies heavily on algorithms. </a:t>
            </a:r>
          </a:p>
          <a:p>
            <a:pPr marL="1429100" lvl="1" indent="-571500" algn="just"/>
            <a:r>
              <a:rPr lang="en-US" dirty="0">
                <a:latin typeface="+mj-lt"/>
              </a:rPr>
              <a:t>Application written in language processed by a compiler, interpreter, or assembler, all of which make extensive use of algorithms. </a:t>
            </a:r>
          </a:p>
          <a:p>
            <a:pPr marL="673100" indent="-571500" algn="just"/>
            <a:r>
              <a:rPr lang="en-US" dirty="0">
                <a:latin typeface="+mj-lt"/>
              </a:rPr>
              <a:t>Algorithms are at the core of most technologies used in contemporary computers. </a:t>
            </a:r>
          </a:p>
          <a:p>
            <a:pPr marL="673100" indent="-571500" algn="just"/>
            <a:r>
              <a:rPr lang="en-US" dirty="0">
                <a:latin typeface="+mj-lt"/>
              </a:rPr>
              <a:t>With the ever-increasing capacities of computers, we use them to solve larger problems than ever before. As we saw in the above comparison between insertion sort and merge sort.</a:t>
            </a:r>
          </a:p>
        </p:txBody>
      </p:sp>
    </p:spTree>
    <p:extLst>
      <p:ext uri="{BB962C8B-B14F-4D97-AF65-F5344CB8AC3E}">
        <p14:creationId xmlns:p14="http://schemas.microsoft.com/office/powerpoint/2010/main" val="232295263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7C34D-B193-1753-099E-9A9EE0A11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D950AF-139D-D9DB-3617-98DCF5EB6C2E}"/>
              </a:ext>
            </a:extLst>
          </p:cNvPr>
          <p:cNvSpPr>
            <a:spLocks noGrp="1"/>
          </p:cNvSpPr>
          <p:nvPr>
            <p:ph type="title"/>
          </p:nvPr>
        </p:nvSpPr>
        <p:spPr/>
        <p:txBody>
          <a:bodyPr>
            <a:normAutofit fontScale="90000"/>
          </a:bodyPr>
          <a:lstStyle/>
          <a:p>
            <a:r>
              <a:rPr lang="en-ID" dirty="0"/>
              <a:t>Algorithms as a technology</a:t>
            </a:r>
          </a:p>
        </p:txBody>
      </p:sp>
      <p:sp>
        <p:nvSpPr>
          <p:cNvPr id="3" name="Text Placeholder 2">
            <a:extLst>
              <a:ext uri="{FF2B5EF4-FFF2-40B4-BE49-F238E27FC236}">
                <a16:creationId xmlns:a16="http://schemas.microsoft.com/office/drawing/2014/main" id="{6CBB2453-B47A-BF52-4522-84E4B2C2365D}"/>
              </a:ext>
            </a:extLst>
          </p:cNvPr>
          <p:cNvSpPr>
            <a:spLocks noGrp="1"/>
          </p:cNvSpPr>
          <p:nvPr>
            <p:ph type="body" sz="quarter" idx="10"/>
          </p:nvPr>
        </p:nvSpPr>
        <p:spPr/>
        <p:txBody>
          <a:bodyPr>
            <a:normAutofit/>
          </a:bodyPr>
          <a:lstStyle/>
          <a:p>
            <a:r>
              <a:rPr lang="en-ID" dirty="0"/>
              <a:t>Algorithms and other technology</a:t>
            </a:r>
          </a:p>
        </p:txBody>
      </p:sp>
      <p:sp>
        <p:nvSpPr>
          <p:cNvPr id="4" name="Content Placeholder 3">
            <a:extLst>
              <a:ext uri="{FF2B5EF4-FFF2-40B4-BE49-F238E27FC236}">
                <a16:creationId xmlns:a16="http://schemas.microsoft.com/office/drawing/2014/main" id="{AA908AC5-71F5-E3F3-DF28-02A59DD86FCA}"/>
              </a:ext>
            </a:extLst>
          </p:cNvPr>
          <p:cNvSpPr>
            <a:spLocks noGrp="1"/>
          </p:cNvSpPr>
          <p:nvPr>
            <p:ph sz="quarter" idx="11"/>
          </p:nvPr>
        </p:nvSpPr>
        <p:spPr>
          <a:xfrm>
            <a:off x="2167377" y="3714224"/>
            <a:ext cx="19032265" cy="9138176"/>
          </a:xfrm>
        </p:spPr>
        <p:txBody>
          <a:bodyPr>
            <a:normAutofit/>
          </a:bodyPr>
          <a:lstStyle/>
          <a:p>
            <a:pPr marL="673100" indent="-571500" algn="just"/>
            <a:r>
              <a:rPr lang="en-US" dirty="0">
                <a:latin typeface="+mj-lt"/>
              </a:rPr>
              <a:t>Having a solid base of algorithmic knowledge and technique is one characteristic that defines the truly skilled programmer. </a:t>
            </a:r>
          </a:p>
          <a:p>
            <a:pPr marL="673100" indent="-571500" algn="just"/>
            <a:r>
              <a:rPr lang="en-US" dirty="0">
                <a:latin typeface="+mj-lt"/>
              </a:rPr>
              <a:t>With modern computing technology, you can accomplish some tasks without knowing much about algorithms, but with a good background in algorithms, you can do much, much more. </a:t>
            </a:r>
          </a:p>
        </p:txBody>
      </p:sp>
    </p:spTree>
    <p:extLst>
      <p:ext uri="{BB962C8B-B14F-4D97-AF65-F5344CB8AC3E}">
        <p14:creationId xmlns:p14="http://schemas.microsoft.com/office/powerpoint/2010/main" val="393418400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1E3CC-3862-9ED7-A7CF-D3B2D077E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1E833-ECBB-F3F6-484C-D0C4314734F9}"/>
              </a:ext>
            </a:extLst>
          </p:cNvPr>
          <p:cNvSpPr>
            <a:spLocks noGrp="1"/>
          </p:cNvSpPr>
          <p:nvPr>
            <p:ph type="title"/>
          </p:nvPr>
        </p:nvSpPr>
        <p:spPr/>
        <p:txBody>
          <a:bodyPr>
            <a:normAutofit fontScale="90000"/>
          </a:bodyPr>
          <a:lstStyle/>
          <a:p>
            <a:r>
              <a:rPr lang="en-ID" dirty="0"/>
              <a:t>Practical Math Warm-up</a:t>
            </a:r>
          </a:p>
        </p:txBody>
      </p:sp>
      <p:sp>
        <p:nvSpPr>
          <p:cNvPr id="3" name="Text Placeholder 2">
            <a:extLst>
              <a:ext uri="{FF2B5EF4-FFF2-40B4-BE49-F238E27FC236}">
                <a16:creationId xmlns:a16="http://schemas.microsoft.com/office/drawing/2014/main" id="{541ABD97-C329-5625-CCB2-311F08BA17C6}"/>
              </a:ext>
            </a:extLst>
          </p:cNvPr>
          <p:cNvSpPr>
            <a:spLocks noGrp="1"/>
          </p:cNvSpPr>
          <p:nvPr>
            <p:ph type="body" sz="quarter" idx="10"/>
          </p:nvPr>
        </p:nvSpPr>
        <p:spPr>
          <a:xfrm>
            <a:off x="2167376" y="2419728"/>
            <a:ext cx="11548623" cy="803546"/>
          </a:xfrm>
        </p:spPr>
        <p:txBody>
          <a:bodyPr>
            <a:noAutofit/>
          </a:bodyPr>
          <a:lstStyle/>
          <a:p>
            <a:r>
              <a:rPr lang="en-ID" dirty="0"/>
              <a:t>Factorial</a:t>
            </a:r>
          </a:p>
        </p:txBody>
      </p:sp>
      <p:sp>
        <p:nvSpPr>
          <p:cNvPr id="4" name="Content Placeholder 3">
            <a:extLst>
              <a:ext uri="{FF2B5EF4-FFF2-40B4-BE49-F238E27FC236}">
                <a16:creationId xmlns:a16="http://schemas.microsoft.com/office/drawing/2014/main" id="{ACD81FD5-0FAF-17A3-B245-107AE66F4460}"/>
              </a:ext>
            </a:extLst>
          </p:cNvPr>
          <p:cNvSpPr>
            <a:spLocks noGrp="1"/>
          </p:cNvSpPr>
          <p:nvPr>
            <p:ph sz="quarter" idx="11"/>
          </p:nvPr>
        </p:nvSpPr>
        <p:spPr>
          <a:xfrm>
            <a:off x="2167377" y="3714224"/>
            <a:ext cx="19032265" cy="9138176"/>
          </a:xfrm>
        </p:spPr>
        <p:txBody>
          <a:bodyPr>
            <a:normAutofit/>
          </a:bodyPr>
          <a:lstStyle/>
          <a:p>
            <a:pPr marL="0" indent="0">
              <a:buNone/>
            </a:pPr>
            <a:r>
              <a:rPr lang="en-ID" b="1" dirty="0"/>
              <a:t>Definition:</a:t>
            </a:r>
            <a:r>
              <a:rPr lang="en-ID" dirty="0"/>
              <a:t> n! = n × (n−1) × (n−2) × … × 1, with 0! = 1.</a:t>
            </a:r>
          </a:p>
          <a:p>
            <a:pPr marL="0" indent="0">
              <a:buNone/>
            </a:pPr>
            <a:r>
              <a:rPr lang="en-ID" b="1" dirty="0"/>
              <a:t>Recursive formulation:</a:t>
            </a:r>
          </a:p>
          <a:p>
            <a:pPr marL="0" indent="0">
              <a:buNone/>
            </a:pPr>
            <a:endParaRPr lang="en-ID" dirty="0"/>
          </a:p>
          <a:p>
            <a:pPr marL="0" indent="0">
              <a:buNone/>
            </a:pPr>
            <a:r>
              <a:rPr lang="en-ID" b="1" dirty="0"/>
              <a:t>Iterative algorithm:</a:t>
            </a:r>
          </a:p>
          <a:p>
            <a:pPr marL="0" indent="0">
              <a:buNone/>
            </a:pPr>
            <a:endParaRPr lang="en-ID" b="1" dirty="0"/>
          </a:p>
          <a:p>
            <a:pPr marL="0" indent="0">
              <a:buNone/>
            </a:pPr>
            <a:endParaRPr lang="en-ID" b="1" dirty="0"/>
          </a:p>
          <a:p>
            <a:pPr marL="0" indent="0">
              <a:buNone/>
            </a:pPr>
            <a:endParaRPr lang="en-ID" b="1" dirty="0"/>
          </a:p>
          <a:p>
            <a:pPr marL="0" indent="0">
              <a:buNone/>
            </a:pPr>
            <a:r>
              <a:rPr lang="en-ID" b="1" dirty="0"/>
              <a:t>Complexity:</a:t>
            </a:r>
            <a:r>
              <a:rPr lang="en-ID" dirty="0"/>
              <a:t> T(n) = Θ(n) (exactly n−1 multiplications for n ≥ 1).</a:t>
            </a:r>
          </a:p>
        </p:txBody>
      </p:sp>
      <p:sp>
        <p:nvSpPr>
          <p:cNvPr id="5" name="TextBox 4">
            <a:extLst>
              <a:ext uri="{FF2B5EF4-FFF2-40B4-BE49-F238E27FC236}">
                <a16:creationId xmlns:a16="http://schemas.microsoft.com/office/drawing/2014/main" id="{06C04E35-7D6B-D9C3-43AD-D45C5D46709A}"/>
              </a:ext>
            </a:extLst>
          </p:cNvPr>
          <p:cNvSpPr txBox="1"/>
          <p:nvPr/>
        </p:nvSpPr>
        <p:spPr>
          <a:xfrm>
            <a:off x="2167377" y="5770523"/>
            <a:ext cx="8297423" cy="1087477"/>
          </a:xfrm>
          <a:prstGeom prst="rect">
            <a:avLst/>
          </a:prstGeom>
          <a:solidFill>
            <a:srgbClr val="FFF7D6"/>
          </a:solidFill>
          <a:ln w="12700" cap="flat">
            <a:solidFill>
              <a:srgbClr val="21212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buNone/>
            </a:pPr>
            <a:r>
              <a:rPr lang="en-ID" sz="3200" b="1" i="0" dirty="0">
                <a:solidFill>
                  <a:srgbClr val="424242"/>
                </a:solidFill>
                <a:effectLst/>
                <a:latin typeface="Courier New" panose="02070309020205020404" pitchFamily="49" charset="0"/>
              </a:rPr>
              <a:t>f(0) = 1</a:t>
            </a:r>
          </a:p>
          <a:p>
            <a:pPr algn="l">
              <a:buNone/>
            </a:pPr>
            <a:r>
              <a:rPr lang="en-ID" sz="3200" b="1" i="0" dirty="0">
                <a:solidFill>
                  <a:srgbClr val="424242"/>
                </a:solidFill>
                <a:effectLst/>
                <a:latin typeface="Courier New" panose="02070309020205020404" pitchFamily="49" charset="0"/>
              </a:rPr>
              <a:t>f(n) = n × f(n−1),  n ≥ 1</a:t>
            </a:r>
          </a:p>
        </p:txBody>
      </p:sp>
      <p:sp>
        <p:nvSpPr>
          <p:cNvPr id="6" name="TextBox 5">
            <a:extLst>
              <a:ext uri="{FF2B5EF4-FFF2-40B4-BE49-F238E27FC236}">
                <a16:creationId xmlns:a16="http://schemas.microsoft.com/office/drawing/2014/main" id="{19211266-2B91-0BDC-8BA0-85D81A287E92}"/>
              </a:ext>
            </a:extLst>
          </p:cNvPr>
          <p:cNvSpPr txBox="1"/>
          <p:nvPr/>
        </p:nvSpPr>
        <p:spPr>
          <a:xfrm>
            <a:off x="2167376" y="7986685"/>
            <a:ext cx="8297423" cy="2564805"/>
          </a:xfrm>
          <a:prstGeom prst="rect">
            <a:avLst/>
          </a:prstGeom>
          <a:solidFill>
            <a:srgbClr val="FFF7D6"/>
          </a:solidFill>
          <a:ln w="12700" cap="flat">
            <a:solidFill>
              <a:srgbClr val="21212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buNone/>
            </a:pPr>
            <a:r>
              <a:rPr lang="en-ID" sz="3200" b="1" dirty="0">
                <a:solidFill>
                  <a:srgbClr val="424242"/>
                </a:solidFill>
                <a:latin typeface="Courier New" panose="02070309020205020404" pitchFamily="49" charset="0"/>
              </a:rPr>
              <a:t>FACTORIAL(n)</a:t>
            </a:r>
          </a:p>
          <a:p>
            <a:pPr algn="l">
              <a:buNone/>
            </a:pPr>
            <a:r>
              <a:rPr lang="en-ID" sz="3200" b="1" dirty="0">
                <a:solidFill>
                  <a:srgbClr val="424242"/>
                </a:solidFill>
                <a:latin typeface="Courier New" panose="02070309020205020404" pitchFamily="49" charset="0"/>
              </a:rPr>
              <a:t>1  result = 1</a:t>
            </a:r>
          </a:p>
          <a:p>
            <a:pPr algn="l">
              <a:buNone/>
            </a:pPr>
            <a:r>
              <a:rPr lang="en-ID" sz="3200" b="1" dirty="0">
                <a:solidFill>
                  <a:srgbClr val="424242"/>
                </a:solidFill>
                <a:latin typeface="Courier New" panose="02070309020205020404" pitchFamily="49" charset="0"/>
              </a:rPr>
              <a:t>2  for </a:t>
            </a:r>
            <a:r>
              <a:rPr lang="en-ID" sz="3200" b="1" dirty="0" err="1">
                <a:solidFill>
                  <a:srgbClr val="424242"/>
                </a:solidFill>
                <a:latin typeface="Courier New" panose="02070309020205020404" pitchFamily="49" charset="0"/>
              </a:rPr>
              <a:t>i</a:t>
            </a:r>
            <a:r>
              <a:rPr lang="en-ID" sz="3200" b="1" dirty="0">
                <a:solidFill>
                  <a:srgbClr val="424242"/>
                </a:solidFill>
                <a:latin typeface="Courier New" panose="02070309020205020404" pitchFamily="49" charset="0"/>
              </a:rPr>
              <a:t> = 2 to n</a:t>
            </a:r>
          </a:p>
          <a:p>
            <a:pPr algn="l">
              <a:buNone/>
            </a:pPr>
            <a:r>
              <a:rPr lang="en-ID" sz="3200" b="1" dirty="0">
                <a:solidFill>
                  <a:srgbClr val="424242"/>
                </a:solidFill>
                <a:latin typeface="Courier New" panose="02070309020205020404" pitchFamily="49" charset="0"/>
              </a:rPr>
              <a:t>3      result = result × </a:t>
            </a:r>
            <a:r>
              <a:rPr lang="en-ID" sz="3200" b="1" dirty="0" err="1">
                <a:solidFill>
                  <a:srgbClr val="424242"/>
                </a:solidFill>
                <a:latin typeface="Courier New" panose="02070309020205020404" pitchFamily="49" charset="0"/>
              </a:rPr>
              <a:t>i</a:t>
            </a:r>
            <a:endParaRPr lang="en-ID" sz="3200" b="1" dirty="0">
              <a:solidFill>
                <a:srgbClr val="424242"/>
              </a:solidFill>
              <a:latin typeface="Courier New" panose="02070309020205020404" pitchFamily="49" charset="0"/>
            </a:endParaRPr>
          </a:p>
          <a:p>
            <a:pPr algn="l">
              <a:buNone/>
            </a:pPr>
            <a:r>
              <a:rPr lang="en-ID" sz="3200" b="1" dirty="0">
                <a:solidFill>
                  <a:srgbClr val="424242"/>
                </a:solidFill>
                <a:latin typeface="Courier New" panose="02070309020205020404" pitchFamily="49" charset="0"/>
              </a:rPr>
              <a:t>4  return result</a:t>
            </a:r>
          </a:p>
        </p:txBody>
      </p:sp>
    </p:spTree>
    <p:extLst>
      <p:ext uri="{BB962C8B-B14F-4D97-AF65-F5344CB8AC3E}">
        <p14:creationId xmlns:p14="http://schemas.microsoft.com/office/powerpoint/2010/main" val="17043192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11491-8558-CF71-24C5-8737883CAD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EBFB2-4907-3266-7B06-D1E23E071E82}"/>
              </a:ext>
            </a:extLst>
          </p:cNvPr>
          <p:cNvSpPr>
            <a:spLocks noGrp="1"/>
          </p:cNvSpPr>
          <p:nvPr>
            <p:ph type="title"/>
          </p:nvPr>
        </p:nvSpPr>
        <p:spPr/>
        <p:txBody>
          <a:bodyPr>
            <a:normAutofit fontScale="90000"/>
          </a:bodyPr>
          <a:lstStyle/>
          <a:p>
            <a:r>
              <a:rPr lang="en-ID" dirty="0"/>
              <a:t>Practical Math Warm-up</a:t>
            </a:r>
          </a:p>
        </p:txBody>
      </p:sp>
      <p:sp>
        <p:nvSpPr>
          <p:cNvPr id="3" name="Text Placeholder 2">
            <a:extLst>
              <a:ext uri="{FF2B5EF4-FFF2-40B4-BE49-F238E27FC236}">
                <a16:creationId xmlns:a16="http://schemas.microsoft.com/office/drawing/2014/main" id="{22504981-6B6D-AEDD-10DE-E3C3EC27E0F9}"/>
              </a:ext>
            </a:extLst>
          </p:cNvPr>
          <p:cNvSpPr>
            <a:spLocks noGrp="1"/>
          </p:cNvSpPr>
          <p:nvPr>
            <p:ph type="body" sz="quarter" idx="10"/>
          </p:nvPr>
        </p:nvSpPr>
        <p:spPr>
          <a:xfrm>
            <a:off x="2167376" y="2419728"/>
            <a:ext cx="11548623" cy="803546"/>
          </a:xfrm>
        </p:spPr>
        <p:txBody>
          <a:bodyPr>
            <a:noAutofit/>
          </a:bodyPr>
          <a:lstStyle/>
          <a:p>
            <a:r>
              <a:rPr lang="en-ID" dirty="0"/>
              <a:t>Factorial</a:t>
            </a:r>
          </a:p>
        </p:txBody>
      </p:sp>
      <p:sp>
        <p:nvSpPr>
          <p:cNvPr id="4" name="Content Placeholder 3">
            <a:extLst>
              <a:ext uri="{FF2B5EF4-FFF2-40B4-BE49-F238E27FC236}">
                <a16:creationId xmlns:a16="http://schemas.microsoft.com/office/drawing/2014/main" id="{EDB56A71-7D34-6EFD-6197-4F0FA99ACC10}"/>
              </a:ext>
            </a:extLst>
          </p:cNvPr>
          <p:cNvSpPr>
            <a:spLocks noGrp="1"/>
          </p:cNvSpPr>
          <p:nvPr>
            <p:ph sz="quarter" idx="11"/>
          </p:nvPr>
        </p:nvSpPr>
        <p:spPr>
          <a:xfrm>
            <a:off x="2167377" y="3714224"/>
            <a:ext cx="19032265" cy="9138176"/>
          </a:xfrm>
        </p:spPr>
        <p:txBody>
          <a:bodyPr>
            <a:normAutofit/>
          </a:bodyPr>
          <a:lstStyle/>
          <a:p>
            <a:pPr marL="0" indent="0" algn="just">
              <a:buNone/>
            </a:pPr>
            <a:r>
              <a:rPr lang="en-ID" b="1" dirty="0"/>
              <a:t>Selected values:</a:t>
            </a:r>
          </a:p>
          <a:p>
            <a:pPr marL="0" indent="0" algn="just">
              <a:buNone/>
            </a:pPr>
            <a:endParaRPr lang="en-ID" b="1" dirty="0"/>
          </a:p>
          <a:p>
            <a:pPr marL="0" indent="0" algn="just">
              <a:buNone/>
            </a:pPr>
            <a:endParaRPr lang="en-ID" b="1" dirty="0"/>
          </a:p>
          <a:p>
            <a:pPr marL="0" indent="0" algn="just">
              <a:buNone/>
            </a:pPr>
            <a:endParaRPr lang="en-ID" b="1" dirty="0"/>
          </a:p>
          <a:p>
            <a:pPr marL="0" indent="0" algn="just">
              <a:buNone/>
            </a:pPr>
            <a:endParaRPr lang="en-ID" b="1" dirty="0"/>
          </a:p>
          <a:p>
            <a:pPr marL="0" indent="0" algn="just">
              <a:buNone/>
            </a:pPr>
            <a:r>
              <a:rPr lang="en-ID" b="1" dirty="0"/>
              <a:t>Growth rate:</a:t>
            </a:r>
            <a:r>
              <a:rPr lang="en-ID" dirty="0"/>
              <a:t> Factorial grows faster than any polynomial or exponential. It appears in exhaustive-search algorithms such as brute-force TSP, which is why those approaches are infeasible for large n.</a:t>
            </a:r>
          </a:p>
        </p:txBody>
      </p:sp>
      <p:graphicFrame>
        <p:nvGraphicFramePr>
          <p:cNvPr id="13" name="Table 12">
            <a:extLst>
              <a:ext uri="{FF2B5EF4-FFF2-40B4-BE49-F238E27FC236}">
                <a16:creationId xmlns:a16="http://schemas.microsoft.com/office/drawing/2014/main" id="{C4D6F8C2-D33F-F417-0BFB-2E9A3FA5B752}"/>
              </a:ext>
            </a:extLst>
          </p:cNvPr>
          <p:cNvGraphicFramePr>
            <a:graphicFrameLocks noGrp="1"/>
          </p:cNvGraphicFramePr>
          <p:nvPr/>
        </p:nvGraphicFramePr>
        <p:xfrm>
          <a:off x="2167376" y="5076186"/>
          <a:ext cx="10735824" cy="3611880"/>
        </p:xfrm>
        <a:graphic>
          <a:graphicData uri="http://schemas.openxmlformats.org/drawingml/2006/table">
            <a:tbl>
              <a:tblPr>
                <a:tableStyleId>{CF821DB8-F4EB-4A41-A1BA-3FCAFE7338EE}</a:tableStyleId>
              </a:tblPr>
              <a:tblGrid>
                <a:gridCol w="2641691">
                  <a:extLst>
                    <a:ext uri="{9D8B030D-6E8A-4147-A177-3AD203B41FA5}">
                      <a16:colId xmlns:a16="http://schemas.microsoft.com/office/drawing/2014/main" val="1906722061"/>
                    </a:ext>
                  </a:extLst>
                </a:gridCol>
                <a:gridCol w="8094133">
                  <a:extLst>
                    <a:ext uri="{9D8B030D-6E8A-4147-A177-3AD203B41FA5}">
                      <a16:colId xmlns:a16="http://schemas.microsoft.com/office/drawing/2014/main" val="3585544631"/>
                    </a:ext>
                  </a:extLst>
                </a:gridCol>
              </a:tblGrid>
              <a:tr h="480000">
                <a:tc>
                  <a:txBody>
                    <a:bodyPr/>
                    <a:lstStyle/>
                    <a:p>
                      <a:pPr algn="l">
                        <a:buNone/>
                      </a:pPr>
                      <a:r>
                        <a:rPr lang="en-ID" sz="3200" b="1" dirty="0">
                          <a:solidFill>
                            <a:srgbClr val="212121"/>
                          </a:solidFill>
                          <a:effectLst/>
                        </a:rPr>
                        <a:t>n</a:t>
                      </a:r>
                    </a:p>
                  </a:txBody>
                  <a:tcPr marL="76200" marR="76200" marT="38100" marB="76200" anchor="ctr"/>
                </a:tc>
                <a:tc>
                  <a:txBody>
                    <a:bodyPr/>
                    <a:lstStyle/>
                    <a:p>
                      <a:pPr algn="l">
                        <a:buNone/>
                      </a:pPr>
                      <a:r>
                        <a:rPr lang="en-ID" sz="3200" b="1" dirty="0">
                          <a:solidFill>
                            <a:srgbClr val="212121"/>
                          </a:solidFill>
                          <a:effectLst/>
                        </a:rPr>
                        <a:t>n!</a:t>
                      </a:r>
                    </a:p>
                  </a:txBody>
                  <a:tcPr marL="76200" marR="76200" marT="38100" marB="76200" anchor="ctr"/>
                </a:tc>
                <a:extLst>
                  <a:ext uri="{0D108BD9-81ED-4DB2-BD59-A6C34878D82A}">
                    <a16:rowId xmlns:a16="http://schemas.microsoft.com/office/drawing/2014/main" val="3861740458"/>
                  </a:ext>
                </a:extLst>
              </a:tr>
              <a:tr h="480000">
                <a:tc>
                  <a:txBody>
                    <a:bodyPr/>
                    <a:lstStyle/>
                    <a:p>
                      <a:pPr algn="l">
                        <a:buNone/>
                      </a:pPr>
                      <a:r>
                        <a:rPr lang="en-ID" sz="3200">
                          <a:solidFill>
                            <a:srgbClr val="212121"/>
                          </a:solidFill>
                          <a:effectLst/>
                        </a:rPr>
                        <a:t>0</a:t>
                      </a:r>
                    </a:p>
                  </a:txBody>
                  <a:tcPr marL="76200" marR="76200" marT="38100" marB="76200" anchor="ctr"/>
                </a:tc>
                <a:tc>
                  <a:txBody>
                    <a:bodyPr/>
                    <a:lstStyle/>
                    <a:p>
                      <a:pPr algn="l">
                        <a:buNone/>
                      </a:pPr>
                      <a:r>
                        <a:rPr lang="en-ID" sz="3200" dirty="0">
                          <a:solidFill>
                            <a:srgbClr val="212121"/>
                          </a:solidFill>
                          <a:effectLst/>
                        </a:rPr>
                        <a:t>1</a:t>
                      </a:r>
                    </a:p>
                  </a:txBody>
                  <a:tcPr marL="76200" marR="76200" marT="38100" marB="76200" anchor="ctr"/>
                </a:tc>
                <a:extLst>
                  <a:ext uri="{0D108BD9-81ED-4DB2-BD59-A6C34878D82A}">
                    <a16:rowId xmlns:a16="http://schemas.microsoft.com/office/drawing/2014/main" val="551196778"/>
                  </a:ext>
                </a:extLst>
              </a:tr>
              <a:tr h="480000">
                <a:tc>
                  <a:txBody>
                    <a:bodyPr/>
                    <a:lstStyle/>
                    <a:p>
                      <a:pPr algn="l">
                        <a:buNone/>
                      </a:pPr>
                      <a:r>
                        <a:rPr lang="en-ID" sz="3200">
                          <a:solidFill>
                            <a:srgbClr val="212121"/>
                          </a:solidFill>
                          <a:effectLst/>
                        </a:rPr>
                        <a:t>5</a:t>
                      </a:r>
                    </a:p>
                  </a:txBody>
                  <a:tcPr marL="76200" marR="76200" marT="38100" marB="76200" anchor="ctr"/>
                </a:tc>
                <a:tc>
                  <a:txBody>
                    <a:bodyPr/>
                    <a:lstStyle/>
                    <a:p>
                      <a:pPr algn="l">
                        <a:buNone/>
                      </a:pPr>
                      <a:r>
                        <a:rPr lang="en-ID" sz="3200">
                          <a:solidFill>
                            <a:srgbClr val="212121"/>
                          </a:solidFill>
                          <a:effectLst/>
                        </a:rPr>
                        <a:t>120</a:t>
                      </a:r>
                    </a:p>
                  </a:txBody>
                  <a:tcPr marL="76200" marR="76200" marT="38100" marB="76200" anchor="ctr"/>
                </a:tc>
                <a:extLst>
                  <a:ext uri="{0D108BD9-81ED-4DB2-BD59-A6C34878D82A}">
                    <a16:rowId xmlns:a16="http://schemas.microsoft.com/office/drawing/2014/main" val="2583904437"/>
                  </a:ext>
                </a:extLst>
              </a:tr>
              <a:tr h="480000">
                <a:tc>
                  <a:txBody>
                    <a:bodyPr/>
                    <a:lstStyle/>
                    <a:p>
                      <a:pPr algn="l">
                        <a:buNone/>
                      </a:pPr>
                      <a:r>
                        <a:rPr lang="en-ID" sz="3200">
                          <a:solidFill>
                            <a:srgbClr val="212121"/>
                          </a:solidFill>
                          <a:effectLst/>
                        </a:rPr>
                        <a:t>10</a:t>
                      </a:r>
                    </a:p>
                  </a:txBody>
                  <a:tcPr marL="76200" marR="76200" marT="38100" marB="76200" anchor="ctr"/>
                </a:tc>
                <a:tc>
                  <a:txBody>
                    <a:bodyPr/>
                    <a:lstStyle/>
                    <a:p>
                      <a:pPr algn="l">
                        <a:buNone/>
                      </a:pPr>
                      <a:r>
                        <a:rPr lang="en-ID" sz="3200">
                          <a:solidFill>
                            <a:srgbClr val="212121"/>
                          </a:solidFill>
                          <a:effectLst/>
                        </a:rPr>
                        <a:t>3,628,800</a:t>
                      </a:r>
                    </a:p>
                  </a:txBody>
                  <a:tcPr marL="76200" marR="76200" marT="38100" marB="76200" anchor="ctr"/>
                </a:tc>
                <a:extLst>
                  <a:ext uri="{0D108BD9-81ED-4DB2-BD59-A6C34878D82A}">
                    <a16:rowId xmlns:a16="http://schemas.microsoft.com/office/drawing/2014/main" val="3612876172"/>
                  </a:ext>
                </a:extLst>
              </a:tr>
              <a:tr h="480000">
                <a:tc>
                  <a:txBody>
                    <a:bodyPr/>
                    <a:lstStyle/>
                    <a:p>
                      <a:pPr algn="l">
                        <a:buNone/>
                      </a:pPr>
                      <a:r>
                        <a:rPr lang="en-ID" sz="3200">
                          <a:solidFill>
                            <a:srgbClr val="212121"/>
                          </a:solidFill>
                          <a:effectLst/>
                        </a:rPr>
                        <a:t>20</a:t>
                      </a:r>
                    </a:p>
                  </a:txBody>
                  <a:tcPr marL="76200" marR="76200" marT="38100" marB="76200" anchor="ctr"/>
                </a:tc>
                <a:tc>
                  <a:txBody>
                    <a:bodyPr/>
                    <a:lstStyle/>
                    <a:p>
                      <a:pPr algn="l">
                        <a:buNone/>
                      </a:pPr>
                      <a:r>
                        <a:rPr lang="en-ID" sz="3200" dirty="0">
                          <a:solidFill>
                            <a:srgbClr val="212121"/>
                          </a:solidFill>
                          <a:effectLst/>
                        </a:rPr>
                        <a:t>2,432,902,008,176,640,000</a:t>
                      </a:r>
                    </a:p>
                  </a:txBody>
                  <a:tcPr marL="76200" marR="76200" marT="38100" marB="76200" anchor="ctr"/>
                </a:tc>
                <a:extLst>
                  <a:ext uri="{0D108BD9-81ED-4DB2-BD59-A6C34878D82A}">
                    <a16:rowId xmlns:a16="http://schemas.microsoft.com/office/drawing/2014/main" val="2625144658"/>
                  </a:ext>
                </a:extLst>
              </a:tr>
              <a:tr h="480000">
                <a:tc>
                  <a:txBody>
                    <a:bodyPr/>
                    <a:lstStyle/>
                    <a:p>
                      <a:pPr algn="l">
                        <a:buNone/>
                      </a:pPr>
                      <a:r>
                        <a:rPr lang="en-ID" sz="3200">
                          <a:solidFill>
                            <a:srgbClr val="212121"/>
                          </a:solidFill>
                          <a:effectLst/>
                        </a:rPr>
                        <a:t>25</a:t>
                      </a:r>
                    </a:p>
                  </a:txBody>
                  <a:tcPr marL="76200" marR="76200" marT="38100" marB="76200" anchor="ctr"/>
                </a:tc>
                <a:tc>
                  <a:txBody>
                    <a:bodyPr/>
                    <a:lstStyle/>
                    <a:p>
                      <a:pPr algn="l">
                        <a:buNone/>
                      </a:pPr>
                      <a:r>
                        <a:rPr lang="en-ID" sz="3200" dirty="0">
                          <a:solidFill>
                            <a:srgbClr val="212121"/>
                          </a:solidFill>
                          <a:effectLst/>
                        </a:rPr>
                        <a:t>≈ 1.55 × 10²⁵</a:t>
                      </a:r>
                    </a:p>
                  </a:txBody>
                  <a:tcPr marL="76200" marR="76200" marT="38100" marB="76200" anchor="ctr"/>
                </a:tc>
                <a:extLst>
                  <a:ext uri="{0D108BD9-81ED-4DB2-BD59-A6C34878D82A}">
                    <a16:rowId xmlns:a16="http://schemas.microsoft.com/office/drawing/2014/main" val="3006909105"/>
                  </a:ext>
                </a:extLst>
              </a:tr>
            </a:tbl>
          </a:graphicData>
        </a:graphic>
      </p:graphicFrame>
    </p:spTree>
    <p:extLst>
      <p:ext uri="{BB962C8B-B14F-4D97-AF65-F5344CB8AC3E}">
        <p14:creationId xmlns:p14="http://schemas.microsoft.com/office/powerpoint/2010/main" val="68790184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17FB2-E1F8-46F9-C5D4-8038FE307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74C76-AB8F-164C-470C-0CEA5F21E1EB}"/>
              </a:ext>
            </a:extLst>
          </p:cNvPr>
          <p:cNvSpPr>
            <a:spLocks noGrp="1"/>
          </p:cNvSpPr>
          <p:nvPr>
            <p:ph type="title"/>
          </p:nvPr>
        </p:nvSpPr>
        <p:spPr/>
        <p:txBody>
          <a:bodyPr>
            <a:normAutofit fontScale="90000"/>
          </a:bodyPr>
          <a:lstStyle/>
          <a:p>
            <a:r>
              <a:rPr lang="en-ID" dirty="0"/>
              <a:t>Practical Math Warm-up</a:t>
            </a:r>
          </a:p>
        </p:txBody>
      </p:sp>
      <p:sp>
        <p:nvSpPr>
          <p:cNvPr id="3" name="Text Placeholder 2">
            <a:extLst>
              <a:ext uri="{FF2B5EF4-FFF2-40B4-BE49-F238E27FC236}">
                <a16:creationId xmlns:a16="http://schemas.microsoft.com/office/drawing/2014/main" id="{10E13115-DCBE-E7B3-9491-E3FFD3B7DBEF}"/>
              </a:ext>
            </a:extLst>
          </p:cNvPr>
          <p:cNvSpPr>
            <a:spLocks noGrp="1"/>
          </p:cNvSpPr>
          <p:nvPr>
            <p:ph type="body" sz="quarter" idx="10"/>
          </p:nvPr>
        </p:nvSpPr>
        <p:spPr>
          <a:xfrm>
            <a:off x="2167376" y="2419728"/>
            <a:ext cx="11548623" cy="803546"/>
          </a:xfrm>
        </p:spPr>
        <p:txBody>
          <a:bodyPr>
            <a:noAutofit/>
          </a:bodyPr>
          <a:lstStyle/>
          <a:p>
            <a:r>
              <a:rPr lang="en-ID" dirty="0"/>
              <a:t>Fibonacci Numbers</a:t>
            </a:r>
          </a:p>
        </p:txBody>
      </p:sp>
      <p:sp>
        <p:nvSpPr>
          <p:cNvPr id="4" name="Content Placeholder 3">
            <a:extLst>
              <a:ext uri="{FF2B5EF4-FFF2-40B4-BE49-F238E27FC236}">
                <a16:creationId xmlns:a16="http://schemas.microsoft.com/office/drawing/2014/main" id="{E199A0C9-D0E5-0149-0BD1-4C57922E8DF1}"/>
              </a:ext>
            </a:extLst>
          </p:cNvPr>
          <p:cNvSpPr>
            <a:spLocks noGrp="1"/>
          </p:cNvSpPr>
          <p:nvPr>
            <p:ph sz="quarter" idx="11"/>
          </p:nvPr>
        </p:nvSpPr>
        <p:spPr>
          <a:xfrm>
            <a:off x="2167377" y="3714224"/>
            <a:ext cx="19032265" cy="9138176"/>
          </a:xfrm>
        </p:spPr>
        <p:txBody>
          <a:bodyPr>
            <a:normAutofit/>
          </a:bodyPr>
          <a:lstStyle/>
          <a:p>
            <a:pPr marL="0" indent="0" algn="just">
              <a:buNone/>
            </a:pPr>
            <a:r>
              <a:rPr lang="en-ID" b="1" dirty="0"/>
              <a:t>Definition:</a:t>
            </a:r>
            <a:r>
              <a:rPr lang="en-ID" dirty="0"/>
              <a:t> F(0) = 0, F(1) = 1, F(n) = F(n−1) + F(n−2) for n ≥ 2.</a:t>
            </a:r>
          </a:p>
          <a:p>
            <a:pPr marL="0" indent="0" algn="just">
              <a:buNone/>
            </a:pPr>
            <a:r>
              <a:rPr lang="en-ID" b="1" dirty="0"/>
              <a:t>First 12 values:</a:t>
            </a:r>
            <a:r>
              <a:rPr lang="en-ID" dirty="0"/>
              <a:t> 0, 1, 1, 2, 3, 5, 8, 13, 21, 34, 55, 89.</a:t>
            </a:r>
          </a:p>
          <a:p>
            <a:pPr marL="0" indent="0" algn="just">
              <a:buNone/>
            </a:pPr>
            <a:r>
              <a:rPr lang="en-ID" b="1" dirty="0"/>
              <a:t>Naïve recursive implementation:</a:t>
            </a:r>
          </a:p>
          <a:p>
            <a:pPr marL="0" indent="0" algn="just">
              <a:buNone/>
            </a:pPr>
            <a:endParaRPr lang="en-ID" b="1" dirty="0"/>
          </a:p>
          <a:p>
            <a:pPr marL="0" indent="0" algn="just">
              <a:buNone/>
            </a:pPr>
            <a:endParaRPr lang="en-ID" b="1" dirty="0"/>
          </a:p>
          <a:p>
            <a:pPr marL="0" indent="0" algn="just">
              <a:buNone/>
            </a:pPr>
            <a:endParaRPr lang="en-ID" b="1" dirty="0"/>
          </a:p>
          <a:p>
            <a:pPr marL="0" indent="0" algn="just">
              <a:buNone/>
            </a:pPr>
            <a:r>
              <a:rPr lang="en-ID" dirty="0"/>
              <a:t>Time complexity: </a:t>
            </a:r>
            <a:r>
              <a:rPr lang="en-ID" b="1" dirty="0"/>
              <a:t>Θ(φⁿ)</a:t>
            </a:r>
            <a:r>
              <a:rPr lang="en-ID" dirty="0"/>
              <a:t> where φ = (1+√5)/2 ≈ 1.618 — exponential. The recurrence tree has overlapping sub-problems: F(n−2) is computed once by the left branch and again by the right branch.</a:t>
            </a:r>
          </a:p>
        </p:txBody>
      </p:sp>
      <p:sp>
        <p:nvSpPr>
          <p:cNvPr id="6" name="TextBox 5">
            <a:extLst>
              <a:ext uri="{FF2B5EF4-FFF2-40B4-BE49-F238E27FC236}">
                <a16:creationId xmlns:a16="http://schemas.microsoft.com/office/drawing/2014/main" id="{B691BA71-5394-8F1F-ECAF-B6D33D9895E6}"/>
              </a:ext>
            </a:extLst>
          </p:cNvPr>
          <p:cNvSpPr txBox="1"/>
          <p:nvPr/>
        </p:nvSpPr>
        <p:spPr>
          <a:xfrm>
            <a:off x="2370085" y="7319834"/>
            <a:ext cx="10566982" cy="2072362"/>
          </a:xfrm>
          <a:prstGeom prst="rect">
            <a:avLst/>
          </a:prstGeom>
          <a:solidFill>
            <a:srgbClr val="FFF7D6"/>
          </a:solidFill>
          <a:ln w="12700" cap="flat">
            <a:solidFill>
              <a:srgbClr val="21212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buNone/>
            </a:pPr>
            <a:r>
              <a:rPr lang="en-ID" sz="3200" b="1" i="0" dirty="0">
                <a:solidFill>
                  <a:srgbClr val="424242"/>
                </a:solidFill>
                <a:effectLst/>
                <a:latin typeface="Courier New" panose="02070309020205020404" pitchFamily="49" charset="0"/>
              </a:rPr>
              <a:t>FIB-NAIVE(n)</a:t>
            </a:r>
          </a:p>
          <a:p>
            <a:pPr algn="l">
              <a:buNone/>
            </a:pPr>
            <a:r>
              <a:rPr lang="en-ID" sz="3200" b="1" i="0" dirty="0">
                <a:solidFill>
                  <a:srgbClr val="424242"/>
                </a:solidFill>
                <a:effectLst/>
                <a:latin typeface="Courier New" panose="02070309020205020404" pitchFamily="49" charset="0"/>
              </a:rPr>
              <a:t>1  if n ≤ 1</a:t>
            </a:r>
          </a:p>
          <a:p>
            <a:pPr algn="l">
              <a:buNone/>
            </a:pPr>
            <a:r>
              <a:rPr lang="en-ID" sz="3200" b="1" i="0" dirty="0">
                <a:solidFill>
                  <a:srgbClr val="424242"/>
                </a:solidFill>
                <a:effectLst/>
                <a:latin typeface="Courier New" panose="02070309020205020404" pitchFamily="49" charset="0"/>
              </a:rPr>
              <a:t>2      return n</a:t>
            </a:r>
          </a:p>
          <a:p>
            <a:pPr algn="l">
              <a:buNone/>
            </a:pPr>
            <a:r>
              <a:rPr lang="en-ID" sz="3200" b="1" i="0" dirty="0">
                <a:solidFill>
                  <a:srgbClr val="424242"/>
                </a:solidFill>
                <a:effectLst/>
                <a:latin typeface="Courier New" panose="02070309020205020404" pitchFamily="49" charset="0"/>
              </a:rPr>
              <a:t>3  return FIB-NAIVE(n−1) + FIB-NAIVE(n−2)</a:t>
            </a:r>
          </a:p>
        </p:txBody>
      </p:sp>
    </p:spTree>
    <p:extLst>
      <p:ext uri="{BB962C8B-B14F-4D97-AF65-F5344CB8AC3E}">
        <p14:creationId xmlns:p14="http://schemas.microsoft.com/office/powerpoint/2010/main" val="3552435926"/>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69943-039B-7B19-399F-1A08CEE42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65481C-1EE9-E83C-6747-FF9C2BB72C5B}"/>
              </a:ext>
            </a:extLst>
          </p:cNvPr>
          <p:cNvSpPr>
            <a:spLocks noGrp="1"/>
          </p:cNvSpPr>
          <p:nvPr>
            <p:ph type="title"/>
          </p:nvPr>
        </p:nvSpPr>
        <p:spPr/>
        <p:txBody>
          <a:bodyPr>
            <a:normAutofit fontScale="90000"/>
          </a:bodyPr>
          <a:lstStyle/>
          <a:p>
            <a:r>
              <a:rPr lang="en-ID" dirty="0"/>
              <a:t>Practical Math Warm-up</a:t>
            </a:r>
          </a:p>
        </p:txBody>
      </p:sp>
      <p:sp>
        <p:nvSpPr>
          <p:cNvPr id="3" name="Text Placeholder 2">
            <a:extLst>
              <a:ext uri="{FF2B5EF4-FFF2-40B4-BE49-F238E27FC236}">
                <a16:creationId xmlns:a16="http://schemas.microsoft.com/office/drawing/2014/main" id="{3DD3532B-C585-5E44-F974-0E3C914AC76F}"/>
              </a:ext>
            </a:extLst>
          </p:cNvPr>
          <p:cNvSpPr>
            <a:spLocks noGrp="1"/>
          </p:cNvSpPr>
          <p:nvPr>
            <p:ph type="body" sz="quarter" idx="10"/>
          </p:nvPr>
        </p:nvSpPr>
        <p:spPr>
          <a:xfrm>
            <a:off x="2167376" y="2419728"/>
            <a:ext cx="11548623" cy="803546"/>
          </a:xfrm>
        </p:spPr>
        <p:txBody>
          <a:bodyPr>
            <a:noAutofit/>
          </a:bodyPr>
          <a:lstStyle/>
          <a:p>
            <a:r>
              <a:rPr lang="en-ID" dirty="0"/>
              <a:t>Fibonacci Numbers</a:t>
            </a:r>
          </a:p>
        </p:txBody>
      </p:sp>
      <p:sp>
        <p:nvSpPr>
          <p:cNvPr id="4" name="Content Placeholder 3">
            <a:extLst>
              <a:ext uri="{FF2B5EF4-FFF2-40B4-BE49-F238E27FC236}">
                <a16:creationId xmlns:a16="http://schemas.microsoft.com/office/drawing/2014/main" id="{E81EF33D-9695-C61E-B7D3-E1A5433C341F}"/>
              </a:ext>
            </a:extLst>
          </p:cNvPr>
          <p:cNvSpPr>
            <a:spLocks noGrp="1"/>
          </p:cNvSpPr>
          <p:nvPr>
            <p:ph sz="quarter" idx="11"/>
          </p:nvPr>
        </p:nvSpPr>
        <p:spPr>
          <a:xfrm>
            <a:off x="2167377" y="3714224"/>
            <a:ext cx="19032265" cy="9138176"/>
          </a:xfrm>
        </p:spPr>
        <p:txBody>
          <a:bodyPr>
            <a:normAutofit lnSpcReduction="10000"/>
          </a:bodyPr>
          <a:lstStyle/>
          <a:p>
            <a:pPr marL="0" indent="0" algn="just">
              <a:buNone/>
            </a:pPr>
            <a:r>
              <a:rPr lang="en-ID" b="1" dirty="0"/>
              <a:t>Efficient iterative (bottom-up DP):</a:t>
            </a:r>
          </a:p>
          <a:p>
            <a:pPr marL="0" indent="0" algn="just">
              <a:buNone/>
            </a:pPr>
            <a:endParaRPr lang="en-ID" b="1" dirty="0"/>
          </a:p>
          <a:p>
            <a:pPr marL="0" indent="0" algn="just">
              <a:buNone/>
            </a:pPr>
            <a:endParaRPr lang="en-ID" b="1" dirty="0"/>
          </a:p>
          <a:p>
            <a:pPr marL="0" indent="0" algn="just">
              <a:buNone/>
            </a:pPr>
            <a:endParaRPr lang="en-ID" b="1" dirty="0"/>
          </a:p>
          <a:p>
            <a:pPr marL="0" indent="0" algn="just">
              <a:buNone/>
            </a:pPr>
            <a:endParaRPr lang="en-ID" b="1" dirty="0"/>
          </a:p>
          <a:p>
            <a:r>
              <a:rPr lang="en-ID" dirty="0"/>
              <a:t>Time: </a:t>
            </a:r>
            <a:r>
              <a:rPr lang="en-ID" b="1" dirty="0"/>
              <a:t>Θ(n)</a:t>
            </a:r>
            <a:r>
              <a:rPr lang="en-ID" dirty="0"/>
              <a:t>, Space: </a:t>
            </a:r>
            <a:r>
              <a:rPr lang="en-ID" b="1" dirty="0"/>
              <a:t>Θ(1)</a:t>
            </a:r>
            <a:r>
              <a:rPr lang="en-ID" dirty="0"/>
              <a:t>.</a:t>
            </a:r>
          </a:p>
          <a:p>
            <a:pPr marL="0" indent="0" algn="just">
              <a:buNone/>
            </a:pPr>
            <a:r>
              <a:rPr lang="en-ID" dirty="0"/>
              <a:t>Fibonacci is the canonical motivating example for </a:t>
            </a:r>
            <a:r>
              <a:rPr lang="en-ID" b="1" dirty="0"/>
              <a:t>Dynamic Programming</a:t>
            </a:r>
            <a:r>
              <a:rPr lang="en-ID" dirty="0"/>
              <a:t>, as the exponential naïve solution collapses to linear once overlapping sub-problems are identified and cached (covered fully in Session 15).</a:t>
            </a:r>
          </a:p>
        </p:txBody>
      </p:sp>
      <p:sp>
        <p:nvSpPr>
          <p:cNvPr id="6" name="TextBox 5">
            <a:extLst>
              <a:ext uri="{FF2B5EF4-FFF2-40B4-BE49-F238E27FC236}">
                <a16:creationId xmlns:a16="http://schemas.microsoft.com/office/drawing/2014/main" id="{BCF3846E-E337-4AA7-3E71-AA7564F1D2F1}"/>
              </a:ext>
            </a:extLst>
          </p:cNvPr>
          <p:cNvSpPr txBox="1"/>
          <p:nvPr/>
        </p:nvSpPr>
        <p:spPr>
          <a:xfrm>
            <a:off x="2167377" y="4953755"/>
            <a:ext cx="10566982" cy="3549690"/>
          </a:xfrm>
          <a:prstGeom prst="rect">
            <a:avLst/>
          </a:prstGeom>
          <a:solidFill>
            <a:srgbClr val="FFF7D6"/>
          </a:solidFill>
          <a:ln w="12700" cap="flat">
            <a:solidFill>
              <a:srgbClr val="21212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buNone/>
            </a:pPr>
            <a:r>
              <a:rPr lang="en-ID" sz="2800" b="1" i="0" dirty="0">
                <a:solidFill>
                  <a:srgbClr val="424242"/>
                </a:solidFill>
                <a:effectLst/>
                <a:latin typeface="Courier New" panose="02070309020205020404" pitchFamily="49" charset="0"/>
              </a:rPr>
              <a:t>FIB-ITER(n)</a:t>
            </a:r>
          </a:p>
          <a:p>
            <a:pPr algn="l">
              <a:buNone/>
            </a:pPr>
            <a:r>
              <a:rPr lang="en-ID" sz="2800" b="1" i="0" dirty="0">
                <a:solidFill>
                  <a:srgbClr val="424242"/>
                </a:solidFill>
                <a:effectLst/>
                <a:latin typeface="Courier New" panose="02070309020205020404" pitchFamily="49" charset="0"/>
              </a:rPr>
              <a:t>1  if n ≤ 1: return n</a:t>
            </a:r>
          </a:p>
          <a:p>
            <a:pPr algn="l">
              <a:buNone/>
            </a:pPr>
            <a:r>
              <a:rPr lang="en-ID" sz="2800" b="1" i="0" dirty="0">
                <a:solidFill>
                  <a:srgbClr val="424242"/>
                </a:solidFill>
                <a:effectLst/>
                <a:latin typeface="Courier New" panose="02070309020205020404" pitchFamily="49" charset="0"/>
              </a:rPr>
              <a:t>2  </a:t>
            </a:r>
            <a:r>
              <a:rPr lang="en-ID" sz="2800" b="1" i="0" dirty="0" err="1">
                <a:solidFill>
                  <a:srgbClr val="424242"/>
                </a:solidFill>
                <a:effectLst/>
                <a:latin typeface="Courier New" panose="02070309020205020404" pitchFamily="49" charset="0"/>
              </a:rPr>
              <a:t>prev</a:t>
            </a:r>
            <a:r>
              <a:rPr lang="en-ID" sz="2800" b="1" i="0" dirty="0">
                <a:solidFill>
                  <a:srgbClr val="424242"/>
                </a:solidFill>
                <a:effectLst/>
                <a:latin typeface="Courier New" panose="02070309020205020404" pitchFamily="49" charset="0"/>
              </a:rPr>
              <a:t> = 0, </a:t>
            </a:r>
            <a:r>
              <a:rPr lang="en-ID" sz="2800" b="1" i="0" dirty="0" err="1">
                <a:solidFill>
                  <a:srgbClr val="424242"/>
                </a:solidFill>
                <a:effectLst/>
                <a:latin typeface="Courier New" panose="02070309020205020404" pitchFamily="49" charset="0"/>
              </a:rPr>
              <a:t>curr</a:t>
            </a:r>
            <a:r>
              <a:rPr lang="en-ID" sz="2800" b="1" i="0" dirty="0">
                <a:solidFill>
                  <a:srgbClr val="424242"/>
                </a:solidFill>
                <a:effectLst/>
                <a:latin typeface="Courier New" panose="02070309020205020404" pitchFamily="49" charset="0"/>
              </a:rPr>
              <a:t> = 1</a:t>
            </a:r>
          </a:p>
          <a:p>
            <a:pPr algn="l">
              <a:buNone/>
            </a:pPr>
            <a:r>
              <a:rPr lang="en-ID" sz="2800" b="1" i="0" dirty="0">
                <a:solidFill>
                  <a:srgbClr val="424242"/>
                </a:solidFill>
                <a:effectLst/>
                <a:latin typeface="Courier New" panose="02070309020205020404" pitchFamily="49" charset="0"/>
              </a:rPr>
              <a:t>3  for </a:t>
            </a:r>
            <a:r>
              <a:rPr lang="en-ID" sz="2800" b="1" i="0" dirty="0" err="1">
                <a:solidFill>
                  <a:srgbClr val="424242"/>
                </a:solidFill>
                <a:effectLst/>
                <a:latin typeface="Courier New" panose="02070309020205020404" pitchFamily="49" charset="0"/>
              </a:rPr>
              <a:t>i</a:t>
            </a:r>
            <a:r>
              <a:rPr lang="en-ID" sz="2800" b="1" i="0" dirty="0">
                <a:solidFill>
                  <a:srgbClr val="424242"/>
                </a:solidFill>
                <a:effectLst/>
                <a:latin typeface="Courier New" panose="02070309020205020404" pitchFamily="49" charset="0"/>
              </a:rPr>
              <a:t> = 2 to n</a:t>
            </a:r>
          </a:p>
          <a:p>
            <a:pPr algn="l">
              <a:buNone/>
            </a:pPr>
            <a:r>
              <a:rPr lang="en-ID" sz="2800" b="1" i="0" dirty="0">
                <a:solidFill>
                  <a:srgbClr val="424242"/>
                </a:solidFill>
                <a:effectLst/>
                <a:latin typeface="Courier New" panose="02070309020205020404" pitchFamily="49" charset="0"/>
              </a:rPr>
              <a:t>4      next = </a:t>
            </a:r>
            <a:r>
              <a:rPr lang="en-ID" sz="2800" b="1" i="0" dirty="0" err="1">
                <a:solidFill>
                  <a:srgbClr val="424242"/>
                </a:solidFill>
                <a:effectLst/>
                <a:latin typeface="Courier New" panose="02070309020205020404" pitchFamily="49" charset="0"/>
              </a:rPr>
              <a:t>prev</a:t>
            </a:r>
            <a:r>
              <a:rPr lang="en-ID" sz="2800" b="1" i="0" dirty="0">
                <a:solidFill>
                  <a:srgbClr val="424242"/>
                </a:solidFill>
                <a:effectLst/>
                <a:latin typeface="Courier New" panose="02070309020205020404" pitchFamily="49" charset="0"/>
              </a:rPr>
              <a:t> + </a:t>
            </a:r>
            <a:r>
              <a:rPr lang="en-ID" sz="2800" b="1" i="0" dirty="0" err="1">
                <a:solidFill>
                  <a:srgbClr val="424242"/>
                </a:solidFill>
                <a:effectLst/>
                <a:latin typeface="Courier New" panose="02070309020205020404" pitchFamily="49" charset="0"/>
              </a:rPr>
              <a:t>curr</a:t>
            </a:r>
            <a:endParaRPr lang="en-ID" sz="2800" b="1" i="0" dirty="0">
              <a:solidFill>
                <a:srgbClr val="424242"/>
              </a:solidFill>
              <a:effectLst/>
              <a:latin typeface="Courier New" panose="02070309020205020404" pitchFamily="49" charset="0"/>
            </a:endParaRPr>
          </a:p>
          <a:p>
            <a:pPr algn="l">
              <a:buNone/>
            </a:pPr>
            <a:r>
              <a:rPr lang="en-ID" sz="2800" b="1" i="0" dirty="0">
                <a:solidFill>
                  <a:srgbClr val="424242"/>
                </a:solidFill>
                <a:effectLst/>
                <a:latin typeface="Courier New" panose="02070309020205020404" pitchFamily="49" charset="0"/>
              </a:rPr>
              <a:t>5      </a:t>
            </a:r>
            <a:r>
              <a:rPr lang="en-ID" sz="2800" b="1" i="0" dirty="0" err="1">
                <a:solidFill>
                  <a:srgbClr val="424242"/>
                </a:solidFill>
                <a:effectLst/>
                <a:latin typeface="Courier New" panose="02070309020205020404" pitchFamily="49" charset="0"/>
              </a:rPr>
              <a:t>prev</a:t>
            </a:r>
            <a:r>
              <a:rPr lang="en-ID" sz="2800" b="1" i="0" dirty="0">
                <a:solidFill>
                  <a:srgbClr val="424242"/>
                </a:solidFill>
                <a:effectLst/>
                <a:latin typeface="Courier New" panose="02070309020205020404" pitchFamily="49" charset="0"/>
              </a:rPr>
              <a:t> = </a:t>
            </a:r>
            <a:r>
              <a:rPr lang="en-ID" sz="2800" b="1" i="0" dirty="0" err="1">
                <a:solidFill>
                  <a:srgbClr val="424242"/>
                </a:solidFill>
                <a:effectLst/>
                <a:latin typeface="Courier New" panose="02070309020205020404" pitchFamily="49" charset="0"/>
              </a:rPr>
              <a:t>curr</a:t>
            </a:r>
            <a:endParaRPr lang="en-ID" sz="2800" b="1" i="0" dirty="0">
              <a:solidFill>
                <a:srgbClr val="424242"/>
              </a:solidFill>
              <a:effectLst/>
              <a:latin typeface="Courier New" panose="02070309020205020404" pitchFamily="49" charset="0"/>
            </a:endParaRPr>
          </a:p>
          <a:p>
            <a:pPr algn="l">
              <a:buNone/>
            </a:pPr>
            <a:r>
              <a:rPr lang="en-ID" sz="2800" b="1" i="0" dirty="0">
                <a:solidFill>
                  <a:srgbClr val="424242"/>
                </a:solidFill>
                <a:effectLst/>
                <a:latin typeface="Courier New" panose="02070309020205020404" pitchFamily="49" charset="0"/>
              </a:rPr>
              <a:t>6      </a:t>
            </a:r>
            <a:r>
              <a:rPr lang="en-ID" sz="2800" b="1" i="0" dirty="0" err="1">
                <a:solidFill>
                  <a:srgbClr val="424242"/>
                </a:solidFill>
                <a:effectLst/>
                <a:latin typeface="Courier New" panose="02070309020205020404" pitchFamily="49" charset="0"/>
              </a:rPr>
              <a:t>curr</a:t>
            </a:r>
            <a:r>
              <a:rPr lang="en-ID" sz="2800" b="1" i="0" dirty="0">
                <a:solidFill>
                  <a:srgbClr val="424242"/>
                </a:solidFill>
                <a:effectLst/>
                <a:latin typeface="Courier New" panose="02070309020205020404" pitchFamily="49" charset="0"/>
              </a:rPr>
              <a:t> = next</a:t>
            </a:r>
          </a:p>
          <a:p>
            <a:pPr algn="l">
              <a:buNone/>
            </a:pPr>
            <a:r>
              <a:rPr lang="en-ID" sz="2800" b="1" i="0" dirty="0">
                <a:solidFill>
                  <a:srgbClr val="424242"/>
                </a:solidFill>
                <a:effectLst/>
                <a:latin typeface="Courier New" panose="02070309020205020404" pitchFamily="49" charset="0"/>
              </a:rPr>
              <a:t>7  return </a:t>
            </a:r>
            <a:r>
              <a:rPr lang="en-ID" sz="2800" b="1" i="0" dirty="0" err="1">
                <a:solidFill>
                  <a:srgbClr val="424242"/>
                </a:solidFill>
                <a:effectLst/>
                <a:latin typeface="Courier New" panose="02070309020205020404" pitchFamily="49" charset="0"/>
              </a:rPr>
              <a:t>curr</a:t>
            </a:r>
            <a:endParaRPr lang="en-ID" sz="2800" b="1" i="0" dirty="0">
              <a:solidFill>
                <a:srgbClr val="424242"/>
              </a:solidFill>
              <a:effectLst/>
              <a:latin typeface="Courier New" panose="02070309020205020404" pitchFamily="49" charset="0"/>
            </a:endParaRPr>
          </a:p>
        </p:txBody>
      </p:sp>
    </p:spTree>
    <p:extLst>
      <p:ext uri="{BB962C8B-B14F-4D97-AF65-F5344CB8AC3E}">
        <p14:creationId xmlns:p14="http://schemas.microsoft.com/office/powerpoint/2010/main" val="2627290156"/>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E547C-640E-AEE7-1C8A-7D11D9576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A0440-EACE-33DB-76BF-2A3D147BCA7A}"/>
              </a:ext>
            </a:extLst>
          </p:cNvPr>
          <p:cNvSpPr>
            <a:spLocks noGrp="1"/>
          </p:cNvSpPr>
          <p:nvPr>
            <p:ph type="title"/>
          </p:nvPr>
        </p:nvSpPr>
        <p:spPr/>
        <p:txBody>
          <a:bodyPr>
            <a:normAutofit fontScale="90000"/>
          </a:bodyPr>
          <a:lstStyle/>
          <a:p>
            <a:r>
              <a:rPr lang="en-ID" dirty="0"/>
              <a:t>Practical Math Warm-up</a:t>
            </a:r>
          </a:p>
        </p:txBody>
      </p:sp>
      <p:sp>
        <p:nvSpPr>
          <p:cNvPr id="3" name="Text Placeholder 2">
            <a:extLst>
              <a:ext uri="{FF2B5EF4-FFF2-40B4-BE49-F238E27FC236}">
                <a16:creationId xmlns:a16="http://schemas.microsoft.com/office/drawing/2014/main" id="{E2DBA14B-F34D-7EF1-0096-BE668C9FD032}"/>
              </a:ext>
            </a:extLst>
          </p:cNvPr>
          <p:cNvSpPr>
            <a:spLocks noGrp="1"/>
          </p:cNvSpPr>
          <p:nvPr>
            <p:ph type="body" sz="quarter" idx="10"/>
          </p:nvPr>
        </p:nvSpPr>
        <p:spPr>
          <a:xfrm>
            <a:off x="2167376" y="2419728"/>
            <a:ext cx="11548623" cy="803546"/>
          </a:xfrm>
        </p:spPr>
        <p:txBody>
          <a:bodyPr>
            <a:noAutofit/>
          </a:bodyPr>
          <a:lstStyle/>
          <a:p>
            <a:r>
              <a:rPr lang="en-ID" dirty="0"/>
              <a:t>Primality Testing</a:t>
            </a:r>
          </a:p>
        </p:txBody>
      </p:sp>
      <p:sp>
        <p:nvSpPr>
          <p:cNvPr id="4" name="Content Placeholder 3">
            <a:extLst>
              <a:ext uri="{FF2B5EF4-FFF2-40B4-BE49-F238E27FC236}">
                <a16:creationId xmlns:a16="http://schemas.microsoft.com/office/drawing/2014/main" id="{AB538103-ABC0-387A-FA58-594C4FC95B4B}"/>
              </a:ext>
            </a:extLst>
          </p:cNvPr>
          <p:cNvSpPr>
            <a:spLocks noGrp="1"/>
          </p:cNvSpPr>
          <p:nvPr>
            <p:ph sz="quarter" idx="11"/>
          </p:nvPr>
        </p:nvSpPr>
        <p:spPr>
          <a:xfrm>
            <a:off x="2167377" y="3714224"/>
            <a:ext cx="19032265" cy="9138176"/>
          </a:xfrm>
        </p:spPr>
        <p:txBody>
          <a:bodyPr>
            <a:normAutofit/>
          </a:bodyPr>
          <a:lstStyle/>
          <a:p>
            <a:pPr marL="0" indent="0" algn="just">
              <a:buNone/>
            </a:pPr>
            <a:r>
              <a:rPr lang="en-ID" b="1" dirty="0"/>
              <a:t>Definitions:</a:t>
            </a:r>
            <a:endParaRPr lang="en-ID" dirty="0"/>
          </a:p>
          <a:p>
            <a:pPr algn="just">
              <a:spcBef>
                <a:spcPts val="2400"/>
              </a:spcBef>
            </a:pPr>
            <a:r>
              <a:rPr lang="en-ID" dirty="0"/>
              <a:t>A </a:t>
            </a:r>
            <a:r>
              <a:rPr lang="en-ID" b="1" dirty="0"/>
              <a:t>prime</a:t>
            </a:r>
            <a:r>
              <a:rPr lang="en-ID" dirty="0"/>
              <a:t> </a:t>
            </a:r>
            <a:r>
              <a:rPr lang="en-ID" i="1" dirty="0"/>
              <a:t>p</a:t>
            </a:r>
            <a:r>
              <a:rPr lang="en-ID" dirty="0"/>
              <a:t> &gt; 1 has exactly two divisors: 1 and </a:t>
            </a:r>
            <a:r>
              <a:rPr lang="en-ID" i="1" dirty="0"/>
              <a:t>p</a:t>
            </a:r>
            <a:r>
              <a:rPr lang="en-ID" dirty="0"/>
              <a:t>.</a:t>
            </a:r>
          </a:p>
          <a:p>
            <a:pPr algn="just">
              <a:spcBef>
                <a:spcPts val="2400"/>
              </a:spcBef>
            </a:pPr>
            <a:r>
              <a:rPr lang="en-ID" dirty="0"/>
              <a:t>A </a:t>
            </a:r>
            <a:r>
              <a:rPr lang="en-ID" b="1" dirty="0"/>
              <a:t>composite</a:t>
            </a:r>
            <a:r>
              <a:rPr lang="en-ID" dirty="0"/>
              <a:t> </a:t>
            </a:r>
            <a:r>
              <a:rPr lang="en-ID" i="1" dirty="0"/>
              <a:t>n</a:t>
            </a:r>
            <a:r>
              <a:rPr lang="en-ID" dirty="0"/>
              <a:t> &gt; 1 has a factor </a:t>
            </a:r>
            <a:r>
              <a:rPr lang="en-ID" i="1" dirty="0"/>
              <a:t>d</a:t>
            </a:r>
            <a:r>
              <a:rPr lang="en-ID" dirty="0"/>
              <a:t> with 1 &lt; </a:t>
            </a:r>
            <a:r>
              <a:rPr lang="en-ID" i="1" dirty="0"/>
              <a:t>d</a:t>
            </a:r>
            <a:r>
              <a:rPr lang="en-ID" dirty="0"/>
              <a:t> &lt; </a:t>
            </a:r>
            <a:r>
              <a:rPr lang="en-ID" i="1" dirty="0"/>
              <a:t>n</a:t>
            </a:r>
            <a:r>
              <a:rPr lang="en-ID" dirty="0"/>
              <a:t>.</a:t>
            </a:r>
          </a:p>
          <a:p>
            <a:pPr marL="0" indent="0" algn="just">
              <a:buNone/>
            </a:pPr>
            <a:r>
              <a:rPr lang="en-ID" b="1" dirty="0"/>
              <a:t>Trial division — naïve:</a:t>
            </a:r>
          </a:p>
          <a:p>
            <a:pPr marL="0" indent="0" algn="just">
              <a:buNone/>
            </a:pPr>
            <a:endParaRPr lang="en-ID" b="1" dirty="0"/>
          </a:p>
          <a:p>
            <a:pPr marL="0" indent="0" algn="just">
              <a:buNone/>
            </a:pPr>
            <a:endParaRPr lang="en-ID" b="1" dirty="0"/>
          </a:p>
          <a:p>
            <a:pPr marL="0" indent="0" algn="just">
              <a:buNone/>
            </a:pPr>
            <a:r>
              <a:rPr lang="en-ID" dirty="0"/>
              <a:t>Complexity: O(n).</a:t>
            </a:r>
          </a:p>
        </p:txBody>
      </p:sp>
      <p:sp>
        <p:nvSpPr>
          <p:cNvPr id="6" name="TextBox 5">
            <a:extLst>
              <a:ext uri="{FF2B5EF4-FFF2-40B4-BE49-F238E27FC236}">
                <a16:creationId xmlns:a16="http://schemas.microsoft.com/office/drawing/2014/main" id="{2E047C24-4C26-84E7-1BA6-192B0575A22A}"/>
              </a:ext>
            </a:extLst>
          </p:cNvPr>
          <p:cNvSpPr txBox="1"/>
          <p:nvPr/>
        </p:nvSpPr>
        <p:spPr>
          <a:xfrm>
            <a:off x="2167377" y="7929284"/>
            <a:ext cx="8213004" cy="1826141"/>
          </a:xfrm>
          <a:prstGeom prst="rect">
            <a:avLst/>
          </a:prstGeom>
          <a:solidFill>
            <a:srgbClr val="FFF7D6"/>
          </a:solidFill>
          <a:ln w="12700" cap="flat">
            <a:solidFill>
              <a:srgbClr val="21212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buNone/>
            </a:pPr>
            <a:r>
              <a:rPr lang="en-US" sz="2800" b="1" i="0" dirty="0">
                <a:solidFill>
                  <a:srgbClr val="424242"/>
                </a:solidFill>
                <a:effectLst/>
                <a:latin typeface="Courier New" panose="02070309020205020404" pitchFamily="49" charset="0"/>
              </a:rPr>
              <a:t>IS-PRIME-NAIVE(n)</a:t>
            </a:r>
          </a:p>
          <a:p>
            <a:pPr algn="l">
              <a:buNone/>
            </a:pPr>
            <a:r>
              <a:rPr lang="en-US" sz="2800" b="1" i="0" dirty="0">
                <a:solidFill>
                  <a:srgbClr val="424242"/>
                </a:solidFill>
                <a:effectLst/>
                <a:latin typeface="Courier New" panose="02070309020205020404" pitchFamily="49" charset="0"/>
              </a:rPr>
              <a:t>1  for d = 2 to n−1</a:t>
            </a:r>
          </a:p>
          <a:p>
            <a:pPr algn="l">
              <a:buNone/>
            </a:pPr>
            <a:r>
              <a:rPr lang="en-US" sz="2800" b="1" i="0" dirty="0">
                <a:solidFill>
                  <a:srgbClr val="424242"/>
                </a:solidFill>
                <a:effectLst/>
                <a:latin typeface="Courier New" panose="02070309020205020404" pitchFamily="49" charset="0"/>
              </a:rPr>
              <a:t>2      if n mod d == 0: return false</a:t>
            </a:r>
          </a:p>
          <a:p>
            <a:pPr algn="l">
              <a:buNone/>
            </a:pPr>
            <a:r>
              <a:rPr lang="en-US" sz="2800" b="1" i="0" dirty="0">
                <a:solidFill>
                  <a:srgbClr val="424242"/>
                </a:solidFill>
                <a:effectLst/>
                <a:latin typeface="Courier New" panose="02070309020205020404" pitchFamily="49" charset="0"/>
              </a:rPr>
              <a:t>3  return true</a:t>
            </a:r>
            <a:endParaRPr lang="en-ID" sz="2800" b="1" i="0" dirty="0">
              <a:solidFill>
                <a:srgbClr val="424242"/>
              </a:solidFill>
              <a:effectLst/>
              <a:latin typeface="Courier New" panose="02070309020205020404" pitchFamily="49" charset="0"/>
            </a:endParaRPr>
          </a:p>
        </p:txBody>
      </p:sp>
    </p:spTree>
    <p:extLst>
      <p:ext uri="{BB962C8B-B14F-4D97-AF65-F5344CB8AC3E}">
        <p14:creationId xmlns:p14="http://schemas.microsoft.com/office/powerpoint/2010/main" val="1485415045"/>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BBB80-C792-840B-B81C-361325EDD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71A24-182C-26C6-BD5F-AB872FD25407}"/>
              </a:ext>
            </a:extLst>
          </p:cNvPr>
          <p:cNvSpPr>
            <a:spLocks noGrp="1"/>
          </p:cNvSpPr>
          <p:nvPr>
            <p:ph type="title"/>
          </p:nvPr>
        </p:nvSpPr>
        <p:spPr/>
        <p:txBody>
          <a:bodyPr>
            <a:normAutofit fontScale="90000"/>
          </a:bodyPr>
          <a:lstStyle/>
          <a:p>
            <a:r>
              <a:rPr lang="en-ID" dirty="0"/>
              <a:t>Practical Math Warm-up</a:t>
            </a:r>
          </a:p>
        </p:txBody>
      </p:sp>
      <p:sp>
        <p:nvSpPr>
          <p:cNvPr id="3" name="Text Placeholder 2">
            <a:extLst>
              <a:ext uri="{FF2B5EF4-FFF2-40B4-BE49-F238E27FC236}">
                <a16:creationId xmlns:a16="http://schemas.microsoft.com/office/drawing/2014/main" id="{A4757B23-16CD-5F62-6339-9D1ACBD599CF}"/>
              </a:ext>
            </a:extLst>
          </p:cNvPr>
          <p:cNvSpPr>
            <a:spLocks noGrp="1"/>
          </p:cNvSpPr>
          <p:nvPr>
            <p:ph type="body" sz="quarter" idx="10"/>
          </p:nvPr>
        </p:nvSpPr>
        <p:spPr>
          <a:xfrm>
            <a:off x="2167376" y="2419728"/>
            <a:ext cx="11548623" cy="803546"/>
          </a:xfrm>
        </p:spPr>
        <p:txBody>
          <a:bodyPr>
            <a:noAutofit/>
          </a:bodyPr>
          <a:lstStyle/>
          <a:p>
            <a:r>
              <a:rPr lang="en-ID" dirty="0"/>
              <a:t>Primality Testing</a:t>
            </a:r>
          </a:p>
        </p:txBody>
      </p:sp>
      <p:sp>
        <p:nvSpPr>
          <p:cNvPr id="4" name="Content Placeholder 3">
            <a:extLst>
              <a:ext uri="{FF2B5EF4-FFF2-40B4-BE49-F238E27FC236}">
                <a16:creationId xmlns:a16="http://schemas.microsoft.com/office/drawing/2014/main" id="{6A1A7F51-46CD-7387-7143-F3D34F5D47E6}"/>
              </a:ext>
            </a:extLst>
          </p:cNvPr>
          <p:cNvSpPr>
            <a:spLocks noGrp="1"/>
          </p:cNvSpPr>
          <p:nvPr>
            <p:ph sz="quarter" idx="11"/>
          </p:nvPr>
        </p:nvSpPr>
        <p:spPr>
          <a:xfrm>
            <a:off x="2167377" y="3714224"/>
            <a:ext cx="19032265" cy="9138176"/>
          </a:xfrm>
        </p:spPr>
        <p:txBody>
          <a:bodyPr>
            <a:normAutofit fontScale="92500" lnSpcReduction="20000"/>
          </a:bodyPr>
          <a:lstStyle/>
          <a:p>
            <a:pPr marL="0" indent="0" algn="just">
              <a:buNone/>
            </a:pPr>
            <a:r>
              <a:rPr lang="en-ID" b="1" dirty="0"/>
              <a:t>Improved — trial division up to √n:</a:t>
            </a:r>
            <a:endParaRPr lang="en-ID" dirty="0"/>
          </a:p>
          <a:p>
            <a:pPr marL="0" indent="0" algn="just">
              <a:buNone/>
            </a:pPr>
            <a:r>
              <a:rPr lang="en-ID" b="1" dirty="0"/>
              <a:t>Key insight:</a:t>
            </a:r>
            <a:r>
              <a:rPr lang="en-ID" dirty="0"/>
              <a:t> if </a:t>
            </a:r>
            <a:r>
              <a:rPr lang="en-ID" i="1" dirty="0"/>
              <a:t>n</a:t>
            </a:r>
            <a:r>
              <a:rPr lang="en-ID" dirty="0"/>
              <a:t> has a divisor </a:t>
            </a:r>
            <a:r>
              <a:rPr lang="en-ID" i="1" dirty="0"/>
              <a:t>d</a:t>
            </a:r>
            <a:r>
              <a:rPr lang="en-ID" dirty="0"/>
              <a:t> &gt; √n, then </a:t>
            </a:r>
            <a:r>
              <a:rPr lang="en-ID" i="1" dirty="0"/>
              <a:t>n/d</a:t>
            </a:r>
            <a:r>
              <a:rPr lang="en-ID" dirty="0"/>
              <a:t> &lt; √n is also a divisor (and has already been tested).</a:t>
            </a:r>
          </a:p>
          <a:p>
            <a:pPr marL="0" indent="0" algn="just">
              <a:buNone/>
            </a:pPr>
            <a:endParaRPr lang="en-ID" dirty="0"/>
          </a:p>
          <a:p>
            <a:pPr marL="0" indent="0" algn="just">
              <a:buNone/>
            </a:pPr>
            <a:endParaRPr lang="en-ID" dirty="0"/>
          </a:p>
          <a:p>
            <a:pPr marL="0" indent="0" algn="just">
              <a:buNone/>
            </a:pPr>
            <a:endParaRPr lang="en-ID" dirty="0"/>
          </a:p>
          <a:p>
            <a:pPr marL="0" indent="0" algn="just">
              <a:buNone/>
            </a:pPr>
            <a:endParaRPr lang="en-ID" dirty="0"/>
          </a:p>
          <a:p>
            <a:pPr marL="0" indent="0">
              <a:buNone/>
            </a:pPr>
            <a:r>
              <a:rPr lang="en-ID" dirty="0"/>
              <a:t>Complexity: </a:t>
            </a:r>
            <a:r>
              <a:rPr lang="en-ID" b="1" dirty="0"/>
              <a:t>O(√n)</a:t>
            </a:r>
            <a:r>
              <a:rPr lang="en-ID" dirty="0"/>
              <a:t>.</a:t>
            </a:r>
          </a:p>
          <a:p>
            <a:pPr marL="0" indent="0">
              <a:spcBef>
                <a:spcPts val="2400"/>
              </a:spcBef>
              <a:buNone/>
            </a:pPr>
            <a:r>
              <a:rPr lang="en-ID" dirty="0"/>
              <a:t>Primality testing has applications in cryptography (RSA key generation requires large primes). Efficient probabilistic tests (Miller–Rabin) exist for very large primes.</a:t>
            </a:r>
          </a:p>
          <a:p>
            <a:pPr marL="0" indent="0">
              <a:buNone/>
            </a:pPr>
            <a:endParaRPr lang="en-ID" dirty="0"/>
          </a:p>
        </p:txBody>
      </p:sp>
      <p:sp>
        <p:nvSpPr>
          <p:cNvPr id="6" name="TextBox 5">
            <a:extLst>
              <a:ext uri="{FF2B5EF4-FFF2-40B4-BE49-F238E27FC236}">
                <a16:creationId xmlns:a16="http://schemas.microsoft.com/office/drawing/2014/main" id="{A3B3A696-ADCC-4ECA-87A6-CA25B1BE61F0}"/>
              </a:ext>
            </a:extLst>
          </p:cNvPr>
          <p:cNvSpPr txBox="1"/>
          <p:nvPr/>
        </p:nvSpPr>
        <p:spPr>
          <a:xfrm>
            <a:off x="2167377" y="5872968"/>
            <a:ext cx="8213004" cy="3703578"/>
          </a:xfrm>
          <a:prstGeom prst="rect">
            <a:avLst/>
          </a:prstGeom>
          <a:solidFill>
            <a:srgbClr val="FFF7D6"/>
          </a:solidFill>
          <a:ln w="12700" cap="flat">
            <a:solidFill>
              <a:srgbClr val="21212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buNone/>
            </a:pPr>
            <a:r>
              <a:rPr lang="en-US" sz="2600" b="1" i="0" dirty="0">
                <a:solidFill>
                  <a:srgbClr val="424242"/>
                </a:solidFill>
                <a:effectLst/>
                <a:latin typeface="Courier New" panose="02070309020205020404" pitchFamily="49" charset="0"/>
              </a:rPr>
              <a:t>IS-PRIME(n)</a:t>
            </a:r>
          </a:p>
          <a:p>
            <a:pPr algn="l">
              <a:buNone/>
            </a:pPr>
            <a:r>
              <a:rPr lang="en-US" sz="2600" b="1" i="0" dirty="0">
                <a:solidFill>
                  <a:srgbClr val="424242"/>
                </a:solidFill>
                <a:effectLst/>
                <a:latin typeface="Courier New" panose="02070309020205020404" pitchFamily="49" charset="0"/>
              </a:rPr>
              <a:t>1  if n &lt; 2: return false</a:t>
            </a:r>
          </a:p>
          <a:p>
            <a:pPr algn="l">
              <a:buNone/>
            </a:pPr>
            <a:r>
              <a:rPr lang="en-US" sz="2600" b="1" i="0" dirty="0">
                <a:solidFill>
                  <a:srgbClr val="424242"/>
                </a:solidFill>
                <a:effectLst/>
                <a:latin typeface="Courier New" panose="02070309020205020404" pitchFamily="49" charset="0"/>
              </a:rPr>
              <a:t>2  if n == 2: return true</a:t>
            </a:r>
          </a:p>
          <a:p>
            <a:pPr algn="l">
              <a:buNone/>
            </a:pPr>
            <a:r>
              <a:rPr lang="en-US" sz="2600" b="1" i="0" dirty="0">
                <a:solidFill>
                  <a:srgbClr val="424242"/>
                </a:solidFill>
                <a:effectLst/>
                <a:latin typeface="Courier New" panose="02070309020205020404" pitchFamily="49" charset="0"/>
              </a:rPr>
              <a:t>3  if n mod 2 == 0: return false</a:t>
            </a:r>
          </a:p>
          <a:p>
            <a:pPr algn="l">
              <a:buNone/>
            </a:pPr>
            <a:r>
              <a:rPr lang="en-US" sz="2600" b="1" i="0" dirty="0">
                <a:solidFill>
                  <a:srgbClr val="424242"/>
                </a:solidFill>
                <a:effectLst/>
                <a:latin typeface="Courier New" panose="02070309020205020404" pitchFamily="49" charset="0"/>
              </a:rPr>
              <a:t>4  d = 3</a:t>
            </a:r>
          </a:p>
          <a:p>
            <a:pPr algn="l">
              <a:buNone/>
            </a:pPr>
            <a:r>
              <a:rPr lang="en-US" sz="2600" b="1" i="0" dirty="0">
                <a:solidFill>
                  <a:srgbClr val="424242"/>
                </a:solidFill>
                <a:effectLst/>
                <a:latin typeface="Courier New" panose="02070309020205020404" pitchFamily="49" charset="0"/>
              </a:rPr>
              <a:t>5  while d × d ≤ n</a:t>
            </a:r>
          </a:p>
          <a:p>
            <a:pPr algn="l">
              <a:buNone/>
            </a:pPr>
            <a:r>
              <a:rPr lang="en-US" sz="2600" b="1" i="0" dirty="0">
                <a:solidFill>
                  <a:srgbClr val="424242"/>
                </a:solidFill>
                <a:effectLst/>
                <a:latin typeface="Courier New" panose="02070309020205020404" pitchFamily="49" charset="0"/>
              </a:rPr>
              <a:t>6      if n mod d == 0: return false</a:t>
            </a:r>
          </a:p>
          <a:p>
            <a:pPr algn="l">
              <a:buNone/>
            </a:pPr>
            <a:r>
              <a:rPr lang="en-US" sz="2600" b="1" i="0" dirty="0">
                <a:solidFill>
                  <a:srgbClr val="424242"/>
                </a:solidFill>
                <a:effectLst/>
                <a:latin typeface="Courier New" panose="02070309020205020404" pitchFamily="49" charset="0"/>
              </a:rPr>
              <a:t>7      d = d + 2</a:t>
            </a:r>
          </a:p>
          <a:p>
            <a:pPr algn="l">
              <a:buNone/>
            </a:pPr>
            <a:r>
              <a:rPr lang="en-US" sz="2600" b="1" i="0" dirty="0">
                <a:solidFill>
                  <a:srgbClr val="424242"/>
                </a:solidFill>
                <a:effectLst/>
                <a:latin typeface="Courier New" panose="02070309020205020404" pitchFamily="49" charset="0"/>
              </a:rPr>
              <a:t>8  return true</a:t>
            </a:r>
          </a:p>
        </p:txBody>
      </p:sp>
    </p:spTree>
    <p:extLst>
      <p:ext uri="{BB962C8B-B14F-4D97-AF65-F5344CB8AC3E}">
        <p14:creationId xmlns:p14="http://schemas.microsoft.com/office/powerpoint/2010/main" val="113009750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7468E-6074-2BC3-63DB-C81B264FF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D37C2-5AE7-11DB-36F5-DC08C00EA551}"/>
              </a:ext>
            </a:extLst>
          </p:cNvPr>
          <p:cNvSpPr>
            <a:spLocks noGrp="1"/>
          </p:cNvSpPr>
          <p:nvPr>
            <p:ph type="title"/>
          </p:nvPr>
        </p:nvSpPr>
        <p:spPr/>
        <p:txBody>
          <a:bodyPr>
            <a:normAutofit fontScale="90000"/>
          </a:bodyPr>
          <a:lstStyle/>
          <a:p>
            <a:r>
              <a:rPr lang="en-ID" dirty="0"/>
              <a:t>Practical Math Warm-up</a:t>
            </a:r>
          </a:p>
        </p:txBody>
      </p:sp>
      <p:sp>
        <p:nvSpPr>
          <p:cNvPr id="3" name="Text Placeholder 2">
            <a:extLst>
              <a:ext uri="{FF2B5EF4-FFF2-40B4-BE49-F238E27FC236}">
                <a16:creationId xmlns:a16="http://schemas.microsoft.com/office/drawing/2014/main" id="{1564856B-3FAA-6BE6-F155-788E0BFA449D}"/>
              </a:ext>
            </a:extLst>
          </p:cNvPr>
          <p:cNvSpPr>
            <a:spLocks noGrp="1"/>
          </p:cNvSpPr>
          <p:nvPr>
            <p:ph type="body" sz="quarter" idx="10"/>
          </p:nvPr>
        </p:nvSpPr>
        <p:spPr>
          <a:xfrm>
            <a:off x="2167376" y="2419728"/>
            <a:ext cx="11548623" cy="803546"/>
          </a:xfrm>
        </p:spPr>
        <p:txBody>
          <a:bodyPr>
            <a:noAutofit/>
          </a:bodyPr>
          <a:lstStyle/>
          <a:p>
            <a:r>
              <a:rPr lang="en-ID" dirty="0"/>
              <a:t>Sieve of Eratosthenes</a:t>
            </a:r>
          </a:p>
        </p:txBody>
      </p:sp>
      <p:sp>
        <p:nvSpPr>
          <p:cNvPr id="4" name="Content Placeholder 3">
            <a:extLst>
              <a:ext uri="{FF2B5EF4-FFF2-40B4-BE49-F238E27FC236}">
                <a16:creationId xmlns:a16="http://schemas.microsoft.com/office/drawing/2014/main" id="{6D70E546-7587-30F6-6C8E-F01E891B7845}"/>
              </a:ext>
            </a:extLst>
          </p:cNvPr>
          <p:cNvSpPr>
            <a:spLocks noGrp="1"/>
          </p:cNvSpPr>
          <p:nvPr>
            <p:ph sz="quarter" idx="11"/>
          </p:nvPr>
        </p:nvSpPr>
        <p:spPr>
          <a:xfrm>
            <a:off x="2167377" y="3714224"/>
            <a:ext cx="20049246" cy="9138176"/>
          </a:xfrm>
        </p:spPr>
        <p:txBody>
          <a:bodyPr>
            <a:normAutofit/>
          </a:bodyPr>
          <a:lstStyle/>
          <a:p>
            <a:pPr marL="0" indent="0">
              <a:buNone/>
            </a:pPr>
            <a:r>
              <a:rPr lang="en-ID" b="1" dirty="0"/>
              <a:t>Goal:</a:t>
            </a:r>
            <a:r>
              <a:rPr lang="en-ID" dirty="0"/>
              <a:t> Find all primes up to </a:t>
            </a:r>
            <a:r>
              <a:rPr lang="en-ID" i="1" dirty="0"/>
              <a:t>n</a:t>
            </a:r>
            <a:r>
              <a:rPr lang="en-ID" dirty="0"/>
              <a:t>.</a:t>
            </a:r>
          </a:p>
          <a:p>
            <a:pPr marL="0" indent="0">
              <a:buNone/>
            </a:pPr>
            <a:r>
              <a:rPr lang="en-ID" b="1" dirty="0"/>
              <a:t>Algorithm:</a:t>
            </a:r>
          </a:p>
          <a:p>
            <a:pPr marL="0" indent="0">
              <a:buNone/>
            </a:pPr>
            <a:endParaRPr lang="en-ID" b="1" dirty="0"/>
          </a:p>
          <a:p>
            <a:pPr marL="0" indent="0">
              <a:buNone/>
            </a:pPr>
            <a:endParaRPr lang="en-ID" b="1" dirty="0"/>
          </a:p>
          <a:p>
            <a:pPr marL="0" indent="0">
              <a:buNone/>
            </a:pPr>
            <a:endParaRPr lang="en-ID" b="1" dirty="0"/>
          </a:p>
          <a:p>
            <a:pPr marL="0" indent="0">
              <a:buNone/>
            </a:pPr>
            <a:endParaRPr lang="en-ID" b="1" dirty="0"/>
          </a:p>
          <a:p>
            <a:pPr marL="0" indent="0">
              <a:buNone/>
            </a:pPr>
            <a:r>
              <a:rPr lang="en-ID" b="1" dirty="0"/>
              <a:t>Why start marking at p²?</a:t>
            </a:r>
            <a:r>
              <a:rPr lang="en-ID" dirty="0"/>
              <a:t> All smaller multiples of </a:t>
            </a:r>
            <a:r>
              <a:rPr lang="en-ID" i="1" dirty="0"/>
              <a:t>p</a:t>
            </a:r>
            <a:r>
              <a:rPr lang="en-ID" dirty="0"/>
              <a:t> (i.e., 2p, 3p, …, (p−1)p) have already been marked as composite by earlier primes less than </a:t>
            </a:r>
            <a:r>
              <a:rPr lang="en-ID" i="1" dirty="0"/>
              <a:t>p</a:t>
            </a:r>
            <a:r>
              <a:rPr lang="en-ID" dirty="0"/>
              <a:t>.</a:t>
            </a:r>
          </a:p>
        </p:txBody>
      </p:sp>
      <p:sp>
        <p:nvSpPr>
          <p:cNvPr id="6" name="TextBox 5">
            <a:extLst>
              <a:ext uri="{FF2B5EF4-FFF2-40B4-BE49-F238E27FC236}">
                <a16:creationId xmlns:a16="http://schemas.microsoft.com/office/drawing/2014/main" id="{2F80AD98-906A-D7D9-6590-A7ADAF40BF86}"/>
              </a:ext>
            </a:extLst>
          </p:cNvPr>
          <p:cNvSpPr txBox="1"/>
          <p:nvPr/>
        </p:nvSpPr>
        <p:spPr>
          <a:xfrm>
            <a:off x="2167377" y="6073023"/>
            <a:ext cx="8213004" cy="3303468"/>
          </a:xfrm>
          <a:prstGeom prst="rect">
            <a:avLst/>
          </a:prstGeom>
          <a:solidFill>
            <a:srgbClr val="FFF7D6"/>
          </a:solidFill>
          <a:ln w="12700" cap="flat">
            <a:solidFill>
              <a:srgbClr val="21212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buNone/>
            </a:pPr>
            <a:r>
              <a:rPr lang="en-US" sz="2600" b="1" i="0" dirty="0">
                <a:solidFill>
                  <a:srgbClr val="424242"/>
                </a:solidFill>
                <a:effectLst/>
                <a:latin typeface="Courier New" panose="02070309020205020404" pitchFamily="49" charset="0"/>
              </a:rPr>
              <a:t>SIEVE(n)</a:t>
            </a:r>
          </a:p>
          <a:p>
            <a:pPr algn="l">
              <a:buNone/>
            </a:pPr>
            <a:r>
              <a:rPr lang="en-US" sz="2600" b="1" i="0" dirty="0">
                <a:solidFill>
                  <a:srgbClr val="424242"/>
                </a:solidFill>
                <a:effectLst/>
                <a:latin typeface="Courier New" panose="02070309020205020404" pitchFamily="49" charset="0"/>
              </a:rPr>
              <a:t>1  Create </a:t>
            </a:r>
            <a:r>
              <a:rPr lang="en-US" sz="2600" b="1" i="0" dirty="0" err="1">
                <a:solidFill>
                  <a:srgbClr val="424242"/>
                </a:solidFill>
                <a:effectLst/>
                <a:latin typeface="Courier New" panose="02070309020205020404" pitchFamily="49" charset="0"/>
              </a:rPr>
              <a:t>boolean</a:t>
            </a:r>
            <a:r>
              <a:rPr lang="en-US" sz="2600" b="1" i="0" dirty="0">
                <a:solidFill>
                  <a:srgbClr val="424242"/>
                </a:solidFill>
                <a:effectLst/>
                <a:latin typeface="Courier New" panose="02070309020205020404" pitchFamily="49" charset="0"/>
              </a:rPr>
              <a:t> array sieve[2..n], all set to true</a:t>
            </a:r>
          </a:p>
          <a:p>
            <a:pPr algn="l">
              <a:buNone/>
            </a:pPr>
            <a:r>
              <a:rPr lang="en-US" sz="2600" b="1" i="0" dirty="0">
                <a:solidFill>
                  <a:srgbClr val="424242"/>
                </a:solidFill>
                <a:effectLst/>
                <a:latin typeface="Courier New" panose="02070309020205020404" pitchFamily="49" charset="0"/>
              </a:rPr>
              <a:t>2  for p = 2 to floor(√n)</a:t>
            </a:r>
          </a:p>
          <a:p>
            <a:pPr algn="l">
              <a:buNone/>
            </a:pPr>
            <a:r>
              <a:rPr lang="en-US" sz="2600" b="1" i="0" dirty="0">
                <a:solidFill>
                  <a:srgbClr val="424242"/>
                </a:solidFill>
                <a:effectLst/>
                <a:latin typeface="Courier New" panose="02070309020205020404" pitchFamily="49" charset="0"/>
              </a:rPr>
              <a:t>3      if sieve[p] == true</a:t>
            </a:r>
          </a:p>
          <a:p>
            <a:pPr algn="l">
              <a:buNone/>
            </a:pPr>
            <a:r>
              <a:rPr lang="en-US" sz="2600" b="1" i="0" dirty="0">
                <a:solidFill>
                  <a:srgbClr val="424242"/>
                </a:solidFill>
                <a:effectLst/>
                <a:latin typeface="Courier New" panose="02070309020205020404" pitchFamily="49" charset="0"/>
              </a:rPr>
              <a:t>4          for k = p² to n step p</a:t>
            </a:r>
          </a:p>
          <a:p>
            <a:pPr algn="l">
              <a:buNone/>
            </a:pPr>
            <a:r>
              <a:rPr lang="en-US" sz="2600" b="1" i="0" dirty="0">
                <a:solidFill>
                  <a:srgbClr val="424242"/>
                </a:solidFill>
                <a:effectLst/>
                <a:latin typeface="Courier New" panose="02070309020205020404" pitchFamily="49" charset="0"/>
              </a:rPr>
              <a:t>5              sieve[k] = false</a:t>
            </a:r>
          </a:p>
          <a:p>
            <a:pPr algn="l">
              <a:buNone/>
            </a:pPr>
            <a:r>
              <a:rPr lang="en-US" sz="2600" b="1" i="0" dirty="0">
                <a:solidFill>
                  <a:srgbClr val="424242"/>
                </a:solidFill>
                <a:effectLst/>
                <a:latin typeface="Courier New" panose="02070309020205020404" pitchFamily="49" charset="0"/>
              </a:rPr>
              <a:t>6  return all </a:t>
            </a:r>
            <a:r>
              <a:rPr lang="en-US" sz="2600" b="1" i="0" dirty="0" err="1">
                <a:solidFill>
                  <a:srgbClr val="424242"/>
                </a:solidFill>
                <a:effectLst/>
                <a:latin typeface="Courier New" panose="02070309020205020404" pitchFamily="49" charset="0"/>
              </a:rPr>
              <a:t>i</a:t>
            </a:r>
            <a:r>
              <a:rPr lang="en-US" sz="2600" b="1" i="0" dirty="0">
                <a:solidFill>
                  <a:srgbClr val="424242"/>
                </a:solidFill>
                <a:effectLst/>
                <a:latin typeface="Courier New" panose="02070309020205020404" pitchFamily="49" charset="0"/>
              </a:rPr>
              <a:t> where sieve[</a:t>
            </a:r>
            <a:r>
              <a:rPr lang="en-US" sz="2600" b="1" i="0" dirty="0" err="1">
                <a:solidFill>
                  <a:srgbClr val="424242"/>
                </a:solidFill>
                <a:effectLst/>
                <a:latin typeface="Courier New" panose="02070309020205020404" pitchFamily="49" charset="0"/>
              </a:rPr>
              <a:t>i</a:t>
            </a:r>
            <a:r>
              <a:rPr lang="en-US" sz="2600" b="1" i="0" dirty="0">
                <a:solidFill>
                  <a:srgbClr val="424242"/>
                </a:solidFill>
                <a:effectLst/>
                <a:latin typeface="Courier New" panose="02070309020205020404" pitchFamily="49" charset="0"/>
              </a:rPr>
              <a:t>] == true</a:t>
            </a:r>
          </a:p>
        </p:txBody>
      </p:sp>
    </p:spTree>
    <p:extLst>
      <p:ext uri="{BB962C8B-B14F-4D97-AF65-F5344CB8AC3E}">
        <p14:creationId xmlns:p14="http://schemas.microsoft.com/office/powerpoint/2010/main" val="3282374552"/>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1E20B-B8F3-486C-92A2-4470EA677B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FD882-9C88-FAA9-F8C4-F3604E67649A}"/>
              </a:ext>
            </a:extLst>
          </p:cNvPr>
          <p:cNvSpPr>
            <a:spLocks noGrp="1"/>
          </p:cNvSpPr>
          <p:nvPr>
            <p:ph type="title"/>
          </p:nvPr>
        </p:nvSpPr>
        <p:spPr/>
        <p:txBody>
          <a:bodyPr>
            <a:normAutofit fontScale="90000"/>
          </a:bodyPr>
          <a:lstStyle/>
          <a:p>
            <a:r>
              <a:rPr lang="en-ID" dirty="0"/>
              <a:t>Practical Math Warm-up</a:t>
            </a:r>
          </a:p>
        </p:txBody>
      </p:sp>
      <p:sp>
        <p:nvSpPr>
          <p:cNvPr id="3" name="Text Placeholder 2">
            <a:extLst>
              <a:ext uri="{FF2B5EF4-FFF2-40B4-BE49-F238E27FC236}">
                <a16:creationId xmlns:a16="http://schemas.microsoft.com/office/drawing/2014/main" id="{223E3139-2924-3556-ED20-4081CA226BB9}"/>
              </a:ext>
            </a:extLst>
          </p:cNvPr>
          <p:cNvSpPr>
            <a:spLocks noGrp="1"/>
          </p:cNvSpPr>
          <p:nvPr>
            <p:ph type="body" sz="quarter" idx="10"/>
          </p:nvPr>
        </p:nvSpPr>
        <p:spPr>
          <a:xfrm>
            <a:off x="2167376" y="2419728"/>
            <a:ext cx="11548623" cy="803546"/>
          </a:xfrm>
        </p:spPr>
        <p:txBody>
          <a:bodyPr>
            <a:noAutofit/>
          </a:bodyPr>
          <a:lstStyle/>
          <a:p>
            <a:r>
              <a:rPr lang="en-ID" dirty="0"/>
              <a:t>Sieve of Eratosthenes</a:t>
            </a:r>
          </a:p>
        </p:txBody>
      </p:sp>
      <p:sp>
        <p:nvSpPr>
          <p:cNvPr id="4" name="Content Placeholder 3">
            <a:extLst>
              <a:ext uri="{FF2B5EF4-FFF2-40B4-BE49-F238E27FC236}">
                <a16:creationId xmlns:a16="http://schemas.microsoft.com/office/drawing/2014/main" id="{197249B2-5089-07D4-79C5-92C8A7BC89A3}"/>
              </a:ext>
            </a:extLst>
          </p:cNvPr>
          <p:cNvSpPr>
            <a:spLocks noGrp="1"/>
          </p:cNvSpPr>
          <p:nvPr>
            <p:ph sz="quarter" idx="11"/>
          </p:nvPr>
        </p:nvSpPr>
        <p:spPr>
          <a:xfrm>
            <a:off x="11446933" y="3714224"/>
            <a:ext cx="10769690" cy="9138176"/>
          </a:xfrm>
        </p:spPr>
        <p:txBody>
          <a:bodyPr>
            <a:normAutofit/>
          </a:bodyPr>
          <a:lstStyle/>
          <a:p>
            <a:pPr marL="0" indent="0" algn="just">
              <a:buNone/>
            </a:pPr>
            <a:r>
              <a:rPr lang="en-ID" b="1" dirty="0"/>
              <a:t>Complexity:</a:t>
            </a:r>
            <a:endParaRPr lang="en-ID" dirty="0"/>
          </a:p>
          <a:p>
            <a:pPr algn="just">
              <a:spcBef>
                <a:spcPts val="3000"/>
              </a:spcBef>
            </a:pPr>
            <a:r>
              <a:rPr lang="en-ID" dirty="0"/>
              <a:t>Time: </a:t>
            </a:r>
            <a:r>
              <a:rPr lang="en-ID" b="1" dirty="0"/>
              <a:t>O(n log </a:t>
            </a:r>
            <a:r>
              <a:rPr lang="en-ID" b="1" dirty="0" err="1"/>
              <a:t>log</a:t>
            </a:r>
            <a:r>
              <a:rPr lang="en-ID" b="1" dirty="0"/>
              <a:t> n)</a:t>
            </a:r>
            <a:r>
              <a:rPr lang="en-ID" dirty="0"/>
              <a:t> — nearly linear (the harmonic series of reciprocals of primes converges to O(log </a:t>
            </a:r>
            <a:r>
              <a:rPr lang="en-ID" dirty="0" err="1"/>
              <a:t>log</a:t>
            </a:r>
            <a:r>
              <a:rPr lang="en-ID" dirty="0"/>
              <a:t> n)).</a:t>
            </a:r>
          </a:p>
          <a:p>
            <a:pPr algn="just">
              <a:spcBef>
                <a:spcPts val="3000"/>
              </a:spcBef>
            </a:pPr>
            <a:r>
              <a:rPr lang="en-ID" dirty="0"/>
              <a:t>Space: </a:t>
            </a:r>
            <a:r>
              <a:rPr lang="en-ID" b="1" dirty="0"/>
              <a:t>O(n)</a:t>
            </a:r>
            <a:r>
              <a:rPr lang="en-ID" dirty="0"/>
              <a:t>.</a:t>
            </a:r>
          </a:p>
          <a:p>
            <a:pPr marL="0" indent="0" algn="just">
              <a:buNone/>
            </a:pPr>
            <a:r>
              <a:rPr lang="en-ID" b="1" dirty="0"/>
              <a:t>Example for n = 30:</a:t>
            </a:r>
            <a:r>
              <a:rPr lang="en-ID" dirty="0"/>
              <a:t> Primes found: 2, 3, 5, 7, 11, 13, 17, 19, 23, 29.</a:t>
            </a:r>
          </a:p>
        </p:txBody>
      </p:sp>
      <p:sp>
        <p:nvSpPr>
          <p:cNvPr id="7" name="TextBox 6">
            <a:extLst>
              <a:ext uri="{FF2B5EF4-FFF2-40B4-BE49-F238E27FC236}">
                <a16:creationId xmlns:a16="http://schemas.microsoft.com/office/drawing/2014/main" id="{6ECBC211-7AC2-3345-73F4-6C323C4B2FFD}"/>
              </a:ext>
            </a:extLst>
          </p:cNvPr>
          <p:cNvSpPr txBox="1"/>
          <p:nvPr/>
        </p:nvSpPr>
        <p:spPr>
          <a:xfrm>
            <a:off x="2167377" y="4236189"/>
            <a:ext cx="8213004" cy="3303468"/>
          </a:xfrm>
          <a:prstGeom prst="rect">
            <a:avLst/>
          </a:prstGeom>
          <a:solidFill>
            <a:srgbClr val="FFF7D6"/>
          </a:solidFill>
          <a:ln w="12700" cap="flat">
            <a:solidFill>
              <a:srgbClr val="21212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buNone/>
            </a:pPr>
            <a:r>
              <a:rPr lang="en-US" sz="2600" b="1" i="0" dirty="0">
                <a:solidFill>
                  <a:srgbClr val="424242"/>
                </a:solidFill>
                <a:effectLst/>
                <a:latin typeface="Courier New" panose="02070309020205020404" pitchFamily="49" charset="0"/>
              </a:rPr>
              <a:t>SIEVE(n)</a:t>
            </a:r>
          </a:p>
          <a:p>
            <a:pPr algn="l">
              <a:buNone/>
            </a:pPr>
            <a:r>
              <a:rPr lang="en-US" sz="2600" b="1" i="0" dirty="0">
                <a:solidFill>
                  <a:srgbClr val="424242"/>
                </a:solidFill>
                <a:effectLst/>
                <a:latin typeface="Courier New" panose="02070309020205020404" pitchFamily="49" charset="0"/>
              </a:rPr>
              <a:t>1  Create </a:t>
            </a:r>
            <a:r>
              <a:rPr lang="en-US" sz="2600" b="1" i="0" dirty="0" err="1">
                <a:solidFill>
                  <a:srgbClr val="424242"/>
                </a:solidFill>
                <a:effectLst/>
                <a:latin typeface="Courier New" panose="02070309020205020404" pitchFamily="49" charset="0"/>
              </a:rPr>
              <a:t>boolean</a:t>
            </a:r>
            <a:r>
              <a:rPr lang="en-US" sz="2600" b="1" i="0" dirty="0">
                <a:solidFill>
                  <a:srgbClr val="424242"/>
                </a:solidFill>
                <a:effectLst/>
                <a:latin typeface="Courier New" panose="02070309020205020404" pitchFamily="49" charset="0"/>
              </a:rPr>
              <a:t> array sieve[2..n], all set to true</a:t>
            </a:r>
          </a:p>
          <a:p>
            <a:pPr algn="l">
              <a:buNone/>
            </a:pPr>
            <a:r>
              <a:rPr lang="en-US" sz="2600" b="1" i="0" dirty="0">
                <a:solidFill>
                  <a:srgbClr val="424242"/>
                </a:solidFill>
                <a:effectLst/>
                <a:latin typeface="Courier New" panose="02070309020205020404" pitchFamily="49" charset="0"/>
              </a:rPr>
              <a:t>2  for p = 2 to floor(√n)</a:t>
            </a:r>
          </a:p>
          <a:p>
            <a:pPr algn="l">
              <a:buNone/>
            </a:pPr>
            <a:r>
              <a:rPr lang="en-US" sz="2600" b="1" i="0" dirty="0">
                <a:solidFill>
                  <a:srgbClr val="424242"/>
                </a:solidFill>
                <a:effectLst/>
                <a:latin typeface="Courier New" panose="02070309020205020404" pitchFamily="49" charset="0"/>
              </a:rPr>
              <a:t>3      if sieve[p] == true</a:t>
            </a:r>
          </a:p>
          <a:p>
            <a:pPr algn="l">
              <a:buNone/>
            </a:pPr>
            <a:r>
              <a:rPr lang="en-US" sz="2600" b="1" i="0" dirty="0">
                <a:solidFill>
                  <a:srgbClr val="424242"/>
                </a:solidFill>
                <a:effectLst/>
                <a:latin typeface="Courier New" panose="02070309020205020404" pitchFamily="49" charset="0"/>
              </a:rPr>
              <a:t>4          for k = p² to n step p</a:t>
            </a:r>
          </a:p>
          <a:p>
            <a:pPr algn="l">
              <a:buNone/>
            </a:pPr>
            <a:r>
              <a:rPr lang="en-US" sz="2600" b="1" i="0" dirty="0">
                <a:solidFill>
                  <a:srgbClr val="424242"/>
                </a:solidFill>
                <a:effectLst/>
                <a:latin typeface="Courier New" panose="02070309020205020404" pitchFamily="49" charset="0"/>
              </a:rPr>
              <a:t>5              sieve[k] = false</a:t>
            </a:r>
          </a:p>
          <a:p>
            <a:pPr algn="l">
              <a:buNone/>
            </a:pPr>
            <a:r>
              <a:rPr lang="en-US" sz="2600" b="1" i="0" dirty="0">
                <a:solidFill>
                  <a:srgbClr val="424242"/>
                </a:solidFill>
                <a:effectLst/>
                <a:latin typeface="Courier New" panose="02070309020205020404" pitchFamily="49" charset="0"/>
              </a:rPr>
              <a:t>6  return all </a:t>
            </a:r>
            <a:r>
              <a:rPr lang="en-US" sz="2600" b="1" i="0" dirty="0" err="1">
                <a:solidFill>
                  <a:srgbClr val="424242"/>
                </a:solidFill>
                <a:effectLst/>
                <a:latin typeface="Courier New" panose="02070309020205020404" pitchFamily="49" charset="0"/>
              </a:rPr>
              <a:t>i</a:t>
            </a:r>
            <a:r>
              <a:rPr lang="en-US" sz="2600" b="1" i="0" dirty="0">
                <a:solidFill>
                  <a:srgbClr val="424242"/>
                </a:solidFill>
                <a:effectLst/>
                <a:latin typeface="Courier New" panose="02070309020205020404" pitchFamily="49" charset="0"/>
              </a:rPr>
              <a:t> where sieve[</a:t>
            </a:r>
            <a:r>
              <a:rPr lang="en-US" sz="2600" b="1" i="0" dirty="0" err="1">
                <a:solidFill>
                  <a:srgbClr val="424242"/>
                </a:solidFill>
                <a:effectLst/>
                <a:latin typeface="Courier New" panose="02070309020205020404" pitchFamily="49" charset="0"/>
              </a:rPr>
              <a:t>i</a:t>
            </a:r>
            <a:r>
              <a:rPr lang="en-US" sz="2600" b="1" i="0" dirty="0">
                <a:solidFill>
                  <a:srgbClr val="424242"/>
                </a:solidFill>
                <a:effectLst/>
                <a:latin typeface="Courier New" panose="02070309020205020404" pitchFamily="49" charset="0"/>
              </a:rPr>
              <a:t>] == true</a:t>
            </a:r>
          </a:p>
        </p:txBody>
      </p:sp>
      <p:sp>
        <p:nvSpPr>
          <p:cNvPr id="9" name="TextBox 8">
            <a:extLst>
              <a:ext uri="{FF2B5EF4-FFF2-40B4-BE49-F238E27FC236}">
                <a16:creationId xmlns:a16="http://schemas.microsoft.com/office/drawing/2014/main" id="{93410B4E-3682-182D-832D-8AF4455D9A2D}"/>
              </a:ext>
            </a:extLst>
          </p:cNvPr>
          <p:cNvSpPr txBox="1"/>
          <p:nvPr/>
        </p:nvSpPr>
        <p:spPr>
          <a:xfrm>
            <a:off x="2167376" y="10234443"/>
            <a:ext cx="20049246" cy="21236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just">
              <a:buNone/>
            </a:pPr>
            <a:r>
              <a:rPr lang="en-ID" sz="4400" dirty="0">
                <a:solidFill>
                  <a:srgbClr val="212121"/>
                </a:solidFill>
                <a:latin typeface="Open Sans" panose="020B0606030504020204" pitchFamily="34" charset="0"/>
                <a:ea typeface="Open Sans" panose="020B0606030504020204" pitchFamily="34" charset="0"/>
                <a:cs typeface="Open Sans" panose="020B0606030504020204" pitchFamily="34" charset="0"/>
              </a:rPr>
              <a:t>The Sieve illustrates how </a:t>
            </a:r>
            <a:r>
              <a:rPr lang="en-ID" sz="4400" b="1" dirty="0">
                <a:solidFill>
                  <a:srgbClr val="212121"/>
                </a:solidFill>
                <a:latin typeface="Open Sans" panose="020B0606030504020204" pitchFamily="34" charset="0"/>
                <a:ea typeface="Open Sans" panose="020B0606030504020204" pitchFamily="34" charset="0"/>
                <a:cs typeface="Open Sans" panose="020B0606030504020204" pitchFamily="34" charset="0"/>
              </a:rPr>
              <a:t>pre-computation </a:t>
            </a:r>
            <a:r>
              <a:rPr lang="en-ID" sz="4400" dirty="0">
                <a:solidFill>
                  <a:srgbClr val="212121"/>
                </a:solidFill>
                <a:latin typeface="Open Sans" panose="020B0606030504020204" pitchFamily="34" charset="0"/>
                <a:ea typeface="Open Sans" panose="020B0606030504020204" pitchFamily="34" charset="0"/>
                <a:cs typeface="Open Sans" panose="020B0606030504020204" pitchFamily="34" charset="0"/>
              </a:rPr>
              <a:t>and </a:t>
            </a:r>
            <a:r>
              <a:rPr lang="en-ID" sz="4400" b="1" dirty="0">
                <a:solidFill>
                  <a:srgbClr val="212121"/>
                </a:solidFill>
                <a:latin typeface="Open Sans" panose="020B0606030504020204" pitchFamily="34" charset="0"/>
                <a:ea typeface="Open Sans" panose="020B0606030504020204" pitchFamily="34" charset="0"/>
                <a:cs typeface="Open Sans" panose="020B0606030504020204" pitchFamily="34" charset="0"/>
              </a:rPr>
              <a:t>smart elimination </a:t>
            </a:r>
            <a:r>
              <a:rPr lang="en-ID" sz="4400" dirty="0">
                <a:solidFill>
                  <a:srgbClr val="212121"/>
                </a:solidFill>
                <a:latin typeface="Open Sans" panose="020B0606030504020204" pitchFamily="34" charset="0"/>
                <a:ea typeface="Open Sans" panose="020B0606030504020204" pitchFamily="34" charset="0"/>
                <a:cs typeface="Open Sans" panose="020B0606030504020204" pitchFamily="34" charset="0"/>
              </a:rPr>
              <a:t>can collapse what looks like an O(</a:t>
            </a:r>
            <a:r>
              <a:rPr lang="en-ID" sz="4400" dirty="0" err="1">
                <a:solidFill>
                  <a:srgbClr val="212121"/>
                </a:solidFill>
                <a:latin typeface="Open Sans" panose="020B0606030504020204" pitchFamily="34" charset="0"/>
                <a:ea typeface="Open Sans" panose="020B0606030504020204" pitchFamily="34" charset="0"/>
                <a:cs typeface="Open Sans" panose="020B0606030504020204" pitchFamily="34" charset="0"/>
              </a:rPr>
              <a:t>n√n</a:t>
            </a:r>
            <a:r>
              <a:rPr lang="en-ID" sz="4400" dirty="0">
                <a:solidFill>
                  <a:srgbClr val="212121"/>
                </a:solidFill>
                <a:latin typeface="Open Sans" panose="020B0606030504020204" pitchFamily="34" charset="0"/>
                <a:ea typeface="Open Sans" panose="020B0606030504020204" pitchFamily="34" charset="0"/>
                <a:cs typeface="Open Sans" panose="020B0606030504020204" pitchFamily="34" charset="0"/>
              </a:rPr>
              <a:t>) problem into a near-linear one — a preview of the power of algorithmic thinking.</a:t>
            </a:r>
          </a:p>
        </p:txBody>
      </p:sp>
    </p:spTree>
    <p:extLst>
      <p:ext uri="{BB962C8B-B14F-4D97-AF65-F5344CB8AC3E}">
        <p14:creationId xmlns:p14="http://schemas.microsoft.com/office/powerpoint/2010/main" val="2053259529"/>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8F90F-8A9A-013A-E21C-7023D17C4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B08BD5-CECE-348B-74D0-7ABD557116C4}"/>
              </a:ext>
            </a:extLst>
          </p:cNvPr>
          <p:cNvSpPr>
            <a:spLocks noGrp="1"/>
          </p:cNvSpPr>
          <p:nvPr>
            <p:ph type="title"/>
          </p:nvPr>
        </p:nvSpPr>
        <p:spPr/>
        <p:txBody>
          <a:bodyPr>
            <a:normAutofit fontScale="90000"/>
          </a:bodyPr>
          <a:lstStyle/>
          <a:p>
            <a:r>
              <a:rPr lang="en-ID" dirty="0"/>
              <a:t>Intuitive Order of Growth</a:t>
            </a:r>
          </a:p>
        </p:txBody>
      </p:sp>
      <p:sp>
        <p:nvSpPr>
          <p:cNvPr id="3" name="Text Placeholder 2">
            <a:extLst>
              <a:ext uri="{FF2B5EF4-FFF2-40B4-BE49-F238E27FC236}">
                <a16:creationId xmlns:a16="http://schemas.microsoft.com/office/drawing/2014/main" id="{9EC6D36E-6FF2-13AC-8FED-DA15FB696736}"/>
              </a:ext>
            </a:extLst>
          </p:cNvPr>
          <p:cNvSpPr>
            <a:spLocks noGrp="1"/>
          </p:cNvSpPr>
          <p:nvPr>
            <p:ph type="body" sz="quarter" idx="10"/>
          </p:nvPr>
        </p:nvSpPr>
        <p:spPr>
          <a:xfrm>
            <a:off x="2167376" y="2419728"/>
            <a:ext cx="11548623" cy="803546"/>
          </a:xfrm>
        </p:spPr>
        <p:txBody>
          <a:bodyPr>
            <a:noAutofit/>
          </a:bodyPr>
          <a:lstStyle/>
          <a:p>
            <a:r>
              <a:rPr lang="en-ID" dirty="0"/>
              <a:t>Common Growth Functions</a:t>
            </a:r>
          </a:p>
        </p:txBody>
      </p:sp>
      <p:sp>
        <p:nvSpPr>
          <p:cNvPr id="4" name="Content Placeholder 3">
            <a:extLst>
              <a:ext uri="{FF2B5EF4-FFF2-40B4-BE49-F238E27FC236}">
                <a16:creationId xmlns:a16="http://schemas.microsoft.com/office/drawing/2014/main" id="{4676482F-E602-BBF1-0888-02B93A763A48}"/>
              </a:ext>
            </a:extLst>
          </p:cNvPr>
          <p:cNvSpPr>
            <a:spLocks noGrp="1"/>
          </p:cNvSpPr>
          <p:nvPr>
            <p:ph sz="quarter" idx="11"/>
          </p:nvPr>
        </p:nvSpPr>
        <p:spPr>
          <a:xfrm>
            <a:off x="2167377" y="3714224"/>
            <a:ext cx="20049246" cy="9138176"/>
          </a:xfrm>
        </p:spPr>
        <p:txBody>
          <a:bodyPr>
            <a:normAutofit/>
          </a:bodyPr>
          <a:lstStyle/>
          <a:p>
            <a:pPr marL="0" indent="0" algn="just">
              <a:buNone/>
            </a:pPr>
            <a:r>
              <a:rPr lang="en-ID" dirty="0"/>
              <a:t>As </a:t>
            </a:r>
            <a:r>
              <a:rPr lang="en-ID" i="1" dirty="0"/>
              <a:t>n</a:t>
            </a:r>
            <a:r>
              <a:rPr lang="en-ID" dirty="0"/>
              <a:t> grows, the dominant term of a running-time function determines practical performance. Listed slowest to fastest:</a:t>
            </a:r>
          </a:p>
        </p:txBody>
      </p:sp>
      <p:graphicFrame>
        <p:nvGraphicFramePr>
          <p:cNvPr id="5" name="Table 4">
            <a:extLst>
              <a:ext uri="{FF2B5EF4-FFF2-40B4-BE49-F238E27FC236}">
                <a16:creationId xmlns:a16="http://schemas.microsoft.com/office/drawing/2014/main" id="{A53C8E05-D2E7-0600-BEC0-1D35F901DF15}"/>
              </a:ext>
            </a:extLst>
          </p:cNvPr>
          <p:cNvGraphicFramePr>
            <a:graphicFrameLocks noGrp="1"/>
          </p:cNvGraphicFramePr>
          <p:nvPr/>
        </p:nvGraphicFramePr>
        <p:xfrm>
          <a:off x="3795629" y="5878452"/>
          <a:ext cx="16792742" cy="5417820"/>
        </p:xfrm>
        <a:graphic>
          <a:graphicData uri="http://schemas.openxmlformats.org/drawingml/2006/table">
            <a:tbl>
              <a:tblPr>
                <a:tableStyleId>{CF821DB8-F4EB-4A41-A1BA-3FCAFE7338EE}</a:tableStyleId>
              </a:tblPr>
              <a:tblGrid>
                <a:gridCol w="4503030">
                  <a:extLst>
                    <a:ext uri="{9D8B030D-6E8A-4147-A177-3AD203B41FA5}">
                      <a16:colId xmlns:a16="http://schemas.microsoft.com/office/drawing/2014/main" val="929756462"/>
                    </a:ext>
                  </a:extLst>
                </a:gridCol>
                <a:gridCol w="4944416">
                  <a:extLst>
                    <a:ext uri="{9D8B030D-6E8A-4147-A177-3AD203B41FA5}">
                      <a16:colId xmlns:a16="http://schemas.microsoft.com/office/drawing/2014/main" val="1917869271"/>
                    </a:ext>
                  </a:extLst>
                </a:gridCol>
                <a:gridCol w="7345296">
                  <a:extLst>
                    <a:ext uri="{9D8B030D-6E8A-4147-A177-3AD203B41FA5}">
                      <a16:colId xmlns:a16="http://schemas.microsoft.com/office/drawing/2014/main" val="283934039"/>
                    </a:ext>
                  </a:extLst>
                </a:gridCol>
              </a:tblGrid>
              <a:tr h="388620">
                <a:tc>
                  <a:txBody>
                    <a:bodyPr/>
                    <a:lstStyle/>
                    <a:p>
                      <a:pPr>
                        <a:buNone/>
                      </a:pPr>
                      <a:r>
                        <a:rPr lang="en-ID" sz="3200" b="1">
                          <a:effectLst/>
                        </a:rPr>
                        <a:t>Class</a:t>
                      </a:r>
                    </a:p>
                  </a:txBody>
                  <a:tcPr marL="76200" marR="76200" marT="38100" marB="76200" anchor="ctr"/>
                </a:tc>
                <a:tc>
                  <a:txBody>
                    <a:bodyPr/>
                    <a:lstStyle/>
                    <a:p>
                      <a:pPr>
                        <a:buNone/>
                      </a:pPr>
                      <a:r>
                        <a:rPr lang="en-ID" sz="3200" b="1">
                          <a:effectLst/>
                        </a:rPr>
                        <a:t>Name</a:t>
                      </a:r>
                    </a:p>
                  </a:txBody>
                  <a:tcPr marL="76200" marR="76200" marT="38100" marB="76200" anchor="ctr"/>
                </a:tc>
                <a:tc>
                  <a:txBody>
                    <a:bodyPr/>
                    <a:lstStyle/>
                    <a:p>
                      <a:pPr>
                        <a:buNone/>
                      </a:pPr>
                      <a:r>
                        <a:rPr lang="en-ID" sz="3200" b="1">
                          <a:effectLst/>
                        </a:rPr>
                        <a:t>Example</a:t>
                      </a:r>
                    </a:p>
                  </a:txBody>
                  <a:tcPr marL="76200" marR="76200" marT="38100" marB="76200" anchor="ctr"/>
                </a:tc>
                <a:extLst>
                  <a:ext uri="{0D108BD9-81ED-4DB2-BD59-A6C34878D82A}">
                    <a16:rowId xmlns:a16="http://schemas.microsoft.com/office/drawing/2014/main" val="2299798121"/>
                  </a:ext>
                </a:extLst>
              </a:tr>
              <a:tr h="388620">
                <a:tc>
                  <a:txBody>
                    <a:bodyPr/>
                    <a:lstStyle/>
                    <a:p>
                      <a:pPr>
                        <a:buNone/>
                      </a:pPr>
                      <a:r>
                        <a:rPr lang="en-ID" sz="3200" dirty="0">
                          <a:effectLst/>
                        </a:rPr>
                        <a:t>O(1)</a:t>
                      </a:r>
                    </a:p>
                  </a:txBody>
                  <a:tcPr marL="76200" marR="76200" marT="38100" marB="76200" anchor="ctr"/>
                </a:tc>
                <a:tc>
                  <a:txBody>
                    <a:bodyPr/>
                    <a:lstStyle/>
                    <a:p>
                      <a:pPr>
                        <a:buNone/>
                      </a:pPr>
                      <a:r>
                        <a:rPr lang="en-ID" sz="3200">
                          <a:effectLst/>
                        </a:rPr>
                        <a:t>Constant</a:t>
                      </a:r>
                    </a:p>
                  </a:txBody>
                  <a:tcPr marL="76200" marR="76200" marT="38100" marB="76200" anchor="ctr"/>
                </a:tc>
                <a:tc>
                  <a:txBody>
                    <a:bodyPr/>
                    <a:lstStyle/>
                    <a:p>
                      <a:pPr>
                        <a:buNone/>
                      </a:pPr>
                      <a:r>
                        <a:rPr lang="en-ID" sz="3200">
                          <a:effectLst/>
                        </a:rPr>
                        <a:t>Array access A[i]</a:t>
                      </a:r>
                    </a:p>
                  </a:txBody>
                  <a:tcPr marL="76200" marR="76200" marT="38100" marB="76200" anchor="ctr"/>
                </a:tc>
                <a:extLst>
                  <a:ext uri="{0D108BD9-81ED-4DB2-BD59-A6C34878D82A}">
                    <a16:rowId xmlns:a16="http://schemas.microsoft.com/office/drawing/2014/main" val="3524649347"/>
                  </a:ext>
                </a:extLst>
              </a:tr>
              <a:tr h="388620">
                <a:tc>
                  <a:txBody>
                    <a:bodyPr/>
                    <a:lstStyle/>
                    <a:p>
                      <a:pPr>
                        <a:buNone/>
                      </a:pPr>
                      <a:r>
                        <a:rPr lang="en-ID" sz="3200">
                          <a:effectLst/>
                        </a:rPr>
                        <a:t>O(log n)</a:t>
                      </a:r>
                    </a:p>
                  </a:txBody>
                  <a:tcPr marL="76200" marR="76200" marT="38100" marB="76200" anchor="ctr"/>
                </a:tc>
                <a:tc>
                  <a:txBody>
                    <a:bodyPr/>
                    <a:lstStyle/>
                    <a:p>
                      <a:pPr>
                        <a:buNone/>
                      </a:pPr>
                      <a:r>
                        <a:rPr lang="en-ID" sz="3200">
                          <a:effectLst/>
                        </a:rPr>
                        <a:t>Logarithmic</a:t>
                      </a:r>
                    </a:p>
                  </a:txBody>
                  <a:tcPr marL="76200" marR="76200" marT="38100" marB="76200" anchor="ctr"/>
                </a:tc>
                <a:tc>
                  <a:txBody>
                    <a:bodyPr/>
                    <a:lstStyle/>
                    <a:p>
                      <a:pPr>
                        <a:buNone/>
                      </a:pPr>
                      <a:r>
                        <a:rPr lang="en-ID" sz="3200">
                          <a:effectLst/>
                        </a:rPr>
                        <a:t>Binary search</a:t>
                      </a:r>
                    </a:p>
                  </a:txBody>
                  <a:tcPr marL="76200" marR="76200" marT="38100" marB="76200" anchor="ctr"/>
                </a:tc>
                <a:extLst>
                  <a:ext uri="{0D108BD9-81ED-4DB2-BD59-A6C34878D82A}">
                    <a16:rowId xmlns:a16="http://schemas.microsoft.com/office/drawing/2014/main" val="2052516766"/>
                  </a:ext>
                </a:extLst>
              </a:tr>
              <a:tr h="388620">
                <a:tc>
                  <a:txBody>
                    <a:bodyPr/>
                    <a:lstStyle/>
                    <a:p>
                      <a:pPr>
                        <a:buNone/>
                      </a:pPr>
                      <a:r>
                        <a:rPr lang="en-ID" sz="3200">
                          <a:effectLst/>
                        </a:rPr>
                        <a:t>O(n)</a:t>
                      </a:r>
                    </a:p>
                  </a:txBody>
                  <a:tcPr marL="76200" marR="76200" marT="38100" marB="76200" anchor="ctr"/>
                </a:tc>
                <a:tc>
                  <a:txBody>
                    <a:bodyPr/>
                    <a:lstStyle/>
                    <a:p>
                      <a:pPr>
                        <a:buNone/>
                      </a:pPr>
                      <a:r>
                        <a:rPr lang="en-ID" sz="3200">
                          <a:effectLst/>
                        </a:rPr>
                        <a:t>Linear</a:t>
                      </a:r>
                    </a:p>
                  </a:txBody>
                  <a:tcPr marL="76200" marR="76200" marT="38100" marB="76200" anchor="ctr"/>
                </a:tc>
                <a:tc>
                  <a:txBody>
                    <a:bodyPr/>
                    <a:lstStyle/>
                    <a:p>
                      <a:pPr>
                        <a:buNone/>
                      </a:pPr>
                      <a:r>
                        <a:rPr lang="en-ID" sz="3200">
                          <a:effectLst/>
                        </a:rPr>
                        <a:t>Sequential scan</a:t>
                      </a:r>
                    </a:p>
                  </a:txBody>
                  <a:tcPr marL="76200" marR="76200" marT="38100" marB="76200" anchor="ctr"/>
                </a:tc>
                <a:extLst>
                  <a:ext uri="{0D108BD9-81ED-4DB2-BD59-A6C34878D82A}">
                    <a16:rowId xmlns:a16="http://schemas.microsoft.com/office/drawing/2014/main" val="3226000120"/>
                  </a:ext>
                </a:extLst>
              </a:tr>
              <a:tr h="388620">
                <a:tc>
                  <a:txBody>
                    <a:bodyPr/>
                    <a:lstStyle/>
                    <a:p>
                      <a:pPr>
                        <a:buNone/>
                      </a:pPr>
                      <a:r>
                        <a:rPr lang="en-ID" sz="3200">
                          <a:effectLst/>
                        </a:rPr>
                        <a:t>O(n log n)</a:t>
                      </a:r>
                    </a:p>
                  </a:txBody>
                  <a:tcPr marL="76200" marR="76200" marT="38100" marB="76200" anchor="ctr"/>
                </a:tc>
                <a:tc>
                  <a:txBody>
                    <a:bodyPr/>
                    <a:lstStyle/>
                    <a:p>
                      <a:pPr>
                        <a:buNone/>
                      </a:pPr>
                      <a:r>
                        <a:rPr lang="en-ID" sz="3200">
                          <a:effectLst/>
                        </a:rPr>
                        <a:t>Linearithmic</a:t>
                      </a:r>
                    </a:p>
                  </a:txBody>
                  <a:tcPr marL="76200" marR="76200" marT="38100" marB="76200" anchor="ctr"/>
                </a:tc>
                <a:tc>
                  <a:txBody>
                    <a:bodyPr/>
                    <a:lstStyle/>
                    <a:p>
                      <a:pPr>
                        <a:buNone/>
                      </a:pPr>
                      <a:r>
                        <a:rPr lang="en-ID" sz="3200">
                          <a:effectLst/>
                        </a:rPr>
                        <a:t>Merge sort, Heapsort</a:t>
                      </a:r>
                    </a:p>
                  </a:txBody>
                  <a:tcPr marL="76200" marR="76200" marT="38100" marB="76200" anchor="ctr"/>
                </a:tc>
                <a:extLst>
                  <a:ext uri="{0D108BD9-81ED-4DB2-BD59-A6C34878D82A}">
                    <a16:rowId xmlns:a16="http://schemas.microsoft.com/office/drawing/2014/main" val="43076602"/>
                  </a:ext>
                </a:extLst>
              </a:tr>
              <a:tr h="388620">
                <a:tc>
                  <a:txBody>
                    <a:bodyPr/>
                    <a:lstStyle/>
                    <a:p>
                      <a:pPr>
                        <a:buNone/>
                      </a:pPr>
                      <a:r>
                        <a:rPr lang="en-ID" sz="3200">
                          <a:effectLst/>
                        </a:rPr>
                        <a:t>O(n²)</a:t>
                      </a:r>
                    </a:p>
                  </a:txBody>
                  <a:tcPr marL="76200" marR="76200" marT="38100" marB="76200" anchor="ctr"/>
                </a:tc>
                <a:tc>
                  <a:txBody>
                    <a:bodyPr/>
                    <a:lstStyle/>
                    <a:p>
                      <a:pPr>
                        <a:buNone/>
                      </a:pPr>
                      <a:r>
                        <a:rPr lang="en-ID" sz="3200">
                          <a:effectLst/>
                        </a:rPr>
                        <a:t>Quadratic</a:t>
                      </a:r>
                    </a:p>
                  </a:txBody>
                  <a:tcPr marL="76200" marR="76200" marT="38100" marB="76200" anchor="ctr"/>
                </a:tc>
                <a:tc>
                  <a:txBody>
                    <a:bodyPr/>
                    <a:lstStyle/>
                    <a:p>
                      <a:pPr>
                        <a:buNone/>
                      </a:pPr>
                      <a:r>
                        <a:rPr lang="en-ID" sz="3200">
                          <a:effectLst/>
                        </a:rPr>
                        <a:t>Insertion sort (worst)</a:t>
                      </a:r>
                    </a:p>
                  </a:txBody>
                  <a:tcPr marL="76200" marR="76200" marT="38100" marB="76200" anchor="ctr"/>
                </a:tc>
                <a:extLst>
                  <a:ext uri="{0D108BD9-81ED-4DB2-BD59-A6C34878D82A}">
                    <a16:rowId xmlns:a16="http://schemas.microsoft.com/office/drawing/2014/main" val="828932604"/>
                  </a:ext>
                </a:extLst>
              </a:tr>
              <a:tr h="388620">
                <a:tc>
                  <a:txBody>
                    <a:bodyPr/>
                    <a:lstStyle/>
                    <a:p>
                      <a:pPr>
                        <a:buNone/>
                      </a:pPr>
                      <a:r>
                        <a:rPr lang="en-ID" sz="3200">
                          <a:effectLst/>
                        </a:rPr>
                        <a:t>O(n³)</a:t>
                      </a:r>
                    </a:p>
                  </a:txBody>
                  <a:tcPr marL="76200" marR="76200" marT="38100" marB="76200" anchor="ctr"/>
                </a:tc>
                <a:tc>
                  <a:txBody>
                    <a:bodyPr/>
                    <a:lstStyle/>
                    <a:p>
                      <a:pPr>
                        <a:buNone/>
                      </a:pPr>
                      <a:r>
                        <a:rPr lang="en-ID" sz="3200">
                          <a:effectLst/>
                        </a:rPr>
                        <a:t>Cubic</a:t>
                      </a:r>
                    </a:p>
                  </a:txBody>
                  <a:tcPr marL="76200" marR="76200" marT="38100" marB="76200" anchor="ctr"/>
                </a:tc>
                <a:tc>
                  <a:txBody>
                    <a:bodyPr/>
                    <a:lstStyle/>
                    <a:p>
                      <a:pPr>
                        <a:buNone/>
                      </a:pPr>
                      <a:r>
                        <a:rPr lang="en-ID" sz="3200">
                          <a:effectLst/>
                        </a:rPr>
                        <a:t>Naïve matrix multiply</a:t>
                      </a:r>
                    </a:p>
                  </a:txBody>
                  <a:tcPr marL="76200" marR="76200" marT="38100" marB="76200" anchor="ctr"/>
                </a:tc>
                <a:extLst>
                  <a:ext uri="{0D108BD9-81ED-4DB2-BD59-A6C34878D82A}">
                    <a16:rowId xmlns:a16="http://schemas.microsoft.com/office/drawing/2014/main" val="3870102722"/>
                  </a:ext>
                </a:extLst>
              </a:tr>
              <a:tr h="388620">
                <a:tc>
                  <a:txBody>
                    <a:bodyPr/>
                    <a:lstStyle/>
                    <a:p>
                      <a:pPr>
                        <a:buNone/>
                      </a:pPr>
                      <a:r>
                        <a:rPr lang="en-ID" sz="3200">
                          <a:effectLst/>
                        </a:rPr>
                        <a:t>O(2ⁿ)</a:t>
                      </a:r>
                    </a:p>
                  </a:txBody>
                  <a:tcPr marL="76200" marR="76200" marT="38100" marB="76200" anchor="ctr"/>
                </a:tc>
                <a:tc>
                  <a:txBody>
                    <a:bodyPr/>
                    <a:lstStyle/>
                    <a:p>
                      <a:pPr>
                        <a:buNone/>
                      </a:pPr>
                      <a:r>
                        <a:rPr lang="en-ID" sz="3200">
                          <a:effectLst/>
                        </a:rPr>
                        <a:t>Exponential</a:t>
                      </a:r>
                    </a:p>
                  </a:txBody>
                  <a:tcPr marL="76200" marR="76200" marT="38100" marB="76200" anchor="ctr"/>
                </a:tc>
                <a:tc>
                  <a:txBody>
                    <a:bodyPr/>
                    <a:lstStyle/>
                    <a:p>
                      <a:pPr>
                        <a:buNone/>
                      </a:pPr>
                      <a:r>
                        <a:rPr lang="en-ID" sz="3200">
                          <a:effectLst/>
                        </a:rPr>
                        <a:t>Brute-force subset enumeration</a:t>
                      </a:r>
                    </a:p>
                  </a:txBody>
                  <a:tcPr marL="76200" marR="76200" marT="38100" marB="76200" anchor="ctr"/>
                </a:tc>
                <a:extLst>
                  <a:ext uri="{0D108BD9-81ED-4DB2-BD59-A6C34878D82A}">
                    <a16:rowId xmlns:a16="http://schemas.microsoft.com/office/drawing/2014/main" val="3740883351"/>
                  </a:ext>
                </a:extLst>
              </a:tr>
              <a:tr h="388620">
                <a:tc>
                  <a:txBody>
                    <a:bodyPr/>
                    <a:lstStyle/>
                    <a:p>
                      <a:pPr>
                        <a:buNone/>
                      </a:pPr>
                      <a:r>
                        <a:rPr lang="en-ID" sz="3200">
                          <a:effectLst/>
                        </a:rPr>
                        <a:t>O(n!)</a:t>
                      </a:r>
                    </a:p>
                  </a:txBody>
                  <a:tcPr marL="76200" marR="76200" marT="38100" marB="76200" anchor="ctr"/>
                </a:tc>
                <a:tc>
                  <a:txBody>
                    <a:bodyPr/>
                    <a:lstStyle/>
                    <a:p>
                      <a:pPr>
                        <a:buNone/>
                      </a:pPr>
                      <a:r>
                        <a:rPr lang="en-ID" sz="3200">
                          <a:effectLst/>
                        </a:rPr>
                        <a:t>Factorial</a:t>
                      </a:r>
                    </a:p>
                  </a:txBody>
                  <a:tcPr marL="76200" marR="76200" marT="38100" marB="76200" anchor="ctr"/>
                </a:tc>
                <a:tc>
                  <a:txBody>
                    <a:bodyPr/>
                    <a:lstStyle/>
                    <a:p>
                      <a:pPr>
                        <a:buNone/>
                      </a:pPr>
                      <a:r>
                        <a:rPr lang="en-ID" sz="3200" dirty="0">
                          <a:effectLst/>
                        </a:rPr>
                        <a:t>Brute-force TSP</a:t>
                      </a:r>
                    </a:p>
                  </a:txBody>
                  <a:tcPr marL="76200" marR="76200" marT="38100" marB="76200" anchor="ctr"/>
                </a:tc>
                <a:extLst>
                  <a:ext uri="{0D108BD9-81ED-4DB2-BD59-A6C34878D82A}">
                    <a16:rowId xmlns:a16="http://schemas.microsoft.com/office/drawing/2014/main" val="3538901613"/>
                  </a:ext>
                </a:extLst>
              </a:tr>
            </a:tbl>
          </a:graphicData>
        </a:graphic>
      </p:graphicFrame>
    </p:spTree>
    <p:extLst>
      <p:ext uri="{BB962C8B-B14F-4D97-AF65-F5344CB8AC3E}">
        <p14:creationId xmlns:p14="http://schemas.microsoft.com/office/powerpoint/2010/main" val="1473644180"/>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F2E9-16D8-037B-D0E1-96EDBEF53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CD2DD-1864-17B8-28AC-6A0883EC2B3B}"/>
              </a:ext>
            </a:extLst>
          </p:cNvPr>
          <p:cNvSpPr>
            <a:spLocks noGrp="1"/>
          </p:cNvSpPr>
          <p:nvPr>
            <p:ph type="title"/>
          </p:nvPr>
        </p:nvSpPr>
        <p:spPr/>
        <p:txBody>
          <a:bodyPr>
            <a:normAutofit fontScale="90000"/>
          </a:bodyPr>
          <a:lstStyle/>
          <a:p>
            <a:r>
              <a:rPr lang="en-ID" dirty="0"/>
              <a:t>Intuitive Order of Growth</a:t>
            </a:r>
          </a:p>
        </p:txBody>
      </p:sp>
      <p:sp>
        <p:nvSpPr>
          <p:cNvPr id="3" name="Text Placeholder 2">
            <a:extLst>
              <a:ext uri="{FF2B5EF4-FFF2-40B4-BE49-F238E27FC236}">
                <a16:creationId xmlns:a16="http://schemas.microsoft.com/office/drawing/2014/main" id="{A2A1B5C3-627A-7CE5-F048-AABDCDFB9066}"/>
              </a:ext>
            </a:extLst>
          </p:cNvPr>
          <p:cNvSpPr>
            <a:spLocks noGrp="1"/>
          </p:cNvSpPr>
          <p:nvPr>
            <p:ph type="body" sz="quarter" idx="10"/>
          </p:nvPr>
        </p:nvSpPr>
        <p:spPr>
          <a:xfrm>
            <a:off x="2167376" y="2419728"/>
            <a:ext cx="11548623" cy="803546"/>
          </a:xfrm>
        </p:spPr>
        <p:txBody>
          <a:bodyPr>
            <a:noAutofit/>
          </a:bodyPr>
          <a:lstStyle/>
          <a:p>
            <a:r>
              <a:rPr lang="en-ID" dirty="0"/>
              <a:t>Why Order of Growth Matters</a:t>
            </a:r>
          </a:p>
        </p:txBody>
      </p:sp>
      <p:sp>
        <p:nvSpPr>
          <p:cNvPr id="4" name="Content Placeholder 3">
            <a:extLst>
              <a:ext uri="{FF2B5EF4-FFF2-40B4-BE49-F238E27FC236}">
                <a16:creationId xmlns:a16="http://schemas.microsoft.com/office/drawing/2014/main" id="{82D69359-E2B8-1887-5E45-D916BE64E8D4}"/>
              </a:ext>
            </a:extLst>
          </p:cNvPr>
          <p:cNvSpPr>
            <a:spLocks noGrp="1"/>
          </p:cNvSpPr>
          <p:nvPr>
            <p:ph sz="quarter" idx="11"/>
          </p:nvPr>
        </p:nvSpPr>
        <p:spPr>
          <a:xfrm>
            <a:off x="2167377" y="3260663"/>
            <a:ext cx="20049246" cy="11708403"/>
          </a:xfrm>
        </p:spPr>
        <p:txBody>
          <a:bodyPr>
            <a:normAutofit/>
          </a:bodyPr>
          <a:lstStyle/>
          <a:p>
            <a:pPr marL="0" indent="0" algn="just">
              <a:buNone/>
            </a:pPr>
            <a:r>
              <a:rPr lang="en-ID" dirty="0"/>
              <a:t>Approximate operation counts for n = 1,000,000 (10⁶):</a:t>
            </a:r>
          </a:p>
          <a:p>
            <a:pPr marL="0" indent="0" algn="just">
              <a:buNone/>
            </a:pPr>
            <a:endParaRPr lang="en-ID" dirty="0"/>
          </a:p>
          <a:p>
            <a:pPr marL="0" indent="0" algn="just">
              <a:buNone/>
            </a:pPr>
            <a:endParaRPr lang="en-ID" dirty="0"/>
          </a:p>
          <a:p>
            <a:pPr marL="0" indent="0" algn="just">
              <a:buNone/>
            </a:pPr>
            <a:endParaRPr lang="en-ID" dirty="0"/>
          </a:p>
          <a:p>
            <a:pPr marL="0" indent="0" algn="just">
              <a:buNone/>
            </a:pPr>
            <a:endParaRPr lang="en-ID" dirty="0"/>
          </a:p>
          <a:p>
            <a:pPr marL="0" indent="0" algn="just">
              <a:buNone/>
            </a:pPr>
            <a:r>
              <a:rPr lang="en-ID" b="1" dirty="0"/>
              <a:t>Practical rule:</a:t>
            </a:r>
            <a:r>
              <a:rPr lang="en-ID" dirty="0"/>
              <a:t> prefer algorithms with lower-order growth for large inputs. Constant factors matter for small inputs; growth rate dominates for large inputs.</a:t>
            </a:r>
          </a:p>
          <a:p>
            <a:pPr marL="0" indent="0" algn="just">
              <a:buNone/>
            </a:pPr>
            <a:r>
              <a:rPr lang="en-ID" dirty="0"/>
              <a:t>We will make this intuition precise with </a:t>
            </a:r>
            <a:r>
              <a:rPr lang="en-ID" b="1" dirty="0"/>
              <a:t>asymptotic notation</a:t>
            </a:r>
            <a:r>
              <a:rPr lang="en-ID" dirty="0"/>
              <a:t> (O, Ω, Θ) in Session 04.</a:t>
            </a:r>
          </a:p>
        </p:txBody>
      </p:sp>
      <p:graphicFrame>
        <p:nvGraphicFramePr>
          <p:cNvPr id="6" name="Table 5">
            <a:extLst>
              <a:ext uri="{FF2B5EF4-FFF2-40B4-BE49-F238E27FC236}">
                <a16:creationId xmlns:a16="http://schemas.microsoft.com/office/drawing/2014/main" id="{4B549A63-8123-A5FC-E92E-1B7828F54292}"/>
              </a:ext>
            </a:extLst>
          </p:cNvPr>
          <p:cNvGraphicFramePr>
            <a:graphicFrameLocks noGrp="1"/>
          </p:cNvGraphicFramePr>
          <p:nvPr/>
        </p:nvGraphicFramePr>
        <p:xfrm>
          <a:off x="4429291" y="4290898"/>
          <a:ext cx="15525417" cy="4213860"/>
        </p:xfrm>
        <a:graphic>
          <a:graphicData uri="http://schemas.openxmlformats.org/drawingml/2006/table">
            <a:tbl>
              <a:tblPr>
                <a:tableStyleId>{CF821DB8-F4EB-4A41-A1BA-3FCAFE7338EE}</a:tableStyleId>
              </a:tblPr>
              <a:tblGrid>
                <a:gridCol w="3775713">
                  <a:extLst>
                    <a:ext uri="{9D8B030D-6E8A-4147-A177-3AD203B41FA5}">
                      <a16:colId xmlns:a16="http://schemas.microsoft.com/office/drawing/2014/main" val="2364625332"/>
                    </a:ext>
                  </a:extLst>
                </a:gridCol>
                <a:gridCol w="3350461">
                  <a:extLst>
                    <a:ext uri="{9D8B030D-6E8A-4147-A177-3AD203B41FA5}">
                      <a16:colId xmlns:a16="http://schemas.microsoft.com/office/drawing/2014/main" val="1214761059"/>
                    </a:ext>
                  </a:extLst>
                </a:gridCol>
                <a:gridCol w="8399243">
                  <a:extLst>
                    <a:ext uri="{9D8B030D-6E8A-4147-A177-3AD203B41FA5}">
                      <a16:colId xmlns:a16="http://schemas.microsoft.com/office/drawing/2014/main" val="2333436711"/>
                    </a:ext>
                  </a:extLst>
                </a:gridCol>
              </a:tblGrid>
              <a:tr h="388620">
                <a:tc>
                  <a:txBody>
                    <a:bodyPr/>
                    <a:lstStyle/>
                    <a:p>
                      <a:pPr>
                        <a:buNone/>
                      </a:pPr>
                      <a:r>
                        <a:rPr lang="en-ID" sz="3200" b="1" dirty="0">
                          <a:effectLst/>
                        </a:rPr>
                        <a:t>T(n)</a:t>
                      </a:r>
                    </a:p>
                  </a:txBody>
                  <a:tcPr marL="76200" marR="76200" marT="38100" marB="76200" anchor="ctr"/>
                </a:tc>
                <a:tc>
                  <a:txBody>
                    <a:bodyPr/>
                    <a:lstStyle/>
                    <a:p>
                      <a:pPr>
                        <a:buNone/>
                      </a:pPr>
                      <a:r>
                        <a:rPr lang="en-ID" sz="3200" b="1">
                          <a:effectLst/>
                        </a:rPr>
                        <a:t>Operations</a:t>
                      </a:r>
                    </a:p>
                  </a:txBody>
                  <a:tcPr marL="76200" marR="76200" marT="38100" marB="76200" anchor="ctr"/>
                </a:tc>
                <a:tc>
                  <a:txBody>
                    <a:bodyPr/>
                    <a:lstStyle/>
                    <a:p>
                      <a:pPr>
                        <a:buNone/>
                      </a:pPr>
                      <a:r>
                        <a:rPr lang="en-ID" sz="3200" b="1">
                          <a:effectLst/>
                        </a:rPr>
                        <a:t>At 10⁹ ops/sec</a:t>
                      </a:r>
                    </a:p>
                  </a:txBody>
                  <a:tcPr marL="76200" marR="76200" marT="38100" marB="76200" anchor="ctr"/>
                </a:tc>
                <a:extLst>
                  <a:ext uri="{0D108BD9-81ED-4DB2-BD59-A6C34878D82A}">
                    <a16:rowId xmlns:a16="http://schemas.microsoft.com/office/drawing/2014/main" val="132394146"/>
                  </a:ext>
                </a:extLst>
              </a:tr>
              <a:tr h="388620">
                <a:tc>
                  <a:txBody>
                    <a:bodyPr/>
                    <a:lstStyle/>
                    <a:p>
                      <a:pPr>
                        <a:buNone/>
                      </a:pPr>
                      <a:r>
                        <a:rPr lang="en-ID" sz="3200">
                          <a:effectLst/>
                        </a:rPr>
                        <a:t>log₂ n</a:t>
                      </a:r>
                    </a:p>
                  </a:txBody>
                  <a:tcPr marL="76200" marR="76200" marT="38100" marB="76200" anchor="ctr"/>
                </a:tc>
                <a:tc>
                  <a:txBody>
                    <a:bodyPr/>
                    <a:lstStyle/>
                    <a:p>
                      <a:pPr>
                        <a:buNone/>
                      </a:pPr>
                      <a:r>
                        <a:rPr lang="en-ID" sz="3200">
                          <a:effectLst/>
                        </a:rPr>
                        <a:t>~20</a:t>
                      </a:r>
                    </a:p>
                  </a:txBody>
                  <a:tcPr marL="76200" marR="76200" marT="38100" marB="76200" anchor="ctr"/>
                </a:tc>
                <a:tc>
                  <a:txBody>
                    <a:bodyPr/>
                    <a:lstStyle/>
                    <a:p>
                      <a:pPr>
                        <a:buNone/>
                      </a:pPr>
                      <a:r>
                        <a:rPr lang="en-ID" sz="3200">
                          <a:effectLst/>
                        </a:rPr>
                        <a:t>&lt; 1 microsecond</a:t>
                      </a:r>
                    </a:p>
                  </a:txBody>
                  <a:tcPr marL="76200" marR="76200" marT="38100" marB="76200" anchor="ctr"/>
                </a:tc>
                <a:extLst>
                  <a:ext uri="{0D108BD9-81ED-4DB2-BD59-A6C34878D82A}">
                    <a16:rowId xmlns:a16="http://schemas.microsoft.com/office/drawing/2014/main" val="3561266208"/>
                  </a:ext>
                </a:extLst>
              </a:tr>
              <a:tr h="388620">
                <a:tc>
                  <a:txBody>
                    <a:bodyPr/>
                    <a:lstStyle/>
                    <a:p>
                      <a:pPr>
                        <a:buNone/>
                      </a:pPr>
                      <a:r>
                        <a:rPr lang="en-ID" sz="3200">
                          <a:effectLst/>
                        </a:rPr>
                        <a:t>n</a:t>
                      </a:r>
                    </a:p>
                  </a:txBody>
                  <a:tcPr marL="76200" marR="76200" marT="38100" marB="76200" anchor="ctr"/>
                </a:tc>
                <a:tc>
                  <a:txBody>
                    <a:bodyPr/>
                    <a:lstStyle/>
                    <a:p>
                      <a:pPr>
                        <a:buNone/>
                      </a:pPr>
                      <a:r>
                        <a:rPr lang="en-ID" sz="3200">
                          <a:effectLst/>
                        </a:rPr>
                        <a:t>10⁶</a:t>
                      </a:r>
                    </a:p>
                  </a:txBody>
                  <a:tcPr marL="76200" marR="76200" marT="38100" marB="76200" anchor="ctr"/>
                </a:tc>
                <a:tc>
                  <a:txBody>
                    <a:bodyPr/>
                    <a:lstStyle/>
                    <a:p>
                      <a:pPr>
                        <a:buNone/>
                      </a:pPr>
                      <a:r>
                        <a:rPr lang="en-ID" sz="3200">
                          <a:effectLst/>
                        </a:rPr>
                        <a:t>~1 millisecond</a:t>
                      </a:r>
                    </a:p>
                  </a:txBody>
                  <a:tcPr marL="76200" marR="76200" marT="38100" marB="76200" anchor="ctr"/>
                </a:tc>
                <a:extLst>
                  <a:ext uri="{0D108BD9-81ED-4DB2-BD59-A6C34878D82A}">
                    <a16:rowId xmlns:a16="http://schemas.microsoft.com/office/drawing/2014/main" val="3735413756"/>
                  </a:ext>
                </a:extLst>
              </a:tr>
              <a:tr h="388620">
                <a:tc>
                  <a:txBody>
                    <a:bodyPr/>
                    <a:lstStyle/>
                    <a:p>
                      <a:pPr>
                        <a:buNone/>
                      </a:pPr>
                      <a:r>
                        <a:rPr lang="en-ID" sz="3200">
                          <a:effectLst/>
                        </a:rPr>
                        <a:t>n log n</a:t>
                      </a:r>
                    </a:p>
                  </a:txBody>
                  <a:tcPr marL="76200" marR="76200" marT="38100" marB="76200" anchor="ctr"/>
                </a:tc>
                <a:tc>
                  <a:txBody>
                    <a:bodyPr/>
                    <a:lstStyle/>
                    <a:p>
                      <a:pPr>
                        <a:buNone/>
                      </a:pPr>
                      <a:r>
                        <a:rPr lang="en-ID" sz="3200">
                          <a:effectLst/>
                        </a:rPr>
                        <a:t>~2 × 10⁷</a:t>
                      </a:r>
                    </a:p>
                  </a:txBody>
                  <a:tcPr marL="76200" marR="76200" marT="38100" marB="76200" anchor="ctr"/>
                </a:tc>
                <a:tc>
                  <a:txBody>
                    <a:bodyPr/>
                    <a:lstStyle/>
                    <a:p>
                      <a:pPr>
                        <a:buNone/>
                      </a:pPr>
                      <a:r>
                        <a:rPr lang="en-ID" sz="3200">
                          <a:effectLst/>
                        </a:rPr>
                        <a:t>~20 milliseconds</a:t>
                      </a:r>
                    </a:p>
                  </a:txBody>
                  <a:tcPr marL="76200" marR="76200" marT="38100" marB="76200" anchor="ctr"/>
                </a:tc>
                <a:extLst>
                  <a:ext uri="{0D108BD9-81ED-4DB2-BD59-A6C34878D82A}">
                    <a16:rowId xmlns:a16="http://schemas.microsoft.com/office/drawing/2014/main" val="73532463"/>
                  </a:ext>
                </a:extLst>
              </a:tr>
              <a:tr h="388620">
                <a:tc>
                  <a:txBody>
                    <a:bodyPr/>
                    <a:lstStyle/>
                    <a:p>
                      <a:pPr>
                        <a:buNone/>
                      </a:pPr>
                      <a:r>
                        <a:rPr lang="en-ID" sz="3200">
                          <a:effectLst/>
                        </a:rPr>
                        <a:t>n²</a:t>
                      </a:r>
                    </a:p>
                  </a:txBody>
                  <a:tcPr marL="76200" marR="76200" marT="38100" marB="76200" anchor="ctr"/>
                </a:tc>
                <a:tc>
                  <a:txBody>
                    <a:bodyPr/>
                    <a:lstStyle/>
                    <a:p>
                      <a:pPr>
                        <a:buNone/>
                      </a:pPr>
                      <a:r>
                        <a:rPr lang="en-ID" sz="3200">
                          <a:effectLst/>
                        </a:rPr>
                        <a:t>10¹²</a:t>
                      </a:r>
                    </a:p>
                  </a:txBody>
                  <a:tcPr marL="76200" marR="76200" marT="38100" marB="76200" anchor="ctr"/>
                </a:tc>
                <a:tc>
                  <a:txBody>
                    <a:bodyPr/>
                    <a:lstStyle/>
                    <a:p>
                      <a:pPr>
                        <a:buNone/>
                      </a:pPr>
                      <a:r>
                        <a:rPr lang="en-ID" sz="3200">
                          <a:effectLst/>
                        </a:rPr>
                        <a:t>~17 minutes</a:t>
                      </a:r>
                    </a:p>
                  </a:txBody>
                  <a:tcPr marL="76200" marR="76200" marT="38100" marB="76200" anchor="ctr"/>
                </a:tc>
                <a:extLst>
                  <a:ext uri="{0D108BD9-81ED-4DB2-BD59-A6C34878D82A}">
                    <a16:rowId xmlns:a16="http://schemas.microsoft.com/office/drawing/2014/main" val="1723726927"/>
                  </a:ext>
                </a:extLst>
              </a:tr>
              <a:tr h="388620">
                <a:tc>
                  <a:txBody>
                    <a:bodyPr/>
                    <a:lstStyle/>
                    <a:p>
                      <a:pPr>
                        <a:buNone/>
                      </a:pPr>
                      <a:r>
                        <a:rPr lang="en-ID" sz="3200">
                          <a:effectLst/>
                        </a:rPr>
                        <a:t>n³</a:t>
                      </a:r>
                    </a:p>
                  </a:txBody>
                  <a:tcPr marL="76200" marR="76200" marT="38100" marB="76200" anchor="ctr"/>
                </a:tc>
                <a:tc>
                  <a:txBody>
                    <a:bodyPr/>
                    <a:lstStyle/>
                    <a:p>
                      <a:pPr>
                        <a:buNone/>
                      </a:pPr>
                      <a:r>
                        <a:rPr lang="en-ID" sz="3200">
                          <a:effectLst/>
                        </a:rPr>
                        <a:t>10¹⁸</a:t>
                      </a:r>
                    </a:p>
                  </a:txBody>
                  <a:tcPr marL="76200" marR="76200" marT="38100" marB="76200" anchor="ctr"/>
                </a:tc>
                <a:tc>
                  <a:txBody>
                    <a:bodyPr/>
                    <a:lstStyle/>
                    <a:p>
                      <a:pPr>
                        <a:buNone/>
                      </a:pPr>
                      <a:r>
                        <a:rPr lang="en-ID" sz="3200">
                          <a:effectLst/>
                        </a:rPr>
                        <a:t>~32 years</a:t>
                      </a:r>
                    </a:p>
                  </a:txBody>
                  <a:tcPr marL="76200" marR="76200" marT="38100" marB="76200" anchor="ctr"/>
                </a:tc>
                <a:extLst>
                  <a:ext uri="{0D108BD9-81ED-4DB2-BD59-A6C34878D82A}">
                    <a16:rowId xmlns:a16="http://schemas.microsoft.com/office/drawing/2014/main" val="3015614882"/>
                  </a:ext>
                </a:extLst>
              </a:tr>
              <a:tr h="388620">
                <a:tc>
                  <a:txBody>
                    <a:bodyPr/>
                    <a:lstStyle/>
                    <a:p>
                      <a:pPr>
                        <a:buNone/>
                      </a:pPr>
                      <a:r>
                        <a:rPr lang="en-ID" sz="3200" dirty="0">
                          <a:effectLst/>
                        </a:rPr>
                        <a:t>2ⁿ</a:t>
                      </a:r>
                    </a:p>
                  </a:txBody>
                  <a:tcPr marL="76200" marR="76200" marT="38100" marB="76200" anchor="ctr"/>
                </a:tc>
                <a:tc>
                  <a:txBody>
                    <a:bodyPr/>
                    <a:lstStyle/>
                    <a:p>
                      <a:pPr>
                        <a:buNone/>
                      </a:pPr>
                      <a:r>
                        <a:rPr lang="en-ID" sz="3200">
                          <a:effectLst/>
                        </a:rPr>
                        <a:t>10³⁰⁰⁰⁰⁰</a:t>
                      </a:r>
                    </a:p>
                  </a:txBody>
                  <a:tcPr marL="76200" marR="76200" marT="38100" marB="76200" anchor="ctr"/>
                </a:tc>
                <a:tc>
                  <a:txBody>
                    <a:bodyPr/>
                    <a:lstStyle/>
                    <a:p>
                      <a:pPr>
                        <a:buNone/>
                      </a:pPr>
                      <a:r>
                        <a:rPr lang="en-ID" sz="3200" dirty="0">
                          <a:effectLst/>
                        </a:rPr>
                        <a:t>longer than the universe's age</a:t>
                      </a:r>
                    </a:p>
                  </a:txBody>
                  <a:tcPr marL="76200" marR="76200" marT="38100" marB="76200" anchor="ctr"/>
                </a:tc>
                <a:extLst>
                  <a:ext uri="{0D108BD9-81ED-4DB2-BD59-A6C34878D82A}">
                    <a16:rowId xmlns:a16="http://schemas.microsoft.com/office/drawing/2014/main" val="1910703764"/>
                  </a:ext>
                </a:extLst>
              </a:tr>
            </a:tbl>
          </a:graphicData>
        </a:graphic>
      </p:graphicFrame>
    </p:spTree>
    <p:extLst>
      <p:ext uri="{BB962C8B-B14F-4D97-AF65-F5344CB8AC3E}">
        <p14:creationId xmlns:p14="http://schemas.microsoft.com/office/powerpoint/2010/main" val="2999018600"/>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D1182-FD60-574B-33BE-3007E86DB5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71C4EB-7D2F-CCE2-2601-F053E930E83B}"/>
              </a:ext>
            </a:extLst>
          </p:cNvPr>
          <p:cNvSpPr>
            <a:spLocks noGrp="1"/>
          </p:cNvSpPr>
          <p:nvPr>
            <p:ph type="title"/>
          </p:nvPr>
        </p:nvSpPr>
        <p:spPr/>
        <p:txBody>
          <a:bodyPr>
            <a:normAutofit fontScale="90000"/>
          </a:bodyPr>
          <a:lstStyle/>
          <a:p>
            <a:r>
              <a:rPr lang="en-ID" dirty="0"/>
              <a:t>Problem </a:t>
            </a:r>
            <a:r>
              <a:rPr lang="en-ID" dirty="0" err="1"/>
              <a:t>Modeling</a:t>
            </a:r>
            <a:endParaRPr lang="en-ID" dirty="0"/>
          </a:p>
        </p:txBody>
      </p:sp>
      <p:sp>
        <p:nvSpPr>
          <p:cNvPr id="3" name="Text Placeholder 2">
            <a:extLst>
              <a:ext uri="{FF2B5EF4-FFF2-40B4-BE49-F238E27FC236}">
                <a16:creationId xmlns:a16="http://schemas.microsoft.com/office/drawing/2014/main" id="{40CB6895-C663-80BD-C625-EE22DD352D89}"/>
              </a:ext>
            </a:extLst>
          </p:cNvPr>
          <p:cNvSpPr>
            <a:spLocks noGrp="1"/>
          </p:cNvSpPr>
          <p:nvPr>
            <p:ph type="body" sz="quarter" idx="10"/>
          </p:nvPr>
        </p:nvSpPr>
        <p:spPr>
          <a:xfrm>
            <a:off x="2167376" y="2419728"/>
            <a:ext cx="11548623" cy="803546"/>
          </a:xfrm>
        </p:spPr>
        <p:txBody>
          <a:bodyPr>
            <a:noAutofit/>
          </a:bodyPr>
          <a:lstStyle/>
          <a:p>
            <a:r>
              <a:rPr lang="en-ID" dirty="0"/>
              <a:t>Why </a:t>
            </a:r>
            <a:r>
              <a:rPr lang="en-ID" dirty="0" err="1"/>
              <a:t>Modeling</a:t>
            </a:r>
            <a:r>
              <a:rPr lang="en-ID" dirty="0"/>
              <a:t> Matters</a:t>
            </a:r>
          </a:p>
        </p:txBody>
      </p:sp>
      <p:sp>
        <p:nvSpPr>
          <p:cNvPr id="4" name="Content Placeholder 3">
            <a:extLst>
              <a:ext uri="{FF2B5EF4-FFF2-40B4-BE49-F238E27FC236}">
                <a16:creationId xmlns:a16="http://schemas.microsoft.com/office/drawing/2014/main" id="{B7089517-FD16-4E8A-AB42-F0CD6FBB3D32}"/>
              </a:ext>
            </a:extLst>
          </p:cNvPr>
          <p:cNvSpPr>
            <a:spLocks noGrp="1"/>
          </p:cNvSpPr>
          <p:nvPr>
            <p:ph sz="quarter" idx="11"/>
          </p:nvPr>
        </p:nvSpPr>
        <p:spPr>
          <a:xfrm>
            <a:off x="2167377" y="3714224"/>
            <a:ext cx="20049246" cy="9138176"/>
          </a:xfrm>
        </p:spPr>
        <p:txBody>
          <a:bodyPr>
            <a:normAutofit/>
          </a:bodyPr>
          <a:lstStyle/>
          <a:p>
            <a:pPr marL="0" indent="0" algn="just">
              <a:buNone/>
            </a:pPr>
            <a:r>
              <a:rPr lang="en-ID" dirty="0"/>
              <a:t>Most real-world problems are stated informally. Before applying an algorithm, we must </a:t>
            </a:r>
            <a:r>
              <a:rPr lang="en-ID" b="1" dirty="0"/>
              <a:t>model</a:t>
            </a:r>
            <a:r>
              <a:rPr lang="en-ID" dirty="0"/>
              <a:t> the problem by expressing it in terms of a clean, formal computational problem. Good </a:t>
            </a:r>
            <a:r>
              <a:rPr lang="en-ID" dirty="0" err="1"/>
              <a:t>modeling</a:t>
            </a:r>
            <a:r>
              <a:rPr lang="en-ID" dirty="0"/>
              <a:t> connects the messy real world to the precise algorithmic world.</a:t>
            </a:r>
          </a:p>
        </p:txBody>
      </p:sp>
    </p:spTree>
    <p:extLst>
      <p:ext uri="{BB962C8B-B14F-4D97-AF65-F5344CB8AC3E}">
        <p14:creationId xmlns:p14="http://schemas.microsoft.com/office/powerpoint/2010/main" val="2420984805"/>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3A27-0CE6-8BD8-2B47-3EB15E744B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BB95E-8666-067A-8A9D-832EF5CF1C7B}"/>
              </a:ext>
            </a:extLst>
          </p:cNvPr>
          <p:cNvSpPr>
            <a:spLocks noGrp="1"/>
          </p:cNvSpPr>
          <p:nvPr>
            <p:ph type="title"/>
          </p:nvPr>
        </p:nvSpPr>
        <p:spPr/>
        <p:txBody>
          <a:bodyPr>
            <a:normAutofit fontScale="90000"/>
          </a:bodyPr>
          <a:lstStyle/>
          <a:p>
            <a:r>
              <a:rPr lang="en-ID" dirty="0"/>
              <a:t>Problem </a:t>
            </a:r>
            <a:r>
              <a:rPr lang="en-ID" dirty="0" err="1"/>
              <a:t>Modeling</a:t>
            </a:r>
            <a:endParaRPr lang="en-ID" dirty="0"/>
          </a:p>
        </p:txBody>
      </p:sp>
      <p:sp>
        <p:nvSpPr>
          <p:cNvPr id="3" name="Text Placeholder 2">
            <a:extLst>
              <a:ext uri="{FF2B5EF4-FFF2-40B4-BE49-F238E27FC236}">
                <a16:creationId xmlns:a16="http://schemas.microsoft.com/office/drawing/2014/main" id="{F2F9970B-F421-B2F0-BDFD-EF658D0759D3}"/>
              </a:ext>
            </a:extLst>
          </p:cNvPr>
          <p:cNvSpPr>
            <a:spLocks noGrp="1"/>
          </p:cNvSpPr>
          <p:nvPr>
            <p:ph type="body" sz="quarter" idx="10"/>
          </p:nvPr>
        </p:nvSpPr>
        <p:spPr>
          <a:xfrm>
            <a:off x="2167376" y="2419728"/>
            <a:ext cx="11548623" cy="803546"/>
          </a:xfrm>
        </p:spPr>
        <p:txBody>
          <a:bodyPr>
            <a:noAutofit/>
          </a:bodyPr>
          <a:lstStyle/>
          <a:p>
            <a:r>
              <a:rPr lang="en-ID" dirty="0"/>
              <a:t>Steps in Problem </a:t>
            </a:r>
            <a:r>
              <a:rPr lang="en-ID" dirty="0" err="1"/>
              <a:t>Modeling</a:t>
            </a:r>
            <a:endParaRPr lang="en-ID" dirty="0"/>
          </a:p>
        </p:txBody>
      </p:sp>
      <p:sp>
        <p:nvSpPr>
          <p:cNvPr id="4" name="Content Placeholder 3">
            <a:extLst>
              <a:ext uri="{FF2B5EF4-FFF2-40B4-BE49-F238E27FC236}">
                <a16:creationId xmlns:a16="http://schemas.microsoft.com/office/drawing/2014/main" id="{F298C423-BE55-B247-F743-05B2FFB8BD5B}"/>
              </a:ext>
            </a:extLst>
          </p:cNvPr>
          <p:cNvSpPr>
            <a:spLocks noGrp="1"/>
          </p:cNvSpPr>
          <p:nvPr>
            <p:ph sz="quarter" idx="11"/>
          </p:nvPr>
        </p:nvSpPr>
        <p:spPr>
          <a:xfrm>
            <a:off x="2167377" y="3714224"/>
            <a:ext cx="20049246" cy="9138176"/>
          </a:xfrm>
        </p:spPr>
        <p:txBody>
          <a:bodyPr>
            <a:normAutofit/>
          </a:bodyPr>
          <a:lstStyle/>
          <a:p>
            <a:pPr>
              <a:buFont typeface="+mj-lt"/>
              <a:buAutoNum type="arabicPeriod"/>
            </a:pPr>
            <a:r>
              <a:rPr lang="en-ID" b="1" dirty="0"/>
              <a:t>Identify the input objects:</a:t>
            </a:r>
            <a:r>
              <a:rPr lang="en-ID" dirty="0"/>
              <a:t> points, numbers, strings, edges, sets?</a:t>
            </a:r>
          </a:p>
          <a:p>
            <a:pPr>
              <a:buFont typeface="+mj-lt"/>
              <a:buAutoNum type="arabicPeriod"/>
            </a:pPr>
            <a:r>
              <a:rPr lang="en-ID" b="1" dirty="0"/>
              <a:t>Define what "correct" means:</a:t>
            </a:r>
            <a:r>
              <a:rPr lang="en-ID" dirty="0"/>
              <a:t> minimum? maximum? any valid solution? all solutions?</a:t>
            </a:r>
          </a:p>
          <a:p>
            <a:pPr>
              <a:buFont typeface="+mj-lt"/>
              <a:buAutoNum type="arabicPeriod"/>
            </a:pPr>
            <a:r>
              <a:rPr lang="en-ID" b="1" dirty="0"/>
              <a:t>Recognize the problem type:</a:t>
            </a:r>
            <a:r>
              <a:rPr lang="en-ID" dirty="0"/>
              <a:t> sorting? graph traversal? optimization? search?</a:t>
            </a:r>
          </a:p>
          <a:p>
            <a:pPr>
              <a:buFont typeface="+mj-lt"/>
              <a:buAutoNum type="arabicPeriod"/>
            </a:pPr>
            <a:r>
              <a:rPr lang="en-ID" b="1" dirty="0"/>
              <a:t>Map to a known algorithm:</a:t>
            </a:r>
            <a:r>
              <a:rPr lang="en-ID" dirty="0"/>
              <a:t> BFS, DP, greedy, backtracking, approximation?</a:t>
            </a:r>
          </a:p>
        </p:txBody>
      </p:sp>
    </p:spTree>
    <p:extLst>
      <p:ext uri="{BB962C8B-B14F-4D97-AF65-F5344CB8AC3E}">
        <p14:creationId xmlns:p14="http://schemas.microsoft.com/office/powerpoint/2010/main" val="3197433878"/>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0DE7D-15C8-ABD8-B79C-444F91CEB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1BC68A-6F3F-2D17-E982-A20C5E3A3E97}"/>
              </a:ext>
            </a:extLst>
          </p:cNvPr>
          <p:cNvSpPr>
            <a:spLocks noGrp="1"/>
          </p:cNvSpPr>
          <p:nvPr>
            <p:ph type="title"/>
          </p:nvPr>
        </p:nvSpPr>
        <p:spPr/>
        <p:txBody>
          <a:bodyPr>
            <a:normAutofit fontScale="90000"/>
          </a:bodyPr>
          <a:lstStyle/>
          <a:p>
            <a:r>
              <a:rPr lang="en-ID" dirty="0"/>
              <a:t>Problem </a:t>
            </a:r>
            <a:r>
              <a:rPr lang="en-ID" dirty="0" err="1"/>
              <a:t>Modeling</a:t>
            </a:r>
            <a:endParaRPr lang="en-ID" dirty="0"/>
          </a:p>
        </p:txBody>
      </p:sp>
      <p:sp>
        <p:nvSpPr>
          <p:cNvPr id="3" name="Text Placeholder 2">
            <a:extLst>
              <a:ext uri="{FF2B5EF4-FFF2-40B4-BE49-F238E27FC236}">
                <a16:creationId xmlns:a16="http://schemas.microsoft.com/office/drawing/2014/main" id="{ABEF902C-6F95-7D31-A866-829BC8D73059}"/>
              </a:ext>
            </a:extLst>
          </p:cNvPr>
          <p:cNvSpPr>
            <a:spLocks noGrp="1"/>
          </p:cNvSpPr>
          <p:nvPr>
            <p:ph type="body" sz="quarter" idx="10"/>
          </p:nvPr>
        </p:nvSpPr>
        <p:spPr>
          <a:xfrm>
            <a:off x="2167376" y="2419728"/>
            <a:ext cx="13184919" cy="803546"/>
          </a:xfrm>
        </p:spPr>
        <p:txBody>
          <a:bodyPr>
            <a:noAutofit/>
          </a:bodyPr>
          <a:lstStyle/>
          <a:p>
            <a:r>
              <a:rPr lang="en-ID" dirty="0"/>
              <a:t>Common Combinatorial Object Models (</a:t>
            </a:r>
            <a:r>
              <a:rPr lang="en-ID" dirty="0" err="1"/>
              <a:t>Skiena</a:t>
            </a:r>
            <a:r>
              <a:rPr lang="en-ID" dirty="0"/>
              <a:t>, Ch. 1.5)</a:t>
            </a:r>
          </a:p>
        </p:txBody>
      </p:sp>
      <p:graphicFrame>
        <p:nvGraphicFramePr>
          <p:cNvPr id="7" name="Content Placeholder 6">
            <a:extLst>
              <a:ext uri="{FF2B5EF4-FFF2-40B4-BE49-F238E27FC236}">
                <a16:creationId xmlns:a16="http://schemas.microsoft.com/office/drawing/2014/main" id="{DCFEE9DE-D17F-48B6-274A-3CE677780CDE}"/>
              </a:ext>
            </a:extLst>
          </p:cNvPr>
          <p:cNvGraphicFramePr>
            <a:graphicFrameLocks noGrp="1"/>
          </p:cNvGraphicFramePr>
          <p:nvPr>
            <p:ph sz="quarter" idx="11"/>
          </p:nvPr>
        </p:nvGraphicFramePr>
        <p:xfrm>
          <a:off x="2536825" y="4050796"/>
          <a:ext cx="19310350" cy="4116966"/>
        </p:xfrm>
        <a:graphic>
          <a:graphicData uri="http://schemas.openxmlformats.org/drawingml/2006/table">
            <a:tbl>
              <a:tblPr>
                <a:tableStyleId>{CF821DB8-F4EB-4A41-A1BA-3FCAFE7338EE}</a:tableStyleId>
              </a:tblPr>
              <a:tblGrid>
                <a:gridCol w="6543925">
                  <a:extLst>
                    <a:ext uri="{9D8B030D-6E8A-4147-A177-3AD203B41FA5}">
                      <a16:colId xmlns:a16="http://schemas.microsoft.com/office/drawing/2014/main" val="2443301777"/>
                    </a:ext>
                  </a:extLst>
                </a:gridCol>
                <a:gridCol w="12766425">
                  <a:extLst>
                    <a:ext uri="{9D8B030D-6E8A-4147-A177-3AD203B41FA5}">
                      <a16:colId xmlns:a16="http://schemas.microsoft.com/office/drawing/2014/main" val="1803371933"/>
                    </a:ext>
                  </a:extLst>
                </a:gridCol>
              </a:tblGrid>
              <a:tr h="341559">
                <a:tc>
                  <a:txBody>
                    <a:bodyPr/>
                    <a:lstStyle/>
                    <a:p>
                      <a:pPr>
                        <a:buNone/>
                      </a:pPr>
                      <a:r>
                        <a:rPr lang="en-ID" sz="3200" b="1">
                          <a:effectLst/>
                        </a:rPr>
                        <a:t>Object</a:t>
                      </a:r>
                    </a:p>
                  </a:txBody>
                  <a:tcPr marL="66972" marR="66972" marT="33486" marB="66972" anchor="ctr"/>
                </a:tc>
                <a:tc>
                  <a:txBody>
                    <a:bodyPr/>
                    <a:lstStyle/>
                    <a:p>
                      <a:pPr>
                        <a:buNone/>
                      </a:pPr>
                      <a:r>
                        <a:rPr lang="en-ID" sz="3200" b="1">
                          <a:effectLst/>
                        </a:rPr>
                        <a:t>Typical Problem Types</a:t>
                      </a:r>
                    </a:p>
                  </a:txBody>
                  <a:tcPr marL="66972" marR="66972" marT="33486" marB="66972" anchor="ctr"/>
                </a:tc>
                <a:extLst>
                  <a:ext uri="{0D108BD9-81ED-4DB2-BD59-A6C34878D82A}">
                    <a16:rowId xmlns:a16="http://schemas.microsoft.com/office/drawing/2014/main" val="4229386027"/>
                  </a:ext>
                </a:extLst>
              </a:tr>
              <a:tr h="341559">
                <a:tc>
                  <a:txBody>
                    <a:bodyPr/>
                    <a:lstStyle/>
                    <a:p>
                      <a:pPr>
                        <a:buNone/>
                      </a:pPr>
                      <a:r>
                        <a:rPr lang="en-ID" sz="3200">
                          <a:effectLst/>
                        </a:rPr>
                        <a:t>Permutations</a:t>
                      </a:r>
                    </a:p>
                  </a:txBody>
                  <a:tcPr marL="66972" marR="66972" marT="33486" marB="66972" anchor="ctr"/>
                </a:tc>
                <a:tc>
                  <a:txBody>
                    <a:bodyPr/>
                    <a:lstStyle/>
                    <a:p>
                      <a:pPr>
                        <a:buNone/>
                      </a:pPr>
                      <a:r>
                        <a:rPr lang="en-ID" sz="3200">
                          <a:effectLst/>
                        </a:rPr>
                        <a:t>Scheduling, arrangement, assignment, TSP</a:t>
                      </a:r>
                    </a:p>
                  </a:txBody>
                  <a:tcPr marL="66972" marR="66972" marT="33486" marB="66972" anchor="ctr"/>
                </a:tc>
                <a:extLst>
                  <a:ext uri="{0D108BD9-81ED-4DB2-BD59-A6C34878D82A}">
                    <a16:rowId xmlns:a16="http://schemas.microsoft.com/office/drawing/2014/main" val="2565076558"/>
                  </a:ext>
                </a:extLst>
              </a:tr>
              <a:tr h="341559">
                <a:tc>
                  <a:txBody>
                    <a:bodyPr/>
                    <a:lstStyle/>
                    <a:p>
                      <a:pPr>
                        <a:buNone/>
                      </a:pPr>
                      <a:r>
                        <a:rPr lang="en-ID" sz="3200" dirty="0">
                          <a:effectLst/>
                        </a:rPr>
                        <a:t>Subsets</a:t>
                      </a:r>
                    </a:p>
                  </a:txBody>
                  <a:tcPr marL="66972" marR="66972" marT="33486" marB="66972" anchor="ctr"/>
                </a:tc>
                <a:tc>
                  <a:txBody>
                    <a:bodyPr/>
                    <a:lstStyle/>
                    <a:p>
                      <a:pPr>
                        <a:buNone/>
                      </a:pPr>
                      <a:r>
                        <a:rPr lang="en-ID" sz="3200">
                          <a:effectLst/>
                        </a:rPr>
                        <a:t>Knapsack, vertex cover, set cover</a:t>
                      </a:r>
                    </a:p>
                  </a:txBody>
                  <a:tcPr marL="66972" marR="66972" marT="33486" marB="66972" anchor="ctr"/>
                </a:tc>
                <a:extLst>
                  <a:ext uri="{0D108BD9-81ED-4DB2-BD59-A6C34878D82A}">
                    <a16:rowId xmlns:a16="http://schemas.microsoft.com/office/drawing/2014/main" val="2062136524"/>
                  </a:ext>
                </a:extLst>
              </a:tr>
              <a:tr h="341559">
                <a:tc>
                  <a:txBody>
                    <a:bodyPr/>
                    <a:lstStyle/>
                    <a:p>
                      <a:pPr>
                        <a:buNone/>
                      </a:pPr>
                      <a:r>
                        <a:rPr lang="en-ID" sz="3200">
                          <a:effectLst/>
                        </a:rPr>
                        <a:t>Trees</a:t>
                      </a:r>
                    </a:p>
                  </a:txBody>
                  <a:tcPr marL="66972" marR="66972" marT="33486" marB="66972" anchor="ctr"/>
                </a:tc>
                <a:tc>
                  <a:txBody>
                    <a:bodyPr/>
                    <a:lstStyle/>
                    <a:p>
                      <a:pPr>
                        <a:buNone/>
                      </a:pPr>
                      <a:r>
                        <a:rPr lang="en-ID" sz="3200" dirty="0">
                          <a:effectLst/>
                        </a:rPr>
                        <a:t>MST, parse tree, decision tree</a:t>
                      </a:r>
                    </a:p>
                  </a:txBody>
                  <a:tcPr marL="66972" marR="66972" marT="33486" marB="66972" anchor="ctr"/>
                </a:tc>
                <a:extLst>
                  <a:ext uri="{0D108BD9-81ED-4DB2-BD59-A6C34878D82A}">
                    <a16:rowId xmlns:a16="http://schemas.microsoft.com/office/drawing/2014/main" val="2517670329"/>
                  </a:ext>
                </a:extLst>
              </a:tr>
              <a:tr h="341559">
                <a:tc>
                  <a:txBody>
                    <a:bodyPr/>
                    <a:lstStyle/>
                    <a:p>
                      <a:pPr>
                        <a:buNone/>
                      </a:pPr>
                      <a:r>
                        <a:rPr lang="en-ID" sz="3200">
                          <a:effectLst/>
                        </a:rPr>
                        <a:t>Graphs</a:t>
                      </a:r>
                    </a:p>
                  </a:txBody>
                  <a:tcPr marL="66972" marR="66972" marT="33486" marB="66972" anchor="ctr"/>
                </a:tc>
                <a:tc>
                  <a:txBody>
                    <a:bodyPr/>
                    <a:lstStyle/>
                    <a:p>
                      <a:pPr>
                        <a:buNone/>
                      </a:pPr>
                      <a:r>
                        <a:rPr lang="en-ID" sz="3200">
                          <a:effectLst/>
                        </a:rPr>
                        <a:t>Shortest path, network flow, bipartite matching</a:t>
                      </a:r>
                    </a:p>
                  </a:txBody>
                  <a:tcPr marL="66972" marR="66972" marT="33486" marB="66972" anchor="ctr"/>
                </a:tc>
                <a:extLst>
                  <a:ext uri="{0D108BD9-81ED-4DB2-BD59-A6C34878D82A}">
                    <a16:rowId xmlns:a16="http://schemas.microsoft.com/office/drawing/2014/main" val="1200274351"/>
                  </a:ext>
                </a:extLst>
              </a:tr>
              <a:tr h="341559">
                <a:tc>
                  <a:txBody>
                    <a:bodyPr/>
                    <a:lstStyle/>
                    <a:p>
                      <a:pPr>
                        <a:buNone/>
                      </a:pPr>
                      <a:r>
                        <a:rPr lang="en-ID" sz="3200">
                          <a:effectLst/>
                        </a:rPr>
                        <a:t>Points</a:t>
                      </a:r>
                    </a:p>
                  </a:txBody>
                  <a:tcPr marL="66972" marR="66972" marT="33486" marB="66972" anchor="ctr"/>
                </a:tc>
                <a:tc>
                  <a:txBody>
                    <a:bodyPr/>
                    <a:lstStyle/>
                    <a:p>
                      <a:pPr>
                        <a:buNone/>
                      </a:pPr>
                      <a:r>
                        <a:rPr lang="en-ID" sz="3200">
                          <a:effectLst/>
                        </a:rPr>
                        <a:t>Closest pair, convex hull, clustering</a:t>
                      </a:r>
                    </a:p>
                  </a:txBody>
                  <a:tcPr marL="66972" marR="66972" marT="33486" marB="66972" anchor="ctr"/>
                </a:tc>
                <a:extLst>
                  <a:ext uri="{0D108BD9-81ED-4DB2-BD59-A6C34878D82A}">
                    <a16:rowId xmlns:a16="http://schemas.microsoft.com/office/drawing/2014/main" val="1419342092"/>
                  </a:ext>
                </a:extLst>
              </a:tr>
              <a:tr h="341559">
                <a:tc>
                  <a:txBody>
                    <a:bodyPr/>
                    <a:lstStyle/>
                    <a:p>
                      <a:pPr>
                        <a:buNone/>
                      </a:pPr>
                      <a:r>
                        <a:rPr lang="en-ID" sz="3200" dirty="0">
                          <a:effectLst/>
                        </a:rPr>
                        <a:t>Strings</a:t>
                      </a:r>
                    </a:p>
                  </a:txBody>
                  <a:tcPr marL="66972" marR="66972" marT="33486" marB="66972" anchor="ctr"/>
                </a:tc>
                <a:tc>
                  <a:txBody>
                    <a:bodyPr/>
                    <a:lstStyle/>
                    <a:p>
                      <a:pPr>
                        <a:buNone/>
                      </a:pPr>
                      <a:r>
                        <a:rPr lang="en-ID" sz="3200" dirty="0">
                          <a:effectLst/>
                        </a:rPr>
                        <a:t>Pattern matching, edit distance, DNA alignment</a:t>
                      </a:r>
                    </a:p>
                  </a:txBody>
                  <a:tcPr marL="66972" marR="66972" marT="33486" marB="66972" anchor="ctr"/>
                </a:tc>
                <a:extLst>
                  <a:ext uri="{0D108BD9-81ED-4DB2-BD59-A6C34878D82A}">
                    <a16:rowId xmlns:a16="http://schemas.microsoft.com/office/drawing/2014/main" val="4039085446"/>
                  </a:ext>
                </a:extLst>
              </a:tr>
            </a:tbl>
          </a:graphicData>
        </a:graphic>
      </p:graphicFrame>
    </p:spTree>
    <p:extLst>
      <p:ext uri="{BB962C8B-B14F-4D97-AF65-F5344CB8AC3E}">
        <p14:creationId xmlns:p14="http://schemas.microsoft.com/office/powerpoint/2010/main" val="212064467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448E-39AF-A404-5E87-67E2F4D70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DAA96-C554-8EEC-DE4D-04D3000C64C4}"/>
              </a:ext>
            </a:extLst>
          </p:cNvPr>
          <p:cNvSpPr>
            <a:spLocks noGrp="1"/>
          </p:cNvSpPr>
          <p:nvPr>
            <p:ph type="title"/>
          </p:nvPr>
        </p:nvSpPr>
        <p:spPr/>
        <p:txBody>
          <a:bodyPr>
            <a:normAutofit fontScale="90000"/>
          </a:bodyPr>
          <a:lstStyle/>
          <a:p>
            <a:r>
              <a:rPr lang="en-ID" dirty="0"/>
              <a:t>Problem </a:t>
            </a:r>
            <a:r>
              <a:rPr lang="en-ID" dirty="0" err="1"/>
              <a:t>Modeling</a:t>
            </a:r>
            <a:endParaRPr lang="en-ID" dirty="0"/>
          </a:p>
        </p:txBody>
      </p:sp>
      <p:sp>
        <p:nvSpPr>
          <p:cNvPr id="3" name="Text Placeholder 2">
            <a:extLst>
              <a:ext uri="{FF2B5EF4-FFF2-40B4-BE49-F238E27FC236}">
                <a16:creationId xmlns:a16="http://schemas.microsoft.com/office/drawing/2014/main" id="{02EDEA42-D149-EEE9-1ED5-4F5B5DCF9CE3}"/>
              </a:ext>
            </a:extLst>
          </p:cNvPr>
          <p:cNvSpPr>
            <a:spLocks noGrp="1"/>
          </p:cNvSpPr>
          <p:nvPr>
            <p:ph type="body" sz="quarter" idx="10"/>
          </p:nvPr>
        </p:nvSpPr>
        <p:spPr>
          <a:xfrm>
            <a:off x="2167376" y="2419728"/>
            <a:ext cx="12799908" cy="803546"/>
          </a:xfrm>
        </p:spPr>
        <p:txBody>
          <a:bodyPr>
            <a:noAutofit/>
          </a:bodyPr>
          <a:lstStyle/>
          <a:p>
            <a:r>
              <a:rPr lang="en-ID" dirty="0"/>
              <a:t>Case Study: Robot Tour Optimization (</a:t>
            </a:r>
            <a:r>
              <a:rPr lang="en-ID" dirty="0" err="1"/>
              <a:t>Skiena</a:t>
            </a:r>
            <a:r>
              <a:rPr lang="en-ID" dirty="0"/>
              <a:t>, Ch. 1.1)</a:t>
            </a:r>
          </a:p>
        </p:txBody>
      </p:sp>
      <p:sp>
        <p:nvSpPr>
          <p:cNvPr id="4" name="Content Placeholder 3">
            <a:extLst>
              <a:ext uri="{FF2B5EF4-FFF2-40B4-BE49-F238E27FC236}">
                <a16:creationId xmlns:a16="http://schemas.microsoft.com/office/drawing/2014/main" id="{F2BAD7F8-D405-3B54-47B7-F2D9B91D7996}"/>
              </a:ext>
            </a:extLst>
          </p:cNvPr>
          <p:cNvSpPr>
            <a:spLocks noGrp="1"/>
          </p:cNvSpPr>
          <p:nvPr>
            <p:ph sz="quarter" idx="11"/>
          </p:nvPr>
        </p:nvSpPr>
        <p:spPr>
          <a:xfrm>
            <a:off x="2167377" y="3714224"/>
            <a:ext cx="20049246" cy="9138176"/>
          </a:xfrm>
        </p:spPr>
        <p:txBody>
          <a:bodyPr>
            <a:normAutofit/>
          </a:bodyPr>
          <a:lstStyle/>
          <a:p>
            <a:pPr marL="0" indent="0" algn="just">
              <a:buNone/>
            </a:pPr>
            <a:r>
              <a:rPr lang="en-ID" b="1" dirty="0"/>
              <a:t>Problem statement:</a:t>
            </a:r>
            <a:r>
              <a:rPr lang="en-ID" dirty="0"/>
              <a:t> A robot arm must solder </a:t>
            </a:r>
            <a:r>
              <a:rPr lang="en-ID" i="1" dirty="0"/>
              <a:t>n</a:t>
            </a:r>
            <a:r>
              <a:rPr lang="en-ID" dirty="0"/>
              <a:t> contact points on a circuit board. Find the order to visit all points that minimizes total travel distance.</a:t>
            </a:r>
          </a:p>
          <a:p>
            <a:pPr marL="0" indent="0" algn="just">
              <a:buNone/>
            </a:pPr>
            <a:r>
              <a:rPr lang="en-ID" b="1" dirty="0"/>
              <a:t>Naïve approach:</a:t>
            </a:r>
            <a:r>
              <a:rPr lang="en-ID" dirty="0"/>
              <a:t> try all </a:t>
            </a:r>
            <a:r>
              <a:rPr lang="en-ID" i="1" dirty="0"/>
              <a:t>n</a:t>
            </a:r>
            <a:r>
              <a:rPr lang="en-ID" dirty="0"/>
              <a:t>! orderings and pick the shortest.</a:t>
            </a:r>
          </a:p>
          <a:p>
            <a:pPr algn="just"/>
            <a:r>
              <a:rPr lang="en-ID" dirty="0"/>
              <a:t>For n = 20: 20! ≈ 2.4 × 10¹⁸ — completely infeasible even at 10⁹ ops/sec (takes ~77 billion years).</a:t>
            </a:r>
          </a:p>
          <a:p>
            <a:pPr marL="0" indent="0" algn="just">
              <a:buNone/>
            </a:pPr>
            <a:r>
              <a:rPr lang="en-ID" b="1" dirty="0"/>
              <a:t>Incorrect greedy heuristic (Nearest </a:t>
            </a:r>
            <a:r>
              <a:rPr lang="en-ID" b="1" dirty="0" err="1"/>
              <a:t>Neighbor</a:t>
            </a:r>
            <a:r>
              <a:rPr lang="en-ID" b="1" dirty="0"/>
              <a:t>):</a:t>
            </a:r>
            <a:r>
              <a:rPr lang="en-ID" dirty="0"/>
              <a:t> Always move to the nearest unvisited point. Intuitive, fast (O(n²)), but </a:t>
            </a:r>
            <a:r>
              <a:rPr lang="en-ID" b="1" dirty="0"/>
              <a:t>does not always give the optimal tour</a:t>
            </a:r>
            <a:r>
              <a:rPr lang="en-ID" dirty="0"/>
              <a:t>.</a:t>
            </a:r>
          </a:p>
        </p:txBody>
      </p:sp>
    </p:spTree>
    <p:extLst>
      <p:ext uri="{BB962C8B-B14F-4D97-AF65-F5344CB8AC3E}">
        <p14:creationId xmlns:p14="http://schemas.microsoft.com/office/powerpoint/2010/main" val="754406676"/>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6CA6B-E84D-4DD4-3962-1C1631EC7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80544-3DFF-20B3-A084-7F751F7D248D}"/>
              </a:ext>
            </a:extLst>
          </p:cNvPr>
          <p:cNvSpPr>
            <a:spLocks noGrp="1"/>
          </p:cNvSpPr>
          <p:nvPr>
            <p:ph type="title"/>
          </p:nvPr>
        </p:nvSpPr>
        <p:spPr/>
        <p:txBody>
          <a:bodyPr>
            <a:normAutofit fontScale="90000"/>
          </a:bodyPr>
          <a:lstStyle/>
          <a:p>
            <a:r>
              <a:rPr lang="en-ID" dirty="0"/>
              <a:t>Problem </a:t>
            </a:r>
            <a:r>
              <a:rPr lang="en-ID" dirty="0" err="1"/>
              <a:t>Modeling</a:t>
            </a:r>
            <a:endParaRPr lang="en-ID" dirty="0"/>
          </a:p>
        </p:txBody>
      </p:sp>
      <p:sp>
        <p:nvSpPr>
          <p:cNvPr id="3" name="Text Placeholder 2">
            <a:extLst>
              <a:ext uri="{FF2B5EF4-FFF2-40B4-BE49-F238E27FC236}">
                <a16:creationId xmlns:a16="http://schemas.microsoft.com/office/drawing/2014/main" id="{4CCCA881-FCC8-7690-EE3C-EAA17892753A}"/>
              </a:ext>
            </a:extLst>
          </p:cNvPr>
          <p:cNvSpPr>
            <a:spLocks noGrp="1"/>
          </p:cNvSpPr>
          <p:nvPr>
            <p:ph type="body" sz="quarter" idx="10"/>
          </p:nvPr>
        </p:nvSpPr>
        <p:spPr>
          <a:xfrm>
            <a:off x="2167376" y="2419728"/>
            <a:ext cx="12799908" cy="803546"/>
          </a:xfrm>
        </p:spPr>
        <p:txBody>
          <a:bodyPr>
            <a:noAutofit/>
          </a:bodyPr>
          <a:lstStyle/>
          <a:p>
            <a:r>
              <a:rPr lang="en-ID" dirty="0"/>
              <a:t>Case Study: Robot Tour Optimization (</a:t>
            </a:r>
            <a:r>
              <a:rPr lang="en-ID" dirty="0" err="1"/>
              <a:t>Skiena</a:t>
            </a:r>
            <a:r>
              <a:rPr lang="en-ID" dirty="0"/>
              <a:t>, Ch. 1.1)</a:t>
            </a:r>
          </a:p>
        </p:txBody>
      </p:sp>
      <p:sp>
        <p:nvSpPr>
          <p:cNvPr id="4" name="Content Placeholder 3">
            <a:extLst>
              <a:ext uri="{FF2B5EF4-FFF2-40B4-BE49-F238E27FC236}">
                <a16:creationId xmlns:a16="http://schemas.microsoft.com/office/drawing/2014/main" id="{9D967385-9E09-B3FA-CE4A-A34EC9D534D5}"/>
              </a:ext>
            </a:extLst>
          </p:cNvPr>
          <p:cNvSpPr>
            <a:spLocks noGrp="1"/>
          </p:cNvSpPr>
          <p:nvPr>
            <p:ph sz="quarter" idx="11"/>
          </p:nvPr>
        </p:nvSpPr>
        <p:spPr>
          <a:xfrm>
            <a:off x="2167377" y="3714224"/>
            <a:ext cx="20049246" cy="9138176"/>
          </a:xfrm>
        </p:spPr>
        <p:txBody>
          <a:bodyPr>
            <a:normAutofit/>
          </a:bodyPr>
          <a:lstStyle/>
          <a:p>
            <a:pPr marL="0" indent="0" algn="just">
              <a:buNone/>
            </a:pPr>
            <a:r>
              <a:rPr lang="en-ID" sz="4000" b="1" dirty="0"/>
              <a:t>Counterexample (</a:t>
            </a:r>
            <a:r>
              <a:rPr lang="en-ID" sz="4000" b="1" dirty="0" err="1"/>
              <a:t>Skiena</a:t>
            </a:r>
            <a:r>
              <a:rPr lang="en-ID" sz="4000" b="1" dirty="0"/>
              <a:t>, Ch. 1.1, p. 3–5):</a:t>
            </a:r>
            <a:r>
              <a:rPr lang="en-ID" sz="4000" dirty="0"/>
              <a:t> Consider 4 contact points arranged in a diamond (rhombus) shape:</a:t>
            </a:r>
          </a:p>
          <a:p>
            <a:pPr marL="0" indent="0" algn="just">
              <a:buNone/>
            </a:pPr>
            <a:endParaRPr lang="en-ID" sz="4000" dirty="0"/>
          </a:p>
          <a:p>
            <a:pPr marL="0" indent="0" algn="just">
              <a:buNone/>
            </a:pPr>
            <a:endParaRPr lang="en-ID" sz="4000" dirty="0"/>
          </a:p>
          <a:p>
            <a:pPr marL="0" indent="0" algn="just">
              <a:buNone/>
            </a:pPr>
            <a:r>
              <a:rPr lang="en-ID" sz="4000" dirty="0"/>
              <a:t>Edge lengths: A-B = B-C = C-D = D-A = √5 ≈ 2.24 (all perimeter edges equal). Diagonal: B-D = 2 (shorter than any perimeter edge).</a:t>
            </a:r>
          </a:p>
          <a:p>
            <a:pPr marL="0" indent="0" algn="just">
              <a:buNone/>
            </a:pPr>
            <a:r>
              <a:rPr lang="en-ID" sz="4000" b="1" dirty="0"/>
              <a:t>NN tour starting at A:</a:t>
            </a:r>
            <a:r>
              <a:rPr lang="en-ID" sz="4000" dirty="0"/>
              <a:t> A→B (√5 ≈ 2.24), then nearest unvisited from B is </a:t>
            </a:r>
            <a:r>
              <a:rPr lang="en-ID" sz="4000" b="1" dirty="0"/>
              <a:t>D</a:t>
            </a:r>
            <a:r>
              <a:rPr lang="en-ID" sz="4000" dirty="0"/>
              <a:t> (</a:t>
            </a:r>
            <a:r>
              <a:rPr lang="en-ID" sz="4000" dirty="0" err="1"/>
              <a:t>dist</a:t>
            </a:r>
            <a:r>
              <a:rPr lang="en-ID" sz="4000" dirty="0"/>
              <a:t>=2, shorter than C at √5) → B→D (2), then D→C (√5 ≈ 2.24), then return C→A (4).</a:t>
            </a:r>
          </a:p>
          <a:p>
            <a:pPr marL="0" indent="0" algn="just">
              <a:buNone/>
            </a:pPr>
            <a:r>
              <a:rPr lang="en-ID" sz="4000" b="1" dirty="0"/>
              <a:t>NN total = √5 + 2 + √5 + 4 = 6 + 2√5 ≈ 10.47</a:t>
            </a:r>
            <a:endParaRPr lang="en-ID" sz="4000" dirty="0"/>
          </a:p>
          <a:p>
            <a:pPr marL="0" indent="0" algn="just">
              <a:buNone/>
            </a:pPr>
            <a:r>
              <a:rPr lang="en-ID" sz="4000" b="1" dirty="0"/>
              <a:t>Optimal tour (perimeter sweep):</a:t>
            </a:r>
            <a:r>
              <a:rPr lang="en-ID" sz="4000" dirty="0"/>
              <a:t> A→B→C→D→A = √5 + √5 + √5 + √5 = 4√5 ≈ </a:t>
            </a:r>
            <a:r>
              <a:rPr lang="en-ID" sz="4000" b="1" dirty="0"/>
              <a:t>8.94</a:t>
            </a:r>
            <a:endParaRPr lang="en-ID" sz="4000" dirty="0"/>
          </a:p>
        </p:txBody>
      </p:sp>
      <p:sp>
        <p:nvSpPr>
          <p:cNvPr id="6" name="TextBox 5">
            <a:extLst>
              <a:ext uri="{FF2B5EF4-FFF2-40B4-BE49-F238E27FC236}">
                <a16:creationId xmlns:a16="http://schemas.microsoft.com/office/drawing/2014/main" id="{0AFE8359-6966-B944-123C-C5EA340BD897}"/>
              </a:ext>
            </a:extLst>
          </p:cNvPr>
          <p:cNvSpPr txBox="1"/>
          <p:nvPr/>
        </p:nvSpPr>
        <p:spPr>
          <a:xfrm>
            <a:off x="6908755" y="5215214"/>
            <a:ext cx="10566490" cy="2103140"/>
          </a:xfrm>
          <a:prstGeom prst="rect">
            <a:avLst/>
          </a:prstGeom>
          <a:solidFill>
            <a:srgbClr val="FFF7D6"/>
          </a:solidFill>
          <a:ln w="12700" cap="flat">
            <a:solidFill>
              <a:srgbClr val="21212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a:buNone/>
            </a:pPr>
            <a:r>
              <a:rPr lang="pt-BR" sz="2600" b="1" i="0" dirty="0">
                <a:solidFill>
                  <a:srgbClr val="424242"/>
                </a:solidFill>
                <a:effectLst/>
                <a:latin typeface="Courier New" panose="02070309020205020404" pitchFamily="49" charset="0"/>
              </a:rPr>
              <a:t> B = (2, 1)</a:t>
            </a:r>
          </a:p>
          <a:p>
            <a:pPr algn="l">
              <a:buNone/>
            </a:pPr>
            <a:r>
              <a:rPr lang="pt-BR" sz="2600" b="1" i="0" dirty="0">
                <a:solidFill>
                  <a:srgbClr val="424242"/>
                </a:solidFill>
                <a:effectLst/>
                <a:latin typeface="Courier New" panose="02070309020205020404" pitchFamily="49" charset="0"/>
              </a:rPr>
              <a:t>   / \</a:t>
            </a:r>
          </a:p>
          <a:p>
            <a:pPr algn="l">
              <a:buNone/>
            </a:pPr>
            <a:r>
              <a:rPr lang="pt-BR" sz="2600" b="1" i="0" dirty="0">
                <a:solidFill>
                  <a:srgbClr val="424242"/>
                </a:solidFill>
                <a:effectLst/>
                <a:latin typeface="Courier New" panose="02070309020205020404" pitchFamily="49" charset="0"/>
              </a:rPr>
              <a:t>A     C         A=(0,0), B=(2,1), C=(4,0), D=(2,−1)</a:t>
            </a:r>
          </a:p>
          <a:p>
            <a:pPr algn="l">
              <a:buNone/>
            </a:pPr>
            <a:r>
              <a:rPr lang="pt-BR" sz="2600" b="1" i="0" dirty="0">
                <a:solidFill>
                  <a:srgbClr val="424242"/>
                </a:solidFill>
                <a:effectLst/>
                <a:latin typeface="Courier New" panose="02070309020205020404" pitchFamily="49" charset="0"/>
              </a:rPr>
              <a:t>   \ /</a:t>
            </a:r>
          </a:p>
          <a:p>
            <a:pPr algn="l">
              <a:buNone/>
            </a:pPr>
            <a:r>
              <a:rPr lang="pt-BR" sz="2600" b="1" i="0" dirty="0">
                <a:solidFill>
                  <a:srgbClr val="424242"/>
                </a:solidFill>
                <a:effectLst/>
                <a:latin typeface="Courier New" panose="02070309020205020404" pitchFamily="49" charset="0"/>
              </a:rPr>
              <a:t>    D = (2,−1)</a:t>
            </a:r>
            <a:endParaRPr lang="en-US" sz="2600" b="1" i="0" dirty="0">
              <a:solidFill>
                <a:srgbClr val="424242"/>
              </a:solidFill>
              <a:effectLst/>
              <a:latin typeface="Courier New" panose="02070309020205020404" pitchFamily="49" charset="0"/>
            </a:endParaRPr>
          </a:p>
        </p:txBody>
      </p:sp>
    </p:spTree>
    <p:extLst>
      <p:ext uri="{BB962C8B-B14F-4D97-AF65-F5344CB8AC3E}">
        <p14:creationId xmlns:p14="http://schemas.microsoft.com/office/powerpoint/2010/main" val="3927127566"/>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BF6BF-79CE-B5C1-BEF2-00053C9B0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83D67-D2D6-762D-342F-886C1393A0C3}"/>
              </a:ext>
            </a:extLst>
          </p:cNvPr>
          <p:cNvSpPr>
            <a:spLocks noGrp="1"/>
          </p:cNvSpPr>
          <p:nvPr>
            <p:ph type="title"/>
          </p:nvPr>
        </p:nvSpPr>
        <p:spPr/>
        <p:txBody>
          <a:bodyPr>
            <a:normAutofit fontScale="90000"/>
          </a:bodyPr>
          <a:lstStyle/>
          <a:p>
            <a:r>
              <a:rPr lang="en-ID" dirty="0"/>
              <a:t>Problem </a:t>
            </a:r>
            <a:r>
              <a:rPr lang="en-ID" dirty="0" err="1"/>
              <a:t>Modeling</a:t>
            </a:r>
            <a:endParaRPr lang="en-ID" dirty="0"/>
          </a:p>
        </p:txBody>
      </p:sp>
      <p:sp>
        <p:nvSpPr>
          <p:cNvPr id="3" name="Text Placeholder 2">
            <a:extLst>
              <a:ext uri="{FF2B5EF4-FFF2-40B4-BE49-F238E27FC236}">
                <a16:creationId xmlns:a16="http://schemas.microsoft.com/office/drawing/2014/main" id="{47E8FB9A-75A5-E123-00B9-7A7186D36F5D}"/>
              </a:ext>
            </a:extLst>
          </p:cNvPr>
          <p:cNvSpPr>
            <a:spLocks noGrp="1"/>
          </p:cNvSpPr>
          <p:nvPr>
            <p:ph type="body" sz="quarter" idx="10"/>
          </p:nvPr>
        </p:nvSpPr>
        <p:spPr>
          <a:xfrm>
            <a:off x="2167376" y="2419728"/>
            <a:ext cx="12799908" cy="803546"/>
          </a:xfrm>
        </p:spPr>
        <p:txBody>
          <a:bodyPr>
            <a:noAutofit/>
          </a:bodyPr>
          <a:lstStyle/>
          <a:p>
            <a:r>
              <a:rPr lang="en-ID" dirty="0"/>
              <a:t>Case Study: Robot Tour Optimization (</a:t>
            </a:r>
            <a:r>
              <a:rPr lang="en-ID" dirty="0" err="1"/>
              <a:t>Skiena</a:t>
            </a:r>
            <a:r>
              <a:rPr lang="en-ID" dirty="0"/>
              <a:t>, Ch. 1.1)</a:t>
            </a:r>
          </a:p>
        </p:txBody>
      </p:sp>
      <p:sp>
        <p:nvSpPr>
          <p:cNvPr id="4" name="Content Placeholder 3">
            <a:extLst>
              <a:ext uri="{FF2B5EF4-FFF2-40B4-BE49-F238E27FC236}">
                <a16:creationId xmlns:a16="http://schemas.microsoft.com/office/drawing/2014/main" id="{7127CAF3-7DD4-7279-FB84-D0D8DA07686A}"/>
              </a:ext>
            </a:extLst>
          </p:cNvPr>
          <p:cNvSpPr>
            <a:spLocks noGrp="1"/>
          </p:cNvSpPr>
          <p:nvPr>
            <p:ph sz="quarter" idx="11"/>
          </p:nvPr>
        </p:nvSpPr>
        <p:spPr>
          <a:xfrm>
            <a:off x="2167377" y="3714224"/>
            <a:ext cx="20049246" cy="9138176"/>
          </a:xfrm>
        </p:spPr>
        <p:txBody>
          <a:bodyPr>
            <a:normAutofit fontScale="92500" lnSpcReduction="10000"/>
          </a:bodyPr>
          <a:lstStyle/>
          <a:p>
            <a:pPr marL="0" indent="0" algn="just">
              <a:buNone/>
            </a:pPr>
            <a:r>
              <a:rPr lang="en-ID" b="1" dirty="0"/>
              <a:t>Why NN fails:</a:t>
            </a:r>
            <a:r>
              <a:rPr lang="en-ID" dirty="0"/>
              <a:t> It greedily chooses the short diagonal B→D (length 2) rather than the perimeter edge B→C (length √5 ≈ 2.24). This saves 0.24 now but forces the expensive closing edge C→A=4, while the perimeter tour closes cheaply with D→A=√5. The locally greedy choice leaves the algorithm "stranded" far from the start.</a:t>
            </a:r>
          </a:p>
          <a:p>
            <a:pPr marL="0" indent="0" algn="just">
              <a:buNone/>
            </a:pPr>
            <a:r>
              <a:rPr lang="en-ID" dirty="0"/>
              <a:t>On adversarial inputs with n points arranged so that NN repeatedly takes cheap shortcuts into the interior, the NN tour can be approximately </a:t>
            </a:r>
            <a:r>
              <a:rPr lang="en-ID" b="1" dirty="0"/>
              <a:t>2× the optimal length</a:t>
            </a:r>
            <a:r>
              <a:rPr lang="en-ID" dirty="0"/>
              <a:t> (</a:t>
            </a:r>
            <a:r>
              <a:rPr lang="en-ID" dirty="0" err="1"/>
              <a:t>Skiena</a:t>
            </a:r>
            <a:r>
              <a:rPr lang="en-ID" dirty="0"/>
              <a:t>, Ch. 1.1).</a:t>
            </a:r>
          </a:p>
          <a:p>
            <a:pPr marL="0" indent="0" algn="just">
              <a:buNone/>
            </a:pPr>
            <a:r>
              <a:rPr lang="en-ID" b="1" dirty="0"/>
              <a:t>Correct model:</a:t>
            </a:r>
            <a:r>
              <a:rPr lang="en-ID" dirty="0"/>
              <a:t> This is the </a:t>
            </a:r>
            <a:r>
              <a:rPr lang="en-ID" b="1" dirty="0"/>
              <a:t>Traveling Salesman Problem (TSP)</a:t>
            </a:r>
            <a:r>
              <a:rPr lang="en-ID" dirty="0"/>
              <a:t> — (NP-hard, Session 23–24). No known polynomial-time exact algorithm exists. Practical approaches use approximation algorithms.</a:t>
            </a:r>
          </a:p>
          <a:p>
            <a:pPr marL="0" indent="0" algn="just">
              <a:buNone/>
            </a:pPr>
            <a:r>
              <a:rPr lang="en-ID" b="1" dirty="0"/>
              <a:t>Lesson:</a:t>
            </a:r>
            <a:r>
              <a:rPr lang="en-ID" dirty="0"/>
              <a:t> The first algorithmic idea is often wrong. Model the problem correctly before choosing an algorithm.</a:t>
            </a:r>
          </a:p>
        </p:txBody>
      </p:sp>
    </p:spTree>
    <p:extLst>
      <p:ext uri="{BB962C8B-B14F-4D97-AF65-F5344CB8AC3E}">
        <p14:creationId xmlns:p14="http://schemas.microsoft.com/office/powerpoint/2010/main" val="1111281314"/>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2EDEC-A34A-B6AD-5F93-5705525BA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EB9A5-C9E2-EFB9-0E88-A9BFB1DF3254}"/>
              </a:ext>
            </a:extLst>
          </p:cNvPr>
          <p:cNvSpPr>
            <a:spLocks noGrp="1"/>
          </p:cNvSpPr>
          <p:nvPr>
            <p:ph type="title"/>
          </p:nvPr>
        </p:nvSpPr>
        <p:spPr/>
        <p:txBody>
          <a:bodyPr>
            <a:normAutofit fontScale="90000"/>
          </a:bodyPr>
          <a:lstStyle/>
          <a:p>
            <a:r>
              <a:rPr lang="en-ID" dirty="0"/>
              <a:t>Problem </a:t>
            </a:r>
            <a:r>
              <a:rPr lang="en-ID" dirty="0" err="1"/>
              <a:t>Modeling</a:t>
            </a:r>
            <a:endParaRPr lang="en-ID" dirty="0"/>
          </a:p>
        </p:txBody>
      </p:sp>
      <p:sp>
        <p:nvSpPr>
          <p:cNvPr id="3" name="Text Placeholder 2">
            <a:extLst>
              <a:ext uri="{FF2B5EF4-FFF2-40B4-BE49-F238E27FC236}">
                <a16:creationId xmlns:a16="http://schemas.microsoft.com/office/drawing/2014/main" id="{F00533A3-154A-D920-3175-BA322B856858}"/>
              </a:ext>
            </a:extLst>
          </p:cNvPr>
          <p:cNvSpPr>
            <a:spLocks noGrp="1"/>
          </p:cNvSpPr>
          <p:nvPr>
            <p:ph type="body" sz="quarter" idx="10"/>
          </p:nvPr>
        </p:nvSpPr>
        <p:spPr>
          <a:xfrm>
            <a:off x="2167376" y="2419728"/>
            <a:ext cx="12799908" cy="803546"/>
          </a:xfrm>
        </p:spPr>
        <p:txBody>
          <a:bodyPr>
            <a:noAutofit/>
          </a:bodyPr>
          <a:lstStyle/>
          <a:p>
            <a:r>
              <a:rPr lang="en-ID" dirty="0"/>
              <a:t>Case Study: Psychic </a:t>
            </a:r>
            <a:r>
              <a:rPr lang="en-ID" dirty="0" err="1"/>
              <a:t>Modeling</a:t>
            </a:r>
            <a:r>
              <a:rPr lang="en-ID" dirty="0"/>
              <a:t> (</a:t>
            </a:r>
            <a:r>
              <a:rPr lang="en-ID" dirty="0" err="1"/>
              <a:t>Skiena</a:t>
            </a:r>
            <a:r>
              <a:rPr lang="en-ID" dirty="0"/>
              <a:t>, Ch. 1.8)</a:t>
            </a:r>
          </a:p>
        </p:txBody>
      </p:sp>
      <p:sp>
        <p:nvSpPr>
          <p:cNvPr id="4" name="Content Placeholder 3">
            <a:extLst>
              <a:ext uri="{FF2B5EF4-FFF2-40B4-BE49-F238E27FC236}">
                <a16:creationId xmlns:a16="http://schemas.microsoft.com/office/drawing/2014/main" id="{50A182CC-3DEB-8951-35AE-317940A22CA3}"/>
              </a:ext>
            </a:extLst>
          </p:cNvPr>
          <p:cNvSpPr>
            <a:spLocks noGrp="1"/>
          </p:cNvSpPr>
          <p:nvPr>
            <p:ph sz="quarter" idx="11"/>
          </p:nvPr>
        </p:nvSpPr>
        <p:spPr>
          <a:xfrm>
            <a:off x="2167377" y="3714224"/>
            <a:ext cx="20049246" cy="9138176"/>
          </a:xfrm>
        </p:spPr>
        <p:txBody>
          <a:bodyPr>
            <a:normAutofit/>
          </a:bodyPr>
          <a:lstStyle/>
          <a:p>
            <a:pPr marL="0" indent="0" algn="just">
              <a:buNone/>
            </a:pPr>
            <a:r>
              <a:rPr lang="en-ID" dirty="0" err="1"/>
              <a:t>Skiena's</a:t>
            </a:r>
            <a:r>
              <a:rPr lang="en-ID" dirty="0"/>
              <a:t> "War Story" describes a scheduling problem that initially appeared to require a complex algorithm. Once correctly </a:t>
            </a:r>
            <a:r>
              <a:rPr lang="en-ID" dirty="0" err="1"/>
              <a:t>modeled</a:t>
            </a:r>
            <a:r>
              <a:rPr lang="en-ID" dirty="0"/>
              <a:t>, it reduced to a simple sorting problem solvable in O(n log n). The story illustrates that correct </a:t>
            </a:r>
            <a:r>
              <a:rPr lang="en-ID" dirty="0" err="1"/>
              <a:t>modeling</a:t>
            </a:r>
            <a:r>
              <a:rPr lang="en-ID" dirty="0"/>
              <a:t> often reveals a simpler algorithm than initially imagined.</a:t>
            </a:r>
          </a:p>
        </p:txBody>
      </p:sp>
    </p:spTree>
    <p:extLst>
      <p:ext uri="{BB962C8B-B14F-4D97-AF65-F5344CB8AC3E}">
        <p14:creationId xmlns:p14="http://schemas.microsoft.com/office/powerpoint/2010/main" val="2424818582"/>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D4745-38F4-6B70-C5E6-490DEC1C3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F9FB6-5216-72D8-C2D6-855C73FF33FD}"/>
              </a:ext>
            </a:extLst>
          </p:cNvPr>
          <p:cNvSpPr>
            <a:spLocks noGrp="1"/>
          </p:cNvSpPr>
          <p:nvPr>
            <p:ph type="title"/>
          </p:nvPr>
        </p:nvSpPr>
        <p:spPr/>
        <p:txBody>
          <a:bodyPr>
            <a:normAutofit fontScale="90000"/>
          </a:bodyPr>
          <a:lstStyle/>
          <a:p>
            <a:r>
              <a:rPr lang="en-ID" dirty="0"/>
              <a:t>Summary</a:t>
            </a:r>
          </a:p>
        </p:txBody>
      </p:sp>
      <p:sp>
        <p:nvSpPr>
          <p:cNvPr id="3" name="Text Placeholder 2">
            <a:extLst>
              <a:ext uri="{FF2B5EF4-FFF2-40B4-BE49-F238E27FC236}">
                <a16:creationId xmlns:a16="http://schemas.microsoft.com/office/drawing/2014/main" id="{A9190BD9-2B4B-AAF0-7C79-E2CD378F4B42}"/>
              </a:ext>
            </a:extLst>
          </p:cNvPr>
          <p:cNvSpPr>
            <a:spLocks noGrp="1"/>
          </p:cNvSpPr>
          <p:nvPr>
            <p:ph type="body" sz="quarter" idx="10"/>
          </p:nvPr>
        </p:nvSpPr>
        <p:spPr>
          <a:xfrm>
            <a:off x="2167376" y="2419728"/>
            <a:ext cx="12799908" cy="803546"/>
          </a:xfrm>
        </p:spPr>
        <p:txBody>
          <a:bodyPr>
            <a:noAutofit/>
          </a:bodyPr>
          <a:lstStyle/>
          <a:p>
            <a:r>
              <a:rPr lang="en-ID" dirty="0"/>
              <a:t>Session 1</a:t>
            </a:r>
          </a:p>
        </p:txBody>
      </p:sp>
      <p:sp>
        <p:nvSpPr>
          <p:cNvPr id="4" name="Content Placeholder 3">
            <a:extLst>
              <a:ext uri="{FF2B5EF4-FFF2-40B4-BE49-F238E27FC236}">
                <a16:creationId xmlns:a16="http://schemas.microsoft.com/office/drawing/2014/main" id="{C29C2CE5-A3E8-9383-F708-28F2C13D0D10}"/>
              </a:ext>
            </a:extLst>
          </p:cNvPr>
          <p:cNvSpPr>
            <a:spLocks noGrp="1"/>
          </p:cNvSpPr>
          <p:nvPr>
            <p:ph sz="quarter" idx="11"/>
          </p:nvPr>
        </p:nvSpPr>
        <p:spPr>
          <a:xfrm>
            <a:off x="2167377" y="3714224"/>
            <a:ext cx="20049246" cy="9138176"/>
          </a:xfrm>
        </p:spPr>
        <p:txBody>
          <a:bodyPr>
            <a:normAutofit/>
          </a:bodyPr>
          <a:lstStyle/>
          <a:p>
            <a:pPr algn="just"/>
            <a:r>
              <a:rPr lang="en-US" dirty="0"/>
              <a:t>An algorithm is a sequence of computational steps that transform the input into the output. </a:t>
            </a:r>
          </a:p>
          <a:p>
            <a:pPr algn="just"/>
            <a:r>
              <a:rPr lang="en-US" dirty="0"/>
              <a:t>There are many problems solved by algorithms such as human genome, the internet, manufacturing, etc.</a:t>
            </a:r>
          </a:p>
          <a:p>
            <a:pPr algn="just"/>
            <a:r>
              <a:rPr lang="en-US" dirty="0"/>
              <a:t>Algorithm is a technology because total system performance depends on choosing efficient algorithms as much as on choosing fast hardware. </a:t>
            </a:r>
          </a:p>
          <a:p>
            <a:pPr algn="just"/>
            <a:r>
              <a:rPr lang="en-US" dirty="0"/>
              <a:t>Having a solid base of algorithmic knowledge and technique is one characteristic that defines the truly skilled programmer. </a:t>
            </a:r>
          </a:p>
        </p:txBody>
      </p:sp>
    </p:spTree>
    <p:extLst>
      <p:ext uri="{BB962C8B-B14F-4D97-AF65-F5344CB8AC3E}">
        <p14:creationId xmlns:p14="http://schemas.microsoft.com/office/powerpoint/2010/main" val="1882852525"/>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7B5EF-EDE6-A5C1-32F8-99BB89197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09DF9-DA86-1C2B-B43B-04A7374DDA7A}"/>
              </a:ext>
            </a:extLst>
          </p:cNvPr>
          <p:cNvSpPr>
            <a:spLocks noGrp="1"/>
          </p:cNvSpPr>
          <p:nvPr>
            <p:ph type="title"/>
          </p:nvPr>
        </p:nvSpPr>
        <p:spPr/>
        <p:txBody>
          <a:bodyPr>
            <a:normAutofit fontScale="90000"/>
          </a:bodyPr>
          <a:lstStyle/>
          <a:p>
            <a:r>
              <a:rPr lang="en-ID" dirty="0"/>
              <a:t>Exercises</a:t>
            </a:r>
          </a:p>
        </p:txBody>
      </p:sp>
      <p:sp>
        <p:nvSpPr>
          <p:cNvPr id="3" name="Text Placeholder 2">
            <a:extLst>
              <a:ext uri="{FF2B5EF4-FFF2-40B4-BE49-F238E27FC236}">
                <a16:creationId xmlns:a16="http://schemas.microsoft.com/office/drawing/2014/main" id="{8A7CDDA6-47F0-D21A-1287-73DE12AE70BA}"/>
              </a:ext>
            </a:extLst>
          </p:cNvPr>
          <p:cNvSpPr>
            <a:spLocks noGrp="1"/>
          </p:cNvSpPr>
          <p:nvPr>
            <p:ph type="body" sz="quarter" idx="10"/>
          </p:nvPr>
        </p:nvSpPr>
        <p:spPr>
          <a:xfrm>
            <a:off x="2167376" y="2419728"/>
            <a:ext cx="12799908" cy="803546"/>
          </a:xfrm>
        </p:spPr>
        <p:txBody>
          <a:bodyPr>
            <a:noAutofit/>
          </a:bodyPr>
          <a:lstStyle/>
          <a:p>
            <a:r>
              <a:rPr lang="en-ID" dirty="0"/>
              <a:t>Session 1</a:t>
            </a:r>
          </a:p>
        </p:txBody>
      </p:sp>
      <p:sp>
        <p:nvSpPr>
          <p:cNvPr id="4" name="Content Placeholder 3">
            <a:extLst>
              <a:ext uri="{FF2B5EF4-FFF2-40B4-BE49-F238E27FC236}">
                <a16:creationId xmlns:a16="http://schemas.microsoft.com/office/drawing/2014/main" id="{9B4B44C8-A6ED-A683-33EE-A99E42E2D6DB}"/>
              </a:ext>
            </a:extLst>
          </p:cNvPr>
          <p:cNvSpPr>
            <a:spLocks noGrp="1"/>
          </p:cNvSpPr>
          <p:nvPr>
            <p:ph sz="quarter" idx="11"/>
          </p:nvPr>
        </p:nvSpPr>
        <p:spPr>
          <a:xfrm>
            <a:off x="2167377" y="3714224"/>
            <a:ext cx="20049246" cy="9138176"/>
          </a:xfrm>
        </p:spPr>
        <p:txBody>
          <a:bodyPr>
            <a:normAutofit/>
          </a:bodyPr>
          <a:lstStyle/>
          <a:p>
            <a:pPr algn="just">
              <a:buFont typeface="+mj-lt"/>
              <a:buAutoNum type="arabicPeriod"/>
            </a:pPr>
            <a:r>
              <a:rPr lang="en-US" dirty="0"/>
              <a:t>Suppose that for inputs of size 𝑛 on a particular computer, insertion sort runs in 8𝑛</a:t>
            </a:r>
            <a:r>
              <a:rPr lang="en-US" baseline="30000" dirty="0"/>
              <a:t>2</a:t>
            </a:r>
            <a:r>
              <a:rPr lang="en-US" dirty="0"/>
              <a:t> steps and merge sort runs in 64 𝑛 lg⁡𝑛 steps. For which values of 𝑛 does insertion sort beat merge sort?</a:t>
            </a:r>
          </a:p>
          <a:p>
            <a:pPr algn="just">
              <a:buFont typeface="+mj-lt"/>
              <a:buAutoNum type="arabicPeriod"/>
            </a:pPr>
            <a:r>
              <a:rPr lang="en-US" dirty="0"/>
              <a:t>What is the smallest value of 𝑛 such that an algorithm whose running time is 100𝑛</a:t>
            </a:r>
            <a:r>
              <a:rPr lang="en-US" baseline="30000" dirty="0"/>
              <a:t>2</a:t>
            </a:r>
            <a:r>
              <a:rPr lang="en-US" dirty="0"/>
              <a:t> runs faster than an algorithm whose running time is 2</a:t>
            </a:r>
            <a:r>
              <a:rPr lang="en-US" baseline="30000" dirty="0"/>
              <a:t>𝑛</a:t>
            </a:r>
            <a:r>
              <a:rPr lang="en-US" dirty="0"/>
              <a:t> on the same machine? </a:t>
            </a:r>
          </a:p>
          <a:p>
            <a:pPr marL="0" indent="0" algn="just">
              <a:buNone/>
            </a:pPr>
            <a:endParaRPr lang="en-US" dirty="0"/>
          </a:p>
        </p:txBody>
      </p:sp>
    </p:spTree>
    <p:extLst>
      <p:ext uri="{BB962C8B-B14F-4D97-AF65-F5344CB8AC3E}">
        <p14:creationId xmlns:p14="http://schemas.microsoft.com/office/powerpoint/2010/main" val="1538712254"/>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1</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714223"/>
            <a:ext cx="19309300" cy="8680977"/>
          </a:xfrm>
        </p:spPr>
        <p:txBody>
          <a:bodyPr>
            <a:normAutofit fontScale="92500" lnSpcReduction="10000"/>
          </a:bodyPr>
          <a:lstStyle/>
          <a:p>
            <a:pPr marL="0" indent="0">
              <a:buNone/>
            </a:pPr>
            <a:r>
              <a:rPr lang="en-ID" b="1" dirty="0"/>
              <a:t>Primary (Required):</a:t>
            </a:r>
            <a:r>
              <a:rPr lang="en-ID" dirty="0"/>
              <a:t> </a:t>
            </a:r>
            <a:r>
              <a:rPr lang="en-ID" dirty="0" err="1"/>
              <a:t>Cormen</a:t>
            </a:r>
            <a:r>
              <a:rPr lang="en-ID" dirty="0"/>
              <a:t>, T.H., </a:t>
            </a:r>
            <a:r>
              <a:rPr lang="en-ID" dirty="0" err="1"/>
              <a:t>Leiserson</a:t>
            </a:r>
            <a:r>
              <a:rPr lang="en-ID" dirty="0"/>
              <a:t>, C.E., Rivest, R.L., &amp; Stein, C. (2022). </a:t>
            </a:r>
            <a:r>
              <a:rPr lang="en-ID" i="1" dirty="0"/>
              <a:t>Introduction to Algorithms, 4th Edition.</a:t>
            </a:r>
            <a:r>
              <a:rPr lang="en-ID" dirty="0"/>
              <a:t> MIT Press.</a:t>
            </a:r>
          </a:p>
          <a:p>
            <a:pPr>
              <a:spcBef>
                <a:spcPts val="1800"/>
              </a:spcBef>
            </a:pPr>
            <a:r>
              <a:rPr lang="en-ID" dirty="0"/>
              <a:t>Ch. 1.1 — Algorithms (p. 5)</a:t>
            </a:r>
          </a:p>
          <a:p>
            <a:pPr>
              <a:spcBef>
                <a:spcPts val="1800"/>
              </a:spcBef>
            </a:pPr>
            <a:r>
              <a:rPr lang="en-ID" dirty="0"/>
              <a:t>Ch. 1.2 — Algorithms as a Technology (p. 12)</a:t>
            </a:r>
          </a:p>
          <a:p>
            <a:pPr marL="0" indent="0">
              <a:buNone/>
            </a:pPr>
            <a:r>
              <a:rPr lang="en-ID" b="1" dirty="0"/>
              <a:t>Secondary (Required):</a:t>
            </a:r>
            <a:r>
              <a:rPr lang="en-ID" dirty="0"/>
              <a:t> </a:t>
            </a:r>
            <a:r>
              <a:rPr lang="en-ID" dirty="0" err="1"/>
              <a:t>Skiena</a:t>
            </a:r>
            <a:r>
              <a:rPr lang="en-ID" dirty="0"/>
              <a:t>, S.S. (2020). </a:t>
            </a:r>
            <a:r>
              <a:rPr lang="en-ID" i="1" dirty="0"/>
              <a:t>The Algorithm Design Manual, 3rd Edition.</a:t>
            </a:r>
            <a:r>
              <a:rPr lang="en-ID" dirty="0"/>
              <a:t> Springer.</a:t>
            </a:r>
          </a:p>
          <a:p>
            <a:pPr>
              <a:spcBef>
                <a:spcPts val="1800"/>
              </a:spcBef>
            </a:pPr>
            <a:r>
              <a:rPr lang="en-ID" dirty="0"/>
              <a:t>Ch. 1.1 — Robot Tour Optimization</a:t>
            </a:r>
          </a:p>
          <a:p>
            <a:pPr>
              <a:spcBef>
                <a:spcPts val="1800"/>
              </a:spcBef>
            </a:pPr>
            <a:r>
              <a:rPr lang="en-ID" dirty="0"/>
              <a:t>Ch. 1.5 — </a:t>
            </a:r>
            <a:r>
              <a:rPr lang="en-ID" dirty="0" err="1"/>
              <a:t>Modeling</a:t>
            </a:r>
            <a:r>
              <a:rPr lang="en-ID" dirty="0"/>
              <a:t> the Problem</a:t>
            </a:r>
          </a:p>
          <a:p>
            <a:pPr>
              <a:spcBef>
                <a:spcPts val="1800"/>
              </a:spcBef>
            </a:pPr>
            <a:r>
              <a:rPr lang="en-ID" dirty="0"/>
              <a:t>Ch. 1.8 — War Story: Psychic </a:t>
            </a:r>
            <a:r>
              <a:rPr lang="en-ID" dirty="0" err="1"/>
              <a:t>Modeling</a:t>
            </a:r>
            <a:endParaRPr lang="en-ID" dirty="0"/>
          </a:p>
          <a:p>
            <a:pPr marL="0" indent="0">
              <a:buNone/>
            </a:pPr>
            <a:r>
              <a:rPr lang="en-ID" b="1" dirty="0"/>
              <a:t>Reference:</a:t>
            </a:r>
            <a:r>
              <a:rPr lang="en-ID" dirty="0"/>
              <a:t> Sridhar, S. (2015). </a:t>
            </a:r>
            <a:r>
              <a:rPr lang="en-ID" i="1" dirty="0"/>
              <a:t>Design and Analysis of Algorithms.</a:t>
            </a:r>
            <a:r>
              <a:rPr lang="en-ID" dirty="0"/>
              <a:t> Oxford University Press. Chapter 1.</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21_BasicWhite</Template>
  <TotalTime>5416</TotalTime>
  <Words>4913</Words>
  <Application>Microsoft Macintosh PowerPoint</Application>
  <PresentationFormat>Custom</PresentationFormat>
  <Paragraphs>443</Paragraphs>
  <Slides>46</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Courier New</vt:lpstr>
      <vt:lpstr>Open Sans ExtraBold</vt:lpstr>
      <vt:lpstr>Cambria Math</vt:lpstr>
      <vt:lpstr>Arial</vt:lpstr>
      <vt:lpstr>Open Sans Semibold</vt:lpstr>
      <vt:lpstr>Open Sans</vt:lpstr>
      <vt:lpstr>Open Sans Light</vt:lpstr>
      <vt:lpstr>OCRB</vt:lpstr>
      <vt:lpstr>21_BasicWhite</vt:lpstr>
      <vt:lpstr>The Role Of Algorithms In Programming</vt:lpstr>
      <vt:lpstr>Course description</vt:lpstr>
      <vt:lpstr>Learning Outcomes</vt:lpstr>
      <vt:lpstr>evaluation</vt:lpstr>
      <vt:lpstr>Indonesia national contest</vt:lpstr>
      <vt:lpstr>Indonesia national contest</vt:lpstr>
      <vt:lpstr>Information &amp; registration</vt:lpstr>
      <vt:lpstr>Outline materials</vt:lpstr>
      <vt:lpstr>Learning outcomes</vt:lpstr>
      <vt:lpstr>algorithms</vt:lpstr>
      <vt:lpstr>algorithms</vt:lpstr>
      <vt:lpstr>algorithms</vt:lpstr>
      <vt:lpstr>algorithms</vt:lpstr>
      <vt:lpstr>algorithms</vt:lpstr>
      <vt:lpstr>algorithms</vt:lpstr>
      <vt:lpstr>algorithms</vt:lpstr>
      <vt:lpstr>algorithms</vt:lpstr>
      <vt:lpstr>algorithms</vt:lpstr>
      <vt:lpstr>Algorithms as a technology</vt:lpstr>
      <vt:lpstr>Algorithms as a technology</vt:lpstr>
      <vt:lpstr>Algorithms as a technology</vt:lpstr>
      <vt:lpstr>Algorithms as a technology</vt:lpstr>
      <vt:lpstr>Algorithms as a technology</vt:lpstr>
      <vt:lpstr>Algorithms as a technology</vt:lpstr>
      <vt:lpstr>Algorithms as a technology</vt:lpstr>
      <vt:lpstr>Algorithms as a technology</vt:lpstr>
      <vt:lpstr>Practical Math Warm-up</vt:lpstr>
      <vt:lpstr>Practical Math Warm-up</vt:lpstr>
      <vt:lpstr>Practical Math Warm-up</vt:lpstr>
      <vt:lpstr>Practical Math Warm-up</vt:lpstr>
      <vt:lpstr>Practical Math Warm-up</vt:lpstr>
      <vt:lpstr>Practical Math Warm-up</vt:lpstr>
      <vt:lpstr>Practical Math Warm-up</vt:lpstr>
      <vt:lpstr>Practical Math Warm-up</vt:lpstr>
      <vt:lpstr>Intuitive Order of Growth</vt:lpstr>
      <vt:lpstr>Intuitive Order of Growth</vt:lpstr>
      <vt:lpstr>Problem Modeling</vt:lpstr>
      <vt:lpstr>Problem Modeling</vt:lpstr>
      <vt:lpstr>Problem Modeling</vt:lpstr>
      <vt:lpstr>Problem Modeling</vt:lpstr>
      <vt:lpstr>Problem Modeling</vt:lpstr>
      <vt:lpstr>Problem Modeling</vt:lpstr>
      <vt:lpstr>Problem Modeling</vt:lpstr>
      <vt:lpstr>Summary</vt:lpstr>
      <vt:lpstr>Exercises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84</cp:revision>
  <dcterms:created xsi:type="dcterms:W3CDTF">2023-11-17T02:51:40Z</dcterms:created>
  <dcterms:modified xsi:type="dcterms:W3CDTF">2026-09-04T08:13:36Z</dcterms:modified>
</cp:coreProperties>
</file>