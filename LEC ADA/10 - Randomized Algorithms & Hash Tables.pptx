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14.xml" ContentType="application/vnd.openxmlformats-officedocument.theme+xml"/>
  <Override PartName="/ppt/theme/theme3.xml" ContentType="application/vnd.openxmlformats-officedocument.theme+xml"/>
  <Override PartName="/ppt/theme/theme15.xml" ContentType="application/vnd.openxmlformats-officedocument.theme+xml"/>
  <Override PartName="/ppt/theme/theme4.xml" ContentType="application/vnd.openxmlformats-officedocument.theme+xml"/>
  <Override PartName="/ppt/theme/theme16.xml" ContentType="application/vnd.openxmlformats-officedocument.theme+xml"/>
  <Override PartName="/ppt/theme/theme5.xml" ContentType="application/vnd.openxmlformats-officedocument.theme+xml"/>
  <Override PartName="/ppt/theme/theme17.xml" ContentType="application/vnd.openxmlformats-officedocument.theme+xml"/>
  <Override PartName="/ppt/theme/theme6.xml" ContentType="application/vnd.openxmlformats-officedocument.theme+xml"/>
  <Override PartName="/ppt/theme/theme18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11.xml" ContentType="application/vnd.openxmlformats-officedocument.theme+xml"/>
  <Override PartName="/ppt/theme/theme9.xml" ContentType="application/vnd.openxmlformats-officedocument.theme+xml"/>
  <Override PartName="/ppt/theme/theme12.xml" ContentType="application/vnd.openxmlformats-officedocument.theme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_rels/presentation.xml.rels" ContentType="application/vnd.openxmlformats-package.relationships+xml"/>
  <Override PartName="/ppt/media/image1.png" ContentType="image/png"/>
  <Override PartName="/ppt/media/image2.wmf" ContentType="image/x-wmf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18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</p:sldIdLst>
  <p:sldSz cx="24384000" cy="13716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type 1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wmf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Slide-01.jpg" descr="BG Slide-01.jpg"/>
          <p:cNvPicPr/>
          <p:nvPr/>
        </p:nvPicPr>
        <p:blipFill>
          <a:blip r:embed="rId2"/>
          <a:srcRect l="164" t="0" r="164" b="0"/>
          <a:stretch/>
        </p:blipFill>
        <p:spPr>
          <a:xfrm>
            <a:off x="-86040" y="-57600"/>
            <a:ext cx="24506640" cy="138308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" name="Rounded Rectangle"/>
          <p:cNvSpPr/>
          <p:nvPr/>
        </p:nvSpPr>
        <p:spPr>
          <a:xfrm>
            <a:off x="11684160" y="10608480"/>
            <a:ext cx="1015560" cy="8856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31320" bIns="3132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id-ID" sz="3200" strike="noStrike" u="none">
              <a:solidFill>
                <a:srgbClr val="ffffff"/>
              </a:solidFill>
              <a:uFillTx/>
              <a:latin typeface="Open Sans Light"/>
              <a:ea typeface="Open Sans Light"/>
            </a:endParaRPr>
          </a:p>
        </p:txBody>
      </p:sp>
      <p:sp>
        <p:nvSpPr>
          <p:cNvPr id="2" name="Rounded Rectangle"/>
          <p:cNvSpPr/>
          <p:nvPr/>
        </p:nvSpPr>
        <p:spPr>
          <a:xfrm>
            <a:off x="11684160" y="10608480"/>
            <a:ext cx="1015560" cy="8856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31320" bIns="3132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id-ID" sz="3200" strike="noStrike" u="none">
              <a:solidFill>
                <a:srgbClr val="ffffff"/>
              </a:solidFill>
              <a:uFillTx/>
              <a:latin typeface="Open Sans Light"/>
              <a:ea typeface="Open Sans Ligh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body"/>
          </p:nvPr>
        </p:nvSpPr>
        <p:spPr>
          <a:xfrm>
            <a:off x="1201320" y="6754680"/>
            <a:ext cx="21970800" cy="1904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d-ID" sz="5000" strike="noStrike" u="none" cap="all">
                <a:solidFill>
                  <a:srgbClr val="ffffff"/>
                </a:solidFill>
                <a:uFillTx/>
                <a:latin typeface="Open Sans Semibold"/>
                <a:ea typeface="Open Sans Semibold"/>
              </a:rPr>
              <a:t>Presentation Subtitle</a:t>
            </a:r>
            <a:endParaRPr b="0" lang="id-ID" sz="50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id-ID" sz="55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3917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rmAutofit/>
          </a:bodyPr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12000" strike="noStrike" u="none" cap="all">
                <a:solidFill>
                  <a:srgbClr val="ffffff"/>
                </a:solidFill>
                <a:uFillTx/>
                <a:latin typeface="Open Sans Semibold"/>
                <a:ea typeface="Open Sans Semibold"/>
              </a:rPr>
              <a:t>Presentation Title</a:t>
            </a:r>
            <a:endParaRPr b="0" lang="id-ID" sz="120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10058040" y="11538720"/>
            <a:ext cx="4212360" cy="745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algn="ctr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Open Sans Semibold"/>
                <a:ea typeface="Open Sans Semibold"/>
              </a:rPr>
              <a:t>Type your name</a:t>
            </a:r>
            <a:endParaRPr b="0" lang="id-ID" sz="20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6" name="UNIVERSITAS BINA NUSANTARA"/>
          <p:cNvSpPr/>
          <p:nvPr/>
        </p:nvSpPr>
        <p:spPr>
          <a:xfrm>
            <a:off x="9813600" y="11100960"/>
            <a:ext cx="4701240" cy="342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821520">
              <a:lnSpc>
                <a:spcPct val="8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uFillTx/>
                <a:latin typeface="Open Sans Light"/>
                <a:ea typeface="Open Sans Light"/>
              </a:rPr>
              <a:t>SUBJECT MATTER EXPERT</a:t>
            </a:r>
            <a:endParaRPr b="0" lang="id-ID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1008880" y="758160"/>
            <a:ext cx="269856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Image" descr="Image"/>
          <p:cNvPicPr/>
          <p:nvPr/>
        </p:nvPicPr>
        <p:blipFill>
          <a:blip r:embed="rId4"/>
          <a:stretch/>
        </p:blipFill>
        <p:spPr>
          <a:xfrm>
            <a:off x="766800" y="758160"/>
            <a:ext cx="1914480" cy="1142640"/>
          </a:xfrm>
          <a:prstGeom prst="rect">
            <a:avLst/>
          </a:prstGeom>
          <a:noFill/>
          <a:ln w="1270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12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14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5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6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20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22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23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24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28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30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31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32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36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7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38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39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40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44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5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46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47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48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6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52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3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54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55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56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60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1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62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63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64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68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9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70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71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72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6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76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7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78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79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80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84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5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86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87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88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6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92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3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94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95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96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6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100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1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102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03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04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6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108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9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110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11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12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6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116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7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118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19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20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6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124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5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126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27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28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6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132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3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134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35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36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6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SLIDE TITLE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SUB TITLE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Click to edit Master text styles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1" marL="149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2" marL="2255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Third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3" marL="3011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Fourth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lvl="4" marL="3659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Fifth level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pic>
        <p:nvPicPr>
          <p:cNvPr id="140" name="Picture 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rcRect l="27165" t="0" r="0" b="0"/>
          <a:stretch/>
        </p:blipFill>
        <p:spPr>
          <a:xfrm>
            <a:off x="20815200" y="0"/>
            <a:ext cx="2811600" cy="1472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1" name="Group"/>
          <p:cNvGrpSpPr/>
          <p:nvPr/>
        </p:nvGrpSpPr>
        <p:grpSpPr>
          <a:xfrm>
            <a:off x="756720" y="-3960"/>
            <a:ext cx="2783520" cy="2013840"/>
            <a:chOff x="756720" y="-3960"/>
            <a:chExt cx="2783520" cy="2013840"/>
          </a:xfrm>
        </p:grpSpPr>
        <p:pic>
          <p:nvPicPr>
            <p:cNvPr id="142" name="Image" descr="Image"/>
            <p:cNvPicPr/>
            <p:nvPr/>
          </p:nvPicPr>
          <p:blipFill>
            <a:blip r:embed="rId3"/>
            <a:stretch/>
          </p:blipFill>
          <p:spPr>
            <a:xfrm>
              <a:off x="756720" y="-3960"/>
              <a:ext cx="630000" cy="135936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43" name="Image" descr="Image"/>
            <p:cNvPicPr/>
            <p:nvPr/>
          </p:nvPicPr>
          <p:blipFill>
            <a:blip r:embed="rId4"/>
            <a:srcRect l="0" t="88141" r="78325" b="0"/>
            <a:stretch/>
          </p:blipFill>
          <p:spPr>
            <a:xfrm>
              <a:off x="771120" y="1386360"/>
              <a:ext cx="601200" cy="6235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144" name="Image" descr="Image"/>
            <p:cNvPicPr/>
            <p:nvPr/>
          </p:nvPicPr>
          <p:blipFill>
            <a:blip r:embed="rId5"/>
            <a:srcRect l="31833" t="7688" r="0" b="68035"/>
            <a:stretch/>
          </p:blipFill>
          <p:spPr>
            <a:xfrm>
              <a:off x="1648080" y="241200"/>
              <a:ext cx="1892160" cy="127764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/>
          </p:nvPr>
        </p:nvSpPr>
        <p:spPr>
          <a:xfrm>
            <a:off x="1201320" y="6754680"/>
            <a:ext cx="21970800" cy="1904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0" strike="noStrike" u="none" cap="all">
                <a:solidFill>
                  <a:srgbClr val="ffffff"/>
                </a:solidFill>
                <a:uFillTx/>
                <a:latin typeface="Open Sans Semibold"/>
                <a:ea typeface="Open Sans Semibold"/>
              </a:rPr>
              <a:t>Session 10</a:t>
            </a:r>
            <a:endParaRPr b="0" lang="id-ID" sz="50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3917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rmAutofit fontScale="90000"/>
          </a:bodyPr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12000" strike="noStrike" u="none" cap="all">
                <a:solidFill>
                  <a:srgbClr val="ffffff"/>
                </a:solidFill>
                <a:uFillTx/>
                <a:latin typeface="Open Sans Semibold"/>
                <a:ea typeface="Open Sans Semibold"/>
              </a:rPr>
              <a:t>Randomized Algorithms &amp; Hash Tables</a:t>
            </a:r>
            <a:endParaRPr b="0" lang="id-ID" sz="120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10058040" y="11538720"/>
            <a:ext cx="4212360" cy="745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algn="ctr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Open Sans Semibold"/>
                <a:ea typeface="Open Sans Semibold"/>
              </a:rPr>
              <a:t>Henry Lucky, S.Kom., M.Kom.</a:t>
            </a:r>
            <a:endParaRPr b="0" lang="id-ID" sz="20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Learning Outcomes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Session 10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At the end of this session, students will be able to: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LO 1: Evaluate the time and space complexity of algorithms using asymptotic notation and formal analysis methods, and prove algorithm correctness using loop invariants, induction, or exchange arguments.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LO 3: Design solutions to unfamiliar computational problems by selecting and applying appropriate strategies including Divide and Conquer, Greedy, Dynamic Programming, and Backtracking.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Learning Outcomes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Session 10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By the end of this session, students will be able to: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Analyze expected O(n log n) complexity of Randomized Quicksort using indicator random variables; evaluate O(1) expected lookup for universal hashing with O(1/m) collision probability.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Design Randomized Quicksort with random pivot selection; apply universal hash families and open addressing for collision-resistant hash tables; recognize when Las Vegas vs. Monte Carlo algorithms are appropriate.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outline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Session 10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308960" cy="812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Randomized Quicksort — Random Pivot, Expected Complexity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Las Vegas vs. Monte Carlo Algorithms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Hash Functions and Collision Resolution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Universal Hashing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Expected O(1) Operations — Probabilistic Analysis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randomized quicksort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Deterministic Quicksort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Worst case: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T(n) = T(n−1) + Θ(n) → Θ(n²) — occurs when pivot is always the minimum or maximum (e.g., already-sorted input).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Best case: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T(n) = 2T(n/2) + Θ(n) → Θ(n log n) — balanced partition.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Average case (random input):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T(n) = Θ(n log n) in expectation.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60" name="Rectangle 1"/>
          <p:cNvSpPr/>
          <p:nvPr/>
        </p:nvSpPr>
        <p:spPr>
          <a:xfrm>
            <a:off x="2359080" y="3897000"/>
            <a:ext cx="10837080" cy="5221440"/>
          </a:xfrm>
          <a:prstGeom prst="rect">
            <a:avLst/>
          </a:prstGeom>
          <a:solidFill>
            <a:srgbClr val="fff7d6"/>
          </a:solidFill>
          <a:ln>
            <a:solidFill>
              <a:srgbClr val="6f5f15"/>
            </a:solidFill>
            <a:round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 </a:t>
            </a: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QUICKSORT(A, p, r)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1  if p &lt; r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2      q = PARTITION(A, p, r)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3      QUICKSORT(A, p, q-1)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4      QUICKSORT(A, q+1, r)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PARTITION(A, p, r)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1  x = A[r]   // pivot = last element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2  i = p - 1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3  for j = p to r-1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4      if A[j] ≤ x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5          i++; swap A[i] and A[j]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6  swap A[i+1] and A[r]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7  return i+1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randomized quicksort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Randomized Quicksort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By choosing the pivot uniformly at random, the worst case is avoided with high probability.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64" name="Rectangle 2"/>
          <p:cNvSpPr/>
          <p:nvPr/>
        </p:nvSpPr>
        <p:spPr>
          <a:xfrm>
            <a:off x="2393280" y="3941280"/>
            <a:ext cx="10837080" cy="3759840"/>
          </a:xfrm>
          <a:prstGeom prst="rect">
            <a:avLst/>
          </a:prstGeom>
          <a:solidFill>
            <a:srgbClr val="fff7d6"/>
          </a:solidFill>
          <a:ln>
            <a:solidFill>
              <a:srgbClr val="6f5f15"/>
            </a:solidFill>
            <a:round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RANDOMIZED-QUICKSORT(A, p, r)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1  if p &lt; r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2      q = RANDOMIZED-PARTITION(A, p, r)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3      RANDOMIZED-QUICKSORT(A, p, q-1)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4      RANDOMIZED-QUICKSORT(A, q+1, r)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RANDOMIZED-PARTITION(A, p, r)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1  i = RANDOM(p, r)   // choose random pivot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2  swap A[i] and A[r]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2438280">
              <a:lnSpc>
                <a:spcPct val="100000"/>
              </a:lnSpc>
              <a:tabLst>
                <a:tab algn="l" pos="0"/>
              </a:tabLst>
            </a:pPr>
            <a:r>
              <a:rPr b="1" lang="en-ID" sz="2400" strike="noStrike" u="none">
                <a:solidFill>
                  <a:srgbClr val="424242"/>
                </a:solidFill>
                <a:uFillTx/>
                <a:latin typeface="Courier New"/>
              </a:rPr>
              <a:t>3  return PARTITION(A, p, r)</a:t>
            </a:r>
            <a:endParaRPr b="0" lang="id-ID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randomized quicksort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Expected Running Time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Theorem: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The expected running time of Randomized Quicksort is Θ(n log n) for any input of size n.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Proof sketch (CLRS, p. 191):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Let Xᵢⱼ = 1 if element with rank i is compared with element with rank j (i &lt; j) at any point.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Total comparisons = ∑_{i&lt;j} Xᵢⱼ.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E[total comparisons] = ∑{i&lt;j} Pr[Xᵢⱼ = 1] = ∑{i&lt;j} 2/(j−i+1) ≤ 2n ∑_{k=1}^{n} 1/k = 2nHₙ = Θ(n log n).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(Here Hₙ = harmonic number ≈ ln n + 0.577.)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randomized quicksort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Expected Running Time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Key insight: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Elements i and j are compared only when one of them is chosen as pivot when both are still in the same subarray. The probability is 2/(j−i+1) because there are j−i+1 elements between them, and any one is equally likely to be chosen first.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Las Vegas vs. Monte Carlo Algorithms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Las Vegas Algorithms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 </a:t>
            </a: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Las Vegas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algorithm always produces the correct answer, but its running time is random.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Example: 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Randomized Quicksort — always sorts correctly; running time is O(n log n) in expectation.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Property: 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E[running time] = bounded; correctness = guaranteed.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Las Vegas vs. Monte Carlo Algorithms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Monte Carlo Algorithms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 </a:t>
            </a: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Monte Carlo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algorithm always terminates in bounded time, but may occasionally produce an incorrect answer.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Example: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Miller–Rabin primality test — runs in O(k log² n) for k rounds; probability of error ≤ 1/4^k.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Property: 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Running time = bounded; correctness = probabilistic (error probability ≤ ε, can be made arbitrarily small by repeating).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Las Vegas vs. Monte Carlo Algorithms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Trade-off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For most practical purposes: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algn="just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Las Vegas: preferred when correctness is non-negotiable. 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algn="just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Monte Carlo: preferred when the error probability can be made negligible and speed is paramount.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Hash Tables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Problem and Goal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 </a:t>
            </a: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dynamic set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supports INSERT, DELETE, and SEARCH. A direct-address table (one slot per key) uses O(|universe|) space — infeasible when the universe is large.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 </a:t>
            </a: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hash table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uses h: U → {0, 1, …, m−1} to map keys to slots in a table of size m. Space: O(m). Expected search time: O(1).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Hash Tables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Collision Resolution: Chaining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Multiple keys mapping to the same slot are stored in a linked list (CLRS, p. 275).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Expected complexity (assuming simple uniform hashing):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algn="just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Load factor α = n/m (n = keys stored, m = table size).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algn="just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Expected time for SEARCH = Θ(1 + α).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algn="just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If m = Θ(n), then α = O(1) → expected O(1) per operation.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Hash Tables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Collision Resolution: Open Addressing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All elements stored in the table itself; no linked lists. When a collision occurs, probe a sequence of slots until an empty one is found.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Probe sequences: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algn="just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Linear probing: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h(k, i) = (h'(k) + i) mod m. Simple but causes </a:t>
            </a: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primary clustering.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algn="just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Quadratic probing: 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h(k, i) = (h'(k) + c₁i + c₂i²) mod m.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algn="just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Double hashing: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h(k, i) = (h₁(k) + i·h₂(k)) mod m. Best in practice; avoids clustering.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Hash Tables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Collision Resolution: Open Addressing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Expected operations (with uniform probing, α &lt; 1):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algn="just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Unsuccessful search: ≤ 1/(1−α).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algn="just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Successful search: ≤ (1/α) ln(1/(1−α)).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Hash Functions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Division Method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h(k) = k mod m. Choose m to be a prime not close to a power of 2.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Hash Functions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Universal Hashing (CLRS, p. 282)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 </a:t>
            </a: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universal hash family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H is a collection of hash functions such that for any two keys k ≠ l: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Pr_{h∈H}[h(k) = h(l)] ≤ 1/m.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Construction: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For a prime p &gt; |U|, choose a ∈ {1,…,p−1} and b ∈ {0,…,p−1} uniformly at random: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h_{a,b}(k) = ((ak + b) mod p) mod m.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This family is universal.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Hash Functions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Universal Hashing (CLRS, p. 282)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Theorem: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With universal hashing, the expected number of collisions for any key k with n−1 other keys is at most (n−1)/m = α − 1/m &lt; α.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Key advantage: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Guarantees expected O(1) performance for any input — no adversary can construct a worst-case input without knowing the random choice of h.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Expected O(1) Operations — Probabilistic Analysis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Indicator Random Variables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An </a:t>
            </a: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indicator random variable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X_A for event A: X_A = 1 if A occurs, else 0.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E[X_A] = Pr[A].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Useful property: </a:t>
            </a: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E[X₁ + X₂ + … + Xₙ] = E[X₁] + E[X₂] + … + E[Xₙ] (linearity of expectation — holds even for dependent variables).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Expected O(1) Operations — Probabilistic Analysis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119178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Example: Expected Collisions in a Hash Table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With n keys, m slots, and simple uniform hashing: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Number of collisions = ∑{i&lt;j} X{ij} where X_{ij} = 1 if keys i and j collide.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E[X_{ij}] = 1/m (each key independently hashed to m slots).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E[total collisions] = C(n,2) · 1/m = n(n−1)/(2m).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If m = n: E[collisions] = (n−1)/2 — a constant fraction of keys collide on average.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Expected O(1) Operations — Probabilistic Analysis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119178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Birthday Paradox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031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With n people and 365 days: Pr[two share a birthday] &gt; 1/2 when n ≥ 23.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101520" indent="0" algn="just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In hashing: if m = n², the expected number of collisions in n insertions is less than 1/2 (perfect hashing scenario).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Summary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1279944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Session 10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20048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2500" lnSpcReduction="9999"/>
          </a:bodyPr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1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Randomized Quicksort:</a:t>
            </a: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chooses pivot randomly; expected O(n log n) for any input.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1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Las Vegas:</a:t>
            </a: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always correct, random running time. Monte Carlo: fixed time, probabilistic correctness.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1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Hash table with chaining:</a:t>
            </a: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O(1+α) expected operations; universal hashing removes adversarial worst cases.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1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Open addressing:</a:t>
            </a: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all keys in the table; double hashing minimizes clustering.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Arial"/>
              <a:buChar char="•"/>
            </a:pPr>
            <a:r>
              <a:rPr b="1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Linearity of expectation</a:t>
            </a: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 enables clean probabilistic analyses without independence assumptions.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Exercises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1279944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ID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Session 10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20048760" cy="9137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2500" lnSpcReduction="9999"/>
          </a:bodyPr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Open Sans"/>
              <a:buAutoNum type="arabicPeriod"/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Show that deterministic Quicksort with a fixed last-element pivot runs in Θ(n²) on an already-sorted array. What happens with Randomized Quicksort?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Open Sans"/>
              <a:buAutoNum type="arabicPeriod"/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Compute E[X] where X = number of comparisons in Randomized Quicksort for n = 4 elements with values {1,2,3,4}. Enumerate all 4! = 24 permutations.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Open Sans"/>
              <a:buAutoNum type="arabicPeriod"/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A hash table has m = 13 slots and n = 10 keys. What is the load factor α? What is the expected number of collisions with simple uniform hashing?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Open Sans"/>
              <a:buAutoNum type="arabicPeriod"/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Construct a universal hash family for keys in {0,…,p−1} with m slots, where p is prime. Verify the universal property for k=3, l=7, p=11, m=5, a=2, b=1.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743040" indent="-743040" algn="just" defTabSz="2438280">
              <a:lnSpc>
                <a:spcPct val="100000"/>
              </a:lnSpc>
              <a:spcBef>
                <a:spcPts val="3501"/>
              </a:spcBef>
              <a:buFont typeface="Open Sans"/>
              <a:buAutoNum type="arabicPeriod"/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Explain why choosing m = 2^k as the table size is bad for the division method, but fine for the multiplication method.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References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Session 10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308960" cy="86806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2500" lnSpcReduction="9999"/>
          </a:bodyPr>
          <a:p>
            <a:pPr indent="0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Primary (Required): </a:t>
            </a: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Cormen, T.H., Leiserson, C.E., Rivest, R.L., &amp; Stein, C. (2022). Introduction to Algorithms, 4th Edition. MIT Press.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432000" indent="-324000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Ch. 7.3 — A Randomized Version of Quicksort (p. 191)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432000" indent="-324000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Ch. 11.2 — Hash Tables (p. 275)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432000" indent="-324000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Ch. 11.3 — Hash Functions (p. 282)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432000" indent="-324000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Ch. 11.4 — Open Addressing (p. 293)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2167200" y="1872000"/>
            <a:ext cx="14715360" cy="50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0000"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ID" sz="3800" strike="noStrike" u="none" cap="all">
                <a:solidFill>
                  <a:srgbClr val="128ccd"/>
                </a:solidFill>
                <a:uFillTx/>
                <a:latin typeface="Open Sans Extrabold"/>
                <a:ea typeface="Open Sans Extrabold"/>
              </a:rPr>
              <a:t>References</a:t>
            </a:r>
            <a:endParaRPr b="0" lang="id-ID" sz="3800" strike="noStrike" u="none">
              <a:solidFill>
                <a:srgbClr val="5e5e5e"/>
              </a:solidFill>
              <a:uFillTx/>
              <a:latin typeface="Open Sans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2167200" y="2419560"/>
            <a:ext cx="9768600" cy="803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r>
              <a:rPr b="1" lang="en-US" sz="3200" strike="noStrike" u="none" cap="all">
                <a:solidFill>
                  <a:srgbClr val="424242"/>
                </a:solidFill>
                <a:uFillTx/>
                <a:latin typeface="Open Sans Extrabold"/>
                <a:ea typeface="Open Sans Extrabold"/>
              </a:rPr>
              <a:t>Session 10</a:t>
            </a:r>
            <a:endParaRPr b="0" lang="id-ID" sz="32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2167200" y="3714120"/>
            <a:ext cx="19308960" cy="86806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 fontScale="92500" lnSpcReduction="9999"/>
          </a:bodyPr>
          <a:p>
            <a:pPr indent="0" defTabSz="243828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1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Secondary (Required): </a:t>
            </a: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Skiena, S.S. (2020). The Algorithm Design Manual, 3rd Edition. Springer.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432000" indent="-324000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Ch. 4.6.2 — Randomized Algorithms (p. 133)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432000" indent="-324000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Ch. 6.1 — Probability Review (p. 172)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432000" indent="-324000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Ch. 6.3 — Why is Hashing a Randomized Algorithm? (p. 181)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  <a:p>
            <a:pPr marL="432000" indent="-324000" defTabSz="2438280">
              <a:lnSpc>
                <a:spcPct val="100000"/>
              </a:lnSpc>
              <a:spcBef>
                <a:spcPts val="3501"/>
              </a:spcBef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D" sz="4400" strike="noStrike" u="none">
                <a:solidFill>
                  <a:srgbClr val="212121"/>
                </a:solidFill>
                <a:uFillTx/>
                <a:latin typeface="Open Sans"/>
                <a:ea typeface="Open Sans"/>
              </a:rPr>
              <a:t>Ch. 3.7 — Hashing (p. 93)</a:t>
            </a:r>
            <a:endParaRPr b="0" lang="id-ID" sz="4400" strike="noStrike" u="none">
              <a:solidFill>
                <a:srgbClr val="000000"/>
              </a:solidFill>
              <a:uFillTx/>
              <a:latin typeface="Open Sa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5119</TotalTime>
  <Application>LibreOfficeDev/24.8.7.2.0$Android_AARCH64 LibreOffice_project/</Application>
  <AppVersion>15.0000</AppVersion>
  <Words>3496</Words>
  <Paragraphs>366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2023-11-17T02:51:40Z</dcterms:created>
  <dc:creator>HENRY LUCKY</dc:creator>
  <dc:description/>
  <dc:language>id-ID</dc:language>
  <cp:lastModifiedBy/>
  <dcterms:modified xsi:type="dcterms:W3CDTF">2026-06-28T12:01:42Z</dcterms:modified>
  <cp:revision>82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30</vt:i4>
  </property>
  <property fmtid="{D5CDD505-2E9C-101B-9397-08002B2CF9AE}" pid="3" name="PresentationFormat">
    <vt:lpwstr>Custom</vt:lpwstr>
  </property>
  <property fmtid="{D5CDD505-2E9C-101B-9397-08002B2CF9AE}" pid="4" name="Slides">
    <vt:i4>32</vt:i4>
  </property>
</Properties>
</file>