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08" r:id="rId4"/>
    <p:sldId id="258" r:id="rId5"/>
    <p:sldId id="259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34" r:id="rId21"/>
    <p:sldId id="335" r:id="rId22"/>
    <p:sldId id="278" r:id="rId23"/>
  </p:sldIdLst>
  <p:sldSz cx="24384000" cy="13716000"/>
  <p:notesSz cx="6858000" cy="9144000"/>
  <p:embeddedFontLst>
    <p:embeddedFont>
      <p:font typeface="OCRB" panose="020B0609020202020204" pitchFamily="49" charset="0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Open Sans ExtraBold" panose="020B0906030804020204" pitchFamily="34" charset="0"/>
      <p:bold r:id="rId30"/>
      <p:italic r:id="rId31"/>
      <p:boldItalic r:id="rId32"/>
    </p:embeddedFont>
    <p:embeddedFont>
      <p:font typeface="Open Sans Light" panose="020B0306030504020204" pitchFamily="34" charset="0"/>
      <p:regular r:id="rId33"/>
      <p:italic r:id="rId34"/>
    </p:embeddedFont>
    <p:embeddedFont>
      <p:font typeface="Open Sans Semibold" panose="020B0706030804020204" pitchFamily="34" charset="0"/>
      <p:bold r:id="rId35"/>
      <p:boldItalic r:id="rId36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D6"/>
    <a:srgbClr val="212121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2" autoAdjust="0"/>
    <p:restoredTop sz="95584"/>
  </p:normalViewPr>
  <p:slideViewPr>
    <p:cSldViewPr snapToGrid="0" snapToObjects="1">
      <p:cViewPr varScale="1">
        <p:scale>
          <a:sx n="32" d="100"/>
          <a:sy n="32" d="100"/>
        </p:scale>
        <p:origin x="688" y="2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8FC2-5C26-33A7-9770-5DF518D2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0C54-60C5-266B-567C-0E58520CB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A69FD-7CBA-83C2-82A4-30021C20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3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039F6-62CB-C45B-466D-102D5A48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18489-B0BD-ED3F-287F-04AF45FE4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A501D-5E8B-339A-2043-0E9C8A702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567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5ACB4-C151-6493-2FC1-7910D97A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0D154-CAF4-386F-122A-C4C56C0AC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3D430-FFCD-10F6-BD53-44A15E92D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881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C6C7-33E5-D619-2DE0-938376660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BD461-B61A-0C5E-0175-E5C219D6C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3BDC7-F59E-D4D8-A2AF-B2DEE18DF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7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78471-1F56-0235-24F1-664170A50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42A23-8741-6877-B13D-6DEC5D4BC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48044-6734-4417-3CCB-74B652F01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97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76DF7-D9C2-D250-7CBE-35DCBF97D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95DAC-1927-ADDD-D243-E06A70561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619B8-B80B-C1B0-C354-BECB9F649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53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E7FAE-DA89-618A-71B4-C6F2CFDA4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0F6A78-DDAC-53EF-2269-0AC016BD1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B4C54-8C82-A7BC-7DCF-162F9304C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88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2E498-2D56-062E-9947-798C4118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8833B-BC96-005F-317E-1E03D352F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1FD61D-7D77-13F5-2129-13B6537C3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660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7831-C5DE-DDE8-4255-3AB61244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396DF-740A-E27B-CD70-D28D6F4FE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57055-682A-94F3-BB88-78EA37504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690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C9EA8-9D00-4A5E-FEC5-6B1CC8D9F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383C2-5DE7-DC4B-2CAA-9917290B5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A64A7-9B0F-ACCC-E3D0-5CAD6F1A0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665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83CA-B4B0-91BD-AFC0-A16F5F00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11D01-4047-52E7-D38E-18F42F40B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43AB1-9347-8616-1C3B-E34FD059C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741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95358-D348-AD6C-4EEA-171976D2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9FA72-F2C1-846C-5625-4FDA64130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8500F-4DB4-3C61-F1A5-47B1CEC80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834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CFDED-554B-358D-5A5E-D191EE40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9900C-1817-63E8-9783-CE012A9B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A8A4D-CC13-8449-4B73-6E2B57E95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1125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171F-A8C3-E2A1-5D70-3E90770FA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D1281-B242-4073-413F-BD3B679C5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58F5C-7E27-E676-BE40-FC65D451B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348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6DDE3-AF90-0D04-06EE-638B5778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5C785-59BE-B49B-AE47-CCB58DFFD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4FFD0-A70A-6A46-6D97-64F4689A2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127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DE2D-575D-9745-EDBA-3E1B2A6A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4E989-D5CF-1C99-4F1B-DF8343086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BFBF6-2836-F710-1A09-759B208B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25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90AD-5D35-A521-B025-D45D25C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33319-5D4A-F287-8CC5-579B5774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CB86-BDA9-52AC-7B13-B40299DB1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1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D&amp;C: Recurrences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pPr algn="just"/>
            <a:r>
              <a:rPr lang="en-US" dirty="0"/>
              <a:t>LO 1: Evaluate the time and space complexity of algorithms using asymptotic notation and formal analysis methods, and prove algorithm correctness using loop invariants, induction, or exchange arguments.</a:t>
            </a:r>
          </a:p>
          <a:p>
            <a:pPr algn="just"/>
            <a:r>
              <a:rPr lang="en-US" dirty="0"/>
              <a:t>LO 3: Design solutions to unfamiliar computational problems by selecting and applying appropriate strategies including Divide and Conquer, Greedy, Dynamic Programming, and Backtracking.</a:t>
            </a:r>
          </a:p>
          <a:p>
            <a:pPr algn="just"/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1F8D-55B0-83E8-D26D-92158A98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51A2-AC99-FA15-EE33-A71934E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0198E-B608-50F8-3760-250A6613A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C8106-38DC-428F-D042-636BD720D8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session, students will be able to:</a:t>
            </a:r>
          </a:p>
          <a:p>
            <a:pPr algn="just"/>
            <a:r>
              <a:rPr lang="en-US" dirty="0"/>
              <a:t>Evaluate recurrences using the substitution, recursion-tree, and Master Theorem methods (all three cases); verify recurrence solutions by induction; apply the Master Theorem to determine asymptotic complexity of D&amp;C algorithms.</a:t>
            </a:r>
          </a:p>
          <a:p>
            <a:pPr algn="just"/>
            <a:r>
              <a:rPr lang="en-US" dirty="0"/>
              <a:t>Derive the recurrence for a given D&amp;C algorithm from its pseudocode and solve it; apply the recursion-tree method as an intuition builder for the Master Theorem.</a:t>
            </a:r>
          </a:p>
        </p:txBody>
      </p:sp>
    </p:spTree>
    <p:extLst>
      <p:ext uri="{BB962C8B-B14F-4D97-AF65-F5344CB8AC3E}">
        <p14:creationId xmlns:p14="http://schemas.microsoft.com/office/powerpoint/2010/main" val="18466363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Formulating Recurrences from D&amp;C Algorithms</a:t>
            </a:r>
          </a:p>
          <a:p>
            <a:r>
              <a:rPr lang="en-US" dirty="0"/>
              <a:t>Substitution Method</a:t>
            </a:r>
          </a:p>
          <a:p>
            <a:r>
              <a:rPr lang="en-US" dirty="0"/>
              <a:t>Recursion Tree Method</a:t>
            </a:r>
          </a:p>
          <a:p>
            <a:r>
              <a:rPr lang="en-US" dirty="0"/>
              <a:t>Master Theorem — Cases and Applications</a:t>
            </a:r>
          </a:p>
          <a:p>
            <a:r>
              <a:rPr lang="en-US" dirty="0"/>
              <a:t>Verifying Recurrence Solutions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Formulating Recurrences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Standard 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 divide-and-conquer algorithm on input of size n with:</a:t>
            </a:r>
          </a:p>
          <a:p>
            <a:pPr marL="673100" indent="-571500" algn="just"/>
            <a:r>
              <a:rPr lang="en-US" dirty="0"/>
              <a:t>a recursive calls, each on input of size n/b,</a:t>
            </a:r>
          </a:p>
          <a:p>
            <a:pPr marL="673100" indent="-571500" algn="just"/>
            <a:r>
              <a:rPr lang="en-US" dirty="0"/>
              <a:t>f(n) work for divide and combine,</a:t>
            </a:r>
          </a:p>
          <a:p>
            <a:pPr marL="101600" indent="0" algn="just">
              <a:buNone/>
            </a:pPr>
            <a:r>
              <a:rPr lang="en-US" dirty="0"/>
              <a:t>has recurrence: </a:t>
            </a:r>
            <a:r>
              <a:rPr lang="en-US" b="1" dirty="0"/>
              <a:t>T(n) = </a:t>
            </a:r>
            <a:r>
              <a:rPr lang="en-US" b="1" dirty="0" err="1"/>
              <a:t>aT</a:t>
            </a:r>
            <a:r>
              <a:rPr lang="en-US" b="1" dirty="0"/>
              <a:t>(n/b) + f(n), </a:t>
            </a:r>
            <a:r>
              <a:rPr lang="en-US" dirty="0"/>
              <a:t>with T(1) = Θ(1).</a:t>
            </a:r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31DD6-3726-6EC4-E9C5-38BA33F4E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92AC-E448-3D65-9E71-1B0724537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Formulating Recurrences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F06C4-1CAF-966E-8E9F-0BA98D7227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991811-D051-4F22-8147-2ED2DE9BA404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880544807"/>
              </p:ext>
            </p:extLst>
          </p:nvPr>
        </p:nvGraphicFramePr>
        <p:xfrm>
          <a:off x="2166938" y="3714750"/>
          <a:ext cx="19310351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29601">
                  <a:extLst>
                    <a:ext uri="{9D8B030D-6E8A-4147-A177-3AD203B41FA5}">
                      <a16:colId xmlns:a16="http://schemas.microsoft.com/office/drawing/2014/main" val="1497369049"/>
                    </a:ext>
                  </a:extLst>
                </a:gridCol>
                <a:gridCol w="4651513">
                  <a:extLst>
                    <a:ext uri="{9D8B030D-6E8A-4147-A177-3AD203B41FA5}">
                      <a16:colId xmlns:a16="http://schemas.microsoft.com/office/drawing/2014/main" val="3719568474"/>
                    </a:ext>
                  </a:extLst>
                </a:gridCol>
                <a:gridCol w="3243079">
                  <a:extLst>
                    <a:ext uri="{9D8B030D-6E8A-4147-A177-3AD203B41FA5}">
                      <a16:colId xmlns:a16="http://schemas.microsoft.com/office/drawing/2014/main" val="782769712"/>
                    </a:ext>
                  </a:extLst>
                </a:gridCol>
                <a:gridCol w="3243079">
                  <a:extLst>
                    <a:ext uri="{9D8B030D-6E8A-4147-A177-3AD203B41FA5}">
                      <a16:colId xmlns:a16="http://schemas.microsoft.com/office/drawing/2014/main" val="511771746"/>
                    </a:ext>
                  </a:extLst>
                </a:gridCol>
                <a:gridCol w="3243079">
                  <a:extLst>
                    <a:ext uri="{9D8B030D-6E8A-4147-A177-3AD203B41FA5}">
                      <a16:colId xmlns:a16="http://schemas.microsoft.com/office/drawing/2014/main" val="421402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Recurrence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09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Merge Sort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 = 2T(n/2) + Θ(n)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579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Binary Search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 = T(n/2) + </a:t>
                      </a:r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Θ(1)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0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Naïve Matrix Multiply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 = 8T(n/2) + Θ(n²)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</a:t>
                      </a:r>
                      <a:r>
                        <a:rPr lang="en-US" sz="3200" baseline="30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242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Strassen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 = 7T(n/2) + Θ(n²)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480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Closest Pair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 = 2T(n/2) + Θ(n)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9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23733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3F8F-679E-3B2B-FB91-6B32848E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6604-4229-B0E6-5FE2-D3CBB47F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Substitution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A8685-D24C-12F8-70A2-19D31D253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39DC7B-89E2-982B-AA9D-B43887FAF05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Guess</a:t>
            </a:r>
            <a:r>
              <a:rPr lang="en-US" dirty="0"/>
              <a:t> the form of the solution.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Verify</a:t>
            </a:r>
            <a:r>
              <a:rPr lang="en-US" dirty="0"/>
              <a:t> by mathematical induction that the guess satisfies the recurrence.</a:t>
            </a:r>
          </a:p>
          <a:p>
            <a:pPr marL="0" indent="0">
              <a:buNone/>
            </a:pPr>
            <a:r>
              <a:rPr lang="en-US" dirty="0"/>
              <a:t>This method requires experience to guess correctly; it is used to verify or refine conjectured solutions.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21228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44691-8CEC-9DEF-3E92-CF8E318C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13D7-4320-C093-2288-9E2AE710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Substitution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A623E-1B51-4964-88C7-759382D6C9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fr-FR" dirty="0"/>
              <a:t>Example: T(n) = 2T(⌊n/2⌋) + n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4B9E9-CC6A-5C09-D454-7DE42A0E38E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Guess: </a:t>
            </a:r>
            <a:r>
              <a:rPr lang="en-US" dirty="0"/>
              <a:t>T(n) = O(n log n), i.e., T(n) ≤ </a:t>
            </a:r>
            <a:r>
              <a:rPr lang="en-US" dirty="0" err="1"/>
              <a:t>cn</a:t>
            </a:r>
            <a:r>
              <a:rPr lang="en-US" dirty="0"/>
              <a:t> log n for some c &gt; 0.</a:t>
            </a:r>
          </a:p>
          <a:p>
            <a:pPr marL="0" indent="0">
              <a:buNone/>
            </a:pPr>
            <a:r>
              <a:rPr lang="en-US" b="1" dirty="0"/>
              <a:t>Inductive hypothesis: </a:t>
            </a:r>
            <a:r>
              <a:rPr lang="en-US" dirty="0"/>
              <a:t>T(k) ≤ ck log k for all k &lt; n.</a:t>
            </a:r>
          </a:p>
          <a:p>
            <a:pPr marL="0" indent="0">
              <a:buNone/>
            </a:pPr>
            <a:r>
              <a:rPr lang="en-US" b="1" dirty="0"/>
              <a:t>Inductive step: </a:t>
            </a:r>
            <a:r>
              <a:rPr lang="en-US" dirty="0"/>
              <a:t>T(n) = 2T(⌊n/2⌋) + n ≤ 2 · c(n/2)log(n/2) + n = </a:t>
            </a:r>
            <a:r>
              <a:rPr lang="en-US" dirty="0" err="1"/>
              <a:t>cn</a:t>
            </a:r>
            <a:r>
              <a:rPr lang="en-US" dirty="0"/>
              <a:t> log(n/2) + n = </a:t>
            </a:r>
            <a:r>
              <a:rPr lang="en-US" dirty="0" err="1"/>
              <a:t>cn</a:t>
            </a:r>
            <a:r>
              <a:rPr lang="en-US" dirty="0"/>
              <a:t>(log n − 1) + n = </a:t>
            </a:r>
            <a:r>
              <a:rPr lang="en-US" dirty="0" err="1"/>
              <a:t>cn</a:t>
            </a:r>
            <a:r>
              <a:rPr lang="en-US" dirty="0"/>
              <a:t> log n − </a:t>
            </a:r>
            <a:r>
              <a:rPr lang="en-US" dirty="0" err="1"/>
              <a:t>cn</a:t>
            </a:r>
            <a:r>
              <a:rPr lang="en-US" dirty="0"/>
              <a:t> + n = </a:t>
            </a:r>
            <a:r>
              <a:rPr lang="en-US" dirty="0" err="1"/>
              <a:t>cn</a:t>
            </a:r>
            <a:r>
              <a:rPr lang="en-US" dirty="0"/>
              <a:t> log n − (c−1)n ≤ </a:t>
            </a:r>
            <a:r>
              <a:rPr lang="en-US" dirty="0" err="1"/>
              <a:t>cn</a:t>
            </a:r>
            <a:r>
              <a:rPr lang="en-US" dirty="0"/>
              <a:t> log n   (for c ≥ 1). ✓</a:t>
            </a:r>
          </a:p>
          <a:p>
            <a:pPr marL="0" indent="0">
              <a:buNone/>
            </a:pPr>
            <a:r>
              <a:rPr lang="en-US" b="1" dirty="0"/>
              <a:t>Base case: </a:t>
            </a:r>
            <a:r>
              <a:rPr lang="en-US" dirty="0"/>
              <a:t>T(2) = 4 ≤ c·2·log 2 = 2c → c ≥ 2. ✓</a:t>
            </a:r>
          </a:p>
        </p:txBody>
      </p:sp>
    </p:spTree>
    <p:extLst>
      <p:ext uri="{BB962C8B-B14F-4D97-AF65-F5344CB8AC3E}">
        <p14:creationId xmlns:p14="http://schemas.microsoft.com/office/powerpoint/2010/main" val="169784951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3E4D-B7F7-CF9F-0663-FD1874905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8789-4966-5EF8-8AD2-A80A56AE5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Substitution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DF7CD-9745-192A-013C-C212DB307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fr-FR" dirty="0"/>
              <a:t>Common </a:t>
            </a:r>
            <a:r>
              <a:rPr lang="fr-FR" dirty="0" err="1"/>
              <a:t>Pitfall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482F3E-9810-7E15-3349-D82210A4B7C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Guessing T(n) = O(n) for T(n) = 2T(⌊n/2⌋) + n fails:</a:t>
            </a:r>
          </a:p>
          <a:p>
            <a:pPr marL="0" indent="0">
              <a:buNone/>
            </a:pPr>
            <a:r>
              <a:rPr lang="pt-BR" dirty="0"/>
              <a:t>T(n) = 2T(n/2) + n ≤ 2c(n/2) + n = cn + n = (c+1)n — the induction does not close.</a:t>
            </a:r>
          </a:p>
          <a:p>
            <a:pPr marL="0" indent="0">
              <a:buNone/>
            </a:pPr>
            <a:r>
              <a:rPr lang="pt-BR" dirty="0"/>
              <a:t>We must guess T(n) = O(n log n).</a:t>
            </a:r>
          </a:p>
        </p:txBody>
      </p:sp>
    </p:spTree>
    <p:extLst>
      <p:ext uri="{BB962C8B-B14F-4D97-AF65-F5344CB8AC3E}">
        <p14:creationId xmlns:p14="http://schemas.microsoft.com/office/powerpoint/2010/main" val="186676235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1DC6-6D74-A17C-A211-3CAF6D32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BB02B-FA40-4EF3-A53E-0CDBA1530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Recursion tree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B3CE3-0D17-8413-8C53-E3789DB6E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fr-FR" dirty="0"/>
              <a:t>method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D477F-8C9F-72C2-8740-9722B4C6E9B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Draw the recursion tree: each node represents the cost of the non-recursive work at that level. Sum the cost at each level, then sum across all levels.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035665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1ACD-4494-4E08-5DD7-A4EC0A02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E506-AE61-B8C1-0556-D8E2ED5A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Recursion tree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2F1DB-5A97-4512-FA01-96B7E7F159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/>
              <a:t>Example: T(n) = 3T(n/4) + Θ(n²)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AB8B1-EC53-D228-C11C-6EB8E0A6481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Tree levels: </a:t>
            </a:r>
            <a:r>
              <a:rPr lang="en-US" dirty="0"/>
              <a:t>At depth d, there are 3^d nodes, each of size n/4^d. Cost at each node: (n/4^d)². Cost at depth d: 3^d · (n/4^d)² = n² · (3/16)^d.</a:t>
            </a:r>
          </a:p>
          <a:p>
            <a:pPr marL="0" indent="0">
              <a:buNone/>
            </a:pPr>
            <a:r>
              <a:rPr lang="en-US" dirty="0"/>
              <a:t>Total cost: ∑_{d=0}^{log₄ n} n²(3/16)^d ≤ n² ∑_{d=0}^{∞} (3/16)^d = n² · 1/(1−3/16) = n² · 16/13 = O(n²).</a:t>
            </a:r>
          </a:p>
          <a:p>
            <a:pPr marL="0" indent="0">
              <a:buNone/>
            </a:pPr>
            <a:r>
              <a:rPr lang="en-US" b="1" dirty="0"/>
              <a:t>Result: </a:t>
            </a:r>
            <a:r>
              <a:rPr lang="en-US" dirty="0"/>
              <a:t>T(n) = O(n²). (Dominated by the root; f(n) = n² grows faster than the recursive work.)</a:t>
            </a:r>
          </a:p>
        </p:txBody>
      </p:sp>
    </p:spTree>
    <p:extLst>
      <p:ext uri="{BB962C8B-B14F-4D97-AF65-F5344CB8AC3E}">
        <p14:creationId xmlns:p14="http://schemas.microsoft.com/office/powerpoint/2010/main" val="272151574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28E97-D8EF-2183-8DFD-3F83C135A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FB4B-E771-9CA6-DE41-3E943204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Recursion tree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A9551-BAFA-AD3F-3F42-4116439C10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/>
              <a:t>Example: T(n) = 2T(n/2) + n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9EDD18-614F-A448-B081-B98E791AE97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Each level d has 2^d nodes of size n/2^d, each contributing n/2^d work. Level cost: 2^d · n/2^d = n. Number of levels: log₂ n + 1.</a:t>
            </a:r>
          </a:p>
          <a:p>
            <a:pPr marL="0" indent="0">
              <a:buNone/>
            </a:pPr>
            <a:r>
              <a:rPr lang="en-US" dirty="0"/>
              <a:t>Total: n · (log₂ n + 1) = Θ(n log n). ✓</a:t>
            </a:r>
          </a:p>
        </p:txBody>
      </p:sp>
    </p:spTree>
    <p:extLst>
      <p:ext uri="{BB962C8B-B14F-4D97-AF65-F5344CB8AC3E}">
        <p14:creationId xmlns:p14="http://schemas.microsoft.com/office/powerpoint/2010/main" val="349528216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E4AD-E449-17CF-F2D2-C88A8428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A1C0-0E57-4CF5-C6D3-F7D1F2C6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Master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072FA-239D-3120-6BC3-DFCFCFABD1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/>
              <a:t>Statement (CLRS, p. 101)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0D7593-BB30-45A4-6DBC-7548BA4486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For T(n) = </a:t>
            </a:r>
            <a:r>
              <a:rPr lang="en-US" dirty="0" err="1"/>
              <a:t>aT</a:t>
            </a:r>
            <a:r>
              <a:rPr lang="en-US" dirty="0"/>
              <a:t>(n/b) + f(n) with a ≥ 1, b &gt; 1, f asymptotically positive:</a:t>
            </a:r>
          </a:p>
          <a:p>
            <a:pPr marL="0" indent="0">
              <a:buNone/>
            </a:pPr>
            <a:r>
              <a:rPr lang="en-US" dirty="0"/>
              <a:t>Let the critical exponent be c = </a:t>
            </a:r>
            <a:r>
              <a:rPr lang="en-US" dirty="0" err="1"/>
              <a:t>log_b</a:t>
            </a:r>
            <a:r>
              <a:rPr lang="en-US" dirty="0"/>
              <a:t>(a).</a:t>
            </a:r>
          </a:p>
          <a:p>
            <a:pPr marL="0" indent="0">
              <a:buNone/>
            </a:pPr>
            <a:r>
              <a:rPr lang="en-US" b="1" dirty="0"/>
              <a:t>Case 1: </a:t>
            </a:r>
            <a:r>
              <a:rPr lang="en-US" dirty="0"/>
              <a:t>f(n) = O(n^{c−</a:t>
            </a:r>
            <a:r>
              <a:rPr lang="el-GR" dirty="0"/>
              <a:t>ε}) </a:t>
            </a:r>
            <a:r>
              <a:rPr lang="en-US" dirty="0"/>
              <a:t>for some </a:t>
            </a:r>
            <a:r>
              <a:rPr lang="el-GR" dirty="0"/>
              <a:t>ε &gt; 0 (</a:t>
            </a:r>
            <a:r>
              <a:rPr lang="en-US" dirty="0"/>
              <a:t>f grows </a:t>
            </a:r>
            <a:r>
              <a:rPr lang="en-US" dirty="0" err="1"/>
              <a:t>polynomially</a:t>
            </a:r>
            <a:r>
              <a:rPr lang="en-US" dirty="0"/>
              <a:t> slower than n^{c}).</a:t>
            </a:r>
          </a:p>
          <a:p>
            <a:pPr marL="0" indent="0">
              <a:buNone/>
            </a:pPr>
            <a:r>
              <a:rPr lang="en-US" dirty="0"/>
              <a:t>→ T(n) = </a:t>
            </a:r>
            <a:r>
              <a:rPr lang="el-GR" dirty="0"/>
              <a:t>Θ(</a:t>
            </a:r>
            <a:r>
              <a:rPr lang="en-US" dirty="0"/>
              <a:t>n^{c}).</a:t>
            </a:r>
          </a:p>
          <a:p>
            <a:pPr marL="0" indent="0">
              <a:buNone/>
            </a:pPr>
            <a:r>
              <a:rPr lang="en-US" b="1" dirty="0"/>
              <a:t>Case 2: </a:t>
            </a:r>
            <a:r>
              <a:rPr lang="en-US" dirty="0"/>
              <a:t>f(n) = </a:t>
            </a:r>
            <a:r>
              <a:rPr lang="el-GR" dirty="0"/>
              <a:t>Θ(</a:t>
            </a:r>
            <a:r>
              <a:rPr lang="en-US" dirty="0"/>
              <a:t>n^{c} · </a:t>
            </a:r>
            <a:r>
              <a:rPr lang="en-US" dirty="0" err="1"/>
              <a:t>log^k</a:t>
            </a:r>
            <a:r>
              <a:rPr lang="en-US" dirty="0"/>
              <a:t> n) for some k ≥ 0.</a:t>
            </a:r>
          </a:p>
          <a:p>
            <a:pPr marL="0" indent="0">
              <a:buNone/>
            </a:pPr>
            <a:r>
              <a:rPr lang="en-US" dirty="0"/>
              <a:t>→ T(n) = </a:t>
            </a:r>
            <a:r>
              <a:rPr lang="el-GR" dirty="0"/>
              <a:t>Θ(</a:t>
            </a:r>
            <a:r>
              <a:rPr lang="en-US" dirty="0"/>
              <a:t>n^{c} · log^{k+1} n).</a:t>
            </a:r>
          </a:p>
          <a:p>
            <a:pPr marL="0" indent="0">
              <a:buNone/>
            </a:pPr>
            <a:r>
              <a:rPr lang="en-US" b="1" dirty="0"/>
              <a:t>Case 3: </a:t>
            </a:r>
            <a:r>
              <a:rPr lang="en-US" dirty="0"/>
              <a:t>f(n) = </a:t>
            </a:r>
            <a:r>
              <a:rPr lang="el-GR" dirty="0"/>
              <a:t>Ω(</a:t>
            </a:r>
            <a:r>
              <a:rPr lang="en-US" dirty="0"/>
              <a:t>n^{c+</a:t>
            </a:r>
            <a:r>
              <a:rPr lang="el-GR" dirty="0"/>
              <a:t>ε}) </a:t>
            </a:r>
            <a:r>
              <a:rPr lang="en-US" dirty="0"/>
              <a:t>for some </a:t>
            </a:r>
            <a:r>
              <a:rPr lang="el-GR" dirty="0"/>
              <a:t>ε &gt; 0, </a:t>
            </a:r>
            <a:r>
              <a:rPr lang="en-US" dirty="0"/>
              <a:t>and </a:t>
            </a:r>
            <a:r>
              <a:rPr lang="en-US" dirty="0" err="1"/>
              <a:t>af</a:t>
            </a:r>
            <a:r>
              <a:rPr lang="en-US" dirty="0"/>
              <a:t>(n/b) ≤ </a:t>
            </a:r>
            <a:r>
              <a:rPr lang="en-US" dirty="0" err="1"/>
              <a:t>cf</a:t>
            </a:r>
            <a:r>
              <a:rPr lang="en-US" dirty="0"/>
              <a:t>(n) for some c &lt; 1 (regularity condition).</a:t>
            </a:r>
          </a:p>
          <a:p>
            <a:pPr marL="0" indent="0">
              <a:buNone/>
            </a:pPr>
            <a:r>
              <a:rPr lang="en-US" dirty="0"/>
              <a:t>→ T(n) = </a:t>
            </a:r>
            <a:r>
              <a:rPr lang="el-GR" dirty="0"/>
              <a:t>Θ(</a:t>
            </a:r>
            <a:r>
              <a:rPr lang="en-US" dirty="0"/>
              <a:t>f(n)).</a:t>
            </a:r>
          </a:p>
        </p:txBody>
      </p:sp>
    </p:spTree>
    <p:extLst>
      <p:ext uri="{BB962C8B-B14F-4D97-AF65-F5344CB8AC3E}">
        <p14:creationId xmlns:p14="http://schemas.microsoft.com/office/powerpoint/2010/main" val="414527821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7EF44-CEB0-5C8F-3D88-BD66A8A8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7163-5585-2E27-7A13-3686EAD2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Master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BF8B9-CB03-2697-8AE1-BCD6DC7B7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/>
              <a:t>Intuition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10378E-D645-C83E-E3CA-9A8B5837ADB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Case 1: </a:t>
            </a:r>
            <a:r>
              <a:rPr lang="en-US" dirty="0"/>
              <a:t>Recursion dominates — most work at the leaves.</a:t>
            </a:r>
          </a:p>
          <a:p>
            <a:r>
              <a:rPr lang="en-US" b="1" dirty="0"/>
              <a:t>Case 2: </a:t>
            </a:r>
            <a:r>
              <a:rPr lang="en-US" dirty="0"/>
              <a:t>Balanced — work is evenly distributed across all levels.</a:t>
            </a:r>
          </a:p>
          <a:p>
            <a:r>
              <a:rPr lang="en-US" b="1" dirty="0"/>
              <a:t>Case 3: </a:t>
            </a:r>
            <a:r>
              <a:rPr lang="en-US" dirty="0"/>
              <a:t>Root dominates — most work at the top level.</a:t>
            </a:r>
          </a:p>
        </p:txBody>
      </p:sp>
    </p:spTree>
    <p:extLst>
      <p:ext uri="{BB962C8B-B14F-4D97-AF65-F5344CB8AC3E}">
        <p14:creationId xmlns:p14="http://schemas.microsoft.com/office/powerpoint/2010/main" val="405143605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EAD9-E4BD-3F75-715B-29C204F8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7D81-2392-CCA0-913A-058420F5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Master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D0857-8C95-065B-BB6C-9CA5291E0D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/>
              <a:t>applications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4352CA-536D-6697-2EC1-1741B9C7167B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998315351"/>
              </p:ext>
            </p:extLst>
          </p:nvPr>
        </p:nvGraphicFramePr>
        <p:xfrm>
          <a:off x="2166938" y="3714750"/>
          <a:ext cx="19310346" cy="463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9584">
                  <a:extLst>
                    <a:ext uri="{9D8B030D-6E8A-4147-A177-3AD203B41FA5}">
                      <a16:colId xmlns:a16="http://schemas.microsoft.com/office/drawing/2014/main" val="3295070376"/>
                    </a:ext>
                  </a:extLst>
                </a:gridCol>
                <a:gridCol w="2623380">
                  <a:extLst>
                    <a:ext uri="{9D8B030D-6E8A-4147-A177-3AD203B41FA5}">
                      <a16:colId xmlns:a16="http://schemas.microsoft.com/office/drawing/2014/main" val="2993719167"/>
                    </a:ext>
                  </a:extLst>
                </a:gridCol>
                <a:gridCol w="2623380">
                  <a:extLst>
                    <a:ext uri="{9D8B030D-6E8A-4147-A177-3AD203B41FA5}">
                      <a16:colId xmlns:a16="http://schemas.microsoft.com/office/drawing/2014/main" val="4177347617"/>
                    </a:ext>
                  </a:extLst>
                </a:gridCol>
                <a:gridCol w="2623380">
                  <a:extLst>
                    <a:ext uri="{9D8B030D-6E8A-4147-A177-3AD203B41FA5}">
                      <a16:colId xmlns:a16="http://schemas.microsoft.com/office/drawing/2014/main" val="4071359862"/>
                    </a:ext>
                  </a:extLst>
                </a:gridCol>
                <a:gridCol w="2623380">
                  <a:extLst>
                    <a:ext uri="{9D8B030D-6E8A-4147-A177-3AD203B41FA5}">
                      <a16:colId xmlns:a16="http://schemas.microsoft.com/office/drawing/2014/main" val="3697516019"/>
                    </a:ext>
                  </a:extLst>
                </a:gridCol>
                <a:gridCol w="2758621">
                  <a:extLst>
                    <a:ext uri="{9D8B030D-6E8A-4147-A177-3AD203B41FA5}">
                      <a16:colId xmlns:a16="http://schemas.microsoft.com/office/drawing/2014/main" val="3539473249"/>
                    </a:ext>
                  </a:extLst>
                </a:gridCol>
                <a:gridCol w="2758621">
                  <a:extLst>
                    <a:ext uri="{9D8B030D-6E8A-4147-A177-3AD203B41FA5}">
                      <a16:colId xmlns:a16="http://schemas.microsoft.com/office/drawing/2014/main" val="1788320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Recurrence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c*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161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T(n)=2T(n/2)+n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 (k=0)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 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51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T(n)=2T(n/2)+n²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aseline="30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</a:t>
                      </a:r>
                      <a:r>
                        <a:rPr lang="en-US" sz="3200" baseline="30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n²)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57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T(n)=2T(n/2)+1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686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T(n)=4T(n/2)+n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n²)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11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T(n)=4T(n/2)+n²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</a:t>
                      </a:r>
                      <a:r>
                        <a:rPr lang="en-US" sz="3200" baseline="30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 (k=0)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n² 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45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T(n)=4T(n/2)+n³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</a:t>
                      </a:r>
                      <a:r>
                        <a:rPr lang="en-US" sz="3200" baseline="30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n³)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37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T(n)=7T(n/2)+n²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</a:t>
                      </a:r>
                      <a:r>
                        <a:rPr lang="en-US" sz="3200" baseline="30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log₂7≈2.81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n^{log₂7})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5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28782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0AE44-FC0E-46BC-0E2C-EC55971D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234F-7AE8-DB2E-85CA-106A357D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Master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9B162-DF47-E203-9C5C-498C93B90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/>
              <a:t>Strassen's Matrix Multiplication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29362-0D13-4F68-4377-33D9014431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Naïve matrix multiplication: T(n) = 8T(n/2) + </a:t>
            </a:r>
            <a:r>
              <a:rPr lang="el-GR" dirty="0"/>
              <a:t>Θ(</a:t>
            </a:r>
            <a:r>
              <a:rPr lang="en-US" dirty="0"/>
              <a:t>n²) → c = log₂8 = 3 → T(n) = </a:t>
            </a:r>
            <a:r>
              <a:rPr lang="el-GR" dirty="0"/>
              <a:t>Θ(</a:t>
            </a:r>
            <a:r>
              <a:rPr lang="en-US" dirty="0"/>
              <a:t>n³).</a:t>
            </a:r>
          </a:p>
          <a:p>
            <a:pPr marL="0" indent="0">
              <a:buNone/>
            </a:pPr>
            <a:r>
              <a:rPr lang="en-US" dirty="0"/>
              <a:t>Strassen reduces 8 recursive multiplications to 7:</a:t>
            </a:r>
          </a:p>
          <a:p>
            <a:pPr marL="0" indent="0">
              <a:buNone/>
            </a:pPr>
            <a:r>
              <a:rPr lang="en-US" dirty="0"/>
              <a:t>T(n) = 7T(n/2) + </a:t>
            </a:r>
            <a:r>
              <a:rPr lang="el-GR" dirty="0"/>
              <a:t>Θ(</a:t>
            </a:r>
            <a:r>
              <a:rPr lang="en-US" dirty="0"/>
              <a:t>n²) → c = log₂7 ≈ 2.807 → </a:t>
            </a:r>
            <a:r>
              <a:rPr lang="en-US" b="1" dirty="0"/>
              <a:t>T(n) = </a:t>
            </a:r>
            <a:r>
              <a:rPr lang="el-GR" b="1" dirty="0"/>
              <a:t>Θ(</a:t>
            </a:r>
            <a:r>
              <a:rPr lang="en-US" b="1" dirty="0"/>
              <a:t>n^{log₂7}) ≈ </a:t>
            </a:r>
            <a:r>
              <a:rPr lang="el-GR" b="1" dirty="0"/>
              <a:t>Θ(</a:t>
            </a:r>
            <a:r>
              <a:rPr lang="en-US" b="1" dirty="0"/>
              <a:t>n^{2.807}).</a:t>
            </a:r>
          </a:p>
          <a:p>
            <a:pPr marL="0" indent="0">
              <a:buNone/>
            </a:pPr>
            <a:r>
              <a:rPr lang="en-US" dirty="0"/>
              <a:t>For large matrices, this is significantly faster than </a:t>
            </a:r>
            <a:r>
              <a:rPr lang="el-GR" dirty="0"/>
              <a:t>Θ(</a:t>
            </a:r>
            <a:r>
              <a:rPr lang="en-US" dirty="0"/>
              <a:t>n³).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75263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72780-E533-51E3-B60E-4B682A2A2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2E632-F134-E49D-8E9B-802A53AF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Master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609A9-02A5-5082-C655-85F6E4571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/>
              <a:t>Master Theorem Limitations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92AC5-17AF-F821-20CA-E73423F7E19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Master Theorem does not apply when:</a:t>
            </a:r>
          </a:p>
          <a:p>
            <a:r>
              <a:rPr lang="en-US" dirty="0"/>
              <a:t>f(n) is not a polynomial relative to n^{c} (e.g., T(n) = 2T(n/2) + n/log n).</a:t>
            </a:r>
          </a:p>
          <a:p>
            <a:r>
              <a:rPr lang="en-US" dirty="0"/>
              <a:t>The number of subproblems is not constant (e.g., T(n) = √n · T(√n) + n).</a:t>
            </a:r>
          </a:p>
          <a:p>
            <a:r>
              <a:rPr lang="en-US" dirty="0"/>
              <a:t>Subproblems are of unequal sizes.</a:t>
            </a:r>
          </a:p>
        </p:txBody>
      </p:sp>
    </p:spTree>
    <p:extLst>
      <p:ext uri="{BB962C8B-B14F-4D97-AF65-F5344CB8AC3E}">
        <p14:creationId xmlns:p14="http://schemas.microsoft.com/office/powerpoint/2010/main" val="281764385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4FB00-448F-6B31-F853-ED52BE06C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B5F4-268E-8B1E-C87E-C259AFB3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Verifying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B98EA-E304-8808-2E93-2983E41D2B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/>
              <a:t>Verification checklist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56810D-B7EE-6099-4A24-BFAED3A3CCA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obtaining a solution:</a:t>
            </a:r>
          </a:p>
          <a:p>
            <a:pPr>
              <a:buFont typeface="+mj-lt"/>
              <a:buAutoNum type="arabicPeriod"/>
            </a:pPr>
            <a:r>
              <a:rPr lang="en-US" dirty="0"/>
              <a:t>Substitute back into the recurrence and verify it satisfies all three conditions (base case, inductive step, asymptotic bounds).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that the constants satisfy the inequalities for all n ≥ n₀.</a:t>
            </a:r>
          </a:p>
          <a:p>
            <a:pPr>
              <a:buFont typeface="+mj-lt"/>
              <a:buAutoNum type="arabicPeriod"/>
            </a:pPr>
            <a:r>
              <a:rPr lang="en-US" dirty="0"/>
              <a:t>Confirm the Master Theorem case applies (check polynomial gap, regularity if Case 3).</a:t>
            </a:r>
          </a:p>
        </p:txBody>
      </p:sp>
    </p:spTree>
    <p:extLst>
      <p:ext uri="{BB962C8B-B14F-4D97-AF65-F5344CB8AC3E}">
        <p14:creationId xmlns:p14="http://schemas.microsoft.com/office/powerpoint/2010/main" val="311945586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8681-D85B-5D2A-458B-8EB04AA3B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9DD9-4E3D-CB3E-F51D-7F5C1F77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Verifying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A8121-9D2C-6450-1C3B-411D7E726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/>
              <a:t>Example Verification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301629-68F7-1C20-D029-77F411EDA2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Claim: </a:t>
            </a:r>
            <a:r>
              <a:rPr lang="pt-BR" dirty="0"/>
              <a:t>T(n) = Θ(n log n) for T(n) = 2T(n/2) + n.</a:t>
            </a:r>
          </a:p>
          <a:p>
            <a:pPr marL="0" indent="0">
              <a:buNone/>
            </a:pPr>
            <a:r>
              <a:rPr lang="pt-BR" b="1" dirty="0"/>
              <a:t>Master Theorem check:</a:t>
            </a:r>
          </a:p>
          <a:p>
            <a:r>
              <a:rPr lang="pt-BR" dirty="0"/>
              <a:t>a=2, b=2, f(n)=n, c=log₂2=1.</a:t>
            </a:r>
          </a:p>
          <a:p>
            <a:r>
              <a:rPr lang="pt-BR" dirty="0"/>
              <a:t>f(n) = n = Θ(n^1 · log⁰ n) → Case 2, k=0.</a:t>
            </a:r>
          </a:p>
          <a:p>
            <a:r>
              <a:rPr lang="pt-BR" dirty="0"/>
              <a:t>Result: Θ(n^1 · log^1 n) = Θ(n log n). ✓</a:t>
            </a:r>
          </a:p>
        </p:txBody>
      </p:sp>
    </p:spTree>
    <p:extLst>
      <p:ext uri="{BB962C8B-B14F-4D97-AF65-F5344CB8AC3E}">
        <p14:creationId xmlns:p14="http://schemas.microsoft.com/office/powerpoint/2010/main" val="341458529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4745-38F4-6B70-C5E6-490DEC1C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9FB6-5216-72D8-C2D6-855C73FF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90BD9-2B4B-AAF0-7C79-E2CD378F4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C2CE5-A3E8-9383-F708-28F2C13D0D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Formulate</a:t>
            </a:r>
            <a:r>
              <a:rPr lang="en-US" dirty="0"/>
              <a:t> the recurrence by identifying a, b, and f(n).</a:t>
            </a:r>
          </a:p>
          <a:p>
            <a:pPr algn="just"/>
            <a:r>
              <a:rPr lang="en-US" b="1" dirty="0"/>
              <a:t>Substitution method: </a:t>
            </a:r>
            <a:r>
              <a:rPr lang="en-US" dirty="0"/>
              <a:t>guess, then prove by induction. Requires experience to guess correctly.</a:t>
            </a:r>
          </a:p>
          <a:p>
            <a:pPr algn="just"/>
            <a:r>
              <a:rPr lang="en-US" b="1" dirty="0"/>
              <a:t>Recursion tree: </a:t>
            </a:r>
            <a:r>
              <a:rPr lang="en-US" dirty="0"/>
              <a:t>visualize cost per level; total = sum over all levels.</a:t>
            </a:r>
          </a:p>
          <a:p>
            <a:pPr algn="just"/>
            <a:r>
              <a:rPr lang="en-US" b="1" dirty="0"/>
              <a:t>Master Theorem: </a:t>
            </a:r>
            <a:r>
              <a:rPr lang="en-US" dirty="0"/>
              <a:t>three-case rule for T(n) = </a:t>
            </a:r>
            <a:r>
              <a:rPr lang="en-US" dirty="0" err="1"/>
              <a:t>aT</a:t>
            </a:r>
            <a:r>
              <a:rPr lang="en-US" dirty="0"/>
              <a:t>(n/b) + f(n); compare f(n) to n^{</a:t>
            </a:r>
            <a:r>
              <a:rPr lang="en-US" dirty="0" err="1"/>
              <a:t>log_b</a:t>
            </a:r>
            <a:r>
              <a:rPr lang="en-US" dirty="0"/>
              <a:t> a}.</a:t>
            </a:r>
          </a:p>
          <a:p>
            <a:pPr algn="just"/>
            <a:r>
              <a:rPr lang="en-US" b="1" dirty="0"/>
              <a:t>Strassen: </a:t>
            </a:r>
            <a:r>
              <a:rPr lang="en-US" dirty="0"/>
              <a:t>reduces matrix multiply from O(n³) to O(n^{2.807}) by cutting subproblems from 8 to 7.</a:t>
            </a:r>
          </a:p>
        </p:txBody>
      </p:sp>
    </p:spTree>
    <p:extLst>
      <p:ext uri="{BB962C8B-B14F-4D97-AF65-F5344CB8AC3E}">
        <p14:creationId xmlns:p14="http://schemas.microsoft.com/office/powerpoint/2010/main" val="188285252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B5EF-EDE6-A5C1-32F8-99BB8919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9DF9-DA86-1C2B-B43B-04A7374D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CDDA6-47F0-D21A-1287-73DE12AE7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B44C8-A6ED-A683-33EE-A99E42E2D6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ID" dirty="0"/>
              <a:t>Use the recursion tree method to solve T(n) = T(n/3) + T(2n/3) + n.</a:t>
            </a:r>
          </a:p>
          <a:p>
            <a:pPr algn="just">
              <a:buFont typeface="+mj-lt"/>
              <a:buAutoNum type="arabicPeriod"/>
            </a:pPr>
            <a:r>
              <a:rPr lang="en-ID" dirty="0"/>
              <a:t>Apply the Master Theorem (if applicable) to: (a) T(n)=3T(n/3)+n, (b) T(n)=9T(n/3)+n², (c) T(n)=2T(n/4)+√n.</a:t>
            </a:r>
          </a:p>
          <a:p>
            <a:pPr algn="just">
              <a:buFont typeface="+mj-lt"/>
              <a:buAutoNum type="arabicPeriod"/>
            </a:pPr>
            <a:r>
              <a:rPr lang="en-ID" dirty="0"/>
              <a:t>Use the substitution method to prove T(n) = T(n−1) + n = O(n²).</a:t>
            </a:r>
          </a:p>
          <a:p>
            <a:pPr algn="just">
              <a:buFont typeface="+mj-lt"/>
              <a:buAutoNum type="arabicPeriod"/>
            </a:pPr>
            <a:r>
              <a:rPr lang="en-ID" dirty="0"/>
              <a:t>(CLRS 4.3-3) T(n) = 4T(n/2) + n² log n — which case of the Master Theorem applies? Does the theorem apply directly?</a:t>
            </a:r>
          </a:p>
          <a:p>
            <a:pPr algn="just">
              <a:buFont typeface="+mj-lt"/>
              <a:buAutoNum type="arabicPeriod"/>
            </a:pPr>
            <a:r>
              <a:rPr lang="en-ID" dirty="0"/>
              <a:t>Write the recurrence for the closest-pair algorithm and verify the O(n log n) result using the Master Theorem.</a:t>
            </a:r>
          </a:p>
        </p:txBody>
      </p:sp>
    </p:spTree>
    <p:extLst>
      <p:ext uri="{BB962C8B-B14F-4D97-AF65-F5344CB8AC3E}">
        <p14:creationId xmlns:p14="http://schemas.microsoft.com/office/powerpoint/2010/main" val="153871225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9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868097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b="1" dirty="0"/>
              <a:t>Primary (Required): </a:t>
            </a:r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 Introduction to Algorithms, 4th Edition. MIT Press.</a:t>
            </a:r>
          </a:p>
          <a:p>
            <a:r>
              <a:rPr lang="en-ID" dirty="0"/>
              <a:t>Ch. 4.3 — The Substitution Method (p. 90)</a:t>
            </a:r>
          </a:p>
          <a:p>
            <a:r>
              <a:rPr lang="en-ID" dirty="0"/>
              <a:t>Ch. 4.4 — The Recursion-Tree Method (p. 95)</a:t>
            </a:r>
          </a:p>
          <a:p>
            <a:r>
              <a:rPr lang="en-ID" dirty="0"/>
              <a:t>Ch. 4.5 — The Master Method (p. 101)</a:t>
            </a:r>
          </a:p>
          <a:p>
            <a:pPr marL="0" indent="0">
              <a:buNone/>
            </a:pPr>
            <a:r>
              <a:rPr lang="en-ID" b="1" dirty="0"/>
              <a:t>Secondary (Required):</a:t>
            </a:r>
            <a:r>
              <a:rPr lang="en-ID" dirty="0" err="1"/>
              <a:t>Skiena</a:t>
            </a:r>
            <a:r>
              <a:rPr lang="en-ID" dirty="0"/>
              <a:t>, S.S. (2020). The Algorithm Design Manual, 3rd Edition. Springer.</a:t>
            </a:r>
          </a:p>
          <a:p>
            <a:r>
              <a:rPr lang="en-ID" dirty="0"/>
              <a:t>Ch. 5.3 — Recurrence Relations (p. 152)</a:t>
            </a:r>
          </a:p>
          <a:p>
            <a:r>
              <a:rPr lang="en-ID" dirty="0"/>
              <a:t>Ch. 5.3.1 — Divide-and-Conquer Recurrences (p. 153)</a:t>
            </a:r>
          </a:p>
          <a:p>
            <a:r>
              <a:rPr lang="en-ID" dirty="0"/>
              <a:t>Ch. 5.4 — Solving Divide-and-Conquer Recurrences (p. 154)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5118</TotalTime>
  <Words>2148</Words>
  <Application>Microsoft Office PowerPoint</Application>
  <PresentationFormat>Custom</PresentationFormat>
  <Paragraphs>208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Open Sans ExtraBold</vt:lpstr>
      <vt:lpstr>OCRB</vt:lpstr>
      <vt:lpstr>Open Sans</vt:lpstr>
      <vt:lpstr>Open Sans Semibold</vt:lpstr>
      <vt:lpstr>Open Sans Light</vt:lpstr>
      <vt:lpstr>21_BasicWhite</vt:lpstr>
      <vt:lpstr>D&amp;C: Recurrences</vt:lpstr>
      <vt:lpstr>Learning Outcomes</vt:lpstr>
      <vt:lpstr>Learning Outcomes</vt:lpstr>
      <vt:lpstr>outline</vt:lpstr>
      <vt:lpstr>Formulating Recurrences</vt:lpstr>
      <vt:lpstr>Formulating Recurrences</vt:lpstr>
      <vt:lpstr>Substitution method</vt:lpstr>
      <vt:lpstr>Substitution method</vt:lpstr>
      <vt:lpstr>Substitution method</vt:lpstr>
      <vt:lpstr>Recursion tree method</vt:lpstr>
      <vt:lpstr>Recursion tree method</vt:lpstr>
      <vt:lpstr>Recursion tree method</vt:lpstr>
      <vt:lpstr>Master theorem</vt:lpstr>
      <vt:lpstr>Master theorem</vt:lpstr>
      <vt:lpstr>Master theorem</vt:lpstr>
      <vt:lpstr>Master theorem</vt:lpstr>
      <vt:lpstr>Master theorem</vt:lpstr>
      <vt:lpstr>Verifying solutions</vt:lpstr>
      <vt:lpstr>Verifying solutions</vt:lpstr>
      <vt:lpstr>Summary</vt:lpstr>
      <vt:lpstr>Exercises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Asus -</cp:lastModifiedBy>
  <cp:revision>82</cp:revision>
  <dcterms:created xsi:type="dcterms:W3CDTF">2023-11-17T02:51:40Z</dcterms:created>
  <dcterms:modified xsi:type="dcterms:W3CDTF">2026-06-28T11:23:14Z</dcterms:modified>
</cp:coreProperties>
</file>