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08" r:id="rId4"/>
    <p:sldId id="258" r:id="rId5"/>
    <p:sldId id="259" r:id="rId6"/>
    <p:sldId id="336" r:id="rId7"/>
    <p:sldId id="337" r:id="rId8"/>
    <p:sldId id="338" r:id="rId9"/>
    <p:sldId id="309" r:id="rId10"/>
    <p:sldId id="339" r:id="rId11"/>
    <p:sldId id="340" r:id="rId12"/>
    <p:sldId id="310" r:id="rId13"/>
    <p:sldId id="341" r:id="rId14"/>
    <p:sldId id="342" r:id="rId15"/>
    <p:sldId id="311" r:id="rId16"/>
    <p:sldId id="343" r:id="rId17"/>
    <p:sldId id="344" r:id="rId18"/>
    <p:sldId id="345" r:id="rId19"/>
    <p:sldId id="334" r:id="rId20"/>
    <p:sldId id="335" r:id="rId21"/>
    <p:sldId id="278" r:id="rId22"/>
  </p:sldIdLst>
  <p:sldSz cx="24384000" cy="13716000"/>
  <p:notesSz cx="6858000" cy="9144000"/>
  <p:embeddedFontLst>
    <p:embeddedFont>
      <p:font typeface="OCRB" panose="020B0609020202020204" pitchFamily="49" charset="0"/>
      <p:regular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Open Sans ExtraBold" panose="020B0906030804020204" pitchFamily="34" charset="0"/>
      <p:bold r:id="rId29"/>
      <p:italic r:id="rId30"/>
      <p:boldItalic r:id="rId31"/>
    </p:embeddedFont>
    <p:embeddedFont>
      <p:font typeface="Open Sans Light" panose="020B0306030504020204" pitchFamily="34" charset="0"/>
      <p:regular r:id="rId32"/>
      <p:italic r:id="rId33"/>
    </p:embeddedFont>
    <p:embeddedFont>
      <p:font typeface="Open Sans Semibold" panose="020B0706030804020204" pitchFamily="34" charset="0"/>
      <p:bold r:id="rId34"/>
      <p:boldItalic r:id="rId3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FFF7D6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2" autoAdjust="0"/>
    <p:restoredTop sz="95584"/>
  </p:normalViewPr>
  <p:slideViewPr>
    <p:cSldViewPr snapToGrid="0" snapToObjects="1">
      <p:cViewPr varScale="1">
        <p:scale>
          <a:sx n="32" d="100"/>
          <a:sy n="32" d="100"/>
        </p:scale>
        <p:origin x="688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8FC2-5C26-33A7-9770-5DF518D2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0C54-60C5-266B-567C-0E58520CB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A69FD-7CBA-83C2-82A4-30021C207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0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21F0-294F-89DA-39C6-1095F112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97F48-0D8C-D8DE-B24A-940B382C2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512F-7DF5-46FF-B894-823B25FB3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313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288E-558E-5465-9B70-59AB7B43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0936E-90B4-E556-EF0F-9B92E755C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6A540-DC16-9BE0-83C3-738641C45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30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2CF2-0943-64DF-DAB0-D26835568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2E2ED-CE2B-A22A-A6E7-4E2DBA33A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C7ABA-AB1D-8AF2-46FF-D5261601D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450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F8D5-F9CF-F2FF-FD4A-ED27E02D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673D1-D44A-C0EE-C271-8928CDDE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BBB9-1E58-A8C5-7FA4-42E3DC573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25B9-D426-A283-31C2-1A466194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3F5A4-54B6-DC0F-B291-E0F6A5FA2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799FC-2C49-E09B-7404-B1E8264FA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88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BD816-8C1C-83C0-6A6F-D8FAD0858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28781-42B1-C1FA-28BD-2A7DE0C7D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F97AC-3822-9D7D-5D31-0E23D6D6C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99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FA42A-7B1A-DCB5-255F-6699F049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EEBDC0-57D6-36AA-F9C3-E95DD568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0308F-420D-C34D-FD9B-3705996B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64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5B9E-39F5-5D91-7484-702AD5B4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73CFB-1D78-5AB4-66CF-4ABC13F0F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AF62B-29B6-450B-76D1-99CE96DEC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07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96C9-C727-1849-2E3D-32100AE09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51C1C6-4C17-CE90-D4ED-251F214A5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418741-26BA-4613-8049-1BF93B30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775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11AF6-8389-DB31-21BD-FA67B1E9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BF085-3769-1F18-5721-01BCAC106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C4659-E0AE-6C7B-E5E0-417AE3108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37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54BD-DC4D-9B4F-4E46-D843C0D8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D5B43-C9ED-4BB1-8408-966C2D7C3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AF82C-DB2D-E49B-7286-C1A792150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72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4282-739E-D520-0785-37236AD8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9F756-252B-076F-B084-097F9EC30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2197A-54B9-0FDD-3798-203BB9BFA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548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D914E-0689-9429-579C-A679D805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1ECD5-8992-7209-556C-306872C82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F65D7-68F5-4AFC-4DF7-39AEE4018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36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DE2D-575D-9745-EDBA-3E1B2A6A1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4E989-D5CF-1C99-4F1B-DF8343086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BFBF6-2836-F710-1A09-759B208B0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1258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90AD-5D35-A521-B025-D45D25CB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33319-5D4A-F287-8CC5-579B57744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CB86-BDA9-52AC-7B13-B40299DB1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16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b="1" dirty="0"/>
              <a:t>Amortized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session addresses LO 1 — </a:t>
            </a:r>
            <a:r>
              <a:rPr lang="en-US" b="1" dirty="0"/>
              <a:t>Complexity Analysis &amp; Correctness:</a:t>
            </a:r>
          </a:p>
          <a:p>
            <a:r>
              <a:rPr lang="en-US" dirty="0"/>
              <a:t>Evaluate the time and space complexity of algorithms using asymptotic notation and formal analysis methods, and prove algorithm correctness using loop invariants, induction, or exchange arguments.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61F8D-55B0-83E8-D26D-92158A98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51A2-AC99-FA15-EE33-A71934EB4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0198E-B608-50F8-3760-250A6613A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C8106-38DC-428F-D042-636BD720D8E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session, students will be able to:</a:t>
            </a:r>
          </a:p>
          <a:p>
            <a:pPr algn="just"/>
            <a:r>
              <a:rPr lang="en-US" dirty="0"/>
              <a:t>Compute amortized cost per operation for </a:t>
            </a:r>
            <a:r>
              <a:rPr lang="en-US" dirty="0" err="1"/>
              <a:t>multipop</a:t>
            </a:r>
            <a:r>
              <a:rPr lang="en-US" dirty="0"/>
              <a:t> stack, binary counter, and dynamic table using aggregate, accounting, and potential methods; verify that O(1) amortized cost holds even when individual operations cost O(k).</a:t>
            </a:r>
          </a:p>
          <a:p>
            <a:pPr algn="just"/>
            <a:r>
              <a:rPr lang="en-US" dirty="0"/>
              <a:t>Evaluate when amortized analysis gives a tighter bound than worst-case per-operation analysis; apply the potential method to a dynamic array with table doubling.</a:t>
            </a:r>
          </a:p>
        </p:txBody>
      </p:sp>
    </p:spTree>
    <p:extLst>
      <p:ext uri="{BB962C8B-B14F-4D97-AF65-F5344CB8AC3E}">
        <p14:creationId xmlns:p14="http://schemas.microsoft.com/office/powerpoint/2010/main" val="18466363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— Why Worst-Case Per Operation Can Be Misleading</a:t>
            </a:r>
          </a:p>
          <a:p>
            <a:r>
              <a:rPr lang="en-US" dirty="0"/>
              <a:t>Aggregate Analysis: </a:t>
            </a:r>
            <a:r>
              <a:rPr lang="en-US" dirty="0" err="1"/>
              <a:t>Multipop</a:t>
            </a:r>
            <a:r>
              <a:rPr lang="en-US" dirty="0"/>
              <a:t> Stack, Binary Counter</a:t>
            </a:r>
          </a:p>
          <a:p>
            <a:r>
              <a:rPr lang="en-US" dirty="0"/>
              <a:t>Accounting Method: Assigning Credits to Operations</a:t>
            </a:r>
          </a:p>
          <a:p>
            <a:r>
              <a:rPr lang="en-US" dirty="0"/>
              <a:t>Potential Method: Defining Potential Functions</a:t>
            </a:r>
          </a:p>
          <a:p>
            <a:r>
              <a:rPr lang="en-US" dirty="0"/>
              <a:t>Dynamic Table as a Unifying Example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motivation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Worst-case analysis of a single operation can overestimate the total cost of a sequence of operations. </a:t>
            </a:r>
            <a:r>
              <a:rPr lang="en-US" b="1" dirty="0"/>
              <a:t>Amortized</a:t>
            </a:r>
            <a:r>
              <a:rPr lang="en-US" dirty="0"/>
              <a:t> analysis analyzes the average cost per operation over the entire sequence — without probabilistic assumptions.</a:t>
            </a:r>
          </a:p>
          <a:p>
            <a:pPr marL="101600" indent="0" algn="just">
              <a:buNone/>
            </a:pPr>
            <a:r>
              <a:rPr lang="en-US" b="1" dirty="0"/>
              <a:t>Key distinction from average-case analysis: </a:t>
            </a:r>
            <a:r>
              <a:rPr lang="en-US" dirty="0"/>
              <a:t>amortized analysis guarantees the average over a </a:t>
            </a:r>
            <a:r>
              <a:rPr lang="en-US" i="1" dirty="0"/>
              <a:t>worst-case</a:t>
            </a:r>
            <a:r>
              <a:rPr lang="en-US" dirty="0"/>
              <a:t> sequence; average-case uses a probability distribution.</a:t>
            </a:r>
          </a:p>
          <a:p>
            <a:pPr marL="101600" indent="0" algn="just">
              <a:buNone/>
            </a:pPr>
            <a:r>
              <a:rPr lang="en-US" b="1" dirty="0"/>
              <a:t>Formal goal: </a:t>
            </a:r>
            <a:r>
              <a:rPr lang="en-US" dirty="0"/>
              <a:t>Given a data structure with operations o₁, o₂, …, oₙ and actual costs c₁, c₂, …, cₙ, find amortized cost â such that ∑cᵢ ≤ </a:t>
            </a:r>
            <a:r>
              <a:rPr lang="en-US" dirty="0" err="1"/>
              <a:t>n·â</a:t>
            </a:r>
            <a:r>
              <a:rPr lang="en-US" dirty="0"/>
              <a:t> (total actual cost ≤ n × amortized cost).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1D239-96B3-883E-E5B1-CB639CC8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7DEAE-9FDF-7E6B-3C3B-61824B58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Aggregate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D1607-0F65-C8EA-D0DB-7C769255A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ED987-364E-C56C-5476-BD1F4F6ABE8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Compute the total actual cost T(n) for n operations, then set the amortized cost per operation = T(n)/n.</a:t>
            </a:r>
          </a:p>
        </p:txBody>
      </p:sp>
    </p:spTree>
    <p:extLst>
      <p:ext uri="{BB962C8B-B14F-4D97-AF65-F5344CB8AC3E}">
        <p14:creationId xmlns:p14="http://schemas.microsoft.com/office/powerpoint/2010/main" val="11183458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21DB-D578-6740-36A0-4935D05B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F999-0780-19C3-48CC-C0B0AFDE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Aggregate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0E83A-F982-6B89-9889-B1D28920D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Example: </a:t>
            </a:r>
            <a:r>
              <a:rPr lang="en-ID" dirty="0" err="1"/>
              <a:t>Multipop</a:t>
            </a:r>
            <a:r>
              <a:rPr lang="en-ID" dirty="0"/>
              <a:t> Stack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EA2B9-4496-123A-5363-4F6B7CE2B2A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stack supports PUSH, POP, and MULTIPOP(S, k) — pop min(k, |S|) elements.</a:t>
            </a:r>
          </a:p>
          <a:p>
            <a:pPr marL="101600" indent="0" algn="just">
              <a:buNone/>
            </a:pPr>
            <a:r>
              <a:rPr lang="en-US" b="1" dirty="0"/>
              <a:t>Single operation worst case: </a:t>
            </a:r>
            <a:r>
              <a:rPr lang="en-US" dirty="0"/>
              <a:t>MULTIPOP costs O(n) if the stack has n elements → naïve bound: n operations cost O(n²).</a:t>
            </a:r>
          </a:p>
          <a:p>
            <a:pPr marL="101600" indent="0" algn="just">
              <a:buNone/>
            </a:pPr>
            <a:r>
              <a:rPr lang="en-US" b="1" dirty="0"/>
              <a:t>Aggregate analysis: </a:t>
            </a:r>
            <a:r>
              <a:rPr lang="en-US" dirty="0"/>
              <a:t>Each element is pushed at most once and popped at most once over all n operations. Total cost of all POPs (and MULTIPOPs) ≤ total </a:t>
            </a:r>
            <a:r>
              <a:rPr lang="en-US" dirty="0" err="1"/>
              <a:t>PUSHes</a:t>
            </a:r>
            <a:r>
              <a:rPr lang="en-US" dirty="0"/>
              <a:t> ≤ n. Therefore T(n) = O(n), and amortized cost per operation = O(1).</a:t>
            </a:r>
          </a:p>
        </p:txBody>
      </p:sp>
    </p:spTree>
    <p:extLst>
      <p:ext uri="{BB962C8B-B14F-4D97-AF65-F5344CB8AC3E}">
        <p14:creationId xmlns:p14="http://schemas.microsoft.com/office/powerpoint/2010/main" val="363858267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BB13E-FF7D-D29E-5B4A-4ADFE750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693FE-9635-C78A-48F3-3D72C402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Aggregate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ECE0C-F408-FAAC-4D72-4B6D77562E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Example: Binary Counter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0A37-9F35-2F04-7CDB-84C417FCC2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fontScale="92500"/>
          </a:bodyPr>
          <a:lstStyle/>
          <a:p>
            <a:pPr marL="101600" indent="0" algn="just">
              <a:buNone/>
            </a:pPr>
            <a:r>
              <a:rPr lang="en-US" dirty="0"/>
              <a:t>An n-bit binary counter supports INCREMENT. Each bit flip costs 1.</a:t>
            </a:r>
          </a:p>
          <a:p>
            <a:pPr marL="101600" indent="0" algn="just">
              <a:buNone/>
            </a:pPr>
            <a:r>
              <a:rPr lang="en-US" b="1" dirty="0"/>
              <a:t>Single increment worst case: </a:t>
            </a:r>
            <a:r>
              <a:rPr lang="en-US" dirty="0"/>
              <a:t>O(n) flips (e.g., 0111…1 → 1000…0 flips n bits).</a:t>
            </a:r>
          </a:p>
          <a:p>
            <a:pPr marL="101600" indent="0" algn="just">
              <a:buNone/>
            </a:pPr>
            <a:r>
              <a:rPr lang="en-US" b="1" dirty="0"/>
              <a:t>Aggregate analysis: </a:t>
            </a:r>
            <a:r>
              <a:rPr lang="en-US" dirty="0"/>
              <a:t>For a sequence of m increments on a counter starting at 0:</a:t>
            </a:r>
          </a:p>
          <a:p>
            <a:pPr marL="673100" indent="-571500" algn="just"/>
            <a:r>
              <a:rPr lang="en-US" dirty="0"/>
              <a:t>Bit 0 flips every increment: m times.</a:t>
            </a:r>
          </a:p>
          <a:p>
            <a:pPr marL="673100" indent="-571500" algn="just"/>
            <a:r>
              <a:rPr lang="en-US" dirty="0"/>
              <a:t>Bit 1 flips every 2nd increment: ⌊m/2⌋ times.</a:t>
            </a:r>
          </a:p>
          <a:p>
            <a:pPr marL="673100" indent="-571500" algn="just"/>
            <a:r>
              <a:rPr lang="en-US" dirty="0"/>
              <a:t>Bit k flips every 2ᵏ increments: ⌊m/2ᵏ⌋ times.</a:t>
            </a:r>
          </a:p>
          <a:p>
            <a:pPr marL="101600" indent="0" algn="just">
              <a:buNone/>
            </a:pPr>
            <a:r>
              <a:rPr lang="en-US" dirty="0"/>
              <a:t>Total flips = ∑_{k=0}^{n-1} ⌊m/2ᵏ⌋ &lt; m ∑_{k=0}^{∞} 1/2ᵏ = 2m = O(m).</a:t>
            </a:r>
          </a:p>
          <a:p>
            <a:pPr marL="101600" indent="0" algn="just">
              <a:buNone/>
            </a:pPr>
            <a:r>
              <a:rPr lang="en-US" dirty="0"/>
              <a:t>Amortized cost per increment = O(1).</a:t>
            </a:r>
          </a:p>
        </p:txBody>
      </p:sp>
    </p:spTree>
    <p:extLst>
      <p:ext uri="{BB962C8B-B14F-4D97-AF65-F5344CB8AC3E}">
        <p14:creationId xmlns:p14="http://schemas.microsoft.com/office/powerpoint/2010/main" val="30666839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81C2-29E8-E0E8-320D-33101982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06F2D-C1AF-C9B2-72AD-559B9139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Accounting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719E-75C3-5F2E-EAB2-1064D1E8B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method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E4912-074B-3574-6E8B-258C624ECB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Assign an </a:t>
            </a:r>
            <a:r>
              <a:rPr lang="en-US" b="1" dirty="0"/>
              <a:t>amortized cost â(</a:t>
            </a:r>
            <a:r>
              <a:rPr lang="en-US" b="1" dirty="0" err="1"/>
              <a:t>i</a:t>
            </a:r>
            <a:r>
              <a:rPr lang="en-US" b="1" dirty="0"/>
              <a:t>) </a:t>
            </a:r>
            <a:r>
              <a:rPr lang="en-US" dirty="0"/>
              <a:t>to each operation, which may differ from its actual cost c(</a:t>
            </a:r>
            <a:r>
              <a:rPr lang="en-US" dirty="0" err="1"/>
              <a:t>i</a:t>
            </a:r>
            <a:r>
              <a:rPr lang="en-US" dirty="0"/>
              <a:t>). The difference is stored as credit on data structure objects.</a:t>
            </a:r>
          </a:p>
          <a:p>
            <a:pPr marL="101600" indent="0" algn="just">
              <a:buNone/>
            </a:pPr>
            <a:r>
              <a:rPr lang="en-US" b="1" dirty="0"/>
              <a:t>Invariant (credit must stay non-negative): </a:t>
            </a:r>
            <a:r>
              <a:rPr lang="en-US" dirty="0"/>
              <a:t>∑_{</a:t>
            </a:r>
            <a:r>
              <a:rPr lang="en-US" dirty="0" err="1"/>
              <a:t>i</a:t>
            </a:r>
            <a:r>
              <a:rPr lang="en-US" dirty="0"/>
              <a:t>=1}^{n} â(</a:t>
            </a:r>
            <a:r>
              <a:rPr lang="en-US" dirty="0" err="1"/>
              <a:t>i</a:t>
            </a:r>
            <a:r>
              <a:rPr lang="en-US" dirty="0"/>
              <a:t>) ≥ ∑_{</a:t>
            </a:r>
            <a:r>
              <a:rPr lang="en-US" dirty="0" err="1"/>
              <a:t>i</a:t>
            </a:r>
            <a:r>
              <a:rPr lang="en-US" dirty="0"/>
              <a:t>=1}^{n} c(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  <a:p>
            <a:pPr marL="101600" indent="0" algn="just">
              <a:buNone/>
            </a:pPr>
            <a:r>
              <a:rPr lang="en-US" dirty="0"/>
              <a:t>If credit is always ≥ 0, then ∑â(</a:t>
            </a:r>
            <a:r>
              <a:rPr lang="en-US" dirty="0" err="1"/>
              <a:t>i</a:t>
            </a:r>
            <a:r>
              <a:rPr lang="en-US" dirty="0"/>
              <a:t>) is an upper bound on the total actual cost.</a:t>
            </a:r>
          </a:p>
        </p:txBody>
      </p:sp>
    </p:spTree>
    <p:extLst>
      <p:ext uri="{BB962C8B-B14F-4D97-AF65-F5344CB8AC3E}">
        <p14:creationId xmlns:p14="http://schemas.microsoft.com/office/powerpoint/2010/main" val="39297439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1A5A3-4F52-DCA5-D06B-C6FFB419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94F7-5399-4382-DD7B-746E0195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Accounting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02DAF-87D6-3F7F-495B-46D0A40140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Stack with PUSH/POP/MULTIPOP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D92D2-CD7B-725A-9E72-1C4AB0D060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Assign:</a:t>
            </a:r>
          </a:p>
          <a:p>
            <a:pPr marL="673100" indent="-571500" algn="just"/>
            <a:r>
              <a:rPr lang="en-US" dirty="0"/>
              <a:t>â(PUSH) = 2 (1 to pay for the push itself, 1 stored as credit on the element)</a:t>
            </a:r>
          </a:p>
          <a:p>
            <a:pPr marL="673100" indent="-571500" algn="just"/>
            <a:r>
              <a:rPr lang="en-US" dirty="0"/>
              <a:t>â(POP) = 0 (paid by the stored credit)</a:t>
            </a:r>
          </a:p>
          <a:p>
            <a:pPr marL="673100" indent="-571500" algn="just"/>
            <a:r>
              <a:rPr lang="en-US" dirty="0"/>
              <a:t>â(MULTIPOP) = 0 (paid by credits on each popped element)</a:t>
            </a:r>
          </a:p>
          <a:p>
            <a:pPr marL="101600" indent="0" algn="just">
              <a:buNone/>
            </a:pPr>
            <a:r>
              <a:rPr lang="en-US" b="1" dirty="0"/>
              <a:t>Correctness: </a:t>
            </a:r>
            <a:r>
              <a:rPr lang="en-US" dirty="0"/>
              <a:t>Each element has ≥ 1 credit when it is popped (placed there by the PUSH). Credit never goes negative. Total amortized cost of n operations: 2n = O(n). ✓</a:t>
            </a:r>
          </a:p>
        </p:txBody>
      </p:sp>
    </p:spTree>
    <p:extLst>
      <p:ext uri="{BB962C8B-B14F-4D97-AF65-F5344CB8AC3E}">
        <p14:creationId xmlns:p14="http://schemas.microsoft.com/office/powerpoint/2010/main" val="325519891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30C0B-309B-9CE6-3B65-02C9367F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D45F-ECEA-0714-94D1-61A2D7A2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Accounting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822DE-2FC6-7EA7-2385-360D3C66DC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Binary Counter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6AA06A-272F-1F87-0CBE-FD47E990B9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Assign:</a:t>
            </a:r>
          </a:p>
          <a:p>
            <a:pPr marL="673100" indent="-571500" algn="just"/>
            <a:r>
              <a:rPr lang="en-US" dirty="0"/>
              <a:t>â(setting bit to 1) = 2 (1 for the flip, 1 stored on the bit)</a:t>
            </a:r>
          </a:p>
          <a:p>
            <a:pPr marL="673100" indent="-571500" algn="just"/>
            <a:r>
              <a:rPr lang="en-US" dirty="0"/>
              <a:t>â(setting bit to 0) = 0 (paid by the stored credit)</a:t>
            </a:r>
          </a:p>
          <a:p>
            <a:pPr marL="101600" indent="0" algn="just">
              <a:buNone/>
            </a:pPr>
            <a:r>
              <a:rPr lang="en-US" dirty="0"/>
              <a:t>Each 1-bit has 1 credit. Each INCREMENT sets exactly one bit from 0 to 1 (amortized cost 2) and resets some bits from 1 to 0 (each paid by their stored credit). Total amortized cost = 2 per increment → O(1) amortized. ✓</a:t>
            </a:r>
          </a:p>
        </p:txBody>
      </p:sp>
    </p:spTree>
    <p:extLst>
      <p:ext uri="{BB962C8B-B14F-4D97-AF65-F5344CB8AC3E}">
        <p14:creationId xmlns:p14="http://schemas.microsoft.com/office/powerpoint/2010/main" val="11344214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F59E-6C10-26BA-27A0-1423B4F1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998D-7EA0-5DC1-DF0F-6EB658CC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Potential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2B02-806B-2F5C-F7B8-6C3FC90FA5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1527-AD6A-0C83-6E71-49C94CE391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Define a </a:t>
            </a:r>
            <a:r>
              <a:rPr lang="en-US" b="1" dirty="0"/>
              <a:t>potential function </a:t>
            </a:r>
            <a:r>
              <a:rPr lang="el-GR" b="1" dirty="0"/>
              <a:t>Φ </a:t>
            </a:r>
            <a:r>
              <a:rPr lang="en-US" dirty="0"/>
              <a:t>mapping the data structure state Dᵢ after the </a:t>
            </a:r>
            <a:r>
              <a:rPr lang="en-US" dirty="0" err="1"/>
              <a:t>i-th</a:t>
            </a:r>
            <a:r>
              <a:rPr lang="en-US" dirty="0"/>
              <a:t> operation to a real number. The amortized cost is:</a:t>
            </a:r>
          </a:p>
          <a:p>
            <a:pPr marL="101600" indent="0" algn="just">
              <a:buNone/>
            </a:pPr>
            <a:r>
              <a:rPr lang="en-US" dirty="0"/>
              <a:t>â(</a:t>
            </a:r>
            <a:r>
              <a:rPr lang="en-US" dirty="0" err="1"/>
              <a:t>i</a:t>
            </a:r>
            <a:r>
              <a:rPr lang="en-US" dirty="0"/>
              <a:t>) = c(</a:t>
            </a:r>
            <a:r>
              <a:rPr lang="en-US" dirty="0" err="1"/>
              <a:t>i</a:t>
            </a:r>
            <a:r>
              <a:rPr lang="en-US" dirty="0"/>
              <a:t>) + </a:t>
            </a:r>
            <a:r>
              <a:rPr lang="el-GR" dirty="0"/>
              <a:t>Φ(</a:t>
            </a:r>
            <a:r>
              <a:rPr lang="en-US" dirty="0"/>
              <a:t>Dᵢ) − </a:t>
            </a:r>
            <a:r>
              <a:rPr lang="el-GR" dirty="0"/>
              <a:t>Φ(</a:t>
            </a:r>
            <a:r>
              <a:rPr lang="en-US" dirty="0"/>
              <a:t>Dᵢ₋₁)</a:t>
            </a:r>
          </a:p>
          <a:p>
            <a:pPr marL="101600" indent="0" algn="just">
              <a:buNone/>
            </a:pPr>
            <a:r>
              <a:rPr lang="en-US" b="1" dirty="0"/>
              <a:t>Condition: </a:t>
            </a:r>
            <a:r>
              <a:rPr lang="el-GR" dirty="0"/>
              <a:t>Φ(</a:t>
            </a:r>
            <a:r>
              <a:rPr lang="en-US" dirty="0"/>
              <a:t>D₀) ≤ </a:t>
            </a:r>
            <a:r>
              <a:rPr lang="el-GR" dirty="0"/>
              <a:t>Φ(</a:t>
            </a:r>
            <a:r>
              <a:rPr lang="en-US" dirty="0"/>
              <a:t>Dₙ) for all n, so ∑â(</a:t>
            </a:r>
            <a:r>
              <a:rPr lang="en-US" dirty="0" err="1"/>
              <a:t>i</a:t>
            </a:r>
            <a:r>
              <a:rPr lang="en-US" dirty="0"/>
              <a:t>) ≥ ∑c(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  <a:p>
            <a:pPr marL="101600" indent="0" algn="just">
              <a:buNone/>
            </a:pPr>
            <a:r>
              <a:rPr lang="en-US" dirty="0"/>
              <a:t>Summing: ∑â(</a:t>
            </a:r>
            <a:r>
              <a:rPr lang="en-US" dirty="0" err="1"/>
              <a:t>i</a:t>
            </a:r>
            <a:r>
              <a:rPr lang="en-US" dirty="0"/>
              <a:t>) = ∑c(</a:t>
            </a:r>
            <a:r>
              <a:rPr lang="en-US" dirty="0" err="1"/>
              <a:t>i</a:t>
            </a:r>
            <a:r>
              <a:rPr lang="en-US" dirty="0"/>
              <a:t>) + </a:t>
            </a:r>
            <a:r>
              <a:rPr lang="el-GR" dirty="0"/>
              <a:t>Φ(</a:t>
            </a:r>
            <a:r>
              <a:rPr lang="en-US" dirty="0"/>
              <a:t>Dₙ) − </a:t>
            </a:r>
            <a:r>
              <a:rPr lang="el-GR" dirty="0"/>
              <a:t>Φ(</a:t>
            </a:r>
            <a:r>
              <a:rPr lang="en-US" dirty="0"/>
              <a:t>D₀) ≥ ∑c(</a:t>
            </a:r>
            <a:r>
              <a:rPr lang="en-US" dirty="0" err="1"/>
              <a:t>i</a:t>
            </a:r>
            <a:r>
              <a:rPr lang="en-US" dirty="0"/>
              <a:t>).</a:t>
            </a:r>
          </a:p>
          <a:p>
            <a:pPr marL="101600" indent="0" algn="just">
              <a:buNone/>
            </a:pPr>
            <a:r>
              <a:rPr lang="en-US" dirty="0"/>
              <a:t>The potential </a:t>
            </a:r>
            <a:r>
              <a:rPr lang="el-GR" dirty="0"/>
              <a:t>Φ </a:t>
            </a:r>
            <a:r>
              <a:rPr lang="en-US" dirty="0"/>
              <a:t>represents stored work — high </a:t>
            </a:r>
            <a:r>
              <a:rPr lang="el-GR" dirty="0"/>
              <a:t>Φ </a:t>
            </a:r>
            <a:r>
              <a:rPr lang="en-US" dirty="0"/>
              <a:t>means the structure has accumulated operations that may cause a future expensive step.</a:t>
            </a:r>
          </a:p>
        </p:txBody>
      </p:sp>
    </p:spTree>
    <p:extLst>
      <p:ext uri="{BB962C8B-B14F-4D97-AF65-F5344CB8AC3E}">
        <p14:creationId xmlns:p14="http://schemas.microsoft.com/office/powerpoint/2010/main" val="59354031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4B75-E9F2-EC76-05FF-BD3FA8A1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AC09-B302-2595-B9B8-814C20A6E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Potential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1E30B-3652-2B2D-AD29-5C4F48B976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stack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CB2F1-790F-CCA7-C1F5-62EEB7518E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Let Φ(D) = number of elements in the stack.</a:t>
            </a:r>
          </a:p>
          <a:p>
            <a:pPr marL="673100" indent="-571500" algn="just"/>
            <a:r>
              <a:rPr lang="en-US" b="1" dirty="0"/>
              <a:t>PUSH: </a:t>
            </a:r>
            <a:r>
              <a:rPr lang="en-US" dirty="0"/>
              <a:t>c = 1, ΔΦ = +1 → â = 1 + 1 = 2.</a:t>
            </a:r>
          </a:p>
          <a:p>
            <a:pPr marL="673100" indent="-571500" algn="just"/>
            <a:r>
              <a:rPr lang="en-US" b="1" dirty="0"/>
              <a:t>POP of k elements: </a:t>
            </a:r>
            <a:r>
              <a:rPr lang="en-US" dirty="0"/>
              <a:t>c = k, ΔΦ = −k → â = k − k = 0. </a:t>
            </a:r>
            <a:r>
              <a:rPr lang="en-US" i="1" dirty="0"/>
              <a:t>(Potential absorbs the cost of popping.</a:t>
            </a:r>
            <a:endParaRPr lang="en-US" dirty="0"/>
          </a:p>
          <a:p>
            <a:pPr marL="101600" indent="0" algn="just">
              <a:buNone/>
            </a:pPr>
            <a:r>
              <a:rPr lang="en-US" dirty="0"/>
              <a:t>Total amortized cost per operation = O(1). ✓</a:t>
            </a:r>
          </a:p>
        </p:txBody>
      </p:sp>
    </p:spTree>
    <p:extLst>
      <p:ext uri="{BB962C8B-B14F-4D97-AF65-F5344CB8AC3E}">
        <p14:creationId xmlns:p14="http://schemas.microsoft.com/office/powerpoint/2010/main" val="394587565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6A61-4F57-9C7A-C8CB-5CD23D7B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D5A8-EB6A-4E58-C4AB-F94C0831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Potential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1204F-0A89-19B0-6AC7-CC1DF8AB0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binary counter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25B4E9-A431-CAB5-64BA-12E511E820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Let Φ(D) = number of 1-bits in the counter.</a:t>
            </a:r>
          </a:p>
          <a:p>
            <a:pPr marL="101600" indent="0" algn="just">
              <a:buNone/>
            </a:pPr>
            <a:r>
              <a:rPr lang="en-US" dirty="0"/>
              <a:t>For an INCREMENT that resets t bits from 1 to 0 and sets 1 bit from 0 to 1:</a:t>
            </a:r>
          </a:p>
          <a:p>
            <a:pPr marL="673100" indent="-571500" algn="just"/>
            <a:r>
              <a:rPr lang="en-US" dirty="0"/>
              <a:t>c = t + 1</a:t>
            </a:r>
          </a:p>
          <a:p>
            <a:pPr marL="673100" indent="-571500" algn="just"/>
            <a:r>
              <a:rPr lang="en-US" dirty="0"/>
              <a:t>ΔΦ = 1 − t (one new 1-bit, t bits turned to 0)</a:t>
            </a:r>
          </a:p>
          <a:p>
            <a:pPr marL="673100" indent="-571500" algn="just"/>
            <a:r>
              <a:rPr lang="en-US" dirty="0"/>
              <a:t>â = (t + 1) + (1 − t) = 2 → O(1). ✓</a:t>
            </a:r>
          </a:p>
        </p:txBody>
      </p:sp>
    </p:spTree>
    <p:extLst>
      <p:ext uri="{BB962C8B-B14F-4D97-AF65-F5344CB8AC3E}">
        <p14:creationId xmlns:p14="http://schemas.microsoft.com/office/powerpoint/2010/main" val="401944251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6CCF-E5FA-2229-9959-917CD67F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4F46-BB84-CE95-B027-38D44444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3DF66-1869-8375-0401-259721391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A398B-BB08-C147-12A5-4EE9148A7C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A table (array) has a fixed capacity. When it fills up, we need to double the table and copy all elements. How much does a sequence of n INSERT operations cost?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1822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4A019-0D98-F0B3-1E22-0500DFA7F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6028-7EA8-AA7A-A199-D517B84C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3E9B0-594C-5678-FE35-7BDA041A3F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Aggregate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CD112-DDE9-C7D6-93F6-47C80458ED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If the table doubles at sizes 1, 2, 4, 8, …, 2^k:</a:t>
            </a:r>
          </a:p>
          <a:p>
            <a:pPr marL="101600" indent="0" algn="just">
              <a:buNone/>
            </a:pPr>
            <a:r>
              <a:rPr lang="en-US" dirty="0"/>
              <a:t>Total copy cost = 1 + 2 + 4 + … + 2^k ≤ 2n (geometric series sum). Plus n insertions of cost 1 each. Total T(n) ≤ 3n = O(n) → amortized cost per INSERT = O(1).</a:t>
            </a:r>
          </a:p>
          <a:p>
            <a:pPr marL="10160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17793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F298A-B83B-4DB4-01E2-8F62B7260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18D8-0D6A-1197-42A7-17C1C44F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E294F-59DC-2C98-9DAE-C0D2D2CEF7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Potential Method Proof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50A59-2854-7A11-CC06-82A657D768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 fontScale="92500" lnSpcReduction="20000"/>
          </a:bodyPr>
          <a:lstStyle/>
          <a:p>
            <a:pPr marL="101600" indent="0" algn="just">
              <a:buNone/>
            </a:pPr>
            <a:r>
              <a:rPr lang="en-US" dirty="0"/>
              <a:t>Let </a:t>
            </a:r>
            <a:r>
              <a:rPr lang="el-GR" dirty="0"/>
              <a:t>Φ(</a:t>
            </a:r>
            <a:r>
              <a:rPr lang="en-US" dirty="0"/>
              <a:t>T) = 2·(num elements) − (capacity of table).</a:t>
            </a:r>
          </a:p>
          <a:p>
            <a:pPr marL="673100" indent="-571500" algn="just"/>
            <a:r>
              <a:rPr lang="en-US" dirty="0"/>
              <a:t>Initially </a:t>
            </a:r>
            <a:r>
              <a:rPr lang="el-GR" dirty="0"/>
              <a:t>Φ = 0 (</a:t>
            </a:r>
            <a:r>
              <a:rPr lang="en-US" dirty="0"/>
              <a:t>empty table).</a:t>
            </a:r>
          </a:p>
          <a:p>
            <a:pPr marL="673100" indent="-571500" algn="just"/>
            <a:r>
              <a:rPr lang="en-US" dirty="0"/>
              <a:t>Just before expansion: </a:t>
            </a:r>
            <a:r>
              <a:rPr lang="el-GR" dirty="0"/>
              <a:t>Φ = 2</a:t>
            </a:r>
            <a:r>
              <a:rPr lang="en-US" dirty="0"/>
              <a:t>n − n = n (table full).</a:t>
            </a:r>
          </a:p>
          <a:p>
            <a:pPr marL="673100" indent="-571500" algn="just"/>
            <a:r>
              <a:rPr lang="en-US" dirty="0"/>
              <a:t>Just after expansion to capacity 2n: </a:t>
            </a:r>
            <a:r>
              <a:rPr lang="el-GR" dirty="0"/>
              <a:t>Φ = 2</a:t>
            </a:r>
            <a:r>
              <a:rPr lang="en-US" dirty="0"/>
              <a:t>n − 2n = 0.</a:t>
            </a:r>
          </a:p>
          <a:p>
            <a:pPr marL="101600" indent="0" algn="just">
              <a:buNone/>
            </a:pPr>
            <a:r>
              <a:rPr lang="en-US" dirty="0"/>
              <a:t>For a regular INSERT (no expansion): c = 1, </a:t>
            </a:r>
            <a:r>
              <a:rPr lang="el-GR" dirty="0"/>
              <a:t>ΔΦ = 2 → </a:t>
            </a:r>
            <a:r>
              <a:rPr lang="en-US" dirty="0"/>
              <a:t>â = 3. For an INSERT with expansion (table had m = capacity elements):</a:t>
            </a:r>
          </a:p>
          <a:p>
            <a:pPr marL="673100" indent="-571500" algn="just"/>
            <a:r>
              <a:rPr lang="en-US" dirty="0"/>
              <a:t>c = m + 1 (copy m + insert 1)</a:t>
            </a:r>
          </a:p>
          <a:p>
            <a:pPr marL="673100" indent="-571500" algn="just"/>
            <a:r>
              <a:rPr lang="el-GR" dirty="0"/>
              <a:t>ΔΦ = (2(</a:t>
            </a:r>
            <a:r>
              <a:rPr lang="en-US" dirty="0"/>
              <a:t>m+1) − 2m) − (2m − m) = 2 − m</a:t>
            </a:r>
          </a:p>
          <a:p>
            <a:pPr marL="673100" indent="-571500" algn="just"/>
            <a:r>
              <a:rPr lang="en-US" dirty="0"/>
              <a:t>â = (m + 1) + (2 − m) = 3.</a:t>
            </a:r>
          </a:p>
          <a:p>
            <a:pPr marL="101600" indent="0" algn="just">
              <a:buNone/>
            </a:pPr>
            <a:r>
              <a:rPr lang="en-US" dirty="0"/>
              <a:t>Amortized cost per INSERT = 3 = O(1). ✓</a:t>
            </a:r>
          </a:p>
        </p:txBody>
      </p:sp>
    </p:spTree>
    <p:extLst>
      <p:ext uri="{BB962C8B-B14F-4D97-AF65-F5344CB8AC3E}">
        <p14:creationId xmlns:p14="http://schemas.microsoft.com/office/powerpoint/2010/main" val="14191353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AE69-F110-25D1-B5E2-0FD1B9712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313ED-E116-0F8D-C4E5-BF3BAAA3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BC5C8-421F-8CE0-2B2A-F69DA09C7C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4 Why Not Increment by 1?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FC734-F674-F451-8A00-569E6399DA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/>
              <a:t>If we grow the table by 1 each time: Total copy cost = 0 + 1 + 2 + … + (n−1) = n(n−1)/2 = Θ(n²). Amortized cost per INSERT = Θ(n) — much worse.</a:t>
            </a:r>
          </a:p>
          <a:p>
            <a:pPr marL="101600" indent="0" algn="just">
              <a:buNone/>
            </a:pPr>
            <a:r>
              <a:rPr lang="en-US" b="1" dirty="0"/>
              <a:t>Doubling strategy </a:t>
            </a:r>
            <a:r>
              <a:rPr lang="en-US" dirty="0"/>
              <a:t>gives O(1) amortized; this is why all modern dynamic arrays (Python list, Java </a:t>
            </a:r>
            <a:r>
              <a:rPr lang="en-US" dirty="0" err="1"/>
              <a:t>ArrayList</a:t>
            </a:r>
            <a:r>
              <a:rPr lang="en-US" dirty="0"/>
              <a:t>, C++ vector) use doubling.</a:t>
            </a:r>
          </a:p>
        </p:txBody>
      </p:sp>
    </p:spTree>
    <p:extLst>
      <p:ext uri="{BB962C8B-B14F-4D97-AF65-F5344CB8AC3E}">
        <p14:creationId xmlns:p14="http://schemas.microsoft.com/office/powerpoint/2010/main" val="78121743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4745-38F4-6B70-C5E6-490DEC1C3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FB6-5216-72D8-C2D6-855C73FF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90BD9-2B4B-AAF0-7C79-E2CD378F4B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C2CE5-A3E8-9383-F708-28F2C13D0D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Amortized analysis </a:t>
            </a:r>
            <a:r>
              <a:rPr lang="en-US" dirty="0"/>
              <a:t>gives the average cost per operation over a worst-case sequence.</a:t>
            </a:r>
          </a:p>
          <a:p>
            <a:pPr algn="just"/>
            <a:r>
              <a:rPr lang="en-US" b="1" dirty="0"/>
              <a:t>Aggregate method: </a:t>
            </a:r>
            <a:r>
              <a:rPr lang="en-US" dirty="0"/>
              <a:t>compute total cost T(n), divide by n.</a:t>
            </a:r>
          </a:p>
          <a:p>
            <a:pPr algn="just"/>
            <a:r>
              <a:rPr lang="en-US" b="1" dirty="0"/>
              <a:t>Accounting method: </a:t>
            </a:r>
            <a:r>
              <a:rPr lang="en-US" dirty="0"/>
              <a:t>assign amortized costs; store excess as credit on objects; credit must never go negative.</a:t>
            </a:r>
          </a:p>
          <a:p>
            <a:pPr algn="just"/>
            <a:r>
              <a:rPr lang="en-US" b="1" dirty="0"/>
              <a:t>Potential method: </a:t>
            </a:r>
            <a:r>
              <a:rPr lang="en-US" dirty="0"/>
              <a:t>define Φ(D); amortized cost = actual cost + ΔΦ; guarantees ∑â ≥ ∑c.</a:t>
            </a:r>
          </a:p>
          <a:p>
            <a:pPr algn="just"/>
            <a:r>
              <a:rPr lang="en-US" dirty="0"/>
              <a:t>All three methods yield the same result for any given sequence.</a:t>
            </a:r>
          </a:p>
          <a:p>
            <a:pPr algn="just"/>
            <a:r>
              <a:rPr lang="en-US" b="1" dirty="0"/>
              <a:t>Dynamic table with doubling: </a:t>
            </a:r>
            <a:r>
              <a:rPr lang="en-US" dirty="0"/>
              <a:t>O(1) amortized INSERT; this is why dynamic arrays are efficient.</a:t>
            </a:r>
          </a:p>
        </p:txBody>
      </p:sp>
    </p:spTree>
    <p:extLst>
      <p:ext uri="{BB962C8B-B14F-4D97-AF65-F5344CB8AC3E}">
        <p14:creationId xmlns:p14="http://schemas.microsoft.com/office/powerpoint/2010/main" val="188285252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7B5EF-EDE6-A5C1-32F8-99BB8919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09DF9-DA86-1C2B-B43B-04A7374DD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DDA6-47F0-D21A-1287-73DE12AE70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2799908" cy="803546"/>
          </a:xfrm>
        </p:spPr>
        <p:txBody>
          <a:bodyPr>
            <a:noAutofit/>
          </a:bodyPr>
          <a:lstStyle/>
          <a:p>
            <a:r>
              <a:rPr lang="en-ID" dirty="0"/>
              <a:t>Session 7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B44C8-A6ED-A683-33EE-A99E42E2D6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049246" cy="9138176"/>
          </a:xfrm>
        </p:spPr>
        <p:txBody>
          <a:bodyPr>
            <a:normAutofit lnSpcReduction="10000"/>
          </a:bodyPr>
          <a:lstStyle/>
          <a:p>
            <a:pPr algn="just">
              <a:buFont typeface="+mj-lt"/>
              <a:buAutoNum type="arabicPeriod"/>
            </a:pPr>
            <a:r>
              <a:rPr lang="en-US" dirty="0"/>
              <a:t>Use aggregate analysis to find the amortized cost per operation for a stack that supports PUSH, POP, and MULTIPOP(k).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Use the accounting method for the binary counter. Assign amortized costs and verify the credit invariant.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Use the potential method to analyze a stack where Φ = (number of elements). Compute the amortized cost for PUSH and for MULTIPOP(k).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A dynamic table shrinks by half when it falls to ¼ of capacity. Show that the amortized cost of DELETE is still O(1).</a:t>
            </a:r>
          </a:p>
          <a:p>
            <a:pPr algn="just">
              <a:buFont typeface="+mj-lt"/>
              <a:buAutoNum type="arabicPeriod"/>
            </a:pPr>
            <a:r>
              <a:rPr lang="en-US" dirty="0"/>
              <a:t>(CLRS 16.3-2) A dynamic table doubles when full and halves when ¼ full. Define a potential function and show that INSERT and DELETE each have O(1) amortized cost.</a:t>
            </a:r>
          </a:p>
        </p:txBody>
      </p:sp>
    </p:spTree>
    <p:extLst>
      <p:ext uri="{BB962C8B-B14F-4D97-AF65-F5344CB8AC3E}">
        <p14:creationId xmlns:p14="http://schemas.microsoft.com/office/powerpoint/2010/main" val="153871225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7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3"/>
            <a:ext cx="19309300" cy="868097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b="1" dirty="0"/>
              <a:t>Primary (Required): </a:t>
            </a:r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 </a:t>
            </a:r>
            <a:r>
              <a:rPr lang="en-ID" i="1" dirty="0"/>
              <a:t>Introduction to Algorithms, 4th Edition. </a:t>
            </a:r>
            <a:r>
              <a:rPr lang="en-ID" dirty="0"/>
              <a:t>MIT Press.</a:t>
            </a:r>
          </a:p>
          <a:p>
            <a:r>
              <a:rPr lang="en-ID" dirty="0"/>
              <a:t>Ch. 16.1 — Aggregate Analysis (p. 449)</a:t>
            </a:r>
          </a:p>
          <a:p>
            <a:r>
              <a:rPr lang="en-ID" dirty="0"/>
              <a:t>Ch. 16.2 — The Accounting Method (p. 453)</a:t>
            </a:r>
          </a:p>
          <a:p>
            <a:r>
              <a:rPr lang="en-ID" dirty="0"/>
              <a:t>Ch. 16.3 — The Potential Method (p. 456)</a:t>
            </a:r>
          </a:p>
          <a:p>
            <a:r>
              <a:rPr lang="en-ID" dirty="0"/>
              <a:t>Ch. 16.4 — Dynamic Tables (p. 460)</a:t>
            </a:r>
          </a:p>
          <a:p>
            <a:pPr marL="0" indent="0">
              <a:buNone/>
            </a:pPr>
            <a:r>
              <a:rPr lang="en-ID" b="1" dirty="0"/>
              <a:t>Secondary (Supplementary): </a:t>
            </a:r>
            <a:r>
              <a:rPr lang="en-ID" dirty="0" err="1"/>
              <a:t>Skiena</a:t>
            </a:r>
            <a:r>
              <a:rPr lang="en-ID" dirty="0"/>
              <a:t>, S.S. (2020). </a:t>
            </a:r>
            <a:r>
              <a:rPr lang="en-ID" i="1" dirty="0"/>
              <a:t>The Algorithm Design Manual, 3rd Edition. </a:t>
            </a:r>
            <a:r>
              <a:rPr lang="en-ID" dirty="0"/>
              <a:t>Springer.</a:t>
            </a:r>
          </a:p>
          <a:p>
            <a:r>
              <a:rPr lang="en-ID" dirty="0"/>
              <a:t>Ch. 3.1.3 — Comparison (p. 74) — amortized cost of dynamic arrays </a:t>
            </a:r>
            <a:r>
              <a:rPr lang="en-ID" i="1" dirty="0"/>
              <a:t>(No dedicated amortized analysis chapter in </a:t>
            </a:r>
            <a:r>
              <a:rPr lang="en-ID" i="1" dirty="0" err="1"/>
              <a:t>Skiena</a:t>
            </a:r>
            <a:r>
              <a:rPr lang="en-ID" i="1" dirty="0"/>
              <a:t>; CLRS Ch. 16 is the primary reference.)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5098</TotalTime>
  <Words>1906</Words>
  <Application>Microsoft Office PowerPoint</Application>
  <PresentationFormat>Custom</PresentationFormat>
  <Paragraphs>126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Open Sans</vt:lpstr>
      <vt:lpstr>Open Sans Light</vt:lpstr>
      <vt:lpstr>Arial</vt:lpstr>
      <vt:lpstr>Open Sans ExtraBold</vt:lpstr>
      <vt:lpstr>Open Sans Semibold</vt:lpstr>
      <vt:lpstr>OCRB</vt:lpstr>
      <vt:lpstr>21_BasicWhite</vt:lpstr>
      <vt:lpstr>Amortized Analysis</vt:lpstr>
      <vt:lpstr>Learning Outcomes</vt:lpstr>
      <vt:lpstr>Learning Outcomes</vt:lpstr>
      <vt:lpstr>outline</vt:lpstr>
      <vt:lpstr>introduction</vt:lpstr>
      <vt:lpstr>Aggregate analysis</vt:lpstr>
      <vt:lpstr>Aggregate analysis</vt:lpstr>
      <vt:lpstr>Aggregate analysis</vt:lpstr>
      <vt:lpstr>Accounting method</vt:lpstr>
      <vt:lpstr>Accounting method</vt:lpstr>
      <vt:lpstr>Accounting method</vt:lpstr>
      <vt:lpstr>Potential method</vt:lpstr>
      <vt:lpstr>Potential method</vt:lpstr>
      <vt:lpstr>Potential method</vt:lpstr>
      <vt:lpstr>Dynamic table</vt:lpstr>
      <vt:lpstr>Dynamic table</vt:lpstr>
      <vt:lpstr>Dynamic table</vt:lpstr>
      <vt:lpstr>Dynamic table</vt:lpstr>
      <vt:lpstr>Summary</vt:lpstr>
      <vt:lpstr>Exercises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Asus -</cp:lastModifiedBy>
  <cp:revision>82</cp:revision>
  <dcterms:created xsi:type="dcterms:W3CDTF">2023-11-17T02:51:40Z</dcterms:created>
  <dcterms:modified xsi:type="dcterms:W3CDTF">2026-06-28T12:29:33Z</dcterms:modified>
</cp:coreProperties>
</file>