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08" r:id="rId4"/>
    <p:sldId id="258" r:id="rId5"/>
    <p:sldId id="259" r:id="rId6"/>
    <p:sldId id="336" r:id="rId7"/>
    <p:sldId id="309" r:id="rId8"/>
    <p:sldId id="310" r:id="rId9"/>
    <p:sldId id="337" r:id="rId10"/>
    <p:sldId id="338" r:id="rId11"/>
    <p:sldId id="311" r:id="rId12"/>
    <p:sldId id="316" r:id="rId13"/>
    <p:sldId id="339" r:id="rId14"/>
    <p:sldId id="340" r:id="rId15"/>
    <p:sldId id="341" r:id="rId16"/>
    <p:sldId id="342" r:id="rId17"/>
    <p:sldId id="343" r:id="rId18"/>
    <p:sldId id="344" r:id="rId19"/>
    <p:sldId id="334" r:id="rId20"/>
    <p:sldId id="335" r:id="rId21"/>
    <p:sldId id="278" r:id="rId22"/>
  </p:sldIdLst>
  <p:sldSz cx="24384000" cy="13716000"/>
  <p:notesSz cx="6858000" cy="9144000"/>
  <p:embeddedFontLst>
    <p:embeddedFont>
      <p:font typeface="OCRB" panose="020B0609020202020204" pitchFamily="49" charset="0"/>
      <p:regular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ExtraBold" panose="020B0906030804020204" pitchFamily="34" charset="0"/>
      <p:bold r:id="rId29"/>
      <p:italic r:id="rId30"/>
      <p:boldItalic r:id="rId31"/>
    </p:embeddedFont>
    <p:embeddedFont>
      <p:font typeface="Open Sans Light" panose="020B0306030504020204" pitchFamily="34" charset="0"/>
      <p:regular r:id="rId32"/>
      <p:italic r:id="rId33"/>
    </p:embeddedFont>
    <p:embeddedFont>
      <p:font typeface="Open Sans Semibold" panose="020B0706030804020204" pitchFamily="34" charset="0"/>
      <p:bold r:id="rId34"/>
      <p:boldItalic r:id="rId3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5584"/>
  </p:normalViewPr>
  <p:slideViewPr>
    <p:cSldViewPr snapToGrid="0" snapToObjects="1">
      <p:cViewPr varScale="1">
        <p:scale>
          <a:sx n="32" d="100"/>
          <a:sy n="32" d="100"/>
        </p:scale>
        <p:origin x="688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A3DE2-91C4-573B-171B-67DE6D92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B3F6A-7D7F-6B19-57B3-901620122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51E4E-7EF5-A185-F5AD-B2E01AD63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11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6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CA02-E780-F63E-2657-F5382A18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8925E-8DC9-3300-85FD-C035BD57F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26FAE-2E68-9FEF-8546-23630CECE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650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A1C4-2FBA-B43E-EBA8-454289A1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17D26-0E0A-C48F-9037-1E23ED276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EE71A-D9C1-0D67-7BE7-505F3E1BE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59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1AF6-8389-DB31-21BD-FA67B1E9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BF085-3769-1F18-5721-01BCAC106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C4659-E0AE-6C7B-E5E0-417AE310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3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7B9F-7265-9BA7-7917-BEF3FBDB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8C02C-4B7A-C43F-CD3F-CA85DDBFC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EE7D-CE7F-5E3A-6582-C419E271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29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3809-281F-FBA9-6F4F-661474A4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A3131-5C21-B8C0-B869-17879EF69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FBC6-E0F4-B114-628F-FEE607C79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33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ED11-AE65-A90F-2BB9-8211DE07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F6A2A-25F2-2483-F10E-5E6FDE386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116E7-3852-A5AE-D09F-63B4AD6FD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7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93A1-59B4-FA73-8985-E35B1B15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35C1-2C7B-5B95-1C51-0BC431FAD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E07A-1303-8EB9-BF58-EB537A1B8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12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4AE46-1BE0-129E-39D3-7CB0C8EC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2F065-39A6-9BCF-38F2-A5A78866D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E8369-CA15-B036-42D7-B37CACDDE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8C28-1D0C-2533-BE22-95ECF627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BAFCE-A4F5-731E-2DB9-5B7645E0F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639C2-836E-9ED3-CD8E-EC6F924E0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79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BBEF-FABB-CDE8-2D52-B9F8ED7B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1AF77-1031-D35F-8ABE-7A98E8674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F6CB5-BF27-3922-87C9-2FA638BD4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771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Divide and Conquer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dirty="0"/>
              <a:t>LO 2: Analyze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pPr algn="just"/>
            <a:r>
              <a:rPr lang="en-US" dirty="0"/>
              <a:t>LO 3: Design solutions to unfamiliar computational problems by selecting and applying appropriate strategies including Divide and Conquer, Greedy, Dynamic Programming, and Backtracking.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/>
              <a:t>Identify divide-and-conquer as the appropriate paradigm for sorting, searching, and closest-pair problems; classify Merge Sort, Binary Search, and Closest Pair by their divide-conquer-combine structure; recommend D&amp;C when the combine step is cheaper than solving the problem directly.</a:t>
            </a:r>
          </a:p>
          <a:p>
            <a:pPr algn="just"/>
            <a:r>
              <a:rPr lang="en-US" dirty="0"/>
              <a:t>Design and trace Merge Sort (T(n) = 2T(n/2) + Θ(n) → Θ(n log n)), Binary Search (Θ(log n)), and Closest Pair of Points (O(n log n)); prove MERGE correctness using the loop invariant; justify the 7-point strip bound using the pigeonhole argument.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and Conquer Paradigm</a:t>
            </a:r>
          </a:p>
          <a:p>
            <a:r>
              <a:rPr lang="en-US" dirty="0"/>
              <a:t>Merge Sort — Full Walkthrough</a:t>
            </a:r>
          </a:p>
          <a:p>
            <a:r>
              <a:rPr lang="en-US" dirty="0"/>
              <a:t>Binary Search as D&amp;C</a:t>
            </a:r>
          </a:p>
          <a:p>
            <a:r>
              <a:rPr lang="en-US" dirty="0"/>
              <a:t>Closest Pair of Points — Geometric D&amp;C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Divide and Conquer Paradigm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A divide-and-conquer </a:t>
            </a:r>
            <a:r>
              <a:rPr lang="en-US" dirty="0"/>
              <a:t>algorithm solves a problem by: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Divide: </a:t>
            </a:r>
            <a:r>
              <a:rPr lang="en-US" dirty="0"/>
              <a:t>Split the problem into subproblems that are smaller instances of the same problem.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Conquer: </a:t>
            </a:r>
            <a:r>
              <a:rPr lang="en-US" dirty="0"/>
              <a:t>Solve the subproblems recursively. If the subproblems are small enough, solve them directly (base case).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Combine: </a:t>
            </a:r>
            <a:r>
              <a:rPr lang="en-US" dirty="0"/>
              <a:t>Merge the subproblem solutions into the solution for the original problem.</a:t>
            </a:r>
          </a:p>
          <a:p>
            <a:pPr marL="101600" indent="0" algn="just">
              <a:buNone/>
            </a:pPr>
            <a:r>
              <a:rPr lang="en-US" dirty="0"/>
              <a:t>The recurrence is typically: T(n) = </a:t>
            </a:r>
            <a:r>
              <a:rPr lang="en-US" dirty="0" err="1"/>
              <a:t>aT</a:t>
            </a:r>
            <a:r>
              <a:rPr lang="en-US" dirty="0"/>
              <a:t>(n/b) + f(n), where a = number of subproblems, b = size ratio, f(n) = cost of divide + combine.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BF84-1CB1-FDF6-09E9-86CFDA1B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BE30-1BFC-34BE-9F6C-D932045D8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Divide and Conquer Paradigm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A66F6-D290-5A78-EE85-75100D13D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to Apply D&amp;C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E6D14-1103-7EBE-794B-959860E4B4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D&amp;C is effective when: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The problem can be split into independent (or nearly independent) subproblems.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The combine step is cheaper than solving the problem directly.</a:t>
            </a:r>
          </a:p>
          <a:p>
            <a:pPr marL="844550" algn="just">
              <a:buFont typeface="+mj-lt"/>
              <a:buAutoNum type="arabicPeriod"/>
            </a:pPr>
            <a:r>
              <a:rPr lang="en-US" dirty="0"/>
              <a:t>Subproblems are of equal (or bounded) size.</a:t>
            </a:r>
          </a:p>
          <a:p>
            <a:pPr marL="10160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513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Merge sort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3CF15-E8C1-D45A-A804-DCC98BBA1BD1}"/>
              </a:ext>
            </a:extLst>
          </p:cNvPr>
          <p:cNvSpPr/>
          <p:nvPr/>
        </p:nvSpPr>
        <p:spPr>
          <a:xfrm>
            <a:off x="2306525" y="4036715"/>
            <a:ext cx="10837334" cy="5642570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MERGE-SORT(A, p, r)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p &gt;= r: return          // base case: 0 or 1 element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q = ⌊(p + r) / 2⌋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MERGE-SORT(A, p, q)        // conquer left half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MERGE-SORT(A, q+1, r)      // conquer right half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MERGE(A, p, q, r)          // combine</a:t>
            </a:r>
          </a:p>
          <a:p>
            <a:pPr algn="l">
              <a:buNone/>
            </a:pP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MERGE(A, p, q, r)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Create arrays L = A[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p..q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and R = A[q+1..r]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1, j = 1, k = p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while 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≤ |L| and j ≤ |R|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if L[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≤ R[j]: A[k] = L[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]; 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++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    else: A[k] = R[j]; </a:t>
            </a:r>
            <a:r>
              <a:rPr lang="en-ID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j++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6      k++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7  Copy remaining elements of L (or R) into A</a:t>
            </a:r>
          </a:p>
        </p:txBody>
      </p:sp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Merge sort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2B02-806B-2F5C-F7B8-6C3FC90FA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correctness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Loop invariant for MERGE: </a:t>
            </a:r>
            <a:r>
              <a:rPr lang="en-US" dirty="0"/>
              <a:t>At the start of each iteration, `A[p..k-1]` contains the k-p smallest elements of L∪R in sorted order, and L[</a:t>
            </a:r>
            <a:r>
              <a:rPr lang="en-US" dirty="0" err="1"/>
              <a:t>i</a:t>
            </a:r>
            <a:r>
              <a:rPr lang="en-US" dirty="0"/>
              <a:t>] and R[j] are the smallest elements of L and R not yet copied.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5403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2854-222F-7F03-095B-F23EF682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1CCD-0288-04BD-4B2C-90F63728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Merge sort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76EF2-42AA-3888-9991-B6DE992B6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Recurrence and Analysis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A310C-C4E9-8CAB-E337-3769742F66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Recurrence:</a:t>
            </a:r>
          </a:p>
          <a:p>
            <a:pPr marL="673100" indent="-571500" algn="just"/>
            <a:r>
              <a:rPr lang="en-US" dirty="0"/>
              <a:t>T(1) = </a:t>
            </a:r>
            <a:r>
              <a:rPr lang="el-GR" dirty="0"/>
              <a:t>Θ(1)</a:t>
            </a:r>
          </a:p>
          <a:p>
            <a:pPr marL="673100" indent="-571500" algn="just"/>
            <a:r>
              <a:rPr lang="en-US" dirty="0"/>
              <a:t>T(n) = 2T(n/2) + </a:t>
            </a:r>
            <a:r>
              <a:rPr lang="el-GR" dirty="0"/>
              <a:t>Θ(</a:t>
            </a:r>
            <a:r>
              <a:rPr lang="en-US" dirty="0"/>
              <a:t>n)</a:t>
            </a:r>
          </a:p>
          <a:p>
            <a:pPr marL="101600" indent="0" algn="just">
              <a:buNone/>
            </a:pPr>
            <a:r>
              <a:rPr lang="en-US" dirty="0"/>
              <a:t>The </a:t>
            </a:r>
            <a:r>
              <a:rPr lang="el-GR" dirty="0"/>
              <a:t>Θ(</a:t>
            </a:r>
            <a:r>
              <a:rPr lang="en-US" dirty="0"/>
              <a:t>n) term comes from the MERGE step (linear scan of both halves).</a:t>
            </a:r>
          </a:p>
          <a:p>
            <a:pPr marL="101600" indent="0" algn="just">
              <a:buNone/>
            </a:pPr>
            <a:r>
              <a:rPr lang="en-US" b="1" dirty="0"/>
              <a:t>Solution: </a:t>
            </a:r>
            <a:r>
              <a:rPr lang="en-US" dirty="0"/>
              <a:t>T(n) = </a:t>
            </a:r>
            <a:r>
              <a:rPr lang="el-GR" dirty="0"/>
              <a:t>Θ(</a:t>
            </a:r>
            <a:r>
              <a:rPr lang="en-US" dirty="0"/>
              <a:t>n log n). (Proof via Master Theorem, Case 2: f(n) = n = </a:t>
            </a:r>
            <a:r>
              <a:rPr lang="el-GR" dirty="0"/>
              <a:t>Θ(</a:t>
            </a:r>
            <a:r>
              <a:rPr lang="en-US" dirty="0"/>
              <a:t>n^{log₂2}) = </a:t>
            </a:r>
            <a:r>
              <a:rPr lang="el-GR" dirty="0"/>
              <a:t>Θ(</a:t>
            </a:r>
            <a:r>
              <a:rPr lang="en-US" dirty="0"/>
              <a:t>n).)</a:t>
            </a:r>
          </a:p>
        </p:txBody>
      </p:sp>
    </p:spTree>
    <p:extLst>
      <p:ext uri="{BB962C8B-B14F-4D97-AF65-F5344CB8AC3E}">
        <p14:creationId xmlns:p14="http://schemas.microsoft.com/office/powerpoint/2010/main" val="19733284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423A-8C44-1E3F-0FC5-B8CCC176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044E-984B-FC65-86FE-D4300C78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Merge sort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71EE-0356-6068-C64B-2E17B95AD5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Merge Sort vs. Insertion Sort</a:t>
            </a:r>
            <a:endParaRPr lang="en-ID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3A6CEA-E427-778E-2F9C-2BD37904EA6A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419855057"/>
              </p:ext>
            </p:extLst>
          </p:nvPr>
        </p:nvGraphicFramePr>
        <p:xfrm>
          <a:off x="2166938" y="3714750"/>
          <a:ext cx="19310349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6783">
                  <a:extLst>
                    <a:ext uri="{9D8B030D-6E8A-4147-A177-3AD203B41FA5}">
                      <a16:colId xmlns:a16="http://schemas.microsoft.com/office/drawing/2014/main" val="4222882492"/>
                    </a:ext>
                  </a:extLst>
                </a:gridCol>
                <a:gridCol w="6436783">
                  <a:extLst>
                    <a:ext uri="{9D8B030D-6E8A-4147-A177-3AD203B41FA5}">
                      <a16:colId xmlns:a16="http://schemas.microsoft.com/office/drawing/2014/main" val="106311957"/>
                    </a:ext>
                  </a:extLst>
                </a:gridCol>
                <a:gridCol w="6436783">
                  <a:extLst>
                    <a:ext uri="{9D8B030D-6E8A-4147-A177-3AD203B41FA5}">
                      <a16:colId xmlns:a16="http://schemas.microsoft.com/office/drawing/2014/main" val="332076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Merge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Insertion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5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Time (worst)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n²)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2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Time (best)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8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Auxiliary 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Θ(1)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5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Stable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1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In-place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73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4890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6CCF-E5FA-2229-9959-917CD67F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4F46-BB84-CE95-B027-38D44444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Binary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3DF66-1869-8375-0401-259721391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79052-4B52-1C87-97EE-40E3D9B6B81E}"/>
              </a:ext>
            </a:extLst>
          </p:cNvPr>
          <p:cNvSpPr/>
          <p:nvPr/>
        </p:nvSpPr>
        <p:spPr>
          <a:xfrm>
            <a:off x="2306525" y="4068690"/>
            <a:ext cx="10837334" cy="231858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BINARY-SEARCH(A, p, r, v)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p &gt; r: return NIL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q = ⌊(p + r) / 2⌋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if A[q] == v: return q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if v &lt; A[q]: return BINARY-SEARCH(A, p, q-1, v)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else: return BINARY-SEARCH(A, q+1, r, v)</a:t>
            </a:r>
          </a:p>
        </p:txBody>
      </p:sp>
    </p:spTree>
    <p:extLst>
      <p:ext uri="{BB962C8B-B14F-4D97-AF65-F5344CB8AC3E}">
        <p14:creationId xmlns:p14="http://schemas.microsoft.com/office/powerpoint/2010/main" val="30591822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B9BE-3505-CFBE-F09A-D7F09304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275F-701D-CD05-7C3A-134A11EB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Binary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60DB-D1F3-C48F-6FAA-8A2FA6530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d&amp;c</a:t>
            </a:r>
            <a:r>
              <a:rPr lang="en-ID" dirty="0"/>
              <a:t>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5A1DA-64ED-0B4C-73B5-EE32F32717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b="1" dirty="0"/>
              <a:t>Divide: </a:t>
            </a:r>
            <a:r>
              <a:rPr lang="en-US" dirty="0"/>
              <a:t>compare v with A[mid]; split into left or right half.</a:t>
            </a:r>
          </a:p>
          <a:p>
            <a:pPr marL="673100" indent="-571500" algn="just"/>
            <a:r>
              <a:rPr lang="en-US" b="1" dirty="0"/>
              <a:t>Conquer: </a:t>
            </a:r>
            <a:r>
              <a:rPr lang="en-US" dirty="0"/>
              <a:t>recurse on one half only (size n/2).</a:t>
            </a:r>
          </a:p>
          <a:p>
            <a:pPr marL="673100" indent="-571500" algn="just"/>
            <a:r>
              <a:rPr lang="en-US" b="1" dirty="0"/>
              <a:t>Combine: </a:t>
            </a:r>
            <a:r>
              <a:rPr lang="en-US" dirty="0"/>
              <a:t>trivial (just return the result).</a:t>
            </a:r>
          </a:p>
          <a:p>
            <a:pPr marL="101600" indent="0" algn="just">
              <a:buNone/>
            </a:pPr>
            <a:r>
              <a:rPr lang="en-US" dirty="0"/>
              <a:t>Recurrence: T(n) = T(n/2) + Θ(1) → T(n) = Θ(log n).</a:t>
            </a:r>
          </a:p>
          <a:p>
            <a:pPr marL="101600" indent="0" algn="just">
              <a:buNone/>
            </a:pPr>
            <a:endParaRPr lang="en-ID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7590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4E24-08BB-930E-BF78-98898073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C63C-E5FF-554B-28F6-FF7547B1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Binary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1BD7-622B-7154-EF3A-E5C7BE99F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Iterative 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D6414-409F-FFC9-9D0E-4D530483DA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/>
              <a:t>Time: O(log n); Space: O(1) — preferred in practice.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CA243-CD97-4E8B-FCC9-8659B277EB83}"/>
              </a:ext>
            </a:extLst>
          </p:cNvPr>
          <p:cNvSpPr/>
          <p:nvPr/>
        </p:nvSpPr>
        <p:spPr>
          <a:xfrm>
            <a:off x="2306525" y="3699358"/>
            <a:ext cx="10837334" cy="3057247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BINARY-SEARCH-ITER(A, n, v)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p = 1, r = n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while p ≤ r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    q = ⌊(p + r) / 2⌋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if A[q] == v: return q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    if v &lt; A[q]: r = q - 1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6      else: p = q + 1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7  return NIL</a:t>
            </a:r>
          </a:p>
        </p:txBody>
      </p:sp>
    </p:spTree>
    <p:extLst>
      <p:ext uri="{BB962C8B-B14F-4D97-AF65-F5344CB8AC3E}">
        <p14:creationId xmlns:p14="http://schemas.microsoft.com/office/powerpoint/2010/main" val="4035151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75A98-EF38-D9C5-FA52-12D45DAC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B56-1944-1CC5-9F64-AA444472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Closest pair of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25A83-0875-95C2-A282-A00D5977F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2F62D-693B-690B-1714-33187361DC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Given n points in the plane, find the pair with minimum Euclidean distance.</a:t>
            </a:r>
          </a:p>
          <a:p>
            <a:pPr marL="101600" indent="0" algn="just">
              <a:buNone/>
            </a:pPr>
            <a:r>
              <a:rPr lang="en-US" b="1" dirty="0"/>
              <a:t>Naïve: </a:t>
            </a:r>
            <a:r>
              <a:rPr lang="en-US" dirty="0"/>
              <a:t>check all pairs — O(n²).</a:t>
            </a:r>
          </a:p>
          <a:p>
            <a:pPr marL="101600" indent="0" algn="just">
              <a:buNone/>
            </a:pPr>
            <a:r>
              <a:rPr lang="en-US" b="1" dirty="0"/>
              <a:t>D&amp;C solution: </a:t>
            </a:r>
            <a:r>
              <a:rPr lang="en-US" dirty="0"/>
              <a:t>O(n log n) (</a:t>
            </a:r>
            <a:r>
              <a:rPr lang="en-US" dirty="0" err="1"/>
              <a:t>Skiena</a:t>
            </a:r>
            <a:r>
              <a:rPr lang="en-US" dirty="0"/>
              <a:t>, p. 157).</a:t>
            </a:r>
          </a:p>
        </p:txBody>
      </p:sp>
    </p:spTree>
    <p:extLst>
      <p:ext uri="{BB962C8B-B14F-4D97-AF65-F5344CB8AC3E}">
        <p14:creationId xmlns:p14="http://schemas.microsoft.com/office/powerpoint/2010/main" val="230957790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DC927-9FB6-B16E-7C6E-B4AF8A64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7372-D7EC-89D1-6E43-C1CA7E12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Closest pair of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08B39-71FE-A07E-0793-58AB2C1F50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E741E-650E-FD49-F769-C5C036F40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Preprocessing: </a:t>
            </a:r>
            <a:r>
              <a:rPr lang="en-US" dirty="0"/>
              <a:t>Sort points by x-coordinate: P = [p₁, p₂, …, pₙ] with </a:t>
            </a:r>
            <a:r>
              <a:rPr lang="en-US" dirty="0" err="1"/>
              <a:t>p₁.x</a:t>
            </a:r>
            <a:r>
              <a:rPr lang="en-US" dirty="0"/>
              <a:t> ≤ </a:t>
            </a:r>
            <a:r>
              <a:rPr lang="en-US" dirty="0" err="1"/>
              <a:t>p₂.x</a:t>
            </a:r>
            <a:r>
              <a:rPr lang="en-US" dirty="0"/>
              <a:t> ≤ … ≤ </a:t>
            </a:r>
            <a:r>
              <a:rPr lang="en-US" dirty="0" err="1"/>
              <a:t>pₙ.x</a:t>
            </a:r>
            <a:r>
              <a:rPr lang="en-US" dirty="0"/>
              <a:t>.</a:t>
            </a:r>
          </a:p>
          <a:p>
            <a:pPr marL="101600" indent="0" algn="just">
              <a:buNone/>
            </a:pPr>
            <a:r>
              <a:rPr lang="en-US" b="1" dirty="0"/>
              <a:t>Divide: </a:t>
            </a:r>
            <a:r>
              <a:rPr lang="en-US" dirty="0"/>
              <a:t>Split P at the median x-coordinate into left half PL and right half PR.</a:t>
            </a:r>
          </a:p>
          <a:p>
            <a:pPr marL="101600" indent="0" algn="just">
              <a:buNone/>
            </a:pPr>
            <a:r>
              <a:rPr lang="en-US" b="1" dirty="0"/>
              <a:t>Conquer: </a:t>
            </a:r>
            <a:r>
              <a:rPr lang="en-US" dirty="0"/>
              <a:t>Recursively find </a:t>
            </a:r>
            <a:r>
              <a:rPr lang="el-GR" dirty="0"/>
              <a:t>δ</a:t>
            </a:r>
            <a:r>
              <a:rPr lang="en-US" dirty="0"/>
              <a:t>L = closest distance in PL, </a:t>
            </a:r>
            <a:r>
              <a:rPr lang="el-GR" dirty="0"/>
              <a:t>δ</a:t>
            </a:r>
            <a:r>
              <a:rPr lang="en-US" dirty="0"/>
              <a:t>R = closest distance in PR. Let </a:t>
            </a:r>
            <a:r>
              <a:rPr lang="el-GR" dirty="0"/>
              <a:t>δ = </a:t>
            </a:r>
            <a:r>
              <a:rPr lang="en-US" dirty="0"/>
              <a:t>min(</a:t>
            </a:r>
            <a:r>
              <a:rPr lang="el-GR" dirty="0"/>
              <a:t>δ</a:t>
            </a:r>
            <a:r>
              <a:rPr lang="en-US" dirty="0"/>
              <a:t>L, </a:t>
            </a:r>
            <a:r>
              <a:rPr lang="el-GR" dirty="0"/>
              <a:t>δ</a:t>
            </a:r>
            <a:r>
              <a:rPr lang="en-US" dirty="0"/>
              <a:t>R).</a:t>
            </a:r>
          </a:p>
        </p:txBody>
      </p:sp>
    </p:spTree>
    <p:extLst>
      <p:ext uri="{BB962C8B-B14F-4D97-AF65-F5344CB8AC3E}">
        <p14:creationId xmlns:p14="http://schemas.microsoft.com/office/powerpoint/2010/main" val="94378481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E59B-CD1B-E5FD-0326-7A93392D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5734-5B7D-4CF8-85D7-9453A218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Closest pair of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A2C31-F43E-7B89-5F5A-FBA977341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FBD8B-CC3B-4D4A-414D-AB6F810F65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Combine (the key insight): </a:t>
            </a:r>
            <a:r>
              <a:rPr lang="en-US" dirty="0"/>
              <a:t>There may be a closer pair straddling the dividing line. Only consider points within a vertical strip of width 2δ (δ on each side of the dividing line). Within this strip, for each point p (sorted by y-coordinate), we need only check the next </a:t>
            </a:r>
            <a:r>
              <a:rPr lang="en-US" b="1" dirty="0"/>
              <a:t>7</a:t>
            </a:r>
            <a:r>
              <a:rPr lang="en-US" dirty="0"/>
              <a:t> points above p in sorted y-order — because the </a:t>
            </a:r>
            <a:r>
              <a:rPr lang="en-US" b="1" dirty="0"/>
              <a:t>2δ × δ </a:t>
            </a:r>
            <a:r>
              <a:rPr lang="en-US" dirty="0"/>
              <a:t>rectangle (2δ wide, δ tall) around p can contain at most 8 points total from the two halves (CLRS Ch. 33.4, Lemma 33.13). With </a:t>
            </a:r>
            <a:r>
              <a:rPr lang="en-US" b="1" dirty="0"/>
              <a:t>8 points </a:t>
            </a:r>
            <a:r>
              <a:rPr lang="en-US" dirty="0"/>
              <a:t>in the rectangle including p itself, at most 7 others need to be checked.</a:t>
            </a:r>
          </a:p>
          <a:p>
            <a:pPr marL="101600" indent="0" algn="just">
              <a:buNone/>
            </a:pPr>
            <a:r>
              <a:rPr lang="en-US" b="1" dirty="0"/>
              <a:t>Combine cost: </a:t>
            </a:r>
            <a:r>
              <a:rPr lang="en-US" dirty="0"/>
              <a:t>O(n) — linear scan of strip (at most 7 comparisons per point).</a:t>
            </a:r>
          </a:p>
          <a:p>
            <a:pPr marL="101600" indent="0" algn="just">
              <a:buNone/>
            </a:pPr>
            <a:r>
              <a:rPr lang="en-US" b="1" dirty="0"/>
              <a:t>Recurrence: </a:t>
            </a:r>
            <a:r>
              <a:rPr lang="en-US" dirty="0"/>
              <a:t>T(n) = 2T(n/2) + O(n) → T(n) = O(n log n). (With the initial sort: O(n log n).)</a:t>
            </a:r>
          </a:p>
        </p:txBody>
      </p:sp>
    </p:spTree>
    <p:extLst>
      <p:ext uri="{BB962C8B-B14F-4D97-AF65-F5344CB8AC3E}">
        <p14:creationId xmlns:p14="http://schemas.microsoft.com/office/powerpoint/2010/main" val="33483265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9B37-D166-D168-EAC7-E1EA1F95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66EA-CAF9-4C6D-DD11-6EFBA010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Closest pair of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9839-EBE7-8120-C497-9F0F0A9B9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140501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Why At Most 8 Points in the Rectangle → 7 Candidates (CLRS Lemma 33.13)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7CE3A-38A0-80F2-5A8F-4399D0E9E4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Consider the </a:t>
            </a:r>
            <a:r>
              <a:rPr lang="en-US" b="1" dirty="0"/>
              <a:t>2δ-wide × δ-tall </a:t>
            </a:r>
            <a:r>
              <a:rPr lang="en-US" dirty="0"/>
              <a:t>rectangle around point p (δ on each side of the dividing line, and spanning δ vertically above p). Any two points in the same half of the strip are at distance ≥ δ from each other (since δ is the closest-pair distance within each half).</a:t>
            </a:r>
          </a:p>
          <a:p>
            <a:pPr marL="101600" indent="0" algn="just">
              <a:buNone/>
            </a:pPr>
            <a:r>
              <a:rPr lang="en-US" b="1" dirty="0"/>
              <a:t>Pigeonhole argument: </a:t>
            </a:r>
            <a:r>
              <a:rPr lang="en-US" dirty="0"/>
              <a:t>Divide the 2δ × δ rectangle into 8 cells of size (δ/2) × (δ/2) (a 4-column × 2-row grid). Any two points in the same cell are at distance ≤ √((δ/2)² + (δ/2)²) = δ/√2 &lt; δ. Since all same-half pairs must be ≥ δ apart, each cell can contain </a:t>
            </a:r>
            <a:r>
              <a:rPr lang="en-US" b="1" dirty="0"/>
              <a:t>at most one point per half</a:t>
            </a:r>
            <a:r>
              <a:rPr lang="en-US" dirty="0"/>
              <a:t>, giving at most 2 points per cell and 8 total across 4 cells...</a:t>
            </a:r>
          </a:p>
          <a:p>
            <a:pPr marL="10160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4703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9D2FF-A74C-9896-E3B1-33BA3578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D6F7-667E-9493-7474-35E761C1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Closest pair of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861E1-9718-F363-7629-AD59645D36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140501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Why At Most 8 Points in the Rectangle → 7 Candidates (CLRS Lemma 33.13)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56264-36D0-0DC1-3DB0-DDB747E779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Actually, more precisely: each (δ/2)×(δ/2) cell contains at most one point from the left half and at most one from the right half — but two points from the same half in the same cell would be too close. We have 8 cells (4 columns × 2 rows), with at most one point per cell from each half: 8 total points max. This is </a:t>
            </a:r>
            <a:r>
              <a:rPr lang="en-US" b="1" dirty="0"/>
              <a:t>CLRS Lemma 33.13 </a:t>
            </a:r>
            <a:r>
              <a:rPr lang="en-US" dirty="0"/>
              <a:t>(p. 1031–1038).</a:t>
            </a:r>
          </a:p>
          <a:p>
            <a:pPr marL="101600" indent="0" algn="just">
              <a:buNone/>
            </a:pPr>
            <a:r>
              <a:rPr lang="en-US" b="1" dirty="0"/>
              <a:t>Therefore: </a:t>
            </a:r>
            <a:r>
              <a:rPr lang="en-US" dirty="0"/>
              <a:t>including p itself, the rectangle holds ≤ 8 points, so we check at most 7 other points sorted by y. This is both the correct count and the source of the O(n) combine step complexity.</a:t>
            </a:r>
          </a:p>
        </p:txBody>
      </p:sp>
    </p:spTree>
    <p:extLst>
      <p:ext uri="{BB962C8B-B14F-4D97-AF65-F5344CB8AC3E}">
        <p14:creationId xmlns:p14="http://schemas.microsoft.com/office/powerpoint/2010/main" val="39671934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ID" b="1" dirty="0"/>
              <a:t>D&amp;C </a:t>
            </a:r>
            <a:r>
              <a:rPr lang="en-ID" dirty="0"/>
              <a:t>= Divide + Conquer + Combine. Recurrence T(n) = </a:t>
            </a:r>
            <a:r>
              <a:rPr lang="en-ID" dirty="0" err="1"/>
              <a:t>aT</a:t>
            </a:r>
            <a:r>
              <a:rPr lang="en-ID" dirty="0"/>
              <a:t>(n/b) + f(n).</a:t>
            </a:r>
          </a:p>
          <a:p>
            <a:pPr algn="just"/>
            <a:r>
              <a:rPr lang="en-ID" b="1" dirty="0"/>
              <a:t>Merge Sort: </a:t>
            </a:r>
            <a:r>
              <a:rPr lang="en-ID" dirty="0"/>
              <a:t>T(n) = 2T(n/2) + </a:t>
            </a:r>
            <a:r>
              <a:rPr lang="el-GR" dirty="0"/>
              <a:t>Θ(</a:t>
            </a:r>
            <a:r>
              <a:rPr lang="en-ID" dirty="0"/>
              <a:t>n) → </a:t>
            </a:r>
            <a:r>
              <a:rPr lang="el-GR" dirty="0"/>
              <a:t>Θ(</a:t>
            </a:r>
            <a:r>
              <a:rPr lang="en-ID" dirty="0"/>
              <a:t>n log n); stable, not in-place.</a:t>
            </a:r>
          </a:p>
          <a:p>
            <a:pPr algn="just"/>
            <a:r>
              <a:rPr lang="en-ID" b="1" dirty="0"/>
              <a:t>Binary Search: </a:t>
            </a:r>
            <a:r>
              <a:rPr lang="en-ID" dirty="0"/>
              <a:t>T(n) = T(n/2) + </a:t>
            </a:r>
            <a:r>
              <a:rPr lang="el-GR" dirty="0"/>
              <a:t>Θ(1) → Θ(</a:t>
            </a:r>
            <a:r>
              <a:rPr lang="en-ID" dirty="0"/>
              <a:t>log n); requires sorted array.</a:t>
            </a:r>
          </a:p>
          <a:p>
            <a:pPr algn="just"/>
            <a:r>
              <a:rPr lang="en-ID" b="1" dirty="0"/>
              <a:t>Closest Pair: </a:t>
            </a:r>
            <a:r>
              <a:rPr lang="en-ID" dirty="0"/>
              <a:t>O(n log n) by D&amp;C with a key insight in the combine step (strip + at most 7 other points per candidate; ≤ 8 points total in the 2</a:t>
            </a:r>
            <a:r>
              <a:rPr lang="el-GR" dirty="0"/>
              <a:t>δ×δ </a:t>
            </a:r>
            <a:r>
              <a:rPr lang="en-ID" dirty="0"/>
              <a:t>rectangle per CLRS Lemma 33.13).</a:t>
            </a:r>
          </a:p>
          <a:p>
            <a:pPr algn="just"/>
            <a:r>
              <a:rPr lang="en-ID" dirty="0"/>
              <a:t>Recurrence analysis will be formalized in Session 09.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dirty="0"/>
              <a:t>Trace MERGE-SORT on ⟨5, 2, 4, 6, 1, 3⟩. Show the recursive calls and merges.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Write the recurrence for Binary Search. Solve it by unrolling (substitution).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Merge Sort uses O(n) auxiliary space. Design a merge procedure that merges in-place. What is the time complexity of your in-place merge? Is it still O(n log n) overall?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(CLRS 2.3-7) Describe an O(n log n) algorithm for the problem: given a set S of n integers and an integer x, determine whether there exist two elements in S that sum to x.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Explain why the closest-pair combine step only needs to check 7 points for each strip point (state the pigeonhole argument clearly).</a:t>
            </a:r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b="1" dirty="0"/>
              <a:t>Primary (Required):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*Introduction to Algorithms, 4th Edition.* MIT Press.</a:t>
            </a:r>
          </a:p>
          <a:p>
            <a:r>
              <a:rPr lang="en-ID" dirty="0"/>
              <a:t>Ch. 2.3 — Designing Algorithms (p. 34) — merge sort</a:t>
            </a:r>
          </a:p>
          <a:p>
            <a:r>
              <a:rPr lang="en-ID" dirty="0"/>
              <a:t>Ch. 4.1 — Multiplying Square Matrices (p. 80) — D&amp;C paradigm intro</a:t>
            </a:r>
          </a:p>
          <a:p>
            <a:pPr marL="0" indent="0">
              <a:buNone/>
            </a:pPr>
            <a:r>
              <a:rPr lang="en-ID" b="1" dirty="0"/>
              <a:t>Secondary (Required):</a:t>
            </a:r>
            <a:r>
              <a:rPr lang="en-ID" dirty="0" err="1"/>
              <a:t>Skiena</a:t>
            </a:r>
            <a:r>
              <a:rPr lang="en-ID" dirty="0"/>
              <a:t>, S.S. (2020). *The Algorithm Design Manual, 3rd Edition.* Springer.</a:t>
            </a:r>
          </a:p>
          <a:p>
            <a:r>
              <a:rPr lang="en-ID" dirty="0"/>
              <a:t>Ch. 5.1 — Binary Search and Related Algorithms (p. 148)</a:t>
            </a:r>
          </a:p>
          <a:p>
            <a:r>
              <a:rPr lang="en-ID" dirty="0"/>
              <a:t>Ch. 5.6 — Largest Subrange and Closest Pair (p. 157)</a:t>
            </a:r>
          </a:p>
          <a:p>
            <a:r>
              <a:rPr lang="en-ID" dirty="0"/>
              <a:t>Ch. 4.1 — Applications of Sorting (p. 109)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5103</TotalTime>
  <Words>2130</Words>
  <Application>Microsoft Office PowerPoint</Application>
  <PresentationFormat>Custom</PresentationFormat>
  <Paragraphs>153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Open Sans Light</vt:lpstr>
      <vt:lpstr>Open Sans ExtraBold</vt:lpstr>
      <vt:lpstr>Courier New</vt:lpstr>
      <vt:lpstr>OCRB</vt:lpstr>
      <vt:lpstr>Open Sans</vt:lpstr>
      <vt:lpstr>Arial</vt:lpstr>
      <vt:lpstr>Open Sans Semibold</vt:lpstr>
      <vt:lpstr>21_BasicWhite</vt:lpstr>
      <vt:lpstr>Divide and Conquer</vt:lpstr>
      <vt:lpstr>Learning Outcomes</vt:lpstr>
      <vt:lpstr>Learning Outcomes</vt:lpstr>
      <vt:lpstr>outline</vt:lpstr>
      <vt:lpstr>The Divide and Conquer Paradigm</vt:lpstr>
      <vt:lpstr>The Divide and Conquer Paradigm</vt:lpstr>
      <vt:lpstr>Merge sort</vt:lpstr>
      <vt:lpstr>Merge sort</vt:lpstr>
      <vt:lpstr>Merge sort</vt:lpstr>
      <vt:lpstr>Merge sort</vt:lpstr>
      <vt:lpstr>Binary search</vt:lpstr>
      <vt:lpstr>Binary search</vt:lpstr>
      <vt:lpstr>Binary search</vt:lpstr>
      <vt:lpstr>Closest pair of points</vt:lpstr>
      <vt:lpstr>Closest pair of points</vt:lpstr>
      <vt:lpstr>Closest pair of points</vt:lpstr>
      <vt:lpstr>Closest pair of points</vt:lpstr>
      <vt:lpstr>Closest pair of points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Asus -</cp:lastModifiedBy>
  <cp:revision>82</cp:revision>
  <dcterms:created xsi:type="dcterms:W3CDTF">2023-11-17T02:51:40Z</dcterms:created>
  <dcterms:modified xsi:type="dcterms:W3CDTF">2026-06-28T12:11:47Z</dcterms:modified>
</cp:coreProperties>
</file>