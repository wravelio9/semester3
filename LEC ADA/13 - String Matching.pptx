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337" r:id="rId4"/>
    <p:sldId id="258" r:id="rId5"/>
    <p:sldId id="259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39" r:id="rId26"/>
    <p:sldId id="373" r:id="rId27"/>
    <p:sldId id="374" r:id="rId28"/>
    <p:sldId id="375" r:id="rId29"/>
  </p:sldIdLst>
  <p:sldSz cx="24384000" cy="13716000"/>
  <p:notesSz cx="6858000" cy="9144000"/>
  <p:embeddedFontLst>
    <p:embeddedFont>
      <p:font typeface="OCRB" panose="020B0609020202020204" pitchFamily="49" charset="0"/>
      <p:regular r:id="rId31"/>
    </p:embeddedFont>
    <p:embeddedFont>
      <p:font typeface="Open Sans ExtraBold" panose="020B0906030804020204" pitchFamily="34" charset="0"/>
      <p:bold r:id="rId32"/>
      <p:italic r:id="rId33"/>
      <p:boldItalic r:id="rId34"/>
    </p:embeddedFont>
    <p:embeddedFont>
      <p:font typeface="Open Sans Light" panose="020B0306030504020204" pitchFamily="34" charset="0"/>
      <p:regular r:id="rId35"/>
      <p:italic r:id="rId36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6"/>
    <a:srgbClr val="212121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3F0B0-EB64-7BF0-6487-1A32DBFEA03D}" v="5" dt="2026-06-30T09:31:53.67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2" autoAdjust="0"/>
    <p:restoredTop sz="95584"/>
  </p:normalViewPr>
  <p:slideViewPr>
    <p:cSldViewPr snapToGrid="0" snapToObjects="1">
      <p:cViewPr varScale="1">
        <p:scale>
          <a:sx n="38" d="100"/>
          <a:sy n="38" d="100"/>
        </p:scale>
        <p:origin x="474" y="5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Ananda Putri Masaling" userId="S::nikita.masaling001@binus.ac.id::a17153e9-cd41-4a4e-afcd-ddb53d92623c" providerId="AD" clId="Web-{0A03F0B0-EB64-7BF0-6487-1A32DBFEA03D}"/>
    <pc:docChg chg="modSld">
      <pc:chgData name="Nikita Ananda Putri Masaling" userId="S::nikita.masaling001@binus.ac.id::a17153e9-cd41-4a4e-afcd-ddb53d92623c" providerId="AD" clId="Web-{0A03F0B0-EB64-7BF0-6487-1A32DBFEA03D}" dt="2026-06-30T09:31:53.154" v="2" actId="20577"/>
      <pc:docMkLst>
        <pc:docMk/>
      </pc:docMkLst>
      <pc:sldChg chg="modSp">
        <pc:chgData name="Nikita Ananda Putri Masaling" userId="S::nikita.masaling001@binus.ac.id::a17153e9-cd41-4a4e-afcd-ddb53d92623c" providerId="AD" clId="Web-{0A03F0B0-EB64-7BF0-6487-1A32DBFEA03D}" dt="2026-06-30T09:31:53.154" v="2" actId="20577"/>
        <pc:sldMkLst>
          <pc:docMk/>
          <pc:sldMk cId="733942581" sldId="354"/>
        </pc:sldMkLst>
        <pc:spChg chg="mod">
          <ac:chgData name="Nikita Ananda Putri Masaling" userId="S::nikita.masaling001@binus.ac.id::a17153e9-cd41-4a4e-afcd-ddb53d92623c" providerId="AD" clId="Web-{0A03F0B0-EB64-7BF0-6487-1A32DBFEA03D}" dt="2026-06-30T09:31:53.154" v="2" actId="20577"/>
          <ac:spMkLst>
            <pc:docMk/>
            <pc:sldMk cId="733942581" sldId="354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0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521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656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98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2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90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92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590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25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27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56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586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179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619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28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836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8781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7503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911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683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2721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1753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31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3878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8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String Matching: Naive, KMP &amp; Rabin-Karp</a:t>
            </a:r>
            <a:endParaRPr lang="en-ID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b="1" dirty="0"/>
              <a:t>LO 1: </a:t>
            </a:r>
            <a:r>
              <a:rPr lang="en-US" dirty="0"/>
              <a:t>Evaluate the time and space complexity of algorithms using asymptotic notation and formal analysis methods, and prove algorithm correctness using loop invariants, induction, or exchange arguments.</a:t>
            </a:r>
          </a:p>
          <a:p>
            <a:pPr algn="just"/>
            <a:r>
              <a:rPr lang="en-US" b="1" dirty="0"/>
              <a:t>LO 2: </a:t>
            </a:r>
            <a:r>
              <a:rPr lang="en-US" dirty="0"/>
              <a:t>Analyze unfamiliar computational problems by identifying their structural properties, classifying them into known algorithmic categories including graph, string, and combinatorial problems and recommending a solution strategy with justification.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dirty="0"/>
              <a:t>[LO 1] Analyze naive O(nm), KMP O(</a:t>
            </a:r>
            <a:r>
              <a:rPr lang="en-US" dirty="0" err="1"/>
              <a:t>n+m</a:t>
            </a:r>
            <a:r>
              <a:rPr lang="en-US" dirty="0"/>
              <a:t>), and Rabin-Karp O(</a:t>
            </a:r>
            <a:r>
              <a:rPr lang="en-US" dirty="0" err="1"/>
              <a:t>n+m</a:t>
            </a:r>
            <a:r>
              <a:rPr lang="en-US" dirty="0"/>
              <a:t>) expected complexity; prove KMP correctness via the failure function invariant and the while-loop backtracking argument; evaluate when Rabin-Karp spurious hits occur.</a:t>
            </a:r>
          </a:p>
          <a:p>
            <a:pPr algn="just"/>
            <a:r>
              <a:rPr lang="en-US" dirty="0"/>
              <a:t>[LO 2] Select between naive, KMP, and Rabin-Karp based on pattern/text length and requirements; classify string matching as a structured text search problem; identify the KMP failure function as an application of string self-overlap structure.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6202861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covered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Naive String Matching — O(nm) Baseline</a:t>
            </a:r>
          </a:p>
          <a:p>
            <a:r>
              <a:rPr lang="en-US" dirty="0"/>
              <a:t>KMP Algorithm — Failure Function and O(</a:t>
            </a:r>
            <a:r>
              <a:rPr lang="en-US" dirty="0" err="1"/>
              <a:t>n+m</a:t>
            </a:r>
            <a:r>
              <a:rPr lang="en-US" dirty="0"/>
              <a:t>) Proof</a:t>
            </a:r>
          </a:p>
          <a:p>
            <a:r>
              <a:rPr lang="en-US" dirty="0"/>
              <a:t>Rabin-Karp — Rolling Hash as Randomized Application</a:t>
            </a:r>
          </a:p>
          <a:p>
            <a:r>
              <a:rPr lang="en-US" dirty="0"/>
              <a:t>Comparison: When to Use Which Algorithm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Naive string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Given a text T[1..n] and pattern P[1..m] (m ≤ n), find all positions s where T[s+1..s+m] = P[1..m] (0-indexed: P occurs at shift s).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Naive string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dirty="0"/>
              <a:t>Inner comparison costs O(m). Outer loop runs n−m+1 times.</a:t>
            </a:r>
          </a:p>
          <a:p>
            <a:pPr marL="101600" indent="0" algn="just">
              <a:buNone/>
            </a:pPr>
            <a:r>
              <a:rPr lang="en-US" b="1" dirty="0"/>
              <a:t>Worst case: </a:t>
            </a:r>
            <a:r>
              <a:rPr lang="en-US" dirty="0"/>
              <a:t>O((n−m+1)·m) = </a:t>
            </a:r>
            <a:r>
              <a:rPr lang="en-US" b="1" dirty="0"/>
              <a:t>O(nm).</a:t>
            </a:r>
          </a:p>
          <a:p>
            <a:pPr marL="101600" indent="0" algn="just">
              <a:buNone/>
            </a:pPr>
            <a:r>
              <a:rPr lang="en-US" b="1" dirty="0"/>
              <a:t>Worst-case example: </a:t>
            </a:r>
            <a:r>
              <a:rPr lang="en-US" dirty="0"/>
              <a:t>T = "</a:t>
            </a:r>
            <a:r>
              <a:rPr lang="en-US" dirty="0" err="1"/>
              <a:t>aaa</a:t>
            </a:r>
            <a:r>
              <a:rPr lang="en-US" dirty="0"/>
              <a:t>…a" (n a's), P = "</a:t>
            </a:r>
            <a:r>
              <a:rPr lang="en-US" dirty="0" err="1"/>
              <a:t>aaa</a:t>
            </a:r>
            <a:r>
              <a:rPr lang="en-US" dirty="0"/>
              <a:t>…</a:t>
            </a:r>
            <a:r>
              <a:rPr lang="en-US" dirty="0" err="1"/>
              <a:t>ab</a:t>
            </a:r>
            <a:r>
              <a:rPr lang="en-US" dirty="0"/>
              <a:t>" (m−1 a's + b). Every shift tries m characters before failing at the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0577" y="3727827"/>
            <a:ext cx="8785534" cy="3057247"/>
          </a:xfrm>
          <a:prstGeom prst="rect">
            <a:avLst/>
          </a:prstGeom>
          <a:solidFill>
            <a:srgbClr val="FFF7D6"/>
          </a:solidFill>
          <a:ln w="12700" cap="flat">
            <a:solidFill>
              <a:schemeClr val="tx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NAIVE-STRING-MATCHER(T, P)</a:t>
            </a:r>
            <a:br>
              <a:rPr lang="en-US" sz="3200" b="1" dirty="0">
                <a:latin typeface="Courier New"/>
                <a:cs typeface="Courier New"/>
              </a:rPr>
            </a:b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1  n =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T.length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; m =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P.length</a:t>
            </a:r>
            <a:br>
              <a:rPr lang="en-US" sz="3200" b="1" dirty="0">
                <a:latin typeface="Courier New"/>
                <a:cs typeface="Courier New"/>
              </a:rPr>
            </a:b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2  for s = 0 to n - m	</a:t>
            </a:r>
            <a:br>
              <a:rPr lang="en-US" sz="3200" b="1" dirty="0">
                <a:latin typeface="Courier New"/>
                <a:cs typeface="Courier New"/>
              </a:rPr>
            </a:b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3      if T[s+1 ..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s+m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] == P[1..m]</a:t>
            </a:r>
            <a:br>
              <a:rPr lang="en-US" sz="3200" b="1" dirty="0">
                <a:latin typeface="Courier New"/>
                <a:cs typeface="Courier New"/>
              </a:rPr>
            </a:b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4          print "pattern occurs at shift" s</a:t>
            </a:r>
            <a:endParaRPr lang="en-US" sz="2400" b="1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339425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Naive string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If the first character of P rarely matches T, the inner comparison terminates at step 1 → O(n) total. For random text, the naive algorithm is fast in practice.</a:t>
            </a:r>
          </a:p>
        </p:txBody>
      </p:sp>
    </p:spTree>
    <p:extLst>
      <p:ext uri="{BB962C8B-B14F-4D97-AF65-F5344CB8AC3E}">
        <p14:creationId xmlns:p14="http://schemas.microsoft.com/office/powerpoint/2010/main" val="271959609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motivation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The naive algorithm wastes work by re-examining characters that were already compared. KMP avoids this by </a:t>
            </a:r>
            <a:r>
              <a:rPr lang="en-US" b="1" dirty="0" err="1"/>
              <a:t>precomputing</a:t>
            </a:r>
            <a:r>
              <a:rPr lang="en-US" b="1" dirty="0"/>
              <a:t> information about the pattern </a:t>
            </a:r>
            <a:r>
              <a:rPr lang="en-US" dirty="0"/>
              <a:t>itself.</a:t>
            </a:r>
          </a:p>
        </p:txBody>
      </p:sp>
    </p:spTree>
    <p:extLst>
      <p:ext uri="{BB962C8B-B14F-4D97-AF65-F5344CB8AC3E}">
        <p14:creationId xmlns:p14="http://schemas.microsoft.com/office/powerpoint/2010/main" val="212097339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Failure function (prefix function)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The </a:t>
            </a:r>
            <a:r>
              <a:rPr lang="en-US" b="1" dirty="0"/>
              <a:t>failure function </a:t>
            </a:r>
            <a:r>
              <a:rPr lang="en-US" dirty="0"/>
              <a:t>π[q] for pattern P is the length of the longest proper prefix of P[1..q] that is also a suffix of P[1..q].</a:t>
            </a:r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b="1" dirty="0"/>
              <a:t>Example: </a:t>
            </a:r>
            <a:r>
              <a:rPr lang="en-US" dirty="0"/>
              <a:t>P = “</a:t>
            </a:r>
            <a:r>
              <a:rPr lang="en-US" dirty="0" err="1"/>
              <a:t>ababaca</a:t>
            </a:r>
            <a:r>
              <a:rPr lang="en-US" dirty="0"/>
              <a:t>”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370576" y="5563434"/>
            <a:ext cx="9821423" cy="4042132"/>
          </a:xfrm>
          <a:prstGeom prst="rect">
            <a:avLst/>
          </a:prstGeom>
          <a:solidFill>
            <a:srgbClr val="FFF7D6"/>
          </a:solidFill>
          <a:ln w="12700" cap="flat">
            <a:solidFill>
              <a:schemeClr val="tx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COMPUTE-PREFIX-FUNCTION(P)</a:t>
            </a:r>
          </a:p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1  m =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P.length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; </a:t>
            </a:r>
            <a:r>
              <a:rPr lang="el-GR" sz="3200" dirty="0">
                <a:solidFill>
                  <a:schemeClr val="bg2">
                    <a:lumMod val="10000"/>
                  </a:schemeClr>
                </a:solidFill>
              </a:rPr>
              <a:t>π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[1] = 0; k = 0</a:t>
            </a:r>
          </a:p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2  for q = 2 to m</a:t>
            </a:r>
          </a:p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3      while k &gt; 0 and P[k+1] ≠  P[q]</a:t>
            </a:r>
          </a:p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4          k = </a:t>
            </a:r>
            <a:r>
              <a:rPr lang="el-GR" sz="3200" dirty="0">
                <a:solidFill>
                  <a:schemeClr val="bg2">
                    <a:lumMod val="10000"/>
                  </a:schemeClr>
                </a:solidFill>
              </a:rPr>
              <a:t>π 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[k]</a:t>
            </a:r>
          </a:p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5      if P[k+1] == P[q]: k++</a:t>
            </a:r>
          </a:p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6      </a:t>
            </a:r>
            <a:r>
              <a:rPr lang="el-GR" sz="3200" dirty="0">
                <a:solidFill>
                  <a:schemeClr val="bg2">
                    <a:lumMod val="10000"/>
                  </a:schemeClr>
                </a:solidFill>
              </a:rPr>
              <a:t>π 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[q] = k</a:t>
            </a:r>
          </a:p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7  return </a:t>
            </a:r>
            <a:r>
              <a:rPr lang="el-GR" sz="3200" dirty="0">
                <a:solidFill>
                  <a:schemeClr val="bg2">
                    <a:lumMod val="10000"/>
                  </a:schemeClr>
                </a:solidFill>
              </a:rPr>
              <a:t>π</a:t>
            </a:r>
            <a:endParaRPr lang="en-US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66059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Failure function (prefix function)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994193273"/>
              </p:ext>
            </p:extLst>
          </p:nvPr>
        </p:nvGraphicFramePr>
        <p:xfrm>
          <a:off x="2416477" y="4171424"/>
          <a:ext cx="18534063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8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8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8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P[q]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Π</a:t>
                      </a:r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[q]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032265" cy="91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b="1" dirty="0"/>
              <a:t>What π[q] means: </a:t>
            </a:r>
            <a:r>
              <a:rPr lang="en-US" dirty="0"/>
              <a:t>π[q] is the length of the </a:t>
            </a:r>
            <a:r>
              <a:rPr lang="en-US" b="1" dirty="0"/>
              <a:t>longest proper prefix of P[1..q] that is also a suffix of P[1..q]</a:t>
            </a:r>
            <a:r>
              <a:rPr lang="en-US" dirty="0"/>
              <a:t> — called the border of P[1..q]. "Proper" means the prefix is strictly shorter than P[1..q] itself (CLRS Ch. 32.4, p. 990).</a:t>
            </a:r>
          </a:p>
        </p:txBody>
      </p:sp>
    </p:spTree>
    <p:extLst>
      <p:ext uri="{BB962C8B-B14F-4D97-AF65-F5344CB8AC3E}">
        <p14:creationId xmlns:p14="http://schemas.microsoft.com/office/powerpoint/2010/main" val="185967941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Failure function (prefix function)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032265" cy="91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01600" indent="0" algn="just">
              <a:buNone/>
            </a:pPr>
            <a:r>
              <a:rPr lang="en-US" b="1" dirty="0"/>
              <a:t>Why this enables character skipping (CLRS Ch. 32.4, p. 991; </a:t>
            </a:r>
            <a:r>
              <a:rPr lang="en-US" b="1" dirty="0" err="1"/>
              <a:t>Skiena</a:t>
            </a:r>
            <a:r>
              <a:rPr lang="en-US" b="1" dirty="0"/>
              <a:t> Ch. 6.7): </a:t>
            </a:r>
            <a:r>
              <a:rPr lang="en-US" dirty="0"/>
              <a:t>Suppose the matcher has aligned P against T starting at some shift s and successfully matched P[1..q] with T[s+1..s+q], but then P[q+1] ≠ T[s+q+1] — a mismatch. The naive approach would try shift s+1 (re-examining characters we already matched). KMP instead asks: of the q matched characters, how many form a border of P[1..q]? Because T[s+1..s+q] = P[1..q], any border of P[1..q] is also a suffix of T[s+1..s+q] — meaning it already aligns with text at the new shift. So the matcher can skip to shift s + q − π[q] and resume comparing at P[π[q]+1], without re-examining T[s+1..s+q].</a:t>
            </a:r>
          </a:p>
        </p:txBody>
      </p:sp>
    </p:spTree>
    <p:extLst>
      <p:ext uri="{BB962C8B-B14F-4D97-AF65-F5344CB8AC3E}">
        <p14:creationId xmlns:p14="http://schemas.microsoft.com/office/powerpoint/2010/main" val="170270722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Failure function (prefix function)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032265" cy="91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01600" indent="0" algn="just">
              <a:buNone/>
            </a:pPr>
            <a:r>
              <a:rPr lang="en-US" b="1" dirty="0"/>
              <a:t>Worked example with P = "</a:t>
            </a:r>
            <a:r>
              <a:rPr lang="en-US" b="1" dirty="0" err="1"/>
              <a:t>ababaca</a:t>
            </a:r>
            <a:r>
              <a:rPr lang="en-US" b="1" dirty="0"/>
              <a:t>": </a:t>
            </a:r>
            <a:r>
              <a:rPr lang="en-US" dirty="0"/>
              <a:t>At q=5 (matched "</a:t>
            </a:r>
            <a:r>
              <a:rPr lang="en-US" dirty="0" err="1"/>
              <a:t>ababa</a:t>
            </a:r>
            <a:r>
              <a:rPr lang="en-US" dirty="0"/>
              <a:t>"), π[5]=3. This means the border of "</a:t>
            </a:r>
            <a:r>
              <a:rPr lang="en-US" dirty="0" err="1"/>
              <a:t>ababa</a:t>
            </a:r>
            <a:r>
              <a:rPr lang="en-US" dirty="0"/>
              <a:t>" is "aba" (length 3). If the next character mismatches, we jump from comparing P[6] to comparing P[4] ("b"), having implicitly shifted by 5−3=2 positions — skipping 2 text characters entirely.</a:t>
            </a:r>
          </a:p>
        </p:txBody>
      </p:sp>
    </p:spTree>
    <p:extLst>
      <p:ext uri="{BB962C8B-B14F-4D97-AF65-F5344CB8AC3E}">
        <p14:creationId xmlns:p14="http://schemas.microsoft.com/office/powerpoint/2010/main" val="146289463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Failure function (prefix function)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032265" cy="91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01600" indent="0" algn="just">
              <a:buNone/>
            </a:pPr>
            <a:r>
              <a:rPr lang="en-US" b="1" dirty="0"/>
              <a:t>Why π is computed with the while loop (CLRS Ch. 32.4, p. 993): </a:t>
            </a:r>
            <a:r>
              <a:rPr lang="en-US" dirty="0"/>
              <a:t>In COMPUTE-PREFIX-FUNCTION, when computing π[q]:</a:t>
            </a:r>
          </a:p>
          <a:p>
            <a:pPr marL="673100" indent="-571500" algn="just"/>
            <a:r>
              <a:rPr lang="en-US" dirty="0"/>
              <a:t>k tracks how many characters of the prefix P[1..k] we have matched as a suffix so far.</a:t>
            </a:r>
          </a:p>
          <a:p>
            <a:pPr marL="673100" indent="-571500" algn="just"/>
            <a:r>
              <a:rPr lang="en-US" dirty="0"/>
              <a:t>We ask: does P[k+1] = P[q]? If yes, we extend the border by 1: k ← k+1, and π[q] = k.</a:t>
            </a:r>
          </a:p>
        </p:txBody>
      </p:sp>
    </p:spTree>
    <p:extLst>
      <p:ext uri="{BB962C8B-B14F-4D97-AF65-F5344CB8AC3E}">
        <p14:creationId xmlns:p14="http://schemas.microsoft.com/office/powerpoint/2010/main" val="356867083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Failure function (prefix function)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032265" cy="91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01600" indent="0" algn="just">
              <a:buNone/>
            </a:pPr>
            <a:r>
              <a:rPr lang="en-US" b="1" dirty="0"/>
              <a:t>Why π is computed with the while loop (CLRS Ch. 32.4, p. 993): </a:t>
            </a:r>
            <a:r>
              <a:rPr lang="en-US" dirty="0"/>
              <a:t>In COMPUTE-PREFIX-FUNCTION, when computing π[q]:</a:t>
            </a:r>
          </a:p>
          <a:p>
            <a:pPr marL="673100" indent="-571500" algn="just"/>
            <a:r>
              <a:rPr lang="en-US" dirty="0"/>
              <a:t>If P[k+1] ≠ P[q], we cannot simply decrement k by 1. We need the next-longest border of P[1..k] that could still extend. That length is exactly π[k] — because the border of the current border is the next candidate border of P[1..q]. Hence the loop: k = π[k]. This is correct because π[k] &lt; k, so k strictly decreases, guaranteeing termination.</a:t>
            </a:r>
          </a:p>
          <a:p>
            <a:pPr marL="673100" indent="-571500" algn="just"/>
            <a:r>
              <a:rPr lang="en-US" dirty="0"/>
              <a:t>If k reaches 0 and still P[1] ≠ P[q], then no border exists and π[q] = 0.</a:t>
            </a:r>
          </a:p>
        </p:txBody>
      </p:sp>
    </p:spTree>
    <p:extLst>
      <p:ext uri="{BB962C8B-B14F-4D97-AF65-F5344CB8AC3E}">
        <p14:creationId xmlns:p14="http://schemas.microsoft.com/office/powerpoint/2010/main" val="104524837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Failure function (prefix function)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984012237"/>
              </p:ext>
            </p:extLst>
          </p:nvPr>
        </p:nvGraphicFramePr>
        <p:xfrm>
          <a:off x="2416474" y="4831824"/>
          <a:ext cx="17370125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7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P[q]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 before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P[k+1] = P[q]?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Π</a:t>
                      </a:r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[q]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P[1]='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a'≠'b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'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 stays 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P[1]='a'='a'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k→1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P[2]='b'='b'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k→2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P[3]='a'='a'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k→3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P[4]='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b'≠'c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': k=</a:t>
                      </a:r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π[3]=1; 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P[2]='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b'≠'c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': k=</a:t>
                      </a:r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π[1]=0; 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P[1]='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a'≠'c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'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k=0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P[1]='a'='a'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k→1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032265" cy="91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01600" indent="0" algn="just">
              <a:buNone/>
            </a:pPr>
            <a:r>
              <a:rPr lang="en-US" b="1" dirty="0"/>
              <a:t>Concrete trace of COMPUTE-PREFIX-FUNCTION for P = "</a:t>
            </a:r>
            <a:r>
              <a:rPr lang="en-US" b="1" dirty="0" err="1"/>
              <a:t>ababaca</a:t>
            </a:r>
            <a:r>
              <a:rPr lang="en-US" b="1" dirty="0"/>
              <a:t>":</a:t>
            </a:r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b="1" dirty="0"/>
              <a:t>Time: </a:t>
            </a:r>
            <a:r>
              <a:rPr lang="en-US" dirty="0"/>
              <a:t>O(m) — by amortized analysis (k can increase at most m times total, and each π[k] step decreases k).</a:t>
            </a:r>
          </a:p>
        </p:txBody>
      </p:sp>
    </p:spTree>
    <p:extLst>
      <p:ext uri="{BB962C8B-B14F-4D97-AF65-F5344CB8AC3E}">
        <p14:creationId xmlns:p14="http://schemas.microsoft.com/office/powerpoint/2010/main" val="408777991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Kmp</a:t>
            </a:r>
            <a:r>
              <a:rPr lang="en-ID" dirty="0"/>
              <a:t> matcher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b="1" dirty="0"/>
              <a:t>Time: </a:t>
            </a:r>
            <a:r>
              <a:rPr lang="en-US" dirty="0"/>
              <a:t>O(</a:t>
            </a:r>
            <a:r>
              <a:rPr lang="en-US" dirty="0" err="1"/>
              <a:t>n+m</a:t>
            </a:r>
            <a:r>
              <a:rPr lang="en-US" dirty="0"/>
              <a:t>) — O(m) for prefix function + O(n) for matching. q increases at most n times total and each π[q] step decreases q.</a:t>
            </a:r>
          </a:p>
          <a:p>
            <a:pPr marL="101600" indent="0" algn="just">
              <a:buNone/>
            </a:pPr>
            <a:r>
              <a:rPr lang="en-US" b="1" dirty="0"/>
              <a:t>Space: </a:t>
            </a:r>
            <a:r>
              <a:rPr lang="en-US" dirty="0"/>
              <a:t>O(m) for the π array.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0576" y="3714224"/>
            <a:ext cx="13555224" cy="5180905"/>
          </a:xfrm>
          <a:prstGeom prst="rect">
            <a:avLst/>
          </a:prstGeom>
          <a:solidFill>
            <a:srgbClr val="FFF7D6"/>
          </a:solidFill>
          <a:ln w="12700" cap="flat">
            <a:solidFill>
              <a:schemeClr val="tx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KMP-MATCHER(T, P)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n = </a:t>
            </a:r>
            <a:r>
              <a:rPr lang="en-US" sz="3000" dirty="0" err="1">
                <a:solidFill>
                  <a:schemeClr val="bg2">
                    <a:lumMod val="10000"/>
                  </a:schemeClr>
                </a:solidFill>
              </a:rPr>
              <a:t>T.length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; m = </a:t>
            </a:r>
            <a:r>
              <a:rPr lang="en-US" sz="3000" dirty="0" err="1">
                <a:solidFill>
                  <a:schemeClr val="bg2">
                    <a:lumMod val="10000"/>
                  </a:schemeClr>
                </a:solidFill>
              </a:rPr>
              <a:t>P.length</a:t>
            </a:r>
            <a:endParaRPr lang="en-US" sz="3000" dirty="0">
              <a:solidFill>
                <a:schemeClr val="bg2">
                  <a:lumMod val="10000"/>
                </a:schemeClr>
              </a:solidFill>
            </a:endParaRP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</a:t>
            </a:r>
            <a:r>
              <a:rPr lang="el-GR" sz="3000" dirty="0">
                <a:solidFill>
                  <a:schemeClr val="bg2">
                    <a:lumMod val="10000"/>
                  </a:schemeClr>
                </a:solidFill>
              </a:rPr>
              <a:t>π = 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COMPUTE-PREFIX-FUNCTION(P)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q = 0            // characters matched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for </a:t>
            </a:r>
            <a:r>
              <a:rPr lang="en-US" sz="30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= 1 to n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  while q &gt; 0 and P[q+1] ≠ T[</a:t>
            </a:r>
            <a:r>
              <a:rPr lang="en-US" sz="30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]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      q = </a:t>
            </a:r>
            <a:r>
              <a:rPr lang="el-GR" sz="3000" dirty="0">
                <a:solidFill>
                  <a:schemeClr val="bg2">
                    <a:lumMod val="10000"/>
                  </a:schemeClr>
                </a:solidFill>
              </a:rPr>
              <a:t>π[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q]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  if P[q+1] == T[</a:t>
            </a:r>
            <a:r>
              <a:rPr lang="en-US" sz="30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]: q++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  if q == m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      print "shift" (</a:t>
            </a:r>
            <a:r>
              <a:rPr lang="en-US" sz="30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-m)</a:t>
            </a:r>
          </a:p>
          <a:p>
            <a:pPr marL="514350" indent="-514350" algn="l">
              <a:buAutoNum type="arabicPlain"/>
            </a:pP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     q = </a:t>
            </a:r>
            <a:r>
              <a:rPr lang="el-GR" sz="3000" dirty="0">
                <a:solidFill>
                  <a:schemeClr val="bg2">
                    <a:lumMod val="10000"/>
                  </a:schemeClr>
                </a:solidFill>
              </a:rPr>
              <a:t>π[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q]</a:t>
            </a:r>
          </a:p>
        </p:txBody>
      </p:sp>
    </p:spTree>
    <p:extLst>
      <p:ext uri="{BB962C8B-B14F-4D97-AF65-F5344CB8AC3E}">
        <p14:creationId xmlns:p14="http://schemas.microsoft.com/office/powerpoint/2010/main" val="327403462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KMP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Why o(</a:t>
            </a:r>
            <a:r>
              <a:rPr lang="en-ID" dirty="0" err="1"/>
              <a:t>N+m</a:t>
            </a:r>
            <a:r>
              <a:rPr lang="en-ID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The key insight: each character of T is examined at most once (</a:t>
            </a:r>
            <a:r>
              <a:rPr lang="en-US" dirty="0" err="1"/>
              <a:t>i</a:t>
            </a:r>
            <a:r>
              <a:rPr lang="en-US" dirty="0"/>
              <a:t> only increases). While q can decrease multiple times for a single </a:t>
            </a:r>
            <a:r>
              <a:rPr lang="en-US" dirty="0" err="1"/>
              <a:t>i</a:t>
            </a:r>
            <a:r>
              <a:rPr lang="en-US" dirty="0"/>
              <a:t>, the total number of decreases across all </a:t>
            </a:r>
            <a:r>
              <a:rPr lang="en-US" dirty="0" err="1"/>
              <a:t>i</a:t>
            </a:r>
            <a:r>
              <a:rPr lang="en-US" dirty="0"/>
              <a:t> is bounded by the total number of increases, which is at most n. Total transitions: O(n).</a:t>
            </a:r>
          </a:p>
        </p:txBody>
      </p:sp>
    </p:spTree>
    <p:extLst>
      <p:ext uri="{BB962C8B-B14F-4D97-AF65-F5344CB8AC3E}">
        <p14:creationId xmlns:p14="http://schemas.microsoft.com/office/powerpoint/2010/main" val="298326636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Rabin-</a:t>
            </a:r>
            <a:r>
              <a:rPr lang="en-ID" dirty="0" err="1"/>
              <a:t>karp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Rolling hash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Rabin-Karp hashes the pattern and each length-m window of the text, comparing hashes first. Only check character-by-character on hash match.</a:t>
            </a:r>
          </a:p>
          <a:p>
            <a:pPr marL="101600" indent="0" algn="just">
              <a:buNone/>
            </a:pPr>
            <a:r>
              <a:rPr lang="en-US" b="1" dirty="0"/>
              <a:t>Polynomial rolling hash: </a:t>
            </a:r>
            <a:r>
              <a:rPr lang="en-US" dirty="0"/>
              <a:t>Treat each length-m string as a base-d polynomial modulo a prime q:h(P) = (P[1]·d^{m-1} + P[2]·d^{m-2} + … + P[m]) mod q</a:t>
            </a:r>
          </a:p>
          <a:p>
            <a:pPr marL="101600" indent="0" algn="just">
              <a:buNone/>
            </a:pPr>
            <a:r>
              <a:rPr lang="en-US" b="1" dirty="0"/>
              <a:t>Sliding window update: </a:t>
            </a:r>
            <a:r>
              <a:rPr lang="en-US" dirty="0"/>
              <a:t>Given h(T[s+1..s+m]), compute h(T[s+2..s+m+1]) in O(1):</a:t>
            </a:r>
          </a:p>
          <a:p>
            <a:pPr marL="101600" indent="0" algn="just">
              <a:buNone/>
            </a:pPr>
            <a:r>
              <a:rPr lang="en-US" dirty="0"/>
              <a:t>h(T[s+2..s+m+1]) = (d·(h(T[s+1..s+m]) − T[s+1]·d^{m-1}) + T[s+m+1]) mod q</a:t>
            </a:r>
          </a:p>
        </p:txBody>
      </p:sp>
    </p:spTree>
    <p:extLst>
      <p:ext uri="{BB962C8B-B14F-4D97-AF65-F5344CB8AC3E}">
        <p14:creationId xmlns:p14="http://schemas.microsoft.com/office/powerpoint/2010/main" val="121511668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Rabin-</a:t>
            </a:r>
            <a:r>
              <a:rPr lang="en-ID" dirty="0" err="1"/>
              <a:t>karp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0576" y="3966907"/>
            <a:ext cx="13555224" cy="6504345"/>
          </a:xfrm>
          <a:prstGeom prst="rect">
            <a:avLst/>
          </a:prstGeom>
          <a:solidFill>
            <a:srgbClr val="FFF7D6"/>
          </a:solidFill>
          <a:ln w="12700" cap="flat">
            <a:solidFill>
              <a:schemeClr val="tx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RABIN-KARP-MATCHER(T, P, d, q)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n=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T.length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; m=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P.length</a:t>
            </a:r>
            <a:endParaRPr lang="en-US" sz="3200" dirty="0">
              <a:solidFill>
                <a:schemeClr val="bg2">
                  <a:lumMod val="10000"/>
                </a:schemeClr>
              </a:solidFill>
            </a:endParaRP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h = d^{m-1} mod q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p = 0; t = 0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for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= 1 to m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    p = (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d·p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+ P[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]) mod q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    t = (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d·t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+ T[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]) mod q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for s = 0 to n-m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    if p == t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        if T[s+1..s+m] == P[1..m]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           print "valid match at shift s“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   if s &lt; n-m</a:t>
            </a:r>
          </a:p>
          <a:p>
            <a:pPr marL="514350" indent="-514350" algn="l">
              <a:buAutoNum type="arabicPlain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        t = (d·(t - T[s+1]·h) + T[s+m+1]) mod q</a:t>
            </a:r>
          </a:p>
        </p:txBody>
      </p:sp>
    </p:spTree>
    <p:extLst>
      <p:ext uri="{BB962C8B-B14F-4D97-AF65-F5344CB8AC3E}">
        <p14:creationId xmlns:p14="http://schemas.microsoft.com/office/powerpoint/2010/main" val="78067067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Rabin-</a:t>
            </a:r>
            <a:r>
              <a:rPr lang="en-ID" dirty="0" err="1"/>
              <a:t>karp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complexity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b="1" dirty="0"/>
              <a:t>Expected: </a:t>
            </a:r>
            <a:r>
              <a:rPr lang="en-US" dirty="0"/>
              <a:t>O(</a:t>
            </a:r>
            <a:r>
              <a:rPr lang="en-US" dirty="0" err="1"/>
              <a:t>n+m</a:t>
            </a:r>
            <a:r>
              <a:rPr lang="en-US" dirty="0"/>
              <a:t>) — assuming the number of spurious hits (hash match without true match) is O(1) per shift with a good random prime.</a:t>
            </a:r>
          </a:p>
          <a:p>
            <a:pPr marL="673100" indent="-571500" algn="just"/>
            <a:r>
              <a:rPr lang="en-US" b="1" dirty="0"/>
              <a:t>Worst case: </a:t>
            </a:r>
            <a:r>
              <a:rPr lang="en-US" dirty="0"/>
              <a:t>O(nm) — if all hashes match (e.g., T = "</a:t>
            </a:r>
            <a:r>
              <a:rPr lang="en-US" dirty="0" err="1"/>
              <a:t>aaa</a:t>
            </a:r>
            <a:r>
              <a:rPr lang="en-US" dirty="0"/>
              <a:t>…a", P = "</a:t>
            </a:r>
            <a:r>
              <a:rPr lang="en-US" dirty="0" err="1"/>
              <a:t>aaa</a:t>
            </a:r>
            <a:r>
              <a:rPr lang="en-US" dirty="0"/>
              <a:t>…a").</a:t>
            </a:r>
          </a:p>
          <a:p>
            <a:pPr marL="101600" indent="0" algn="just">
              <a:buNone/>
            </a:pPr>
            <a:r>
              <a:rPr lang="en-US" b="1" dirty="0"/>
              <a:t>Spurious hit: </a:t>
            </a:r>
            <a:r>
              <a:rPr lang="en-US" dirty="0"/>
              <a:t>a position where the hash matches but the strings do not. With a prime q ~ n², the expected number of spurious hits is O(1) for a single pattern search.</a:t>
            </a:r>
          </a:p>
        </p:txBody>
      </p:sp>
    </p:spTree>
    <p:extLst>
      <p:ext uri="{BB962C8B-B14F-4D97-AF65-F5344CB8AC3E}">
        <p14:creationId xmlns:p14="http://schemas.microsoft.com/office/powerpoint/2010/main" val="129556684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Rabin-</a:t>
            </a:r>
            <a:r>
              <a:rPr lang="en-ID" dirty="0" err="1"/>
              <a:t>karp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complexity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How spurious hits are resolved (CLRS Ch. 32.2, p. 964): </a:t>
            </a:r>
            <a:r>
              <a:rPr lang="en-US" dirty="0"/>
              <a:t>When p == t (hash match) at line 8, the algorithm does not immediately report a match. Instead, line 9 performs a character-by-character comparison T[s+1..s+m] == P[1..m]. This check costs O(m) but occurs only on hash matches — both true matches and spurious hits. Spurious hits are thereby detected and discarded without printing a false result. Only when the character-by-character check confirms equality does the algorithm print a valid match (line 10). This makes Rabin-Karp a Las Vegas algorithm with respect to correctness: it never reports a false positive.</a:t>
            </a:r>
          </a:p>
        </p:txBody>
      </p:sp>
    </p:spTree>
    <p:extLst>
      <p:ext uri="{BB962C8B-B14F-4D97-AF65-F5344CB8AC3E}">
        <p14:creationId xmlns:p14="http://schemas.microsoft.com/office/powerpoint/2010/main" val="36978176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Rabin-</a:t>
            </a:r>
            <a:r>
              <a:rPr lang="en-ID" dirty="0" err="1"/>
              <a:t>karp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Rabin-Karp as Randomized Hashing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Choosing q as a random prime makes Rabin-Karp a Monte Carlo algorithm: it may produce false matches, but the probability is negligible. This directly applies the randomized hashing ideas from Session 10.</a:t>
            </a:r>
          </a:p>
          <a:p>
            <a:pPr marL="101600" indent="0" algn="just">
              <a:buNone/>
            </a:pPr>
            <a:r>
              <a:rPr lang="en-US" b="1" dirty="0"/>
              <a:t>Advantage of Rabin-Karp: </a:t>
            </a:r>
            <a:r>
              <a:rPr lang="en-US" dirty="0"/>
              <a:t>extends naturally to 2D pattern matching (searching for a pattern in a grid) and to searching for multiple patterns simultaneously using a hash set.</a:t>
            </a:r>
          </a:p>
        </p:txBody>
      </p:sp>
    </p:spTree>
    <p:extLst>
      <p:ext uri="{BB962C8B-B14F-4D97-AF65-F5344CB8AC3E}">
        <p14:creationId xmlns:p14="http://schemas.microsoft.com/office/powerpoint/2010/main" val="121786056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String Matching Algorithms</a:t>
            </a:r>
            <a:endParaRPr lang="en-ID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772958323"/>
              </p:ext>
            </p:extLst>
          </p:nvPr>
        </p:nvGraphicFramePr>
        <p:xfrm>
          <a:off x="2166938" y="3714750"/>
          <a:ext cx="19032540" cy="7410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2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2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2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2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8928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Preprocessing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Matching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Worst</a:t>
                      </a:r>
                      <a:r>
                        <a:rPr lang="en-US" sz="3200" b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Case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Space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028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Naïve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O(nm)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O(nm)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Simple; fast for short patterns or random text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0282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KMP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O(m)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n+m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O(m)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Deterministic; excellent for long patterns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0958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Rabin-Karp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O(m)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 expected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O(nm)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Good for multiple patterns; 2D search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51051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String Matching Algorithms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When to use which:</a:t>
            </a:r>
          </a:p>
          <a:p>
            <a:pPr marL="673100" indent="-571500" algn="just"/>
            <a:r>
              <a:rPr lang="en-US" b="1" dirty="0"/>
              <a:t>Naive: </a:t>
            </a:r>
            <a:r>
              <a:rPr lang="en-US" dirty="0"/>
              <a:t>m is very short (&lt; 10), or text is random.</a:t>
            </a:r>
          </a:p>
          <a:p>
            <a:pPr marL="673100" indent="-571500" algn="just"/>
            <a:r>
              <a:rPr lang="en-US" b="1" dirty="0"/>
              <a:t>KMP: </a:t>
            </a:r>
            <a:r>
              <a:rPr lang="en-US" dirty="0"/>
              <a:t>guaranteed O(</a:t>
            </a:r>
            <a:r>
              <a:rPr lang="en-US" dirty="0" err="1"/>
              <a:t>n+m</a:t>
            </a:r>
            <a:r>
              <a:rPr lang="en-US" dirty="0"/>
              <a:t>); best general-purpose single-pattern matcher.</a:t>
            </a:r>
          </a:p>
          <a:p>
            <a:pPr marL="673100" indent="-571500" algn="just"/>
            <a:r>
              <a:rPr lang="en-US" b="1" dirty="0"/>
              <a:t>Rabin-Karp: </a:t>
            </a:r>
            <a:r>
              <a:rPr lang="en-US" dirty="0"/>
              <a:t>multiple patterns, 2D search, or when hashing infrastructure is already in place.</a:t>
            </a:r>
          </a:p>
        </p:txBody>
      </p:sp>
    </p:spTree>
    <p:extLst>
      <p:ext uri="{BB962C8B-B14F-4D97-AF65-F5344CB8AC3E}">
        <p14:creationId xmlns:p14="http://schemas.microsoft.com/office/powerpoint/2010/main" val="304443599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Exam scope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For this course: </a:t>
            </a:r>
            <a:r>
              <a:rPr lang="en-US" b="1" dirty="0"/>
              <a:t>LO 1 </a:t>
            </a:r>
            <a:r>
              <a:rPr lang="en-US" dirty="0"/>
              <a:t>(complexity analysis of all three algorithms) and </a:t>
            </a:r>
            <a:r>
              <a:rPr lang="en-US" b="1" dirty="0"/>
              <a:t>LO 3 </a:t>
            </a:r>
            <a:r>
              <a:rPr lang="en-US" dirty="0"/>
              <a:t>(selecting the right algorithm given problem constraints). Implementation details of KMP failure function construction are examinable; detailed proofs of Rabin-Karp randomized analysis are not.</a:t>
            </a:r>
          </a:p>
        </p:txBody>
      </p:sp>
    </p:spTree>
    <p:extLst>
      <p:ext uri="{BB962C8B-B14F-4D97-AF65-F5344CB8AC3E}">
        <p14:creationId xmlns:p14="http://schemas.microsoft.com/office/powerpoint/2010/main" val="239453775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b="1" dirty="0"/>
              <a:t>Naive: </a:t>
            </a:r>
            <a:r>
              <a:rPr lang="en-US" dirty="0"/>
              <a:t>O(nm) worst case; simple but inefficient for adversarial inputs.</a:t>
            </a:r>
          </a:p>
          <a:p>
            <a:pPr marL="673100" indent="-571500" algn="just"/>
            <a:r>
              <a:rPr lang="en-US" b="1" dirty="0"/>
              <a:t>KMP: </a:t>
            </a:r>
            <a:r>
              <a:rPr lang="en-US" dirty="0"/>
              <a:t>O(m) preprocessing via failure function; O(n) matching; total O(</a:t>
            </a:r>
            <a:r>
              <a:rPr lang="en-US" dirty="0" err="1"/>
              <a:t>n+m</a:t>
            </a:r>
            <a:r>
              <a:rPr lang="en-US" dirty="0"/>
              <a:t>) — optimal.</a:t>
            </a:r>
          </a:p>
          <a:p>
            <a:pPr marL="673100" indent="-571500" algn="just"/>
            <a:r>
              <a:rPr lang="en-US" b="1" dirty="0"/>
              <a:t>Rabin-Karp: </a:t>
            </a:r>
            <a:r>
              <a:rPr lang="en-US" dirty="0"/>
              <a:t>O(m) preprocessing; O(n) expected matching via rolling hash; O(nm) worst case.</a:t>
            </a:r>
          </a:p>
          <a:p>
            <a:pPr marL="673100" indent="-571500" algn="just"/>
            <a:r>
              <a:rPr lang="en-US" dirty="0"/>
              <a:t>KMP is preferred for guaranteed efficiency; Rabin-Karp for multi-pattern search.</a:t>
            </a:r>
          </a:p>
        </p:txBody>
      </p:sp>
    </p:spTree>
    <p:extLst>
      <p:ext uri="{BB962C8B-B14F-4D97-AF65-F5344CB8AC3E}">
        <p14:creationId xmlns:p14="http://schemas.microsoft.com/office/powerpoint/2010/main" val="264789889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4624"/>
            <a:ext cx="19032265" cy="9138176"/>
          </a:xfrm>
        </p:spPr>
        <p:txBody>
          <a:bodyPr>
            <a:normAutofit/>
          </a:bodyPr>
          <a:lstStyle/>
          <a:p>
            <a:pPr marL="844550" algn="just">
              <a:buFont typeface="+mj-lt"/>
              <a:buAutoNum type="arabicPeriod"/>
            </a:pPr>
            <a:r>
              <a:rPr lang="en-US" dirty="0"/>
              <a:t>Run NAIVE-STRING-MATCHER for T = "AABAACAADAABAABA" and P = "AABA". List all shifts where a match occurs.</a:t>
            </a:r>
          </a:p>
          <a:p>
            <a:pPr marL="844550" algn="just">
              <a:buFont typeface="+mj-lt"/>
              <a:buAutoNum type="arabicPeriod"/>
            </a:pPr>
            <a:r>
              <a:rPr lang="en-US" dirty="0"/>
              <a:t>Compute the KMP failure function for P = "</a:t>
            </a:r>
            <a:r>
              <a:rPr lang="en-US" dirty="0" err="1"/>
              <a:t>abcabcacab</a:t>
            </a:r>
            <a:r>
              <a:rPr lang="en-US" dirty="0"/>
              <a:t>".</a:t>
            </a:r>
          </a:p>
          <a:p>
            <a:pPr marL="844550" algn="just">
              <a:buFont typeface="+mj-lt"/>
              <a:buAutoNum type="arabicPeriod"/>
            </a:pPr>
            <a:r>
              <a:rPr lang="en-US" dirty="0"/>
              <a:t>Trace KMP-MATCHER for T = "</a:t>
            </a:r>
            <a:r>
              <a:rPr lang="en-US" dirty="0" err="1"/>
              <a:t>abababcab</a:t>
            </a:r>
            <a:r>
              <a:rPr lang="en-US" dirty="0"/>
              <a:t>" and P = "</a:t>
            </a:r>
            <a:r>
              <a:rPr lang="en-US" dirty="0" err="1"/>
              <a:t>ababc</a:t>
            </a:r>
            <a:r>
              <a:rPr lang="en-US" dirty="0"/>
              <a:t>". Show q at each step.</a:t>
            </a:r>
          </a:p>
          <a:p>
            <a:pPr marL="844550" algn="just">
              <a:buFont typeface="+mj-lt"/>
              <a:buAutoNum type="arabicPeriod"/>
            </a:pPr>
            <a:r>
              <a:rPr lang="en-US" dirty="0"/>
              <a:t>In Rabin-Karp, why is a spurious hit not detected as a false match by the algorithm? How is it handled?</a:t>
            </a:r>
          </a:p>
          <a:p>
            <a:pPr marL="844550" algn="just">
              <a:buFont typeface="+mj-lt"/>
              <a:buAutoNum type="arabicPeriod"/>
            </a:pPr>
            <a:r>
              <a:rPr lang="en-US" dirty="0"/>
              <a:t>(Analysis) What is the time complexity of searching for k different patterns of total length L in a text of length n using Rabin-Karp with a hash set? Compare to running KMP k times.</a:t>
            </a:r>
          </a:p>
        </p:txBody>
      </p:sp>
    </p:spTree>
    <p:extLst>
      <p:ext uri="{BB962C8B-B14F-4D97-AF65-F5344CB8AC3E}">
        <p14:creationId xmlns:p14="http://schemas.microsoft.com/office/powerpoint/2010/main" val="10280659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7490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Primary (Required): </a:t>
            </a:r>
            <a:r>
              <a:rPr lang="en-US" dirty="0" err="1"/>
              <a:t>Cormen</a:t>
            </a:r>
            <a:r>
              <a:rPr lang="en-US" dirty="0"/>
              <a:t>, T.H., </a:t>
            </a:r>
            <a:r>
              <a:rPr lang="en-US" dirty="0" err="1"/>
              <a:t>Leiserson</a:t>
            </a:r>
            <a:r>
              <a:rPr lang="en-US" dirty="0"/>
              <a:t>, C.E., </a:t>
            </a:r>
            <a:r>
              <a:rPr lang="en-US" dirty="0" err="1"/>
              <a:t>Rivest</a:t>
            </a:r>
            <a:r>
              <a:rPr lang="en-US" dirty="0"/>
              <a:t>, R.L., &amp; Stein, C. (2022). Introduction to Algorithms, 4th Edition. MIT Press.</a:t>
            </a:r>
          </a:p>
          <a:p>
            <a:pPr marL="673100" indent="-571500" algn="just"/>
            <a:r>
              <a:rPr lang="en-US" dirty="0"/>
              <a:t>Ch. 32.1 — The Naive String-Matching Algorithm (p. 960)</a:t>
            </a:r>
          </a:p>
          <a:p>
            <a:pPr marL="673100" indent="-571500" algn="just"/>
            <a:r>
              <a:rPr lang="en-US" dirty="0"/>
              <a:t>Ch. 32.2 — The Rabin-Karp Algorithm (p. 962)</a:t>
            </a:r>
          </a:p>
          <a:p>
            <a:pPr marL="673100" indent="-571500" algn="just"/>
            <a:r>
              <a:rPr lang="en-US" dirty="0"/>
              <a:t>Ch. 32.4 — The Knuth-Morris-Pratt Algorithm (p. 975)</a:t>
            </a:r>
          </a:p>
          <a:p>
            <a:pPr marL="101600" indent="0" algn="just">
              <a:buNone/>
            </a:pPr>
            <a:r>
              <a:rPr lang="en-US" b="1" dirty="0"/>
              <a:t>Secondary (Required): </a:t>
            </a:r>
            <a:r>
              <a:rPr lang="en-US" dirty="0" err="1"/>
              <a:t>Skiena</a:t>
            </a:r>
            <a:r>
              <a:rPr lang="en-US" dirty="0"/>
              <a:t>, S.S. (2020). The Algorithm Design Manual, 3rd Edition. Springer.</a:t>
            </a:r>
          </a:p>
          <a:p>
            <a:pPr marL="673100" indent="-571500" algn="just"/>
            <a:r>
              <a:rPr lang="en-US" dirty="0"/>
              <a:t>Ch. 6.7 — Efficient String Matching (p. 188)</a:t>
            </a:r>
          </a:p>
          <a:p>
            <a:pPr marL="673100" indent="-571500" algn="just"/>
            <a:r>
              <a:rPr lang="en-US" dirty="0"/>
              <a:t>Ch. 21.3 — String Matching (p. 685)</a:t>
            </a:r>
          </a:p>
        </p:txBody>
      </p:sp>
    </p:spTree>
    <p:extLst>
      <p:ext uri="{BB962C8B-B14F-4D97-AF65-F5344CB8AC3E}">
        <p14:creationId xmlns:p14="http://schemas.microsoft.com/office/powerpoint/2010/main" val="83544849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5276</TotalTime>
  <Words>2380</Words>
  <Application>Microsoft Office PowerPoint</Application>
  <PresentationFormat>Custom</PresentationFormat>
  <Paragraphs>259</Paragraphs>
  <Slides>28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21_BasicWhite</vt:lpstr>
      <vt:lpstr>String Matching: Naive, KMP &amp; Rabin-Karp</vt:lpstr>
      <vt:lpstr>Learning Outcomes</vt:lpstr>
      <vt:lpstr>Session Outcomes</vt:lpstr>
      <vt:lpstr>Session covered</vt:lpstr>
      <vt:lpstr>Naive string matching</vt:lpstr>
      <vt:lpstr>Naive string matching</vt:lpstr>
      <vt:lpstr>Naive string matching</vt:lpstr>
      <vt:lpstr>KMP algorithm</vt:lpstr>
      <vt:lpstr>KMP algorithm</vt:lpstr>
      <vt:lpstr>KMP algorithm</vt:lpstr>
      <vt:lpstr>KMP algorithm</vt:lpstr>
      <vt:lpstr>KMP algorithm</vt:lpstr>
      <vt:lpstr>KMP algorithm</vt:lpstr>
      <vt:lpstr>KMP algorithm</vt:lpstr>
      <vt:lpstr>KMP algorithm</vt:lpstr>
      <vt:lpstr>KMP algorithm</vt:lpstr>
      <vt:lpstr>KMP algorithm</vt:lpstr>
      <vt:lpstr>Rabin-karp algorithm</vt:lpstr>
      <vt:lpstr>Rabin-karp algorithm</vt:lpstr>
      <vt:lpstr>Rabin-karp algorithm</vt:lpstr>
      <vt:lpstr>Rabin-karp algorithm</vt:lpstr>
      <vt:lpstr>Rabin-karp algorithm</vt:lpstr>
      <vt:lpstr>Comparison of String Matching Algorithms</vt:lpstr>
      <vt:lpstr>Comparison of String Matching Algorithms</vt:lpstr>
      <vt:lpstr>Exam scope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lenovo</cp:lastModifiedBy>
  <cp:revision>104</cp:revision>
  <dcterms:created xsi:type="dcterms:W3CDTF">2023-11-17T02:51:40Z</dcterms:created>
  <dcterms:modified xsi:type="dcterms:W3CDTF">2026-06-30T09:32:01Z</dcterms:modified>
</cp:coreProperties>
</file>