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308" r:id="rId4"/>
    <p:sldId id="258" r:id="rId5"/>
    <p:sldId id="259" r:id="rId6"/>
    <p:sldId id="358" r:id="rId7"/>
    <p:sldId id="347" r:id="rId8"/>
    <p:sldId id="348" r:id="rId9"/>
    <p:sldId id="359" r:id="rId10"/>
    <p:sldId id="339" r:id="rId11"/>
    <p:sldId id="340" r:id="rId12"/>
    <p:sldId id="349" r:id="rId13"/>
    <p:sldId id="351" r:id="rId14"/>
    <p:sldId id="352" r:id="rId15"/>
    <p:sldId id="350" r:id="rId16"/>
    <p:sldId id="336" r:id="rId17"/>
    <p:sldId id="353" r:id="rId18"/>
    <p:sldId id="354" r:id="rId19"/>
    <p:sldId id="337" r:id="rId20"/>
    <p:sldId id="355" r:id="rId21"/>
    <p:sldId id="356" r:id="rId22"/>
    <p:sldId id="338" r:id="rId23"/>
    <p:sldId id="357" r:id="rId24"/>
    <p:sldId id="334" r:id="rId25"/>
    <p:sldId id="335" r:id="rId26"/>
    <p:sldId id="278" r:id="rId27"/>
  </p:sldIdLst>
  <p:sldSz cx="24384000" cy="13716000"/>
  <p:notesSz cx="6858000" cy="9144000"/>
  <p:embeddedFontLst>
    <p:embeddedFont>
      <p:font typeface="Cambria Math" panose="02040503050406030204" pitchFamily="18" charset="0"/>
      <p:regular r:id="rId29"/>
    </p:embeddedFont>
    <p:embeddedFont>
      <p:font typeface="OCRB" panose="020B0609020202020204" pitchFamily="49" charset="0"/>
      <p:regular r:id="rId30"/>
    </p:embeddedFont>
    <p:embeddedFont>
      <p:font typeface="Open Sans ExtraBold" panose="020B0906030804020204" pitchFamily="34" charset="0"/>
      <p:bold r:id="rId31"/>
      <p:italic r:id="rId32"/>
      <p:boldItalic r:id="rId33"/>
    </p:embeddedFont>
    <p:embeddedFont>
      <p:font typeface="Open Sans Light" panose="020B0306030504020204" pitchFamily="34" charset="0"/>
      <p:regular r:id="rId34"/>
      <p:italic r:id="rId35"/>
    </p:embeddedFont>
    <p:embeddedFont>
      <p:font typeface="Tahoma" panose="020B0604030504040204" pitchFamily="34" charset="0"/>
      <p:regular r:id="rId36"/>
      <p:bold r:id="rId37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7D6"/>
    <a:srgbClr val="212121"/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6" dt="2026-08-21T04:34:03.824"/>
    <p1510:client id="{03AD75A1-D632-E95E-7173-6A39A9D7917F}" v="11" dt="2026-08-21T04:31:25.093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2" autoAdjust="0"/>
    <p:restoredTop sz="95584"/>
  </p:normalViewPr>
  <p:slideViewPr>
    <p:cSldViewPr snapToGrid="0" snapToObjects="1">
      <p:cViewPr varScale="1">
        <p:scale>
          <a:sx n="32" d="100"/>
          <a:sy n="32" d="100"/>
        </p:scale>
        <p:origin x="688" y="2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ita Ananda Putri Masaling" userId="S::nikita.masaling001@binus.ac.id::a17153e9-cd41-4a4e-afcd-ddb53d92623c" providerId="AD" clId="Web-{03AD75A1-D632-E95E-7173-6A39A9D7917F}"/>
    <pc:docChg chg="modSld">
      <pc:chgData name="Nikita Ananda Putri Masaling" userId="S::nikita.masaling001@binus.ac.id::a17153e9-cd41-4a4e-afcd-ddb53d92623c" providerId="AD" clId="Web-{03AD75A1-D632-E95E-7173-6A39A9D7917F}" dt="2026-08-21T04:31:25.093" v="10"/>
      <pc:docMkLst>
        <pc:docMk/>
      </pc:docMkLst>
      <pc:sldChg chg="addSp delSp modSp">
        <pc:chgData name="Nikita Ananda Putri Masaling" userId="S::nikita.masaling001@binus.ac.id::a17153e9-cd41-4a4e-afcd-ddb53d92623c" providerId="AD" clId="Web-{03AD75A1-D632-E95E-7173-6A39A9D7917F}" dt="2026-08-21T04:31:21.031" v="8"/>
        <pc:sldMkLst>
          <pc:docMk/>
          <pc:sldMk cId="919961170" sldId="339"/>
        </pc:sldMkLst>
        <pc:spChg chg="del">
          <ac:chgData name="Nikita Ananda Putri Masaling" userId="S::nikita.masaling001@binus.ac.id::a17153e9-cd41-4a4e-afcd-ddb53d92623c" providerId="AD" clId="Web-{03AD75A1-D632-E95E-7173-6A39A9D7917F}" dt="2026-08-21T04:31:21.031" v="8"/>
          <ac:spMkLst>
            <pc:docMk/>
            <pc:sldMk cId="919961170" sldId="339"/>
            <ac:spMk id="2" creationId="{28C574EF-82B9-B4AE-D1C7-EF1C1132E1AC}"/>
          </ac:spMkLst>
        </pc:spChg>
        <pc:spChg chg="del">
          <ac:chgData name="Nikita Ananda Putri Masaling" userId="S::nikita.masaling001@binus.ac.id::a17153e9-cd41-4a4e-afcd-ddb53d92623c" providerId="AD" clId="Web-{03AD75A1-D632-E95E-7173-6A39A9D7917F}" dt="2026-08-21T04:31:20.781" v="7"/>
          <ac:spMkLst>
            <pc:docMk/>
            <pc:sldMk cId="919961170" sldId="339"/>
            <ac:spMk id="3" creationId="{43B3FC1F-9E5F-0132-BE64-9D4C871C3555}"/>
          </ac:spMkLst>
        </pc:spChg>
        <pc:spChg chg="add mod">
          <ac:chgData name="Nikita Ananda Putri Masaling" userId="S::nikita.masaling001@binus.ac.id::a17153e9-cd41-4a4e-afcd-ddb53d92623c" providerId="AD" clId="Web-{03AD75A1-D632-E95E-7173-6A39A9D7917F}" dt="2026-08-21T04:31:20.781" v="7"/>
          <ac:spMkLst>
            <pc:docMk/>
            <pc:sldMk cId="919961170" sldId="339"/>
            <ac:spMk id="5" creationId="{A706A5D9-A9B8-E9C4-6629-6D859ADD8593}"/>
          </ac:spMkLst>
        </pc:spChg>
        <pc:spChg chg="add mod">
          <ac:chgData name="Nikita Ananda Putri Masaling" userId="S::nikita.masaling001@binus.ac.id::a17153e9-cd41-4a4e-afcd-ddb53d92623c" providerId="AD" clId="Web-{03AD75A1-D632-E95E-7173-6A39A9D7917F}" dt="2026-08-21T04:31:21.031" v="8"/>
          <ac:spMkLst>
            <pc:docMk/>
            <pc:sldMk cId="919961170" sldId="339"/>
            <ac:spMk id="8" creationId="{31822598-FDA4-078A-921F-5F3C03E30191}"/>
          </ac:spMkLst>
        </pc:spChg>
      </pc:sldChg>
      <pc:sldChg chg="addSp delSp modSp">
        <pc:chgData name="Nikita Ananda Putri Masaling" userId="S::nikita.masaling001@binus.ac.id::a17153e9-cd41-4a4e-afcd-ddb53d92623c" providerId="AD" clId="Web-{03AD75A1-D632-E95E-7173-6A39A9D7917F}" dt="2026-08-21T04:31:25.093" v="10"/>
        <pc:sldMkLst>
          <pc:docMk/>
          <pc:sldMk cId="3512850257" sldId="340"/>
        </pc:sldMkLst>
        <pc:spChg chg="del">
          <ac:chgData name="Nikita Ananda Putri Masaling" userId="S::nikita.masaling001@binus.ac.id::a17153e9-cd41-4a4e-afcd-ddb53d92623c" providerId="AD" clId="Web-{03AD75A1-D632-E95E-7173-6A39A9D7917F}" dt="2026-08-21T04:31:25.093" v="10"/>
          <ac:spMkLst>
            <pc:docMk/>
            <pc:sldMk cId="3512850257" sldId="340"/>
            <ac:spMk id="2" creationId="{B1A1028F-F07F-E2C9-2CD3-0EF601163679}"/>
          </ac:spMkLst>
        </pc:spChg>
        <pc:spChg chg="del">
          <ac:chgData name="Nikita Ananda Putri Masaling" userId="S::nikita.masaling001@binus.ac.id::a17153e9-cd41-4a4e-afcd-ddb53d92623c" providerId="AD" clId="Web-{03AD75A1-D632-E95E-7173-6A39A9D7917F}" dt="2026-08-21T04:31:24.906" v="9"/>
          <ac:spMkLst>
            <pc:docMk/>
            <pc:sldMk cId="3512850257" sldId="340"/>
            <ac:spMk id="3" creationId="{48F81585-96F8-FAA5-A544-7ECF489D987F}"/>
          </ac:spMkLst>
        </pc:spChg>
        <pc:spChg chg="add mod">
          <ac:chgData name="Nikita Ananda Putri Masaling" userId="S::nikita.masaling001@binus.ac.id::a17153e9-cd41-4a4e-afcd-ddb53d92623c" providerId="AD" clId="Web-{03AD75A1-D632-E95E-7173-6A39A9D7917F}" dt="2026-08-21T04:31:24.906" v="9"/>
          <ac:spMkLst>
            <pc:docMk/>
            <pc:sldMk cId="3512850257" sldId="340"/>
            <ac:spMk id="5" creationId="{1B6C327D-D174-4218-DAEF-D64610C9B0A3}"/>
          </ac:spMkLst>
        </pc:spChg>
        <pc:spChg chg="add mod">
          <ac:chgData name="Nikita Ananda Putri Masaling" userId="S::nikita.masaling001@binus.ac.id::a17153e9-cd41-4a4e-afcd-ddb53d92623c" providerId="AD" clId="Web-{03AD75A1-D632-E95E-7173-6A39A9D7917F}" dt="2026-08-21T04:31:25.093" v="10"/>
          <ac:spMkLst>
            <pc:docMk/>
            <pc:sldMk cId="3512850257" sldId="340"/>
            <ac:spMk id="8" creationId="{485DAC79-1671-8123-D505-95A100D09EF9}"/>
          </ac:spMkLst>
        </pc:spChg>
      </pc:sldChg>
      <pc:sldChg chg="addSp delSp modSp">
        <pc:chgData name="Nikita Ananda Putri Masaling" userId="S::nikita.masaling001@binus.ac.id::a17153e9-cd41-4a4e-afcd-ddb53d92623c" providerId="AD" clId="Web-{03AD75A1-D632-E95E-7173-6A39A9D7917F}" dt="2026-08-21T04:31:12.249" v="6" actId="20577"/>
        <pc:sldMkLst>
          <pc:docMk/>
          <pc:sldMk cId="2434872210" sldId="359"/>
        </pc:sldMkLst>
        <pc:spChg chg="add mod">
          <ac:chgData name="Nikita Ananda Putri Masaling" userId="S::nikita.masaling001@binus.ac.id::a17153e9-cd41-4a4e-afcd-ddb53d92623c" providerId="AD" clId="Web-{03AD75A1-D632-E95E-7173-6A39A9D7917F}" dt="2026-08-21T04:31:06.827" v="2"/>
          <ac:spMkLst>
            <pc:docMk/>
            <pc:sldMk cId="2434872210" sldId="359"/>
            <ac:spMk id="3" creationId="{42EC7825-7B44-AC4F-8A67-195005E07582}"/>
          </ac:spMkLst>
        </pc:spChg>
        <pc:spChg chg="del">
          <ac:chgData name="Nikita Ananda Putri Masaling" userId="S::nikita.masaling001@binus.ac.id::a17153e9-cd41-4a4e-afcd-ddb53d92623c" providerId="AD" clId="Web-{03AD75A1-D632-E95E-7173-6A39A9D7917F}" dt="2026-08-21T04:31:00.249" v="1"/>
          <ac:spMkLst>
            <pc:docMk/>
            <pc:sldMk cId="2434872210" sldId="359"/>
            <ac:spMk id="5" creationId="{93CCAEA7-A231-2F0A-25E2-E19E3CCD332D}"/>
          </ac:spMkLst>
        </pc:spChg>
        <pc:spChg chg="add mod">
          <ac:chgData name="Nikita Ananda Putri Masaling" userId="S::nikita.masaling001@binus.ac.id::a17153e9-cd41-4a4e-afcd-ddb53d92623c" providerId="AD" clId="Web-{03AD75A1-D632-E95E-7173-6A39A9D7917F}" dt="2026-08-21T04:31:12.249" v="6" actId="20577"/>
          <ac:spMkLst>
            <pc:docMk/>
            <pc:sldMk cId="2434872210" sldId="359"/>
            <ac:spMk id="6" creationId="{90F53DAC-3E06-CED8-5ECE-A179F5350DE2}"/>
          </ac:spMkLst>
        </pc:spChg>
        <pc:spChg chg="del">
          <ac:chgData name="Nikita Ananda Putri Masaling" userId="S::nikita.masaling001@binus.ac.id::a17153e9-cd41-4a4e-afcd-ddb53d92623c" providerId="AD" clId="Web-{03AD75A1-D632-E95E-7173-6A39A9D7917F}" dt="2026-08-21T04:31:00.249" v="0"/>
          <ac:spMkLst>
            <pc:docMk/>
            <pc:sldMk cId="2434872210" sldId="359"/>
            <ac:spMk id="9" creationId="{B638EA11-9215-C530-BF5B-730E295F85DA}"/>
          </ac:spMkLst>
        </pc:spChg>
      </pc:sldChg>
    </pc:docChg>
  </pc:docChgLst>
  <pc:docChgLst>
    <pc:chgData name="Nikita Ananda Putri Masaling" userId="S::nikita.masaling001@binus.ac.id::a17153e9-cd41-4a4e-afcd-ddb53d92623c" providerId="AD" clId="Web-{00000000-0000-0000-0000-000000000000}"/>
    <pc:docChg chg="addSld modSld">
      <pc:chgData name="Nikita Ananda Putri Masaling" userId="S::nikita.masaling001@binus.ac.id::a17153e9-cd41-4a4e-afcd-ddb53d92623c" providerId="AD" clId="Web-{00000000-0000-0000-0000-000000000000}" dt="2026-08-21T04:34:03.824" v="35" actId="1076"/>
      <pc:docMkLst>
        <pc:docMk/>
      </pc:docMkLst>
      <pc:sldChg chg="modSp">
        <pc:chgData name="Nikita Ananda Putri Masaling" userId="S::nikita.masaling001@binus.ac.id::a17153e9-cd41-4a4e-afcd-ddb53d92623c" providerId="AD" clId="Web-{00000000-0000-0000-0000-000000000000}" dt="2026-08-21T04:34:03.824" v="35" actId="1076"/>
        <pc:sldMkLst>
          <pc:docMk/>
          <pc:sldMk cId="3807564589" sldId="256"/>
        </pc:sldMkLst>
        <pc:spChg chg="mod">
          <ac:chgData name="Nikita Ananda Putri Masaling" userId="S::nikita.masaling001@binus.ac.id::a17153e9-cd41-4a4e-afcd-ddb53d92623c" providerId="AD" clId="Web-{00000000-0000-0000-0000-000000000000}" dt="2026-08-21T04:34:03.824" v="35" actId="1076"/>
          <ac:spMkLst>
            <pc:docMk/>
            <pc:sldMk cId="3807564589" sldId="256"/>
            <ac:spMk id="4" creationId="{319DA326-32BB-7EBF-F49C-D0308881B79F}"/>
          </ac:spMkLst>
        </pc:spChg>
      </pc:sldChg>
      <pc:sldChg chg="addSp delSp modSp add">
        <pc:chgData name="Nikita Ananda Putri Masaling" userId="S::nikita.masaling001@binus.ac.id::a17153e9-cd41-4a4e-afcd-ddb53d92623c" providerId="AD" clId="Web-{00000000-0000-0000-0000-000000000000}" dt="2026-08-21T04:32:17.948" v="11"/>
        <pc:sldMkLst>
          <pc:docMk/>
          <pc:sldMk cId="919961170" sldId="339"/>
        </pc:sldMkLst>
        <pc:spChg chg="del">
          <ac:chgData name="Nikita Ananda Putri Masaling" userId="S::nikita.masaling001@binus.ac.id::a17153e9-cd41-4a4e-afcd-ddb53d92623c" providerId="AD" clId="Web-{00000000-0000-0000-0000-000000000000}" dt="2026-08-21T04:31:59.104" v="6"/>
          <ac:spMkLst>
            <pc:docMk/>
            <pc:sldMk cId="919961170" sldId="339"/>
            <ac:spMk id="5" creationId="{A706A5D9-A9B8-E9C4-6629-6D859ADD8593}"/>
          </ac:spMkLst>
        </pc:spChg>
        <pc:spChg chg="add mod">
          <ac:chgData name="Nikita Ananda Putri Masaling" userId="S::nikita.masaling001@binus.ac.id::a17153e9-cd41-4a4e-afcd-ddb53d92623c" providerId="AD" clId="Web-{00000000-0000-0000-0000-000000000000}" dt="2026-08-21T04:32:17.948" v="10"/>
          <ac:spMkLst>
            <pc:docMk/>
            <pc:sldMk cId="919961170" sldId="339"/>
            <ac:spMk id="6" creationId="{0200E223-9906-496D-1492-3D3BC19BDDC3}"/>
          </ac:spMkLst>
        </pc:spChg>
        <pc:spChg chg="add del">
          <ac:chgData name="Nikita Ananda Putri Masaling" userId="S::nikita.masaling001@binus.ac.id::a17153e9-cd41-4a4e-afcd-ddb53d92623c" providerId="AD" clId="Web-{00000000-0000-0000-0000-000000000000}" dt="2026-08-21T04:32:11.479" v="9"/>
          <ac:spMkLst>
            <pc:docMk/>
            <pc:sldMk cId="919961170" sldId="339"/>
            <ac:spMk id="8" creationId="{31822598-FDA4-078A-921F-5F3C03E30191}"/>
          </ac:spMkLst>
        </pc:spChg>
        <pc:spChg chg="add mod">
          <ac:chgData name="Nikita Ananda Putri Masaling" userId="S::nikita.masaling001@binus.ac.id::a17153e9-cd41-4a4e-afcd-ddb53d92623c" providerId="AD" clId="Web-{00000000-0000-0000-0000-000000000000}" dt="2026-08-21T04:32:17.948" v="11"/>
          <ac:spMkLst>
            <pc:docMk/>
            <pc:sldMk cId="919961170" sldId="339"/>
            <ac:spMk id="10" creationId="{8AA447C0-4ABE-9704-C66C-BC32B911E61C}"/>
          </ac:spMkLst>
        </pc:spChg>
      </pc:sldChg>
      <pc:sldChg chg="addSp delSp modSp add">
        <pc:chgData name="Nikita Ananda Putri Masaling" userId="S::nikita.masaling001@binus.ac.id::a17153e9-cd41-4a4e-afcd-ddb53d92623c" providerId="AD" clId="Web-{00000000-0000-0000-0000-000000000000}" dt="2026-08-21T04:32:27.026" v="15"/>
        <pc:sldMkLst>
          <pc:docMk/>
          <pc:sldMk cId="3512850257" sldId="340"/>
        </pc:sldMkLst>
        <pc:spChg chg="del">
          <ac:chgData name="Nikita Ananda Putri Masaling" userId="S::nikita.masaling001@binus.ac.id::a17153e9-cd41-4a4e-afcd-ddb53d92623c" providerId="AD" clId="Web-{00000000-0000-0000-0000-000000000000}" dt="2026-08-21T04:32:25.620" v="13"/>
          <ac:spMkLst>
            <pc:docMk/>
            <pc:sldMk cId="3512850257" sldId="340"/>
            <ac:spMk id="5" creationId="{1B6C327D-D174-4218-DAEF-D64610C9B0A3}"/>
          </ac:spMkLst>
        </pc:spChg>
        <pc:spChg chg="add mod">
          <ac:chgData name="Nikita Ananda Putri Masaling" userId="S::nikita.masaling001@binus.ac.id::a17153e9-cd41-4a4e-afcd-ddb53d92623c" providerId="AD" clId="Web-{00000000-0000-0000-0000-000000000000}" dt="2026-08-21T04:32:27.011" v="14"/>
          <ac:spMkLst>
            <pc:docMk/>
            <pc:sldMk cId="3512850257" sldId="340"/>
            <ac:spMk id="6" creationId="{A1B7D018-3BA1-97D8-FB43-2E23DB127D7E}"/>
          </ac:spMkLst>
        </pc:spChg>
        <pc:spChg chg="del">
          <ac:chgData name="Nikita Ananda Putri Masaling" userId="S::nikita.masaling001@binus.ac.id::a17153e9-cd41-4a4e-afcd-ddb53d92623c" providerId="AD" clId="Web-{00000000-0000-0000-0000-000000000000}" dt="2026-08-21T04:32:25.620" v="12"/>
          <ac:spMkLst>
            <pc:docMk/>
            <pc:sldMk cId="3512850257" sldId="340"/>
            <ac:spMk id="8" creationId="{485DAC79-1671-8123-D505-95A100D09EF9}"/>
          </ac:spMkLst>
        </pc:spChg>
        <pc:spChg chg="add mod">
          <ac:chgData name="Nikita Ananda Putri Masaling" userId="S::nikita.masaling001@binus.ac.id::a17153e9-cd41-4a4e-afcd-ddb53d92623c" providerId="AD" clId="Web-{00000000-0000-0000-0000-000000000000}" dt="2026-08-21T04:32:27.026" v="15"/>
          <ac:spMkLst>
            <pc:docMk/>
            <pc:sldMk cId="3512850257" sldId="340"/>
            <ac:spMk id="10" creationId="{AFC37B70-07D1-D01B-79CD-7D110E20FAB3}"/>
          </ac:spMkLst>
        </pc:spChg>
      </pc:sldChg>
      <pc:sldChg chg="add">
        <pc:chgData name="Nikita Ananda Putri Masaling" userId="S::nikita.masaling001@binus.ac.id::a17153e9-cd41-4a4e-afcd-ddb53d92623c" providerId="AD" clId="Web-{00000000-0000-0000-0000-000000000000}" dt="2026-08-21T04:27:25.890" v="0"/>
        <pc:sldMkLst>
          <pc:docMk/>
          <pc:sldMk cId="1647942897" sldId="358"/>
        </pc:sldMkLst>
      </pc:sldChg>
      <pc:sldChg chg="addSp delSp modSp add">
        <pc:chgData name="Nikita Ananda Putri Masaling" userId="S::nikita.masaling001@binus.ac.id::a17153e9-cd41-4a4e-afcd-ddb53d92623c" providerId="AD" clId="Web-{00000000-0000-0000-0000-000000000000}" dt="2026-08-21T04:29:21.297" v="5"/>
        <pc:sldMkLst>
          <pc:docMk/>
          <pc:sldMk cId="2434872210" sldId="359"/>
        </pc:sldMkLst>
        <pc:spChg chg="del">
          <ac:chgData name="Nikita Ananda Putri Masaling" userId="S::nikita.masaling001@binus.ac.id::a17153e9-cd41-4a4e-afcd-ddb53d92623c" providerId="AD" clId="Web-{00000000-0000-0000-0000-000000000000}" dt="2026-08-21T04:29:21.297" v="5"/>
          <ac:spMkLst>
            <pc:docMk/>
            <pc:sldMk cId="2434872210" sldId="359"/>
            <ac:spMk id="2" creationId="{3A8C245B-5185-041C-EC38-4046507BAE0E}"/>
          </ac:spMkLst>
        </pc:spChg>
        <pc:spChg chg="del">
          <ac:chgData name="Nikita Ananda Putri Masaling" userId="S::nikita.masaling001@binus.ac.id::a17153e9-cd41-4a4e-afcd-ddb53d92623c" providerId="AD" clId="Web-{00000000-0000-0000-0000-000000000000}" dt="2026-08-21T04:29:21" v="4"/>
          <ac:spMkLst>
            <pc:docMk/>
            <pc:sldMk cId="2434872210" sldId="359"/>
            <ac:spMk id="3" creationId="{48F005C1-B970-531B-4FDC-2EC78F07CD5B}"/>
          </ac:spMkLst>
        </pc:spChg>
        <pc:spChg chg="add mod">
          <ac:chgData name="Nikita Ananda Putri Masaling" userId="S::nikita.masaling001@binus.ac.id::a17153e9-cd41-4a4e-afcd-ddb53d92623c" providerId="AD" clId="Web-{00000000-0000-0000-0000-000000000000}" dt="2026-08-21T04:29:21" v="4"/>
          <ac:spMkLst>
            <pc:docMk/>
            <pc:sldMk cId="2434872210" sldId="359"/>
            <ac:spMk id="5" creationId="{93CCAEA7-A231-2F0A-25E2-E19E3CCD332D}"/>
          </ac:spMkLst>
        </pc:spChg>
        <pc:spChg chg="add mod">
          <ac:chgData name="Nikita Ananda Putri Masaling" userId="S::nikita.masaling001@binus.ac.id::a17153e9-cd41-4a4e-afcd-ddb53d92623c" providerId="AD" clId="Web-{00000000-0000-0000-0000-000000000000}" dt="2026-08-21T04:29:21.297" v="5"/>
          <ac:spMkLst>
            <pc:docMk/>
            <pc:sldMk cId="2434872210" sldId="359"/>
            <ac:spMk id="9" creationId="{B638EA11-9215-C530-BF5B-730E295F85D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522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F8FC2-5C26-33A7-9770-5DF518D25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90C54-60C5-266B-567C-0E58520CB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A69FD-7CBA-83C2-82A4-30021C207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730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68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095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68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2231E-F400-D5BF-872E-2BD6E7573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BFF53-0EAD-7E2D-1B63-F5D9BD002E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C5D6D9-16A2-A10C-7F30-1A7F36255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654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9944C-E42B-7CA1-C39F-5A650A07D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673E98-6960-1A1B-6CD6-82C6F1385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8031FF-1AF1-5BF5-6862-5C2814CF17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4101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74AE-8220-92DC-D471-DBA24994E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DADC45-1702-44B4-2F3D-601F226BC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70E63C-8CB3-A1A1-010C-4D0D960F4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2612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DCC6B-3504-2D10-CF16-4C3666B24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882C9-FD70-64C5-50E8-794257320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EE9D2F-DD40-A354-5978-28D1BA127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912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B57A6-DDF9-8337-CB50-BEB56AAE8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334ED-6947-FB60-A5D7-AAF44C780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5BFE6-1670-3458-08ED-872767B2B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567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93D97-6290-4584-C12F-A7DE24D35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7E0BB5-71CE-C130-CFBB-5C3F254D9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1F7EE-84B8-BAFA-CE8E-9A9FF8021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061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1AAF9-025B-7CB2-A25D-F025F508A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59232-8050-F945-E188-6D2FEA8E1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C1C8C1-3352-A87A-A268-D2F074ED5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5714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A9344-4F60-701E-8C1A-B9FE8588B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EA57BC-BB16-01BA-00CE-ADA645DFF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CAE9E4-A985-7773-3D5F-EFF40C6AF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1196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147DD-6920-DF2C-2D10-904D832BF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87BEF-2D6D-59E7-F3BE-B319822B0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8BEB3A-2EA5-B908-35B3-8C3F50656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0196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76890-4716-F36E-01C2-3A78B286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6C1164-FD51-C352-5AD8-EDBBAC795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1BBCC-FA97-6EB7-379C-D264558FD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0756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33957-2058-87E9-1393-120FA71E2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1AE82E-9E29-48B5-695E-5573591F4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B9CB9-73F5-6DEA-AA42-76C260DA4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0657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3F608-C1EF-1ACA-6149-E0168B93F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FFC429-1428-E97F-3C88-112C28D0A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5F39DF-76CC-26BE-BB4A-2855322AD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8649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1CECD-AA1A-BDA9-4F3C-DD4C3F49A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A3277B-1517-B960-685A-FBC6DCA6C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5090D-588A-D6A7-7229-B7963461D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541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E4A26-8E55-AB50-0DD3-BA950202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D21FC0-AE83-1544-DB29-12E58B4CA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41724-DF56-01F7-070E-A8E30C60D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192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EECC9-4EAE-5468-A9B6-2269D9DB2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303E45-71BC-5C9E-077E-E227F313A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E08FB-CFE1-8C2C-8EB2-905F054B0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5210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1E726-8E46-A590-84C2-427F3551C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BEBF24-E145-B0DB-AF02-34313BD08B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3C84CC-8BC8-1689-C023-3A9A7123E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4157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E9916-D0A5-822D-8D23-4A9D817AA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0B2DE-C440-01EA-B249-ED522E9A2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5F20A1-277A-CD3C-A014-4A117781E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1142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FDE2D-575D-9745-EDBA-3E1B2A6A1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4E989-D5CF-1C99-4F1B-DF8343086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BFBF6-2836-F710-1A09-759B208B0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1258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290AD-5D35-A521-B025-D45D25CB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33319-5D4A-F287-8CC5-579B57744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ACB86-BDA9-52AC-7B13-B40299DB1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516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05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325" y="2574991"/>
            <a:ext cx="23462426" cy="391781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DS: Stack, Queue, Tree &amp; Binary Tree (incl. Space Complexity)</a:t>
            </a:r>
            <a:endParaRPr lang="en-ID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249476" y="11538583"/>
            <a:ext cx="5846420" cy="745888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US"/>
              <a:t>Nikita Ananda Putri Masaling, S.Kom., 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pPr algn="just"/>
            <a:r>
              <a:rPr lang="en-US" dirty="0"/>
              <a:t>LO 1: Evaluate the time and space complexity of algorithms using asymptotic notation and formal analysis methods, and prove algorithm correctness using loop invariants, induction, or exchange arguments.</a:t>
            </a:r>
          </a:p>
          <a:p>
            <a:pPr algn="just"/>
            <a:r>
              <a:rPr lang="en-US" dirty="0"/>
              <a:t>LO 2: Analyze unfamiliar computational problems by identifying their structural properties, classifying them into known algorithmic categories including graph, string, and combinatorial problems and recommending a solution strategy with justification.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61F8D-55B0-83E8-D26D-92158A98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251A2-AC99-FA15-EE33-A71934EB4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0198E-B608-50F8-3760-250A6613AC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6C8106-38DC-428F-D042-636BD720D8E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By the end of this session, students will be able to:</a:t>
            </a:r>
          </a:p>
          <a:p>
            <a:pPr algn="just"/>
            <a:r>
              <a:rPr lang="en-US" dirty="0"/>
              <a:t>Evaluate O(1) time and O(n) auxiliary space for stack and queue operations; analyze BST operation complexity as O(h), distinguishing O(log n) for balanced trees from O(n) for degenerate trees.</a:t>
            </a:r>
          </a:p>
          <a:p>
            <a:pPr algn="just"/>
            <a:r>
              <a:rPr lang="en-US" dirty="0"/>
              <a:t>Select the appropriate data structure (stack, queue, BST, balanced BST) given access-pattern requirements; classify tree traversals (</a:t>
            </a:r>
            <a:r>
              <a:rPr lang="en-US" dirty="0" err="1"/>
              <a:t>inorder</a:t>
            </a:r>
            <a:r>
              <a:rPr lang="en-US" dirty="0"/>
              <a:t>, preorder, </a:t>
            </a:r>
            <a:r>
              <a:rPr lang="en-US" dirty="0" err="1"/>
              <a:t>postorder</a:t>
            </a:r>
            <a:r>
              <a:rPr lang="en-US" dirty="0"/>
              <a:t>) as DFS variants; recommend a Red-Black Tree or AVL Tree when O(log n) worst-case operations are required.</a:t>
            </a:r>
          </a:p>
        </p:txBody>
      </p:sp>
    </p:spTree>
    <p:extLst>
      <p:ext uri="{BB962C8B-B14F-4D97-AF65-F5344CB8AC3E}">
        <p14:creationId xmlns:p14="http://schemas.microsoft.com/office/powerpoint/2010/main" val="18466363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Stack and Queue: Operations, Implementations, Complexity</a:t>
            </a:r>
          </a:p>
          <a:p>
            <a:r>
              <a:rPr lang="en-US" dirty="0"/>
              <a:t>Space Complexity: Auxiliary vs. Total Space</a:t>
            </a:r>
          </a:p>
          <a:p>
            <a:r>
              <a:rPr lang="en-US" dirty="0"/>
              <a:t>Tree Terminology and Traversals</a:t>
            </a:r>
          </a:p>
          <a:p>
            <a:r>
              <a:rPr lang="en-US" dirty="0"/>
              <a:t>Binary Tree Properties and Operations</a:t>
            </a:r>
          </a:p>
          <a:p>
            <a:r>
              <a:rPr lang="en-US" dirty="0"/>
              <a:t>Time vs. Space Trade-off in Data Structure Selection</a:t>
            </a:r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Stack and Queue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stack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A </a:t>
            </a:r>
            <a:r>
              <a:rPr lang="en-US" b="1" dirty="0"/>
              <a:t>stack</a:t>
            </a:r>
            <a:r>
              <a:rPr lang="en-US" dirty="0"/>
              <a:t> is a dynamic set with a LIFO (Last-In, First-Out) discipline (CLRS, p. 248).</a:t>
            </a:r>
          </a:p>
          <a:p>
            <a:pPr marL="101600" indent="0" algn="just">
              <a:buNone/>
            </a:pPr>
            <a:r>
              <a:rPr lang="en-US" b="1" dirty="0"/>
              <a:t>Operations:</a:t>
            </a:r>
          </a:p>
          <a:p>
            <a:pPr marL="673100" indent="-571500" algn="just"/>
            <a:r>
              <a:rPr lang="en-US" dirty="0"/>
              <a:t>PUSH(S, x) — insert element x.</a:t>
            </a:r>
          </a:p>
          <a:p>
            <a:pPr marL="673100" indent="-571500" algn="just"/>
            <a:r>
              <a:rPr lang="en-US" dirty="0"/>
              <a:t>POP(S) — remove and return the most recently inserted element.</a:t>
            </a:r>
          </a:p>
          <a:p>
            <a:pPr marL="673100" indent="-571500" algn="just"/>
            <a:r>
              <a:rPr lang="en-US" dirty="0"/>
              <a:t>STACK-EMPTY(S) — return TRUE if the stack has no elements.</a:t>
            </a:r>
          </a:p>
        </p:txBody>
      </p:sp>
    </p:spTree>
    <p:extLst>
      <p:ext uri="{BB962C8B-B14F-4D97-AF65-F5344CB8AC3E}">
        <p14:creationId xmlns:p14="http://schemas.microsoft.com/office/powerpoint/2010/main" val="340550934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Stack analysis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Rule of stack is LIFO (Last In First Out)</a:t>
            </a:r>
          </a:p>
          <a:p>
            <a:r>
              <a:rPr lang="en-US" dirty="0"/>
              <a:t>It only has TOP as the topmost element (for pushing and popping).</a:t>
            </a:r>
          </a:p>
        </p:txBody>
      </p:sp>
      <p:pic>
        <p:nvPicPr>
          <p:cNvPr id="8" name="Picture 5" descr="ilustrasi 4">
            <a:extLst>
              <a:ext uri="{FF2B5EF4-FFF2-40B4-BE49-F238E27FC236}">
                <a16:creationId xmlns:a16="http://schemas.microsoft.com/office/drawing/2014/main" id="{52F6925A-9FEA-E910-78D2-A39F2C3B0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39788" y="5828397"/>
            <a:ext cx="15592927" cy="60164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794289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67D0E-1936-1AED-CD7A-59CBF9E0D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A939A-8B1F-8817-3984-7B5A0F514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Stack and Queue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E2B87-68DB-908D-480B-0133F8D98A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stack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C9876-8A6E-E792-7EEC-C48CE1CFD0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/>
              <a:t>Array implementation: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28E2D2-FEED-930E-9099-B6DCD3A106CF}"/>
              </a:ext>
            </a:extLst>
          </p:cNvPr>
          <p:cNvSpPr/>
          <p:nvPr/>
        </p:nvSpPr>
        <p:spPr>
          <a:xfrm>
            <a:off x="2414193" y="4587235"/>
            <a:ext cx="11778885" cy="3795911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buNone/>
            </a:pP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S.top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= 0  (initially empty)</a:t>
            </a:r>
          </a:p>
          <a:p>
            <a:pPr algn="l">
              <a:buNone/>
            </a:pPr>
            <a:endParaRPr lang="en-US" sz="24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PUSH(S, x)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1  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S.top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S.top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+ 1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2  S[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S.top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] = x</a:t>
            </a:r>
          </a:p>
          <a:p>
            <a:pPr algn="l">
              <a:buNone/>
            </a:pPr>
            <a:endParaRPr lang="en-US" sz="24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POP(S)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1  if STACK-EMPTY(S): error "underflow"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2  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S.top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S.top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- 1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3  return S[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S.top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 + 1]</a:t>
            </a:r>
          </a:p>
        </p:txBody>
      </p:sp>
    </p:spTree>
    <p:extLst>
      <p:ext uri="{BB962C8B-B14F-4D97-AF65-F5344CB8AC3E}">
        <p14:creationId xmlns:p14="http://schemas.microsoft.com/office/powerpoint/2010/main" val="25455178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594B6-3600-9C64-4A41-D7396D340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33565-771C-1952-E01E-8675D9E6B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Stack and Queue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798E8-6C49-0668-FA12-B421601B86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stack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43577-F73F-7DC8-0790-CF344FD5FF3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/>
              <a:t>Complexities (array, capacity n):</a:t>
            </a:r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r>
              <a:rPr lang="en-US" b="1" dirty="0"/>
              <a:t>Linked-list implementation: </a:t>
            </a:r>
            <a:r>
              <a:rPr lang="en-US" dirty="0"/>
              <a:t>each node holds data + pointer to next. PUSH/POP at the head. Same O(1) time per operation; total space O(k) where k = current number of elements (no wasted capacity).</a:t>
            </a:r>
          </a:p>
          <a:p>
            <a:pPr marL="101600" indent="0" algn="just">
              <a:buNone/>
            </a:pPr>
            <a:r>
              <a:rPr lang="en-US" b="1" dirty="0"/>
              <a:t>Applications: </a:t>
            </a:r>
            <a:r>
              <a:rPr lang="en-US" dirty="0"/>
              <a:t>function call stack, expression evaluation, DFS, undo operations, balanced parentheses checking.</a:t>
            </a:r>
          </a:p>
          <a:p>
            <a:pPr marL="101600" indent="0" algn="just">
              <a:buNone/>
            </a:pPr>
            <a:endParaRPr lang="en-US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A470AD-DED9-8A85-F750-C29EC47CC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926181"/>
              </p:ext>
            </p:extLst>
          </p:nvPr>
        </p:nvGraphicFramePr>
        <p:xfrm>
          <a:off x="2354469" y="4702405"/>
          <a:ext cx="16256001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8667">
                  <a:extLst>
                    <a:ext uri="{9D8B030D-6E8A-4147-A177-3AD203B41FA5}">
                      <a16:colId xmlns:a16="http://schemas.microsoft.com/office/drawing/2014/main" val="1104424535"/>
                    </a:ext>
                  </a:extLst>
                </a:gridCol>
                <a:gridCol w="5418667">
                  <a:extLst>
                    <a:ext uri="{9D8B030D-6E8A-4147-A177-3AD203B41FA5}">
                      <a16:colId xmlns:a16="http://schemas.microsoft.com/office/drawing/2014/main" val="2837277326"/>
                    </a:ext>
                  </a:extLst>
                </a:gridCol>
                <a:gridCol w="5418667">
                  <a:extLst>
                    <a:ext uri="{9D8B030D-6E8A-4147-A177-3AD203B41FA5}">
                      <a16:colId xmlns:a16="http://schemas.microsoft.com/office/drawing/2014/main" val="3230175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Operation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Space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59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PUSH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O(1)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781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POP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O(1)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02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PEEK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O(1)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031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Total space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471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215369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22A73-1A71-A665-D4A2-7980DBD3A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77DCE12-1ED5-120D-87AA-79CED99F897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057623" cy="9388537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sz="4400" dirty="0"/>
              <a:t>Rule of stack is FIFO (First In First Out)</a:t>
            </a:r>
          </a:p>
          <a:p>
            <a:pPr eaLnBrk="1" hangingPunct="1">
              <a:lnSpc>
                <a:spcPct val="150000"/>
              </a:lnSpc>
            </a:pPr>
            <a:r>
              <a:rPr lang="en-US" sz="4400" dirty="0"/>
              <a:t>It has FRONT (for popping) and REAR (for pushing).</a:t>
            </a:r>
            <a:endParaRPr lang="en-US" sz="4400" dirty="0">
              <a:solidFill>
                <a:srgbClr val="3399FF"/>
              </a:solidFill>
              <a:latin typeface="Tahoma" pitchFamily="34" charset="0"/>
            </a:endParaRPr>
          </a:p>
        </p:txBody>
      </p:sp>
      <p:pic>
        <p:nvPicPr>
          <p:cNvPr id="8" name="Picture 7" descr="ilustrasi 4">
            <a:extLst>
              <a:ext uri="{FF2B5EF4-FFF2-40B4-BE49-F238E27FC236}">
                <a16:creationId xmlns:a16="http://schemas.microsoft.com/office/drawing/2014/main" id="{208D5A45-1AB6-C41A-E136-D98DBE294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94638" y="5815245"/>
            <a:ext cx="13883227" cy="6521742"/>
          </a:xfrm>
          <a:prstGeom prst="rect">
            <a:avLst/>
          </a:prstGeom>
          <a:noFill/>
          <a:ln>
            <a:solidFill>
              <a:srgbClr val="212121"/>
            </a:solidFill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2EC7825-7B44-AC4F-8A67-195005E0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ID" dirty="0"/>
              <a:t>Stack and Queue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0F53DAC-3E06-CED8-5ECE-A179F5350D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9768875" cy="803546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ID">
                <a:latin typeface="Open Sans Extrabold"/>
                <a:ea typeface="Open Sans Extrabold"/>
                <a:cs typeface="Open Sans Extrabold"/>
              </a:rPr>
              <a:t>QUEUE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3487221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1CBC3-9FB0-71CC-B49E-F50C95E81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813B99C-64E5-2930-BF84-57F2E5E447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057623" cy="93885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With the knowledge about time complexity from last week, try to analyze the three operations of Queue! What is the worst-case time complexity for each operations?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 PUSH(x): Push a value into a queue (REAR).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 POP(): Pop the FRONT value of a queue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 EMPTY(): Empty the queue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00E223-9906-496D-1492-3D3BC19BD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ID" dirty="0"/>
              <a:t>Stack and Queue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AA447C0-4ABE-9704-C66C-BC32B911E6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9768875" cy="803546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ID">
                <a:latin typeface="Open Sans Extrabold"/>
                <a:ea typeface="Open Sans Extrabold"/>
                <a:cs typeface="Open Sans Extrabold"/>
              </a:rPr>
              <a:t>QUEUE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1996117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9C676-40E6-6679-23A2-9D969812B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3">
                <a:extLst>
                  <a:ext uri="{FF2B5EF4-FFF2-40B4-BE49-F238E27FC236}">
                    <a16:creationId xmlns:a16="http://schemas.microsoft.com/office/drawing/2014/main" id="{8CE15BEE-CAAB-E5F1-B43A-4E180C446CC0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260663"/>
                <a:ext cx="20057623" cy="9388537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What is the worst-case time complexity for each operations?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dirty="0"/>
                  <a:t> PUSH(x):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dirty="0"/>
                  <a:t> POP():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dirty="0"/>
                  <a:t> EMPTY():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The complexity above is for a general implementation of Single Linked List where we don’t save the TAIL and have HEAD as FRONT of the Queue.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b="1" u="sng" dirty="0"/>
                  <a:t>Now, try to analyze the complexity when using a Double Linked List Implementation!</a:t>
                </a:r>
              </a:p>
            </p:txBody>
          </p:sp>
        </mc:Choice>
        <mc:Fallback xmlns="">
          <p:sp>
            <p:nvSpPr>
              <p:cNvPr id="7" name="Content Placeholder 3">
                <a:extLst>
                  <a:ext uri="{FF2B5EF4-FFF2-40B4-BE49-F238E27FC236}">
                    <a16:creationId xmlns:a16="http://schemas.microsoft.com/office/drawing/2014/main" id="{8CE15BEE-CAAB-E5F1-B43A-4E180C446C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260663"/>
                <a:ext cx="20057623" cy="9388537"/>
              </a:xfrm>
              <a:blipFill>
                <a:blip r:embed="rId3"/>
                <a:stretch>
                  <a:fillRect l="-1216" b="-12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A1B7D018-3BA1-97D8-FB43-2E23DB127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ID" dirty="0"/>
              <a:t>Stack and Queue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FC37B70-07D1-D01B-79CD-7D110E20FA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9768875" cy="803546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ID">
                <a:latin typeface="Open Sans Extrabold"/>
                <a:ea typeface="Open Sans Extrabold"/>
                <a:cs typeface="Open Sans Extrabold"/>
              </a:rPr>
              <a:t>QUEUE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1285025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F4951-1F27-0B75-BF11-AE24A4A66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8377-4F3A-FDBC-FD08-621879E04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Space complexity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D16A0-DE7E-A223-9874-CE455D86A5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definitions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A8155-1935-EEDF-F00A-88E18229F06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673100" indent="-571500" algn="just"/>
            <a:r>
              <a:rPr lang="en-US" b="1" dirty="0"/>
              <a:t>Auxiliary space: </a:t>
            </a:r>
            <a:r>
              <a:rPr lang="en-US" dirty="0"/>
              <a:t>extra memory used by the algorithm beyond the input itself.</a:t>
            </a:r>
          </a:p>
          <a:p>
            <a:pPr marL="673100" indent="-571500" algn="just"/>
            <a:r>
              <a:rPr lang="en-US" b="1" dirty="0"/>
              <a:t>Total space: </a:t>
            </a:r>
            <a:r>
              <a:rPr lang="en-US" dirty="0"/>
              <a:t>auxiliary space + input space.</a:t>
            </a:r>
          </a:p>
          <a:p>
            <a:pPr marL="101600" indent="0" algn="just">
              <a:buNone/>
            </a:pPr>
            <a:r>
              <a:rPr lang="en-US" dirty="0"/>
              <a:t>In algorithm analysis, we usually report </a:t>
            </a:r>
            <a:r>
              <a:rPr lang="en-US" b="1" dirty="0"/>
              <a:t>auxiliary space </a:t>
            </a:r>
            <a:r>
              <a:rPr lang="en-US" dirty="0"/>
              <a:t>(the algorithm's own memory usage).</a:t>
            </a:r>
          </a:p>
        </p:txBody>
      </p:sp>
    </p:spTree>
    <p:extLst>
      <p:ext uri="{BB962C8B-B14F-4D97-AF65-F5344CB8AC3E}">
        <p14:creationId xmlns:p14="http://schemas.microsoft.com/office/powerpoint/2010/main" val="148450345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0D32A-E684-AFDA-FD3D-3F3D8BA7D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F97D7-A04B-335C-D0E2-F8CCFCA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Space complexity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2794C-48C0-96BF-AFC4-A3C3676BA3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examples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AAFE816-3981-F9A9-AF73-B164D41B44F1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43022087"/>
              </p:ext>
            </p:extLst>
          </p:nvPr>
        </p:nvGraphicFramePr>
        <p:xfrm>
          <a:off x="2166938" y="3714750"/>
          <a:ext cx="19310349" cy="405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85584">
                  <a:extLst>
                    <a:ext uri="{9D8B030D-6E8A-4147-A177-3AD203B41FA5}">
                      <a16:colId xmlns:a16="http://schemas.microsoft.com/office/drawing/2014/main" val="2404341818"/>
                    </a:ext>
                  </a:extLst>
                </a:gridCol>
                <a:gridCol w="4313582">
                  <a:extLst>
                    <a:ext uri="{9D8B030D-6E8A-4147-A177-3AD203B41FA5}">
                      <a16:colId xmlns:a16="http://schemas.microsoft.com/office/drawing/2014/main" val="759871472"/>
                    </a:ext>
                  </a:extLst>
                </a:gridCol>
                <a:gridCol w="9411183">
                  <a:extLst>
                    <a:ext uri="{9D8B030D-6E8A-4147-A177-3AD203B41FA5}">
                      <a16:colId xmlns:a16="http://schemas.microsoft.com/office/drawing/2014/main" val="746865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Algorithm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Auxiliary Space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68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Insertion Sort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O(n²)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O(1) — in-place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65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Merge Sort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O(n log 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O(n) — merging requires a temporary array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939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Binary Search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O(n log n) avg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O(log n) — recursion stack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735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Quick Sort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O(log n)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O(1) iterative / O(log n) recursive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3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BFS on graph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O(V + E)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O(V) — queue + visited array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188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DFS on graph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O(V + E)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O(V) — stack / recursion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024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16739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438ED-7F56-2CFE-0069-0A32D9EA4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2B5EE-C992-CCD2-238F-E7C474182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Space complexity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E013B-0E22-E4E9-FE5B-41587AE3D8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Stack space for recursion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9932C5-BB74-C3D8-7CA2-10D1405B23F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A recursive algorithm uses O(depth) stack space. For a balanced recursion tree of depth log n (e.g., Merge Sort, Binary Search), this is O(log n). For a linear recursion (e.g., naïve Fibonacci, DFS on a path graph), this is O(n) — beware of stack overflow for large inputs.</a:t>
            </a:r>
          </a:p>
        </p:txBody>
      </p:sp>
    </p:spTree>
    <p:extLst>
      <p:ext uri="{BB962C8B-B14F-4D97-AF65-F5344CB8AC3E}">
        <p14:creationId xmlns:p14="http://schemas.microsoft.com/office/powerpoint/2010/main" val="355954461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A635D-BE15-7450-6F74-23F14C9D1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7B1E6-3F8A-8B8E-9AC3-E6492A8BF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Tree terminology and traversals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1730B-214B-B889-1BB6-3E34FD1DE1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Basic terminology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02FFFA-B45F-D11B-6D0E-CE07999E588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 fontScale="77500" lnSpcReduction="20000"/>
          </a:bodyPr>
          <a:lstStyle/>
          <a:p>
            <a:pPr marL="101600" indent="0" algn="just">
              <a:buNone/>
            </a:pPr>
            <a:r>
              <a:rPr lang="en-US" dirty="0"/>
              <a:t>A </a:t>
            </a:r>
            <a:r>
              <a:rPr lang="en-US" b="1" dirty="0"/>
              <a:t>rooted tree </a:t>
            </a:r>
            <a:r>
              <a:rPr lang="en-US" dirty="0"/>
              <a:t>T is a connected, acyclic undirected graph with a designated root r (CLRS, p. 265).</a:t>
            </a:r>
          </a:p>
          <a:p>
            <a:pPr marL="101600" indent="0" algn="just">
              <a:buNone/>
            </a:pPr>
            <a:r>
              <a:rPr lang="en-US" dirty="0"/>
              <a:t>Key terms:</a:t>
            </a:r>
          </a:p>
          <a:p>
            <a:pPr marL="673100" indent="-571500" algn="just"/>
            <a:r>
              <a:rPr lang="en-US" b="1" dirty="0"/>
              <a:t>Node (vertex): </a:t>
            </a:r>
            <a:r>
              <a:rPr lang="en-US" dirty="0"/>
              <a:t>each element of the tree.</a:t>
            </a:r>
          </a:p>
          <a:p>
            <a:pPr marL="673100" indent="-571500" algn="just"/>
            <a:r>
              <a:rPr lang="en-US" b="1" dirty="0"/>
              <a:t>Root: </a:t>
            </a:r>
            <a:r>
              <a:rPr lang="en-US" dirty="0"/>
              <a:t>the topmost node (no parent).</a:t>
            </a:r>
          </a:p>
          <a:p>
            <a:pPr marL="673100" indent="-571500" algn="just"/>
            <a:r>
              <a:rPr lang="en-US" b="1" dirty="0"/>
              <a:t>Parent / Child: </a:t>
            </a:r>
            <a:r>
              <a:rPr lang="en-US" dirty="0"/>
              <a:t>x is the parent of y if x is one level above y on the path from x to the root.</a:t>
            </a:r>
          </a:p>
          <a:p>
            <a:pPr marL="673100" indent="-571500" algn="just"/>
            <a:r>
              <a:rPr lang="en-US" b="1" dirty="0"/>
              <a:t>Leaf: </a:t>
            </a:r>
            <a:r>
              <a:rPr lang="en-US" dirty="0"/>
              <a:t>a node with no children.</a:t>
            </a:r>
          </a:p>
          <a:p>
            <a:pPr marL="673100" indent="-571500" algn="just"/>
            <a:r>
              <a:rPr lang="en-US" b="1" dirty="0"/>
              <a:t>Internal node:</a:t>
            </a:r>
            <a:r>
              <a:rPr lang="en-US" dirty="0"/>
              <a:t> a node with at least one child.</a:t>
            </a:r>
          </a:p>
          <a:p>
            <a:pPr marL="673100" indent="-571500" algn="just"/>
            <a:r>
              <a:rPr lang="en-US" b="1" dirty="0"/>
              <a:t>Depth of node x: </a:t>
            </a:r>
            <a:r>
              <a:rPr lang="en-US" dirty="0"/>
              <a:t>length of the path from the root to x.</a:t>
            </a:r>
          </a:p>
          <a:p>
            <a:pPr marL="673100" indent="-571500" algn="just"/>
            <a:r>
              <a:rPr lang="en-US" b="1" dirty="0"/>
              <a:t>Height of tree: </a:t>
            </a:r>
            <a:r>
              <a:rPr lang="en-US" dirty="0"/>
              <a:t>maximum depth of any node.</a:t>
            </a:r>
          </a:p>
          <a:p>
            <a:pPr marL="673100" indent="-571500" algn="just"/>
            <a:r>
              <a:rPr lang="en-US" b="1" dirty="0"/>
              <a:t>Subtree rooted at x: </a:t>
            </a:r>
            <a:r>
              <a:rPr lang="en-US" dirty="0"/>
              <a:t>x and all its descendants.</a:t>
            </a:r>
          </a:p>
        </p:txBody>
      </p:sp>
    </p:spTree>
    <p:extLst>
      <p:ext uri="{BB962C8B-B14F-4D97-AF65-F5344CB8AC3E}">
        <p14:creationId xmlns:p14="http://schemas.microsoft.com/office/powerpoint/2010/main" val="174997891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957C0-491B-194D-50FF-20881BEC6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3DAF0-7CEA-6DB4-B061-6FDE4EFEC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Tree terminology and traversals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2726B-3FA2-5FC9-0BA7-5452D96FB5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Tree traversals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07BEBC-711C-9162-C2FB-FAC5158BE1B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For a tree where each node has a left child and a right child (binary tree):</a:t>
            </a:r>
          </a:p>
          <a:p>
            <a:pPr marL="101600" indent="0" algn="just">
              <a:buNone/>
            </a:pPr>
            <a:r>
              <a:rPr lang="en-US" b="1" dirty="0"/>
              <a:t>Preorder (Root → Left → Right):</a:t>
            </a:r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C0F800-6374-FBCA-A638-929D0B3FC01C}"/>
              </a:ext>
            </a:extLst>
          </p:cNvPr>
          <p:cNvSpPr/>
          <p:nvPr/>
        </p:nvSpPr>
        <p:spPr>
          <a:xfrm>
            <a:off x="2258163" y="6673700"/>
            <a:ext cx="9587302" cy="2257028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buNone/>
            </a:pPr>
            <a:r>
              <a:rPr lang="en-ID" sz="28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PREORDER(x)</a:t>
            </a:r>
          </a:p>
          <a:p>
            <a:pPr algn="l">
              <a:buNone/>
            </a:pPr>
            <a:r>
              <a:rPr lang="en-ID" sz="28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1  if x ≠ NIL</a:t>
            </a:r>
          </a:p>
          <a:p>
            <a:pPr algn="l">
              <a:buNone/>
            </a:pPr>
            <a:r>
              <a:rPr lang="en-ID" sz="28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2      print </a:t>
            </a:r>
            <a:r>
              <a:rPr lang="en-ID" sz="28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x.key</a:t>
            </a:r>
            <a:endParaRPr lang="en-ID" sz="28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ID" sz="28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3      PREORDER(</a:t>
            </a:r>
            <a:r>
              <a:rPr lang="en-ID" sz="28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x.left</a:t>
            </a:r>
            <a:r>
              <a:rPr lang="en-ID" sz="28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buNone/>
            </a:pPr>
            <a:r>
              <a:rPr lang="en-ID" sz="28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4      PREORDER(</a:t>
            </a:r>
            <a:r>
              <a:rPr lang="en-ID" sz="28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x.right</a:t>
            </a:r>
            <a:r>
              <a:rPr lang="en-ID" sz="28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9657867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F4180-B99D-5B78-BCF2-6CFB4D61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AF693-F1D7-0BA2-F488-A4B3BE6B5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Tree terminology and traversals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B32A2-CC49-54BA-463C-15EE27C501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Tree traversals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A22E9-0388-97E4-D5EC-A7392AB553A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/>
              <a:t>Inorder (Left → Root → Right):</a:t>
            </a:r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r>
              <a:rPr lang="en-US" dirty="0"/>
              <a:t>Produces sorted output for a Binary Search Tree.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EC3906-DCCE-F6BC-4E0E-BB027B58C9E4}"/>
              </a:ext>
            </a:extLst>
          </p:cNvPr>
          <p:cNvSpPr/>
          <p:nvPr/>
        </p:nvSpPr>
        <p:spPr>
          <a:xfrm>
            <a:off x="2258163" y="4745508"/>
            <a:ext cx="9587302" cy="2257028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buNone/>
            </a:pPr>
            <a:r>
              <a:rPr lang="en-ID" sz="28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INORDER(x)</a:t>
            </a:r>
          </a:p>
          <a:p>
            <a:pPr algn="l">
              <a:buNone/>
            </a:pPr>
            <a:r>
              <a:rPr lang="en-ID" sz="28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1  if x ≠ NIL</a:t>
            </a:r>
          </a:p>
          <a:p>
            <a:pPr algn="l">
              <a:buNone/>
            </a:pPr>
            <a:r>
              <a:rPr lang="en-ID" sz="28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2      INORDER(</a:t>
            </a:r>
            <a:r>
              <a:rPr lang="en-ID" sz="28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x.left</a:t>
            </a:r>
            <a:r>
              <a:rPr lang="en-ID" sz="28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buNone/>
            </a:pPr>
            <a:r>
              <a:rPr lang="en-ID" sz="28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3      print </a:t>
            </a:r>
            <a:r>
              <a:rPr lang="en-ID" sz="28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x.key</a:t>
            </a:r>
            <a:endParaRPr lang="en-ID" sz="28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ID" sz="28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4      INORDER(</a:t>
            </a:r>
            <a:r>
              <a:rPr lang="en-ID" sz="28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x.right</a:t>
            </a:r>
            <a:r>
              <a:rPr lang="en-ID" sz="28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2455846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C34EC-BBA6-35F1-6263-4056BC1D0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D7DC4-A2E8-50B6-1318-108E05C6C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Tree terminology and traversals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A78C3-AE1B-0696-FA6F-B260DA75FB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Tree traversals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A88DC-B1A0-9657-557B-A86ADD7BCCF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 err="1"/>
              <a:t>Postorder</a:t>
            </a:r>
            <a:r>
              <a:rPr lang="en-US" b="1" dirty="0"/>
              <a:t> (Left → Right → Root):</a:t>
            </a:r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endParaRPr lang="en-US" b="1" dirty="0"/>
          </a:p>
          <a:p>
            <a:pPr marL="101600" indent="0" algn="just">
              <a:buNone/>
            </a:pPr>
            <a:r>
              <a:rPr lang="en-US" i="1" dirty="0"/>
              <a:t>Useful for deleting trees, evaluating expression trees.</a:t>
            </a:r>
            <a:endParaRPr lang="en-US" dirty="0"/>
          </a:p>
          <a:p>
            <a:pPr marL="101600" indent="0" algn="just">
              <a:buNone/>
            </a:pPr>
            <a:r>
              <a:rPr lang="en-US" b="1" dirty="0"/>
              <a:t>Time and space: </a:t>
            </a:r>
            <a:r>
              <a:rPr lang="en-US" dirty="0"/>
              <a:t>all traversals visit each node exactly once → O(n) time; O(h) auxiliary stack space where h = height.</a:t>
            </a:r>
          </a:p>
          <a:p>
            <a:pPr marL="101600" indent="0" algn="just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9265A3-CB85-709B-62BB-C8687094CF1D}"/>
              </a:ext>
            </a:extLst>
          </p:cNvPr>
          <p:cNvSpPr/>
          <p:nvPr/>
        </p:nvSpPr>
        <p:spPr>
          <a:xfrm>
            <a:off x="2258163" y="4745508"/>
            <a:ext cx="9587302" cy="2257028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buNone/>
            </a:pPr>
            <a:r>
              <a:rPr lang="en-ID" sz="28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POSTORDER(x)</a:t>
            </a:r>
          </a:p>
          <a:p>
            <a:pPr algn="l">
              <a:buNone/>
            </a:pPr>
            <a:r>
              <a:rPr lang="en-ID" sz="28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1  if x ≠ NIL</a:t>
            </a:r>
          </a:p>
          <a:p>
            <a:pPr algn="l">
              <a:buNone/>
            </a:pPr>
            <a:r>
              <a:rPr lang="en-ID" sz="28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2      POSTORDER(</a:t>
            </a:r>
            <a:r>
              <a:rPr lang="en-ID" sz="28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x.left</a:t>
            </a:r>
            <a:r>
              <a:rPr lang="en-ID" sz="28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buNone/>
            </a:pPr>
            <a:r>
              <a:rPr lang="en-ID" sz="28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3      POSTORDER(</a:t>
            </a:r>
            <a:r>
              <a:rPr lang="en-ID" sz="28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x.right</a:t>
            </a:r>
            <a:r>
              <a:rPr lang="en-ID" sz="28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buNone/>
            </a:pPr>
            <a:r>
              <a:rPr lang="en-ID" sz="28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4      print </a:t>
            </a:r>
            <a:r>
              <a:rPr lang="en-ID" sz="28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x.key</a:t>
            </a:r>
            <a:endParaRPr lang="en-ID" sz="28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12028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63478-DE9E-C4F6-2269-66BA8DED0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C2741-411A-5156-BF75-683C3B94C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Binary Tree Properties and Operations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8F3AD-0D58-0B82-3AF6-729AFE9A8A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Binary Tree 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DD9F0-54F5-6E8E-064B-9718DFF9C56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 lnSpcReduction="10000"/>
          </a:bodyPr>
          <a:lstStyle/>
          <a:p>
            <a:pPr marL="101600" indent="0" algn="just">
              <a:buNone/>
            </a:pPr>
            <a:r>
              <a:rPr lang="en-US" dirty="0"/>
              <a:t>A </a:t>
            </a:r>
            <a:r>
              <a:rPr lang="en-US" b="1" dirty="0"/>
              <a:t>binary tree </a:t>
            </a:r>
            <a:r>
              <a:rPr lang="en-US" dirty="0"/>
              <a:t>is a rooted tree where each node has at most two children, called left child and right child.</a:t>
            </a:r>
          </a:p>
          <a:p>
            <a:pPr marL="101600" indent="0" algn="just">
              <a:buNone/>
            </a:pPr>
            <a:r>
              <a:rPr lang="en-US" dirty="0"/>
              <a:t>Properties:</a:t>
            </a:r>
          </a:p>
          <a:p>
            <a:pPr marL="673100" indent="-571500" algn="just"/>
            <a:r>
              <a:rPr lang="en-US" dirty="0"/>
              <a:t>A binary tree with n nodes has exactly n−1 edges.</a:t>
            </a:r>
          </a:p>
          <a:p>
            <a:pPr marL="673100" indent="-571500" algn="just"/>
            <a:r>
              <a:rPr lang="en-US" dirty="0"/>
              <a:t>A full binary tree has every node with 0 or 2 children.</a:t>
            </a:r>
          </a:p>
          <a:p>
            <a:pPr marL="673100" indent="-571500" algn="just"/>
            <a:r>
              <a:rPr lang="en-US" dirty="0"/>
              <a:t>A complete binary tree of depth d has all nodes at depths 0 through d−1, with depth-d nodes filled left to right.</a:t>
            </a:r>
          </a:p>
          <a:p>
            <a:pPr marL="673100" indent="-571500" algn="just"/>
            <a:r>
              <a:rPr lang="en-US" dirty="0"/>
              <a:t>A perfect binary tree of height h has exactly 2^(h+1)−1 nodes (all leaves at the same depth).</a:t>
            </a:r>
          </a:p>
          <a:p>
            <a:pPr marL="101600" indent="0" algn="just">
              <a:buNone/>
            </a:pPr>
            <a:r>
              <a:rPr lang="en-US" b="1" dirty="0"/>
              <a:t>Height of a complete binary tree with n nodes: </a:t>
            </a:r>
            <a:r>
              <a:rPr lang="en-US" dirty="0"/>
              <a:t>h = ⌊log₂ n⌋.</a:t>
            </a:r>
          </a:p>
        </p:txBody>
      </p:sp>
    </p:spTree>
    <p:extLst>
      <p:ext uri="{BB962C8B-B14F-4D97-AF65-F5344CB8AC3E}">
        <p14:creationId xmlns:p14="http://schemas.microsoft.com/office/powerpoint/2010/main" val="389266257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6E757-C817-A721-2E4A-0337B8486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A315B-059F-E827-52ED-FCE1D828C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Binary Tree Properties and Operations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B69A8-7D14-09DF-DE89-D0FC12D47F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Binary Search Tree (BST)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461D11-769E-8297-DCF9-A31B1697316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A BST is a binary tree satisfying the BST property: for any node x, all keys in x's left subtree are ≤ </a:t>
            </a:r>
            <a:r>
              <a:rPr lang="en-US" dirty="0" err="1"/>
              <a:t>x.key</a:t>
            </a:r>
            <a:r>
              <a:rPr lang="en-US" dirty="0"/>
              <a:t>, and all keys in x's right subtree are ≥ </a:t>
            </a:r>
            <a:r>
              <a:rPr lang="en-US" dirty="0" err="1"/>
              <a:t>x.key</a:t>
            </a:r>
            <a:r>
              <a:rPr lang="en-US" dirty="0"/>
              <a:t> (CLRS, p. 312; </a:t>
            </a:r>
            <a:r>
              <a:rPr lang="en-US" dirty="0" err="1"/>
              <a:t>Skiena</a:t>
            </a:r>
            <a:r>
              <a:rPr lang="en-US" dirty="0"/>
              <a:t>, p. 81).</a:t>
            </a:r>
          </a:p>
          <a:p>
            <a:pPr marL="101600" indent="0" algn="just">
              <a:buNone/>
            </a:pPr>
            <a:r>
              <a:rPr lang="en-US" b="1" dirty="0"/>
              <a:t>Operations on a BST with height h: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34FA69F-6DBF-82BE-D901-5F6E00462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257669"/>
              </p:ext>
            </p:extLst>
          </p:nvPr>
        </p:nvGraphicFramePr>
        <p:xfrm>
          <a:off x="2433983" y="7170792"/>
          <a:ext cx="16256000" cy="347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305934429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3764396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Operation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075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SEARCH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O(h)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285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INSERT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O(h)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367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DELETE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O(h)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349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MIN / MAX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O(h)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367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SUCCESSOR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O(h)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755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57777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E43D0-C93F-B909-05E5-2F88ED2B7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F0246-3BF1-727B-9B24-C90C10934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Binary Tree Properties and Operations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196A3-AA92-FDBE-C0C5-932E542F29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Binary Search Tree (BST)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4AC74-3A91-1C70-0054-D3322E2FD78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For a random BST with n distinct keys, the expected height is O(log n). In the worst case (already sorted input), height is O(n).</a:t>
            </a:r>
          </a:p>
          <a:p>
            <a:pPr marL="101600" indent="0" algn="just">
              <a:buNone/>
            </a:pPr>
            <a:r>
              <a:rPr lang="en-US" b="1" dirty="0"/>
              <a:t>Search: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0DE409-BBBC-E788-03C2-74E633496340}"/>
              </a:ext>
            </a:extLst>
          </p:cNvPr>
          <p:cNvSpPr/>
          <p:nvPr/>
        </p:nvSpPr>
        <p:spPr>
          <a:xfrm>
            <a:off x="2414193" y="6437788"/>
            <a:ext cx="8936294" cy="1579920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BST-SEARCH(x, k)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1  if x == NIL or k == 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x.key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: return x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2  if k &lt; 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x.key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: return BST-SEARCH(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x.left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, k)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3  else: return BST-SEARCH(</a:t>
            </a:r>
            <a:r>
              <a:rPr lang="en-US" sz="2400" b="1" i="0" dirty="0" err="1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x.right</a:t>
            </a:r>
            <a:r>
              <a:rPr lang="en-US" sz="2400" b="1" i="0" dirty="0">
                <a:solidFill>
                  <a:srgbClr val="424242"/>
                </a:solidFill>
                <a:effectLst/>
                <a:latin typeface="Courier New" panose="02070309020205020404" pitchFamily="49" charset="0"/>
              </a:rPr>
              <a:t>, k)</a:t>
            </a:r>
          </a:p>
        </p:txBody>
      </p:sp>
    </p:spTree>
    <p:extLst>
      <p:ext uri="{BB962C8B-B14F-4D97-AF65-F5344CB8AC3E}">
        <p14:creationId xmlns:p14="http://schemas.microsoft.com/office/powerpoint/2010/main" val="2360833870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48B37-2AFF-AA52-A697-B387F6CF4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BB963-7570-995E-24B5-CE6269CF5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Time vs. space trade-off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244C0-5625-5AAC-F0E1-95B4ECB309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General principle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B8747B-2E34-730D-E34B-8F6FB7EFE6C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Algorithms often trade time for space or vice versa:</a:t>
            </a:r>
          </a:p>
          <a:p>
            <a:pPr marL="673100" indent="-571500" algn="just"/>
            <a:r>
              <a:rPr lang="en-US" b="1" dirty="0" err="1"/>
              <a:t>Memoization</a:t>
            </a:r>
            <a:r>
              <a:rPr lang="en-US" b="1" dirty="0"/>
              <a:t> / caching: </a:t>
            </a:r>
            <a:r>
              <a:rPr lang="en-US" dirty="0"/>
              <a:t>use extra space (O(n)) to avoid </a:t>
            </a:r>
            <a:r>
              <a:rPr lang="en-US" dirty="0" err="1"/>
              <a:t>recomputation</a:t>
            </a:r>
            <a:r>
              <a:rPr lang="en-US" dirty="0"/>
              <a:t>, reducing time from O(2ⁿ) to O(n) for Fibonacci.</a:t>
            </a:r>
          </a:p>
          <a:p>
            <a:pPr marL="673100" indent="-571500" algn="just"/>
            <a:r>
              <a:rPr lang="en-US" b="1" dirty="0"/>
              <a:t>In-place sorting: </a:t>
            </a:r>
            <a:r>
              <a:rPr lang="en-US" dirty="0"/>
              <a:t>save space (O(1) auxiliary) at the cost of slower constant factors or more complex implementation.</a:t>
            </a:r>
          </a:p>
          <a:p>
            <a:pPr marL="673100" indent="-571500" algn="just"/>
            <a:r>
              <a:rPr lang="en-US" b="1" dirty="0"/>
              <a:t>Hash table: </a:t>
            </a:r>
            <a:r>
              <a:rPr lang="en-US" dirty="0"/>
              <a:t>O(n) space for O(1) average lookup instead of O(log n) BST lookup.</a:t>
            </a:r>
          </a:p>
        </p:txBody>
      </p:sp>
    </p:spTree>
    <p:extLst>
      <p:ext uri="{BB962C8B-B14F-4D97-AF65-F5344CB8AC3E}">
        <p14:creationId xmlns:p14="http://schemas.microsoft.com/office/powerpoint/2010/main" val="401372204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0FB21-0333-69A5-130A-8AA2A6756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337C5-D1C3-C574-DC02-CD0D7515F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Time vs. space trade-off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25DF8-61D4-E5C2-9646-BDB596DF77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Data Structure Selection Guidelines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8D7CF-DA38-1F23-C145-5B58A2C5496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 lnSpcReduction="10000"/>
          </a:bodyPr>
          <a:lstStyle/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endParaRPr lang="en-US" dirty="0"/>
          </a:p>
          <a:p>
            <a:pPr marL="101600" indent="0" algn="just">
              <a:buNone/>
            </a:pPr>
            <a:r>
              <a:rPr lang="en-US" b="1" dirty="0"/>
              <a:t>Note on "Balanced BST" (CLRS Ch. 13, p. 308): </a:t>
            </a:r>
            <a:r>
              <a:rPr lang="en-US" dirty="0"/>
              <a:t>In this course, "Balanced BST" refers specifically to a </a:t>
            </a:r>
            <a:r>
              <a:rPr lang="en-US" b="1" dirty="0"/>
              <a:t>Red-Black Tree </a:t>
            </a:r>
            <a:r>
              <a:rPr lang="en-US" dirty="0"/>
              <a:t>(CLRS Ch. 13) or an </a:t>
            </a:r>
            <a:r>
              <a:rPr lang="en-US" b="1" dirty="0"/>
              <a:t>AVL Tree. </a:t>
            </a:r>
            <a:r>
              <a:rPr lang="en-US" dirty="0"/>
              <a:t>Both maintain height h = O(log n) by enforcing structural balance invariants after every insert/delete, guaranteeing O(log n) search, insert, and delete operations in the worst case. A plain BST without balance maintenance degenerates to O(n) height on sorted input.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668A2D-365A-3E52-5C5A-43AD3563D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51818"/>
              </p:ext>
            </p:extLst>
          </p:nvPr>
        </p:nvGraphicFramePr>
        <p:xfrm>
          <a:off x="2306523" y="3714224"/>
          <a:ext cx="18187962" cy="405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98936">
                  <a:extLst>
                    <a:ext uri="{9D8B030D-6E8A-4147-A177-3AD203B41FA5}">
                      <a16:colId xmlns:a16="http://schemas.microsoft.com/office/drawing/2014/main" val="2805384908"/>
                    </a:ext>
                  </a:extLst>
                </a:gridCol>
                <a:gridCol w="11589026">
                  <a:extLst>
                    <a:ext uri="{9D8B030D-6E8A-4147-A177-3AD203B41FA5}">
                      <a16:colId xmlns:a16="http://schemas.microsoft.com/office/drawing/2014/main" val="3443241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1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Requirment</a:t>
                      </a:r>
                      <a:endParaRPr lang="en-US" sz="32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Preferred </a:t>
                      </a:r>
                      <a:r>
                        <a:rPr lang="en-US" sz="3200" b="1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Stucture</a:t>
                      </a:r>
                      <a:endParaRPr lang="en-US" sz="32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41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LIFO </a:t>
                      </a:r>
                      <a:r>
                        <a:rPr lang="en-US" sz="32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acces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Stack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881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LIFO </a:t>
                      </a:r>
                      <a:r>
                        <a:rPr lang="en-US" sz="32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acces</a:t>
                      </a:r>
                      <a:endParaRPr lang="en-US" sz="3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Queue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015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Priority </a:t>
                      </a:r>
                      <a:r>
                        <a:rPr lang="en-US" sz="32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acces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(max/min </a:t>
                      </a:r>
                      <a:r>
                        <a:rPr lang="en-US" sz="32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fisrt</a:t>
                      </a:r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Heap (Session 6)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882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Ordered dynamic set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Balanced BST (Red-black Tree or AVL Tree) – see note below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91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Fast lookup by key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Hash table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396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Hierarchical data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Tree</a:t>
                      </a:r>
                    </a:p>
                  </a:txBody>
                  <a:tcP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43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24924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D4745-38F4-6B70-C5E6-490DEC1C3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F9FB6-5216-72D8-C2D6-855C73FF3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90BD9-2B4B-AAF0-7C79-E2CD378F4B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2799908" cy="803546"/>
          </a:xfrm>
        </p:spPr>
        <p:txBody>
          <a:bodyPr>
            <a:noAutofit/>
          </a:bodyPr>
          <a:lstStyle/>
          <a:p>
            <a:r>
              <a:rPr lang="en-ID" dirty="0"/>
              <a:t>Session 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C2CE5-A3E8-9383-F708-28F2C13D0D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49246" cy="9138176"/>
          </a:xfrm>
        </p:spPr>
        <p:txBody>
          <a:bodyPr>
            <a:normAutofit/>
          </a:bodyPr>
          <a:lstStyle/>
          <a:p>
            <a:pPr algn="just"/>
            <a:r>
              <a:rPr lang="en-ID" b="1" dirty="0"/>
              <a:t>Stack: </a:t>
            </a:r>
            <a:r>
              <a:rPr lang="en-ID" dirty="0"/>
              <a:t>LIFO; push/pop in O(1); O(1) auxiliary space.</a:t>
            </a:r>
          </a:p>
          <a:p>
            <a:pPr algn="just"/>
            <a:r>
              <a:rPr lang="en-ID" b="1" dirty="0"/>
              <a:t>Queue: </a:t>
            </a:r>
            <a:r>
              <a:rPr lang="en-ID" dirty="0"/>
              <a:t>FIFO; enqueue/dequeue in O(1) with circular array.</a:t>
            </a:r>
          </a:p>
          <a:p>
            <a:pPr algn="just"/>
            <a:r>
              <a:rPr lang="en-ID" b="1" dirty="0"/>
              <a:t>Auxiliary space </a:t>
            </a:r>
            <a:r>
              <a:rPr lang="en-ID" dirty="0"/>
              <a:t>is the algorithm's additional memory beyond the input; recursion contributes O(depth) stack space.</a:t>
            </a:r>
          </a:p>
          <a:p>
            <a:pPr algn="just"/>
            <a:r>
              <a:rPr lang="en-ID" b="1" dirty="0"/>
              <a:t>Tree traversals </a:t>
            </a:r>
            <a:r>
              <a:rPr lang="en-ID" dirty="0"/>
              <a:t>(preorder, </a:t>
            </a:r>
            <a:r>
              <a:rPr lang="en-ID" dirty="0" err="1"/>
              <a:t>inorder</a:t>
            </a:r>
            <a:r>
              <a:rPr lang="en-ID" dirty="0"/>
              <a:t>, </a:t>
            </a:r>
            <a:r>
              <a:rPr lang="en-ID" dirty="0" err="1"/>
              <a:t>postorder</a:t>
            </a:r>
            <a:r>
              <a:rPr lang="en-ID" dirty="0"/>
              <a:t>) run in O(n) time and O(h) space.</a:t>
            </a:r>
          </a:p>
          <a:p>
            <a:pPr algn="just"/>
            <a:r>
              <a:rPr lang="en-ID" b="1" dirty="0"/>
              <a:t>BST operations </a:t>
            </a:r>
            <a:r>
              <a:rPr lang="en-ID" dirty="0"/>
              <a:t>run in O(h); for a balanced BST (Red-Black Tree or AVL) h = O(log n) guaranteed.</a:t>
            </a:r>
          </a:p>
          <a:p>
            <a:pPr algn="just"/>
            <a:r>
              <a:rPr lang="en-ID" dirty="0"/>
              <a:t>Choose data structures based on the required operations and the time-space budget.</a:t>
            </a:r>
          </a:p>
        </p:txBody>
      </p:sp>
    </p:spTree>
    <p:extLst>
      <p:ext uri="{BB962C8B-B14F-4D97-AF65-F5344CB8AC3E}">
        <p14:creationId xmlns:p14="http://schemas.microsoft.com/office/powerpoint/2010/main" val="1882852525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7B5EF-EDE6-A5C1-32F8-99BB8919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09DF9-DA86-1C2B-B43B-04A7374DD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Exercises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CDDA6-47F0-D21A-1287-73DE12AE70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2799908" cy="803546"/>
          </a:xfrm>
        </p:spPr>
        <p:txBody>
          <a:bodyPr>
            <a:noAutofit/>
          </a:bodyPr>
          <a:lstStyle/>
          <a:p>
            <a:r>
              <a:rPr lang="en-ID" dirty="0"/>
              <a:t>Session 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4B44C8-A6ED-A683-33EE-A99E42E2D6D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49246" cy="9138176"/>
          </a:xfrm>
        </p:spPr>
        <p:txBody>
          <a:bodyPr>
            <a:normAutofit lnSpcReduction="10000"/>
          </a:bodyPr>
          <a:lstStyle/>
          <a:p>
            <a:pPr algn="just">
              <a:buFont typeface="+mj-lt"/>
              <a:buAutoNum type="arabicPeriod"/>
            </a:pPr>
            <a:r>
              <a:rPr lang="en-US" dirty="0"/>
              <a:t>Simulate PUSH and POP on a stack initialized to ⟨3, 2, 1⟩ (top = 3) with operations: PUSH(4), POP(), PUSH(5), POP(), POP(). What is the final state?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Draw the BST resulting from inserting the keys 5, 3, 7, 1, 4, 6, 8 in that order. Then write the </a:t>
            </a:r>
            <a:r>
              <a:rPr lang="en-US" dirty="0" err="1"/>
              <a:t>inorder</a:t>
            </a:r>
            <a:r>
              <a:rPr lang="en-US" dirty="0"/>
              <a:t> traversal — what property does it have?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A recursive DFS on a graph with n nodes and no back-edges (a tree) uses how much stack space in the worst case? In the best case?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Compare auxiliary space of iterative Merge Sort (using a temporary array) vs. iterative Bottom-Up Merge Sort (same algorithm, different framing). Are they different?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Explain why inserting n keys into a BST in sorted order gives a worst-case O(n²) total insertion time.</a:t>
            </a:r>
          </a:p>
        </p:txBody>
      </p:sp>
    </p:spTree>
    <p:extLst>
      <p:ext uri="{BB962C8B-B14F-4D97-AF65-F5344CB8AC3E}">
        <p14:creationId xmlns:p14="http://schemas.microsoft.com/office/powerpoint/2010/main" val="153871225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3"/>
            <a:ext cx="19309300" cy="868097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D" b="1" dirty="0"/>
              <a:t>Primary (Required):</a:t>
            </a:r>
            <a:r>
              <a:rPr lang="en-ID" dirty="0" err="1"/>
              <a:t>Cormen</a:t>
            </a:r>
            <a:r>
              <a:rPr lang="en-ID" dirty="0"/>
              <a:t>, T.H., </a:t>
            </a:r>
            <a:r>
              <a:rPr lang="en-ID" dirty="0" err="1"/>
              <a:t>Leiserson</a:t>
            </a:r>
            <a:r>
              <a:rPr lang="en-ID" dirty="0"/>
              <a:t>, C.E., Rivest, R.L., &amp; Stein, C. (2022). </a:t>
            </a:r>
            <a:r>
              <a:rPr lang="en-ID" i="1" dirty="0"/>
              <a:t>Introduction to Algorithms, 4th Edition. </a:t>
            </a:r>
            <a:r>
              <a:rPr lang="en-ID" dirty="0"/>
              <a:t>MIT Press.</a:t>
            </a:r>
          </a:p>
          <a:p>
            <a:r>
              <a:rPr lang="en-ID" dirty="0"/>
              <a:t>Ch. 10.1 — Simple Array-Based Data Structures: Arrays, Matrices, Stacks, Queues (p. 248)</a:t>
            </a:r>
          </a:p>
          <a:p>
            <a:r>
              <a:rPr lang="en-ID" dirty="0"/>
              <a:t>Ch. 10.3 — Representing Rooted Trees (p. 265)</a:t>
            </a:r>
          </a:p>
          <a:p>
            <a:r>
              <a:rPr lang="en-ID" dirty="0"/>
              <a:t>Ch. 13 — Red-Black Trees (p. 308) — balanced BST with O(log n) guaranteed operations</a:t>
            </a:r>
          </a:p>
          <a:p>
            <a:pPr marL="0" indent="0">
              <a:buNone/>
            </a:pPr>
            <a:r>
              <a:rPr lang="en-ID" b="1" dirty="0"/>
              <a:t>Secondary (Required):</a:t>
            </a:r>
            <a:r>
              <a:rPr lang="en-ID" dirty="0" err="1"/>
              <a:t>Skiena</a:t>
            </a:r>
            <a:r>
              <a:rPr lang="en-ID" dirty="0"/>
              <a:t>, S.S. (2020). </a:t>
            </a:r>
            <a:r>
              <a:rPr lang="en-ID" i="1" dirty="0"/>
              <a:t>The Algorithm Design Manual, 3rd Edition. </a:t>
            </a:r>
            <a:r>
              <a:rPr lang="en-ID" dirty="0"/>
              <a:t>Springer.</a:t>
            </a:r>
          </a:p>
          <a:p>
            <a:r>
              <a:rPr lang="en-ID" dirty="0"/>
              <a:t>Ch. 3.1 — Contiguous vs. Linked Data Structures (p. 69)</a:t>
            </a:r>
          </a:p>
          <a:p>
            <a:r>
              <a:rPr lang="en-ID" dirty="0"/>
              <a:t>Ch. 3.2 — Containers: Stacks and Queues (p. 75)</a:t>
            </a:r>
          </a:p>
          <a:p>
            <a:r>
              <a:rPr lang="en-ID" dirty="0"/>
              <a:t>Ch. 3.4 — Binary Search Trees (p. 81)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5154</TotalTime>
  <Words>2087</Words>
  <Application>Microsoft Office PowerPoint</Application>
  <PresentationFormat>Custom</PresentationFormat>
  <Paragraphs>223</Paragraphs>
  <Slides>26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21_BasicWhite</vt:lpstr>
      <vt:lpstr>DS: Stack, Queue, Tree &amp; Binary Tree (incl. Space Complexity)</vt:lpstr>
      <vt:lpstr>Learning Outcomes</vt:lpstr>
      <vt:lpstr>Learning Outcomes</vt:lpstr>
      <vt:lpstr>outline</vt:lpstr>
      <vt:lpstr>Stack and Queue</vt:lpstr>
      <vt:lpstr>Stack analysis</vt:lpstr>
      <vt:lpstr>Stack and Queue</vt:lpstr>
      <vt:lpstr>Stack and Queue</vt:lpstr>
      <vt:lpstr>Stack and Queue</vt:lpstr>
      <vt:lpstr>Stack and Queue</vt:lpstr>
      <vt:lpstr>Stack and Queue</vt:lpstr>
      <vt:lpstr>Space complexity</vt:lpstr>
      <vt:lpstr>Space complexity</vt:lpstr>
      <vt:lpstr>Space complexity</vt:lpstr>
      <vt:lpstr>Tree terminology and traversals</vt:lpstr>
      <vt:lpstr>Tree terminology and traversals</vt:lpstr>
      <vt:lpstr>Tree terminology and traversals</vt:lpstr>
      <vt:lpstr>Tree terminology and traversals</vt:lpstr>
      <vt:lpstr>Binary Tree Properties and Operations</vt:lpstr>
      <vt:lpstr>Binary Tree Properties and Operations</vt:lpstr>
      <vt:lpstr>Binary Tree Properties and Operations</vt:lpstr>
      <vt:lpstr>Time vs. space trade-off</vt:lpstr>
      <vt:lpstr>Time vs. space trade-off</vt:lpstr>
      <vt:lpstr>Summary</vt:lpstr>
      <vt:lpstr>Exercises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Asus -</cp:lastModifiedBy>
  <cp:revision>99</cp:revision>
  <dcterms:created xsi:type="dcterms:W3CDTF">2023-11-17T02:51:40Z</dcterms:created>
  <dcterms:modified xsi:type="dcterms:W3CDTF">2026-08-21T04:34:12Z</dcterms:modified>
</cp:coreProperties>
</file>