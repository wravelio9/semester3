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08" r:id="rId4"/>
    <p:sldId id="258" r:id="rId5"/>
    <p:sldId id="259" r:id="rId6"/>
    <p:sldId id="309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34" r:id="rId21"/>
    <p:sldId id="335" r:id="rId22"/>
    <p:sldId id="278" r:id="rId23"/>
  </p:sldIdLst>
  <p:sldSz cx="24384000" cy="13716000"/>
  <p:notesSz cx="6858000" cy="9144000"/>
  <p:embeddedFontLst>
    <p:embeddedFont>
      <p:font typeface="OCRB" panose="020B0609020202020204" pitchFamily="49" charset="77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Open Sans ExtraBold" panose="020B0606030504020204" pitchFamily="34" charset="0"/>
      <p:bold r:id="rId30"/>
      <p:italic r:id="rId31"/>
      <p:boldItalic r:id="rId32"/>
    </p:embeddedFont>
    <p:embeddedFont>
      <p:font typeface="Open Sans Light" panose="020B0306030504020204" pitchFamily="34" charset="0"/>
      <p:regular r:id="rId33"/>
      <p:italic r:id="rId34"/>
    </p:embeddedFont>
    <p:embeddedFont>
      <p:font typeface="Open Sans Semibold" panose="020B0606030504020204" pitchFamily="34" charset="0"/>
      <p:regular r:id="rId35"/>
      <p:bold r:id="rId36"/>
      <p:italic r:id="rId37"/>
      <p:boldItalic r:id="rId3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FFF7D6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790EFA-756C-EE4C-B428-06A0ED98E99D}" v="1" dt="2026-06-28T05:45:26.30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48" autoAdjust="0"/>
    <p:restoredTop sz="95584"/>
  </p:normalViewPr>
  <p:slideViewPr>
    <p:cSldViewPr snapToGrid="0" snapToObjects="1">
      <p:cViewPr varScale="1">
        <p:scale>
          <a:sx n="30" d="100"/>
          <a:sy n="30" d="100"/>
        </p:scale>
        <p:origin x="256" y="164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a Ananda Putri Masaling" userId="d889fca3-0297-4ee7-bfd8-ca7480643ec1" providerId="ADAL" clId="{5AAFE8E2-5E44-54CB-A18C-3BE6DB92F9CC}"/>
    <pc:docChg chg="modSld">
      <pc:chgData name="Nikita Ananda Putri Masaling" userId="d889fca3-0297-4ee7-bfd8-ca7480643ec1" providerId="ADAL" clId="{5AAFE8E2-5E44-54CB-A18C-3BE6DB92F9CC}" dt="2026-06-28T05:45:26.297" v="0"/>
      <pc:docMkLst>
        <pc:docMk/>
      </pc:docMkLst>
      <pc:sldChg chg="modSp">
        <pc:chgData name="Nikita Ananda Putri Masaling" userId="d889fca3-0297-4ee7-bfd8-ca7480643ec1" providerId="ADAL" clId="{5AAFE8E2-5E44-54CB-A18C-3BE6DB92F9CC}" dt="2026-06-28T05:45:26.297" v="0"/>
        <pc:sldMkLst>
          <pc:docMk/>
          <pc:sldMk cId="184663633" sldId="308"/>
        </pc:sldMkLst>
        <pc:spChg chg="mod">
          <ac:chgData name="Nikita Ananda Putri Masaling" userId="d889fca3-0297-4ee7-bfd8-ca7480643ec1" providerId="ADAL" clId="{5AAFE8E2-5E44-54CB-A18C-3BE6DB92F9CC}" dt="2026-06-28T05:45:26.297" v="0"/>
          <ac:spMkLst>
            <pc:docMk/>
            <pc:sldMk cId="184663633" sldId="308"/>
            <ac:spMk id="4" creationId="{316C8106-38DC-428F-D042-636BD720D8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948138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8FC2-5C26-33A7-9770-5DF518D2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0C54-60C5-266B-567C-0E58520CB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A69FD-7CBA-83C2-82A4-30021C20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3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790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46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2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84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014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545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488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87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08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1321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109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6096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828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DE2D-575D-9745-EDBA-3E1B2A6A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4E989-D5CF-1C99-4F1B-DF8343086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BFBF6-2836-F710-1A09-759B208B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25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90AD-5D35-A521-B025-D45D25C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33319-5D4A-F287-8CC5-579B5774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CB86-BDA9-52AC-7B13-B40299DB1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1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/>
              <a:t>Greedy: knapsack, disjoint sets, </a:t>
            </a:r>
            <a:r>
              <a:rPr lang="en-ID" b="1" dirty="0" err="1"/>
              <a:t>mst</a:t>
            </a:r>
            <a:r>
              <a:rPr lang="en-ID" b="1" dirty="0"/>
              <a:t> &amp; shortest path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pPr algn="just"/>
            <a:r>
              <a:rPr lang="en-US" b="1" dirty="0"/>
              <a:t>LO 2: </a:t>
            </a:r>
            <a:r>
              <a:rPr lang="en-US" dirty="0"/>
              <a:t>Analyze unfamiliar computational problems by identifying their structural properties, classifying them into known algorithmic categories including graph, string, and combinatorial problems and recommending a solution strategy with justification.</a:t>
            </a:r>
          </a:p>
          <a:p>
            <a:pPr algn="just"/>
            <a:r>
              <a:rPr lang="en-US" b="1" dirty="0"/>
              <a:t>LO 3: </a:t>
            </a:r>
            <a:r>
              <a:rPr lang="en-US" dirty="0"/>
              <a:t>Design solutions to unfamiliar computational problems by selecting and applying appropriate strategies including Divide and Conquer, Greedy, Dynamic Programming, and Backtracking.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1F8D-55B0-83E8-D26D-92158A98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51A2-AC99-FA15-EE33-A71934E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0198E-B608-50F8-3760-250A6613A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C8106-38DC-428F-D042-636BD720D8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session, students will be able to:</a:t>
            </a:r>
          </a:p>
          <a:p>
            <a:r>
              <a:rPr lang="en-ID" dirty="0"/>
              <a:t>[LO 2] Identify greedy as appropriate for fractional knapsack, MST, and SSSP; classify problems where greedy succeeds vs. fails (0/1 knapsack) by verifying the greedy-choice property; distinguish disjoint-set union as a greedy-supporting data structure.</a:t>
            </a:r>
          </a:p>
          <a:p>
            <a:r>
              <a:rPr lang="en-ID" dirty="0"/>
              <a:t>[LO 3] Design and apply fractional knapsack greedy, Kruskal's and Prim's MST algorithms with Union-Find (path compression + union by rank), and Dijkstra's SSSP; implement DECREASE-KEY for Dijkstra using a min-heap.</a:t>
            </a:r>
          </a:p>
        </p:txBody>
      </p:sp>
    </p:spTree>
    <p:extLst>
      <p:ext uri="{BB962C8B-B14F-4D97-AF65-F5344CB8AC3E}">
        <p14:creationId xmlns:p14="http://schemas.microsoft.com/office/powerpoint/2010/main" val="18466363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Greedy Paradigm — When It Works and When It Fails</a:t>
            </a:r>
          </a:p>
          <a:p>
            <a:r>
              <a:rPr lang="en-US" dirty="0"/>
              <a:t>Fractional Knapsack</a:t>
            </a:r>
          </a:p>
          <a:p>
            <a:r>
              <a:rPr lang="en-US" dirty="0"/>
              <a:t>Disjoint Sets: Union-Find with Path Compression and Union by Rank</a:t>
            </a:r>
          </a:p>
          <a:p>
            <a:r>
              <a:rPr lang="en-US" dirty="0"/>
              <a:t>Minimum Spanning Tree: </a:t>
            </a:r>
            <a:r>
              <a:rPr lang="en-US" dirty="0" err="1"/>
              <a:t>Kruskal's</a:t>
            </a:r>
            <a:r>
              <a:rPr lang="en-US" dirty="0"/>
              <a:t> and Prim's</a:t>
            </a:r>
          </a:p>
          <a:p>
            <a:r>
              <a:rPr lang="en-US" dirty="0" err="1"/>
              <a:t>Dijkstra's</a:t>
            </a:r>
            <a:r>
              <a:rPr lang="en-US" dirty="0"/>
              <a:t> Shortest Path Algorithm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Greedy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 lnSpcReduction="10000"/>
          </a:bodyPr>
          <a:lstStyle/>
          <a:p>
            <a:pPr marL="101600" indent="0" algn="just">
              <a:buNone/>
            </a:pPr>
            <a:r>
              <a:rPr lang="en-US" dirty="0"/>
              <a:t>A </a:t>
            </a:r>
            <a:r>
              <a:rPr lang="en-US" b="1" dirty="0"/>
              <a:t>greedy algorithm </a:t>
            </a:r>
            <a:r>
              <a:rPr lang="en-US" dirty="0"/>
              <a:t>builds a solution incrementally by making the locally optimal (greedy) choice at each step, never revising past decisions.</a:t>
            </a:r>
          </a:p>
          <a:p>
            <a:pPr marL="101600" indent="0" algn="just">
              <a:buNone/>
            </a:pPr>
            <a:r>
              <a:rPr lang="en-US" b="1" dirty="0"/>
              <a:t>When it works: </a:t>
            </a:r>
            <a:r>
              <a:rPr lang="en-US" dirty="0"/>
              <a:t>The problem exhibits:</a:t>
            </a:r>
          </a:p>
          <a:p>
            <a:pPr marL="844550" algn="just">
              <a:buFont typeface="+mj-lt"/>
              <a:buAutoNum type="arabicPeriod"/>
            </a:pPr>
            <a:r>
              <a:rPr lang="en-US" b="1" dirty="0"/>
              <a:t>Greedy-choice property: </a:t>
            </a:r>
            <a:r>
              <a:rPr lang="en-US" dirty="0"/>
              <a:t>A globally optimal solution can be reached by making a locally optimal choice.</a:t>
            </a:r>
          </a:p>
          <a:p>
            <a:pPr marL="844550" algn="just">
              <a:buFont typeface="+mj-lt"/>
              <a:buAutoNum type="arabicPeriod"/>
            </a:pPr>
            <a:r>
              <a:rPr lang="en-US" b="1" dirty="0"/>
              <a:t>Optimal substructure: </a:t>
            </a:r>
            <a:r>
              <a:rPr lang="en-US" dirty="0"/>
              <a:t>The optimal solution to the problem contains optimal solutions to </a:t>
            </a:r>
            <a:r>
              <a:rPr lang="en-US" dirty="0" err="1"/>
              <a:t>subproblems</a:t>
            </a:r>
            <a:r>
              <a:rPr lang="en-US" dirty="0"/>
              <a:t>.</a:t>
            </a:r>
          </a:p>
          <a:p>
            <a:pPr marL="101600" indent="0" algn="just">
              <a:buNone/>
            </a:pPr>
            <a:r>
              <a:rPr lang="en-US" b="1" dirty="0"/>
              <a:t>When it fails: </a:t>
            </a:r>
            <a:r>
              <a:rPr lang="en-US" dirty="0"/>
              <a:t>Greedy works for fractional knapsack but fails for 0/1 knapsack. It works for MST but fails for shortest path with negative edges.</a:t>
            </a:r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Given n items, each with weight wᵢ and value vᵢ, and a knapsack of capacity W, maximize total value by choosing fractions of items.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7439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Greedy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Compute value density = vᵢ/wᵢ for each item. Sort by descending density. Fill the knapsack greedily:</a:t>
            </a: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r>
              <a:rPr lang="pt-BR" dirty="0">
                <a:solidFill>
                  <a:schemeClr val="bg2">
                    <a:lumMod val="10000"/>
                  </a:schemeClr>
                </a:solidFill>
              </a:rPr>
              <a:t>Time: O(n log n) for sorting.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370576" y="5234010"/>
            <a:ext cx="12183623" cy="3426579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FRACTIONAL-KNAPSACK(items, W)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sort items by vᵢ/wᵢ descending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 total = 0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 for each item </a:t>
            </a:r>
            <a:r>
              <a:rPr lang="en-ID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i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in sorted order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if W ≥ wᵢ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take whole item: total += vᵢ; W -= wᵢ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else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take fraction: total += vᵢ × (W/wᵢ); W = 0; break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 return total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83268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Greedy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Correctness proof (exchange argument): </a:t>
            </a:r>
            <a:r>
              <a:rPr lang="en-US" dirty="0"/>
              <a:t>Any solution that deviates from the greedy order can be improved by swapping to match the greedy order, contradicting optimality of the deviation.</a:t>
            </a:r>
          </a:p>
          <a:p>
            <a:pPr marL="101600" indent="0" algn="just">
              <a:buNone/>
            </a:pPr>
            <a:r>
              <a:rPr lang="en-US" b="1" dirty="0"/>
              <a:t>Why greedy fails for 0/1 Knapsack: </a:t>
            </a:r>
            <a:r>
              <a:rPr lang="en-US" dirty="0"/>
              <a:t>Items cannot be split; the density-first order may leave the knapsack partially filled with a suboptimal total value. Dynamic Programming is required (Session 16).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32790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Disjoint sets (union-find)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Maintain a partition of n elements into disjoint sets. Support:</a:t>
            </a:r>
          </a:p>
          <a:p>
            <a:pPr marL="673100" indent="-571500" algn="just"/>
            <a:r>
              <a:rPr lang="en-US" dirty="0"/>
              <a:t>MAKE-SET(x) — create a singleton set {x}.</a:t>
            </a:r>
          </a:p>
          <a:p>
            <a:pPr marL="673100" indent="-571500" algn="just"/>
            <a:r>
              <a:rPr lang="en-US" dirty="0"/>
              <a:t>FIND-SET(x) — return the representative of x's set.</a:t>
            </a:r>
          </a:p>
          <a:p>
            <a:pPr marL="673100" indent="-571500" algn="just"/>
            <a:r>
              <a:rPr lang="en-US" dirty="0"/>
              <a:t>UNION(x, y) — merge the sets containing x and y.</a:t>
            </a:r>
          </a:p>
          <a:p>
            <a:pPr marL="101600" indent="0" algn="just">
              <a:buNone/>
            </a:pPr>
            <a:r>
              <a:rPr lang="en-US" dirty="0"/>
              <a:t>Used in </a:t>
            </a:r>
            <a:r>
              <a:rPr lang="en-US" dirty="0" err="1"/>
              <a:t>Kruskal's</a:t>
            </a:r>
            <a:r>
              <a:rPr lang="en-US" dirty="0"/>
              <a:t> MST to detect cycles.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73766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Disjoint sets (union-find)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Linked-List Representation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Simple but slow: UNION can cost O(n) in the worst case.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7325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Disjoint sets (union-find)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Disjoint-Set Forest with Optimizations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Each set is a tree; representative = root.</a:t>
            </a:r>
          </a:p>
          <a:p>
            <a:pPr marL="101600" indent="0" algn="just">
              <a:buNone/>
            </a:pPr>
            <a:r>
              <a:rPr lang="en-US" b="1" dirty="0"/>
              <a:t>Union by rank: </a:t>
            </a:r>
            <a:r>
              <a:rPr lang="en-US" dirty="0"/>
              <a:t>always attach the shorter tree under the taller. Rank = upper bound on height.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370577" y="6572120"/>
            <a:ext cx="8526024" cy="1949252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UNION(x, y)</a:t>
            </a:r>
          </a:p>
          <a:p>
            <a:pPr algn="l"/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1 LINK(FIND-SET(x), FIND-SET(y))LINK(x, y)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if </a:t>
            </a:r>
            <a:r>
              <a:rPr lang="en-ID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x.rank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&gt; </a:t>
            </a:r>
            <a:r>
              <a:rPr lang="en-ID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y.rank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: </a:t>
            </a:r>
            <a:r>
              <a:rPr lang="en-ID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y.parent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= x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2  </a:t>
            </a:r>
            <a:r>
              <a:rPr lang="en-ID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elif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</a:t>
            </a:r>
            <a:r>
              <a:rPr lang="en-ID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x.rank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&lt; </a:t>
            </a:r>
            <a:r>
              <a:rPr lang="en-ID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y.rank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: </a:t>
            </a:r>
            <a:r>
              <a:rPr lang="en-ID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x.parent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= y</a:t>
            </a:r>
          </a:p>
          <a:p>
            <a:pPr marL="457200" indent="-457200" algn="l">
              <a:buAutoNum type="arabicPlain"/>
            </a:pP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3  else: </a:t>
            </a:r>
            <a:r>
              <a:rPr lang="en-ID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y.parent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 = x; </a:t>
            </a:r>
            <a:r>
              <a:rPr lang="en-ID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x.rank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++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61727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Disjoint sets (union-find)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Disjoint-Set Forest with Optimizations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Path compression: </a:t>
            </a:r>
            <a:r>
              <a:rPr lang="en-US" dirty="0"/>
              <a:t>on FIND-SET, flatten the tree by making every node on the find path point directly to the root.</a:t>
            </a: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Combined complexity: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operations (MAKE-SET, UNION, FIND-SET) on n elements cost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O(m α(n))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total, where α(n) is the inverse Ackermann function — essentially constant for all practical n (α(n) ≤ 4 for n ≤ 10^{80}).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370577" y="5451926"/>
            <a:ext cx="8068824" cy="1579920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FIND-SET(x)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if x ≠ 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x.parent</a:t>
            </a:r>
            <a:endParaRPr lang="en-US" b="1" dirty="0">
              <a:solidFill>
                <a:srgbClr val="424242"/>
              </a:solidFill>
              <a:latin typeface="Courier New" panose="02070309020205020404" pitchFamily="49" charset="0"/>
            </a:endParaRP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2      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x.parent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= FIND-SET(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x.parent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3  return 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x.parent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2408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Given a connected undirected weighted graph G = (V, E, w), find a spanning tree T ⊆ E that minimizes ∑_{</a:t>
            </a:r>
            <a:r>
              <a:rPr lang="en-US" dirty="0" err="1"/>
              <a:t>e∈T</a:t>
            </a:r>
            <a:r>
              <a:rPr lang="en-US" dirty="0"/>
              <a:t>} w(e).</a:t>
            </a:r>
          </a:p>
          <a:p>
            <a:pPr marL="101600" indent="0" algn="just">
              <a:buNone/>
            </a:pPr>
            <a:r>
              <a:rPr lang="en-US" b="1" dirty="0"/>
              <a:t>MST applications: </a:t>
            </a:r>
            <a:r>
              <a:rPr lang="en-US" dirty="0"/>
              <a:t>network design, clustering, image segmentation, VLSI routing.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78999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Generic </a:t>
            </a:r>
            <a:r>
              <a:rPr lang="en-ID" dirty="0" err="1"/>
              <a:t>mst</a:t>
            </a:r>
            <a:r>
              <a:rPr lang="en-ID" dirty="0"/>
              <a:t>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Cut property: </a:t>
            </a:r>
            <a:r>
              <a:rPr lang="en-US" dirty="0"/>
              <a:t>If (S, V\S) is any cut, and e is the minimum-weight edge crossing the cut, then e belongs to some MST.</a:t>
            </a:r>
          </a:p>
          <a:p>
            <a:pPr marL="101600" indent="0" algn="just">
              <a:buNone/>
            </a:pPr>
            <a:r>
              <a:rPr lang="en-US" dirty="0"/>
              <a:t>All MST algorithms maintain a safe edge set A ⊆ MST: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370576" y="6481572"/>
            <a:ext cx="8780023" cy="2318583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GENERIC-MST(G, w)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A = {}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while A does not form a spanning tree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find a safe edge (u, v) for A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A = A ∪ {(u, v)}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return A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92494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Kruskal’s</a:t>
            </a:r>
            <a:r>
              <a:rPr lang="en-ID" dirty="0"/>
              <a:t>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Sort edges by weight; add edge if it does not create a cycle (use Union-Find).</a:t>
            </a: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Time: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O(E log E) = O(E log V) — dominated by sorting.</a:t>
            </a: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Correctness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: Each added edge crosses a cut and is minimum weight crossing that cut → safe edge by cut property.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370576" y="5267174"/>
            <a:ext cx="8780023" cy="3426579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KRUSKAL(G, w)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A = {}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for each vertex v: MAKE-SET(v)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sort edges by weight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for each edge (u, v) in sorted order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if FIND-SET(u) ≠ FIND-SET(v)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A = A ∪ {(u, v)}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UNION(u, v)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return A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3502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Prim’s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Grow one tree greedily: always add the minimum-weight edge connecting the tree to a non-tree vertex.</a:t>
            </a: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Time: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O((V + E) log V) with a binary min-heap; O(E + V log V) with a Fibonacci heap.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370576" y="5514308"/>
            <a:ext cx="8780023" cy="3795911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PRIM(G, w, r)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for each u ∈ V: key[u] = ∞; </a:t>
            </a:r>
            <a:r>
              <a:rPr lang="el-GR" b="1" dirty="0">
                <a:solidFill>
                  <a:srgbClr val="424242"/>
                </a:solidFill>
                <a:latin typeface="Courier New" panose="02070309020205020404" pitchFamily="49" charset="0"/>
              </a:rPr>
              <a:t>π[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u] = NIL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key[r] = 0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Q = min-priority queue of V by key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while Q ≠ {}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u = EXTRACT-MIN(Q)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for each v adjacent to u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if v ∈ Q and w(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u,v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) &lt; key[v]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    </a:t>
            </a:r>
            <a:r>
              <a:rPr lang="el-GR" b="1" dirty="0">
                <a:solidFill>
                  <a:srgbClr val="424242"/>
                </a:solidFill>
                <a:latin typeface="Courier New" panose="02070309020205020404" pitchFamily="49" charset="0"/>
              </a:rPr>
              <a:t>π[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v] = u; key[v] = w(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u,v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    DECREASE-KEY(Q, v, w(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u,v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))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79865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Dijkstra’s</a:t>
            </a:r>
            <a:r>
              <a:rPr lang="en-ID" dirty="0"/>
              <a:t> shortest path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Single-source shortest path: given G = (V, E, w) with non-negative weights and source s, find shortest path from s to every other vertex.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38774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Dijkstra’s</a:t>
            </a:r>
            <a:r>
              <a:rPr lang="en-ID" dirty="0"/>
              <a:t> shortest path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Greedy: always relax the vertex with the smallest tentative distance.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370577" y="4877245"/>
            <a:ext cx="7662424" cy="5273238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DIJKSTRA(G, w, s)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for each v: d[v] = ∞; </a:t>
            </a:r>
            <a:r>
              <a:rPr lang="el-GR" b="1" dirty="0">
                <a:solidFill>
                  <a:srgbClr val="424242"/>
                </a:solidFill>
                <a:latin typeface="Courier New" panose="02070309020205020404" pitchFamily="49" charset="0"/>
              </a:rPr>
              <a:t>π[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v] = NIL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d[s] = 0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Q = min-priority queue of V by d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while Q ≠ {}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u = EXTRACT-MIN(Q)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for each v adjacent to u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RELAX(u, v, w)</a:t>
            </a:r>
          </a:p>
          <a:p>
            <a:pPr algn="l"/>
            <a:endParaRPr lang="en-US" b="1" dirty="0">
              <a:solidFill>
                <a:srgbClr val="424242"/>
              </a:solidFill>
              <a:latin typeface="Courier New" panose="02070309020205020404" pitchFamily="49" charset="0"/>
            </a:endParaRPr>
          </a:p>
          <a:p>
            <a:pPr algn="l"/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RELAX(u, v, w)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if d[v] &gt; d[u] + w(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u,v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d[v] = d[u] + w(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u,v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</a:t>
            </a:r>
            <a:r>
              <a:rPr lang="el-GR" b="1" dirty="0">
                <a:solidFill>
                  <a:srgbClr val="424242"/>
                </a:solidFill>
                <a:latin typeface="Courier New" panose="02070309020205020404" pitchFamily="49" charset="0"/>
              </a:rPr>
              <a:t>π[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v] = u</a:t>
            </a:r>
          </a:p>
          <a:p>
            <a:pPr marL="457200" indent="-457200" algn="l">
              <a:buAutoNum type="arabicPlain"/>
            </a:pP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DECREASE-KEY(Q, v, d[v])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04622" y="4831079"/>
            <a:ext cx="9770978" cy="53655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just"/>
            <a:r>
              <a:rPr lang="en-US" sz="3800" b="1" dirty="0">
                <a:solidFill>
                  <a:srgbClr val="212121"/>
                </a:solidFill>
              </a:rPr>
              <a:t>Time: </a:t>
            </a:r>
            <a:r>
              <a:rPr lang="en-US" sz="3800" dirty="0">
                <a:solidFill>
                  <a:srgbClr val="212121"/>
                </a:solidFill>
              </a:rPr>
              <a:t>O((V + E) log V) with binary heap; O(E + V log V) with Fibonacci heap.</a:t>
            </a:r>
            <a:endParaRPr lang="en-US" sz="3800" b="1" dirty="0">
              <a:solidFill>
                <a:srgbClr val="212121"/>
              </a:solidFill>
            </a:endParaRPr>
          </a:p>
          <a:p>
            <a:pPr algn="just"/>
            <a:r>
              <a:rPr lang="en-US" sz="3800" b="1" dirty="0">
                <a:solidFill>
                  <a:srgbClr val="212121"/>
                </a:solidFill>
              </a:rPr>
              <a:t>Correctness: </a:t>
            </a:r>
            <a:r>
              <a:rPr lang="en-US" sz="3800" dirty="0">
                <a:solidFill>
                  <a:srgbClr val="212121"/>
                </a:solidFill>
              </a:rPr>
              <a:t>When a vertex u is extracted from Q, d[u] is final. Proven by induction using the non-negative weight assumption.</a:t>
            </a:r>
          </a:p>
          <a:p>
            <a:pPr algn="just"/>
            <a:r>
              <a:rPr lang="en-US" sz="3800" b="1" dirty="0">
                <a:solidFill>
                  <a:srgbClr val="212121"/>
                </a:solidFill>
              </a:rPr>
              <a:t>Limitation: </a:t>
            </a:r>
            <a:r>
              <a:rPr lang="en-US" sz="3800" dirty="0">
                <a:solidFill>
                  <a:srgbClr val="212121"/>
                </a:solidFill>
              </a:rPr>
              <a:t>Does not work with negative-weight edges. Use Bellman-Ford (Session 20).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rgbClr val="212121"/>
              </a:solidFill>
              <a:effectLst/>
              <a:uFillTx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8982661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Dijkstra’s</a:t>
            </a:r>
            <a:r>
              <a:rPr lang="en-ID" dirty="0"/>
              <a:t> shortest path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Dijkstra</a:t>
            </a:r>
            <a:r>
              <a:rPr lang="en-ID" dirty="0"/>
              <a:t> vs. Prim Comparison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Both algorithms are structurally identical — the only difference is the key update rule:</a:t>
            </a:r>
          </a:p>
          <a:p>
            <a:pPr marL="673100" indent="-571500" algn="just"/>
            <a:r>
              <a:rPr lang="en-US" b="1" dirty="0"/>
              <a:t>Prim: </a:t>
            </a:r>
            <a:r>
              <a:rPr lang="en-US" dirty="0"/>
              <a:t>key[v] = minimum edge weight from tree to v.</a:t>
            </a:r>
          </a:p>
          <a:p>
            <a:pPr marL="673100" indent="-571500" algn="just"/>
            <a:r>
              <a:rPr lang="en-US" b="1" dirty="0" err="1"/>
              <a:t>Dijkstra</a:t>
            </a:r>
            <a:r>
              <a:rPr lang="en-US" b="1" dirty="0"/>
              <a:t>: </a:t>
            </a:r>
            <a:r>
              <a:rPr lang="en-US" dirty="0"/>
              <a:t>d[v] = minimum total path distance from source to v.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31899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4745-38F4-6B70-C5E6-490DEC1C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9FB6-5216-72D8-C2D6-855C73FF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90BD9-2B4B-AAF0-7C79-E2CD378F4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C2CE5-A3E8-9383-F708-28F2C13D0D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/>
          </a:bodyPr>
          <a:lstStyle/>
          <a:p>
            <a:pPr algn="just"/>
            <a:r>
              <a:rPr lang="en-ID" b="1" dirty="0"/>
              <a:t>Greedy</a:t>
            </a:r>
            <a:r>
              <a:rPr lang="en-ID" dirty="0"/>
              <a:t> works when the problem has the greedy-choice property and optimal substructure.</a:t>
            </a:r>
          </a:p>
          <a:p>
            <a:pPr algn="just"/>
            <a:r>
              <a:rPr lang="en-ID" b="1" dirty="0"/>
              <a:t>Fractional Knapsack: </a:t>
            </a:r>
            <a:r>
              <a:rPr lang="en-ID" dirty="0"/>
              <a:t>sort by value density; O(n log n). Greedy fails for 0/1 Knapsack.</a:t>
            </a:r>
          </a:p>
          <a:p>
            <a:pPr algn="just"/>
            <a:r>
              <a:rPr lang="en-ID" b="1" dirty="0"/>
              <a:t>Union-Find: </a:t>
            </a:r>
            <a:r>
              <a:rPr lang="en-ID" dirty="0"/>
              <a:t>with union by rank + path compression, nearly O(1) per operation (O(</a:t>
            </a:r>
            <a:r>
              <a:rPr lang="el-GR" dirty="0"/>
              <a:t>α(</a:t>
            </a:r>
            <a:r>
              <a:rPr lang="en-ID" dirty="0"/>
              <a:t>n))).</a:t>
            </a:r>
          </a:p>
          <a:p>
            <a:pPr algn="just"/>
            <a:r>
              <a:rPr lang="en-ID" b="1" dirty="0" err="1"/>
              <a:t>Kruskal's</a:t>
            </a:r>
            <a:r>
              <a:rPr lang="en-ID" b="1" dirty="0"/>
              <a:t>: </a:t>
            </a:r>
            <a:r>
              <a:rPr lang="en-ID" dirty="0"/>
              <a:t>sort edges + Union-Find → O(E log V).</a:t>
            </a:r>
          </a:p>
          <a:p>
            <a:pPr algn="just"/>
            <a:r>
              <a:rPr lang="en-ID" b="1" dirty="0"/>
              <a:t>Prim's: </a:t>
            </a:r>
            <a:r>
              <a:rPr lang="en-ID" dirty="0"/>
              <a:t>grow tree using min-heap → O(E log V) with binary heap.</a:t>
            </a:r>
          </a:p>
          <a:p>
            <a:pPr algn="just"/>
            <a:r>
              <a:rPr lang="en-ID" b="1" dirty="0" err="1"/>
              <a:t>Dijkstra's</a:t>
            </a:r>
            <a:r>
              <a:rPr lang="en-ID" b="1" dirty="0"/>
              <a:t>: </a:t>
            </a:r>
            <a:r>
              <a:rPr lang="en-ID" dirty="0"/>
              <a:t>single-source shortest path with non-negative weights → O(E log V); analogous to Prim's.</a:t>
            </a:r>
          </a:p>
        </p:txBody>
      </p:sp>
    </p:spTree>
    <p:extLst>
      <p:ext uri="{BB962C8B-B14F-4D97-AF65-F5344CB8AC3E}">
        <p14:creationId xmlns:p14="http://schemas.microsoft.com/office/powerpoint/2010/main" val="188285252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B5EF-EDE6-A5C1-32F8-99BB8919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9DF9-DA86-1C2B-B43B-04A7374D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CDDA6-47F0-D21A-1287-73DE12AE7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B44C8-A6ED-A683-33EE-A99E42E2D6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/>
              <a:t>Kruskal's</a:t>
            </a:r>
            <a:r>
              <a:rPr lang="en-US" dirty="0"/>
              <a:t> algorithm on: V={A,B,C,D,E}, edges with weights: AB=1, AC=4, BC=2, BD=5, CD=3, DE=6, CE=1. Show the MST.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/>
              <a:t>Dijkstra's</a:t>
            </a:r>
            <a:r>
              <a:rPr lang="en-US" dirty="0"/>
              <a:t> algorithm from source A on the same graph. Show d[] and π[] after each EXTRACT-MIN.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Give a 0/1 knapsack instance where the fractional greedy algorithm gives the wrong answer.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Prove the Union-Find path compression is correct (FIND-SET still returns the root after compression).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What is the difference in time complexity between </a:t>
            </a:r>
            <a:r>
              <a:rPr lang="en-US" dirty="0" err="1"/>
              <a:t>Kruskal's</a:t>
            </a:r>
            <a:r>
              <a:rPr lang="en-US" dirty="0"/>
              <a:t> and Prim's for (a) a sparse graph E=O(V) and (b) a dense graph E=O(V²)?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3871225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86809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D" b="1" dirty="0"/>
              <a:t>Primary (Required): </a:t>
            </a:r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</a:t>
            </a:r>
            <a:r>
              <a:rPr lang="en-ID" dirty="0" err="1"/>
              <a:t>Rivest</a:t>
            </a:r>
            <a:r>
              <a:rPr lang="en-ID" dirty="0"/>
              <a:t>, R.L., &amp; Stein, C. (2022). Introduction to Algorithms, 4th Edition. MIT Press.</a:t>
            </a:r>
          </a:p>
          <a:p>
            <a:r>
              <a:rPr lang="en-ID" dirty="0"/>
              <a:t>Ch. 15.2 — Elements of the Greedy Strategy (p. 426)</a:t>
            </a:r>
          </a:p>
          <a:p>
            <a:r>
              <a:rPr lang="en-ID" dirty="0"/>
              <a:t>Ch. 19.1–19.3 — Disjoint-Set Operations and Forests (p. 520–527)</a:t>
            </a:r>
          </a:p>
          <a:p>
            <a:r>
              <a:rPr lang="en-ID" dirty="0"/>
              <a:t>Ch. 21.1–21.2 — Minimum Spanning Trees, </a:t>
            </a:r>
            <a:r>
              <a:rPr lang="en-ID" dirty="0" err="1"/>
              <a:t>Kruskal</a:t>
            </a:r>
            <a:r>
              <a:rPr lang="en-ID" dirty="0"/>
              <a:t> and Prim (p. 586–591)</a:t>
            </a:r>
          </a:p>
          <a:p>
            <a:r>
              <a:rPr lang="en-ID" dirty="0"/>
              <a:t>Ch. 22.3 — </a:t>
            </a:r>
            <a:r>
              <a:rPr lang="en-ID" dirty="0" err="1"/>
              <a:t>Dijkstra's</a:t>
            </a:r>
            <a:r>
              <a:rPr lang="en-ID" dirty="0"/>
              <a:t> Algorithm (p. 620)</a:t>
            </a:r>
          </a:p>
          <a:p>
            <a:pPr marL="0" indent="0">
              <a:buNone/>
            </a:pPr>
            <a:r>
              <a:rPr lang="en-ID" b="1" dirty="0"/>
              <a:t>Secondary (Required): </a:t>
            </a:r>
            <a:r>
              <a:rPr lang="en-ID" dirty="0" err="1"/>
              <a:t>Skiena</a:t>
            </a:r>
            <a:r>
              <a:rPr lang="en-ID" dirty="0"/>
              <a:t>, S.S. (2020). The Algorithm Design Manual, 3rd Edition. Springer.</a:t>
            </a:r>
          </a:p>
          <a:p>
            <a:r>
              <a:rPr lang="en-ID" dirty="0"/>
              <a:t>Ch. 8.1 — Minimum Spanning Trees (p. 244)</a:t>
            </a:r>
          </a:p>
          <a:p>
            <a:r>
              <a:rPr lang="en-ID" dirty="0"/>
              <a:t>Ch. 8.3.1 — </a:t>
            </a:r>
            <a:r>
              <a:rPr lang="en-ID" dirty="0" err="1"/>
              <a:t>Dijkstra's</a:t>
            </a:r>
            <a:r>
              <a:rPr lang="en-ID" dirty="0"/>
              <a:t> Algorithm (p. 258)</a:t>
            </a:r>
          </a:p>
          <a:p>
            <a:r>
              <a:rPr lang="en-ID" dirty="0"/>
              <a:t>Ch. 16.10 — Knapsack Problem (p. 497)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5175</TotalTime>
  <Words>2007</Words>
  <Application>Microsoft Macintosh PowerPoint</Application>
  <PresentationFormat>Custom</PresentationFormat>
  <Paragraphs>182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Courier New</vt:lpstr>
      <vt:lpstr>Open Sans Light</vt:lpstr>
      <vt:lpstr>Arial</vt:lpstr>
      <vt:lpstr>Open Sans Semibold</vt:lpstr>
      <vt:lpstr>OCRB</vt:lpstr>
      <vt:lpstr>Helvetica Neue</vt:lpstr>
      <vt:lpstr>Open Sans</vt:lpstr>
      <vt:lpstr>Open Sans ExtraBold</vt:lpstr>
      <vt:lpstr>21_BasicWhite</vt:lpstr>
      <vt:lpstr>Greedy: knapsack, disjoint sets, mst &amp; shortest path</vt:lpstr>
      <vt:lpstr>Learning Outcomes</vt:lpstr>
      <vt:lpstr>Learning Outcomes</vt:lpstr>
      <vt:lpstr>outline</vt:lpstr>
      <vt:lpstr>Greedy paradigm</vt:lpstr>
      <vt:lpstr>Fractional knapsack</vt:lpstr>
      <vt:lpstr>Fractional knapsack</vt:lpstr>
      <vt:lpstr>Fractional knapsack</vt:lpstr>
      <vt:lpstr>Disjoint sets (union-find)</vt:lpstr>
      <vt:lpstr>Disjoint sets (union-find)</vt:lpstr>
      <vt:lpstr>Disjoint sets (union-find)</vt:lpstr>
      <vt:lpstr>Disjoint sets (union-find)</vt:lpstr>
      <vt:lpstr>Minimum spanning tree (MST)</vt:lpstr>
      <vt:lpstr>Minimum spanning tree (MST)</vt:lpstr>
      <vt:lpstr>Minimum spanning tree (MST)</vt:lpstr>
      <vt:lpstr>Minimum spanning tree (MST)</vt:lpstr>
      <vt:lpstr>Dijkstra’s shortest path</vt:lpstr>
      <vt:lpstr>Dijkstra’s shortest path</vt:lpstr>
      <vt:lpstr>Dijkstra’s shortest path</vt:lpstr>
      <vt:lpstr>Summary</vt:lpstr>
      <vt:lpstr>Exercises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Nikita Ananda Putri Masaling</cp:lastModifiedBy>
  <cp:revision>87</cp:revision>
  <dcterms:created xsi:type="dcterms:W3CDTF">2023-11-17T02:51:40Z</dcterms:created>
  <dcterms:modified xsi:type="dcterms:W3CDTF">2026-06-28T05:45:36Z</dcterms:modified>
</cp:coreProperties>
</file>