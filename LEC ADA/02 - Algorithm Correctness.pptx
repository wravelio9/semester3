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33"/>
  </p:notesMasterIdLst>
  <p:sldIdLst>
    <p:sldId id="256" r:id="rId5"/>
    <p:sldId id="257" r:id="rId6"/>
    <p:sldId id="308" r:id="rId7"/>
    <p:sldId id="258" r:id="rId8"/>
    <p:sldId id="259" r:id="rId9"/>
    <p:sldId id="336" r:id="rId10"/>
    <p:sldId id="337" r:id="rId11"/>
    <p:sldId id="338" r:id="rId12"/>
    <p:sldId id="339" r:id="rId13"/>
    <p:sldId id="340" r:id="rId14"/>
    <p:sldId id="341" r:id="rId15"/>
    <p:sldId id="342" r:id="rId16"/>
    <p:sldId id="343" r:id="rId17"/>
    <p:sldId id="344" r:id="rId18"/>
    <p:sldId id="345" r:id="rId19"/>
    <p:sldId id="346" r:id="rId20"/>
    <p:sldId id="347" r:id="rId21"/>
    <p:sldId id="348" r:id="rId22"/>
    <p:sldId id="349" r:id="rId23"/>
    <p:sldId id="350" r:id="rId24"/>
    <p:sldId id="351" r:id="rId25"/>
    <p:sldId id="352" r:id="rId26"/>
    <p:sldId id="354" r:id="rId27"/>
    <p:sldId id="353" r:id="rId28"/>
    <p:sldId id="355" r:id="rId29"/>
    <p:sldId id="334" r:id="rId30"/>
    <p:sldId id="335" r:id="rId31"/>
    <p:sldId id="278" r:id="rId32"/>
  </p:sldIdLst>
  <p:sldSz cx="24384000" cy="13716000"/>
  <p:notesSz cx="6858000" cy="9144000"/>
  <p:embeddedFontLst>
    <p:embeddedFont>
      <p:font typeface="OCRB" panose="020B0609020202020204" pitchFamily="49" charset="0"/>
      <p:regular r:id="rId34"/>
    </p:embeddedFont>
    <p:embeddedFont>
      <p:font typeface="Open Sans" panose="020B0606030504020204" pitchFamily="34" charset="0"/>
      <p:regular r:id="rId35"/>
      <p:bold r:id="rId36"/>
      <p:italic r:id="rId37"/>
      <p:boldItalic r:id="rId38"/>
    </p:embeddedFont>
    <p:embeddedFont>
      <p:font typeface="Open Sans ExtraBold" panose="020B0906030804020204" pitchFamily="34" charset="0"/>
      <p:bold r:id="rId39"/>
      <p:italic r:id="rId40"/>
      <p:boldItalic r:id="rId41"/>
    </p:embeddedFont>
    <p:embeddedFont>
      <p:font typeface="Open Sans Light" panose="020B0306030504020204" pitchFamily="34" charset="0"/>
      <p:regular r:id="rId42"/>
      <p:italic r:id="rId43"/>
    </p:embeddedFont>
    <p:embeddedFont>
      <p:font typeface="Open Sans Semibold" panose="020B0706030804020204" pitchFamily="34" charset="0"/>
      <p:bold r:id="rId44"/>
      <p:boldItalic r:id="rId45"/>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2121"/>
    <a:srgbClr val="FFF7D6"/>
    <a:srgbClr val="F1B5FF"/>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32" autoAdjust="0"/>
    <p:restoredTop sz="95584"/>
  </p:normalViewPr>
  <p:slideViewPr>
    <p:cSldViewPr snapToGrid="0" snapToObjects="1">
      <p:cViewPr varScale="1">
        <p:scale>
          <a:sx n="40" d="100"/>
          <a:sy n="40" d="100"/>
        </p:scale>
        <p:origin x="100" y="76"/>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6.fntdata"/><Relationship Id="rId21" Type="http://schemas.openxmlformats.org/officeDocument/2006/relationships/slide" Target="slides/slide17.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3.fntdata"/><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ita Ananda Putri Masaling" userId="d889fca3-0297-4ee7-bfd8-ca7480643ec1" providerId="ADAL" clId="{6CE14EBF-465A-4EE6-AAA1-3C065697EFBC}"/>
    <pc:docChg chg="undo redo custSel addSld delSld modSld sldOrd">
      <pc:chgData name="Nikita Ananda Putri Masaling" userId="d889fca3-0297-4ee7-bfd8-ca7480643ec1" providerId="ADAL" clId="{6CE14EBF-465A-4EE6-AAA1-3C065697EFBC}" dt="2026-09-03T06:32:11.164" v="232" actId="12788"/>
      <pc:docMkLst>
        <pc:docMk/>
      </pc:docMkLst>
      <pc:sldChg chg="modSp mod">
        <pc:chgData name="Nikita Ananda Putri Masaling" userId="d889fca3-0297-4ee7-bfd8-ca7480643ec1" providerId="ADAL" clId="{6CE14EBF-465A-4EE6-AAA1-3C065697EFBC}" dt="2026-09-03T06:32:11.164" v="232" actId="12788"/>
        <pc:sldMkLst>
          <pc:docMk/>
          <pc:sldMk cId="3807564589" sldId="256"/>
        </pc:sldMkLst>
        <pc:spChg chg="mod">
          <ac:chgData name="Nikita Ananda Putri Masaling" userId="d889fca3-0297-4ee7-bfd8-ca7480643ec1" providerId="ADAL" clId="{6CE14EBF-465A-4EE6-AAA1-3C065697EFBC}" dt="2026-09-03T06:32:11.164" v="232" actId="12788"/>
          <ac:spMkLst>
            <pc:docMk/>
            <pc:sldMk cId="3807564589" sldId="256"/>
            <ac:spMk id="4" creationId="{319DA326-32BB-7EBF-F49C-D0308881B79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67522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F8FC2-5C26-33A7-9770-5DF518D257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B90C54-60C5-266B-567C-0E58520CB21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6BA69FD-7CBA-83C2-82A4-30021C20778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45730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06688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56095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30860-C189-241C-DDDF-0FE2D9114B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0BA00A-4D82-3DBA-B6D3-573E11EEDAA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EF4A7B8-08B3-8ECB-C7C4-F3ED890E646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06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696FA-152B-6136-08A0-25CBE2D84A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7979E7-19AC-F006-D6CA-CB3034D9099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30A8D40-FBEA-8D61-B6B5-734D946C36D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986914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B713E-9D3F-4790-4C16-57DEBFF201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E18E06-EB80-2292-3513-B254961B5B6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1583645-6EE9-6F15-889A-4EFC7821676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89143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89AA6-4A06-B8A8-83A0-6825E45E80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23C3CE-FF1E-4922-693B-2E1F0C5BDAA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85D35D9-61AB-806B-F3DD-0E6B40DA76F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714361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8ECFA-B67A-5CEF-C05E-AE0FA308CC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63EBC0-B0CA-792E-05B6-E1370B2BFB1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DAB4F48-52FC-3110-0FC5-1EB3E459ECC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691483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3AEC2-2723-B970-DD46-3BC64EF548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A14C24-C0E0-E86C-CBAC-F6D88DC36E1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AB8DDD4-69A5-F41F-8129-804366A9AFC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417530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70B1A-9BAD-0A6B-2B1B-D857715381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4361D1-239A-5072-92CC-CC913DF60F0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AE96A7E-D331-1B29-31BA-EA79DF0D69D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345565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92E82-3A4E-B579-C4F7-E3CC3B19E8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97BFC1-11C2-E958-88C4-27D63BF9A0F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EBBA814-45D9-CC3B-B682-E08B64C3649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476465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59727-7EA0-36F9-2856-58634464D6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236CE4-06E0-FDF1-DBDC-5D1363BF27C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0058381-04C7-ED21-9A0F-A8894EC0744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000355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B8D5D-A6BF-376E-00FB-DDD9DA3E85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3B2F2B-FB75-D2AD-DD77-308C9F343BB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8C0C079-7B5D-C919-1810-4B14030862C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417657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A6EDB-54CC-58E3-FE57-518056B85A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E7BE7F-185F-CFD2-C7F1-61E2B92BAE2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39F0655-4CA5-DAF4-CEFC-0672DBE7A19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989171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1E508-2D2B-8900-2965-6B69320FBE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E60DB-DDB9-A85C-7748-7EB309DBA02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5CE2ECE-EE46-7CBA-2E05-E3D630E6FDE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648759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79D64-19C2-2B92-B109-DF83FB0958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6C14BD-A302-A817-734D-9C6E815833F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FAA7295-AD1F-E726-7882-630DA92FE98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234170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678C5-FEE2-5441-1EAE-61EA3EC84B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E67EF3-EBB4-07C4-B978-45BA7964FCE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8EF93C5-A045-5EA5-F54A-0B540B83F85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216821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9E450-8B30-DF53-10B1-7818A079DA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7A830A-4E92-5EA4-AFEB-181BA358DAE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D945180-51E9-3BD1-A01C-E2DD8E5B1AE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330676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C0774-0DA5-B439-5DBF-2BAE3C223B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DFF7A8-CBA3-8E1D-8C53-0F38293BFA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784D5D3-B5CE-4837-CDD6-139A7D258D9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369541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995E2-AE7A-4BFF-4DB5-69E29F2476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FE2483-BFFE-77DB-6817-DE7ACAEA438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7BDE25D-1611-38E7-FF8C-65618F304E6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922531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2A667-73EF-3B70-DC75-6814678727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04346E-C07E-8133-56C9-27E8909543B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DC96B80-2F0F-14E6-BF42-DF77183F51C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295886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68C1E-8851-E9B2-9DA4-7235D28CEB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DE5850-8C9D-A42D-2DC0-30BE2873B3F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CD53809-C691-E1E6-FAFC-E0B8C6A1EF1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999488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FFCB6-8098-6F37-170F-8326A97F3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E07DA4-E418-CC34-ECB4-471A906AD2A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4EE6089-7517-8B24-851D-2C77AC159BB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629159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FDE2D-575D-9745-EDBA-3E1B2A6A1D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74E989-D5CF-1C99-4F1B-DF83430867F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EDBFBF6-2836-F710-1A09-759B208B01F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471258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290AD-5D35-A521-B025-D45D25CBFB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33319-5D4A-F287-8CC5-579B57744B1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8BACB86-BDA9-52AC-7B13-B40299DB135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035160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png"/><Relationship Id="rId2" Type="http://schemas.openxmlformats.org/officeDocument/2006/relationships/image" Target="../media/image8.sv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1.svg"/><Relationship Id="rId4" Type="http://schemas.openxmlformats.org/officeDocument/2006/relationships/image" Target="../media/image10.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
        <p:nvSpPr>
          <p:cNvPr id="2" name="Content Placeholder 7">
            <a:extLst>
              <a:ext uri="{FF2B5EF4-FFF2-40B4-BE49-F238E27FC236}">
                <a16:creationId xmlns:a16="http://schemas.microsoft.com/office/drawing/2014/main" id="{23987A6D-AD04-0FF1-0C66-3D62A8BBD97B}"/>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Session 02</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normAutofit/>
          </a:bodyPr>
          <a:lstStyle/>
          <a:p>
            <a:r>
              <a:rPr lang="en-ID" b="1" dirty="0"/>
              <a:t>Algorithm Correctness</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a:xfrm>
            <a:off x="9055665" y="11538583"/>
            <a:ext cx="6272671" cy="745888"/>
          </a:xfrm>
        </p:spPr>
        <p:txBody>
          <a:bodyPr/>
          <a:lstStyle/>
          <a:p>
            <a:r>
              <a:rPr lang="en-US" dirty="0"/>
              <a:t>Nikita Ananda Putri Masaling, </a:t>
            </a:r>
            <a:r>
              <a:rPr lang="en-US" dirty="0" err="1"/>
              <a:t>S.Kom</a:t>
            </a:r>
            <a:r>
              <a:rPr lang="en-US" dirty="0"/>
              <a:t>., </a:t>
            </a:r>
            <a:r>
              <a:rPr lang="en-US" dirty="0" err="1"/>
              <a:t>M.Kom</a:t>
            </a:r>
            <a:r>
              <a:rPr lang="en-US" dirty="0"/>
              <a:t>.</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2</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pPr marL="0" indent="0">
              <a:buNone/>
            </a:pPr>
            <a:r>
              <a:rPr lang="en-ID" dirty="0"/>
              <a:t>At the end of this session, students will be able to:</a:t>
            </a:r>
          </a:p>
          <a:p>
            <a:pPr algn="just"/>
            <a:r>
              <a:rPr lang="en-ID" dirty="0"/>
              <a:t>LO 1: Evaluate the time and space complexity of algorithms using asymptotic notation and formal analysis methods, and prove algorithm correctness using loop invariants, induction, or exchange arguments.</a:t>
            </a:r>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61F8D-55B0-83E8-D26D-92158A9820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3251A2-AC99-FA15-EE33-A71934EB4DA6}"/>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F310198E-B608-50F8-3760-250A6613ACB0}"/>
              </a:ext>
            </a:extLst>
          </p:cNvPr>
          <p:cNvSpPr>
            <a:spLocks noGrp="1"/>
          </p:cNvSpPr>
          <p:nvPr>
            <p:ph type="body" sz="quarter" idx="10"/>
          </p:nvPr>
        </p:nvSpPr>
        <p:spPr/>
        <p:txBody>
          <a:bodyPr/>
          <a:lstStyle/>
          <a:p>
            <a:r>
              <a:rPr lang="en-ID" dirty="0"/>
              <a:t>Session 2</a:t>
            </a:r>
          </a:p>
        </p:txBody>
      </p:sp>
      <p:sp>
        <p:nvSpPr>
          <p:cNvPr id="4" name="Content Placeholder 3">
            <a:extLst>
              <a:ext uri="{FF2B5EF4-FFF2-40B4-BE49-F238E27FC236}">
                <a16:creationId xmlns:a16="http://schemas.microsoft.com/office/drawing/2014/main" id="{316C8106-38DC-428F-D042-636BD720D8EB}"/>
              </a:ext>
            </a:extLst>
          </p:cNvPr>
          <p:cNvSpPr>
            <a:spLocks noGrp="1"/>
          </p:cNvSpPr>
          <p:nvPr>
            <p:ph sz="quarter" idx="11"/>
          </p:nvPr>
        </p:nvSpPr>
        <p:spPr/>
        <p:txBody>
          <a:bodyPr>
            <a:normAutofit/>
          </a:bodyPr>
          <a:lstStyle/>
          <a:p>
            <a:pPr marL="0" indent="0" algn="just">
              <a:buNone/>
            </a:pPr>
            <a:r>
              <a:rPr lang="en-US" dirty="0"/>
              <a:t>By the end of this session, students will be able to:</a:t>
            </a:r>
          </a:p>
          <a:p>
            <a:pPr algn="just"/>
            <a:r>
              <a:rPr lang="en-ID" dirty="0"/>
              <a:t>Prove correctness of iterative algorithms (insertion sort) using loop invariants (initialization, maintenance, termination); construct proofs by mathematical induction for recursive algorithms.</a:t>
            </a:r>
          </a:p>
          <a:p>
            <a:pPr algn="just"/>
            <a:r>
              <a:rPr lang="en-ID" dirty="0"/>
              <a:t>Construct counterexamples to disprove incorrect algorithm claims; apply proof by contradiction to verify algorithm properties.</a:t>
            </a:r>
          </a:p>
        </p:txBody>
      </p:sp>
    </p:spTree>
    <p:extLst>
      <p:ext uri="{BB962C8B-B14F-4D97-AF65-F5344CB8AC3E}">
        <p14:creationId xmlns:p14="http://schemas.microsoft.com/office/powerpoint/2010/main" val="18466363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outline</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2</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r>
              <a:rPr lang="en-ID" dirty="0"/>
              <a:t>Loop Invariant Method</a:t>
            </a:r>
          </a:p>
          <a:p>
            <a:r>
              <a:rPr lang="en-ID" dirty="0"/>
              <a:t>Proof by Mathematical Induction</a:t>
            </a:r>
          </a:p>
          <a:p>
            <a:r>
              <a:rPr lang="en-ID" dirty="0"/>
              <a:t>Proof by Contradiction</a:t>
            </a:r>
          </a:p>
          <a:p>
            <a:r>
              <a:rPr lang="en-ID" dirty="0"/>
              <a:t>Counterexamples — Disproving Incorrect Algorithms</a:t>
            </a:r>
          </a:p>
          <a:p>
            <a:r>
              <a:rPr lang="en-ID" dirty="0"/>
              <a:t>Exchange Argument — Proving Greedy Correctness</a:t>
            </a:r>
          </a:p>
        </p:txBody>
      </p:sp>
    </p:spTree>
    <p:extLst>
      <p:ext uri="{BB962C8B-B14F-4D97-AF65-F5344CB8AC3E}">
        <p14:creationId xmlns:p14="http://schemas.microsoft.com/office/powerpoint/2010/main" val="188946247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Loop Invariant Method</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Motivation</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9138176"/>
          </a:xfrm>
        </p:spPr>
        <p:txBody>
          <a:bodyPr>
            <a:normAutofit/>
          </a:bodyPr>
          <a:lstStyle/>
          <a:p>
            <a:pPr marL="101600" indent="0" algn="just">
              <a:buNone/>
            </a:pPr>
            <a:r>
              <a:rPr lang="en-ID" dirty="0"/>
              <a:t>An algorithm may look correct, but intuition alone is unreliable. We need a rigorous framework to </a:t>
            </a:r>
            <a:r>
              <a:rPr lang="en-ID" b="1" dirty="0"/>
              <a:t>prove</a:t>
            </a:r>
            <a:r>
              <a:rPr lang="en-ID" dirty="0"/>
              <a:t> that an algorithm produces the correct output for every valid input. For iterative algorithms, the primary tool is the </a:t>
            </a:r>
            <a:r>
              <a:rPr lang="en-ID" b="1" dirty="0"/>
              <a:t>loop invariant</a:t>
            </a:r>
            <a:r>
              <a:rPr lang="en-ID" dirty="0"/>
              <a:t>.</a:t>
            </a:r>
            <a:endParaRPr lang="en-US" dirty="0"/>
          </a:p>
        </p:txBody>
      </p:sp>
    </p:spTree>
    <p:extLst>
      <p:ext uri="{BB962C8B-B14F-4D97-AF65-F5344CB8AC3E}">
        <p14:creationId xmlns:p14="http://schemas.microsoft.com/office/powerpoint/2010/main" val="340550934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90E47-66BD-87EC-9233-1C84EBB8ED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4B4007-7431-E33D-A15C-4717C563C6A7}"/>
              </a:ext>
            </a:extLst>
          </p:cNvPr>
          <p:cNvSpPr>
            <a:spLocks noGrp="1"/>
          </p:cNvSpPr>
          <p:nvPr>
            <p:ph type="title"/>
          </p:nvPr>
        </p:nvSpPr>
        <p:spPr/>
        <p:txBody>
          <a:bodyPr>
            <a:normAutofit fontScale="90000"/>
          </a:bodyPr>
          <a:lstStyle/>
          <a:p>
            <a:r>
              <a:rPr lang="en-ID" dirty="0"/>
              <a:t>Loop Invariant Method</a:t>
            </a:r>
          </a:p>
        </p:txBody>
      </p:sp>
      <p:sp>
        <p:nvSpPr>
          <p:cNvPr id="3" name="Text Placeholder 2">
            <a:extLst>
              <a:ext uri="{FF2B5EF4-FFF2-40B4-BE49-F238E27FC236}">
                <a16:creationId xmlns:a16="http://schemas.microsoft.com/office/drawing/2014/main" id="{5DDCF191-8542-1518-9AC3-F75D20D542D7}"/>
              </a:ext>
            </a:extLst>
          </p:cNvPr>
          <p:cNvSpPr>
            <a:spLocks noGrp="1"/>
          </p:cNvSpPr>
          <p:nvPr>
            <p:ph type="body" sz="quarter" idx="10"/>
          </p:nvPr>
        </p:nvSpPr>
        <p:spPr/>
        <p:txBody>
          <a:bodyPr>
            <a:normAutofit/>
          </a:bodyPr>
          <a:lstStyle/>
          <a:p>
            <a:r>
              <a:rPr lang="en-ID" dirty="0" err="1"/>
              <a:t>DefinitioN</a:t>
            </a:r>
            <a:endParaRPr lang="en-ID" dirty="0"/>
          </a:p>
        </p:txBody>
      </p:sp>
      <p:sp>
        <p:nvSpPr>
          <p:cNvPr id="4" name="Content Placeholder 3">
            <a:extLst>
              <a:ext uri="{FF2B5EF4-FFF2-40B4-BE49-F238E27FC236}">
                <a16:creationId xmlns:a16="http://schemas.microsoft.com/office/drawing/2014/main" id="{DA7B7259-5BDB-E224-1300-16967CA1E087}"/>
              </a:ext>
            </a:extLst>
          </p:cNvPr>
          <p:cNvSpPr>
            <a:spLocks noGrp="1"/>
          </p:cNvSpPr>
          <p:nvPr>
            <p:ph sz="quarter" idx="11"/>
          </p:nvPr>
        </p:nvSpPr>
        <p:spPr>
          <a:xfrm>
            <a:off x="2167377" y="3714224"/>
            <a:ext cx="19032265" cy="9138176"/>
          </a:xfrm>
        </p:spPr>
        <p:txBody>
          <a:bodyPr>
            <a:normAutofit/>
          </a:bodyPr>
          <a:lstStyle/>
          <a:p>
            <a:pPr marL="0" indent="0" algn="just">
              <a:buNone/>
            </a:pPr>
            <a:r>
              <a:rPr lang="en-ID" dirty="0"/>
              <a:t>A </a:t>
            </a:r>
            <a:r>
              <a:rPr lang="en-ID" b="1" dirty="0"/>
              <a:t>loop invariant</a:t>
            </a:r>
            <a:r>
              <a:rPr lang="en-ID" dirty="0"/>
              <a:t> is a condition (predicate) about the state of the algorithm that:</a:t>
            </a:r>
          </a:p>
          <a:p>
            <a:pPr lvl="1" algn="just">
              <a:spcBef>
                <a:spcPts val="1800"/>
              </a:spcBef>
              <a:buFont typeface="+mj-lt"/>
              <a:buAutoNum type="arabicPeriod"/>
            </a:pPr>
            <a:r>
              <a:rPr lang="en-ID" b="1" dirty="0"/>
              <a:t>Initialization:</a:t>
            </a:r>
            <a:r>
              <a:rPr lang="en-ID" dirty="0"/>
              <a:t> Is true prior to the first iteration of the loop.</a:t>
            </a:r>
          </a:p>
          <a:p>
            <a:pPr lvl="1" algn="just">
              <a:spcBef>
                <a:spcPts val="1800"/>
              </a:spcBef>
              <a:buFont typeface="+mj-lt"/>
              <a:buAutoNum type="arabicPeriod"/>
            </a:pPr>
            <a:r>
              <a:rPr lang="en-ID" b="1" dirty="0"/>
              <a:t>Maintenance:</a:t>
            </a:r>
            <a:r>
              <a:rPr lang="en-ID" dirty="0"/>
              <a:t> If it is true before an iteration, it remains true before the next iteration.</a:t>
            </a:r>
          </a:p>
          <a:p>
            <a:pPr lvl="1" algn="just">
              <a:spcBef>
                <a:spcPts val="1800"/>
              </a:spcBef>
              <a:buFont typeface="+mj-lt"/>
              <a:buAutoNum type="arabicPeriod"/>
            </a:pPr>
            <a:r>
              <a:rPr lang="en-ID" b="1" dirty="0"/>
              <a:t>Termination:</a:t>
            </a:r>
            <a:r>
              <a:rPr lang="en-ID" dirty="0"/>
              <a:t> When the loop terminates, the invariant (combined with the termination condition) gives a useful property that helps prove correctness.</a:t>
            </a:r>
          </a:p>
          <a:p>
            <a:pPr marL="0" indent="0" algn="just">
              <a:buNone/>
            </a:pPr>
            <a:r>
              <a:rPr lang="en-ID" dirty="0"/>
              <a:t>The structure mirrors mathematical induction: initialization corresponds to the base case; maintenance corresponds to the inductive step.</a:t>
            </a:r>
          </a:p>
        </p:txBody>
      </p:sp>
    </p:spTree>
    <p:extLst>
      <p:ext uri="{BB962C8B-B14F-4D97-AF65-F5344CB8AC3E}">
        <p14:creationId xmlns:p14="http://schemas.microsoft.com/office/powerpoint/2010/main" val="2534639033"/>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74617-29B5-D6F2-028C-3CD7917C56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3216F-1457-574E-923C-67A3ED182223}"/>
              </a:ext>
            </a:extLst>
          </p:cNvPr>
          <p:cNvSpPr>
            <a:spLocks noGrp="1"/>
          </p:cNvSpPr>
          <p:nvPr>
            <p:ph type="title"/>
          </p:nvPr>
        </p:nvSpPr>
        <p:spPr/>
        <p:txBody>
          <a:bodyPr>
            <a:normAutofit fontScale="90000"/>
          </a:bodyPr>
          <a:lstStyle/>
          <a:p>
            <a:r>
              <a:rPr lang="en-ID" dirty="0"/>
              <a:t>Loop Invariant Method</a:t>
            </a:r>
          </a:p>
        </p:txBody>
      </p:sp>
      <p:sp>
        <p:nvSpPr>
          <p:cNvPr id="3" name="Text Placeholder 2">
            <a:extLst>
              <a:ext uri="{FF2B5EF4-FFF2-40B4-BE49-F238E27FC236}">
                <a16:creationId xmlns:a16="http://schemas.microsoft.com/office/drawing/2014/main" id="{3C1F3367-06B1-5A1E-BE2B-A30753048C74}"/>
              </a:ext>
            </a:extLst>
          </p:cNvPr>
          <p:cNvSpPr>
            <a:spLocks noGrp="1"/>
          </p:cNvSpPr>
          <p:nvPr>
            <p:ph type="body" sz="quarter" idx="10"/>
          </p:nvPr>
        </p:nvSpPr>
        <p:spPr>
          <a:xfrm>
            <a:off x="2167377" y="2419728"/>
            <a:ext cx="11131528" cy="803546"/>
          </a:xfrm>
        </p:spPr>
        <p:txBody>
          <a:bodyPr>
            <a:normAutofit fontScale="92500"/>
          </a:bodyPr>
          <a:lstStyle/>
          <a:p>
            <a:r>
              <a:rPr lang="en-US" dirty="0"/>
              <a:t>Example: Insertion Sort Correctness (CLRS, Ch. 2.1)</a:t>
            </a:r>
          </a:p>
        </p:txBody>
      </p:sp>
      <p:sp>
        <p:nvSpPr>
          <p:cNvPr id="4" name="Content Placeholder 3">
            <a:extLst>
              <a:ext uri="{FF2B5EF4-FFF2-40B4-BE49-F238E27FC236}">
                <a16:creationId xmlns:a16="http://schemas.microsoft.com/office/drawing/2014/main" id="{0ADEC21E-46C7-5DE7-1DC6-9A044359E322}"/>
              </a:ext>
            </a:extLst>
          </p:cNvPr>
          <p:cNvSpPr>
            <a:spLocks noGrp="1"/>
          </p:cNvSpPr>
          <p:nvPr>
            <p:ph sz="quarter" idx="11"/>
          </p:nvPr>
        </p:nvSpPr>
        <p:spPr>
          <a:xfrm>
            <a:off x="2167377" y="2980267"/>
            <a:ext cx="20828090" cy="10735733"/>
          </a:xfrm>
        </p:spPr>
        <p:txBody>
          <a:bodyPr>
            <a:normAutofit fontScale="85000" lnSpcReduction="20000"/>
          </a:bodyPr>
          <a:lstStyle/>
          <a:p>
            <a:pPr marL="0" indent="0" algn="just">
              <a:spcBef>
                <a:spcPts val="3000"/>
              </a:spcBef>
              <a:buNone/>
            </a:pPr>
            <a:r>
              <a:rPr lang="en-ID" b="1" dirty="0"/>
              <a:t>Algorithm:</a:t>
            </a:r>
          </a:p>
          <a:p>
            <a:pPr marL="0" indent="0" algn="just">
              <a:spcBef>
                <a:spcPts val="3000"/>
              </a:spcBef>
              <a:buNone/>
            </a:pPr>
            <a:endParaRPr lang="en-ID" dirty="0"/>
          </a:p>
          <a:p>
            <a:pPr marL="0" indent="0" algn="just">
              <a:spcBef>
                <a:spcPts val="3000"/>
              </a:spcBef>
              <a:buNone/>
            </a:pPr>
            <a:endParaRPr lang="en-ID" dirty="0"/>
          </a:p>
          <a:p>
            <a:pPr marL="0" indent="0" algn="just">
              <a:spcBef>
                <a:spcPts val="3000"/>
              </a:spcBef>
              <a:buNone/>
            </a:pPr>
            <a:endParaRPr lang="en-ID" dirty="0"/>
          </a:p>
          <a:p>
            <a:pPr marL="0" indent="0" algn="just">
              <a:spcBef>
                <a:spcPts val="3000"/>
              </a:spcBef>
              <a:buNone/>
            </a:pPr>
            <a:endParaRPr lang="en-ID" dirty="0"/>
          </a:p>
          <a:p>
            <a:pPr marL="0" indent="0" algn="just">
              <a:spcBef>
                <a:spcPts val="3000"/>
              </a:spcBef>
              <a:buNone/>
            </a:pPr>
            <a:r>
              <a:rPr lang="en-ID" b="1" dirty="0"/>
              <a:t>Loop invariant:</a:t>
            </a:r>
            <a:r>
              <a:rPr lang="en-ID" dirty="0"/>
              <a:t> At the start of each iteration of the for loop, the subarray A[1..i-1] consists of the elements originally in A[1..i-1], but in </a:t>
            </a:r>
            <a:r>
              <a:rPr lang="en-ID" b="1" dirty="0"/>
              <a:t>sorted order</a:t>
            </a:r>
            <a:r>
              <a:rPr lang="en-ID" dirty="0"/>
              <a:t>.</a:t>
            </a:r>
          </a:p>
          <a:p>
            <a:pPr marL="0" indent="0" algn="just">
              <a:spcBef>
                <a:spcPts val="3000"/>
              </a:spcBef>
              <a:buNone/>
            </a:pPr>
            <a:r>
              <a:rPr lang="en-ID" b="1" dirty="0"/>
              <a:t>Proof:</a:t>
            </a:r>
            <a:endParaRPr lang="en-ID" dirty="0"/>
          </a:p>
          <a:p>
            <a:pPr algn="just">
              <a:spcBef>
                <a:spcPts val="3000"/>
              </a:spcBef>
            </a:pPr>
            <a:r>
              <a:rPr lang="en-ID" b="1" dirty="0"/>
              <a:t>Initialization (</a:t>
            </a:r>
            <a:r>
              <a:rPr lang="en-ID" b="1" dirty="0" err="1"/>
              <a:t>i</a:t>
            </a:r>
            <a:r>
              <a:rPr lang="en-ID" b="1" dirty="0"/>
              <a:t> = 2):</a:t>
            </a:r>
            <a:r>
              <a:rPr lang="en-ID" dirty="0"/>
              <a:t> The subarray A[1..1] contains a single element — it is trivially sorted. ✓</a:t>
            </a:r>
          </a:p>
          <a:p>
            <a:pPr algn="just">
              <a:spcBef>
                <a:spcPts val="3000"/>
              </a:spcBef>
            </a:pPr>
            <a:r>
              <a:rPr lang="en-ID" b="1" dirty="0"/>
              <a:t>Maintenance:</a:t>
            </a:r>
            <a:r>
              <a:rPr lang="en-ID" dirty="0"/>
              <a:t> Assume A[1..i-1] is sorted at the start of iteration </a:t>
            </a:r>
            <a:r>
              <a:rPr lang="en-ID" i="1" dirty="0" err="1"/>
              <a:t>i</a:t>
            </a:r>
            <a:r>
              <a:rPr lang="en-ID" dirty="0"/>
              <a:t>. The inner while loop shifts elements greater than key one position to the right, then places key in its correct position. Thus A[1..i] is sorted at the end of the iteration, which means A[1..i] is sorted at the start of iteration </a:t>
            </a:r>
            <a:r>
              <a:rPr lang="en-ID" i="1" dirty="0"/>
              <a:t>i+1</a:t>
            </a:r>
            <a:r>
              <a:rPr lang="en-ID" dirty="0"/>
              <a:t> (i.e., A[1..(i+1)-1] is sorted). ✓</a:t>
            </a:r>
          </a:p>
          <a:p>
            <a:pPr algn="just">
              <a:spcBef>
                <a:spcPts val="3000"/>
              </a:spcBef>
            </a:pPr>
            <a:r>
              <a:rPr lang="en-ID" b="1" dirty="0"/>
              <a:t>Termination:</a:t>
            </a:r>
            <a:r>
              <a:rPr lang="en-ID" dirty="0"/>
              <a:t> The loop ends when </a:t>
            </a:r>
            <a:r>
              <a:rPr lang="en-ID" dirty="0" err="1"/>
              <a:t>i</a:t>
            </a:r>
            <a:r>
              <a:rPr lang="en-ID" dirty="0"/>
              <a:t> = n+1. Substituting into the invariant: A[1..n] is sorted — which is exactly the desired output. ✓</a:t>
            </a:r>
          </a:p>
        </p:txBody>
      </p:sp>
      <p:sp>
        <p:nvSpPr>
          <p:cNvPr id="6" name="Rectangle 5">
            <a:extLst>
              <a:ext uri="{FF2B5EF4-FFF2-40B4-BE49-F238E27FC236}">
                <a16:creationId xmlns:a16="http://schemas.microsoft.com/office/drawing/2014/main" id="{5A348BEB-38F2-D004-38DE-03A2CF65E7FA}"/>
              </a:ext>
            </a:extLst>
          </p:cNvPr>
          <p:cNvSpPr/>
          <p:nvPr/>
        </p:nvSpPr>
        <p:spPr>
          <a:xfrm>
            <a:off x="2224502" y="3766886"/>
            <a:ext cx="6716298" cy="3057247"/>
          </a:xfrm>
          <a:prstGeom prst="rect">
            <a:avLst/>
          </a:prstGeom>
          <a:solidFill>
            <a:srgbClr val="FFF7D6"/>
          </a:solidFill>
          <a:ln/>
        </p:spPr>
        <p:style>
          <a:lnRef idx="2">
            <a:schemeClr val="accent4">
              <a:shade val="15000"/>
            </a:schemeClr>
          </a:lnRef>
          <a:fillRef idx="1">
            <a:schemeClr val="accent4"/>
          </a:fillRef>
          <a:effectRef idx="0">
            <a:schemeClr val="accent4"/>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algn="l">
              <a:buNone/>
            </a:pPr>
            <a:r>
              <a:rPr lang="en-US" sz="2400" b="1" i="0" dirty="0">
                <a:solidFill>
                  <a:srgbClr val="424242"/>
                </a:solidFill>
                <a:effectLst/>
                <a:latin typeface="Courier New" panose="02070309020205020404" pitchFamily="49" charset="0"/>
              </a:rPr>
              <a:t>INSERTION-SORT(A, n)</a:t>
            </a:r>
          </a:p>
          <a:p>
            <a:pPr algn="l">
              <a:buNone/>
            </a:pPr>
            <a:r>
              <a:rPr lang="en-US" sz="2400" b="1" i="0" dirty="0">
                <a:solidFill>
                  <a:srgbClr val="424242"/>
                </a:solidFill>
                <a:effectLst/>
                <a:latin typeface="Courier New" panose="02070309020205020404" pitchFamily="49" charset="0"/>
              </a:rPr>
              <a:t>1  for </a:t>
            </a:r>
            <a:r>
              <a:rPr lang="en-US" sz="2400" b="1" i="0" dirty="0" err="1">
                <a:solidFill>
                  <a:srgbClr val="424242"/>
                </a:solidFill>
                <a:effectLst/>
                <a:latin typeface="Courier New" panose="02070309020205020404" pitchFamily="49" charset="0"/>
              </a:rPr>
              <a:t>i</a:t>
            </a:r>
            <a:r>
              <a:rPr lang="en-US" sz="2400" b="1" i="0" dirty="0">
                <a:solidFill>
                  <a:srgbClr val="424242"/>
                </a:solidFill>
                <a:effectLst/>
                <a:latin typeface="Courier New" panose="02070309020205020404" pitchFamily="49" charset="0"/>
              </a:rPr>
              <a:t> = 2 to n</a:t>
            </a:r>
          </a:p>
          <a:p>
            <a:pPr algn="l">
              <a:buNone/>
            </a:pPr>
            <a:r>
              <a:rPr lang="en-US" sz="2400" b="1" i="0" dirty="0">
                <a:solidFill>
                  <a:srgbClr val="424242"/>
                </a:solidFill>
                <a:effectLst/>
                <a:latin typeface="Courier New" panose="02070309020205020404" pitchFamily="49" charset="0"/>
              </a:rPr>
              <a:t>2      key = A[</a:t>
            </a:r>
            <a:r>
              <a:rPr lang="en-US" sz="2400" b="1" i="0" dirty="0" err="1">
                <a:solidFill>
                  <a:srgbClr val="424242"/>
                </a:solidFill>
                <a:effectLst/>
                <a:latin typeface="Courier New" panose="02070309020205020404" pitchFamily="49" charset="0"/>
              </a:rPr>
              <a:t>i</a:t>
            </a:r>
            <a:r>
              <a:rPr lang="en-US" sz="2400" b="1" i="0" dirty="0">
                <a:solidFill>
                  <a:srgbClr val="424242"/>
                </a:solidFill>
                <a:effectLst/>
                <a:latin typeface="Courier New" panose="02070309020205020404" pitchFamily="49" charset="0"/>
              </a:rPr>
              <a:t>]</a:t>
            </a:r>
          </a:p>
          <a:p>
            <a:pPr algn="l">
              <a:buNone/>
            </a:pPr>
            <a:r>
              <a:rPr lang="en-US" sz="2400" b="1" i="0" dirty="0">
                <a:solidFill>
                  <a:srgbClr val="424242"/>
                </a:solidFill>
                <a:effectLst/>
                <a:latin typeface="Courier New" panose="02070309020205020404" pitchFamily="49" charset="0"/>
              </a:rPr>
              <a:t>3      j = </a:t>
            </a:r>
            <a:r>
              <a:rPr lang="en-US" sz="2400" b="1" i="0" dirty="0" err="1">
                <a:solidFill>
                  <a:srgbClr val="424242"/>
                </a:solidFill>
                <a:effectLst/>
                <a:latin typeface="Courier New" panose="02070309020205020404" pitchFamily="49" charset="0"/>
              </a:rPr>
              <a:t>i</a:t>
            </a:r>
            <a:r>
              <a:rPr lang="en-US" sz="2400" b="1" i="0" dirty="0">
                <a:solidFill>
                  <a:srgbClr val="424242"/>
                </a:solidFill>
                <a:effectLst/>
                <a:latin typeface="Courier New" panose="02070309020205020404" pitchFamily="49" charset="0"/>
              </a:rPr>
              <a:t> - 1</a:t>
            </a:r>
          </a:p>
          <a:p>
            <a:pPr algn="l">
              <a:buNone/>
            </a:pPr>
            <a:r>
              <a:rPr lang="en-US" sz="2400" b="1" i="0" dirty="0">
                <a:solidFill>
                  <a:srgbClr val="424242"/>
                </a:solidFill>
                <a:effectLst/>
                <a:latin typeface="Courier New" panose="02070309020205020404" pitchFamily="49" charset="0"/>
              </a:rPr>
              <a:t>4      while j &gt; 0 and A[j] &gt; key</a:t>
            </a:r>
          </a:p>
          <a:p>
            <a:pPr algn="l">
              <a:buNone/>
            </a:pPr>
            <a:r>
              <a:rPr lang="en-US" sz="2400" b="1" i="0" dirty="0">
                <a:solidFill>
                  <a:srgbClr val="424242"/>
                </a:solidFill>
                <a:effectLst/>
                <a:latin typeface="Courier New" panose="02070309020205020404" pitchFamily="49" charset="0"/>
              </a:rPr>
              <a:t>5          A[j + 1] = A[j]</a:t>
            </a:r>
          </a:p>
          <a:p>
            <a:pPr algn="l">
              <a:buNone/>
            </a:pPr>
            <a:r>
              <a:rPr lang="en-US" sz="2400" b="1" i="0" dirty="0">
                <a:solidFill>
                  <a:srgbClr val="424242"/>
                </a:solidFill>
                <a:effectLst/>
                <a:latin typeface="Courier New" panose="02070309020205020404" pitchFamily="49" charset="0"/>
              </a:rPr>
              <a:t>6          j = j - 1</a:t>
            </a:r>
          </a:p>
          <a:p>
            <a:pPr algn="l">
              <a:buNone/>
            </a:pPr>
            <a:r>
              <a:rPr lang="en-US" sz="2400" b="1" i="0" dirty="0">
                <a:solidFill>
                  <a:srgbClr val="424242"/>
                </a:solidFill>
                <a:effectLst/>
                <a:latin typeface="Courier New" panose="02070309020205020404" pitchFamily="49" charset="0"/>
              </a:rPr>
              <a:t>7      A[j + 1] = key</a:t>
            </a:r>
          </a:p>
        </p:txBody>
      </p:sp>
    </p:spTree>
    <p:extLst>
      <p:ext uri="{BB962C8B-B14F-4D97-AF65-F5344CB8AC3E}">
        <p14:creationId xmlns:p14="http://schemas.microsoft.com/office/powerpoint/2010/main" val="285010633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F6395-ABD1-60B1-E0BD-D55C5E3CA3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75C7C9-0C8F-913C-9822-FE74FAC06EFE}"/>
              </a:ext>
            </a:extLst>
          </p:cNvPr>
          <p:cNvSpPr>
            <a:spLocks noGrp="1"/>
          </p:cNvSpPr>
          <p:nvPr>
            <p:ph type="title"/>
          </p:nvPr>
        </p:nvSpPr>
        <p:spPr/>
        <p:txBody>
          <a:bodyPr>
            <a:normAutofit fontScale="90000"/>
          </a:bodyPr>
          <a:lstStyle/>
          <a:p>
            <a:r>
              <a:rPr lang="en-ID" dirty="0"/>
              <a:t>Loop Invariant Method</a:t>
            </a:r>
          </a:p>
        </p:txBody>
      </p:sp>
      <p:sp>
        <p:nvSpPr>
          <p:cNvPr id="3" name="Text Placeholder 2">
            <a:extLst>
              <a:ext uri="{FF2B5EF4-FFF2-40B4-BE49-F238E27FC236}">
                <a16:creationId xmlns:a16="http://schemas.microsoft.com/office/drawing/2014/main" id="{78CFF3D9-3E1B-F837-45EC-77FA51497D09}"/>
              </a:ext>
            </a:extLst>
          </p:cNvPr>
          <p:cNvSpPr>
            <a:spLocks noGrp="1"/>
          </p:cNvSpPr>
          <p:nvPr>
            <p:ph type="body" sz="quarter" idx="10"/>
          </p:nvPr>
        </p:nvSpPr>
        <p:spPr>
          <a:xfrm>
            <a:off x="2167377" y="2419728"/>
            <a:ext cx="11131528" cy="803546"/>
          </a:xfrm>
        </p:spPr>
        <p:txBody>
          <a:bodyPr>
            <a:normAutofit/>
          </a:bodyPr>
          <a:lstStyle/>
          <a:p>
            <a:r>
              <a:rPr lang="en-ID" dirty="0"/>
              <a:t>Example: Linear Search</a:t>
            </a:r>
          </a:p>
        </p:txBody>
      </p:sp>
      <p:sp>
        <p:nvSpPr>
          <p:cNvPr id="4" name="Content Placeholder 3">
            <a:extLst>
              <a:ext uri="{FF2B5EF4-FFF2-40B4-BE49-F238E27FC236}">
                <a16:creationId xmlns:a16="http://schemas.microsoft.com/office/drawing/2014/main" id="{DE74C26A-D481-6A30-9226-FA0C8064B3A0}"/>
              </a:ext>
            </a:extLst>
          </p:cNvPr>
          <p:cNvSpPr>
            <a:spLocks noGrp="1"/>
          </p:cNvSpPr>
          <p:nvPr>
            <p:ph sz="quarter" idx="11"/>
          </p:nvPr>
        </p:nvSpPr>
        <p:spPr>
          <a:xfrm>
            <a:off x="2167377" y="3556000"/>
            <a:ext cx="19946712" cy="9008533"/>
          </a:xfrm>
        </p:spPr>
        <p:txBody>
          <a:bodyPr>
            <a:normAutofit/>
          </a:bodyPr>
          <a:lstStyle/>
          <a:p>
            <a:pPr marL="0" indent="0" algn="just">
              <a:buNone/>
            </a:pPr>
            <a:r>
              <a:rPr lang="en-ID" b="1" dirty="0"/>
              <a:t>Algorithm:</a:t>
            </a:r>
          </a:p>
          <a:p>
            <a:pPr marL="0" indent="0" algn="just">
              <a:buNone/>
            </a:pPr>
            <a:endParaRPr lang="en-ID" dirty="0"/>
          </a:p>
          <a:p>
            <a:pPr marL="0" indent="0" algn="just">
              <a:buNone/>
            </a:pPr>
            <a:endParaRPr lang="en-ID" dirty="0"/>
          </a:p>
          <a:p>
            <a:pPr marL="0" indent="0" algn="just">
              <a:buNone/>
            </a:pPr>
            <a:r>
              <a:rPr lang="en-ID" b="1" dirty="0"/>
              <a:t>Loop invariant:</a:t>
            </a:r>
            <a:r>
              <a:rPr lang="en-ID" dirty="0"/>
              <a:t> At the start of iteration </a:t>
            </a:r>
            <a:r>
              <a:rPr lang="en-ID" i="1" dirty="0" err="1"/>
              <a:t>i</a:t>
            </a:r>
            <a:r>
              <a:rPr lang="en-ID" dirty="0"/>
              <a:t>, no element in A[1..i-1] equals </a:t>
            </a:r>
            <a:r>
              <a:rPr lang="en-ID" i="1" dirty="0"/>
              <a:t>v</a:t>
            </a:r>
            <a:r>
              <a:rPr lang="en-ID" dirty="0"/>
              <a:t>.</a:t>
            </a:r>
          </a:p>
          <a:p>
            <a:pPr algn="just"/>
            <a:r>
              <a:rPr lang="en-ID" b="1" dirty="0"/>
              <a:t>Init:</a:t>
            </a:r>
            <a:r>
              <a:rPr lang="en-ID" dirty="0"/>
              <a:t> A[1..0] is empty — the property holds vacuously. ✓</a:t>
            </a:r>
          </a:p>
          <a:p>
            <a:pPr algn="just"/>
            <a:r>
              <a:rPr lang="en-ID" b="1" dirty="0"/>
              <a:t>Maintenance:</a:t>
            </a:r>
            <a:r>
              <a:rPr lang="en-ID" dirty="0"/>
              <a:t> If A[</a:t>
            </a:r>
            <a:r>
              <a:rPr lang="en-ID" dirty="0" err="1"/>
              <a:t>i</a:t>
            </a:r>
            <a:r>
              <a:rPr lang="en-ID" dirty="0"/>
              <a:t>] ≠ v, then A[1..i] contains no </a:t>
            </a:r>
            <a:r>
              <a:rPr lang="en-ID" i="1" dirty="0"/>
              <a:t>v</a:t>
            </a:r>
            <a:r>
              <a:rPr lang="en-ID" dirty="0"/>
              <a:t>. The invariant holds for iteration </a:t>
            </a:r>
            <a:r>
              <a:rPr lang="en-ID" i="1" dirty="0"/>
              <a:t>i+1</a:t>
            </a:r>
            <a:r>
              <a:rPr lang="en-ID" dirty="0"/>
              <a:t>. ✓</a:t>
            </a:r>
          </a:p>
          <a:p>
            <a:pPr algn="just"/>
            <a:r>
              <a:rPr lang="en-ID" b="1" dirty="0"/>
              <a:t>Termination:</a:t>
            </a:r>
            <a:r>
              <a:rPr lang="en-ID" dirty="0"/>
              <a:t> Either we returned </a:t>
            </a:r>
            <a:r>
              <a:rPr lang="en-ID" i="1" dirty="0" err="1"/>
              <a:t>i</a:t>
            </a:r>
            <a:r>
              <a:rPr lang="en-ID" dirty="0"/>
              <a:t> (because A[</a:t>
            </a:r>
            <a:r>
              <a:rPr lang="en-ID" dirty="0" err="1"/>
              <a:t>i</a:t>
            </a:r>
            <a:r>
              <a:rPr lang="en-ID" dirty="0"/>
              <a:t>] == v) or we finished with </a:t>
            </a:r>
            <a:r>
              <a:rPr lang="en-ID" dirty="0" err="1"/>
              <a:t>i</a:t>
            </a:r>
            <a:r>
              <a:rPr lang="en-ID" dirty="0"/>
              <a:t> = n+1, at which point A[1..n] contains no </a:t>
            </a:r>
            <a:r>
              <a:rPr lang="en-ID" i="1" dirty="0"/>
              <a:t>v</a:t>
            </a:r>
            <a:r>
              <a:rPr lang="en-ID" dirty="0"/>
              <a:t> → return NIL. ✓</a:t>
            </a:r>
          </a:p>
        </p:txBody>
      </p:sp>
      <p:sp>
        <p:nvSpPr>
          <p:cNvPr id="6" name="Rectangle 5">
            <a:extLst>
              <a:ext uri="{FF2B5EF4-FFF2-40B4-BE49-F238E27FC236}">
                <a16:creationId xmlns:a16="http://schemas.microsoft.com/office/drawing/2014/main" id="{13771E4E-5942-9D71-E8C3-ABD8A35F4389}"/>
              </a:ext>
            </a:extLst>
          </p:cNvPr>
          <p:cNvSpPr/>
          <p:nvPr/>
        </p:nvSpPr>
        <p:spPr>
          <a:xfrm>
            <a:off x="2269911" y="4464669"/>
            <a:ext cx="5327762" cy="1949252"/>
          </a:xfrm>
          <a:prstGeom prst="rect">
            <a:avLst/>
          </a:prstGeom>
          <a:solidFill>
            <a:srgbClr val="FFF7D6"/>
          </a:solidFill>
          <a:ln/>
        </p:spPr>
        <p:style>
          <a:lnRef idx="2">
            <a:schemeClr val="accent4">
              <a:shade val="15000"/>
            </a:schemeClr>
          </a:lnRef>
          <a:fillRef idx="1">
            <a:schemeClr val="accent4"/>
          </a:fillRef>
          <a:effectRef idx="0">
            <a:schemeClr val="accent4"/>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algn="l">
              <a:buNone/>
            </a:pPr>
            <a:r>
              <a:rPr lang="en-US" sz="2400" b="1" i="0" dirty="0">
                <a:solidFill>
                  <a:srgbClr val="424242"/>
                </a:solidFill>
                <a:effectLst/>
                <a:latin typeface="Courier New" panose="02070309020205020404" pitchFamily="49" charset="0"/>
              </a:rPr>
              <a:t>LINEAR-SEARCH(A, n, v)</a:t>
            </a:r>
          </a:p>
          <a:p>
            <a:pPr algn="l">
              <a:buNone/>
            </a:pPr>
            <a:r>
              <a:rPr lang="en-US" sz="2400" b="1" i="0" dirty="0">
                <a:solidFill>
                  <a:srgbClr val="424242"/>
                </a:solidFill>
                <a:effectLst/>
                <a:latin typeface="Courier New" panose="02070309020205020404" pitchFamily="49" charset="0"/>
              </a:rPr>
              <a:t>1  for </a:t>
            </a:r>
            <a:r>
              <a:rPr lang="en-US" sz="2400" b="1" i="0" dirty="0" err="1">
                <a:solidFill>
                  <a:srgbClr val="424242"/>
                </a:solidFill>
                <a:effectLst/>
                <a:latin typeface="Courier New" panose="02070309020205020404" pitchFamily="49" charset="0"/>
              </a:rPr>
              <a:t>i</a:t>
            </a:r>
            <a:r>
              <a:rPr lang="en-US" sz="2400" b="1" i="0" dirty="0">
                <a:solidFill>
                  <a:srgbClr val="424242"/>
                </a:solidFill>
                <a:effectLst/>
                <a:latin typeface="Courier New" panose="02070309020205020404" pitchFamily="49" charset="0"/>
              </a:rPr>
              <a:t> = 1 to n</a:t>
            </a:r>
          </a:p>
          <a:p>
            <a:pPr algn="l">
              <a:buNone/>
            </a:pPr>
            <a:r>
              <a:rPr lang="en-US" sz="2400" b="1" i="0" dirty="0">
                <a:solidFill>
                  <a:srgbClr val="424242"/>
                </a:solidFill>
                <a:effectLst/>
                <a:latin typeface="Courier New" panose="02070309020205020404" pitchFamily="49" charset="0"/>
              </a:rPr>
              <a:t>2      if A[</a:t>
            </a:r>
            <a:r>
              <a:rPr lang="en-US" sz="2400" b="1" i="0" dirty="0" err="1">
                <a:solidFill>
                  <a:srgbClr val="424242"/>
                </a:solidFill>
                <a:effectLst/>
                <a:latin typeface="Courier New" panose="02070309020205020404" pitchFamily="49" charset="0"/>
              </a:rPr>
              <a:t>i</a:t>
            </a:r>
            <a:r>
              <a:rPr lang="en-US" sz="2400" b="1" i="0" dirty="0">
                <a:solidFill>
                  <a:srgbClr val="424242"/>
                </a:solidFill>
                <a:effectLst/>
                <a:latin typeface="Courier New" panose="02070309020205020404" pitchFamily="49" charset="0"/>
              </a:rPr>
              <a:t>] == v</a:t>
            </a:r>
          </a:p>
          <a:p>
            <a:pPr algn="l">
              <a:buNone/>
            </a:pPr>
            <a:r>
              <a:rPr lang="en-US" sz="2400" b="1" i="0" dirty="0">
                <a:solidFill>
                  <a:srgbClr val="424242"/>
                </a:solidFill>
                <a:effectLst/>
                <a:latin typeface="Courier New" panose="02070309020205020404" pitchFamily="49" charset="0"/>
              </a:rPr>
              <a:t>3          return </a:t>
            </a:r>
            <a:r>
              <a:rPr lang="en-US" sz="2400" b="1" i="0" dirty="0" err="1">
                <a:solidFill>
                  <a:srgbClr val="424242"/>
                </a:solidFill>
                <a:effectLst/>
                <a:latin typeface="Courier New" panose="02070309020205020404" pitchFamily="49" charset="0"/>
              </a:rPr>
              <a:t>i</a:t>
            </a:r>
            <a:endParaRPr lang="en-US" sz="2400" b="1" i="0" dirty="0">
              <a:solidFill>
                <a:srgbClr val="424242"/>
              </a:solidFill>
              <a:effectLst/>
              <a:latin typeface="Courier New" panose="02070309020205020404" pitchFamily="49" charset="0"/>
            </a:endParaRPr>
          </a:p>
          <a:p>
            <a:pPr algn="l">
              <a:buNone/>
            </a:pPr>
            <a:r>
              <a:rPr lang="en-US" sz="2400" b="1" i="0" dirty="0">
                <a:solidFill>
                  <a:srgbClr val="424242"/>
                </a:solidFill>
                <a:effectLst/>
                <a:latin typeface="Courier New" panose="02070309020205020404" pitchFamily="49" charset="0"/>
              </a:rPr>
              <a:t>4  return NIL</a:t>
            </a:r>
          </a:p>
        </p:txBody>
      </p:sp>
    </p:spTree>
    <p:extLst>
      <p:ext uri="{BB962C8B-B14F-4D97-AF65-F5344CB8AC3E}">
        <p14:creationId xmlns:p14="http://schemas.microsoft.com/office/powerpoint/2010/main" val="335804370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77361-BA95-799B-B1F1-56AF5DED6A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79E4C5-3B40-FAC9-CFAF-567651A92D89}"/>
              </a:ext>
            </a:extLst>
          </p:cNvPr>
          <p:cNvSpPr>
            <a:spLocks noGrp="1"/>
          </p:cNvSpPr>
          <p:nvPr>
            <p:ph type="title"/>
          </p:nvPr>
        </p:nvSpPr>
        <p:spPr/>
        <p:txBody>
          <a:bodyPr>
            <a:normAutofit fontScale="90000"/>
          </a:bodyPr>
          <a:lstStyle/>
          <a:p>
            <a:r>
              <a:rPr lang="en-ID" dirty="0"/>
              <a:t>Proof by Mathematical Induction</a:t>
            </a:r>
          </a:p>
        </p:txBody>
      </p:sp>
      <p:sp>
        <p:nvSpPr>
          <p:cNvPr id="3" name="Text Placeholder 2">
            <a:extLst>
              <a:ext uri="{FF2B5EF4-FFF2-40B4-BE49-F238E27FC236}">
                <a16:creationId xmlns:a16="http://schemas.microsoft.com/office/drawing/2014/main" id="{4DB87C93-F5F7-4851-A81A-7ABE30FEE7DE}"/>
              </a:ext>
            </a:extLst>
          </p:cNvPr>
          <p:cNvSpPr>
            <a:spLocks noGrp="1"/>
          </p:cNvSpPr>
          <p:nvPr>
            <p:ph type="body" sz="quarter" idx="10"/>
          </p:nvPr>
        </p:nvSpPr>
        <p:spPr/>
        <p:txBody>
          <a:bodyPr>
            <a:normAutofit/>
          </a:bodyPr>
          <a:lstStyle/>
          <a:p>
            <a:r>
              <a:rPr lang="en-ID" dirty="0"/>
              <a:t>Structure</a:t>
            </a:r>
          </a:p>
        </p:txBody>
      </p:sp>
      <p:sp>
        <p:nvSpPr>
          <p:cNvPr id="4" name="Content Placeholder 3">
            <a:extLst>
              <a:ext uri="{FF2B5EF4-FFF2-40B4-BE49-F238E27FC236}">
                <a16:creationId xmlns:a16="http://schemas.microsoft.com/office/drawing/2014/main" id="{9B5E6FFF-76C1-DB09-DA07-6F354F9149E2}"/>
              </a:ext>
            </a:extLst>
          </p:cNvPr>
          <p:cNvSpPr>
            <a:spLocks noGrp="1"/>
          </p:cNvSpPr>
          <p:nvPr>
            <p:ph sz="quarter" idx="11"/>
          </p:nvPr>
        </p:nvSpPr>
        <p:spPr>
          <a:xfrm>
            <a:off x="2167377" y="3714224"/>
            <a:ext cx="19032265" cy="9138176"/>
          </a:xfrm>
        </p:spPr>
        <p:txBody>
          <a:bodyPr>
            <a:normAutofit/>
          </a:bodyPr>
          <a:lstStyle/>
          <a:p>
            <a:pPr marL="0" indent="0" algn="just">
              <a:buNone/>
            </a:pPr>
            <a:r>
              <a:rPr lang="en-ID" dirty="0"/>
              <a:t>To prove a statement P(n) for all integers n ≥ n₀:</a:t>
            </a:r>
          </a:p>
          <a:p>
            <a:pPr algn="just">
              <a:buFont typeface="+mj-lt"/>
              <a:buAutoNum type="arabicPeriod"/>
            </a:pPr>
            <a:r>
              <a:rPr lang="en-ID" b="1" dirty="0"/>
              <a:t>Base case:</a:t>
            </a:r>
            <a:r>
              <a:rPr lang="en-ID" dirty="0"/>
              <a:t> Prove P(n₀) directly.</a:t>
            </a:r>
          </a:p>
          <a:p>
            <a:pPr algn="just">
              <a:buFont typeface="+mj-lt"/>
              <a:buAutoNum type="arabicPeriod"/>
            </a:pPr>
            <a:r>
              <a:rPr lang="en-ID" b="1" dirty="0"/>
              <a:t>Inductive step:</a:t>
            </a:r>
            <a:r>
              <a:rPr lang="en-ID" dirty="0"/>
              <a:t> Assume P(k) is true for some k ≥ n₀ (</a:t>
            </a:r>
            <a:r>
              <a:rPr lang="en-ID" b="1" dirty="0"/>
              <a:t>inductive hypothesis</a:t>
            </a:r>
            <a:r>
              <a:rPr lang="en-ID" dirty="0"/>
              <a:t>), then prove P(k+1).</a:t>
            </a:r>
          </a:p>
          <a:p>
            <a:pPr marL="0" indent="0" algn="just">
              <a:buNone/>
            </a:pPr>
            <a:r>
              <a:rPr lang="en-ID" b="1" dirty="0"/>
              <a:t>Strong induction:</a:t>
            </a:r>
            <a:r>
              <a:rPr lang="en-ID" dirty="0"/>
              <a:t> assume P(n₀), P(n₀+1), …, P(k) are all true, then prove P(k+1). Useful when the (k+1)-</a:t>
            </a:r>
            <a:r>
              <a:rPr lang="en-ID" dirty="0" err="1"/>
              <a:t>th</a:t>
            </a:r>
            <a:r>
              <a:rPr lang="en-ID" dirty="0"/>
              <a:t> case depends on multiple earlier cases.</a:t>
            </a:r>
          </a:p>
        </p:txBody>
      </p:sp>
    </p:spTree>
    <p:extLst>
      <p:ext uri="{BB962C8B-B14F-4D97-AF65-F5344CB8AC3E}">
        <p14:creationId xmlns:p14="http://schemas.microsoft.com/office/powerpoint/2010/main" val="312073524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7F9EC-4EBD-00A7-1EB7-C8F4A9521F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63AA13-1C03-0F79-4BE2-CA686CDFB171}"/>
              </a:ext>
            </a:extLst>
          </p:cNvPr>
          <p:cNvSpPr>
            <a:spLocks noGrp="1"/>
          </p:cNvSpPr>
          <p:nvPr>
            <p:ph type="title"/>
          </p:nvPr>
        </p:nvSpPr>
        <p:spPr/>
        <p:txBody>
          <a:bodyPr>
            <a:normAutofit fontScale="90000"/>
          </a:bodyPr>
          <a:lstStyle/>
          <a:p>
            <a:r>
              <a:rPr lang="en-ID" dirty="0"/>
              <a:t>Proof by Mathematical Induction</a:t>
            </a:r>
          </a:p>
        </p:txBody>
      </p:sp>
      <p:sp>
        <p:nvSpPr>
          <p:cNvPr id="3" name="Text Placeholder 2">
            <a:extLst>
              <a:ext uri="{FF2B5EF4-FFF2-40B4-BE49-F238E27FC236}">
                <a16:creationId xmlns:a16="http://schemas.microsoft.com/office/drawing/2014/main" id="{96B9E49F-969B-582D-088D-C88F3626653F}"/>
              </a:ext>
            </a:extLst>
          </p:cNvPr>
          <p:cNvSpPr>
            <a:spLocks noGrp="1"/>
          </p:cNvSpPr>
          <p:nvPr>
            <p:ph type="body" sz="quarter" idx="10"/>
          </p:nvPr>
        </p:nvSpPr>
        <p:spPr/>
        <p:txBody>
          <a:bodyPr>
            <a:normAutofit/>
          </a:bodyPr>
          <a:lstStyle/>
          <a:p>
            <a:r>
              <a:rPr lang="en-ID" dirty="0"/>
              <a:t>Example: Sum of First n Natural Numbers</a:t>
            </a:r>
          </a:p>
        </p:txBody>
      </p:sp>
      <p:sp>
        <p:nvSpPr>
          <p:cNvPr id="4" name="Content Placeholder 3">
            <a:extLst>
              <a:ext uri="{FF2B5EF4-FFF2-40B4-BE49-F238E27FC236}">
                <a16:creationId xmlns:a16="http://schemas.microsoft.com/office/drawing/2014/main" id="{711B1554-4B3B-E892-24DD-1E5B034F5525}"/>
              </a:ext>
            </a:extLst>
          </p:cNvPr>
          <p:cNvSpPr>
            <a:spLocks noGrp="1"/>
          </p:cNvSpPr>
          <p:nvPr>
            <p:ph sz="quarter" idx="11"/>
          </p:nvPr>
        </p:nvSpPr>
        <p:spPr>
          <a:xfrm>
            <a:off x="2167377" y="3714224"/>
            <a:ext cx="19032265" cy="9138176"/>
          </a:xfrm>
        </p:spPr>
        <p:txBody>
          <a:bodyPr>
            <a:normAutofit/>
          </a:bodyPr>
          <a:lstStyle/>
          <a:p>
            <a:pPr marL="0" indent="0">
              <a:buNone/>
            </a:pPr>
            <a:r>
              <a:rPr lang="en-ID" b="1" dirty="0"/>
              <a:t>Claim:</a:t>
            </a:r>
            <a:r>
              <a:rPr lang="en-ID" dirty="0"/>
              <a:t> For all n ≥ 1, ∑ᵢ₌₁ⁿ </a:t>
            </a:r>
            <a:r>
              <a:rPr lang="en-ID" dirty="0" err="1"/>
              <a:t>i</a:t>
            </a:r>
            <a:r>
              <a:rPr lang="en-ID" dirty="0"/>
              <a:t> = n(n+1)/2.</a:t>
            </a:r>
          </a:p>
          <a:p>
            <a:pPr marL="0" indent="0">
              <a:buNone/>
            </a:pPr>
            <a:r>
              <a:rPr lang="en-ID" b="1" dirty="0"/>
              <a:t>Proof by induction:</a:t>
            </a:r>
            <a:endParaRPr lang="en-ID" dirty="0"/>
          </a:p>
          <a:p>
            <a:r>
              <a:rPr lang="en-ID" b="1" dirty="0"/>
              <a:t>Base (n=1):</a:t>
            </a:r>
            <a:r>
              <a:rPr lang="en-ID" dirty="0"/>
              <a:t> ∑ = 1 = 1×2/2 = 1. ✓</a:t>
            </a:r>
          </a:p>
          <a:p>
            <a:r>
              <a:rPr lang="en-ID" b="1" dirty="0"/>
              <a:t>Inductive step:</a:t>
            </a:r>
            <a:r>
              <a:rPr lang="en-ID" dirty="0"/>
              <a:t> Assume ∑ᵢ₌₁ᵏ </a:t>
            </a:r>
            <a:r>
              <a:rPr lang="en-ID" dirty="0" err="1"/>
              <a:t>i</a:t>
            </a:r>
            <a:r>
              <a:rPr lang="en-ID" dirty="0"/>
              <a:t> = k(k+1)/2. Then:</a:t>
            </a:r>
          </a:p>
          <a:p>
            <a:pPr marL="756000" lvl="1" indent="0">
              <a:buNone/>
            </a:pPr>
            <a:r>
              <a:rPr lang="en-ID" dirty="0"/>
              <a:t>∑ᵢ₌₁ᵏ⁺¹ </a:t>
            </a:r>
            <a:r>
              <a:rPr lang="en-ID" dirty="0" err="1"/>
              <a:t>i</a:t>
            </a:r>
            <a:r>
              <a:rPr lang="en-ID" dirty="0"/>
              <a:t> = k(k+1)/2 + (k+1) = (k+1)(k/2 + 1) = (k+1)(k+2)/2. ✓</a:t>
            </a:r>
          </a:p>
        </p:txBody>
      </p:sp>
    </p:spTree>
    <p:extLst>
      <p:ext uri="{BB962C8B-B14F-4D97-AF65-F5344CB8AC3E}">
        <p14:creationId xmlns:p14="http://schemas.microsoft.com/office/powerpoint/2010/main" val="423663854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58F10-7DEC-F84F-E359-2B1BD32687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4916CC-9AF1-E06C-4988-F6A891E1C819}"/>
              </a:ext>
            </a:extLst>
          </p:cNvPr>
          <p:cNvSpPr>
            <a:spLocks noGrp="1"/>
          </p:cNvSpPr>
          <p:nvPr>
            <p:ph type="title"/>
          </p:nvPr>
        </p:nvSpPr>
        <p:spPr/>
        <p:txBody>
          <a:bodyPr>
            <a:normAutofit fontScale="90000"/>
          </a:bodyPr>
          <a:lstStyle/>
          <a:p>
            <a:r>
              <a:rPr lang="en-ID" dirty="0"/>
              <a:t>Proof by Mathematical Induction</a:t>
            </a:r>
          </a:p>
        </p:txBody>
      </p:sp>
      <p:sp>
        <p:nvSpPr>
          <p:cNvPr id="3" name="Text Placeholder 2">
            <a:extLst>
              <a:ext uri="{FF2B5EF4-FFF2-40B4-BE49-F238E27FC236}">
                <a16:creationId xmlns:a16="http://schemas.microsoft.com/office/drawing/2014/main" id="{BD147079-3958-6BF4-FA5E-8FCAB30A6CB3}"/>
              </a:ext>
            </a:extLst>
          </p:cNvPr>
          <p:cNvSpPr>
            <a:spLocks noGrp="1"/>
          </p:cNvSpPr>
          <p:nvPr>
            <p:ph type="body" sz="quarter" idx="10"/>
          </p:nvPr>
        </p:nvSpPr>
        <p:spPr>
          <a:xfrm>
            <a:off x="2167377" y="2419728"/>
            <a:ext cx="11628834" cy="803546"/>
          </a:xfrm>
        </p:spPr>
        <p:txBody>
          <a:bodyPr>
            <a:normAutofit/>
          </a:bodyPr>
          <a:lstStyle/>
          <a:p>
            <a:r>
              <a:rPr lang="en-US" dirty="0"/>
              <a:t>Example: Correctness of Recursive Factorial</a:t>
            </a:r>
            <a:endParaRPr lang="en-ID" dirty="0"/>
          </a:p>
        </p:txBody>
      </p:sp>
      <p:sp>
        <p:nvSpPr>
          <p:cNvPr id="4" name="Content Placeholder 3">
            <a:extLst>
              <a:ext uri="{FF2B5EF4-FFF2-40B4-BE49-F238E27FC236}">
                <a16:creationId xmlns:a16="http://schemas.microsoft.com/office/drawing/2014/main" id="{504208E4-EB62-0EFE-76CE-B41C8671EE69}"/>
              </a:ext>
            </a:extLst>
          </p:cNvPr>
          <p:cNvSpPr>
            <a:spLocks noGrp="1"/>
          </p:cNvSpPr>
          <p:nvPr>
            <p:ph sz="quarter" idx="11"/>
          </p:nvPr>
        </p:nvSpPr>
        <p:spPr>
          <a:xfrm>
            <a:off x="2167377" y="3714224"/>
            <a:ext cx="19032265" cy="9138176"/>
          </a:xfrm>
        </p:spPr>
        <p:txBody>
          <a:bodyPr>
            <a:normAutofit/>
          </a:bodyPr>
          <a:lstStyle/>
          <a:p>
            <a:pPr marL="0" indent="0" algn="just">
              <a:buNone/>
            </a:pPr>
            <a:r>
              <a:rPr lang="en-ID" b="1" dirty="0"/>
              <a:t>Claim:</a:t>
            </a:r>
            <a:r>
              <a:rPr lang="en-ID" dirty="0"/>
              <a:t> FACTORIAL(n) returns n! for all n ≥ 0.</a:t>
            </a:r>
          </a:p>
          <a:p>
            <a:pPr marL="0" indent="0" algn="just">
              <a:buNone/>
            </a:pPr>
            <a:endParaRPr lang="en-ID" dirty="0"/>
          </a:p>
          <a:p>
            <a:pPr marL="0" indent="0" algn="just">
              <a:buNone/>
            </a:pPr>
            <a:r>
              <a:rPr lang="en-ID" b="1" dirty="0"/>
              <a:t>Proof by strong induction:</a:t>
            </a:r>
            <a:endParaRPr lang="en-ID" dirty="0"/>
          </a:p>
          <a:p>
            <a:pPr algn="just"/>
            <a:r>
              <a:rPr lang="en-ID" b="1" dirty="0"/>
              <a:t>Base (n=0):</a:t>
            </a:r>
            <a:r>
              <a:rPr lang="en-ID" dirty="0"/>
              <a:t> Returns 1 = 0!. ✓</a:t>
            </a:r>
          </a:p>
          <a:p>
            <a:pPr algn="just"/>
            <a:r>
              <a:rPr lang="en-ID" b="1" dirty="0"/>
              <a:t>Inductive step:</a:t>
            </a:r>
            <a:r>
              <a:rPr lang="en-ID" dirty="0"/>
              <a:t> Assume FACTORIAL(k) = k! for all k &lt; n. Then FACTORIAL(n) returns n × FACTORIAL(n−1) = n × (n−1)! = n!. ✓ (by inductive hypothesis applied to n−1 &lt; n)</a:t>
            </a:r>
          </a:p>
        </p:txBody>
      </p:sp>
      <p:sp>
        <p:nvSpPr>
          <p:cNvPr id="6" name="Rectangle 5">
            <a:extLst>
              <a:ext uri="{FF2B5EF4-FFF2-40B4-BE49-F238E27FC236}">
                <a16:creationId xmlns:a16="http://schemas.microsoft.com/office/drawing/2014/main" id="{CD3081E6-1540-E467-8874-E5D37E30A730}"/>
              </a:ext>
            </a:extLst>
          </p:cNvPr>
          <p:cNvSpPr/>
          <p:nvPr/>
        </p:nvSpPr>
        <p:spPr>
          <a:xfrm>
            <a:off x="2268978" y="4606827"/>
            <a:ext cx="6030139" cy="1210588"/>
          </a:xfrm>
          <a:prstGeom prst="rect">
            <a:avLst/>
          </a:prstGeom>
          <a:solidFill>
            <a:srgbClr val="FFF7D6"/>
          </a:solidFill>
          <a:ln/>
        </p:spPr>
        <p:style>
          <a:lnRef idx="2">
            <a:schemeClr val="accent4">
              <a:shade val="15000"/>
            </a:schemeClr>
          </a:lnRef>
          <a:fillRef idx="1">
            <a:schemeClr val="accent4"/>
          </a:fillRef>
          <a:effectRef idx="0">
            <a:schemeClr val="accent4"/>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algn="l">
              <a:buNone/>
            </a:pPr>
            <a:r>
              <a:rPr lang="en-ID" sz="2400" b="1" i="0" dirty="0">
                <a:solidFill>
                  <a:srgbClr val="424242"/>
                </a:solidFill>
                <a:effectLst/>
                <a:latin typeface="Courier New" panose="02070309020205020404" pitchFamily="49" charset="0"/>
              </a:rPr>
              <a:t>FACTORIAL(n)</a:t>
            </a:r>
          </a:p>
          <a:p>
            <a:pPr algn="l">
              <a:buNone/>
            </a:pPr>
            <a:r>
              <a:rPr lang="en-ID" sz="2400" b="1" i="0" dirty="0">
                <a:solidFill>
                  <a:srgbClr val="424242"/>
                </a:solidFill>
                <a:effectLst/>
                <a:latin typeface="Courier New" panose="02070309020205020404" pitchFamily="49" charset="0"/>
              </a:rPr>
              <a:t>1  if n == 0: return 1</a:t>
            </a:r>
          </a:p>
          <a:p>
            <a:pPr algn="l">
              <a:buNone/>
            </a:pPr>
            <a:r>
              <a:rPr lang="en-ID" sz="2400" b="1" i="0" dirty="0">
                <a:solidFill>
                  <a:srgbClr val="424242"/>
                </a:solidFill>
                <a:effectLst/>
                <a:latin typeface="Courier New" panose="02070309020205020404" pitchFamily="49" charset="0"/>
              </a:rPr>
              <a:t>2  return n × FACTORIAL(n−1)</a:t>
            </a:r>
          </a:p>
        </p:txBody>
      </p:sp>
    </p:spTree>
    <p:extLst>
      <p:ext uri="{BB962C8B-B14F-4D97-AF65-F5344CB8AC3E}">
        <p14:creationId xmlns:p14="http://schemas.microsoft.com/office/powerpoint/2010/main" val="317450675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6E01B-734E-0680-7C3F-398B083FD8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83AFCF-2A50-27D0-3337-7217FF95A814}"/>
              </a:ext>
            </a:extLst>
          </p:cNvPr>
          <p:cNvSpPr>
            <a:spLocks noGrp="1"/>
          </p:cNvSpPr>
          <p:nvPr>
            <p:ph type="title"/>
          </p:nvPr>
        </p:nvSpPr>
        <p:spPr/>
        <p:txBody>
          <a:bodyPr>
            <a:normAutofit fontScale="90000"/>
          </a:bodyPr>
          <a:lstStyle/>
          <a:p>
            <a:r>
              <a:rPr lang="en-ID" dirty="0"/>
              <a:t>Proof by Mathematical Induction</a:t>
            </a:r>
          </a:p>
        </p:txBody>
      </p:sp>
      <p:sp>
        <p:nvSpPr>
          <p:cNvPr id="3" name="Text Placeholder 2">
            <a:extLst>
              <a:ext uri="{FF2B5EF4-FFF2-40B4-BE49-F238E27FC236}">
                <a16:creationId xmlns:a16="http://schemas.microsoft.com/office/drawing/2014/main" id="{9F1DF3EF-F600-9E39-8230-0A9C11DA6539}"/>
              </a:ext>
            </a:extLst>
          </p:cNvPr>
          <p:cNvSpPr>
            <a:spLocks noGrp="1"/>
          </p:cNvSpPr>
          <p:nvPr>
            <p:ph type="body" sz="quarter" idx="10"/>
          </p:nvPr>
        </p:nvSpPr>
        <p:spPr>
          <a:xfrm>
            <a:off x="2167377" y="2419728"/>
            <a:ext cx="11628834" cy="803546"/>
          </a:xfrm>
        </p:spPr>
        <p:txBody>
          <a:bodyPr>
            <a:normAutofit/>
          </a:bodyPr>
          <a:lstStyle/>
          <a:p>
            <a:r>
              <a:rPr lang="en-ID" dirty="0"/>
              <a:t>Example: Fibonacci — Closed-form Bound</a:t>
            </a:r>
          </a:p>
        </p:txBody>
      </p:sp>
      <p:sp>
        <p:nvSpPr>
          <p:cNvPr id="4" name="Content Placeholder 3">
            <a:extLst>
              <a:ext uri="{FF2B5EF4-FFF2-40B4-BE49-F238E27FC236}">
                <a16:creationId xmlns:a16="http://schemas.microsoft.com/office/drawing/2014/main" id="{680A2FB8-499E-8ABB-152A-30367A58ECE2}"/>
              </a:ext>
            </a:extLst>
          </p:cNvPr>
          <p:cNvSpPr>
            <a:spLocks noGrp="1"/>
          </p:cNvSpPr>
          <p:nvPr>
            <p:ph sz="quarter" idx="11"/>
          </p:nvPr>
        </p:nvSpPr>
        <p:spPr>
          <a:xfrm>
            <a:off x="2167377" y="3714224"/>
            <a:ext cx="19032265" cy="9138176"/>
          </a:xfrm>
        </p:spPr>
        <p:txBody>
          <a:bodyPr>
            <a:normAutofit/>
          </a:bodyPr>
          <a:lstStyle/>
          <a:p>
            <a:pPr marL="0" indent="0">
              <a:buNone/>
            </a:pPr>
            <a:r>
              <a:rPr lang="en-ID" b="1" dirty="0"/>
              <a:t>Claim:</a:t>
            </a:r>
            <a:r>
              <a:rPr lang="en-ID" dirty="0"/>
              <a:t> F(n) &lt; 2ⁿ for all n ≥ 1.</a:t>
            </a:r>
          </a:p>
          <a:p>
            <a:pPr marL="0" indent="0">
              <a:buNone/>
            </a:pPr>
            <a:r>
              <a:rPr lang="en-ID" b="1" dirty="0"/>
              <a:t>Proof by strong induction:</a:t>
            </a:r>
            <a:endParaRPr lang="en-ID" dirty="0"/>
          </a:p>
          <a:p>
            <a:r>
              <a:rPr lang="en-ID" b="1" dirty="0"/>
              <a:t>Base:</a:t>
            </a:r>
            <a:r>
              <a:rPr lang="en-ID" dirty="0"/>
              <a:t> F(1) = 1 &lt; 2¹ = 2. F(2) = 1 &lt; 4. ✓</a:t>
            </a:r>
          </a:p>
          <a:p>
            <a:r>
              <a:rPr lang="en-ID" b="1" dirty="0"/>
              <a:t>Inductive step:</a:t>
            </a:r>
            <a:r>
              <a:rPr lang="en-ID" dirty="0"/>
              <a:t> Assume F(k) &lt; 2ᵏ for all k &lt; n (with n ≥ 3). Then:</a:t>
            </a:r>
          </a:p>
          <a:p>
            <a:r>
              <a:rPr lang="en-ID" dirty="0"/>
              <a:t>F(n) = F(n−1) + F(n−2) &lt; 2ⁿ⁻¹ + 2ⁿ⁻² = 2ⁿ⁻²(2+1) = 3·2ⁿ⁻² &lt; 4·2ⁿ⁻² = 2ⁿ. ✓</a:t>
            </a:r>
          </a:p>
        </p:txBody>
      </p:sp>
    </p:spTree>
    <p:extLst>
      <p:ext uri="{BB962C8B-B14F-4D97-AF65-F5344CB8AC3E}">
        <p14:creationId xmlns:p14="http://schemas.microsoft.com/office/powerpoint/2010/main" val="60813737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6E481-33AA-94FF-2CFF-CEFF51F761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66D73-CD14-B9AD-F5A9-10F4F4BD15A9}"/>
              </a:ext>
            </a:extLst>
          </p:cNvPr>
          <p:cNvSpPr>
            <a:spLocks noGrp="1"/>
          </p:cNvSpPr>
          <p:nvPr>
            <p:ph type="title"/>
          </p:nvPr>
        </p:nvSpPr>
        <p:spPr/>
        <p:txBody>
          <a:bodyPr>
            <a:normAutofit fontScale="90000"/>
          </a:bodyPr>
          <a:lstStyle/>
          <a:p>
            <a:r>
              <a:rPr lang="en-ID" dirty="0"/>
              <a:t>Proof by Contradiction</a:t>
            </a:r>
          </a:p>
        </p:txBody>
      </p:sp>
      <p:sp>
        <p:nvSpPr>
          <p:cNvPr id="3" name="Text Placeholder 2">
            <a:extLst>
              <a:ext uri="{FF2B5EF4-FFF2-40B4-BE49-F238E27FC236}">
                <a16:creationId xmlns:a16="http://schemas.microsoft.com/office/drawing/2014/main" id="{EF54A20E-5C96-2453-7138-914B3ADD3E53}"/>
              </a:ext>
            </a:extLst>
          </p:cNvPr>
          <p:cNvSpPr>
            <a:spLocks noGrp="1"/>
          </p:cNvSpPr>
          <p:nvPr>
            <p:ph type="body" sz="quarter" idx="10"/>
          </p:nvPr>
        </p:nvSpPr>
        <p:spPr>
          <a:xfrm>
            <a:off x="2167377" y="2419728"/>
            <a:ext cx="11628834" cy="803546"/>
          </a:xfrm>
        </p:spPr>
        <p:txBody>
          <a:bodyPr>
            <a:normAutofit/>
          </a:bodyPr>
          <a:lstStyle/>
          <a:p>
            <a:r>
              <a:rPr lang="en-ID" dirty="0"/>
              <a:t>Structure</a:t>
            </a:r>
          </a:p>
        </p:txBody>
      </p:sp>
      <p:sp>
        <p:nvSpPr>
          <p:cNvPr id="4" name="Content Placeholder 3">
            <a:extLst>
              <a:ext uri="{FF2B5EF4-FFF2-40B4-BE49-F238E27FC236}">
                <a16:creationId xmlns:a16="http://schemas.microsoft.com/office/drawing/2014/main" id="{138ED467-CCA8-1923-7A54-716A688F0EB9}"/>
              </a:ext>
            </a:extLst>
          </p:cNvPr>
          <p:cNvSpPr>
            <a:spLocks noGrp="1"/>
          </p:cNvSpPr>
          <p:nvPr>
            <p:ph sz="quarter" idx="11"/>
          </p:nvPr>
        </p:nvSpPr>
        <p:spPr>
          <a:xfrm>
            <a:off x="2167377" y="3714224"/>
            <a:ext cx="19032265" cy="9138176"/>
          </a:xfrm>
        </p:spPr>
        <p:txBody>
          <a:bodyPr>
            <a:normAutofit/>
          </a:bodyPr>
          <a:lstStyle/>
          <a:p>
            <a:pPr marL="0" indent="0">
              <a:buNone/>
            </a:pPr>
            <a:r>
              <a:rPr lang="en-ID" dirty="0"/>
              <a:t>To prove a statement P:</a:t>
            </a:r>
          </a:p>
          <a:p>
            <a:pPr>
              <a:spcBef>
                <a:spcPts val="2400"/>
              </a:spcBef>
              <a:buFont typeface="+mj-lt"/>
              <a:buAutoNum type="arabicPeriod"/>
            </a:pPr>
            <a:r>
              <a:rPr lang="en-ID" dirty="0"/>
              <a:t>Assume the </a:t>
            </a:r>
            <a:r>
              <a:rPr lang="en-ID" b="1" dirty="0"/>
              <a:t>negation</a:t>
            </a:r>
            <a:r>
              <a:rPr lang="en-ID" dirty="0"/>
              <a:t> ¬P is true.</a:t>
            </a:r>
          </a:p>
          <a:p>
            <a:pPr>
              <a:spcBef>
                <a:spcPts val="2400"/>
              </a:spcBef>
              <a:buFont typeface="+mj-lt"/>
              <a:buAutoNum type="arabicPeriod"/>
            </a:pPr>
            <a:r>
              <a:rPr lang="en-ID" dirty="0"/>
              <a:t>Derive a </a:t>
            </a:r>
            <a:r>
              <a:rPr lang="en-ID" b="1" dirty="0"/>
              <a:t>logical contradiction</a:t>
            </a:r>
            <a:r>
              <a:rPr lang="en-ID" dirty="0"/>
              <a:t> (a statement that is always false, or one that contradicts a known fact).</a:t>
            </a:r>
          </a:p>
          <a:p>
            <a:pPr>
              <a:spcBef>
                <a:spcPts val="2400"/>
              </a:spcBef>
              <a:buFont typeface="+mj-lt"/>
              <a:buAutoNum type="arabicPeriod"/>
            </a:pPr>
            <a:r>
              <a:rPr lang="en-ID" dirty="0"/>
              <a:t>Conclude that ¬P must be false, so P is true.</a:t>
            </a:r>
          </a:p>
          <a:p>
            <a:pPr marL="0" indent="0">
              <a:buNone/>
            </a:pPr>
            <a:r>
              <a:rPr lang="en-ID" dirty="0"/>
              <a:t>Proof by contradiction is especially useful when direct proof is difficult and the negation yields strong structural constraints.</a:t>
            </a:r>
          </a:p>
        </p:txBody>
      </p:sp>
    </p:spTree>
    <p:extLst>
      <p:ext uri="{BB962C8B-B14F-4D97-AF65-F5344CB8AC3E}">
        <p14:creationId xmlns:p14="http://schemas.microsoft.com/office/powerpoint/2010/main" val="298785396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07291-98C3-85A9-1F1B-343BDC217E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C0028E-6C18-503A-A5F4-A5FA6D9BC3B5}"/>
              </a:ext>
            </a:extLst>
          </p:cNvPr>
          <p:cNvSpPr>
            <a:spLocks noGrp="1"/>
          </p:cNvSpPr>
          <p:nvPr>
            <p:ph type="title"/>
          </p:nvPr>
        </p:nvSpPr>
        <p:spPr/>
        <p:txBody>
          <a:bodyPr>
            <a:normAutofit fontScale="90000"/>
          </a:bodyPr>
          <a:lstStyle/>
          <a:p>
            <a:r>
              <a:rPr lang="en-ID" dirty="0"/>
              <a:t>Proof by Contradiction</a:t>
            </a:r>
          </a:p>
        </p:txBody>
      </p:sp>
      <p:sp>
        <p:nvSpPr>
          <p:cNvPr id="3" name="Text Placeholder 2">
            <a:extLst>
              <a:ext uri="{FF2B5EF4-FFF2-40B4-BE49-F238E27FC236}">
                <a16:creationId xmlns:a16="http://schemas.microsoft.com/office/drawing/2014/main" id="{2580F33E-C90B-1DE5-5259-68BEF965F9E2}"/>
              </a:ext>
            </a:extLst>
          </p:cNvPr>
          <p:cNvSpPr>
            <a:spLocks noGrp="1"/>
          </p:cNvSpPr>
          <p:nvPr>
            <p:ph type="body" sz="quarter" idx="10"/>
          </p:nvPr>
        </p:nvSpPr>
        <p:spPr>
          <a:xfrm>
            <a:off x="2167377" y="2419728"/>
            <a:ext cx="11628834" cy="803546"/>
          </a:xfrm>
        </p:spPr>
        <p:txBody>
          <a:bodyPr>
            <a:normAutofit/>
          </a:bodyPr>
          <a:lstStyle/>
          <a:p>
            <a:r>
              <a:rPr lang="en-US" dirty="0"/>
              <a:t>Example: Infinitely Many Primes (Euclid)</a:t>
            </a:r>
          </a:p>
        </p:txBody>
      </p:sp>
      <p:sp>
        <p:nvSpPr>
          <p:cNvPr id="4" name="Content Placeholder 3">
            <a:extLst>
              <a:ext uri="{FF2B5EF4-FFF2-40B4-BE49-F238E27FC236}">
                <a16:creationId xmlns:a16="http://schemas.microsoft.com/office/drawing/2014/main" id="{21B6E2EA-B4FC-50FD-9FC3-8EB248CCC4EE}"/>
              </a:ext>
            </a:extLst>
          </p:cNvPr>
          <p:cNvSpPr>
            <a:spLocks noGrp="1"/>
          </p:cNvSpPr>
          <p:nvPr>
            <p:ph sz="quarter" idx="11"/>
          </p:nvPr>
        </p:nvSpPr>
        <p:spPr>
          <a:xfrm>
            <a:off x="2167377" y="3714224"/>
            <a:ext cx="19032265" cy="9138176"/>
          </a:xfrm>
        </p:spPr>
        <p:txBody>
          <a:bodyPr>
            <a:normAutofit fontScale="92500" lnSpcReduction="10000"/>
          </a:bodyPr>
          <a:lstStyle/>
          <a:p>
            <a:pPr marL="0" indent="0">
              <a:buNone/>
            </a:pPr>
            <a:r>
              <a:rPr lang="en-ID" b="1" dirty="0"/>
              <a:t>Claim:</a:t>
            </a:r>
            <a:r>
              <a:rPr lang="en-ID" dirty="0"/>
              <a:t> There are infinitely many prime numbers.</a:t>
            </a:r>
          </a:p>
          <a:p>
            <a:pPr marL="0" indent="0">
              <a:buNone/>
            </a:pPr>
            <a:r>
              <a:rPr lang="en-ID" b="1" dirty="0"/>
              <a:t>Proof by contradiction:</a:t>
            </a:r>
            <a:endParaRPr lang="en-ID" dirty="0"/>
          </a:p>
          <a:p>
            <a:r>
              <a:rPr lang="en-ID" dirty="0"/>
              <a:t>Assume there are finitely many primes: p₁, p₂, …, pₖ.</a:t>
            </a:r>
          </a:p>
          <a:p>
            <a:r>
              <a:rPr lang="en-ID" dirty="0"/>
              <a:t>Let N = p₁ × p₂ × … × pₖ + 1.</a:t>
            </a:r>
          </a:p>
          <a:p>
            <a:r>
              <a:rPr lang="en-ID" dirty="0"/>
              <a:t>N is either prime or composite.</a:t>
            </a:r>
          </a:p>
          <a:p>
            <a:pPr lvl="1">
              <a:buFont typeface="Courier New" panose="02070309020205020404" pitchFamily="49" charset="0"/>
              <a:buChar char="o"/>
            </a:pPr>
            <a:r>
              <a:rPr lang="en-ID" dirty="0"/>
              <a:t>If </a:t>
            </a:r>
            <a:r>
              <a:rPr lang="en-ID" b="1" dirty="0"/>
              <a:t>prime</a:t>
            </a:r>
            <a:r>
              <a:rPr lang="en-ID" dirty="0"/>
              <a:t>: N is a prime not in our list — contradiction.</a:t>
            </a:r>
          </a:p>
          <a:p>
            <a:pPr lvl="1">
              <a:buFont typeface="Courier New" panose="02070309020205020404" pitchFamily="49" charset="0"/>
              <a:buChar char="o"/>
            </a:pPr>
            <a:r>
              <a:rPr lang="en-ID" dirty="0"/>
              <a:t>If </a:t>
            </a:r>
            <a:r>
              <a:rPr lang="en-ID" b="1" dirty="0"/>
              <a:t>composite</a:t>
            </a:r>
            <a:r>
              <a:rPr lang="en-ID" dirty="0"/>
              <a:t>: N must have a prime factor pᵢ. But pᵢ divides N − 1 = p₁×…×pₖ, so pᵢ must divide N − (N−1) = 1 — impossible since pᵢ ≥ 2.</a:t>
            </a:r>
          </a:p>
          <a:p>
            <a:r>
              <a:rPr lang="en-ID" dirty="0"/>
              <a:t>In both cases we reach a contradiction. Therefore there are infinitely many primes. ✓</a:t>
            </a:r>
          </a:p>
        </p:txBody>
      </p:sp>
    </p:spTree>
    <p:extLst>
      <p:ext uri="{BB962C8B-B14F-4D97-AF65-F5344CB8AC3E}">
        <p14:creationId xmlns:p14="http://schemas.microsoft.com/office/powerpoint/2010/main" val="339080437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DCB86-7E2E-EFCF-5E90-6850D3A013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3DDE59-1E8D-5DDC-C1B7-36FD62C21A61}"/>
              </a:ext>
            </a:extLst>
          </p:cNvPr>
          <p:cNvSpPr>
            <a:spLocks noGrp="1"/>
          </p:cNvSpPr>
          <p:nvPr>
            <p:ph type="title"/>
          </p:nvPr>
        </p:nvSpPr>
        <p:spPr/>
        <p:txBody>
          <a:bodyPr>
            <a:normAutofit fontScale="90000"/>
          </a:bodyPr>
          <a:lstStyle/>
          <a:p>
            <a:r>
              <a:rPr lang="en-ID" dirty="0"/>
              <a:t>Proof by Contradiction</a:t>
            </a:r>
          </a:p>
        </p:txBody>
      </p:sp>
      <p:sp>
        <p:nvSpPr>
          <p:cNvPr id="3" name="Text Placeholder 2">
            <a:extLst>
              <a:ext uri="{FF2B5EF4-FFF2-40B4-BE49-F238E27FC236}">
                <a16:creationId xmlns:a16="http://schemas.microsoft.com/office/drawing/2014/main" id="{277BF7F6-05DE-FEE0-A517-0C3A577D41EB}"/>
              </a:ext>
            </a:extLst>
          </p:cNvPr>
          <p:cNvSpPr>
            <a:spLocks noGrp="1"/>
          </p:cNvSpPr>
          <p:nvPr>
            <p:ph type="body" sz="quarter" idx="10"/>
          </p:nvPr>
        </p:nvSpPr>
        <p:spPr>
          <a:xfrm>
            <a:off x="2167377" y="2419728"/>
            <a:ext cx="11628834" cy="803546"/>
          </a:xfrm>
        </p:spPr>
        <p:txBody>
          <a:bodyPr>
            <a:normAutofit/>
          </a:bodyPr>
          <a:lstStyle/>
          <a:p>
            <a:r>
              <a:rPr lang="en-US" dirty="0"/>
              <a:t>Example: √2 is Irrational</a:t>
            </a:r>
          </a:p>
        </p:txBody>
      </p:sp>
      <p:sp>
        <p:nvSpPr>
          <p:cNvPr id="4" name="Content Placeholder 3">
            <a:extLst>
              <a:ext uri="{FF2B5EF4-FFF2-40B4-BE49-F238E27FC236}">
                <a16:creationId xmlns:a16="http://schemas.microsoft.com/office/drawing/2014/main" id="{3437AB1D-8E4B-21B6-0472-88AAF304C4C5}"/>
              </a:ext>
            </a:extLst>
          </p:cNvPr>
          <p:cNvSpPr>
            <a:spLocks noGrp="1"/>
          </p:cNvSpPr>
          <p:nvPr>
            <p:ph sz="quarter" idx="11"/>
          </p:nvPr>
        </p:nvSpPr>
        <p:spPr>
          <a:xfrm>
            <a:off x="2167377" y="3714224"/>
            <a:ext cx="19032265" cy="9138176"/>
          </a:xfrm>
        </p:spPr>
        <p:txBody>
          <a:bodyPr>
            <a:normAutofit/>
          </a:bodyPr>
          <a:lstStyle/>
          <a:p>
            <a:pPr marL="0" indent="0">
              <a:buNone/>
            </a:pPr>
            <a:r>
              <a:rPr lang="en-ID" b="1" dirty="0"/>
              <a:t>Claim:</a:t>
            </a:r>
            <a:r>
              <a:rPr lang="en-ID" dirty="0"/>
              <a:t> √2 ∉ ℚ.</a:t>
            </a:r>
          </a:p>
          <a:p>
            <a:pPr marL="0" indent="0">
              <a:buNone/>
            </a:pPr>
            <a:r>
              <a:rPr lang="en-ID" b="1" dirty="0"/>
              <a:t>Proof by contradiction:</a:t>
            </a:r>
            <a:endParaRPr lang="en-ID" dirty="0"/>
          </a:p>
          <a:p>
            <a:r>
              <a:rPr lang="en-ID" dirty="0"/>
              <a:t>Assume √2 = p/q in lowest terms (</a:t>
            </a:r>
            <a:r>
              <a:rPr lang="en-ID" dirty="0" err="1"/>
              <a:t>gcd</a:t>
            </a:r>
            <a:r>
              <a:rPr lang="en-ID" dirty="0"/>
              <a:t>(</a:t>
            </a:r>
            <a:r>
              <a:rPr lang="en-ID" dirty="0" err="1"/>
              <a:t>p,q</a:t>
            </a:r>
            <a:r>
              <a:rPr lang="en-ID" dirty="0"/>
              <a:t>)=1).</a:t>
            </a:r>
          </a:p>
          <a:p>
            <a:r>
              <a:rPr lang="en-ID" dirty="0"/>
              <a:t>Then 2 = p²/q², so p² = 2q² — p² is even, so p is even: p = 2m.</a:t>
            </a:r>
          </a:p>
          <a:p>
            <a:r>
              <a:rPr lang="en-ID" dirty="0"/>
              <a:t>Then (2m)² = 2q² → 4m² = 2q² → q² = 2m² — q is even.</a:t>
            </a:r>
          </a:p>
          <a:p>
            <a:r>
              <a:rPr lang="en-ID" dirty="0"/>
              <a:t>But </a:t>
            </a:r>
            <a:r>
              <a:rPr lang="en-ID" dirty="0" err="1"/>
              <a:t>gcd</a:t>
            </a:r>
            <a:r>
              <a:rPr lang="en-ID" dirty="0"/>
              <a:t>(</a:t>
            </a:r>
            <a:r>
              <a:rPr lang="en-ID" dirty="0" err="1"/>
              <a:t>p,q</a:t>
            </a:r>
            <a:r>
              <a:rPr lang="en-ID" dirty="0"/>
              <a:t>) = 1 and both p, q are even — contradiction. ✓</a:t>
            </a:r>
          </a:p>
        </p:txBody>
      </p:sp>
    </p:spTree>
    <p:extLst>
      <p:ext uri="{BB962C8B-B14F-4D97-AF65-F5344CB8AC3E}">
        <p14:creationId xmlns:p14="http://schemas.microsoft.com/office/powerpoint/2010/main" val="310770225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FB88B-DF2E-DB03-965E-02F05103C1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368A0F-23E7-126C-05DC-860821C1A7F3}"/>
              </a:ext>
            </a:extLst>
          </p:cNvPr>
          <p:cNvSpPr>
            <a:spLocks noGrp="1"/>
          </p:cNvSpPr>
          <p:nvPr>
            <p:ph type="title"/>
          </p:nvPr>
        </p:nvSpPr>
        <p:spPr/>
        <p:txBody>
          <a:bodyPr>
            <a:normAutofit fontScale="90000"/>
          </a:bodyPr>
          <a:lstStyle/>
          <a:p>
            <a:r>
              <a:rPr lang="en-ID" dirty="0"/>
              <a:t>Proof by Contradiction</a:t>
            </a:r>
          </a:p>
        </p:txBody>
      </p:sp>
      <p:sp>
        <p:nvSpPr>
          <p:cNvPr id="3" name="Text Placeholder 2">
            <a:extLst>
              <a:ext uri="{FF2B5EF4-FFF2-40B4-BE49-F238E27FC236}">
                <a16:creationId xmlns:a16="http://schemas.microsoft.com/office/drawing/2014/main" id="{E1AEAF51-7542-6E96-53D9-C4CC6D4A53CD}"/>
              </a:ext>
            </a:extLst>
          </p:cNvPr>
          <p:cNvSpPr>
            <a:spLocks noGrp="1"/>
          </p:cNvSpPr>
          <p:nvPr>
            <p:ph type="body" sz="quarter" idx="10"/>
          </p:nvPr>
        </p:nvSpPr>
        <p:spPr>
          <a:xfrm>
            <a:off x="2167376" y="2419728"/>
            <a:ext cx="19280919" cy="803546"/>
          </a:xfrm>
        </p:spPr>
        <p:txBody>
          <a:bodyPr>
            <a:normAutofit fontScale="92500"/>
          </a:bodyPr>
          <a:lstStyle/>
          <a:p>
            <a:r>
              <a:rPr lang="en-US" dirty="0"/>
              <a:t>Algorithmic Application: Impossibility of Comparison-Based Sorting Below O(n log n)</a:t>
            </a:r>
          </a:p>
        </p:txBody>
      </p:sp>
      <p:sp>
        <p:nvSpPr>
          <p:cNvPr id="4" name="Content Placeholder 3">
            <a:extLst>
              <a:ext uri="{FF2B5EF4-FFF2-40B4-BE49-F238E27FC236}">
                <a16:creationId xmlns:a16="http://schemas.microsoft.com/office/drawing/2014/main" id="{780F2F64-E240-40AF-9EF4-2EECB67423A9}"/>
              </a:ext>
            </a:extLst>
          </p:cNvPr>
          <p:cNvSpPr>
            <a:spLocks noGrp="1"/>
          </p:cNvSpPr>
          <p:nvPr>
            <p:ph sz="quarter" idx="11"/>
          </p:nvPr>
        </p:nvSpPr>
        <p:spPr>
          <a:xfrm>
            <a:off x="2167377" y="3714224"/>
            <a:ext cx="19032265" cy="9138176"/>
          </a:xfrm>
        </p:spPr>
        <p:txBody>
          <a:bodyPr>
            <a:normAutofit fontScale="92500" lnSpcReduction="10000"/>
          </a:bodyPr>
          <a:lstStyle/>
          <a:p>
            <a:pPr marL="0" indent="0" algn="just">
              <a:buNone/>
            </a:pPr>
            <a:r>
              <a:rPr lang="en-ID" dirty="0"/>
              <a:t>Any algorithm that sorts </a:t>
            </a:r>
            <a:r>
              <a:rPr lang="en-ID" i="1" dirty="0"/>
              <a:t>n</a:t>
            </a:r>
            <a:r>
              <a:rPr lang="en-ID" dirty="0"/>
              <a:t> elements using only comparisons requires </a:t>
            </a:r>
            <a:r>
              <a:rPr lang="en-ID" b="1" dirty="0"/>
              <a:t>Ω(n log n)</a:t>
            </a:r>
            <a:r>
              <a:rPr lang="en-ID" dirty="0"/>
              <a:t> comparisons in the worst case.</a:t>
            </a:r>
          </a:p>
          <a:p>
            <a:pPr marL="0" indent="0" algn="just">
              <a:buNone/>
            </a:pPr>
            <a:r>
              <a:rPr lang="en-ID" b="1" dirty="0"/>
              <a:t>Proof sketch:</a:t>
            </a:r>
            <a:endParaRPr lang="en-ID" dirty="0"/>
          </a:p>
          <a:p>
            <a:pPr algn="just">
              <a:spcBef>
                <a:spcPts val="2400"/>
              </a:spcBef>
            </a:pPr>
            <a:r>
              <a:rPr lang="en-ID" dirty="0"/>
              <a:t>A comparison-based sort can be </a:t>
            </a:r>
            <a:r>
              <a:rPr lang="en-ID" dirty="0" err="1"/>
              <a:t>modeled</a:t>
            </a:r>
            <a:r>
              <a:rPr lang="en-ID" dirty="0"/>
              <a:t> as a </a:t>
            </a:r>
            <a:r>
              <a:rPr lang="en-ID" b="1" dirty="0"/>
              <a:t>decision tree</a:t>
            </a:r>
            <a:r>
              <a:rPr lang="en-ID" dirty="0"/>
              <a:t> where each leaf corresponds to a permutation of the input.</a:t>
            </a:r>
          </a:p>
          <a:p>
            <a:pPr algn="just">
              <a:spcBef>
                <a:spcPts val="2400"/>
              </a:spcBef>
            </a:pPr>
            <a:r>
              <a:rPr lang="en-ID" dirty="0"/>
              <a:t>There are n! possible permutations, so the tree has ≥ n! leaves.</a:t>
            </a:r>
          </a:p>
          <a:p>
            <a:pPr algn="just">
              <a:spcBef>
                <a:spcPts val="2400"/>
              </a:spcBef>
            </a:pPr>
            <a:r>
              <a:rPr lang="en-ID" dirty="0"/>
              <a:t>A binary tree of height </a:t>
            </a:r>
            <a:r>
              <a:rPr lang="en-ID" i="1" dirty="0"/>
              <a:t>h</a:t>
            </a:r>
            <a:r>
              <a:rPr lang="en-ID" dirty="0"/>
              <a:t> has at most 2ʰ leaves, so 2ʰ ≥ n!.</a:t>
            </a:r>
          </a:p>
          <a:p>
            <a:pPr algn="just">
              <a:spcBef>
                <a:spcPts val="2400"/>
              </a:spcBef>
            </a:pPr>
            <a:r>
              <a:rPr lang="en-ID" dirty="0"/>
              <a:t>Taking logarithms: h ≥ log₂(n!) = Θ(n log n) by Stirling's approximation.</a:t>
            </a:r>
          </a:p>
          <a:p>
            <a:pPr algn="just">
              <a:spcBef>
                <a:spcPts val="2400"/>
              </a:spcBef>
            </a:pPr>
            <a:r>
              <a:rPr lang="en-ID" dirty="0"/>
              <a:t>Contradiction if we assumed h = o(n log n). ✓</a:t>
            </a:r>
          </a:p>
          <a:p>
            <a:pPr marL="0" indent="0" algn="just">
              <a:buNone/>
            </a:pPr>
            <a:r>
              <a:rPr lang="en-ID" dirty="0"/>
              <a:t>This proves that Merge Sort's Θ(n log n) is </a:t>
            </a:r>
            <a:r>
              <a:rPr lang="en-ID" b="1" dirty="0"/>
              <a:t>asymptotically optimal</a:t>
            </a:r>
            <a:r>
              <a:rPr lang="en-ID" dirty="0"/>
              <a:t> among comparison-based sorts.</a:t>
            </a:r>
          </a:p>
        </p:txBody>
      </p:sp>
    </p:spTree>
    <p:extLst>
      <p:ext uri="{BB962C8B-B14F-4D97-AF65-F5344CB8AC3E}">
        <p14:creationId xmlns:p14="http://schemas.microsoft.com/office/powerpoint/2010/main" val="2021213663"/>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3A4F5-1609-1C0A-AFE2-FBC3AE5EE4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2E96AB-7A15-6BCD-1544-E9DD11B1D234}"/>
              </a:ext>
            </a:extLst>
          </p:cNvPr>
          <p:cNvSpPr>
            <a:spLocks noGrp="1"/>
          </p:cNvSpPr>
          <p:nvPr>
            <p:ph type="title"/>
          </p:nvPr>
        </p:nvSpPr>
        <p:spPr/>
        <p:txBody>
          <a:bodyPr>
            <a:normAutofit fontScale="90000"/>
          </a:bodyPr>
          <a:lstStyle/>
          <a:p>
            <a:r>
              <a:rPr lang="en-ID" dirty="0"/>
              <a:t>Counterexamples — Disproving Incorrect Algorithms</a:t>
            </a:r>
          </a:p>
        </p:txBody>
      </p:sp>
      <p:sp>
        <p:nvSpPr>
          <p:cNvPr id="3" name="Text Placeholder 2">
            <a:extLst>
              <a:ext uri="{FF2B5EF4-FFF2-40B4-BE49-F238E27FC236}">
                <a16:creationId xmlns:a16="http://schemas.microsoft.com/office/drawing/2014/main" id="{A4B88201-2ADA-0F8B-42A3-4CB4FF50F742}"/>
              </a:ext>
            </a:extLst>
          </p:cNvPr>
          <p:cNvSpPr>
            <a:spLocks noGrp="1"/>
          </p:cNvSpPr>
          <p:nvPr>
            <p:ph type="body" sz="quarter" idx="10"/>
          </p:nvPr>
        </p:nvSpPr>
        <p:spPr>
          <a:xfrm>
            <a:off x="2167376" y="2419728"/>
            <a:ext cx="19280919" cy="803546"/>
          </a:xfrm>
        </p:spPr>
        <p:txBody>
          <a:bodyPr>
            <a:normAutofit/>
          </a:bodyPr>
          <a:lstStyle/>
          <a:p>
            <a:r>
              <a:rPr lang="en-ID" dirty="0"/>
              <a:t>Role of Counterexamples</a:t>
            </a:r>
          </a:p>
        </p:txBody>
      </p:sp>
      <p:sp>
        <p:nvSpPr>
          <p:cNvPr id="4" name="Content Placeholder 3">
            <a:extLst>
              <a:ext uri="{FF2B5EF4-FFF2-40B4-BE49-F238E27FC236}">
                <a16:creationId xmlns:a16="http://schemas.microsoft.com/office/drawing/2014/main" id="{157A4397-515F-8158-FC1F-2159DE5CA50D}"/>
              </a:ext>
            </a:extLst>
          </p:cNvPr>
          <p:cNvSpPr>
            <a:spLocks noGrp="1"/>
          </p:cNvSpPr>
          <p:nvPr>
            <p:ph sz="quarter" idx="11"/>
          </p:nvPr>
        </p:nvSpPr>
        <p:spPr>
          <a:xfrm>
            <a:off x="2167377" y="3714224"/>
            <a:ext cx="19032265" cy="9138176"/>
          </a:xfrm>
        </p:spPr>
        <p:txBody>
          <a:bodyPr>
            <a:normAutofit/>
          </a:bodyPr>
          <a:lstStyle/>
          <a:p>
            <a:pPr marL="0" indent="0" algn="just">
              <a:buNone/>
            </a:pPr>
            <a:r>
              <a:rPr lang="en-ID" dirty="0"/>
              <a:t>A single counterexample is sufficient to disprove a universally quantified claim. Techniques for finding counterexamples (</a:t>
            </a:r>
            <a:r>
              <a:rPr lang="en-ID" dirty="0" err="1"/>
              <a:t>Skiena</a:t>
            </a:r>
            <a:r>
              <a:rPr lang="en-ID" dirty="0"/>
              <a:t>, Ch. 1.3.3):</a:t>
            </a:r>
          </a:p>
          <a:p>
            <a:pPr algn="just"/>
            <a:r>
              <a:rPr lang="en-ID" b="1" dirty="0"/>
              <a:t>Think small:</a:t>
            </a:r>
            <a:r>
              <a:rPr lang="en-ID" dirty="0"/>
              <a:t> counterexamples are often small instances.</a:t>
            </a:r>
          </a:p>
          <a:p>
            <a:pPr algn="just"/>
            <a:r>
              <a:rPr lang="en-ID" b="1" dirty="0"/>
              <a:t>Think exhaustively:</a:t>
            </a:r>
            <a:r>
              <a:rPr lang="en-ID" dirty="0"/>
              <a:t> enumerate small cases systematically.</a:t>
            </a:r>
          </a:p>
          <a:p>
            <a:pPr algn="just"/>
            <a:r>
              <a:rPr lang="en-ID" b="1" dirty="0"/>
              <a:t>Hunt for weaknesses:</a:t>
            </a:r>
            <a:r>
              <a:rPr lang="en-ID" dirty="0"/>
              <a:t> identify the structural assumptions the algorithm makes and try to violate them.</a:t>
            </a:r>
          </a:p>
          <a:p>
            <a:pPr algn="just"/>
            <a:r>
              <a:rPr lang="en-ID" b="1" dirty="0"/>
              <a:t>Seek extremes:</a:t>
            </a:r>
            <a:r>
              <a:rPr lang="en-ID" dirty="0"/>
              <a:t> use max/min values, repeated elements, empty inputs, already-sorted inputs.</a:t>
            </a:r>
          </a:p>
        </p:txBody>
      </p:sp>
    </p:spTree>
    <p:extLst>
      <p:ext uri="{BB962C8B-B14F-4D97-AF65-F5344CB8AC3E}">
        <p14:creationId xmlns:p14="http://schemas.microsoft.com/office/powerpoint/2010/main" val="4259140430"/>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A1F6A-5023-6B92-80E3-2510ACB267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11EE76-C43C-6B90-3B86-F91312AB6839}"/>
              </a:ext>
            </a:extLst>
          </p:cNvPr>
          <p:cNvSpPr>
            <a:spLocks noGrp="1"/>
          </p:cNvSpPr>
          <p:nvPr>
            <p:ph type="title"/>
          </p:nvPr>
        </p:nvSpPr>
        <p:spPr/>
        <p:txBody>
          <a:bodyPr>
            <a:normAutofit fontScale="90000"/>
          </a:bodyPr>
          <a:lstStyle/>
          <a:p>
            <a:r>
              <a:rPr lang="en-ID" dirty="0"/>
              <a:t>Counterexamples — Disproving Incorrect Algorithms</a:t>
            </a:r>
          </a:p>
        </p:txBody>
      </p:sp>
      <p:sp>
        <p:nvSpPr>
          <p:cNvPr id="3" name="Text Placeholder 2">
            <a:extLst>
              <a:ext uri="{FF2B5EF4-FFF2-40B4-BE49-F238E27FC236}">
                <a16:creationId xmlns:a16="http://schemas.microsoft.com/office/drawing/2014/main" id="{98CE91C2-71DD-A52C-7FE1-59F54E48B5E4}"/>
              </a:ext>
            </a:extLst>
          </p:cNvPr>
          <p:cNvSpPr>
            <a:spLocks noGrp="1"/>
          </p:cNvSpPr>
          <p:nvPr>
            <p:ph type="body" sz="quarter" idx="10"/>
          </p:nvPr>
        </p:nvSpPr>
        <p:spPr>
          <a:xfrm>
            <a:off x="2167376" y="2419728"/>
            <a:ext cx="19280919" cy="803546"/>
          </a:xfrm>
        </p:spPr>
        <p:txBody>
          <a:bodyPr>
            <a:normAutofit/>
          </a:bodyPr>
          <a:lstStyle/>
          <a:p>
            <a:r>
              <a:rPr lang="en-US" dirty="0"/>
              <a:t>Counterexample: Nearest-Neighbor Heuristic for TSP</a:t>
            </a:r>
          </a:p>
        </p:txBody>
      </p:sp>
      <p:sp>
        <p:nvSpPr>
          <p:cNvPr id="4" name="Content Placeholder 3">
            <a:extLst>
              <a:ext uri="{FF2B5EF4-FFF2-40B4-BE49-F238E27FC236}">
                <a16:creationId xmlns:a16="http://schemas.microsoft.com/office/drawing/2014/main" id="{73EB5B10-537E-7E2E-7CC6-3667FBB5D948}"/>
              </a:ext>
            </a:extLst>
          </p:cNvPr>
          <p:cNvSpPr>
            <a:spLocks noGrp="1"/>
          </p:cNvSpPr>
          <p:nvPr>
            <p:ph sz="quarter" idx="11"/>
          </p:nvPr>
        </p:nvSpPr>
        <p:spPr>
          <a:xfrm>
            <a:off x="2167377" y="3714224"/>
            <a:ext cx="19032265" cy="9138176"/>
          </a:xfrm>
        </p:spPr>
        <p:txBody>
          <a:bodyPr>
            <a:normAutofit/>
          </a:bodyPr>
          <a:lstStyle/>
          <a:p>
            <a:pPr marL="0" indent="0">
              <a:buNone/>
            </a:pPr>
            <a:r>
              <a:rPr lang="en-ID" b="1" dirty="0"/>
              <a:t>Claim:</a:t>
            </a:r>
            <a:r>
              <a:rPr lang="en-ID" dirty="0"/>
              <a:t> The nearest-</a:t>
            </a:r>
            <a:r>
              <a:rPr lang="en-ID" dirty="0" err="1"/>
              <a:t>neighbor</a:t>
            </a:r>
            <a:r>
              <a:rPr lang="en-ID" dirty="0"/>
              <a:t> heuristic (always go to the nearest unvisited city) gives an optimal tour.</a:t>
            </a:r>
          </a:p>
          <a:p>
            <a:pPr marL="0" indent="0">
              <a:buNone/>
            </a:pPr>
            <a:r>
              <a:rPr lang="en-ID" b="1" dirty="0"/>
              <a:t>Counterexample (</a:t>
            </a:r>
            <a:r>
              <a:rPr lang="en-ID" b="1" dirty="0" err="1"/>
              <a:t>Skiena</a:t>
            </a:r>
            <a:r>
              <a:rPr lang="en-ID" b="1" dirty="0"/>
              <a:t>, p. 10):</a:t>
            </a:r>
            <a:r>
              <a:rPr lang="en-ID" dirty="0"/>
              <a:t> Place points at positions 1, 6, 2, 7, 3, 8 on a line, starting at 1.</a:t>
            </a:r>
          </a:p>
          <a:p>
            <a:r>
              <a:rPr lang="en-ID" dirty="0"/>
              <a:t>Nearest </a:t>
            </a:r>
            <a:r>
              <a:rPr lang="en-ID" dirty="0" err="1"/>
              <a:t>neighbor</a:t>
            </a:r>
            <a:r>
              <a:rPr lang="en-ID" dirty="0"/>
              <a:t> visits: 1→2→3→6→7→8, cost ≈ high (backtracking).</a:t>
            </a:r>
          </a:p>
          <a:p>
            <a:r>
              <a:rPr lang="en-ID" dirty="0"/>
              <a:t>Optimal traversal sweeps left to right, then returns, costing less.</a:t>
            </a:r>
          </a:p>
          <a:p>
            <a:pPr marL="0" indent="0">
              <a:buNone/>
            </a:pPr>
            <a:r>
              <a:rPr lang="en-ID" b="1" dirty="0"/>
              <a:t>Lesson:</a:t>
            </a:r>
            <a:r>
              <a:rPr lang="en-ID" dirty="0"/>
              <a:t> The greedy nearest-</a:t>
            </a:r>
            <a:r>
              <a:rPr lang="en-ID" dirty="0" err="1"/>
              <a:t>neighbor</a:t>
            </a:r>
            <a:r>
              <a:rPr lang="en-ID" dirty="0"/>
              <a:t> heuristic is not optimal for TSP.</a:t>
            </a:r>
          </a:p>
        </p:txBody>
      </p:sp>
    </p:spTree>
    <p:extLst>
      <p:ext uri="{BB962C8B-B14F-4D97-AF65-F5344CB8AC3E}">
        <p14:creationId xmlns:p14="http://schemas.microsoft.com/office/powerpoint/2010/main" val="153922775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FBED1-2AE9-B909-A422-ECCF83AD96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1E4880-4181-4223-0353-32ED7FD5929A}"/>
              </a:ext>
            </a:extLst>
          </p:cNvPr>
          <p:cNvSpPr>
            <a:spLocks noGrp="1"/>
          </p:cNvSpPr>
          <p:nvPr>
            <p:ph type="title"/>
          </p:nvPr>
        </p:nvSpPr>
        <p:spPr/>
        <p:txBody>
          <a:bodyPr>
            <a:normAutofit fontScale="90000"/>
          </a:bodyPr>
          <a:lstStyle/>
          <a:p>
            <a:r>
              <a:rPr lang="en-ID" dirty="0"/>
              <a:t>Counterexamples — Disproving Incorrect Algorithms</a:t>
            </a:r>
          </a:p>
        </p:txBody>
      </p:sp>
      <p:sp>
        <p:nvSpPr>
          <p:cNvPr id="3" name="Text Placeholder 2">
            <a:extLst>
              <a:ext uri="{FF2B5EF4-FFF2-40B4-BE49-F238E27FC236}">
                <a16:creationId xmlns:a16="http://schemas.microsoft.com/office/drawing/2014/main" id="{4AA5162C-A457-D4DD-FDC5-A32B94FAF3FF}"/>
              </a:ext>
            </a:extLst>
          </p:cNvPr>
          <p:cNvSpPr>
            <a:spLocks noGrp="1"/>
          </p:cNvSpPr>
          <p:nvPr>
            <p:ph type="body" sz="quarter" idx="10"/>
          </p:nvPr>
        </p:nvSpPr>
        <p:spPr>
          <a:xfrm>
            <a:off x="2167376" y="2419728"/>
            <a:ext cx="19280919" cy="803546"/>
          </a:xfrm>
        </p:spPr>
        <p:txBody>
          <a:bodyPr>
            <a:normAutofit/>
          </a:bodyPr>
          <a:lstStyle/>
          <a:p>
            <a:r>
              <a:rPr lang="en-ID" dirty="0"/>
              <a:t>Counterexample: Greedy Coin Change</a:t>
            </a:r>
          </a:p>
        </p:txBody>
      </p:sp>
      <p:sp>
        <p:nvSpPr>
          <p:cNvPr id="4" name="Content Placeholder 3">
            <a:extLst>
              <a:ext uri="{FF2B5EF4-FFF2-40B4-BE49-F238E27FC236}">
                <a16:creationId xmlns:a16="http://schemas.microsoft.com/office/drawing/2014/main" id="{169D4A7A-1DE0-158A-7F76-6B1C1E1A482C}"/>
              </a:ext>
            </a:extLst>
          </p:cNvPr>
          <p:cNvSpPr>
            <a:spLocks noGrp="1"/>
          </p:cNvSpPr>
          <p:nvPr>
            <p:ph sz="quarter" idx="11"/>
          </p:nvPr>
        </p:nvSpPr>
        <p:spPr>
          <a:xfrm>
            <a:off x="2167377" y="3714224"/>
            <a:ext cx="19032265" cy="9138176"/>
          </a:xfrm>
        </p:spPr>
        <p:txBody>
          <a:bodyPr>
            <a:normAutofit/>
          </a:bodyPr>
          <a:lstStyle/>
          <a:p>
            <a:pPr marL="0" indent="0" algn="just">
              <a:buNone/>
            </a:pPr>
            <a:r>
              <a:rPr lang="en-ID" b="1" dirty="0"/>
              <a:t>Claim:</a:t>
            </a:r>
            <a:r>
              <a:rPr lang="en-ID" dirty="0"/>
              <a:t> To make change for amount </a:t>
            </a:r>
            <a:r>
              <a:rPr lang="en-ID" i="1" dirty="0"/>
              <a:t>A</a:t>
            </a:r>
            <a:r>
              <a:rPr lang="en-ID" dirty="0"/>
              <a:t> using denominations available, always take the largest coin ≤ remaining amount.</a:t>
            </a:r>
          </a:p>
          <a:p>
            <a:pPr marL="0" indent="0" algn="just">
              <a:buNone/>
            </a:pPr>
            <a:r>
              <a:rPr lang="en-ID" b="1" dirty="0"/>
              <a:t>Works for</a:t>
            </a:r>
            <a:r>
              <a:rPr lang="en-ID" dirty="0"/>
              <a:t> US denominations {1, 5, 10, 25}: e.g., 30¢ → 25+5 ✓.</a:t>
            </a:r>
          </a:p>
          <a:p>
            <a:pPr marL="0" indent="0" algn="just">
              <a:buNone/>
            </a:pPr>
            <a:r>
              <a:rPr lang="en-ID" b="1" dirty="0"/>
              <a:t>Fails for</a:t>
            </a:r>
            <a:r>
              <a:rPr lang="en-ID" dirty="0"/>
              <a:t> denominations {1, 3, 4}: to make 6¢:</a:t>
            </a:r>
          </a:p>
          <a:p>
            <a:pPr lvl="1" algn="just"/>
            <a:r>
              <a:rPr lang="en-ID" dirty="0"/>
              <a:t>Greedy: 4+1+1 = 3 coins.</a:t>
            </a:r>
          </a:p>
          <a:p>
            <a:pPr lvl="1" algn="just"/>
            <a:r>
              <a:rPr lang="en-ID" dirty="0"/>
              <a:t>Optimal: 3+3 = 2 coins.</a:t>
            </a:r>
          </a:p>
          <a:p>
            <a:pPr marL="0" indent="0" algn="just">
              <a:buNone/>
            </a:pPr>
            <a:r>
              <a:rPr lang="en-ID" b="1" dirty="0"/>
              <a:t>Lesson:</a:t>
            </a:r>
            <a:r>
              <a:rPr lang="en-ID" dirty="0"/>
              <a:t> Greedy algorithms must be </a:t>
            </a:r>
            <a:r>
              <a:rPr lang="en-ID" b="1" dirty="0"/>
              <a:t>proved correct</a:t>
            </a:r>
            <a:r>
              <a:rPr lang="en-ID" dirty="0"/>
              <a:t> — they do not always work. We will prove greedy correctness using the </a:t>
            </a:r>
            <a:r>
              <a:rPr lang="en-ID" b="1" dirty="0"/>
              <a:t>exchange argument</a:t>
            </a:r>
            <a:r>
              <a:rPr lang="en-ID" dirty="0"/>
              <a:t> in Session 12.</a:t>
            </a:r>
          </a:p>
        </p:txBody>
      </p:sp>
    </p:spTree>
    <p:extLst>
      <p:ext uri="{BB962C8B-B14F-4D97-AF65-F5344CB8AC3E}">
        <p14:creationId xmlns:p14="http://schemas.microsoft.com/office/powerpoint/2010/main" val="1983416986"/>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DD4C9-DF79-67B3-352B-87AB4F9368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B2B314-A355-3A3F-D6D1-E53C30BE3925}"/>
              </a:ext>
            </a:extLst>
          </p:cNvPr>
          <p:cNvSpPr>
            <a:spLocks noGrp="1"/>
          </p:cNvSpPr>
          <p:nvPr>
            <p:ph type="title"/>
          </p:nvPr>
        </p:nvSpPr>
        <p:spPr/>
        <p:txBody>
          <a:bodyPr>
            <a:normAutofit fontScale="90000"/>
          </a:bodyPr>
          <a:lstStyle/>
          <a:p>
            <a:r>
              <a:rPr lang="en-ID" dirty="0"/>
              <a:t>Counterexamples — Disproving Incorrect Algorithms</a:t>
            </a:r>
          </a:p>
        </p:txBody>
      </p:sp>
      <p:sp>
        <p:nvSpPr>
          <p:cNvPr id="3" name="Text Placeholder 2">
            <a:extLst>
              <a:ext uri="{FF2B5EF4-FFF2-40B4-BE49-F238E27FC236}">
                <a16:creationId xmlns:a16="http://schemas.microsoft.com/office/drawing/2014/main" id="{CB4A5CCA-BD97-7C68-41D1-968BFF487B3C}"/>
              </a:ext>
            </a:extLst>
          </p:cNvPr>
          <p:cNvSpPr>
            <a:spLocks noGrp="1"/>
          </p:cNvSpPr>
          <p:nvPr>
            <p:ph type="body" sz="quarter" idx="10"/>
          </p:nvPr>
        </p:nvSpPr>
        <p:spPr>
          <a:xfrm>
            <a:off x="2167376" y="2419728"/>
            <a:ext cx="19280919" cy="803546"/>
          </a:xfrm>
        </p:spPr>
        <p:txBody>
          <a:bodyPr>
            <a:normAutofit/>
          </a:bodyPr>
          <a:lstStyle/>
          <a:p>
            <a:r>
              <a:rPr lang="en-US" dirty="0"/>
              <a:t>Counterexample: Is a × b = b × a Always Faster?</a:t>
            </a:r>
          </a:p>
        </p:txBody>
      </p:sp>
      <p:sp>
        <p:nvSpPr>
          <p:cNvPr id="4" name="Content Placeholder 3">
            <a:extLst>
              <a:ext uri="{FF2B5EF4-FFF2-40B4-BE49-F238E27FC236}">
                <a16:creationId xmlns:a16="http://schemas.microsoft.com/office/drawing/2014/main" id="{FC1C5864-B463-9609-7F88-BDD2354934E9}"/>
              </a:ext>
            </a:extLst>
          </p:cNvPr>
          <p:cNvSpPr>
            <a:spLocks noGrp="1"/>
          </p:cNvSpPr>
          <p:nvPr>
            <p:ph sz="quarter" idx="11"/>
          </p:nvPr>
        </p:nvSpPr>
        <p:spPr>
          <a:xfrm>
            <a:off x="2167377" y="3714224"/>
            <a:ext cx="19032265" cy="9138176"/>
          </a:xfrm>
        </p:spPr>
        <p:txBody>
          <a:bodyPr>
            <a:normAutofit/>
          </a:bodyPr>
          <a:lstStyle/>
          <a:p>
            <a:pPr marL="0" indent="0" algn="just">
              <a:buNone/>
            </a:pPr>
            <a:r>
              <a:rPr lang="en-ID" b="1" dirty="0"/>
              <a:t>False claim:</a:t>
            </a:r>
            <a:r>
              <a:rPr lang="en-ID" dirty="0"/>
              <a:t> Since addition is cheaper than multiplication, replacing n² with </a:t>
            </a:r>
            <a:r>
              <a:rPr lang="en-ID" dirty="0" err="1"/>
              <a:t>n+n</a:t>
            </a:r>
            <a:r>
              <a:rPr lang="en-ID" dirty="0"/>
              <a:t> is always better.</a:t>
            </a:r>
          </a:p>
          <a:p>
            <a:pPr marL="0" indent="0" algn="just">
              <a:buNone/>
            </a:pPr>
            <a:r>
              <a:rPr lang="en-ID" dirty="0"/>
              <a:t>This is a trivial type of counterexample: </a:t>
            </a:r>
            <a:r>
              <a:rPr lang="en-ID" dirty="0" err="1"/>
              <a:t>n+n</a:t>
            </a:r>
            <a:r>
              <a:rPr lang="en-ID" dirty="0"/>
              <a:t> = 2n ≠ n². The claims about algorithm efficiency must be stated precisely.</a:t>
            </a:r>
          </a:p>
        </p:txBody>
      </p:sp>
    </p:spTree>
    <p:extLst>
      <p:ext uri="{BB962C8B-B14F-4D97-AF65-F5344CB8AC3E}">
        <p14:creationId xmlns:p14="http://schemas.microsoft.com/office/powerpoint/2010/main" val="3004405291"/>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3862-DBA8-917B-4407-8B4E175B61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9E0B2C-9B7E-13D5-244B-62375844FDC6}"/>
              </a:ext>
            </a:extLst>
          </p:cNvPr>
          <p:cNvSpPr>
            <a:spLocks noGrp="1"/>
          </p:cNvSpPr>
          <p:nvPr>
            <p:ph type="title"/>
          </p:nvPr>
        </p:nvSpPr>
        <p:spPr/>
        <p:txBody>
          <a:bodyPr>
            <a:normAutofit fontScale="90000"/>
          </a:bodyPr>
          <a:lstStyle/>
          <a:p>
            <a:r>
              <a:rPr lang="en-ID" dirty="0"/>
              <a:t>Exchange Argument — Proving Greedy Correctness</a:t>
            </a:r>
          </a:p>
        </p:txBody>
      </p:sp>
      <p:sp>
        <p:nvSpPr>
          <p:cNvPr id="3" name="Text Placeholder 2">
            <a:extLst>
              <a:ext uri="{FF2B5EF4-FFF2-40B4-BE49-F238E27FC236}">
                <a16:creationId xmlns:a16="http://schemas.microsoft.com/office/drawing/2014/main" id="{E5DAD065-B504-5EF4-3319-0EAC757D69F9}"/>
              </a:ext>
            </a:extLst>
          </p:cNvPr>
          <p:cNvSpPr>
            <a:spLocks noGrp="1"/>
          </p:cNvSpPr>
          <p:nvPr>
            <p:ph type="body" sz="quarter" idx="10"/>
          </p:nvPr>
        </p:nvSpPr>
        <p:spPr>
          <a:xfrm>
            <a:off x="2167376" y="2419728"/>
            <a:ext cx="19280919" cy="803546"/>
          </a:xfrm>
        </p:spPr>
        <p:txBody>
          <a:bodyPr>
            <a:normAutofit/>
          </a:bodyPr>
          <a:lstStyle/>
          <a:p>
            <a:r>
              <a:rPr lang="en-ID" dirty="0"/>
              <a:t>Motivation</a:t>
            </a:r>
          </a:p>
        </p:txBody>
      </p:sp>
      <p:sp>
        <p:nvSpPr>
          <p:cNvPr id="4" name="Content Placeholder 3">
            <a:extLst>
              <a:ext uri="{FF2B5EF4-FFF2-40B4-BE49-F238E27FC236}">
                <a16:creationId xmlns:a16="http://schemas.microsoft.com/office/drawing/2014/main" id="{BD8204C0-5132-2266-A695-18ACED6EC89B}"/>
              </a:ext>
            </a:extLst>
          </p:cNvPr>
          <p:cNvSpPr>
            <a:spLocks noGrp="1"/>
          </p:cNvSpPr>
          <p:nvPr>
            <p:ph sz="quarter" idx="11"/>
          </p:nvPr>
        </p:nvSpPr>
        <p:spPr>
          <a:xfrm>
            <a:off x="2167377" y="3714224"/>
            <a:ext cx="19032265" cy="9138176"/>
          </a:xfrm>
        </p:spPr>
        <p:txBody>
          <a:bodyPr>
            <a:normAutofit/>
          </a:bodyPr>
          <a:lstStyle/>
          <a:p>
            <a:pPr marL="0" indent="0" algn="just">
              <a:buNone/>
            </a:pPr>
            <a:r>
              <a:rPr lang="en-ID" dirty="0"/>
              <a:t>Loop invariants and induction prove correctness for algorithms that build a solution step by step. But for </a:t>
            </a:r>
            <a:r>
              <a:rPr lang="en-ID" b="1" dirty="0"/>
              <a:t>greedy algorithms</a:t>
            </a:r>
            <a:r>
              <a:rPr lang="en-ID" dirty="0"/>
              <a:t>, we need a different tool: the </a:t>
            </a:r>
            <a:r>
              <a:rPr lang="en-ID" b="1" dirty="0"/>
              <a:t>exchange argument</a:t>
            </a:r>
            <a:r>
              <a:rPr lang="en-ID" dirty="0"/>
              <a:t>. A greedy algorithm makes a locally optimal choice at each step; the exchange argument proves that </a:t>
            </a:r>
            <a:r>
              <a:rPr lang="en-ID" b="1" dirty="0"/>
              <a:t>swapping away from the greedy choice cannot improve the solution</a:t>
            </a:r>
            <a:r>
              <a:rPr lang="en-ID" dirty="0"/>
              <a:t>.</a:t>
            </a:r>
          </a:p>
          <a:p>
            <a:pPr marL="0" indent="0" algn="just">
              <a:buNone/>
            </a:pPr>
            <a:r>
              <a:rPr lang="en-ID" dirty="0"/>
              <a:t>The exchange argument is the primary proof technique for greedy correctness, and it underlies the proofs for Activity Selection (Session 12), Huffman Coding (Session 12), and MST algorithms (Session 11).</a:t>
            </a:r>
          </a:p>
        </p:txBody>
      </p:sp>
    </p:spTree>
    <p:extLst>
      <p:ext uri="{BB962C8B-B14F-4D97-AF65-F5344CB8AC3E}">
        <p14:creationId xmlns:p14="http://schemas.microsoft.com/office/powerpoint/2010/main" val="3535988044"/>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3B912-1578-00F7-9E70-58AC402BED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9A8E19-E6C0-2301-0C67-7FF1974DCF94}"/>
              </a:ext>
            </a:extLst>
          </p:cNvPr>
          <p:cNvSpPr>
            <a:spLocks noGrp="1"/>
          </p:cNvSpPr>
          <p:nvPr>
            <p:ph type="title"/>
          </p:nvPr>
        </p:nvSpPr>
        <p:spPr/>
        <p:txBody>
          <a:bodyPr>
            <a:normAutofit fontScale="90000"/>
          </a:bodyPr>
          <a:lstStyle/>
          <a:p>
            <a:r>
              <a:rPr lang="en-ID" dirty="0"/>
              <a:t>Exchange Argument — Proving Greedy Correctness</a:t>
            </a:r>
          </a:p>
        </p:txBody>
      </p:sp>
      <p:sp>
        <p:nvSpPr>
          <p:cNvPr id="3" name="Text Placeholder 2">
            <a:extLst>
              <a:ext uri="{FF2B5EF4-FFF2-40B4-BE49-F238E27FC236}">
                <a16:creationId xmlns:a16="http://schemas.microsoft.com/office/drawing/2014/main" id="{4459D146-F1A9-D18A-F842-F6ABC657DFD4}"/>
              </a:ext>
            </a:extLst>
          </p:cNvPr>
          <p:cNvSpPr>
            <a:spLocks noGrp="1"/>
          </p:cNvSpPr>
          <p:nvPr>
            <p:ph type="body" sz="quarter" idx="10"/>
          </p:nvPr>
        </p:nvSpPr>
        <p:spPr>
          <a:xfrm>
            <a:off x="2167376" y="2419728"/>
            <a:ext cx="19280919" cy="803546"/>
          </a:xfrm>
        </p:spPr>
        <p:txBody>
          <a:bodyPr>
            <a:normAutofit/>
          </a:bodyPr>
          <a:lstStyle/>
          <a:p>
            <a:r>
              <a:rPr lang="en-ID" dirty="0"/>
              <a:t>Exchange Argument Template</a:t>
            </a:r>
          </a:p>
        </p:txBody>
      </p:sp>
      <p:sp>
        <p:nvSpPr>
          <p:cNvPr id="4" name="Content Placeholder 3">
            <a:extLst>
              <a:ext uri="{FF2B5EF4-FFF2-40B4-BE49-F238E27FC236}">
                <a16:creationId xmlns:a16="http://schemas.microsoft.com/office/drawing/2014/main" id="{71705AA1-204F-7DC1-FA2B-4E2E46EFA2ED}"/>
              </a:ext>
            </a:extLst>
          </p:cNvPr>
          <p:cNvSpPr>
            <a:spLocks noGrp="1"/>
          </p:cNvSpPr>
          <p:nvPr>
            <p:ph sz="quarter" idx="11"/>
          </p:nvPr>
        </p:nvSpPr>
        <p:spPr>
          <a:xfrm>
            <a:off x="2167377" y="3714224"/>
            <a:ext cx="19032265" cy="9138176"/>
          </a:xfrm>
        </p:spPr>
        <p:txBody>
          <a:bodyPr>
            <a:normAutofit lnSpcReduction="10000"/>
          </a:bodyPr>
          <a:lstStyle/>
          <a:p>
            <a:pPr marL="0" indent="0" algn="just">
              <a:buNone/>
            </a:pPr>
            <a:r>
              <a:rPr lang="en-ID" b="1" dirty="0"/>
              <a:t>General structure (CLRS, Ch. 15.2, p. 455–458; </a:t>
            </a:r>
            <a:r>
              <a:rPr lang="en-ID" b="1" dirty="0" err="1"/>
              <a:t>Skiena</a:t>
            </a:r>
            <a:r>
              <a:rPr lang="en-ID" b="1" dirty="0"/>
              <a:t>, Ch. 8.1):</a:t>
            </a:r>
            <a:endParaRPr lang="en-ID" dirty="0"/>
          </a:p>
          <a:p>
            <a:pPr algn="just">
              <a:spcBef>
                <a:spcPts val="1800"/>
              </a:spcBef>
              <a:buFont typeface="+mj-lt"/>
              <a:buAutoNum type="arabicPeriod"/>
            </a:pPr>
            <a:r>
              <a:rPr lang="en-ID" b="1" dirty="0"/>
              <a:t>Assume</a:t>
            </a:r>
            <a:r>
              <a:rPr lang="en-ID" dirty="0"/>
              <a:t> that some optimal solution OPT does not make the greedy choice at the first step.</a:t>
            </a:r>
          </a:p>
          <a:p>
            <a:pPr algn="just">
              <a:spcBef>
                <a:spcPts val="1800"/>
              </a:spcBef>
              <a:buFont typeface="+mj-lt"/>
              <a:buAutoNum type="arabicPeriod"/>
            </a:pPr>
            <a:r>
              <a:rPr lang="en-ID" b="1" dirty="0"/>
              <a:t>Show</a:t>
            </a:r>
            <a:r>
              <a:rPr lang="en-ID" dirty="0"/>
              <a:t> that we can "exchange" the first element of OPT with the greedy choice, obtaining a new solution OPT'.</a:t>
            </a:r>
          </a:p>
          <a:p>
            <a:pPr algn="just">
              <a:spcBef>
                <a:spcPts val="1800"/>
              </a:spcBef>
              <a:buFont typeface="+mj-lt"/>
              <a:buAutoNum type="arabicPeriod"/>
            </a:pPr>
            <a:r>
              <a:rPr lang="en-ID" b="1" dirty="0"/>
              <a:t>Prove</a:t>
            </a:r>
            <a:r>
              <a:rPr lang="en-ID" dirty="0"/>
              <a:t> that OPT' is no worse than OPT (same value, same feasibility).</a:t>
            </a:r>
          </a:p>
          <a:p>
            <a:pPr algn="just">
              <a:spcBef>
                <a:spcPts val="1800"/>
              </a:spcBef>
              <a:buFont typeface="+mj-lt"/>
              <a:buAutoNum type="arabicPeriod"/>
            </a:pPr>
            <a:r>
              <a:rPr lang="en-ID" b="1" dirty="0"/>
              <a:t>Conclude</a:t>
            </a:r>
            <a:r>
              <a:rPr lang="en-ID" dirty="0"/>
              <a:t> that the greedy choice can always be part of some optimal solution — the greedy algorithm is correct.</a:t>
            </a:r>
          </a:p>
          <a:p>
            <a:pPr marL="0" indent="0" algn="just">
              <a:buNone/>
            </a:pPr>
            <a:r>
              <a:rPr lang="en-ID" dirty="0"/>
              <a:t>The key insight is that OPT' satisfies the feasibility constraints and achieves at least as good an objective value as OPT. By repeatedly applying the argument, any optimal solution can be transformed step-by-step into the greedy solution without loss of quality.</a:t>
            </a:r>
          </a:p>
        </p:txBody>
      </p:sp>
    </p:spTree>
    <p:extLst>
      <p:ext uri="{BB962C8B-B14F-4D97-AF65-F5344CB8AC3E}">
        <p14:creationId xmlns:p14="http://schemas.microsoft.com/office/powerpoint/2010/main" val="1347558073"/>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29807-12DE-1913-8E13-DC01057DAD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89F2CE-9B85-CA58-D4B7-034139107418}"/>
              </a:ext>
            </a:extLst>
          </p:cNvPr>
          <p:cNvSpPr>
            <a:spLocks noGrp="1"/>
          </p:cNvSpPr>
          <p:nvPr>
            <p:ph type="title"/>
          </p:nvPr>
        </p:nvSpPr>
        <p:spPr/>
        <p:txBody>
          <a:bodyPr>
            <a:normAutofit fontScale="90000"/>
          </a:bodyPr>
          <a:lstStyle/>
          <a:p>
            <a:r>
              <a:rPr lang="en-ID" dirty="0"/>
              <a:t>Exchange Argument — Proving Greedy Correctness</a:t>
            </a:r>
          </a:p>
        </p:txBody>
      </p:sp>
      <p:sp>
        <p:nvSpPr>
          <p:cNvPr id="3" name="Text Placeholder 2">
            <a:extLst>
              <a:ext uri="{FF2B5EF4-FFF2-40B4-BE49-F238E27FC236}">
                <a16:creationId xmlns:a16="http://schemas.microsoft.com/office/drawing/2014/main" id="{A525A3CE-E770-3877-EC0D-15F291FED8A3}"/>
              </a:ext>
            </a:extLst>
          </p:cNvPr>
          <p:cNvSpPr>
            <a:spLocks noGrp="1"/>
          </p:cNvSpPr>
          <p:nvPr>
            <p:ph type="body" sz="quarter" idx="10"/>
          </p:nvPr>
        </p:nvSpPr>
        <p:spPr>
          <a:xfrm>
            <a:off x="2167376" y="2419728"/>
            <a:ext cx="19280919" cy="803546"/>
          </a:xfrm>
        </p:spPr>
        <p:txBody>
          <a:bodyPr>
            <a:normAutofit/>
          </a:bodyPr>
          <a:lstStyle/>
          <a:p>
            <a:r>
              <a:rPr lang="en-ID" dirty="0"/>
              <a:t>Example: Activity Selection — Earliest Finish Time</a:t>
            </a:r>
          </a:p>
        </p:txBody>
      </p:sp>
      <p:sp>
        <p:nvSpPr>
          <p:cNvPr id="4" name="Content Placeholder 3">
            <a:extLst>
              <a:ext uri="{FF2B5EF4-FFF2-40B4-BE49-F238E27FC236}">
                <a16:creationId xmlns:a16="http://schemas.microsoft.com/office/drawing/2014/main" id="{2E8FB568-52F2-81EA-733F-9F89B0EE4B1D}"/>
              </a:ext>
            </a:extLst>
          </p:cNvPr>
          <p:cNvSpPr>
            <a:spLocks noGrp="1"/>
          </p:cNvSpPr>
          <p:nvPr>
            <p:ph sz="quarter" idx="11"/>
          </p:nvPr>
        </p:nvSpPr>
        <p:spPr>
          <a:xfrm>
            <a:off x="2167377" y="3714224"/>
            <a:ext cx="19541156" cy="9138176"/>
          </a:xfrm>
        </p:spPr>
        <p:txBody>
          <a:bodyPr>
            <a:normAutofit fontScale="77500" lnSpcReduction="20000"/>
          </a:bodyPr>
          <a:lstStyle/>
          <a:p>
            <a:pPr marL="0" indent="0" algn="just">
              <a:buNone/>
            </a:pPr>
            <a:r>
              <a:rPr lang="en-ID" b="1" dirty="0"/>
              <a:t>Problem:</a:t>
            </a:r>
            <a:r>
              <a:rPr lang="en-ID" dirty="0"/>
              <a:t> Given n activities with start times s[</a:t>
            </a:r>
            <a:r>
              <a:rPr lang="en-ID" dirty="0" err="1"/>
              <a:t>i</a:t>
            </a:r>
            <a:r>
              <a:rPr lang="en-ID" dirty="0"/>
              <a:t>] and finish times f[</a:t>
            </a:r>
            <a:r>
              <a:rPr lang="en-ID" dirty="0" err="1"/>
              <a:t>i</a:t>
            </a:r>
            <a:r>
              <a:rPr lang="en-ID" dirty="0"/>
              <a:t>], select the maximum number of non-overlapping activities.</a:t>
            </a:r>
          </a:p>
          <a:p>
            <a:pPr marL="0" indent="0" algn="just">
              <a:buNone/>
            </a:pPr>
            <a:r>
              <a:rPr lang="en-ID" b="1" dirty="0"/>
              <a:t>Greedy choice:</a:t>
            </a:r>
            <a:r>
              <a:rPr lang="en-ID" dirty="0"/>
              <a:t> Always select the activity with the earliest finish time among all remaining compatible activities.</a:t>
            </a:r>
          </a:p>
          <a:p>
            <a:pPr marL="0" indent="0" algn="just">
              <a:buNone/>
            </a:pPr>
            <a:r>
              <a:rPr lang="en-ID" b="1" dirty="0"/>
              <a:t>Exchange argument proof (CLRS, Ch. 16.1, p. 455; </a:t>
            </a:r>
            <a:r>
              <a:rPr lang="en-ID" b="1" dirty="0" err="1"/>
              <a:t>Skiena</a:t>
            </a:r>
            <a:r>
              <a:rPr lang="en-ID" b="1" dirty="0"/>
              <a:t>, Ch. 8.1):</a:t>
            </a:r>
            <a:endParaRPr lang="en-ID" dirty="0"/>
          </a:p>
          <a:p>
            <a:pPr marL="0" indent="0" algn="just">
              <a:buNone/>
            </a:pPr>
            <a:r>
              <a:rPr lang="en-ID" dirty="0"/>
              <a:t>Let G = ⟨g₁, g₂, …, gₖ⟩ be the activities chosen by the greedy algorithm (sorted by finish time), and let OPT = ⟨o₁, o₂, …, oₘ⟩ be any optimal solution (also sorted by finish time). We claim k = m.</a:t>
            </a:r>
          </a:p>
          <a:p>
            <a:pPr marL="0" indent="0" algn="just">
              <a:buNone/>
            </a:pPr>
            <a:r>
              <a:rPr lang="en-ID" b="1" dirty="0"/>
              <a:t>Step 1 — Greedy choice is exchangeable:</a:t>
            </a:r>
            <a:endParaRPr lang="en-ID" dirty="0"/>
          </a:p>
          <a:p>
            <a:pPr algn="just">
              <a:spcBef>
                <a:spcPts val="1800"/>
              </a:spcBef>
            </a:pPr>
            <a:r>
              <a:rPr lang="en-ID" dirty="0"/>
              <a:t>The greedy algorithm picks g₁ = the activity with the globally earliest finish time.</a:t>
            </a:r>
          </a:p>
          <a:p>
            <a:pPr algn="just">
              <a:spcBef>
                <a:spcPts val="1800"/>
              </a:spcBef>
            </a:pPr>
            <a:r>
              <a:rPr lang="en-ID" dirty="0"/>
              <a:t>Since f[g₁] ≤ f[o₁] (g₁ has the smallest finish time), replacing o₁ with g₁ in OPT gives OPT' = ⟨g₁, o₂, …, oₘ⟩.</a:t>
            </a:r>
          </a:p>
          <a:p>
            <a:pPr algn="just">
              <a:spcBef>
                <a:spcPts val="1800"/>
              </a:spcBef>
            </a:pPr>
            <a:r>
              <a:rPr lang="en-ID" dirty="0"/>
              <a:t>Does OPT' remain feasible? Yes: g₁ finishes no later than o₁, so g₁ does not conflict with o₂. All subsequent activities remain compatible.</a:t>
            </a:r>
          </a:p>
          <a:p>
            <a:pPr algn="just">
              <a:spcBef>
                <a:spcPts val="1800"/>
              </a:spcBef>
            </a:pPr>
            <a:r>
              <a:rPr lang="en-ID" dirty="0"/>
              <a:t>OPT' has the same size m as OPT — it is still optimal.</a:t>
            </a:r>
          </a:p>
        </p:txBody>
      </p:sp>
    </p:spTree>
    <p:extLst>
      <p:ext uri="{BB962C8B-B14F-4D97-AF65-F5344CB8AC3E}">
        <p14:creationId xmlns:p14="http://schemas.microsoft.com/office/powerpoint/2010/main" val="2683921013"/>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35E7B-35E8-F8E6-B734-2C47ED0ABF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C91449-2879-6BC1-CE49-7C21B357518E}"/>
              </a:ext>
            </a:extLst>
          </p:cNvPr>
          <p:cNvSpPr>
            <a:spLocks noGrp="1"/>
          </p:cNvSpPr>
          <p:nvPr>
            <p:ph type="title"/>
          </p:nvPr>
        </p:nvSpPr>
        <p:spPr/>
        <p:txBody>
          <a:bodyPr>
            <a:normAutofit fontScale="90000"/>
          </a:bodyPr>
          <a:lstStyle/>
          <a:p>
            <a:r>
              <a:rPr lang="en-ID" dirty="0"/>
              <a:t>Exchange Argument — Proving Greedy Correctness</a:t>
            </a:r>
          </a:p>
        </p:txBody>
      </p:sp>
      <p:sp>
        <p:nvSpPr>
          <p:cNvPr id="3" name="Text Placeholder 2">
            <a:extLst>
              <a:ext uri="{FF2B5EF4-FFF2-40B4-BE49-F238E27FC236}">
                <a16:creationId xmlns:a16="http://schemas.microsoft.com/office/drawing/2014/main" id="{AB7AB24A-F8CD-F3F7-96E6-C7BA04C006D9}"/>
              </a:ext>
            </a:extLst>
          </p:cNvPr>
          <p:cNvSpPr>
            <a:spLocks noGrp="1"/>
          </p:cNvSpPr>
          <p:nvPr>
            <p:ph type="body" sz="quarter" idx="10"/>
          </p:nvPr>
        </p:nvSpPr>
        <p:spPr>
          <a:xfrm>
            <a:off x="2167376" y="2419728"/>
            <a:ext cx="19280919" cy="803546"/>
          </a:xfrm>
        </p:spPr>
        <p:txBody>
          <a:bodyPr>
            <a:normAutofit/>
          </a:bodyPr>
          <a:lstStyle/>
          <a:p>
            <a:r>
              <a:rPr lang="en-ID" dirty="0"/>
              <a:t>Example: Activity Selection — Earliest Finish Time</a:t>
            </a:r>
          </a:p>
        </p:txBody>
      </p:sp>
      <p:sp>
        <p:nvSpPr>
          <p:cNvPr id="4" name="Content Placeholder 3">
            <a:extLst>
              <a:ext uri="{FF2B5EF4-FFF2-40B4-BE49-F238E27FC236}">
                <a16:creationId xmlns:a16="http://schemas.microsoft.com/office/drawing/2014/main" id="{3A016AB8-CF63-08DE-9AA4-34C2E26CA414}"/>
              </a:ext>
            </a:extLst>
          </p:cNvPr>
          <p:cNvSpPr>
            <a:spLocks noGrp="1"/>
          </p:cNvSpPr>
          <p:nvPr>
            <p:ph sz="quarter" idx="11"/>
          </p:nvPr>
        </p:nvSpPr>
        <p:spPr>
          <a:xfrm>
            <a:off x="2167377" y="3714224"/>
            <a:ext cx="19032265" cy="9138176"/>
          </a:xfrm>
        </p:spPr>
        <p:txBody>
          <a:bodyPr>
            <a:normAutofit fontScale="85000" lnSpcReduction="20000"/>
          </a:bodyPr>
          <a:lstStyle/>
          <a:p>
            <a:pPr marL="0" indent="0" algn="just">
              <a:buNone/>
            </a:pPr>
            <a:r>
              <a:rPr lang="en-ID" b="1" dirty="0"/>
              <a:t>Step 2 — Induction on remaining subproblem:</a:t>
            </a:r>
            <a:endParaRPr lang="en-ID" dirty="0"/>
          </a:p>
          <a:p>
            <a:pPr algn="just"/>
            <a:r>
              <a:rPr lang="en-ID" dirty="0"/>
              <a:t>After selecting g₁ (and o₁ in OPT'), both algorithms face the same subproblem: all activities with start time ≥ f[g₁].</a:t>
            </a:r>
          </a:p>
          <a:p>
            <a:pPr algn="just"/>
            <a:r>
              <a:rPr lang="en-ID" dirty="0"/>
              <a:t>Apply the same exchange argument recursively. At each step, the greedy choice is always exchangeable without loss.</a:t>
            </a:r>
          </a:p>
          <a:p>
            <a:pPr marL="0" indent="0" algn="just">
              <a:buNone/>
            </a:pPr>
            <a:r>
              <a:rPr lang="en-ID" b="1" dirty="0"/>
              <a:t>Step 3 — Conclusion:</a:t>
            </a:r>
            <a:endParaRPr lang="en-ID" dirty="0"/>
          </a:p>
          <a:p>
            <a:pPr algn="just"/>
            <a:r>
              <a:rPr lang="en-ID" dirty="0"/>
              <a:t>No subproblem can yield more activities via OPT than via G, so k ≥ m.</a:t>
            </a:r>
          </a:p>
          <a:p>
            <a:pPr algn="just"/>
            <a:r>
              <a:rPr lang="en-ID" dirty="0"/>
              <a:t>But G is a feasible solution, so k ≤ m (you cannot do better than optimal).</a:t>
            </a:r>
          </a:p>
          <a:p>
            <a:pPr algn="just"/>
            <a:r>
              <a:rPr lang="en-ID" dirty="0"/>
              <a:t>Therefore k = m: the greedy algorithm selects an optimal set of activities. ✓</a:t>
            </a:r>
          </a:p>
          <a:p>
            <a:pPr marL="0" indent="0" algn="just">
              <a:buNone/>
            </a:pPr>
            <a:r>
              <a:rPr lang="en-ID" b="1" dirty="0"/>
              <a:t>Key lesson:</a:t>
            </a:r>
            <a:r>
              <a:rPr lang="en-ID" dirty="0"/>
              <a:t> The exchange argument works because "earliest finish time" leaves the most room for future activities — making the greedy choice never precludes a better solution.</a:t>
            </a:r>
          </a:p>
        </p:txBody>
      </p:sp>
    </p:spTree>
    <p:extLst>
      <p:ext uri="{BB962C8B-B14F-4D97-AF65-F5344CB8AC3E}">
        <p14:creationId xmlns:p14="http://schemas.microsoft.com/office/powerpoint/2010/main" val="3089846687"/>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0C5F7-7A03-6956-E10A-35BD40D754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129337-7426-C3BB-4BC9-3E4F59F0096E}"/>
              </a:ext>
            </a:extLst>
          </p:cNvPr>
          <p:cNvSpPr>
            <a:spLocks noGrp="1"/>
          </p:cNvSpPr>
          <p:nvPr>
            <p:ph type="title"/>
          </p:nvPr>
        </p:nvSpPr>
        <p:spPr/>
        <p:txBody>
          <a:bodyPr>
            <a:normAutofit fontScale="90000"/>
          </a:bodyPr>
          <a:lstStyle/>
          <a:p>
            <a:r>
              <a:rPr lang="en-ID" dirty="0"/>
              <a:t>Exchange Argument — Proving Greedy Correctness</a:t>
            </a:r>
          </a:p>
        </p:txBody>
      </p:sp>
      <p:sp>
        <p:nvSpPr>
          <p:cNvPr id="3" name="Text Placeholder 2">
            <a:extLst>
              <a:ext uri="{FF2B5EF4-FFF2-40B4-BE49-F238E27FC236}">
                <a16:creationId xmlns:a16="http://schemas.microsoft.com/office/drawing/2014/main" id="{261517D2-709B-A3E2-219E-99E5E47665D5}"/>
              </a:ext>
            </a:extLst>
          </p:cNvPr>
          <p:cNvSpPr>
            <a:spLocks noGrp="1"/>
          </p:cNvSpPr>
          <p:nvPr>
            <p:ph type="body" sz="quarter" idx="10"/>
          </p:nvPr>
        </p:nvSpPr>
        <p:spPr>
          <a:xfrm>
            <a:off x="2167376" y="2419728"/>
            <a:ext cx="19280919" cy="803546"/>
          </a:xfrm>
        </p:spPr>
        <p:txBody>
          <a:bodyPr>
            <a:normAutofit/>
          </a:bodyPr>
          <a:lstStyle/>
          <a:p>
            <a:r>
              <a:rPr lang="en-ID" dirty="0"/>
              <a:t>Why Exchange Arguments Work</a:t>
            </a:r>
          </a:p>
        </p:txBody>
      </p:sp>
      <p:sp>
        <p:nvSpPr>
          <p:cNvPr id="4" name="Content Placeholder 3">
            <a:extLst>
              <a:ext uri="{FF2B5EF4-FFF2-40B4-BE49-F238E27FC236}">
                <a16:creationId xmlns:a16="http://schemas.microsoft.com/office/drawing/2014/main" id="{090061BC-0EAC-A4B4-EEE3-BE8863EE4AB9}"/>
              </a:ext>
            </a:extLst>
          </p:cNvPr>
          <p:cNvSpPr>
            <a:spLocks noGrp="1"/>
          </p:cNvSpPr>
          <p:nvPr>
            <p:ph sz="quarter" idx="11"/>
          </p:nvPr>
        </p:nvSpPr>
        <p:spPr>
          <a:xfrm>
            <a:off x="2167377" y="3714224"/>
            <a:ext cx="19032265" cy="9138176"/>
          </a:xfrm>
        </p:spPr>
        <p:txBody>
          <a:bodyPr>
            <a:normAutofit lnSpcReduction="10000"/>
          </a:bodyPr>
          <a:lstStyle/>
          <a:p>
            <a:pPr marL="0" indent="0" algn="just">
              <a:buNone/>
            </a:pPr>
            <a:r>
              <a:rPr lang="en-ID" dirty="0"/>
              <a:t>The template succeeds when the greedy choice satisfies a </a:t>
            </a:r>
            <a:r>
              <a:rPr lang="en-ID" b="1" dirty="0"/>
              <a:t>matroid</a:t>
            </a:r>
            <a:r>
              <a:rPr lang="en-ID" dirty="0"/>
              <a:t> or </a:t>
            </a:r>
            <a:r>
              <a:rPr lang="en-ID" b="1" dirty="0"/>
              <a:t>exchange property</a:t>
            </a:r>
            <a:r>
              <a:rPr lang="en-ID" dirty="0"/>
              <a:t>: the solution set is such that swapping any element of an optimal solution with the greedy choice does not violate feasibility. Problems where this holds include:</a:t>
            </a:r>
          </a:p>
          <a:p>
            <a:pPr algn="just"/>
            <a:r>
              <a:rPr lang="en-ID" dirty="0"/>
              <a:t>Activity Selection (earliest finish time)</a:t>
            </a:r>
          </a:p>
          <a:p>
            <a:pPr algn="just">
              <a:spcBef>
                <a:spcPts val="1800"/>
              </a:spcBef>
            </a:pPr>
            <a:r>
              <a:rPr lang="en-ID" dirty="0"/>
              <a:t>Fractional Knapsack (highest value/weight ratio)</a:t>
            </a:r>
          </a:p>
          <a:p>
            <a:pPr algn="just">
              <a:spcBef>
                <a:spcPts val="1800"/>
              </a:spcBef>
            </a:pPr>
            <a:r>
              <a:rPr lang="en-ID" dirty="0"/>
              <a:t>Huffman Coding (fewest bits for most frequent symbols)</a:t>
            </a:r>
          </a:p>
          <a:p>
            <a:pPr algn="just">
              <a:spcBef>
                <a:spcPts val="1800"/>
              </a:spcBef>
            </a:pPr>
            <a:r>
              <a:rPr lang="en-ID" dirty="0"/>
              <a:t>Minimum Spanning Tree (Kruskal's and Prim's — greedy edge selection)</a:t>
            </a:r>
          </a:p>
          <a:p>
            <a:pPr marL="0" indent="0" algn="just">
              <a:buNone/>
            </a:pPr>
            <a:r>
              <a:rPr lang="en-ID" dirty="0"/>
              <a:t>Problems where the greedy choice is </a:t>
            </a:r>
            <a:r>
              <a:rPr lang="en-ID" b="1" dirty="0"/>
              <a:t>not</a:t>
            </a:r>
            <a:r>
              <a:rPr lang="en-ID" dirty="0"/>
              <a:t> exchangeable (and greedy fails) include 0/1 Knapsack, Coin Change with non-standard denominations, and TSP.</a:t>
            </a:r>
          </a:p>
        </p:txBody>
      </p:sp>
    </p:spTree>
    <p:extLst>
      <p:ext uri="{BB962C8B-B14F-4D97-AF65-F5344CB8AC3E}">
        <p14:creationId xmlns:p14="http://schemas.microsoft.com/office/powerpoint/2010/main" val="1320968755"/>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D4745-38F4-6B70-C5E6-490DEC1C3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5F9FB6-5216-72D8-C2D6-855C73FF33FD}"/>
              </a:ext>
            </a:extLst>
          </p:cNvPr>
          <p:cNvSpPr>
            <a:spLocks noGrp="1"/>
          </p:cNvSpPr>
          <p:nvPr>
            <p:ph type="title"/>
          </p:nvPr>
        </p:nvSpPr>
        <p:spPr/>
        <p:txBody>
          <a:bodyPr>
            <a:normAutofit fontScale="90000"/>
          </a:bodyPr>
          <a:lstStyle/>
          <a:p>
            <a:r>
              <a:rPr lang="en-ID" dirty="0"/>
              <a:t>Summary</a:t>
            </a:r>
          </a:p>
        </p:txBody>
      </p:sp>
      <p:sp>
        <p:nvSpPr>
          <p:cNvPr id="3" name="Text Placeholder 2">
            <a:extLst>
              <a:ext uri="{FF2B5EF4-FFF2-40B4-BE49-F238E27FC236}">
                <a16:creationId xmlns:a16="http://schemas.microsoft.com/office/drawing/2014/main" id="{A9190BD9-2B4B-AAF0-7C79-E2CD378F4B42}"/>
              </a:ext>
            </a:extLst>
          </p:cNvPr>
          <p:cNvSpPr>
            <a:spLocks noGrp="1"/>
          </p:cNvSpPr>
          <p:nvPr>
            <p:ph type="body" sz="quarter" idx="10"/>
          </p:nvPr>
        </p:nvSpPr>
        <p:spPr>
          <a:xfrm>
            <a:off x="2167376" y="2419728"/>
            <a:ext cx="12799908" cy="803546"/>
          </a:xfrm>
        </p:spPr>
        <p:txBody>
          <a:bodyPr>
            <a:noAutofit/>
          </a:bodyPr>
          <a:lstStyle/>
          <a:p>
            <a:r>
              <a:rPr lang="en-ID" dirty="0"/>
              <a:t>Session 2</a:t>
            </a:r>
          </a:p>
        </p:txBody>
      </p:sp>
      <p:sp>
        <p:nvSpPr>
          <p:cNvPr id="4" name="Content Placeholder 3">
            <a:extLst>
              <a:ext uri="{FF2B5EF4-FFF2-40B4-BE49-F238E27FC236}">
                <a16:creationId xmlns:a16="http://schemas.microsoft.com/office/drawing/2014/main" id="{C29C2CE5-A3E8-9383-F708-28F2C13D0D10}"/>
              </a:ext>
            </a:extLst>
          </p:cNvPr>
          <p:cNvSpPr>
            <a:spLocks noGrp="1"/>
          </p:cNvSpPr>
          <p:nvPr>
            <p:ph sz="quarter" idx="11"/>
          </p:nvPr>
        </p:nvSpPr>
        <p:spPr>
          <a:xfrm>
            <a:off x="2167377" y="3714224"/>
            <a:ext cx="20049246" cy="9138176"/>
          </a:xfrm>
        </p:spPr>
        <p:txBody>
          <a:bodyPr>
            <a:normAutofit fontScale="92500" lnSpcReduction="10000"/>
          </a:bodyPr>
          <a:lstStyle/>
          <a:p>
            <a:pPr algn="just"/>
            <a:r>
              <a:rPr lang="en-ID" b="1" dirty="0"/>
              <a:t>Loop invariant</a:t>
            </a:r>
            <a:r>
              <a:rPr lang="en-ID" dirty="0"/>
              <a:t> is the primary tool for proving correctness of iterative algorithms: show the invariant holds at initialization, is maintained through each iteration, and yields the correct result at termination.</a:t>
            </a:r>
          </a:p>
          <a:p>
            <a:pPr algn="just"/>
            <a:r>
              <a:rPr lang="en-ID" b="1" dirty="0"/>
              <a:t>Mathematical induction</a:t>
            </a:r>
            <a:r>
              <a:rPr lang="en-ID" dirty="0"/>
              <a:t> (simple and strong) proves properties of recursive algorithms and mathematical formulas.</a:t>
            </a:r>
          </a:p>
          <a:p>
            <a:pPr algn="just"/>
            <a:r>
              <a:rPr lang="en-ID" b="1" dirty="0"/>
              <a:t>Proof by contradiction</a:t>
            </a:r>
            <a:r>
              <a:rPr lang="en-ID" dirty="0"/>
              <a:t> derives a false consequence from the negation; used for impossibility results (e.g., irrational numbers, lower bounds on sorting).</a:t>
            </a:r>
          </a:p>
          <a:p>
            <a:pPr algn="just"/>
            <a:r>
              <a:rPr lang="en-ID" b="1" dirty="0"/>
              <a:t>Counterexamples</a:t>
            </a:r>
            <a:r>
              <a:rPr lang="en-ID" dirty="0"/>
              <a:t> disprove incorrect algorithms; a single instance suffices. Actively seeking counterexamples is a core algorithm design skill.</a:t>
            </a:r>
          </a:p>
          <a:p>
            <a:pPr algn="just"/>
            <a:r>
              <a:rPr lang="en-ID" b="1" dirty="0"/>
              <a:t>Exchange argument</a:t>
            </a:r>
            <a:r>
              <a:rPr lang="en-ID" dirty="0"/>
              <a:t> proves greedy correctness: assume OPT does not make the greedy choice; swap the greedy choice in; show OPT is no worse; conclude greedy is at least as good as any optimal solution.</a:t>
            </a:r>
          </a:p>
        </p:txBody>
      </p:sp>
    </p:spTree>
    <p:extLst>
      <p:ext uri="{BB962C8B-B14F-4D97-AF65-F5344CB8AC3E}">
        <p14:creationId xmlns:p14="http://schemas.microsoft.com/office/powerpoint/2010/main" val="1882852525"/>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7B5EF-EDE6-A5C1-32F8-99BB891975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A09DF9-DA86-1C2B-B43B-04A7374DDA7A}"/>
              </a:ext>
            </a:extLst>
          </p:cNvPr>
          <p:cNvSpPr>
            <a:spLocks noGrp="1"/>
          </p:cNvSpPr>
          <p:nvPr>
            <p:ph type="title"/>
          </p:nvPr>
        </p:nvSpPr>
        <p:spPr/>
        <p:txBody>
          <a:bodyPr>
            <a:normAutofit fontScale="90000"/>
          </a:bodyPr>
          <a:lstStyle/>
          <a:p>
            <a:r>
              <a:rPr lang="en-ID" dirty="0"/>
              <a:t>Exercises</a:t>
            </a:r>
          </a:p>
        </p:txBody>
      </p:sp>
      <p:sp>
        <p:nvSpPr>
          <p:cNvPr id="3" name="Text Placeholder 2">
            <a:extLst>
              <a:ext uri="{FF2B5EF4-FFF2-40B4-BE49-F238E27FC236}">
                <a16:creationId xmlns:a16="http://schemas.microsoft.com/office/drawing/2014/main" id="{8A7CDDA6-47F0-D21A-1287-73DE12AE70BA}"/>
              </a:ext>
            </a:extLst>
          </p:cNvPr>
          <p:cNvSpPr>
            <a:spLocks noGrp="1"/>
          </p:cNvSpPr>
          <p:nvPr>
            <p:ph type="body" sz="quarter" idx="10"/>
          </p:nvPr>
        </p:nvSpPr>
        <p:spPr>
          <a:xfrm>
            <a:off x="2167376" y="2419728"/>
            <a:ext cx="12799908" cy="803546"/>
          </a:xfrm>
        </p:spPr>
        <p:txBody>
          <a:bodyPr>
            <a:noAutofit/>
          </a:bodyPr>
          <a:lstStyle/>
          <a:p>
            <a:r>
              <a:rPr lang="en-ID" dirty="0"/>
              <a:t>Session 2</a:t>
            </a:r>
          </a:p>
        </p:txBody>
      </p:sp>
      <p:sp>
        <p:nvSpPr>
          <p:cNvPr id="4" name="Content Placeholder 3">
            <a:extLst>
              <a:ext uri="{FF2B5EF4-FFF2-40B4-BE49-F238E27FC236}">
                <a16:creationId xmlns:a16="http://schemas.microsoft.com/office/drawing/2014/main" id="{9B4B44C8-A6ED-A683-33EE-A99E42E2D6DB}"/>
              </a:ext>
            </a:extLst>
          </p:cNvPr>
          <p:cNvSpPr>
            <a:spLocks noGrp="1"/>
          </p:cNvSpPr>
          <p:nvPr>
            <p:ph sz="quarter" idx="11"/>
          </p:nvPr>
        </p:nvSpPr>
        <p:spPr>
          <a:xfrm>
            <a:off x="2167377" y="3714224"/>
            <a:ext cx="20049246" cy="9138176"/>
          </a:xfrm>
        </p:spPr>
        <p:txBody>
          <a:bodyPr>
            <a:normAutofit fontScale="85000" lnSpcReduction="20000"/>
          </a:bodyPr>
          <a:lstStyle/>
          <a:p>
            <a:pPr algn="just">
              <a:buFont typeface="+mj-lt"/>
              <a:buAutoNum type="arabicPeriod"/>
            </a:pPr>
            <a:r>
              <a:rPr lang="en-ID" dirty="0"/>
              <a:t>Prove the correctness of BINARY-SEARCH using a loop invariant. State the invariant precisely and verify all three conditions.</a:t>
            </a:r>
          </a:p>
          <a:p>
            <a:pPr algn="just">
              <a:buFont typeface="+mj-lt"/>
              <a:buAutoNum type="arabicPeriod"/>
            </a:pPr>
            <a:r>
              <a:rPr lang="en-ID" dirty="0"/>
              <a:t>Prove by induction: for all n ≥ 0, ∑ᵢ₌₀ⁿ 2ⁱ = 2ⁿ⁺¹ − 1.</a:t>
            </a:r>
          </a:p>
          <a:p>
            <a:pPr algn="just">
              <a:buFont typeface="+mj-lt"/>
              <a:buAutoNum type="arabicPeriod"/>
            </a:pPr>
            <a:r>
              <a:rPr lang="en-ID" dirty="0"/>
              <a:t>Prove by contradiction: there is no largest even integer.</a:t>
            </a:r>
          </a:p>
          <a:p>
            <a:pPr algn="just">
              <a:buFont typeface="+mj-lt"/>
              <a:buAutoNum type="arabicPeriod"/>
            </a:pPr>
            <a:r>
              <a:rPr lang="en-ID" dirty="0"/>
              <a:t>The following algorithm claims to find the maximum element in an array. Prove its correctness using a loop invariant, or find a bug:</a:t>
            </a:r>
          </a:p>
          <a:p>
            <a:pPr algn="just">
              <a:buFont typeface="+mj-lt"/>
              <a:buAutoNum type="arabicPeriod"/>
            </a:pPr>
            <a:endParaRPr lang="en-ID" dirty="0"/>
          </a:p>
          <a:p>
            <a:pPr algn="just">
              <a:buFont typeface="+mj-lt"/>
              <a:buAutoNum type="arabicPeriod"/>
            </a:pPr>
            <a:endParaRPr lang="en-ID" dirty="0"/>
          </a:p>
          <a:p>
            <a:pPr algn="just">
              <a:buFont typeface="+mj-lt"/>
              <a:buAutoNum type="arabicPeriod"/>
            </a:pPr>
            <a:endParaRPr lang="en-ID" dirty="0"/>
          </a:p>
          <a:p>
            <a:pPr algn="just">
              <a:buFont typeface="+mj-lt"/>
              <a:buAutoNum type="arabicPeriod"/>
            </a:pPr>
            <a:r>
              <a:rPr lang="en-ID" dirty="0"/>
              <a:t>Find a counterexample to disprove: "The greedy algorithm that always selects the activity with the earliest start time yields the maximum-cardinality set of non-overlapping activities."</a:t>
            </a:r>
          </a:p>
        </p:txBody>
      </p:sp>
      <p:sp>
        <p:nvSpPr>
          <p:cNvPr id="6" name="Rectangle 5">
            <a:extLst>
              <a:ext uri="{FF2B5EF4-FFF2-40B4-BE49-F238E27FC236}">
                <a16:creationId xmlns:a16="http://schemas.microsoft.com/office/drawing/2014/main" id="{2A343871-6939-14DA-848A-446087B97B33}"/>
              </a:ext>
            </a:extLst>
          </p:cNvPr>
          <p:cNvSpPr/>
          <p:nvPr/>
        </p:nvSpPr>
        <p:spPr>
          <a:xfrm>
            <a:off x="3071168" y="8113977"/>
            <a:ext cx="4481099" cy="2318583"/>
          </a:xfrm>
          <a:prstGeom prst="rect">
            <a:avLst/>
          </a:prstGeom>
          <a:solidFill>
            <a:srgbClr val="FFF7D6"/>
          </a:solidFill>
          <a:ln/>
        </p:spPr>
        <p:style>
          <a:lnRef idx="2">
            <a:schemeClr val="accent4">
              <a:shade val="15000"/>
            </a:schemeClr>
          </a:lnRef>
          <a:fillRef idx="1">
            <a:schemeClr val="accent4"/>
          </a:fillRef>
          <a:effectRef idx="0">
            <a:schemeClr val="accent4"/>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algn="l">
              <a:buNone/>
            </a:pPr>
            <a:r>
              <a:rPr lang="en-US" sz="2400" b="1" i="0" dirty="0">
                <a:solidFill>
                  <a:srgbClr val="424242"/>
                </a:solidFill>
                <a:effectLst/>
                <a:latin typeface="Courier New" panose="02070309020205020404" pitchFamily="49" charset="0"/>
              </a:rPr>
              <a:t>MAX(A, n)</a:t>
            </a:r>
          </a:p>
          <a:p>
            <a:pPr algn="l">
              <a:buNone/>
            </a:pPr>
            <a:r>
              <a:rPr lang="en-US" sz="2400" b="1" i="0" dirty="0">
                <a:solidFill>
                  <a:srgbClr val="424242"/>
                </a:solidFill>
                <a:effectLst/>
                <a:latin typeface="Courier New" panose="02070309020205020404" pitchFamily="49" charset="0"/>
              </a:rPr>
              <a:t>1  max = A[1]</a:t>
            </a:r>
          </a:p>
          <a:p>
            <a:pPr algn="l">
              <a:buNone/>
            </a:pPr>
            <a:r>
              <a:rPr lang="en-US" sz="2400" b="1" i="0" dirty="0">
                <a:solidFill>
                  <a:srgbClr val="424242"/>
                </a:solidFill>
                <a:effectLst/>
                <a:latin typeface="Courier New" panose="02070309020205020404" pitchFamily="49" charset="0"/>
              </a:rPr>
              <a:t>2  for </a:t>
            </a:r>
            <a:r>
              <a:rPr lang="en-US" sz="2400" b="1" i="0" dirty="0" err="1">
                <a:solidFill>
                  <a:srgbClr val="424242"/>
                </a:solidFill>
                <a:effectLst/>
                <a:latin typeface="Courier New" panose="02070309020205020404" pitchFamily="49" charset="0"/>
              </a:rPr>
              <a:t>i</a:t>
            </a:r>
            <a:r>
              <a:rPr lang="en-US" sz="2400" b="1" i="0" dirty="0">
                <a:solidFill>
                  <a:srgbClr val="424242"/>
                </a:solidFill>
                <a:effectLst/>
                <a:latin typeface="Courier New" panose="02070309020205020404" pitchFamily="49" charset="0"/>
              </a:rPr>
              <a:t> = 2 to n</a:t>
            </a:r>
          </a:p>
          <a:p>
            <a:pPr algn="l">
              <a:buNone/>
            </a:pPr>
            <a:r>
              <a:rPr lang="en-US" sz="2400" b="1" i="0" dirty="0">
                <a:solidFill>
                  <a:srgbClr val="424242"/>
                </a:solidFill>
                <a:effectLst/>
                <a:latin typeface="Courier New" panose="02070309020205020404" pitchFamily="49" charset="0"/>
              </a:rPr>
              <a:t>3      if A[</a:t>
            </a:r>
            <a:r>
              <a:rPr lang="en-US" sz="2400" b="1" i="0" dirty="0" err="1">
                <a:solidFill>
                  <a:srgbClr val="424242"/>
                </a:solidFill>
                <a:effectLst/>
                <a:latin typeface="Courier New" panose="02070309020205020404" pitchFamily="49" charset="0"/>
              </a:rPr>
              <a:t>i</a:t>
            </a:r>
            <a:r>
              <a:rPr lang="en-US" sz="2400" b="1" i="0" dirty="0">
                <a:solidFill>
                  <a:srgbClr val="424242"/>
                </a:solidFill>
                <a:effectLst/>
                <a:latin typeface="Courier New" panose="02070309020205020404" pitchFamily="49" charset="0"/>
              </a:rPr>
              <a:t>] &gt; max</a:t>
            </a:r>
          </a:p>
          <a:p>
            <a:pPr algn="l">
              <a:buNone/>
            </a:pPr>
            <a:r>
              <a:rPr lang="en-US" sz="2400" b="1" i="0" dirty="0">
                <a:solidFill>
                  <a:srgbClr val="424242"/>
                </a:solidFill>
                <a:effectLst/>
                <a:latin typeface="Courier New" panose="02070309020205020404" pitchFamily="49" charset="0"/>
              </a:rPr>
              <a:t>4          max = A[</a:t>
            </a:r>
            <a:r>
              <a:rPr lang="en-US" sz="2400" b="1" i="0" dirty="0" err="1">
                <a:solidFill>
                  <a:srgbClr val="424242"/>
                </a:solidFill>
                <a:effectLst/>
                <a:latin typeface="Courier New" panose="02070309020205020404" pitchFamily="49" charset="0"/>
              </a:rPr>
              <a:t>i</a:t>
            </a:r>
            <a:r>
              <a:rPr lang="en-US" sz="2400" b="1" i="0" dirty="0">
                <a:solidFill>
                  <a:srgbClr val="424242"/>
                </a:solidFill>
                <a:effectLst/>
                <a:latin typeface="Courier New" panose="02070309020205020404" pitchFamily="49" charset="0"/>
              </a:rPr>
              <a:t>]</a:t>
            </a:r>
          </a:p>
          <a:p>
            <a:pPr algn="l">
              <a:buNone/>
            </a:pPr>
            <a:r>
              <a:rPr lang="en-US" sz="2400" b="1" i="0" dirty="0">
                <a:solidFill>
                  <a:srgbClr val="424242"/>
                </a:solidFill>
                <a:effectLst/>
                <a:latin typeface="Courier New" panose="02070309020205020404" pitchFamily="49" charset="0"/>
              </a:rPr>
              <a:t>5  return max</a:t>
            </a:r>
          </a:p>
        </p:txBody>
      </p:sp>
    </p:spTree>
    <p:extLst>
      <p:ext uri="{BB962C8B-B14F-4D97-AF65-F5344CB8AC3E}">
        <p14:creationId xmlns:p14="http://schemas.microsoft.com/office/powerpoint/2010/main" val="1538712254"/>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References</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Session 2</a:t>
            </a:r>
          </a:p>
        </p:txBody>
      </p:sp>
      <p:sp>
        <p:nvSpPr>
          <p:cNvPr id="6" name="Content Placeholder 5">
            <a:extLst>
              <a:ext uri="{FF2B5EF4-FFF2-40B4-BE49-F238E27FC236}">
                <a16:creationId xmlns:a16="http://schemas.microsoft.com/office/drawing/2014/main" id="{CFC03F54-B3BC-80AB-98AC-C3ABDC8D86EE}"/>
              </a:ext>
            </a:extLst>
          </p:cNvPr>
          <p:cNvSpPr>
            <a:spLocks noGrp="1"/>
          </p:cNvSpPr>
          <p:nvPr>
            <p:ph sz="quarter" idx="11"/>
          </p:nvPr>
        </p:nvSpPr>
        <p:spPr>
          <a:xfrm>
            <a:off x="2167377" y="3223274"/>
            <a:ext cx="20049246" cy="9815394"/>
          </a:xfrm>
        </p:spPr>
        <p:txBody>
          <a:bodyPr>
            <a:normAutofit fontScale="85000" lnSpcReduction="20000"/>
          </a:bodyPr>
          <a:lstStyle/>
          <a:p>
            <a:pPr marL="0" indent="0">
              <a:spcBef>
                <a:spcPts val="1800"/>
              </a:spcBef>
              <a:buNone/>
            </a:pPr>
            <a:r>
              <a:rPr lang="en-ID" b="1" dirty="0"/>
              <a:t>Primary (Required):</a:t>
            </a:r>
            <a:r>
              <a:rPr lang="en-ID" dirty="0"/>
              <a:t> </a:t>
            </a:r>
            <a:r>
              <a:rPr lang="en-ID" dirty="0" err="1"/>
              <a:t>Cormen</a:t>
            </a:r>
            <a:r>
              <a:rPr lang="en-ID" dirty="0"/>
              <a:t>, T.H., </a:t>
            </a:r>
            <a:r>
              <a:rPr lang="en-ID" dirty="0" err="1"/>
              <a:t>Leiserson</a:t>
            </a:r>
            <a:r>
              <a:rPr lang="en-ID" dirty="0"/>
              <a:t>, C.E., Rivest, R.L., &amp; Stein, C. (2022). </a:t>
            </a:r>
            <a:r>
              <a:rPr lang="en-ID" i="1" dirty="0"/>
              <a:t>Introduction to Algorithms, 4th Edition.</a:t>
            </a:r>
            <a:r>
              <a:rPr lang="en-ID" dirty="0"/>
              <a:t> MIT Press.</a:t>
            </a:r>
          </a:p>
          <a:p>
            <a:pPr>
              <a:spcBef>
                <a:spcPts val="1800"/>
              </a:spcBef>
            </a:pPr>
            <a:r>
              <a:rPr lang="en-ID" dirty="0"/>
              <a:t>Ch. 2.1 — Insertion Sort (p. 17) — loop invariant treatment</a:t>
            </a:r>
          </a:p>
          <a:p>
            <a:pPr>
              <a:spcBef>
                <a:spcPts val="1800"/>
              </a:spcBef>
            </a:pPr>
            <a:r>
              <a:rPr lang="en-ID" dirty="0"/>
              <a:t>Ch. 2.3 — Designing Algorithms (p. 34)</a:t>
            </a:r>
          </a:p>
          <a:p>
            <a:pPr>
              <a:spcBef>
                <a:spcPts val="1800"/>
              </a:spcBef>
            </a:pPr>
            <a:r>
              <a:rPr lang="en-ID" dirty="0"/>
              <a:t>Ch. 15.1 — Activity Selection Problem (p. 446) — exchange argument for earliest-finish-time greedy</a:t>
            </a:r>
          </a:p>
          <a:p>
            <a:pPr>
              <a:spcBef>
                <a:spcPts val="1800"/>
              </a:spcBef>
            </a:pPr>
            <a:r>
              <a:rPr lang="en-ID" dirty="0"/>
              <a:t>Ch. 15.2 — Elements of the Greedy Strategy (p. 455–458) — exchange argument template and greedy correctness</a:t>
            </a:r>
          </a:p>
          <a:p>
            <a:pPr marL="0" indent="0">
              <a:spcBef>
                <a:spcPts val="1800"/>
              </a:spcBef>
              <a:buNone/>
            </a:pPr>
            <a:r>
              <a:rPr lang="en-ID" b="1" dirty="0"/>
              <a:t>Secondary (Required):</a:t>
            </a:r>
            <a:r>
              <a:rPr lang="en-ID" dirty="0"/>
              <a:t> </a:t>
            </a:r>
            <a:r>
              <a:rPr lang="en-ID" dirty="0" err="1"/>
              <a:t>Skiena</a:t>
            </a:r>
            <a:r>
              <a:rPr lang="en-ID" dirty="0"/>
              <a:t>, S.S. (2020). </a:t>
            </a:r>
            <a:r>
              <a:rPr lang="en-ID" i="1" dirty="0"/>
              <a:t>The Algorithm Design Manual, 3rd Edition.</a:t>
            </a:r>
            <a:r>
              <a:rPr lang="en-ID" dirty="0"/>
              <a:t> Springer.</a:t>
            </a:r>
          </a:p>
          <a:p>
            <a:pPr>
              <a:spcBef>
                <a:spcPts val="1800"/>
              </a:spcBef>
            </a:pPr>
            <a:r>
              <a:rPr lang="en-ID" dirty="0"/>
              <a:t>Ch. 1.3 — Reasoning about Correctness</a:t>
            </a:r>
          </a:p>
          <a:p>
            <a:pPr>
              <a:spcBef>
                <a:spcPts val="1800"/>
              </a:spcBef>
            </a:pPr>
            <a:r>
              <a:rPr lang="en-ID" dirty="0"/>
              <a:t>Ch. 1.3.3 — Demonstrating Incorrectness</a:t>
            </a:r>
          </a:p>
          <a:p>
            <a:pPr>
              <a:spcBef>
                <a:spcPts val="1800"/>
              </a:spcBef>
            </a:pPr>
            <a:r>
              <a:rPr lang="en-ID" dirty="0"/>
              <a:t>Ch. 1.4 — Induction and Recursion</a:t>
            </a:r>
          </a:p>
          <a:p>
            <a:pPr>
              <a:spcBef>
                <a:spcPts val="1800"/>
              </a:spcBef>
            </a:pPr>
            <a:r>
              <a:rPr lang="en-ID" dirty="0"/>
              <a:t>Ch. 1.6 — Proof by Contradiction</a:t>
            </a:r>
          </a:p>
          <a:p>
            <a:pPr>
              <a:spcBef>
                <a:spcPts val="1800"/>
              </a:spcBef>
            </a:pPr>
            <a:r>
              <a:rPr lang="en-ID" dirty="0"/>
              <a:t>Ch. 8.1 — Greedy Algorithms (p. 249) — exchange argument as proof technique for greedy correctness</a:t>
            </a:r>
          </a:p>
        </p:txBody>
      </p:sp>
    </p:spTree>
    <p:extLst>
      <p:ext uri="{BB962C8B-B14F-4D97-AF65-F5344CB8AC3E}">
        <p14:creationId xmlns:p14="http://schemas.microsoft.com/office/powerpoint/2010/main" val="377477195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4f3c4f7-300f-48ac-a76c-c36cb66e6dd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7CC6AC202010449984DD036240118DE" ma:contentTypeVersion="19" ma:contentTypeDescription="Create a new document." ma:contentTypeScope="" ma:versionID="bd8e047b4c0d36e3bdc62e4203c6b6a1">
  <xsd:schema xmlns:xsd="http://www.w3.org/2001/XMLSchema" xmlns:xs="http://www.w3.org/2001/XMLSchema" xmlns:p="http://schemas.microsoft.com/office/2006/metadata/properties" xmlns:ns3="14f3c4f7-300f-48ac-a76c-c36cb66e6dde" xmlns:ns4="7ce731ac-9d32-465a-873e-d59e12c5b60a" targetNamespace="http://schemas.microsoft.com/office/2006/metadata/properties" ma:root="true" ma:fieldsID="6b25e9325bf8f851e0b5e72124ec873a" ns3:_="" ns4:_="">
    <xsd:import namespace="14f3c4f7-300f-48ac-a76c-c36cb66e6dde"/>
    <xsd:import namespace="7ce731ac-9d32-465a-873e-d59e12c5b60a"/>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_activity" minOccurs="0"/>
                <xsd:element ref="ns3:MediaServiceObjectDetectorVersions" minOccurs="0"/>
                <xsd:element ref="ns3:MediaServiceDateTaken" minOccurs="0"/>
                <xsd:element ref="ns3:MediaLengthInSeconds" minOccurs="0"/>
                <xsd:element ref="ns3:MediaServiceSystemTags" minOccurs="0"/>
                <xsd:element ref="ns3:MediaServiceLocation"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f3c4f7-300f-48ac-a76c-c36cb66e6d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SystemTags" ma:index="23" nillable="true" ma:displayName="MediaServiceSystemTags" ma:hidden="true" ma:internalName="MediaServiceSystemTags" ma:readOnly="true">
      <xsd:simpleType>
        <xsd:restriction base="dms:Note"/>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ce731ac-9d32-465a-873e-d59e12c5b60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319FB49-6595-4262-87FD-718821516E02}">
  <ds:schemaRefs>
    <ds:schemaRef ds:uri="http://schemas.microsoft.com/office/infopath/2007/PartnerControls"/>
    <ds:schemaRef ds:uri="http://schemas.openxmlformats.org/package/2006/metadata/core-properties"/>
    <ds:schemaRef ds:uri="http://www.w3.org/XML/1998/namespace"/>
    <ds:schemaRef ds:uri="http://purl.org/dc/dcmitype/"/>
    <ds:schemaRef ds:uri="http://schemas.microsoft.com/office/2006/documentManagement/types"/>
    <ds:schemaRef ds:uri="14f3c4f7-300f-48ac-a76c-c36cb66e6dde"/>
    <ds:schemaRef ds:uri="http://purl.org/dc/elements/1.1/"/>
    <ds:schemaRef ds:uri="http://purl.org/dc/terms/"/>
    <ds:schemaRef ds:uri="7ce731ac-9d32-465a-873e-d59e12c5b60a"/>
    <ds:schemaRef ds:uri="http://schemas.microsoft.com/office/2006/metadata/properties"/>
  </ds:schemaRefs>
</ds:datastoreItem>
</file>

<file path=customXml/itemProps2.xml><?xml version="1.0" encoding="utf-8"?>
<ds:datastoreItem xmlns:ds="http://schemas.openxmlformats.org/officeDocument/2006/customXml" ds:itemID="{6E4A43C7-91BF-48B4-BB77-C3E5406EAF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4f3c4f7-300f-48ac-a76c-c36cb66e6dde"/>
    <ds:schemaRef ds:uri="7ce731ac-9d32-465a-873e-d59e12c5b60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55F0379-2627-45DF-AC99-7BC17B54A1DC}">
  <ds:schemaRefs>
    <ds:schemaRef ds:uri="http://schemas.microsoft.com/sharepoint/v3/contenttype/forms"/>
  </ds:schemaRefs>
</ds:datastoreItem>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21_BasicWhite</Template>
  <TotalTime>5475</TotalTime>
  <Words>3261</Words>
  <Application>Microsoft Office PowerPoint</Application>
  <PresentationFormat>Custom</PresentationFormat>
  <Paragraphs>231</Paragraphs>
  <Slides>28</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Open Sans</vt:lpstr>
      <vt:lpstr>Courier New</vt:lpstr>
      <vt:lpstr>Open Sans Semibold</vt:lpstr>
      <vt:lpstr>Open Sans Light</vt:lpstr>
      <vt:lpstr>OCRB</vt:lpstr>
      <vt:lpstr>Open Sans ExtraBold</vt:lpstr>
      <vt:lpstr>Arial</vt:lpstr>
      <vt:lpstr>21_BasicWhite</vt:lpstr>
      <vt:lpstr>Algorithm Correctness</vt:lpstr>
      <vt:lpstr>Learning Outcomes</vt:lpstr>
      <vt:lpstr>Learning Outcomes</vt:lpstr>
      <vt:lpstr>outline</vt:lpstr>
      <vt:lpstr>Loop Invariant Method</vt:lpstr>
      <vt:lpstr>Loop Invariant Method</vt:lpstr>
      <vt:lpstr>Loop Invariant Method</vt:lpstr>
      <vt:lpstr>Loop Invariant Method</vt:lpstr>
      <vt:lpstr>Proof by Mathematical Induction</vt:lpstr>
      <vt:lpstr>Proof by Mathematical Induction</vt:lpstr>
      <vt:lpstr>Proof by Mathematical Induction</vt:lpstr>
      <vt:lpstr>Proof by Mathematical Induction</vt:lpstr>
      <vt:lpstr>Proof by Contradiction</vt:lpstr>
      <vt:lpstr>Proof by Contradiction</vt:lpstr>
      <vt:lpstr>Proof by Contradiction</vt:lpstr>
      <vt:lpstr>Proof by Contradiction</vt:lpstr>
      <vt:lpstr>Counterexamples — Disproving Incorrect Algorithms</vt:lpstr>
      <vt:lpstr>Counterexamples — Disproving Incorrect Algorithms</vt:lpstr>
      <vt:lpstr>Counterexamples — Disproving Incorrect Algorithms</vt:lpstr>
      <vt:lpstr>Counterexamples — Disproving Incorrect Algorithms</vt:lpstr>
      <vt:lpstr>Exchange Argument — Proving Greedy Correctness</vt:lpstr>
      <vt:lpstr>Exchange Argument — Proving Greedy Correctness</vt:lpstr>
      <vt:lpstr>Exchange Argument — Proving Greedy Correctness</vt:lpstr>
      <vt:lpstr>Exchange Argument — Proving Greedy Correctness</vt:lpstr>
      <vt:lpstr>Exchange Argument — Proving Greedy Correctness</vt:lpstr>
      <vt:lpstr>Summary</vt:lpstr>
      <vt:lpstr>Exercises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HENRY LUCKY</dc:creator>
  <cp:lastModifiedBy>Nikita Ananda Putri Masaling</cp:lastModifiedBy>
  <cp:revision>101</cp:revision>
  <dcterms:created xsi:type="dcterms:W3CDTF">2023-11-17T02:51:40Z</dcterms:created>
  <dcterms:modified xsi:type="dcterms:W3CDTF">2026-09-03T06:32:12Z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0x01010027CC6AC202010449984DD036240118DE</vt:lpwstr>
  </property>
</Properties>
</file>