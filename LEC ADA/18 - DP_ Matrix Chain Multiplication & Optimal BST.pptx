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B1B306-CFBC-AB48-8506-7734ACCB09FD}" v="4" dt="2026-06-29T07:23:30.48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26" autoAdjust="0"/>
    <p:restoredTop sz="95643"/>
  </p:normalViewPr>
  <p:slideViewPr>
    <p:cSldViewPr snapToGrid="0" snapToObjects="1">
      <p:cViewPr varScale="1">
        <p:scale>
          <a:sx n="55" d="100"/>
          <a:sy n="55" d="100"/>
        </p:scale>
        <p:origin x="280" y="2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pc:chgData name="HENRY LUCKY" userId="9f9f0d3b-fafb-4a1f-811e-e1ce60336648" providerId="ADAL" clId="{87B23BC5-493B-58B6-9C8D-8C75A953FAD3}" dt="2026-06-29T07:23:30.482" v="89"/>
      <pc:docMkLst>
        <pc:docMk/>
      </pc:docMkLst>
      <pc:sldChg chg="modSp mod">
        <pc:chgData name="HENRY LUCKY" userId="9f9f0d3b-fafb-4a1f-811e-e1ce60336648" providerId="ADAL" clId="{87B23BC5-493B-58B6-9C8D-8C75A953FAD3}" dt="2026-06-29T07:22:10.863" v="58" actId="20577"/>
        <pc:sldMkLst>
          <pc:docMk/>
          <pc:sldMk cId="3807564589" sldId="256"/>
        </pc:sldMkLst>
        <pc:spChg chg="mod">
          <ac:chgData name="HENRY LUCKY" userId="9f9f0d3b-fafb-4a1f-811e-e1ce60336648" providerId="ADAL" clId="{87B23BC5-493B-58B6-9C8D-8C75A953FAD3}" dt="2026-06-29T07:22:10.863" v="58" actId="20577"/>
          <ac:spMkLst>
            <pc:docMk/>
            <pc:sldMk cId="3807564589" sldId="256"/>
            <ac:spMk id="2" creationId="{50F9371B-F92F-AED8-457A-F4BAE6779B8C}"/>
          </ac:spMkLst>
        </pc:spChg>
        <pc:spChg chg="mod">
          <ac:chgData name="HENRY LUCKY" userId="9f9f0d3b-fafb-4a1f-811e-e1ce60336648" providerId="ADAL" clId="{87B23BC5-493B-58B6-9C8D-8C75A953FAD3}" dt="2026-06-29T07:22:07.406" v="54" actId="20577"/>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22:37.016" v="69" actId="20577"/>
        <pc:sldMkLst>
          <pc:docMk/>
          <pc:sldMk cId="2766454393" sldId="257"/>
        </pc:sldMkLst>
        <pc:spChg chg="mod">
          <ac:chgData name="HENRY LUCKY" userId="9f9f0d3b-fafb-4a1f-811e-e1ce60336648" providerId="ADAL" clId="{87B23BC5-493B-58B6-9C8D-8C75A953FAD3}" dt="2026-06-29T07:22:37.016" v="69" actId="20577"/>
          <ac:spMkLst>
            <pc:docMk/>
            <pc:sldMk cId="2766454393" sldId="257"/>
            <ac:spMk id="3" creationId="{0002D373-5BC5-C51D-92C2-C090C3857861}"/>
          </ac:spMkLst>
        </pc:spChg>
        <pc:spChg chg="mod">
          <ac:chgData name="HENRY LUCKY" userId="9f9f0d3b-fafb-4a1f-811e-e1ce60336648" providerId="ADAL" clId="{87B23BC5-493B-58B6-9C8D-8C75A953FAD3}" dt="2026-06-29T07:22:31.409" v="64" actId="27636"/>
          <ac:spMkLst>
            <pc:docMk/>
            <pc:sldMk cId="2766454393" sldId="257"/>
            <ac:spMk id="4" creationId="{72B426B6-A02E-F758-7A2B-554FFF354A1A}"/>
          </ac:spMkLst>
        </pc:spChg>
      </pc:sldChg>
      <pc:sldChg chg="modSp mod">
        <pc:chgData name="HENRY LUCKY" userId="9f9f0d3b-fafb-4a1f-811e-e1ce60336648" providerId="ADAL" clId="{87B23BC5-493B-58B6-9C8D-8C75A953FAD3}" dt="2026-06-29T07:23:30.482" v="89"/>
        <pc:sldMkLst>
          <pc:docMk/>
          <pc:sldMk cId="1889462471" sldId="258"/>
        </pc:sldMkLst>
        <pc:spChg chg="mod">
          <ac:chgData name="HENRY LUCKY" userId="9f9f0d3b-fafb-4a1f-811e-e1ce60336648" providerId="ADAL" clId="{87B23BC5-493B-58B6-9C8D-8C75A953FAD3}" dt="2026-06-29T07:23:22.313" v="88" actId="20577"/>
          <ac:spMkLst>
            <pc:docMk/>
            <pc:sldMk cId="1889462471" sldId="258"/>
            <ac:spMk id="3" creationId="{0002D373-5BC5-C51D-92C2-C090C3857861}"/>
          </ac:spMkLst>
        </pc:spChg>
        <pc:spChg chg="mod">
          <ac:chgData name="HENRY LUCKY" userId="9f9f0d3b-fafb-4a1f-811e-e1ce60336648" providerId="ADAL" clId="{87B23BC5-493B-58B6-9C8D-8C75A953FAD3}" dt="2026-06-29T07:23:30.482" v="89"/>
          <ac:spMkLst>
            <pc:docMk/>
            <pc:sldMk cId="1889462471" sldId="258"/>
            <ac:spMk id="4" creationId="{72B426B6-A02E-F758-7A2B-554FFF354A1A}"/>
          </ac:spMkLst>
        </pc:spChg>
      </pc:sldChg>
      <pc:sldChg chg="modSp add mod">
        <pc:chgData name="HENRY LUCKY" userId="9f9f0d3b-fafb-4a1f-811e-e1ce60336648" providerId="ADAL" clId="{87B23BC5-493B-58B6-9C8D-8C75A953FAD3}" dt="2026-06-29T07:23:05.352" v="85" actId="20577"/>
        <pc:sldMkLst>
          <pc:docMk/>
          <pc:sldMk cId="2798017351" sldId="308"/>
        </pc:sldMkLst>
        <pc:spChg chg="mod">
          <ac:chgData name="HENRY LUCKY" userId="9f9f0d3b-fafb-4a1f-811e-e1ce60336648" providerId="ADAL" clId="{87B23BC5-493B-58B6-9C8D-8C75A953FAD3}" dt="2026-06-29T07:23:05.352" v="85" actId="20577"/>
          <ac:spMkLst>
            <pc:docMk/>
            <pc:sldMk cId="2798017351" sldId="308"/>
            <ac:spMk id="4" creationId="{745252B4-FE66-7440-E951-F2F81180C8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EFDA2-C940-421B-CDEF-BEEE29D6F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D71B6-85A7-E600-C488-C474656DFE9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CE0687-B933-56FE-91A8-7AFB2BA8320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5871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18</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fontScale="90000"/>
          </a:bodyPr>
          <a:lstStyle/>
          <a:p>
            <a:r>
              <a:rPr lang="en-US" dirty="0"/>
              <a:t>Dynamic Programming: Matrix Chain Multiplication</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18</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This session addresses </a:t>
            </a:r>
            <a:r>
              <a:rPr lang="en-ID" b="1" dirty="0"/>
              <a:t>LO 1</a:t>
            </a:r>
            <a:r>
              <a:rPr lang="en-ID" dirty="0"/>
              <a:t> and </a:t>
            </a:r>
            <a:r>
              <a:rPr lang="en-ID" b="1" dirty="0"/>
              <a:t>LO 3</a:t>
            </a:r>
            <a:r>
              <a:rPr lang="en-ID" dirty="0"/>
              <a:t>.</a:t>
            </a:r>
          </a:p>
          <a:p>
            <a:r>
              <a:rPr lang="en-ID" b="1" dirty="0"/>
              <a:t>LO 1:</a:t>
            </a:r>
            <a:r>
              <a:rPr lang="en-ID" dirty="0"/>
              <a:t> Evaluate the time and space complexity of algorithms using asymptotic notation and formal analysis methods, and prove algorithm correctness using loop invariants, induction, or exchange arguments.</a:t>
            </a:r>
          </a:p>
          <a:p>
            <a:r>
              <a:rPr lang="en-ID" b="1" dirty="0"/>
              <a:t>LO 3:</a:t>
            </a:r>
            <a:r>
              <a:rPr lang="en-ID" dirty="0"/>
              <a:t> Design solutions to unfamiliar computational problems by selecting and applying appropriate strategies including Divide and Conquer, Greedy, Dynamic Programming, and Backtracking.</a:t>
            </a:r>
            <a:br>
              <a:rPr lang="en-ID" dirty="0"/>
            </a:br>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1C10-7CEF-E340-B41A-6335B1107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C3679-0FD3-26E4-2C0B-A0CB5ED89D11}"/>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C396F5EE-043E-4A5E-2FD5-1AE6197C410F}"/>
              </a:ext>
            </a:extLst>
          </p:cNvPr>
          <p:cNvSpPr>
            <a:spLocks noGrp="1"/>
          </p:cNvSpPr>
          <p:nvPr>
            <p:ph type="body" sz="quarter" idx="10"/>
          </p:nvPr>
        </p:nvSpPr>
        <p:spPr/>
        <p:txBody>
          <a:bodyPr/>
          <a:lstStyle/>
          <a:p>
            <a:r>
              <a:rPr lang="en-ID" dirty="0"/>
              <a:t>Session 18</a:t>
            </a:r>
          </a:p>
        </p:txBody>
      </p:sp>
      <p:sp>
        <p:nvSpPr>
          <p:cNvPr id="4" name="Content Placeholder 3">
            <a:extLst>
              <a:ext uri="{FF2B5EF4-FFF2-40B4-BE49-F238E27FC236}">
                <a16:creationId xmlns:a16="http://schemas.microsoft.com/office/drawing/2014/main" id="{745252B4-FE66-7440-E951-F2F81180C807}"/>
              </a:ext>
            </a:extLst>
          </p:cNvPr>
          <p:cNvSpPr>
            <a:spLocks noGrp="1"/>
          </p:cNvSpPr>
          <p:nvPr>
            <p:ph sz="quarter" idx="11"/>
          </p:nvPr>
        </p:nvSpPr>
        <p:spPr/>
        <p:txBody>
          <a:bodyPr>
            <a:normAutofit/>
          </a:bodyPr>
          <a:lstStyle/>
          <a:p>
            <a:pPr marL="0" indent="0">
              <a:buNone/>
            </a:pPr>
            <a:r>
              <a:rPr lang="en-ID" dirty="0"/>
              <a:t>By the end of this session, students will be able to:</a:t>
            </a:r>
          </a:p>
          <a:p>
            <a:r>
              <a:rPr lang="en-ID" dirty="0"/>
              <a:t>LO 1 - Evaluate O(n³) complexity for matrix chain multiplication and optimal BST; verify that filling the DP table by chain length (diagonal order) correctly satisfies the data dependency between </a:t>
            </a:r>
            <a:r>
              <a:rPr lang="en-ID" dirty="0" err="1"/>
              <a:t>dp</a:t>
            </a:r>
            <a:r>
              <a:rPr lang="en-ID" dirty="0"/>
              <a:t>[</a:t>
            </a:r>
            <a:r>
              <a:rPr lang="en-ID" dirty="0" err="1"/>
              <a:t>i</a:t>
            </a:r>
            <a:r>
              <a:rPr lang="en-ID" dirty="0"/>
              <a:t>][k] and </a:t>
            </a:r>
            <a:r>
              <a:rPr lang="en-ID" dirty="0" err="1"/>
              <a:t>dp</a:t>
            </a:r>
            <a:r>
              <a:rPr lang="en-ID" dirty="0"/>
              <a:t>[k+1][j].</a:t>
            </a:r>
          </a:p>
          <a:p>
            <a:r>
              <a:rPr lang="en-ID" dirty="0"/>
              <a:t>LO 3 - Design interval DP for matrix chain; design optimal BST DP using e[</a:t>
            </a:r>
            <a:r>
              <a:rPr lang="en-ID" dirty="0" err="1"/>
              <a:t>i</a:t>
            </a:r>
            <a:r>
              <a:rPr lang="en-ID" dirty="0"/>
              <a:t>][j] and w[</a:t>
            </a:r>
            <a:r>
              <a:rPr lang="en-ID" dirty="0" err="1"/>
              <a:t>i</a:t>
            </a:r>
            <a:r>
              <a:rPr lang="en-ID" dirty="0"/>
              <a:t>][j] recurrences; apply interval DP as a general pattern for range-decomposition problems.</a:t>
            </a:r>
          </a:p>
        </p:txBody>
      </p:sp>
    </p:spTree>
    <p:extLst>
      <p:ext uri="{BB962C8B-B14F-4D97-AF65-F5344CB8AC3E}">
        <p14:creationId xmlns:p14="http://schemas.microsoft.com/office/powerpoint/2010/main" val="279801735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18</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Matrix Chain Multiplication — Interval DP</a:t>
            </a:r>
          </a:p>
          <a:p>
            <a:r>
              <a:rPr lang="en-ID" dirty="0"/>
              <a:t>Optimal Binary Search Tree</a:t>
            </a:r>
          </a:p>
          <a:p>
            <a:r>
              <a:rPr lang="en-ID" dirty="0"/>
              <a:t>Interval DP as a Generalization</a:t>
            </a:r>
          </a:p>
          <a:p>
            <a:r>
              <a:rPr lang="en-ID" dirty="0"/>
              <a:t>DP Problem Recognition — Identifying the Right State Definition</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4369</TotalTime>
  <Words>2430</Words>
  <Application>Microsoft Macintosh PowerPoint</Application>
  <PresentationFormat>Custom</PresentationFormat>
  <Paragraphs>210</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Dynamic Programming: Matrix Chain Multiplication</vt:lpstr>
      <vt:lpstr>Learning Outcomes</vt:lpstr>
      <vt:lpstr>Learning Outcomes</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2026-06-29T07:23:45Z</dcterms:modified>
</cp:coreProperties>
</file>