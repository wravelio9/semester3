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308" r:id="rId4"/>
    <p:sldId id="258" r:id="rId5"/>
    <p:sldId id="336" r:id="rId6"/>
    <p:sldId id="259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76" r:id="rId17"/>
    <p:sldId id="309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1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11" r:id="rId46"/>
    <p:sldId id="372" r:id="rId47"/>
    <p:sldId id="377" r:id="rId48"/>
    <p:sldId id="373" r:id="rId49"/>
    <p:sldId id="374" r:id="rId50"/>
    <p:sldId id="375" r:id="rId51"/>
    <p:sldId id="316" r:id="rId52"/>
    <p:sldId id="378" r:id="rId53"/>
    <p:sldId id="379" r:id="rId54"/>
    <p:sldId id="380" r:id="rId55"/>
    <p:sldId id="381" r:id="rId56"/>
    <p:sldId id="382" r:id="rId57"/>
    <p:sldId id="383" r:id="rId58"/>
    <p:sldId id="384" r:id="rId59"/>
    <p:sldId id="385" r:id="rId60"/>
    <p:sldId id="386" r:id="rId61"/>
    <p:sldId id="387" r:id="rId62"/>
    <p:sldId id="335" r:id="rId63"/>
    <p:sldId id="278" r:id="rId64"/>
  </p:sldIdLst>
  <p:sldSz cx="24384000" cy="13716000"/>
  <p:notesSz cx="6858000" cy="9144000"/>
  <p:embeddedFontLst>
    <p:embeddedFont>
      <p:font typeface="Cambria Math" panose="02040503050406030204" pitchFamily="18" charset="0"/>
      <p:regular r:id="rId66"/>
    </p:embeddedFont>
    <p:embeddedFont>
      <p:font typeface="OCRB" panose="020B0609020202020204" pitchFamily="49" charset="0"/>
      <p:regular r:id="rId67"/>
    </p:embeddedFont>
    <p:embeddedFont>
      <p:font typeface="Open Sans" panose="020B0606030504020204" pitchFamily="34" charset="0"/>
      <p:regular r:id="rId68"/>
      <p:bold r:id="rId69"/>
      <p:italic r:id="rId70"/>
      <p:boldItalic r:id="rId71"/>
    </p:embeddedFont>
    <p:embeddedFont>
      <p:font typeface="Open Sans ExtraBold" panose="020B0906030804020204" pitchFamily="34" charset="0"/>
      <p:bold r:id="rId72"/>
      <p:italic r:id="rId73"/>
      <p:boldItalic r:id="rId74"/>
    </p:embeddedFont>
    <p:embeddedFont>
      <p:font typeface="Open Sans Light" panose="020B0306030504020204" pitchFamily="34" charset="0"/>
      <p:regular r:id="rId75"/>
      <p:italic r:id="rId76"/>
    </p:embeddedFont>
    <p:embeddedFont>
      <p:font typeface="Open Sans Semibold" panose="020B0706030804020204" pitchFamily="34" charset="0"/>
      <p:regular r:id="rId77"/>
      <p:bold r:id="rId78"/>
      <p:italic r:id="rId79"/>
      <p:boldItalic r:id="rId80"/>
    </p:embeddedFont>
    <p:embeddedFont>
      <p:font typeface="Tahoma" panose="020B0604030504040204" pitchFamily="34" charset="0"/>
      <p:regular r:id="rId81"/>
      <p:bold r:id="rId8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6"/>
    <a:srgbClr val="212121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321DB-3146-41CE-99B5-0436FAD0F360}" v="4" dt="2026-09-06T03:01:32.59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 autoAdjust="0"/>
    <p:restoredTop sz="95584"/>
  </p:normalViewPr>
  <p:slideViewPr>
    <p:cSldViewPr snapToGrid="0" snapToObjects="1">
      <p:cViewPr varScale="1">
        <p:scale>
          <a:sx n="39" d="100"/>
          <a:sy n="39" d="100"/>
        </p:scale>
        <p:origin x="84" y="10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font" Target="fonts/font1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Ananda Putri Masaling" userId="S::nikita.masaling001@binus.ac.id::a17153e9-cd41-4a4e-afcd-ddb53d92623c" providerId="AD" clId="Web-{00000000-0000-0000-0000-000000000000}"/>
    <pc:docChg chg="modSld">
      <pc:chgData name="Nikita Ananda Putri Masaling" userId="S::nikita.masaling001@binus.ac.id::a17153e9-cd41-4a4e-afcd-ddb53d92623c" providerId="AD" clId="Web-{00000000-0000-0000-0000-000000000000}" dt="2026-08-21T06:50:25.581" v="16" actId="1076"/>
      <pc:docMkLst>
        <pc:docMk/>
      </pc:docMkLst>
      <pc:sldChg chg="modSp">
        <pc:chgData name="Nikita Ananda Putri Masaling" userId="S::nikita.masaling001@binus.ac.id::a17153e9-cd41-4a4e-afcd-ddb53d92623c" providerId="AD" clId="Web-{00000000-0000-0000-0000-000000000000}" dt="2026-08-21T06:50:25.581" v="16" actId="1076"/>
        <pc:sldMkLst>
          <pc:docMk/>
          <pc:sldMk cId="3807564589" sldId="256"/>
        </pc:sldMkLst>
        <pc:spChg chg="mod">
          <ac:chgData name="Nikita Ananda Putri Masaling" userId="S::nikita.masaling001@binus.ac.id::a17153e9-cd41-4a4e-afcd-ddb53d92623c" providerId="AD" clId="Web-{00000000-0000-0000-0000-000000000000}" dt="2026-08-21T06:50:25.581" v="16" actId="1076"/>
          <ac:spMkLst>
            <pc:docMk/>
            <pc:sldMk cId="3807564589" sldId="256"/>
            <ac:spMk id="4" creationId="{319DA326-32BB-7EBF-F49C-D0308881B79F}"/>
          </ac:spMkLst>
        </pc:spChg>
      </pc:sldChg>
    </pc:docChg>
  </pc:docChgLst>
  <pc:docChgLst>
    <pc:chgData name="Nikita Ananda Putri Masaling" userId="d889fca3-0297-4ee7-bfd8-ca7480643ec1" providerId="ADAL" clId="{6CE14EBF-465A-4EE6-AAA1-3C065697EFBC}"/>
    <pc:docChg chg="custSel addSld modSld">
      <pc:chgData name="Nikita Ananda Putri Masaling" userId="d889fca3-0297-4ee7-bfd8-ca7480643ec1" providerId="ADAL" clId="{6CE14EBF-465A-4EE6-AAA1-3C065697EFBC}" dt="2026-09-06T03:01:32.628" v="13" actId="27636"/>
      <pc:docMkLst>
        <pc:docMk/>
      </pc:docMkLst>
      <pc:sldChg chg="modSp mod">
        <pc:chgData name="Nikita Ananda Putri Masaling" userId="d889fca3-0297-4ee7-bfd8-ca7480643ec1" providerId="ADAL" clId="{6CE14EBF-465A-4EE6-AAA1-3C065697EFBC}" dt="2026-09-06T03:01:32.628" v="13" actId="27636"/>
        <pc:sldMkLst>
          <pc:docMk/>
          <pc:sldMk cId="3774771954" sldId="278"/>
        </pc:sldMkLst>
        <pc:spChg chg="mod">
          <ac:chgData name="Nikita Ananda Putri Masaling" userId="d889fca3-0297-4ee7-bfd8-ca7480643ec1" providerId="ADAL" clId="{6CE14EBF-465A-4EE6-AAA1-3C065697EFBC}" dt="2026-09-06T03:01:32.628" v="13" actId="27636"/>
          <ac:spMkLst>
            <pc:docMk/>
            <pc:sldMk cId="3774771954" sldId="278"/>
            <ac:spMk id="6" creationId="{CFC03F54-B3BC-80AB-98AC-C3ABDC8D86EE}"/>
          </ac:spMkLst>
        </pc:spChg>
      </pc:sldChg>
      <pc:sldChg chg="modSp">
        <pc:chgData name="Nikita Ananda Putri Masaling" userId="d889fca3-0297-4ee7-bfd8-ca7480643ec1" providerId="ADAL" clId="{6CE14EBF-465A-4EE6-AAA1-3C065697EFBC}" dt="2026-09-06T02:55:59.756" v="0"/>
        <pc:sldMkLst>
          <pc:docMk/>
          <pc:sldMk cId="184663633" sldId="308"/>
        </pc:sldMkLst>
        <pc:spChg chg="mod">
          <ac:chgData name="Nikita Ananda Putri Masaling" userId="d889fca3-0297-4ee7-bfd8-ca7480643ec1" providerId="ADAL" clId="{6CE14EBF-465A-4EE6-AAA1-3C065697EFBC}" dt="2026-09-06T02:55:59.756" v="0"/>
          <ac:spMkLst>
            <pc:docMk/>
            <pc:sldMk cId="184663633" sldId="308"/>
            <ac:spMk id="4" creationId="{316C8106-38DC-428F-D042-636BD720D8EB}"/>
          </ac:spMkLst>
        </pc:spChg>
      </pc:sldChg>
      <pc:sldChg chg="modSp mod">
        <pc:chgData name="Nikita Ananda Putri Masaling" userId="d889fca3-0297-4ee7-bfd8-ca7480643ec1" providerId="ADAL" clId="{6CE14EBF-465A-4EE6-AAA1-3C065697EFBC}" dt="2026-09-06T02:59:00.726" v="4" actId="20577"/>
        <pc:sldMkLst>
          <pc:docMk/>
          <pc:sldMk cId="3059182258" sldId="311"/>
        </pc:sldMkLst>
        <pc:spChg chg="mod">
          <ac:chgData name="Nikita Ananda Putri Masaling" userId="d889fca3-0297-4ee7-bfd8-ca7480643ec1" providerId="ADAL" clId="{6CE14EBF-465A-4EE6-AAA1-3C065697EFBC}" dt="2026-09-06T02:59:00.726" v="4" actId="20577"/>
          <ac:spMkLst>
            <pc:docMk/>
            <pc:sldMk cId="3059182258" sldId="311"/>
            <ac:spMk id="2" creationId="{27C54F46-BB84-CE95-B027-38D44444E6E7}"/>
          </ac:spMkLst>
        </pc:spChg>
      </pc:sldChg>
      <pc:sldChg chg="modSp mod modShow">
        <pc:chgData name="Nikita Ananda Putri Masaling" userId="d889fca3-0297-4ee7-bfd8-ca7480643ec1" providerId="ADAL" clId="{6CE14EBF-465A-4EE6-AAA1-3C065697EFBC}" dt="2026-09-06T03:00:26.204" v="10" actId="729"/>
        <pc:sldMkLst>
          <pc:docMk/>
          <pc:sldMk cId="883759043" sldId="316"/>
        </pc:sldMkLst>
        <pc:spChg chg="mod">
          <ac:chgData name="Nikita Ananda Putri Masaling" userId="d889fca3-0297-4ee7-bfd8-ca7480643ec1" providerId="ADAL" clId="{6CE14EBF-465A-4EE6-AAA1-3C065697EFBC}" dt="2026-09-06T02:59:54.385" v="9" actId="20577"/>
          <ac:spMkLst>
            <pc:docMk/>
            <pc:sldMk cId="883759043" sldId="316"/>
            <ac:spMk id="2" creationId="{1EAD275F-701D-CD05-7C3A-134A11EBA79F}"/>
          </ac:spMkLst>
        </pc:spChg>
      </pc:sldChg>
      <pc:sldChg chg="modSp mod">
        <pc:chgData name="Nikita Ananda Putri Masaling" userId="d889fca3-0297-4ee7-bfd8-ca7480643ec1" providerId="ADAL" clId="{6CE14EBF-465A-4EE6-AAA1-3C065697EFBC}" dt="2026-09-06T02:59:05.410" v="5" actId="20577"/>
        <pc:sldMkLst>
          <pc:docMk/>
          <pc:sldMk cId="2953960386" sldId="372"/>
        </pc:sldMkLst>
        <pc:spChg chg="mod">
          <ac:chgData name="Nikita Ananda Putri Masaling" userId="d889fca3-0297-4ee7-bfd8-ca7480643ec1" providerId="ADAL" clId="{6CE14EBF-465A-4EE6-AAA1-3C065697EFBC}" dt="2026-09-06T02:59:05.410" v="5" actId="20577"/>
          <ac:spMkLst>
            <pc:docMk/>
            <pc:sldMk cId="2953960386" sldId="372"/>
            <ac:spMk id="2" creationId="{B3D030CA-AE49-EF22-16BE-AEB709D87F2C}"/>
          </ac:spMkLst>
        </pc:spChg>
      </pc:sldChg>
      <pc:sldChg chg="modSp mod modShow">
        <pc:chgData name="Nikita Ananda Putri Masaling" userId="d889fca3-0297-4ee7-bfd8-ca7480643ec1" providerId="ADAL" clId="{6CE14EBF-465A-4EE6-AAA1-3C065697EFBC}" dt="2026-09-06T03:00:26.204" v="10" actId="729"/>
        <pc:sldMkLst>
          <pc:docMk/>
          <pc:sldMk cId="846851137" sldId="373"/>
        </pc:sldMkLst>
        <pc:spChg chg="mod">
          <ac:chgData name="Nikita Ananda Putri Masaling" userId="d889fca3-0297-4ee7-bfd8-ca7480643ec1" providerId="ADAL" clId="{6CE14EBF-465A-4EE6-AAA1-3C065697EFBC}" dt="2026-09-06T02:59:11.898" v="6" actId="20577"/>
          <ac:spMkLst>
            <pc:docMk/>
            <pc:sldMk cId="846851137" sldId="373"/>
            <ac:spMk id="2" creationId="{5C467DEA-9BF8-6732-0BF1-DA1FAC15C899}"/>
          </ac:spMkLst>
        </pc:spChg>
      </pc:sldChg>
      <pc:sldChg chg="modSp mod modShow">
        <pc:chgData name="Nikita Ananda Putri Masaling" userId="d889fca3-0297-4ee7-bfd8-ca7480643ec1" providerId="ADAL" clId="{6CE14EBF-465A-4EE6-AAA1-3C065697EFBC}" dt="2026-09-06T03:00:26.204" v="10" actId="729"/>
        <pc:sldMkLst>
          <pc:docMk/>
          <pc:sldMk cId="383487530" sldId="374"/>
        </pc:sldMkLst>
        <pc:spChg chg="mod">
          <ac:chgData name="Nikita Ananda Putri Masaling" userId="d889fca3-0297-4ee7-bfd8-ca7480643ec1" providerId="ADAL" clId="{6CE14EBF-465A-4EE6-AAA1-3C065697EFBC}" dt="2026-09-06T02:59:46.235" v="7" actId="20577"/>
          <ac:spMkLst>
            <pc:docMk/>
            <pc:sldMk cId="383487530" sldId="374"/>
            <ac:spMk id="2" creationId="{18FD9143-6762-00E4-10DF-1B1CE05719A9}"/>
          </ac:spMkLst>
        </pc:spChg>
      </pc:sldChg>
      <pc:sldChg chg="modSp mod modShow">
        <pc:chgData name="Nikita Ananda Putri Masaling" userId="d889fca3-0297-4ee7-bfd8-ca7480643ec1" providerId="ADAL" clId="{6CE14EBF-465A-4EE6-AAA1-3C065697EFBC}" dt="2026-09-06T03:00:26.204" v="10" actId="729"/>
        <pc:sldMkLst>
          <pc:docMk/>
          <pc:sldMk cId="2099177079" sldId="375"/>
        </pc:sldMkLst>
        <pc:spChg chg="mod">
          <ac:chgData name="Nikita Ananda Putri Masaling" userId="d889fca3-0297-4ee7-bfd8-ca7480643ec1" providerId="ADAL" clId="{6CE14EBF-465A-4EE6-AAA1-3C065697EFBC}" dt="2026-09-06T02:59:50.987" v="8" actId="20577"/>
          <ac:spMkLst>
            <pc:docMk/>
            <pc:sldMk cId="2099177079" sldId="375"/>
            <ac:spMk id="2" creationId="{3B817DB7-7933-6BDA-1268-B097972A51B7}"/>
          </ac:spMkLst>
        </pc:spChg>
      </pc:sldChg>
      <pc:sldChg chg="add">
        <pc:chgData name="Nikita Ananda Putri Masaling" userId="d889fca3-0297-4ee7-bfd8-ca7480643ec1" providerId="ADAL" clId="{6CE14EBF-465A-4EE6-AAA1-3C065697EFBC}" dt="2026-09-06T02:57:37.444" v="1"/>
        <pc:sldMkLst>
          <pc:docMk/>
          <pc:sldMk cId="3678845255" sldId="377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1339011393" sldId="378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3068141838" sldId="379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1178892274" sldId="380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2605120730" sldId="381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1456589832" sldId="382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935288936" sldId="383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189394054" sldId="384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2736681494" sldId="385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3573044201" sldId="386"/>
        </pc:sldMkLst>
      </pc:sldChg>
      <pc:sldChg chg="add">
        <pc:chgData name="Nikita Ananda Putri Masaling" userId="d889fca3-0297-4ee7-bfd8-ca7480643ec1" providerId="ADAL" clId="{6CE14EBF-465A-4EE6-AAA1-3C065697EFBC}" dt="2026-09-06T03:01:03.651" v="11"/>
        <pc:sldMkLst>
          <pc:docMk/>
          <pc:sldMk cId="1336741234" sldId="387"/>
        </pc:sldMkLst>
      </pc:sldChg>
    </pc:docChg>
  </pc:docChgLst>
  <pc:docChgLst>
    <pc:chgData name="Nikita Ananda Putri Masaling" userId="d889fca3-0297-4ee7-bfd8-ca7480643ec1" providerId="ADAL" clId="{5AAFE8E2-5E44-54CB-A18C-3BE6DB92F9CC}"/>
    <pc:docChg chg="custSel addSld delSld modSld">
      <pc:chgData name="Nikita Ananda Putri Masaling" userId="d889fca3-0297-4ee7-bfd8-ca7480643ec1" providerId="ADAL" clId="{5AAFE8E2-5E44-54CB-A18C-3BE6DB92F9CC}" dt="2026-09-05T15:45:54.563" v="20" actId="123"/>
      <pc:docMkLst>
        <pc:docMk/>
      </pc:docMkLst>
      <pc:sldChg chg="modSp mod">
        <pc:chgData name="Nikita Ananda Putri Masaling" userId="d889fca3-0297-4ee7-bfd8-ca7480643ec1" providerId="ADAL" clId="{5AAFE8E2-5E44-54CB-A18C-3BE6DB92F9CC}" dt="2026-08-21T05:01:06.182" v="1" actId="27636"/>
        <pc:sldMkLst>
          <pc:docMk/>
          <pc:sldMk cId="3807564589" sldId="256"/>
        </pc:sldMkLst>
        <pc:spChg chg="mod">
          <ac:chgData name="Nikita Ananda Putri Masaling" userId="d889fca3-0297-4ee7-bfd8-ca7480643ec1" providerId="ADAL" clId="{5AAFE8E2-5E44-54CB-A18C-3BE6DB92F9CC}" dt="2026-08-21T05:01:06.182" v="1" actId="27636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Nikita Ananda Putri Masaling" userId="d889fca3-0297-4ee7-bfd8-ca7480643ec1" providerId="ADAL" clId="{5AAFE8E2-5E44-54CB-A18C-3BE6DB92F9CC}" dt="2026-09-05T15:45:54.563" v="20" actId="123"/>
        <pc:sldMkLst>
          <pc:docMk/>
          <pc:sldMk cId="2766454393" sldId="257"/>
        </pc:sldMkLst>
        <pc:spChg chg="mod">
          <ac:chgData name="Nikita Ananda Putri Masaling" userId="d889fca3-0297-4ee7-bfd8-ca7480643ec1" providerId="ADAL" clId="{5AAFE8E2-5E44-54CB-A18C-3BE6DB92F9CC}" dt="2026-09-05T15:45:54.563" v="20" actId="123"/>
          <ac:spMkLst>
            <pc:docMk/>
            <pc:sldMk cId="2766454393" sldId="257"/>
            <ac:spMk id="4" creationId="{72B426B6-A02E-F758-7A2B-554FFF354A1A}"/>
          </ac:spMkLst>
        </pc:spChg>
      </pc:sldChg>
      <pc:sldChg chg="modSp mod">
        <pc:chgData name="Nikita Ananda Putri Masaling" userId="d889fca3-0297-4ee7-bfd8-ca7480643ec1" providerId="ADAL" clId="{5AAFE8E2-5E44-54CB-A18C-3BE6DB92F9CC}" dt="2026-08-21T06:38:02.065" v="16" actId="20577"/>
        <pc:sldMkLst>
          <pc:docMk/>
          <pc:sldMk cId="184663633" sldId="308"/>
        </pc:sldMkLst>
        <pc:spChg chg="mod">
          <ac:chgData name="Nikita Ananda Putri Masaling" userId="d889fca3-0297-4ee7-bfd8-ca7480643ec1" providerId="ADAL" clId="{5AAFE8E2-5E44-54CB-A18C-3BE6DB92F9CC}" dt="2026-08-21T06:38:02.065" v="16" actId="20577"/>
          <ac:spMkLst>
            <pc:docMk/>
            <pc:sldMk cId="184663633" sldId="308"/>
            <ac:spMk id="4" creationId="{316C8106-38DC-428F-D042-636BD720D8EB}"/>
          </ac:spMkLst>
        </pc:spChg>
      </pc:sldChg>
      <pc:sldChg chg="add">
        <pc:chgData name="Nikita Ananda Putri Masaling" userId="d889fca3-0297-4ee7-bfd8-ca7480643ec1" providerId="ADAL" clId="{5AAFE8E2-5E44-54CB-A18C-3BE6DB92F9CC}" dt="2026-08-21T06:39:06.612" v="19"/>
        <pc:sldMkLst>
          <pc:docMk/>
          <pc:sldMk cId="2995251831" sldId="3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9F0F-1683-80E6-B2D6-6374144F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2EB7B-4450-5770-89ED-18DC4FFCA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25671-3F93-EB81-9226-A24BF79A0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64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7294-3D2B-5B50-F109-9F8AD647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769F2-3217-69E7-5FD0-64B6C0C84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F662F-D820-95E5-9D52-E26D90EC6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756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0EBB-19C0-F801-0E44-2906970F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C408E-F397-2F58-E0C0-1900D1E79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39671-4945-C82F-4C11-B159E683F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168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5CEB8-3EFB-ED20-AB62-03568E7E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98B3D-5D24-D505-C288-FF386821E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AC8A-6E25-8902-6DF6-836752C6F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30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CF93A-F0F3-D81C-B16D-94F02723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2052F-7C77-4CC1-0EE1-1821158A4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E6F61-E4B1-570E-71A9-61AE71247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420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1D89-36C9-1702-F9BB-DE31C1EF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401E8-14C7-700A-E74A-CF7BFC0BF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606BF-6C0B-0B98-C6B8-87216FBF1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00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BC5F-920D-F58C-0A60-D6A018A3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EDA46-7840-8760-B83D-6EBD1FA9F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83D34-6521-E4E5-0DEF-BA9677BD6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42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BC76-8385-7CAD-11F5-A79BF6AF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A2094-B87C-5385-8D03-9791DF91F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C5ADC-FB2F-99C4-619B-43E73B365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431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D78E-AB86-7F9D-4491-AE99E7B9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899AF-D9B6-842A-E3D1-1DAC7B3D1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5A44A-08F1-FAD8-FB03-37A139768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8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E088-9CB0-61E4-92A8-0A723635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82529-6A15-E89D-60E9-2B5E79A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7BA3B-AF33-FCD1-4BA8-A6CA7194F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98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FA57-166D-1CFA-F4F9-5F45580D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33143-554C-A04F-00D9-2F47EAAFB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C6E2B-1ECD-209A-ED1E-E36228F27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41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54C9-3B98-831B-9A8F-40172A29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9FBC4-EBE9-E8F8-8C6A-B6C9CCAFB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3CA31-6832-CB1A-F7D4-BFF390ACE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51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6B91E-9949-CC26-0394-88FEF33FD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2BB87-B1AE-BC9F-3D2A-4DA7418A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A43A4-E8B3-DCDA-0AA9-0BE6565CE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34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D441-892E-7D15-2C5C-C5EE7DFE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243E9-2917-A647-8E87-8D42DABAB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E71A8-0EFB-CB00-ECF7-9723474DF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50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50FE-914E-1D7C-9CCA-58EC51EA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F4FE9-1117-EC62-E292-780CB822B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A6F54-5249-1BAF-0190-73EAF4C20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60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0904-0FB8-2741-C1C4-6812FAD6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52E22-7790-AE83-0A25-024545535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010D0-3EAB-8854-7870-E4720FE96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252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D3C3-CBE2-EBB5-8F33-95C343A6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B7CC5-D0E4-6974-5799-B171E19AE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5A26D-AA57-BC3E-CEFD-B2B324EBE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279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2297-E6AC-1AC0-1D02-E3A6356C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5997D-A368-2B58-5F95-85FF99B2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2FC55-B0D2-3C68-057D-EE4F5B4AF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778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336A-38BC-D66F-698D-654F2CAE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E4343-0800-A58E-8A04-0400ABAB5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C991-900E-BA57-5F01-A8ACE3BD2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976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77A7-CD89-4C02-C1EF-DC3B219A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D5E52-9CD7-9820-B460-3A72609AB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77512-3328-C487-840F-C84382E88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869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60CF-7310-3728-B5F2-10C82EBE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3ECDB-7849-D76E-B8AD-1C6EF2E2F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A5EEE-9CAF-AB80-3B53-975232F5F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4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3F41-781C-F8EA-130E-0F69BD2B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8D09B-6158-0661-392D-BE45E1490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59E4B-80E8-E635-1DEC-7F0E3E2FA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61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833B-2CD7-F7A4-47A1-3CB3D680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E9FBE-CBCB-35A6-E201-E86EA2E3E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6FF25-5DF7-7878-04D3-92EE9DCA2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112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E8BED-CE50-FAD3-711A-A1E6047A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65DCE-6518-0EE6-56F8-B3F9DB10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FCA35-515C-8E20-9AFF-2BE0EBB4F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51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EAF44-B7B2-5288-357E-0EA9DB55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57004-CEBC-587B-A39A-2F1C8CD19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C6C0A-F225-DD85-C2E5-6443B0885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491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743F0-5E67-101E-0099-37943E1B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78B71-5398-5CD9-6F23-EDBA097BC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7166E-F4EC-75A1-7338-CB2085896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340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646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9CFD-629B-A726-B8C1-E6340F0E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65426-CB64-8FCE-E3DF-DD0233B35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051E7-96AF-A7EB-1D6A-FC52A17D6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718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0019-A600-B51D-0A89-C204A77C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47E77-691B-C3DB-D51A-D14E4DD73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688DE-8328-3256-6BA7-C2C32432C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24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A8C4-0BF0-CA06-5843-E6D9888F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E89A9-AD15-714B-9FF1-4E770DAA3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68291-83EA-BF25-8A6E-119C170A0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0052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BBB04-4133-296E-380B-3B884F46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74059-B4C6-3E76-B07C-E525DB54F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CC93A-DF4F-801F-FE11-7EE4F4853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880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FF85-E444-61E4-E2A0-30BFC211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B8D76-B7CA-D479-66E4-FE55F8141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55B7B-7979-BA69-C9A7-D742CF20A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280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3E8C-6BD3-6EFC-8A57-E1910327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F900A-1A8A-98F5-BAB2-DD96A2E0B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E570-6A34-11BA-F23E-649B3D2E5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3640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AFB7-5E44-39DB-6127-8203764F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14563-06EB-D0E4-2D56-BDC9E925B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F5786-D1CC-145F-BE96-29DD6BDAD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8479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BD95-D263-00A7-EDE9-FBFEE186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F4C50-3C28-198E-4053-AC642C5A5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A1346-2B0B-E51B-1A6E-78BC75A30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8852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8A00-281A-38B3-3FE0-9AE75184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62A13-D2BC-0F0F-C924-16CAEDEA3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795E3-97A0-801C-6195-BE18C8492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422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5C76-EB56-8D01-0CDC-01AC9C0F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07727-53D0-67BC-2BAC-3C4262697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D0122-DD2B-31CA-3263-36709E475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747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99AC-38A4-047F-2387-EDE3FB36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B480A-0D03-F029-3A77-C31E6E3E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5300F-6AEB-28F3-43BE-48BE4697B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54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1AF6-8389-DB31-21BD-FA67B1E9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BF085-3769-1F18-5721-01BCAC106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C4659-E0AE-6C7B-E5E0-417AE310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37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CDD3-8B8D-4510-055B-4C9B9CD3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AB05A-D784-3554-68B9-F54D167B6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46E87-536E-F787-55AA-5ACF5BE28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1238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279E-03EE-EC56-34DC-5799C7C6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9D8DA-0458-2CEC-D350-C15835678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7C1FA-E91C-0E10-D946-8E91BD1CB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447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0735-3FB6-CA36-D7B2-24A0C3D0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275A2-8B3A-C499-A328-2612DBC8F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CA61A-A008-880E-4F78-FD6C238DC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834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92374-475C-DFC2-E489-6CCDE116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30894-3C27-F6D0-5C93-545B27288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EC84C-C085-4082-46ED-3BCC206B2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939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D9C8-C170-21F7-4D45-DA4B8524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C512E-3AA5-2AD2-7188-B38D8657E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01FE6-8CE3-BD82-7869-C814EC5CA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159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7B9F-7265-9BA7-7917-BEF3FBDB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8C02C-4B7A-C43F-CD3F-CA85DDBFC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7EE7D-CE7F-5E3A-6582-C419E2719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294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646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3E76-1B84-EBC6-BE9F-04F73EF4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1A418-F640-0E06-5579-22A1DEB89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99EDB-E135-2552-ADBD-5B9460CC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2959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F1F1-16FC-A11A-BCA6-D9EB99C0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EADA3-E25D-0136-FE3C-B9E9B7004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55FCD-48AB-B621-EF75-A35C1B0CB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506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EA0A-C8B7-3C3E-C261-2BB9B1B5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9E5DE-5DF0-E6A2-86A5-1907186D9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517E8-9272-E3C6-0B22-E2274C750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658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D5EB-7F8D-29BC-0430-C10D99394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94BAD-637E-45EF-4FA8-100863F50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4D202-9C37-41D0-4C40-7BF77CA40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3947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DAD9-E509-95A1-D69A-D228EADC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693FA-9F5E-D13A-CADC-CF9618B35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60984-B671-D5E2-4D47-A48854305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417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9EDA-4FCB-2B16-D90E-49B18BB6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D9A11-705F-4737-0682-0352BC9C9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F58CA-16B1-664E-FD7E-EA9E45EA7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603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AC67-C603-1DFC-DB45-7C2234A2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938FE-C351-6941-01F5-6565D6C5B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24573-77A3-6D9E-D224-03897EDEA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751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83FA-F037-0C49-727C-BB940EB2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8C61E-CD2C-936E-9784-CA240EC77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84BA4-C838-90F8-D702-76A890ADE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585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1AF6-8389-DB31-21BD-FA67B1E9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BF085-3769-1F18-5721-01BCAC106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C4659-E0AE-6C7B-E5E0-417AE310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37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DS: Graph, Priority Queue &amp;Heap (incl. Space Complexity)</a:t>
            </a:r>
            <a:r>
              <a:rPr lang="en-US" dirty="0"/>
              <a:t>​</a:t>
            </a:r>
            <a:endParaRPr lang="en-ID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79902" y="11538583"/>
            <a:ext cx="5797652" cy="745888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Nikita Ananda Putri </a:t>
            </a:r>
            <a:r>
              <a:rPr lang="en-US" err="1"/>
              <a:t>Masaling</a:t>
            </a:r>
            <a:r>
              <a:rPr lang="en-US"/>
              <a:t>, </a:t>
            </a:r>
            <a:r>
              <a:rPr lang="en-US" err="1"/>
              <a:t>S.Kom</a:t>
            </a:r>
            <a:r>
              <a:rPr lang="en-US"/>
              <a:t>., </a:t>
            </a:r>
            <a:r>
              <a:rPr lang="en-US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ID" dirty="0"/>
              <a:t>At the end of this session, students will be able to:</a:t>
            </a:r>
            <a:r>
              <a:rPr lang="en-US" dirty="0"/>
              <a:t>​</a:t>
            </a:r>
          </a:p>
          <a:p>
            <a:pPr algn="just" fontAlgn="base"/>
            <a:r>
              <a:rPr lang="en-US" dirty="0"/>
              <a:t>LO 1: Evaluate the time and space complexity of algorithms </a:t>
            </a:r>
            <a:r>
              <a:rPr lang="en-US" dirty="0" err="1"/>
              <a:t>usingasymptotic</a:t>
            </a:r>
            <a:r>
              <a:rPr lang="en-US" dirty="0"/>
              <a:t> notation and formal analysis methods, and prove </a:t>
            </a:r>
            <a:r>
              <a:rPr lang="en-US" dirty="0" err="1"/>
              <a:t>algorithmcorrectness</a:t>
            </a:r>
            <a:r>
              <a:rPr lang="en-US" dirty="0"/>
              <a:t> using loop invariants, induction, or exchange arguments.​</a:t>
            </a:r>
          </a:p>
          <a:p>
            <a:pPr algn="just" fontAlgn="base"/>
            <a:r>
              <a:rPr lang="en-US" dirty="0"/>
              <a:t>LO 2: Analyze unfamiliar computational problems by identifying </a:t>
            </a:r>
            <a:r>
              <a:rPr lang="en-US" dirty="0" err="1"/>
              <a:t>theirstructural</a:t>
            </a:r>
            <a:r>
              <a:rPr lang="en-US" dirty="0"/>
              <a:t> properties, classifying them into known algorithmic </a:t>
            </a:r>
            <a:r>
              <a:rPr lang="en-US" dirty="0" err="1"/>
              <a:t>categoriesincluding</a:t>
            </a:r>
            <a:r>
              <a:rPr lang="en-US" dirty="0"/>
              <a:t> graph, string, and combinatorial problems and recommending </a:t>
            </a:r>
            <a:r>
              <a:rPr lang="en-US" dirty="0" err="1"/>
              <a:t>asolution</a:t>
            </a:r>
            <a:r>
              <a:rPr lang="en-US" dirty="0"/>
              <a:t> strategy with justification.​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materials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Representations: Adjacency Matrix vs. Adjacency List</a:t>
            </a:r>
          </a:p>
          <a:p>
            <a:r>
              <a:rPr lang="en-US" dirty="0"/>
              <a:t>Space Complexity Trade-off in Graph Representations</a:t>
            </a:r>
          </a:p>
          <a:p>
            <a:r>
              <a:rPr lang="en-US" dirty="0"/>
              <a:t>Priority Queue: Concept and Interface</a:t>
            </a:r>
          </a:p>
          <a:p>
            <a:r>
              <a:rPr lang="en-US" dirty="0"/>
              <a:t>Heap: Structure, </a:t>
            </a:r>
            <a:r>
              <a:rPr lang="en-US" dirty="0" err="1"/>
              <a:t>Heapify</a:t>
            </a:r>
            <a:r>
              <a:rPr lang="en-US" dirty="0"/>
              <a:t>, Insert, Extract-Max</a:t>
            </a:r>
          </a:p>
          <a:p>
            <a:r>
              <a:rPr lang="en-US" dirty="0"/>
              <a:t>Space Complexity Across Data Structures — Comparative Summary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concept &amp; application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concept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A graph is an </a:t>
            </a:r>
            <a:r>
              <a:rPr lang="en-US" b="1" dirty="0"/>
              <a:t>abstract data structure </a:t>
            </a:r>
            <a:r>
              <a:rPr lang="en-US" dirty="0"/>
              <a:t>that is used to implement the </a:t>
            </a:r>
            <a:r>
              <a:rPr lang="en-US" b="1" dirty="0"/>
              <a:t>mathematical concept </a:t>
            </a:r>
            <a:r>
              <a:rPr lang="en-US" dirty="0"/>
              <a:t>of graphs. </a:t>
            </a:r>
          </a:p>
          <a:p>
            <a:r>
              <a:rPr lang="en-US" dirty="0"/>
              <a:t>It is basically a collection of vertices (also called nodes) and edges that connect these vertices. </a:t>
            </a:r>
          </a:p>
          <a:p>
            <a:r>
              <a:rPr lang="en-US" dirty="0"/>
              <a:t>A graph is often viewed as a </a:t>
            </a:r>
            <a:r>
              <a:rPr lang="en-US" b="1" dirty="0"/>
              <a:t>generalization</a:t>
            </a:r>
            <a:r>
              <a:rPr lang="en-US" dirty="0"/>
              <a:t> of the tree structure, where instead of having a </a:t>
            </a:r>
            <a:r>
              <a:rPr lang="en-US" b="1" dirty="0"/>
              <a:t>purely parent-to-child </a:t>
            </a:r>
            <a:r>
              <a:rPr lang="en-US" dirty="0"/>
              <a:t>relationship between tree nodes, any kind of </a:t>
            </a:r>
            <a:r>
              <a:rPr lang="en-US" b="1" dirty="0"/>
              <a:t>complex rel</a:t>
            </a:r>
            <a:r>
              <a:rPr lang="en-US" dirty="0"/>
              <a:t>ationship can exist. 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9090-4FBA-D892-D21A-65C9666D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6C32-5A9D-864C-B5F3-E06DEC795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concept &amp; application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D468D-0315-A857-ECFB-08C746F04A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Formal definition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DD1681B-6CC7-3B67-5C03-FC0B710EF3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5159331" cy="8129718"/>
          </a:xfrm>
        </p:spPr>
        <p:txBody>
          <a:bodyPr>
            <a:normAutofit/>
          </a:bodyPr>
          <a:lstStyle/>
          <a:p>
            <a:r>
              <a:rPr lang="en-US" dirty="0"/>
              <a:t>A graph G is defined as an ordered set (V, E), where: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V(G) represents the set of vertices and;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E(G) represents the edges that connect these vertices.</a:t>
            </a:r>
          </a:p>
          <a:p>
            <a:r>
              <a:rPr lang="en-US" dirty="0"/>
              <a:t>A graph can be directed or undirected: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In an undirected graph, edges do not have any direction associated with them.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In a directed graph, edges form an ordered pair. </a:t>
            </a:r>
          </a:p>
        </p:txBody>
      </p:sp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BE02E420-453E-DDC6-7439-014E1C82B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6708" y="3714224"/>
            <a:ext cx="4889916" cy="3164063"/>
          </a:xfrm>
          <a:prstGeom prst="rect">
            <a:avLst/>
          </a:prstGeom>
        </p:spPr>
      </p:pic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21EB8D91-9ED3-5450-014F-76C18547F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6708" y="7907701"/>
            <a:ext cx="4889916" cy="3037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90834C-E5C6-07C4-0E9C-6E19B2A9411C}"/>
              </a:ext>
            </a:extLst>
          </p:cNvPr>
          <p:cNvSpPr txBox="1"/>
          <p:nvPr/>
        </p:nvSpPr>
        <p:spPr>
          <a:xfrm>
            <a:off x="16512845" y="6928649"/>
            <a:ext cx="6517642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  <a:sym typeface="Helvetica Neue"/>
              </a:rPr>
              <a:t>Above Graph have V(G)={A, B, C, D, E} and E(G)={(A, B), (A, D), (B, C), (B, D), (C, E), (D, E)}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BF7A3-F721-5B6A-5FA4-44834DFCA84F}"/>
              </a:ext>
            </a:extLst>
          </p:cNvPr>
          <p:cNvSpPr txBox="1"/>
          <p:nvPr/>
        </p:nvSpPr>
        <p:spPr>
          <a:xfrm>
            <a:off x="16336612" y="11008171"/>
            <a:ext cx="6870109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  <a:sym typeface="Helvetica Neue"/>
              </a:rPr>
              <a:t>Above Graph have V(G)={A, B, C, D, E} and E(G)={(A, B), (A, D), (B, D), (C, B), (D, E), (E, C)}</a:t>
            </a:r>
          </a:p>
        </p:txBody>
      </p:sp>
    </p:spTree>
    <p:extLst>
      <p:ext uri="{BB962C8B-B14F-4D97-AF65-F5344CB8AC3E}">
        <p14:creationId xmlns:p14="http://schemas.microsoft.com/office/powerpoint/2010/main" val="27730496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concept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US" dirty="0"/>
              <a:t>There are two most common ways of storing graphs in the computer’s memory: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Sequential representation using </a:t>
            </a:r>
            <a:r>
              <a:rPr lang="en-US" b="1" dirty="0"/>
              <a:t>adjacency matrix</a:t>
            </a:r>
            <a:r>
              <a:rPr lang="en-US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Linked list representation using </a:t>
            </a:r>
            <a:r>
              <a:rPr lang="en-US" b="1" dirty="0"/>
              <a:t>adjacency list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5CBE-3349-54C8-AE03-A8B9F036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7CAA-B331-D20D-B752-3E07A01B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78C24-CA4D-5A54-B7B9-A088385D3B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matrix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75DD9C3E-E6E6-73C5-33B1-215B0F3C14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/>
          <a:lstStyle/>
          <a:p>
            <a:r>
              <a:rPr lang="en-US" dirty="0"/>
              <a:t>An adjacency matrix is used to represent which nodes are adjacent to one another. </a:t>
            </a:r>
          </a:p>
          <a:p>
            <a:r>
              <a:rPr lang="en-US" dirty="0"/>
              <a:t>By definition, two nodes are said to be adjacent if there is an edge connecting them. </a:t>
            </a:r>
          </a:p>
          <a:p>
            <a:r>
              <a:rPr lang="en-US" dirty="0"/>
              <a:t>Here is the rules for adjacency matrix for each entry:</a:t>
            </a:r>
          </a:p>
        </p:txBody>
      </p:sp>
      <p:pic>
        <p:nvPicPr>
          <p:cNvPr id="8" name="Picture 7" descr="A grey rectangular sign with black text&#10;&#10;Description automatically generated">
            <a:extLst>
              <a:ext uri="{FF2B5EF4-FFF2-40B4-BE49-F238E27FC236}">
                <a16:creationId xmlns:a16="http://schemas.microsoft.com/office/drawing/2014/main" id="{E1DAF52D-7941-A1AC-3365-480A0CB47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8358" y="8368323"/>
            <a:ext cx="9107283" cy="29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8741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E249-9A72-901F-BBDF-BBF76DBB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62AB-53FD-98F4-87AE-7E8E49D2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161C6-C1EF-A0A4-134D-A5DBE4594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matrix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F0244-E78D-112A-60AD-97296320C7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/>
          <a:lstStyle/>
          <a:p>
            <a:r>
              <a:rPr lang="en-US" dirty="0"/>
              <a:t>Here is the example of adjacency matrix for various type of graphs:</a:t>
            </a:r>
          </a:p>
        </p:txBody>
      </p:sp>
      <p:pic>
        <p:nvPicPr>
          <p:cNvPr id="9" name="Picture 8" descr="A diagram of a graph&#10;&#10;Description automatically generated">
            <a:extLst>
              <a:ext uri="{FF2B5EF4-FFF2-40B4-BE49-F238E27FC236}">
                <a16:creationId xmlns:a16="http://schemas.microsoft.com/office/drawing/2014/main" id="{D7EE0130-88B1-AF29-F6E4-D56173C39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369" y="4852746"/>
            <a:ext cx="15779262" cy="798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358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4763-116F-5F87-0BEF-D41DFCB0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2C0F-C80F-E718-89EB-26870A53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A62BA-E5D1-B775-CDF5-E506D74B04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matrix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41F3F-5EDE-8685-DBA7-866FF5510A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/>
          <a:lstStyle/>
          <a:p>
            <a:r>
              <a:rPr lang="en-US" dirty="0"/>
              <a:t>From the examples, we can draw the following conclusions: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For a simple graph (that has no loops), the adjacency matrix has 0s on the diagonal.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The adjacency matrix of an undirected graph is symmetric.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Number of 1s (or non-zero entries) in an adjacency matrix is equal to the number of edges in the graph.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The adjacency matrix for a weighted graph contains the weights of the edges connecting the nodes. </a:t>
            </a:r>
          </a:p>
        </p:txBody>
      </p:sp>
    </p:spTree>
    <p:extLst>
      <p:ext uri="{BB962C8B-B14F-4D97-AF65-F5344CB8AC3E}">
        <p14:creationId xmlns:p14="http://schemas.microsoft.com/office/powerpoint/2010/main" val="372537986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0418-7065-7E52-0C17-34BB3E0F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63E5-029C-2AF8-E66C-CB4EB445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B3468-CA67-957D-3A13-2DDCCFFBAD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D9C844D-413E-B865-C63E-87950D3579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/>
          <a:p>
            <a:r>
              <a:rPr lang="en-US" dirty="0"/>
              <a:t>This structure consists of a list of all nodes in G. </a:t>
            </a:r>
          </a:p>
          <a:p>
            <a:r>
              <a:rPr lang="en-US" dirty="0"/>
              <a:t>Furthermore, every node is in turn linked to its own list that contains the names of all other nodes that are adjacent to it. </a:t>
            </a:r>
          </a:p>
        </p:txBody>
      </p:sp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0AA6E90F-682A-3E25-2F42-5840F3533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336" y="6858000"/>
            <a:ext cx="13977327" cy="44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6595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B7E0-0CD6-B84C-8A18-D43301F1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24C4-91AC-12DD-BC1E-9712651E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D30C3-F892-07E3-4839-99B36D7A6D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757B5EEB-5583-E5C7-453D-416A3B4C95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key advantages of using an adjacency list are: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It is easy to follow and clearly shows the adjacent nodes of a particular node.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It is often used for storing graphs that have a small-to-moderate number of edges.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Adjacency list is preferred for representing sparse graphs in the computer’s memory; otherwise, an adjacency matrix is a good choice.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Adding new nodes in G is easy and straightforward when G is represented using an adjacency list. Adding new nodes in an adjacency matrix is a difficult task, as the size of the matrix needs to be changed and existing nodes may have to be reordered.</a:t>
            </a:r>
          </a:p>
        </p:txBody>
      </p:sp>
    </p:spTree>
    <p:extLst>
      <p:ext uri="{BB962C8B-B14F-4D97-AF65-F5344CB8AC3E}">
        <p14:creationId xmlns:p14="http://schemas.microsoft.com/office/powerpoint/2010/main" val="133354946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16F6-D9BA-5E7B-27B5-642E93B8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0A63-92F0-5D6A-7583-CA374B33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C36C3-BF64-AA63-1F31-6B9272FB2E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list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05410-31C4-EBB2-AAAF-748584CAD7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/>
          <a:p>
            <a:r>
              <a:rPr lang="en-US" dirty="0"/>
              <a:t>Here is example of adjacency list with undirected graph:</a:t>
            </a:r>
          </a:p>
          <a:p>
            <a:endParaRPr lang="en-US" dirty="0"/>
          </a:p>
        </p:txBody>
      </p:sp>
      <p:pic>
        <p:nvPicPr>
          <p:cNvPr id="8" name="Picture 7" descr="A diagram of a graph&#10;&#10;Description automatically generated">
            <a:extLst>
              <a:ext uri="{FF2B5EF4-FFF2-40B4-BE49-F238E27FC236}">
                <a16:creationId xmlns:a16="http://schemas.microsoft.com/office/drawing/2014/main" id="{DCE7E10B-CB85-31AF-65E0-11148C3CAA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845"/>
          <a:stretch/>
        </p:blipFill>
        <p:spPr>
          <a:xfrm>
            <a:off x="2907323" y="5205025"/>
            <a:ext cx="18569354" cy="641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328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B62F6-2C92-E3DC-51A3-5F8CAD6B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80B4-884F-0F55-F36B-705631AC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65C5D-DC5C-E299-1487-46786B999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Adjacency list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C77782C-B5BC-B8EC-D3F0-BBE3DD79BAC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/>
          <a:p>
            <a:r>
              <a:rPr lang="en-US" dirty="0"/>
              <a:t>Here is example of adjacency list with weighted directed graph: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 descr="A diagram of a graph&#10;&#10;Description automatically generated">
            <a:extLst>
              <a:ext uri="{FF2B5EF4-FFF2-40B4-BE49-F238E27FC236}">
                <a16:creationId xmlns:a16="http://schemas.microsoft.com/office/drawing/2014/main" id="{5C385CE6-7D17-C327-AAD4-CB9FEF03AF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54"/>
          <a:stretch/>
        </p:blipFill>
        <p:spPr>
          <a:xfrm>
            <a:off x="2907323" y="5099655"/>
            <a:ext cx="18370134" cy="573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667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99DA8-7C69-7814-7BD5-E4AAF71E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1311-21A9-507A-615A-37E708B0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30BC0-193B-76D4-4539-1A7BAF25B6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8FF21BAF-447F-51AD-BFED-4B76C8E12E9F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309300" cy="812971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Space Complexity: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Adjacency List: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Adjacency Matrix: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8FF21BAF-447F-51AD-BFED-4B76C8E12E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309300" cy="8129718"/>
              </a:xfrm>
              <a:blipFill>
                <a:blip r:embed="rId3"/>
                <a:stretch>
                  <a:fillRect l="-1389" t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63677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91A1-9EBE-1F09-3CF6-6D4F7120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2016-B2B9-E664-5064-6C256D80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6B3BA-E2A5-E28A-4395-836B3BABEC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Complexity analysis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1525529-EED7-5B41-208E-F4932F8541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/>
          <a:lstStyle/>
          <a:p>
            <a:r>
              <a:rPr lang="en-US" dirty="0"/>
              <a:t>Worst-case time complexity of operations in a Graph: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Discuss the explanation with your friends and confirm to your lecturer.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92A4B41-1947-5680-BC6A-031C38E1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495334"/>
                  </p:ext>
                </p:extLst>
              </p:nvPr>
            </p:nvGraphicFramePr>
            <p:xfrm>
              <a:off x="2167377" y="4632960"/>
              <a:ext cx="20049246" cy="5242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16730">
                      <a:extLst>
                        <a:ext uri="{9D8B030D-6E8A-4147-A177-3AD203B41FA5}">
                          <a16:colId xmlns:a16="http://schemas.microsoft.com/office/drawing/2014/main" val="3665509535"/>
                        </a:ext>
                      </a:extLst>
                    </a:gridCol>
                    <a:gridCol w="3944138">
                      <a:extLst>
                        <a:ext uri="{9D8B030D-6E8A-4147-A177-3AD203B41FA5}">
                          <a16:colId xmlns:a16="http://schemas.microsoft.com/office/drawing/2014/main" val="441434923"/>
                        </a:ext>
                      </a:extLst>
                    </a:gridCol>
                    <a:gridCol w="3688378">
                      <a:extLst>
                        <a:ext uri="{9D8B030D-6E8A-4147-A177-3AD203B41FA5}">
                          <a16:colId xmlns:a16="http://schemas.microsoft.com/office/drawing/2014/main" val="19217153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Operations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Adjacency Matrix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Adjacency List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8154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Check if there is an edge between two vertices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3804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Add an edge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5714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Remove an edge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9255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Find all neighbors of a vertex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26090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Iterate over all edges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44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4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en-US" sz="44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896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92A4B41-1947-5680-BC6A-031C38E1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495334"/>
                  </p:ext>
                </p:extLst>
              </p:nvPr>
            </p:nvGraphicFramePr>
            <p:xfrm>
              <a:off x="2167377" y="4632960"/>
              <a:ext cx="20049246" cy="5242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16730">
                      <a:extLst>
                        <a:ext uri="{9D8B030D-6E8A-4147-A177-3AD203B41FA5}">
                          <a16:colId xmlns:a16="http://schemas.microsoft.com/office/drawing/2014/main" val="3665509535"/>
                        </a:ext>
                      </a:extLst>
                    </a:gridCol>
                    <a:gridCol w="3944138">
                      <a:extLst>
                        <a:ext uri="{9D8B030D-6E8A-4147-A177-3AD203B41FA5}">
                          <a16:colId xmlns:a16="http://schemas.microsoft.com/office/drawing/2014/main" val="441434923"/>
                        </a:ext>
                      </a:extLst>
                    </a:gridCol>
                    <a:gridCol w="3688378">
                      <a:extLst>
                        <a:ext uri="{9D8B030D-6E8A-4147-A177-3AD203B41FA5}">
                          <a16:colId xmlns:a16="http://schemas.microsoft.com/office/drawing/2014/main" val="1921715307"/>
                        </a:ext>
                      </a:extLst>
                    </a:gridCol>
                  </a:tblGrid>
                  <a:tr h="143256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Operations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Adjacency Matrix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Adjacency List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81548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Check if there is an edge between two vertices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301" t="-204000" r="-94281" b="-438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4132" t="-204000" r="-826" b="-438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380469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Add an edge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301" t="-304000" r="-94281" b="-338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4132" t="-304000" r="-826" b="-338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57141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Remove an edge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301" t="-404000" r="-94281" b="-238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4132" t="-404000" r="-826" b="-238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9255839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Find all neighbors of a vertex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301" t="-504000" r="-94281" b="-138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4132" t="-504000" r="-826" b="-138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2609079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Iterate over all edges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7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301" t="-604000" r="-94281" b="-38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4132" t="-604000" r="-826" b="-38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1896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027056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8D92-E916-BAD4-A9E1-1E166982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2723-49E7-8419-D534-A6F9CEB0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Representations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75860-2C4E-4D63-C8DE-501E7E4EE8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Space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3E5E4-D1A9-BE8C-D361-6C10133CF3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dirty="0"/>
              <a:t>For a sparse graph (E = O(V)), adjacency list uses O(V) space vs. O(V²) for the matrix — a factor-of-V improvement.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ACE015-2C55-6315-37F1-F86789AAFF5D}"/>
              </a:ext>
            </a:extLst>
          </p:cNvPr>
          <p:cNvGraphicFramePr>
            <a:graphicFrameLocks noGrp="1"/>
          </p:cNvGraphicFramePr>
          <p:nvPr/>
        </p:nvGraphicFramePr>
        <p:xfrm>
          <a:off x="2346281" y="3913007"/>
          <a:ext cx="1625600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854191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488541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565043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61372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Representation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Edge check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Iterate neighbors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14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Adjacency matrix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O(V²)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6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Adjacency list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 + E)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O(deg(u))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O(deg(u))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00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25183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concept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US" dirty="0"/>
              <a:t>By traversing a graph, we mean the method of examining the nodes and edges of the graph. </a:t>
            </a:r>
          </a:p>
          <a:p>
            <a:r>
              <a:rPr lang="en-US" dirty="0"/>
              <a:t>There are two standard methods of graph traversal which we will discuss in this section: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Breadth-first Search: Use queue as auxiliary data structure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Depth-first Search: Use stack as auxiliary data structure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Both these algorithms make use of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2974395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5845F-F473-A7A2-5F02-C4AF9956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13E9-D879-8F1A-6668-C36D6EEA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08BB-1283-AAA5-3929-A408B96B3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concept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7240CB8-C5D8-B52C-F65B-2F1FBDE35F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/>
          <a:p>
            <a:r>
              <a:rPr lang="en-US" dirty="0"/>
              <a:t>Every node in the graph will have the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en-US" dirty="0"/>
              <a:t>, depending its current state: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B18C09-CCBB-E964-5C2B-B1DA15D3C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677772"/>
              </p:ext>
            </p:extLst>
          </p:nvPr>
        </p:nvGraphicFramePr>
        <p:xfrm>
          <a:off x="2907323" y="5374640"/>
          <a:ext cx="17959754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631">
                  <a:extLst>
                    <a:ext uri="{9D8B030D-6E8A-4147-A177-3AD203B41FA5}">
                      <a16:colId xmlns:a16="http://schemas.microsoft.com/office/drawing/2014/main" val="985991799"/>
                    </a:ext>
                  </a:extLst>
                </a:gridCol>
                <a:gridCol w="4360984">
                  <a:extLst>
                    <a:ext uri="{9D8B030D-6E8A-4147-A177-3AD203B41FA5}">
                      <a16:colId xmlns:a16="http://schemas.microsoft.com/office/drawing/2014/main" val="2517709004"/>
                    </a:ext>
                  </a:extLst>
                </a:gridCol>
                <a:gridCol w="11043139">
                  <a:extLst>
                    <a:ext uri="{9D8B030D-6E8A-4147-A177-3AD203B41FA5}">
                      <a16:colId xmlns:a16="http://schemas.microsoft.com/office/drawing/2014/main" val="55591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Status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State of the 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Description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07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Ready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initial state of 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05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Waiting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Node N is placed on the queue or 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3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Processed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Node N has been 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18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13400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4207AF3-53EC-F976-A723-D22F7A74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890A-42CA-37CC-F179-E0411174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D2839-D11A-C70F-35D2-91BFA7BA16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</a:t>
            </a:r>
          </a:p>
          <a:p>
            <a:endParaRPr lang="en-ID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6E2110B-41D9-E058-EE1D-AC4D3E020B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/>
          <a:p>
            <a:r>
              <a:rPr lang="en-US" dirty="0"/>
              <a:t>Breadth-first search (BFS) is a graph search algorithm that begins at the root node and explores all the neighboring nodes. </a:t>
            </a:r>
          </a:p>
          <a:p>
            <a:r>
              <a:rPr lang="en-US" dirty="0"/>
              <a:t>Then for each of those nearest nodes, the algorithm explores their unexplored neighbor nodes, and so on, until it finds the goal. </a:t>
            </a:r>
          </a:p>
        </p:txBody>
      </p:sp>
    </p:spTree>
    <p:extLst>
      <p:ext uri="{BB962C8B-B14F-4D97-AF65-F5344CB8AC3E}">
        <p14:creationId xmlns:p14="http://schemas.microsoft.com/office/powerpoint/2010/main" val="235850774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C79F66-6493-B58C-9D3F-AF3A8CEE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6580-B7D4-CD0E-C1A1-96B5309A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C455D-DC5C-3659-F484-BC25D2E88B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algorithm</a:t>
            </a:r>
          </a:p>
          <a:p>
            <a:endParaRPr lang="en-ID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43612CA-83BF-63B3-3779-74D568F1EB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1: SET STATUS = 1 (ready state) for each node in G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2: Enqueue the starting node A and set its STATUS = 2 (waiting state)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3: Repeat Steps 4 and 5 until QUEUE is empty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4: Dequeue a node N. Process it and set its STATUS = 3 (processed state).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5: Enqueue all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neighbours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of N that are in the ready state (whose STATUS = 1) and set their STATUS = 2 (waiting state) [END OF LOOP]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6: EXIT </a:t>
            </a:r>
          </a:p>
        </p:txBody>
      </p:sp>
    </p:spTree>
    <p:extLst>
      <p:ext uri="{BB962C8B-B14F-4D97-AF65-F5344CB8AC3E}">
        <p14:creationId xmlns:p14="http://schemas.microsoft.com/office/powerpoint/2010/main" val="182901533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E7CF61-03F1-8C2C-3E16-CEF18ED5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92D7-A210-775A-BB55-C9AA4127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6CB38-F478-53A0-BE5E-1031C53731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4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B9F0C2FC-9B8F-0F5B-AA9B-3CBEE316D33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677" y="3714224"/>
            <a:ext cx="8792308" cy="7807840"/>
          </a:xfr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69D1BC5-95A5-ECE1-F7DC-4780DDFD6781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309300" cy="8129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742950" marR="0" lvl="0" indent="-742950" algn="l" defTabSz="2438338" rtl="0" eaLnBrk="1" fontAlgn="auto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D" sz="44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Let’s consider this graph to use BFS.</a:t>
            </a:r>
          </a:p>
        </p:txBody>
      </p:sp>
    </p:spTree>
    <p:extLst>
      <p:ext uri="{BB962C8B-B14F-4D97-AF65-F5344CB8AC3E}">
        <p14:creationId xmlns:p14="http://schemas.microsoft.com/office/powerpoint/2010/main" val="399423072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259352-9B29-8D70-4CA7-60BDE700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803A-BAB2-DF72-1704-00F18483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EE6C5-606A-0A91-9338-A3A873125B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BBCE88E3-FF06-A76E-4D10-9D03C819539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B6804C-92F0-D765-9417-A503980901B9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08156B-2ADA-317C-898A-ABCD650FA866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3530695-4749-EBF2-87AD-E6AAF8ADEBFF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no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297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0A8C98-4BB7-5726-33DD-1EE8EADC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713E-6175-4FB9-99B2-902B3D23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284B9-3698-466B-A878-EA18F1F0D9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577990B2-D322-4D83-B348-D170AB35448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A25581-C5E1-48CA-5A0F-856673B1540D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9084E93-E910-507D-3F5D-712CCBDCF7B2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1901CA-EFA6-AB6E-3508-6FA44A2147E1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no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91323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B7FC68-035B-BC3A-C3EA-4CFD7FF6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6703-4921-5DD9-8EEA-C6DC6388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A7F4C-3C31-7412-E2FE-033E9F9C5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7C85D3F8-D1A7-771B-6CA3-0FDBA34CEBC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4F0A40-86B2-EBB9-0B58-A25C95B6C5B5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F7455A-7C58-042B-A6DD-FFB91571B3EA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44ED79-680E-6DD3-B8F0-B430C929DE53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04401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5D57A9-3629-701C-3E69-E1DFED1D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D202-573B-5B9C-83AF-60B151F6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1F6F4-8914-48D3-C63A-BB0D85916F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50958363-64AE-7DCA-F8AF-2152E6743E7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541AB2-60B5-73AF-9E2E-2F5C091D3F4B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40E320-311B-3DF8-32AB-96E5032D422F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D3DCE8F-9D13-6B7B-B42A-E2EEF7CE1DCC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29390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DBE1BE-3813-4284-C7BA-50411A60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7EB0-E464-C3F3-2C1F-23DC2583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84F97-662F-8E1C-46E1-3B4C814348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6480AC6E-2CA0-F169-036D-D95112427A6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A56FC7-7B6D-21A7-3BDA-82BF9ED5ECAD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943048-3BBF-BB90-212B-8F8C2B647213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6AF995-7E1C-D05E-B697-06C9D2848DD4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80591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C4F7-3593-3217-AD39-C0DFBA69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F1B8-8464-4FCA-F29E-8C64E11C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542D5-7487-16F0-A796-230B11138F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AC87CA8E-58FF-5073-6716-5B8B456495E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9A2D74-165B-91A2-CAD7-228F23714C23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A9139E8-A9EB-6C06-A6F9-2A0D8FED2BB4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9E266FC-013E-7FC7-6988-1E380EDF3F7A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81798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044148-ACAD-594D-1FFF-C2EAB1CEE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9181-807E-F9D4-1F8A-75516B75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2C841-6801-8C7A-4ADB-6645801CEB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F30B1889-5E55-2B1E-175E-E4D490B80F4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1BA333-C23F-C409-5894-BFE6AA766D34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B3C458-98A8-C635-CEDE-D30D70049311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F512BB-5CDD-A2BC-D79C-E6EB0250ECA3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66573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6586B3-EBD6-A12C-10FB-C0A72A14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DE5F-4138-B867-EA15-20E4A0C1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4C512-9451-1928-DDB3-538D4C20A0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177FAA87-62DE-A399-3392-0AA12DCC01E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C76F6B-EA24-7B7E-ECE8-12A121AC7E85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F8B8EA9-60CA-9876-9E42-260187299A6D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D18D599-59A8-382F-937B-45D625F1CBC8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20130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505A7D-7608-4CC8-8011-8B48F47A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68D8-1B71-DE78-124F-50E674EC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D2927-AB50-A5C0-1B93-9942C6B39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C53DF3CC-9D33-C2A6-0548-D86AFDAF398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51DF89-CEE5-57DE-D5EE-04D75CDAE0E5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D4F091-BE6F-8F25-0F04-6005C8BFB1C3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1678CB-7A6D-93CB-55BE-2AF61B2A72B6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7949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EFAE3B-3BB7-6A35-F918-EE17DB92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A33C0-2728-F986-C87A-BFBDE624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0E9E6-0C6B-2FC0-5071-40DF79A3D8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5020C19E-8F64-1F7A-7E22-D5233A55B02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F4D828-6B5A-5A7C-9EFF-6A22A727C3AF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98FFBB-27B5-BAA7-DC5C-2ED91BA3AA5A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76720CE-15C6-9A66-0DE7-01FD61661CD6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99424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9EB0EF-6725-E6CD-8886-697896A6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22AE-FF72-D458-2776-48C96FF3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3734B-9822-29B0-5907-C6A5AABF2A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Breadth-first search: example</a:t>
            </a:r>
          </a:p>
          <a:p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59EFD5C1-698E-D1BA-7EE4-103771A10EC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051FE0-19A7-AD17-2986-4F7B37FD9980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sng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1E631C-FFF1-2F4C-D160-348CC30199F0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65C9F03-671E-B2F4-EB3D-C5CE312BD9D6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92451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A2B02-806B-2F5C-F7B8-6C3FC90FA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algorithm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1: SET STATUS = 1 (ready state) for each node in G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2: Push the starting node A on the stack and set its STATUS = 2 (waiting state)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3: Repeat Steps 4 and 5 until STACK is empty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4: Pop the top node N. Process it and set its STATUS = 3 (processed state)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5: Push on the stack all the neighbors of N that are in the ready state (whose STATUS = 1) and set their STATUS = 2 (waiting state)</a:t>
            </a:r>
          </a:p>
          <a:p>
            <a:pPr marL="7560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[END OF LOOP]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6: EXIT </a:t>
            </a:r>
          </a:p>
        </p:txBody>
      </p:sp>
    </p:spTree>
    <p:extLst>
      <p:ext uri="{BB962C8B-B14F-4D97-AF65-F5344CB8AC3E}">
        <p14:creationId xmlns:p14="http://schemas.microsoft.com/office/powerpoint/2010/main" val="59354031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142B53-63EC-E19B-51AD-1C9EABF9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E241-F2A6-17B5-85B2-57029F30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4F538-7AEF-1CB4-3C0F-D3355976CA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5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0180E327-EBF2-1708-3B89-45D59E3009C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677" y="3714224"/>
            <a:ext cx="8792308" cy="7807840"/>
          </a:xfr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5AB448-85E1-E2B9-F6E7-DDE764F0A0D2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309300" cy="8129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742950" marR="0" lvl="0" indent="-742950" algn="l" defTabSz="2438338" rtl="0" eaLnBrk="1" fontAlgn="auto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D" sz="44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Let’s consider this graph to use DFS.</a:t>
            </a:r>
          </a:p>
          <a:p>
            <a:pPr marL="742950" marR="0" lvl="0" indent="-742950" algn="l" defTabSz="2438338" rtl="0" eaLnBrk="1" fontAlgn="auto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D" sz="44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We will do with starting vertex H.</a:t>
            </a:r>
          </a:p>
        </p:txBody>
      </p:sp>
    </p:spTree>
    <p:extLst>
      <p:ext uri="{BB962C8B-B14F-4D97-AF65-F5344CB8AC3E}">
        <p14:creationId xmlns:p14="http://schemas.microsoft.com/office/powerpoint/2010/main" val="394277307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8B5ECA-6790-5DA2-DA3D-4262C28E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BB16-9321-2AB2-D9B5-810B0041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15902-57B4-87E9-2472-F3D38DCD69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A5EA0873-7ECF-0D57-6914-67864258C4F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AB09D5-0906-6BF3-4F27-34542CACC118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44C646-355A-BA37-1997-5C0620561528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952AA0E-0BDB-3B3E-464C-AE37ABA52353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no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23251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E19E39-6205-7814-478C-7E197994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AAFE-20A2-76ED-2982-87C4E505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22860-84B5-AB4A-E91F-519E26035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033FEA75-2C24-DE3E-C6F9-818BD84FCB7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F7DDA6-FDA4-13A1-F29E-0F5A0C3DD1E4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534C41-5D75-35DF-93CB-99F9F9E4F0F9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4A1334-D757-4189-640E-97B73FDE15B7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strike="noStrike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17501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4855A9-BD64-2DCC-6A7B-CD80CCC9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800C-ED5E-DE5D-6681-C48B7353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49042-6B10-65AA-A1F0-1D540A6B2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1188A412-2925-1EFC-E921-CA00A493FFB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3FE2FA-8CF8-7CC4-B93D-4EE7ED738F90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5E00A40-3180-4035-E9C4-E61BA6527CFF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CC3042-82A2-1358-6643-6E37831A4A7D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60605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107C82-D844-C262-206C-CCF3BB1F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0A0B-1CCD-3818-C795-363B6F65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E892D-E81D-046B-BAB4-A22C1DD7F2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36AF7092-2525-5F3E-3DE9-AA9FEB1CBE2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089F35-C7C8-83D5-727B-08CD42F95480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F1FBB2-9377-4642-5693-81D3D9B802FE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B19E727-9A93-D641-8376-A3F378778D03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3412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B11488-A8E1-0FFD-953C-DCF7D50E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3659F-0ADD-0B6C-0DD3-CD3C7FF8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8562B-149D-BD7C-5A4C-9629B3399C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305C2B8C-FBEE-89C2-0734-63C6EF8120C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2B8702-9735-50FB-AD93-8E3ABFE2F4C9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5E78BFE-B1BA-A969-222C-3317C426985F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3298D4D-6058-325B-3678-1C3BF65E8226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92910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271140-45F0-6FC0-53BD-10DE1473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EEB4-00BA-3BD9-AEB6-C92AEF37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495A1-FED6-F669-D631-52DE37A0C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701C6361-9FC9-1DAF-4A9D-CF81C00A434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5CAF6C-4B80-4D76-3D0E-ECA7CE6997F1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C409C6-BEE8-2E4B-EC84-3B5186F72001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6F50212-FA94-A0A1-FBF0-CA7785BB02B3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99125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889B50-91CD-7514-97E1-59D34DAC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BD79-8C97-C301-4C62-E5AF1CAC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48A6F-C025-E912-E46A-A20241CE36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5CACC886-4569-9C14-DC93-A0014597C5C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D80EA7E-F290-0556-AE61-6DBB4232B2B4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8817E6-EBE5-BB7C-9913-1A445075926C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694A5D-B0F9-93CB-DCDF-5B39C8F55D1C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35883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94FA87-0C8E-4177-D620-20294E54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A38E-A10F-4CD7-D27B-53C1FBDF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FF36-57F7-B7AB-55AF-F29091E8F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49CE6887-3635-48ED-6362-19E867625AB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30B90B-560E-3952-D966-309D3C4A682B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626539-520D-7E2F-A4DE-2A0696725694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A45D8B0-42C2-4B91-59C4-18D2E1961C1E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365572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F006EF-6466-8F99-3F3D-E89BC3AC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6DC1-E30F-4EB1-080C-76E7BFC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421C3-6E60-9E39-0673-DA62ECB46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8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0985519A-2835-590A-47BC-4F0230B91B7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846" y="4036102"/>
            <a:ext cx="8792308" cy="7807840"/>
          </a:xfr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8BC8D7-A7D3-A928-A0E4-2374C91315DD}"/>
              </a:ext>
            </a:extLst>
          </p:cNvPr>
          <p:cNvGraphicFramePr>
            <a:graphicFrameLocks noGrp="1"/>
          </p:cNvGraphicFramePr>
          <p:nvPr/>
        </p:nvGraphicFramePr>
        <p:xfrm>
          <a:off x="17232922" y="4036102"/>
          <a:ext cx="2399324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E8D3D9-0187-CA0C-4E13-D9E472A74302}"/>
              </a:ext>
            </a:extLst>
          </p:cNvPr>
          <p:cNvGraphicFramePr>
            <a:graphicFrameLocks noGrp="1"/>
          </p:cNvGraphicFramePr>
          <p:nvPr/>
        </p:nvGraphicFramePr>
        <p:xfrm>
          <a:off x="2167377" y="4036102"/>
          <a:ext cx="4798648" cy="77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9324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  <a:gridCol w="2399324">
                  <a:extLst>
                    <a:ext uri="{9D8B030D-6E8A-4147-A177-3AD203B41FA5}">
                      <a16:colId xmlns:a16="http://schemas.microsoft.com/office/drawing/2014/main" val="3854883459"/>
                    </a:ext>
                  </a:extLst>
                </a:gridCol>
              </a:tblGrid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Node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751553"/>
                  </a:ext>
                </a:extLst>
              </a:tr>
              <a:tr h="779275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0560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EA067F-06BF-91DC-CE4C-7E438AF1BBFE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27572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E77CD3-C1F3-8ED4-896F-F71D14D81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8856-28A2-73A4-0C71-65D9FA92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Graph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1C1A8-670F-B3DD-6C16-CB91684C1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search: example</a:t>
            </a:r>
            <a:endParaRPr lang="en-ID" dirty="0"/>
          </a:p>
        </p:txBody>
      </p:sp>
      <p:pic>
        <p:nvPicPr>
          <p:cNvPr id="6" name="Content Placeholder 5" descr="A diagram of a network&#10;&#10;Description automatically generated">
            <a:extLst>
              <a:ext uri="{FF2B5EF4-FFF2-40B4-BE49-F238E27FC236}">
                <a16:creationId xmlns:a16="http://schemas.microsoft.com/office/drawing/2014/main" id="{30EB9F4B-92E6-94DD-D301-A775726DAD6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616" y="4036102"/>
            <a:ext cx="8792308" cy="780784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080C22-8B00-845F-04D2-017388D9F8A7}"/>
              </a:ext>
            </a:extLst>
          </p:cNvPr>
          <p:cNvGraphicFramePr>
            <a:graphicFrameLocks noGrp="1"/>
          </p:cNvGraphicFramePr>
          <p:nvPr/>
        </p:nvGraphicFramePr>
        <p:xfrm>
          <a:off x="20277014" y="4021012"/>
          <a:ext cx="2629878" cy="780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9878">
                  <a:extLst>
                    <a:ext uri="{9D8B030D-6E8A-4147-A177-3AD203B41FA5}">
                      <a16:colId xmlns:a16="http://schemas.microsoft.com/office/drawing/2014/main" val="3266138525"/>
                    </a:ext>
                  </a:extLst>
                </a:gridCol>
              </a:tblGrid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Processed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652485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5273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165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190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06501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G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44545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803856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55838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9193"/>
                  </a:ext>
                </a:extLst>
              </a:tr>
              <a:tr h="780784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641742"/>
                  </a:ext>
                </a:extLst>
              </a:tr>
            </a:tbl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FB1F12D-0EA6-2B1D-EC1B-FA2C6258E1E8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8102038" cy="8129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742950" marR="0" lvl="0" indent="-742950" algn="l" defTabSz="2438338" rtl="0" eaLnBrk="1" fontAlgn="auto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D" sz="44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Here we can see that node A and D is not touched.</a:t>
            </a:r>
          </a:p>
          <a:p>
            <a:pPr marL="742950" marR="0" lvl="0" indent="-742950" algn="l" defTabSz="2438338" rtl="0" eaLnBrk="1" fontAlgn="auto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D" sz="44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It means that they are not reachable from node H.</a:t>
            </a:r>
          </a:p>
        </p:txBody>
      </p:sp>
    </p:spTree>
    <p:extLst>
      <p:ext uri="{BB962C8B-B14F-4D97-AF65-F5344CB8AC3E}">
        <p14:creationId xmlns:p14="http://schemas.microsoft.com/office/powerpoint/2010/main" val="3066983826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6CCF-E5FA-2229-9959-917CD67F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4F46-BB84-CE95-B027-38D44444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3DF66-1869-8375-0401-259721391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A398B-BB08-C147-12A5-4EE9148A7C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Is the further development of the concept of Queue</a:t>
            </a:r>
          </a:p>
          <a:p>
            <a:pPr>
              <a:lnSpc>
                <a:spcPct val="150000"/>
              </a:lnSpc>
            </a:pPr>
            <a:r>
              <a:rPr lang="en-US" dirty="0"/>
              <a:t>Is a queue that each component consists of (key, value)</a:t>
            </a:r>
          </a:p>
          <a:p>
            <a:pPr>
              <a:lnSpc>
                <a:spcPct val="150000"/>
              </a:lnSpc>
            </a:pPr>
            <a:r>
              <a:rPr lang="en-US" dirty="0"/>
              <a:t>Priority Queue Example applications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Queue prospective passenger aircraft standby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Stock market</a:t>
            </a:r>
            <a:endParaRPr lang="en-US" sz="600" dirty="0">
              <a:solidFill>
                <a:srgbClr val="3399FF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182258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2BA7A-9BF7-5D83-BFFB-1410E201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30CA-AE49-EF22-16BE-AEB709D8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E1E5B-F30F-3E99-1DF1-93BFC2CD7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4572B-5831-A4F5-3753-4588EA7A481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Several Implementations of Priority Queue gives different worst-case time complexity:</a:t>
                </a:r>
              </a:p>
              <a:p>
                <a:pPr lvl="1"/>
                <a:r>
                  <a:rPr lang="en-US" dirty="0"/>
                  <a:t>Unordered List:</a:t>
                </a:r>
              </a:p>
              <a:p>
                <a:pPr lvl="2">
                  <a:buFont typeface="Wingdings" pitchFamily="2" charset="2"/>
                  <a:buChar char="Ø"/>
                </a:pPr>
                <a:r>
                  <a:rPr lang="en-US" dirty="0"/>
                  <a:t>PUSH(x):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pPr lvl="2">
                  <a:buFont typeface="Wingdings" pitchFamily="2" charset="2"/>
                  <a:buChar char="Ø"/>
                </a:pPr>
                <a:r>
                  <a:rPr lang="en-US" dirty="0"/>
                  <a:t>POP(), GETMINKEY():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Ordered List:</a:t>
                </a:r>
              </a:p>
              <a:p>
                <a:pPr lvl="2">
                  <a:buFont typeface="Wingdings" pitchFamily="2" charset="2"/>
                  <a:buChar char="Ø"/>
                </a:pPr>
                <a:r>
                  <a:rPr lang="en-US" dirty="0"/>
                  <a:t>PUSH(x):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>
                  <a:buFont typeface="Wingdings" pitchFamily="2" charset="2"/>
                  <a:buChar char="Ø"/>
                </a:pPr>
                <a:r>
                  <a:rPr lang="en-US" dirty="0"/>
                  <a:t>POP(), GETMINKEY():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4572B-5831-A4F5-3753-4588EA7A4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9" r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96038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565C-1511-28A0-C172-708CFE79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2747-E351-CFB8-031C-9D196F31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EBA71-1148-1547-7B67-897A6F62BC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applications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59718-04C3-DA88-0869-F678CC0F08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dirty="0"/>
              <a:t>Job scheduling: always process the highest-priority task next.</a:t>
            </a:r>
          </a:p>
          <a:p>
            <a:pPr marL="673100" indent="-571500" algn="just"/>
            <a:r>
              <a:rPr lang="en-US" dirty="0"/>
              <a:t>Dijkstra's algorithm: always relax the nearest unvisited vertex (Session 20).</a:t>
            </a:r>
          </a:p>
          <a:p>
            <a:pPr marL="673100" indent="-571500" algn="just"/>
            <a:r>
              <a:rPr lang="en-US" dirty="0"/>
              <a:t>Prim's MST: always add the minimum-weight edge to the tree (Session 11).</a:t>
            </a:r>
          </a:p>
          <a:p>
            <a:pPr marL="673100" indent="-571500" algn="just"/>
            <a:r>
              <a:rPr lang="en-US" dirty="0"/>
              <a:t>Huffman coding: always merge the two lowest-frequency trees (Session 12).</a:t>
            </a:r>
          </a:p>
          <a:p>
            <a:pPr marL="673100" indent="-571500" algn="just"/>
            <a:r>
              <a:rPr lang="en-US" dirty="0"/>
              <a:t>Event simulation: always process the earliest event.</a:t>
            </a:r>
          </a:p>
        </p:txBody>
      </p:sp>
    </p:spTree>
    <p:extLst>
      <p:ext uri="{BB962C8B-B14F-4D97-AF65-F5344CB8AC3E}">
        <p14:creationId xmlns:p14="http://schemas.microsoft.com/office/powerpoint/2010/main" val="3678845255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69116D-6C53-F92E-54E9-5A94C3B6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7DEA-9BF8-6732-0BF1-DA1FAC15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5285C-0BAE-7E00-73BA-B6BD99799E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FC38D-76E5-5727-4C29-9C36AF4B619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Heap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Is a Complete Binary Tree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values ​​at each node is eligible to Minimum Heap or Maximum Heap. </a:t>
            </a:r>
          </a:p>
        </p:txBody>
      </p:sp>
    </p:spTree>
    <p:extLst>
      <p:ext uri="{BB962C8B-B14F-4D97-AF65-F5344CB8AC3E}">
        <p14:creationId xmlns:p14="http://schemas.microsoft.com/office/powerpoint/2010/main" val="846851137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889032-6EDF-0559-5F70-D695F6FD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9143-6762-00E4-10DF-1B1CE057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E6CF1-6571-6022-CA3A-0E8220B875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heap</a:t>
            </a:r>
          </a:p>
        </p:txBody>
      </p:sp>
      <p:pic>
        <p:nvPicPr>
          <p:cNvPr id="8" name="Picture 13" descr="ilustrasi 4">
            <a:extLst>
              <a:ext uri="{FF2B5EF4-FFF2-40B4-BE49-F238E27FC236}">
                <a16:creationId xmlns:a16="http://schemas.microsoft.com/office/drawing/2014/main" id="{0DEE299C-09FA-FE0E-C362-DBE63D2D1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67377" y="3697909"/>
            <a:ext cx="15885492" cy="8226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48753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03B01A-0375-81BD-335C-5BB4CA80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7DB7-7933-6BDA-1268-B097972A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15F08-EA44-8940-11BF-8DA71931B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Pq</a:t>
            </a:r>
            <a:r>
              <a:rPr lang="en-ID" dirty="0"/>
              <a:t> using heap</a:t>
            </a:r>
          </a:p>
        </p:txBody>
      </p:sp>
      <p:pic>
        <p:nvPicPr>
          <p:cNvPr id="5" name="Picture 4" descr="ilustrasi 4">
            <a:extLst>
              <a:ext uri="{FF2B5EF4-FFF2-40B4-BE49-F238E27FC236}">
                <a16:creationId xmlns:a16="http://schemas.microsoft.com/office/drawing/2014/main" id="{C1E8311F-7C2B-DD57-F16D-93AA29ADD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67377" y="3678051"/>
            <a:ext cx="19309300" cy="79276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9177079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6BB9BE-3505-CFBE-F09A-D7F09304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275F-701D-CD05-7C3A-134A11EBA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Priority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60DB-D1F3-C48F-6FAA-8A2FA6530F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F5A1DA-64ED-0B4C-73B5-EE32F32717FF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When using Heap, Priority Queue has the following worst-case time complexity: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PUSH(x):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because the </a:t>
                </a:r>
                <a:r>
                  <a:rPr lang="en-US" dirty="0" err="1"/>
                  <a:t>UpHeap</a:t>
                </a:r>
                <a:r>
                  <a:rPr lang="en-US" dirty="0"/>
                  <a:t> operation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POP():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because the </a:t>
                </a:r>
                <a:r>
                  <a:rPr lang="en-US" dirty="0" err="1"/>
                  <a:t>DownHeap</a:t>
                </a:r>
                <a:r>
                  <a:rPr lang="en-US" dirty="0"/>
                  <a:t> operation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GETMINKEY():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2F5A1DA-64ED-0B4C-73B5-EE32F3271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75904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A2B02-806B-2F5C-F7B8-6C3FC90FA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</a:t>
            </a:r>
            <a:r>
              <a:rPr lang="en-US" b="1" dirty="0"/>
              <a:t>(max-)heap </a:t>
            </a:r>
            <a:r>
              <a:rPr lang="en-US" dirty="0"/>
              <a:t>is a nearly complete binary tree stored as an array A[1..n] satisfying the </a:t>
            </a:r>
            <a:r>
              <a:rPr lang="en-US" b="1" dirty="0"/>
              <a:t>max-heap property:</a:t>
            </a:r>
          </a:p>
          <a:p>
            <a:pPr marL="101600" indent="0" algn="just">
              <a:buNone/>
            </a:pPr>
            <a:r>
              <a:rPr lang="en-US" dirty="0"/>
              <a:t>A[PARENT(</a:t>
            </a:r>
            <a:r>
              <a:rPr lang="en-US" dirty="0" err="1"/>
              <a:t>i</a:t>
            </a:r>
            <a:r>
              <a:rPr lang="en-US" dirty="0"/>
              <a:t>)] ≥ A[</a:t>
            </a:r>
            <a:r>
              <a:rPr lang="en-US" dirty="0" err="1"/>
              <a:t>i</a:t>
            </a:r>
            <a:r>
              <a:rPr lang="en-US" dirty="0"/>
              <a:t>] for all </a:t>
            </a:r>
            <a:r>
              <a:rPr lang="en-US" dirty="0" err="1"/>
              <a:t>i</a:t>
            </a:r>
            <a:r>
              <a:rPr lang="en-US" dirty="0"/>
              <a:t> &gt; 1.</a:t>
            </a:r>
          </a:p>
          <a:p>
            <a:pPr marL="101600" indent="0" algn="just">
              <a:buNone/>
            </a:pPr>
            <a:r>
              <a:rPr lang="en-US" dirty="0"/>
              <a:t>Equivalently, the key of every node is ≥ the keys of its children. The maximum element is always at A[1].</a:t>
            </a:r>
          </a:p>
        </p:txBody>
      </p:sp>
    </p:spTree>
    <p:extLst>
      <p:ext uri="{BB962C8B-B14F-4D97-AF65-F5344CB8AC3E}">
        <p14:creationId xmlns:p14="http://schemas.microsoft.com/office/powerpoint/2010/main" val="1339011393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C37F-8F8A-C341-6363-092461BC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C969-3809-53A8-21CE-FAF178A72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1AC5A-4F6D-87E9-EC89-4EF13624C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9EAEF-045A-B025-C53B-70CA601667B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Array representation (CLRS, p. 161):</a:t>
            </a:r>
          </a:p>
          <a:p>
            <a:pPr marL="673100" indent="-571500" algn="just"/>
            <a:r>
              <a:rPr lang="en-US" dirty="0"/>
              <a:t>PARENT(</a:t>
            </a:r>
            <a:r>
              <a:rPr lang="en-US" dirty="0" err="1"/>
              <a:t>i</a:t>
            </a:r>
            <a:r>
              <a:rPr lang="en-US" dirty="0"/>
              <a:t>) = ⌊</a:t>
            </a:r>
            <a:r>
              <a:rPr lang="en-US" dirty="0" err="1"/>
              <a:t>i</a:t>
            </a:r>
            <a:r>
              <a:rPr lang="en-US" dirty="0"/>
              <a:t>/2⌋</a:t>
            </a:r>
          </a:p>
          <a:p>
            <a:pPr marL="673100" indent="-571500" algn="just"/>
            <a:r>
              <a:rPr lang="en-US" dirty="0"/>
              <a:t>LEFT(</a:t>
            </a:r>
            <a:r>
              <a:rPr lang="en-US" dirty="0" err="1"/>
              <a:t>i</a:t>
            </a:r>
            <a:r>
              <a:rPr lang="en-US" dirty="0"/>
              <a:t>) = 2i</a:t>
            </a:r>
          </a:p>
          <a:p>
            <a:pPr marL="673100" indent="-571500" algn="just"/>
            <a:r>
              <a:rPr lang="en-US" dirty="0"/>
              <a:t>RIGHT(</a:t>
            </a:r>
            <a:r>
              <a:rPr lang="en-US" dirty="0" err="1"/>
              <a:t>i</a:t>
            </a:r>
            <a:r>
              <a:rPr lang="en-US" dirty="0"/>
              <a:t>) = 2i + 1</a:t>
            </a:r>
          </a:p>
          <a:p>
            <a:pPr marL="101600" indent="0" algn="just">
              <a:buNone/>
            </a:pPr>
            <a:r>
              <a:rPr lang="en-US" dirty="0"/>
              <a:t>Example: A = [16, 14, 10, 8, 7, 9, 3, 2, 4, 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2D3B6-B027-7208-A4F4-EF49E154AE3F}"/>
              </a:ext>
            </a:extLst>
          </p:cNvPr>
          <p:cNvSpPr/>
          <p:nvPr/>
        </p:nvSpPr>
        <p:spPr>
          <a:xfrm>
            <a:off x="2414193" y="9156027"/>
            <a:ext cx="4006485" cy="2687915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        16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      /    \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    14       10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   /  \     /  \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  8    7   9    3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 / \  /</a:t>
            </a:r>
          </a:p>
          <a:p>
            <a:pPr algn="l">
              <a:buNone/>
            </a:pPr>
            <a:r>
              <a:rPr lang="en-ID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 2   4 1</a:t>
            </a:r>
          </a:p>
        </p:txBody>
      </p:sp>
    </p:spTree>
    <p:extLst>
      <p:ext uri="{BB962C8B-B14F-4D97-AF65-F5344CB8AC3E}">
        <p14:creationId xmlns:p14="http://schemas.microsoft.com/office/powerpoint/2010/main" val="3068141838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E641-8D20-0A3A-DF32-03C54F05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2E2D-EE64-63A4-7836-ADBA9484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D112D-D3AF-17A6-8C88-12790FBF8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MAX-HEAPIFY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52B8D-9765-3887-BE14-77B47AC5C5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Restores the max-heap property at node </a:t>
            </a:r>
            <a:r>
              <a:rPr lang="en-US" dirty="0" err="1"/>
              <a:t>i</a:t>
            </a:r>
            <a:r>
              <a:rPr lang="en-US" dirty="0"/>
              <a:t>, assuming both subtrees are already valid heaps.</a:t>
            </a:r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Time: </a:t>
            </a:r>
            <a:r>
              <a:rPr lang="en-US" dirty="0"/>
              <a:t>O(log n) — the recursion descends at most h = ⌊log₂ n⌋ levels.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A95C35-4643-E3FC-4574-252E600CF5CC}"/>
              </a:ext>
            </a:extLst>
          </p:cNvPr>
          <p:cNvSpPr/>
          <p:nvPr/>
        </p:nvSpPr>
        <p:spPr>
          <a:xfrm>
            <a:off x="2414193" y="5410731"/>
            <a:ext cx="11778885" cy="3057247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MAX-HEAPIFY(A,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l = LEFT(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), r = RIGHT(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if l ≤ n and A[l] &gt;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]: largest = l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else: largest =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endParaRPr lang="en-US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if r ≤ n and A[r] &gt; A[largest]: largest = r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if largest ≠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endParaRPr lang="en-US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6      swap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and A[largest]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7      MAX-HEAPIFY(A, largest, n)</a:t>
            </a:r>
          </a:p>
        </p:txBody>
      </p:sp>
    </p:spTree>
    <p:extLst>
      <p:ext uri="{BB962C8B-B14F-4D97-AF65-F5344CB8AC3E}">
        <p14:creationId xmlns:p14="http://schemas.microsoft.com/office/powerpoint/2010/main" val="1178892274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BAFE-A0B9-A5FB-B6EE-7E8933EA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850E-AFEC-75A9-1803-76294683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E2E4B-8E92-856D-A0FA-1F808BA1FC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BUILD-MAX-HEAP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44CEB-E71C-18E8-3A04-3D1A90A836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Converts an arbitrary array into a max-heap.</a:t>
            </a:r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Time: </a:t>
            </a:r>
            <a:r>
              <a:rPr lang="en-US" dirty="0"/>
              <a:t>O(n) — although each of the O(n) calls to MAX-HEAPIFY costs O(log n), a tighter analysis shows the total is O(n) because most nodes are near the leaves.</a:t>
            </a:r>
          </a:p>
          <a:p>
            <a:pPr marL="101600" indent="0" algn="just">
              <a:buNone/>
            </a:pPr>
            <a:r>
              <a:rPr lang="en-US" b="1" dirty="0"/>
              <a:t>Tight analysis: </a:t>
            </a:r>
            <a:r>
              <a:rPr lang="en-US" dirty="0"/>
              <a:t>∑_{h=0}^{⌊log n⌋} ⌈n/2^(h+1)⌉ · O(h) = O(n · ∑_{h=0}^{∞} h/2^h) = O(n · 2) = O(n).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353468-B113-508C-E36F-61F6E2FA8733}"/>
              </a:ext>
            </a:extLst>
          </p:cNvPr>
          <p:cNvSpPr/>
          <p:nvPr/>
        </p:nvSpPr>
        <p:spPr>
          <a:xfrm>
            <a:off x="2414193" y="4555159"/>
            <a:ext cx="6451511" cy="1210588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BUILD-MAX-HEAP(A,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for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⌊n/2⌋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downto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    MAX-HEAPIFY(A,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, n)</a:t>
            </a:r>
          </a:p>
        </p:txBody>
      </p:sp>
    </p:spTree>
    <p:extLst>
      <p:ext uri="{BB962C8B-B14F-4D97-AF65-F5344CB8AC3E}">
        <p14:creationId xmlns:p14="http://schemas.microsoft.com/office/powerpoint/2010/main" val="2605120730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7CC3-81AA-D8AD-F1D2-E77BBE16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B437-EBC9-56CB-911A-8EB21BD1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6D64D-6B76-F0B7-AF1A-D76F99CB96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Heap Operations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F19A6-9F1D-6C59-4734-27100D7F8A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HEAP-EXTRACT-MAX: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dirty="0"/>
              <a:t>Time: O(log n).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962910-1F99-E19E-2EB9-E157A0396FD7}"/>
              </a:ext>
            </a:extLst>
          </p:cNvPr>
          <p:cNvSpPr/>
          <p:nvPr/>
        </p:nvSpPr>
        <p:spPr>
          <a:xfrm>
            <a:off x="2414193" y="4793698"/>
            <a:ext cx="8876659" cy="2687915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HEAP-EXTRACT-MAX(A,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n &lt; 1: error "heap underflow"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max = A[1]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A[1] = A[n]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n = n - 1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MAX-HEAPIFY(A, 1,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6  return max</a:t>
            </a:r>
          </a:p>
        </p:txBody>
      </p:sp>
    </p:spTree>
    <p:extLst>
      <p:ext uri="{BB962C8B-B14F-4D97-AF65-F5344CB8AC3E}">
        <p14:creationId xmlns:p14="http://schemas.microsoft.com/office/powerpoint/2010/main" val="1456589832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7B7D4-FE2E-3530-5B78-F0F4AE39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ADE7-4AC9-B16A-8D64-73D99416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3D55E-2C12-670F-942A-20B01B65E1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Heap Operations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0C02B-DDAA-B637-89B0-262710853A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lnSpcReduction="10000"/>
          </a:bodyPr>
          <a:lstStyle/>
          <a:p>
            <a:pPr marL="101600" indent="0" algn="just">
              <a:buNone/>
            </a:pPr>
            <a:r>
              <a:rPr lang="en-US" b="1" dirty="0"/>
              <a:t>MAX-HEAP-INSERT: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b="1" dirty="0"/>
              <a:t>HEAP-INCREASE-KEY: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dirty="0"/>
              <a:t>Time: O(log n) — bubbles up at most O(log n) levels.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6BBF34-4E0C-B175-2F5E-54B00D407FE8}"/>
              </a:ext>
            </a:extLst>
          </p:cNvPr>
          <p:cNvSpPr/>
          <p:nvPr/>
        </p:nvSpPr>
        <p:spPr>
          <a:xfrm>
            <a:off x="2414193" y="4751347"/>
            <a:ext cx="8876659" cy="1579920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MAX-HEAP-INSERT(A, key,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n = n + 1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A[n] = -∞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HEAP-INCREASE-KEY(A, n, key)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C20EFB-4C93-9D26-00C9-76BDED825B6B}"/>
              </a:ext>
            </a:extLst>
          </p:cNvPr>
          <p:cNvSpPr/>
          <p:nvPr/>
        </p:nvSpPr>
        <p:spPr>
          <a:xfrm>
            <a:off x="2414193" y="8048031"/>
            <a:ext cx="9135078" cy="3795911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MAX-HEAP-INHEAP-INCREASE-KEY(A,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, key)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key &lt;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]: error "new key is smaller"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= key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while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&gt; 1 and A[PARENT(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)] &lt;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swap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and A[PARENT(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   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PARENT(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SERT(A, key,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n = n + 1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A[n] = -∞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HEAP-INCREASE-KEY(A, n, key)</a:t>
            </a:r>
          </a:p>
        </p:txBody>
      </p:sp>
    </p:spTree>
    <p:extLst>
      <p:ext uri="{BB962C8B-B14F-4D97-AF65-F5344CB8AC3E}">
        <p14:creationId xmlns:p14="http://schemas.microsoft.com/office/powerpoint/2010/main" val="935288936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2A6C-220E-A7ED-432D-845E8CC5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99A2-FB3B-D1D4-06FD-0813C8B3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40506-96C9-6399-7591-D2EDE22A4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DECREASE-KEY for Min-Heap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27D48-0190-3399-2EB7-E7697CE1D7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For algorithms like Dijkstra and Prim, the critical operation is </a:t>
            </a:r>
            <a:r>
              <a:rPr lang="en-US" b="1" dirty="0"/>
              <a:t>DECREASE-KEY:</a:t>
            </a:r>
            <a:r>
              <a:rPr lang="en-US" dirty="0"/>
              <a:t> reduce the key of an existing element and restore the heap property. The following is the min-heap version (CLRS Ch. 6.5, p. 163):</a:t>
            </a:r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Time: </a:t>
            </a:r>
            <a:r>
              <a:rPr lang="en-US" dirty="0"/>
              <a:t>O(log n) — the element moves up at most h = ⌊log₂ n⌋ levels.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0DF05-FEAD-6817-B17D-E6AD475C01A7}"/>
              </a:ext>
            </a:extLst>
          </p:cNvPr>
          <p:cNvSpPr/>
          <p:nvPr/>
        </p:nvSpPr>
        <p:spPr>
          <a:xfrm>
            <a:off x="2414193" y="6006331"/>
            <a:ext cx="9135078" cy="3426579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MIN-HEAP-DECREASE-KEY(A,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, key)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key &gt;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]: error "new key is larger than current key"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= key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// Sift up: bubble the decreased key toward the root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while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&gt; 1 and A[PARENT(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)] &gt;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5      swap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and A[PARENT(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6     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PARENT(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394054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1F3C-87A1-8083-245D-03DE87CE5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EB40-428E-FF8C-2E35-E25E0279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BDF84-39E1-F827-00CA-E177E2A3DF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DECREASE-KEY for Min-Heap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F12E7-B6A1-5012-F8A2-759C8483E2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Why sift up (not down)? </a:t>
            </a:r>
            <a:r>
              <a:rPr lang="en-US" dirty="0"/>
              <a:t>Decreasing a key can only violate the min-heap property with the node's parent (the parent may now be larger). Children are unaffected since the node's key got smaller, so the min-heap property with children is still satisfied. We bubble up until the parent is ≤ the new key.</a:t>
            </a:r>
          </a:p>
          <a:p>
            <a:pPr marL="101600" indent="0" algn="just">
              <a:buNone/>
            </a:pPr>
            <a:r>
              <a:rPr lang="en-US" b="1" dirty="0"/>
              <a:t>Role in Dijkstra's algorithm: </a:t>
            </a:r>
            <a:r>
              <a:rPr lang="en-US" dirty="0"/>
              <a:t>When RELAX(</a:t>
            </a:r>
            <a:r>
              <a:rPr lang="en-US" dirty="0" err="1"/>
              <a:t>u,v,w</a:t>
            </a:r>
            <a:r>
              <a:rPr lang="en-US" dirty="0"/>
              <a:t>) finds a shorter path to v, it calls DECREASE-KEY(Q, v, d[v]) to update v's priority in the min-priority queue. This is why Dijkstra requires O(E log V) time with a binary heap — each of the E relaxations can trigger a DECREASE-KEY costing O(log V).</a:t>
            </a:r>
          </a:p>
        </p:txBody>
      </p:sp>
    </p:spTree>
    <p:extLst>
      <p:ext uri="{BB962C8B-B14F-4D97-AF65-F5344CB8AC3E}">
        <p14:creationId xmlns:p14="http://schemas.microsoft.com/office/powerpoint/2010/main" val="2736681494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C880-F57E-7C2E-9991-15EAFD60F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278D-8017-1528-65C3-B4BBF21B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heap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E2205-0766-C8FE-104F-149997E8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heapsort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A3F26-43D3-33F6-9F8D-D23129071E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Using a max-heap, we can sort in O(n log n) time and O(1) auxiliary space:</a:t>
            </a:r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dirty="0"/>
              <a:t>Time: O(n log n). Auxiliary space: O(1) — fully in-place.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91918-5F9D-D416-1910-D9BEF8612B35}"/>
              </a:ext>
            </a:extLst>
          </p:cNvPr>
          <p:cNvSpPr/>
          <p:nvPr/>
        </p:nvSpPr>
        <p:spPr>
          <a:xfrm>
            <a:off x="2414193" y="5373394"/>
            <a:ext cx="9135078" cy="1949252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HEAPSORT(A,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BUILD-MAX-HEAP(A, n)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for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n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downto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2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    swap A[1] and A[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MAX-HEAPIFY(A, 1, i-1)</a:t>
            </a:r>
          </a:p>
        </p:txBody>
      </p:sp>
    </p:spTree>
    <p:extLst>
      <p:ext uri="{BB962C8B-B14F-4D97-AF65-F5344CB8AC3E}">
        <p14:creationId xmlns:p14="http://schemas.microsoft.com/office/powerpoint/2010/main" val="3573044201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6CCF-E5FA-2229-9959-917CD67F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4F46-BB84-CE95-B027-38D44444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Complexity Comparative Summary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30CE877-B7E8-FA6D-9E9A-9A093C5AEB7A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2166938" y="3374508"/>
          <a:ext cx="19310349" cy="579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6783">
                  <a:extLst>
                    <a:ext uri="{9D8B030D-6E8A-4147-A177-3AD203B41FA5}">
                      <a16:colId xmlns:a16="http://schemas.microsoft.com/office/drawing/2014/main" val="1754886076"/>
                    </a:ext>
                  </a:extLst>
                </a:gridCol>
                <a:gridCol w="4686977">
                  <a:extLst>
                    <a:ext uri="{9D8B030D-6E8A-4147-A177-3AD203B41FA5}">
                      <a16:colId xmlns:a16="http://schemas.microsoft.com/office/drawing/2014/main" val="1093417949"/>
                    </a:ext>
                  </a:extLst>
                </a:gridCol>
                <a:gridCol w="8186589">
                  <a:extLst>
                    <a:ext uri="{9D8B030D-6E8A-4147-A177-3AD203B41FA5}">
                      <a16:colId xmlns:a16="http://schemas.microsoft.com/office/drawing/2014/main" val="4072473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Data Structure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Key Operations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7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Array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Access O(1), search O(n)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21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Stack (array)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Push/Pop 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41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Queue (circular array)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Enqueue/Dequeue 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06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Linked List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Insert/Delete head O(1), search 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0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BST (balance)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Search/Insert/Delete O(log n)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Heap (array)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Insert/Extract-max O(log n), Max O(1)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36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Adjacency matrix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</a:t>
                      </a:r>
                      <a:r>
                        <a:rPr lang="en-US" sz="3200" baseline="30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Edge check 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38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Adjacency list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v+E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Neighbor iteration O(deg)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6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Hash table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Insert/Search/Delete O(1) avg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680353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74DF756-974A-6DD0-02C5-77207BCAEA12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19032265" cy="913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0160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10160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10160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10160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10160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101600" indent="0" algn="just">
              <a:buFont typeface="Arial" panose="020B0604020202020204" pitchFamily="34" charset="0"/>
              <a:buNone/>
            </a:pPr>
            <a:r>
              <a:rPr lang="en-US" b="1" dirty="0"/>
              <a:t>Key takeaway: </a:t>
            </a:r>
            <a:r>
              <a:rPr lang="en-US" dirty="0"/>
              <a:t>The heap gives the best time-space trade-off for priority queue operations — O(n) space and O(log n) per update/extraction.</a:t>
            </a:r>
          </a:p>
        </p:txBody>
      </p:sp>
    </p:spTree>
    <p:extLst>
      <p:ext uri="{BB962C8B-B14F-4D97-AF65-F5344CB8AC3E}">
        <p14:creationId xmlns:p14="http://schemas.microsoft.com/office/powerpoint/2010/main" val="1336741234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47E892F-0AB8-7CDF-804D-79FFCB87F4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/>
          <a:lstStyle/>
          <a:p>
            <a:r>
              <a:rPr lang="en-US" dirty="0"/>
              <a:t>Suppose that your computer only has enough memory to store 40,000 entries. Which best graph data structure should you use to store a simple </a:t>
            </a:r>
            <a:r>
              <a:rPr lang="en-US" b="1" dirty="0"/>
              <a:t>undirected</a:t>
            </a:r>
            <a:r>
              <a:rPr lang="en-US" dirty="0"/>
              <a:t> graph with 200 vertices, 19,900 edges, and </a:t>
            </a:r>
            <a:r>
              <a:rPr lang="en-US" b="1" dirty="0"/>
              <a:t>the existence of edge(</a:t>
            </a:r>
            <a:r>
              <a:rPr lang="en-US" b="1" dirty="0" err="1"/>
              <a:t>u,v</a:t>
            </a:r>
            <a:r>
              <a:rPr lang="en-US" b="1" dirty="0"/>
              <a:t>) is frequently asked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Do DFS and BFS for the following graph, starting</a:t>
            </a:r>
          </a:p>
          <a:p>
            <a:pPr marL="0" indent="0">
              <a:buNone/>
            </a:pPr>
            <a:r>
              <a:rPr lang="en-US" dirty="0"/>
              <a:t>from A!</a:t>
            </a:r>
          </a:p>
          <a:p>
            <a:endParaRPr lang="en-US" dirty="0"/>
          </a:p>
        </p:txBody>
      </p:sp>
      <p:pic>
        <p:nvPicPr>
          <p:cNvPr id="8" name="Picture 17" descr="soal 6">
            <a:extLst>
              <a:ext uri="{FF2B5EF4-FFF2-40B4-BE49-F238E27FC236}">
                <a16:creationId xmlns:a16="http://schemas.microsoft.com/office/drawing/2014/main" id="{99F4A6EE-FF8E-05C7-87CA-3516ED469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79256" y="6451146"/>
            <a:ext cx="7368159" cy="61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Primary (Required): 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 </a:t>
            </a:r>
            <a:r>
              <a:rPr lang="en-ID" i="1" dirty="0"/>
              <a:t>Introduction to Algorithms, 4th Edition. </a:t>
            </a:r>
            <a:r>
              <a:rPr lang="en-ID" dirty="0"/>
              <a:t>MIT Press.</a:t>
            </a:r>
          </a:p>
          <a:p>
            <a:r>
              <a:rPr lang="en-ID" dirty="0"/>
              <a:t>Ch. 6.1 — Heaps (p. 161)</a:t>
            </a:r>
          </a:p>
          <a:p>
            <a:r>
              <a:rPr lang="en-ID" dirty="0"/>
              <a:t>Ch. 6.5 — Priority Queues (p. 172)</a:t>
            </a:r>
          </a:p>
          <a:p>
            <a:r>
              <a:rPr lang="en-ID" dirty="0"/>
              <a:t>Ch. 20.1 — Representations of Graphs (p. 549)</a:t>
            </a:r>
          </a:p>
          <a:p>
            <a:pPr marL="0" indent="0">
              <a:buNone/>
            </a:pPr>
            <a:r>
              <a:rPr lang="en-ID" b="1" dirty="0"/>
              <a:t>Secondary (Required): </a:t>
            </a:r>
            <a:r>
              <a:rPr lang="en-ID" dirty="0" err="1"/>
              <a:t>Skiena</a:t>
            </a:r>
            <a:r>
              <a:rPr lang="en-ID" dirty="0"/>
              <a:t>, S.S. (2020</a:t>
            </a:r>
            <a:r>
              <a:rPr lang="en-ID" i="1" dirty="0"/>
              <a:t>). The Algorithm Design Manual, 3rd Edition. </a:t>
            </a:r>
            <a:r>
              <a:rPr lang="en-ID" dirty="0"/>
              <a:t>Springer.</a:t>
            </a:r>
          </a:p>
          <a:p>
            <a:r>
              <a:rPr lang="en-ID" dirty="0"/>
              <a:t>Ch. 7.1 — Flavors of Graphs (p. 198)</a:t>
            </a:r>
          </a:p>
          <a:p>
            <a:r>
              <a:rPr lang="en-ID" dirty="0"/>
              <a:t>Ch. 7.2 — Data Structures for Graphs (p. 203)</a:t>
            </a:r>
          </a:p>
          <a:p>
            <a:r>
              <a:rPr lang="en-ID" dirty="0"/>
              <a:t>Ch. 3.5 — Priority Queues (p. 87)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5231</TotalTime>
  <Words>3747</Words>
  <Application>Microsoft Office PowerPoint</Application>
  <PresentationFormat>Custom</PresentationFormat>
  <Paragraphs>967</Paragraphs>
  <Slides>63</Slides>
  <Notes>61</Notes>
  <HiddenSlides>32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Wingdings</vt:lpstr>
      <vt:lpstr>OCRB</vt:lpstr>
      <vt:lpstr>Arial</vt:lpstr>
      <vt:lpstr>Tahoma</vt:lpstr>
      <vt:lpstr>Open Sans ExtraBold</vt:lpstr>
      <vt:lpstr>Cambria Math</vt:lpstr>
      <vt:lpstr>Open Sans</vt:lpstr>
      <vt:lpstr>Courier New</vt:lpstr>
      <vt:lpstr>Open Sans Light</vt:lpstr>
      <vt:lpstr>Open Sans Semibold</vt:lpstr>
      <vt:lpstr>21_BasicWhite</vt:lpstr>
      <vt:lpstr>DS: Graph, Priority Queue &amp;Heap (incl. Space Complexity)​</vt:lpstr>
      <vt:lpstr>Learning Outcomes</vt:lpstr>
      <vt:lpstr>Outline materials</vt:lpstr>
      <vt:lpstr>Graph concept &amp; application</vt:lpstr>
      <vt:lpstr>Graph concept &amp; application</vt:lpstr>
      <vt:lpstr>Graph representation</vt:lpstr>
      <vt:lpstr>Graph representation</vt:lpstr>
      <vt:lpstr>Graph representation</vt:lpstr>
      <vt:lpstr>Graph representation</vt:lpstr>
      <vt:lpstr>Graph representation</vt:lpstr>
      <vt:lpstr>Graph representation</vt:lpstr>
      <vt:lpstr>Graph representation</vt:lpstr>
      <vt:lpstr>Graph representation</vt:lpstr>
      <vt:lpstr>Graph analysis</vt:lpstr>
      <vt:lpstr>Graph analysis</vt:lpstr>
      <vt:lpstr>Graph Representations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Graph traversal</vt:lpstr>
      <vt:lpstr>Priority queue</vt:lpstr>
      <vt:lpstr>Priority queue</vt:lpstr>
      <vt:lpstr>Priority queue</vt:lpstr>
      <vt:lpstr>Priority queue</vt:lpstr>
      <vt:lpstr>Priority queue</vt:lpstr>
      <vt:lpstr>Priority queue</vt:lpstr>
      <vt:lpstr>Priority queue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Space Complexity Comparative 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Nikita Ananda Putri Masaling</cp:lastModifiedBy>
  <cp:revision>86</cp:revision>
  <dcterms:created xsi:type="dcterms:W3CDTF">2023-11-17T02:51:40Z</dcterms:created>
  <dcterms:modified xsi:type="dcterms:W3CDTF">2026-09-06T03:01:35Z</dcterms:modified>
</cp:coreProperties>
</file>