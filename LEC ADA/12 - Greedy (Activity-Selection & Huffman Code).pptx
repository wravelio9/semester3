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08" r:id="rId4"/>
    <p:sldId id="258" r:id="rId5"/>
    <p:sldId id="259" r:id="rId6"/>
    <p:sldId id="336" r:id="rId7"/>
    <p:sldId id="337" r:id="rId8"/>
    <p:sldId id="338" r:id="rId9"/>
    <p:sldId id="339" r:id="rId10"/>
    <p:sldId id="340" r:id="rId11"/>
    <p:sldId id="342" r:id="rId12"/>
    <p:sldId id="343" r:id="rId13"/>
    <p:sldId id="344" r:id="rId14"/>
    <p:sldId id="356" r:id="rId15"/>
    <p:sldId id="346" r:id="rId16"/>
    <p:sldId id="347" r:id="rId17"/>
    <p:sldId id="345" r:id="rId18"/>
    <p:sldId id="348" r:id="rId19"/>
    <p:sldId id="349" r:id="rId20"/>
    <p:sldId id="350" r:id="rId21"/>
    <p:sldId id="351" r:id="rId22"/>
    <p:sldId id="352" r:id="rId23"/>
    <p:sldId id="353" r:id="rId24"/>
    <p:sldId id="354" r:id="rId25"/>
  </p:sldIdLst>
  <p:sldSz cx="24384000" cy="13716000"/>
  <p:notesSz cx="6858000" cy="9144000"/>
  <p:embeddedFontLst>
    <p:embeddedFont>
      <p:font typeface="Open Sans" panose="020B0604020202020204" charset="0"/>
      <p:regular r:id="rId27"/>
      <p:bold r:id="rId28"/>
      <p:italic r:id="rId29"/>
      <p:boldItalic r:id="rId30"/>
    </p:embeddedFont>
    <p:embeddedFont>
      <p:font typeface="Open Sans ExtraBold" panose="020B0604020202020204" charset="0"/>
      <p:bold r:id="rId31"/>
      <p:italic r:id="rId32"/>
      <p:boldItalic r:id="rId33"/>
    </p:embeddedFont>
    <p:embeddedFont>
      <p:font typeface="Open Sans Semibold" panose="020B0604020202020204" charset="0"/>
      <p:bold r:id="rId34"/>
      <p:boldItalic r:id="rId35"/>
    </p:embeddedFont>
    <p:embeddedFont>
      <p:font typeface="Open Sans Light" panose="020B0604020202020204" charset="0"/>
      <p:regular r:id="rId36"/>
      <p:italic r:id="rId37"/>
    </p:embeddedFont>
    <p:embeddedFont>
      <p:font typeface="OCRB" panose="020B0604020202020204" charset="0"/>
      <p:regular r:id="rId3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6"/>
    <a:srgbClr val="212121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32" autoAdjust="0"/>
    <p:restoredTop sz="95584"/>
  </p:normalViewPr>
  <p:slideViewPr>
    <p:cSldViewPr snapToGrid="0" snapToObjects="1">
      <p:cViewPr varScale="1">
        <p:scale>
          <a:sx n="35" d="100"/>
          <a:sy n="35" d="100"/>
        </p:scale>
        <p:origin x="630" y="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166891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506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326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6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8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5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007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98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850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943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01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91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70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41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016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53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459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0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14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9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xmlns="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xmlns="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xmlns="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xmlns="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xmlns="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xmlns="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xmlns="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D72B8CD-2B60-168D-460C-3FFD38B69D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xmlns="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xmlns="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CB39841-01E8-3B46-1169-9D75B18B74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xmlns="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xmlns="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xmlns="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xmlns="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xmlns="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xmlns="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xmlns="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xmlns="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xmlns="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xmlns="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xmlns="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xmlns="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2412E04-E7E5-6907-9DD0-CE975EF383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xmlns="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C493109-42AD-F678-F34A-9DA73287D1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xmlns="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6F37568-0478-FF67-A2F0-B1647C1EC9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xmlns="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xmlns="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8174CAF-8FC8-EDAE-768D-30BF901438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xmlns="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E3F9842-C644-B204-B6FB-F1DB21947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xmlns="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xmlns="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CFBCE66-A5E8-A158-9B31-BA9AFC1032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xmlns="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43DC583-F6CD-401E-7E06-373CCF9524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xmlns="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xmlns="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xmlns="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353EC82-39FF-16C4-642C-2070D4989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xmlns="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xmlns="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xmlns="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xmlns="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xmlns="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xmlns="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xmlns="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xmlns="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xmlns="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8947DDD-26C7-6643-F78E-7D846EE616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xmlns="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xmlns="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xmlns="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xmlns="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xmlns="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DA99AE5-3E66-BB3F-4028-3D48CC999F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xmlns="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xmlns="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xmlns="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xmlns="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xmlns="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xmlns="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xmlns="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xmlns="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xmlns="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xmlns="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0B8984F-75C1-9D5B-FF38-2151D77141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xmlns="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xmlns="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xmlns="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xmlns="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xmlns="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xmlns="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xmlns="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xmlns="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xmlns="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xmlns="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xmlns="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EC48672-F1E2-A230-B095-57E67183FC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xmlns="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xmlns="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xmlns="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xmlns="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xmlns="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xmlns="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CD14E8-DE1C-14FC-FEA7-30EAAA9BB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xmlns="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xmlns="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xmlns="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xmlns="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xmlns="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xmlns="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xmlns="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xmlns="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xmlns="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xmlns="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xmlns="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xmlns="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xmlns="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xmlns="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xmlns="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7FCB3B-92B7-9A04-09DB-5667129A35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xmlns="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xmlns="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xmlns="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xmlns="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xmlns="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D1F61AE-0C1A-636C-687E-207E2A2A70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xmlns="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xmlns="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xmlns="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xmlns="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xmlns="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xmlns="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xmlns="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xmlns="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5210B6C-2009-3AB9-2B36-C9C111BD1F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xmlns="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xmlns="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xmlns="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xmlns="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xmlns="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xmlns="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xmlns="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xmlns="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0C22165-28E5-078B-D527-EB85E34E9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xmlns="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xmlns="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xmlns="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xmlns="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xmlns="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xmlns="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079C9F5-AAFF-0002-246E-C6EBF2351B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xmlns="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xmlns="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xmlns="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xmlns="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xmlns="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xmlns="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xmlns="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xmlns="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xmlns="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xmlns="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xmlns="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xmlns="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F9AF533-B5F6-1F4C-DB2A-D5C619F697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xmlns="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xmlns="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xmlns="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xmlns="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xmlns="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xmlns="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xmlns="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EBE46FE-17DA-131C-25CA-513E1EB2D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xmlns="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xmlns="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xmlns="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xmlns="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xmlns="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5851190-1E16-8731-05F7-9E415A2E7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xmlns="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</a:t>
            </a:r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smtClean="0"/>
              <a:t>Greedy: activity-selection &amp;Huffman code</a:t>
            </a:r>
            <a:endParaRPr lang="en-ID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</a:t>
            </a:r>
            <a:r>
              <a:rPr lang="en-ID" dirty="0" smtClean="0"/>
              <a:t>12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b="1" dirty="0"/>
              <a:t>LO 1: </a:t>
            </a:r>
            <a:r>
              <a:rPr lang="en-US" dirty="0"/>
              <a:t>Evaluate the time and space complexity of algorithms using asymptotic notation and formal analysis methods, and prove algorithm correctness using loop invariants, induction, or exchange arguments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LO </a:t>
            </a:r>
            <a:r>
              <a:rPr lang="en-US" b="1" dirty="0"/>
              <a:t>3: </a:t>
            </a:r>
            <a:r>
              <a:rPr lang="en-US" dirty="0"/>
              <a:t>Design solutions to unfamiliar computational problems by selecting and applying appropriate strategies including Divide and Conquer, Greedy, Dynamic Programming, and Backtracking.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</a:t>
            </a:r>
            <a:r>
              <a:rPr lang="en-ID" dirty="0" smtClean="0"/>
              <a:t>12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pPr algn="just"/>
            <a:r>
              <a:rPr lang="en-US" dirty="0" smtClean="0"/>
              <a:t>Prove </a:t>
            </a:r>
            <a:r>
              <a:rPr lang="en-US" dirty="0"/>
              <a:t>correctness of greedy activity-selection using exchange argument; verify that earliest-finish-time selection satisfies the greedy-choice property and optimal substructure; prove Huffman tree optimality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Design </a:t>
            </a:r>
            <a:r>
              <a:rPr lang="en-US" dirty="0"/>
              <a:t>recursive and iterative greedy activity-selection (O(n log n)); construct Huffman trees using a min-priority queue (O(n log n)); apply the exchange argument as a formal proof technique for greedy algorithms.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</a:t>
            </a:r>
            <a:r>
              <a:rPr lang="en-ID" dirty="0" smtClean="0"/>
              <a:t>12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Activity-Selection Problem: Recursive and Iterative </a:t>
            </a:r>
            <a:r>
              <a:rPr lang="en-US" dirty="0" smtClean="0"/>
              <a:t>Greedy</a:t>
            </a:r>
          </a:p>
          <a:p>
            <a:r>
              <a:rPr lang="en-US" dirty="0" smtClean="0"/>
              <a:t>Elements </a:t>
            </a:r>
            <a:r>
              <a:rPr lang="en-US" dirty="0"/>
              <a:t>of Greedy Strategy — Greedy Choice Property and Optimal </a:t>
            </a:r>
            <a:r>
              <a:rPr lang="en-US" dirty="0" smtClean="0"/>
              <a:t>Substructure</a:t>
            </a:r>
          </a:p>
          <a:p>
            <a:r>
              <a:rPr lang="en-US" dirty="0" smtClean="0"/>
              <a:t>Exchange </a:t>
            </a:r>
            <a:r>
              <a:rPr lang="en-US" dirty="0"/>
              <a:t>Argument Proof </a:t>
            </a:r>
            <a:r>
              <a:rPr lang="en-US" dirty="0" smtClean="0"/>
              <a:t>Technique</a:t>
            </a:r>
          </a:p>
          <a:p>
            <a:r>
              <a:rPr lang="en-US" dirty="0" smtClean="0"/>
              <a:t>Huffman </a:t>
            </a:r>
            <a:r>
              <a:rPr lang="en-US" dirty="0"/>
              <a:t>Coding: Building the Tree and Code </a:t>
            </a:r>
            <a:r>
              <a:rPr lang="en-US" dirty="0" smtClean="0"/>
              <a:t>Table</a:t>
            </a:r>
          </a:p>
          <a:p>
            <a:r>
              <a:rPr lang="en-US" dirty="0" smtClean="0"/>
              <a:t>Compression </a:t>
            </a:r>
            <a:r>
              <a:rPr lang="en-US" dirty="0"/>
              <a:t>Concept and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Activity-selection problem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smtClean="0"/>
              <a:t>Problem statement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Given n activities, each with start time sᵢ and finish time fᵢ (sᵢ &lt; fᵢ), find the maximum-cardinality set of mutually compatible activities (no two overlap</a:t>
            </a:r>
            <a:r>
              <a:rPr lang="en-US" dirty="0" smtClean="0"/>
              <a:t>).</a:t>
            </a:r>
          </a:p>
          <a:p>
            <a:pPr marL="101600" indent="0" algn="just">
              <a:buNone/>
            </a:pPr>
            <a:r>
              <a:rPr lang="en-US" dirty="0" smtClean="0"/>
              <a:t>Activities </a:t>
            </a:r>
            <a:r>
              <a:rPr lang="en-US" dirty="0"/>
              <a:t>are compatible if their intervals do not overlap: activity </a:t>
            </a:r>
            <a:r>
              <a:rPr lang="en-US" dirty="0" err="1"/>
              <a:t>i</a:t>
            </a:r>
            <a:r>
              <a:rPr lang="en-US" dirty="0"/>
              <a:t> and j are compatible </a:t>
            </a:r>
            <a:r>
              <a:rPr lang="en-US" dirty="0" err="1"/>
              <a:t>iff</a:t>
            </a:r>
            <a:r>
              <a:rPr lang="en-US" dirty="0"/>
              <a:t> fᵢ ≤ sⱼ or fⱼ ≤ sᵢ.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Activity-selection problem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smtClean="0"/>
              <a:t>Problem statement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 smtClean="0"/>
              <a:t>Example:</a:t>
            </a:r>
          </a:p>
          <a:p>
            <a:pPr marL="101600" indent="0" algn="just">
              <a:buNone/>
            </a:pPr>
            <a:endParaRPr lang="en-US" b="1" dirty="0" smtClean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 smtClean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 smtClean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dirty="0"/>
              <a:t>Assume activities are sorted by finish time (f₁ ≤ f₂ ≤ … ≤ f₁₁).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97969"/>
              </p:ext>
            </p:extLst>
          </p:nvPr>
        </p:nvGraphicFramePr>
        <p:xfrm>
          <a:off x="2362200" y="4614333"/>
          <a:ext cx="16256001" cy="658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8667"/>
                <a:gridCol w="5418667"/>
                <a:gridCol w="54186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Activity</a:t>
                      </a:r>
                      <a:endParaRPr lang="en-US" sz="3000" b="1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s</a:t>
                      </a:r>
                      <a:endParaRPr lang="en-US" sz="3000" b="1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f</a:t>
                      </a:r>
                      <a:endParaRPr lang="en-US" sz="3000" b="1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4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2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3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5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3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6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4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5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7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5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3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9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6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5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9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7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6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10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8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8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11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9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8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12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10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2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14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11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12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smtClean="0"/>
                        <a:t>16</a:t>
                      </a:r>
                      <a:endParaRPr lang="en-US" sz="3000" dirty="0"/>
                    </a:p>
                  </a:txBody>
                  <a:tcPr>
                    <a:solidFill>
                      <a:srgbClr val="FFF7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922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Activity-selection problem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Choice: Earliest Finish Time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Theorem (CLRS, p. 418): </a:t>
            </a:r>
            <a:r>
              <a:rPr lang="en-US" dirty="0"/>
              <a:t>There is always an optimal solution that includes the activity with the earliest finish time</a:t>
            </a:r>
            <a:r>
              <a:rPr lang="en-US" dirty="0" smtClean="0"/>
              <a:t>.</a:t>
            </a:r>
          </a:p>
          <a:p>
            <a:pPr marL="101600" indent="0" algn="just">
              <a:buNone/>
            </a:pPr>
            <a:r>
              <a:rPr lang="en-US" b="1" dirty="0" smtClean="0"/>
              <a:t>Proof</a:t>
            </a:r>
            <a:r>
              <a:rPr lang="en-US" b="1" dirty="0"/>
              <a:t>: </a:t>
            </a:r>
            <a:r>
              <a:rPr lang="en-US" dirty="0"/>
              <a:t>Let a₁ be the activity with the earliest finish time, and let A* be any optimal solution. If a₁ ∈ A*, done. Otherwise, let aₖ be the first activity in A* (sorted by finish time). Since f₁ ≤ fₖ, replacing aₖ with a₁ gives a solution A' = (A* \ {aₖ}) ∪ {a₁} that is still valid (a₁ finishes no later than aₖ, so it is compatible with all activities in A* that aₖ was compatible with) and has the same cardinality. So a₁ is always safe to choose.</a:t>
            </a:r>
          </a:p>
        </p:txBody>
      </p:sp>
    </p:spTree>
    <p:extLst>
      <p:ext uri="{BB962C8B-B14F-4D97-AF65-F5344CB8AC3E}">
        <p14:creationId xmlns:p14="http://schemas.microsoft.com/office/powerpoint/2010/main" val="296931956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Activity-selection problem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Recursive algorithm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dirty="0" smtClean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 smtClean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dirty="0" smtClean="0"/>
              <a:t>Call </a:t>
            </a:r>
            <a:r>
              <a:rPr lang="en-US" dirty="0"/>
              <a:t>with k=0 (dummy activity with f[0]=0) to select from all activities.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8D9A59A-881E-F256-453A-7C1D3FF25AE4}"/>
              </a:ext>
            </a:extLst>
          </p:cNvPr>
          <p:cNvSpPr/>
          <p:nvPr/>
        </p:nvSpPr>
        <p:spPr>
          <a:xfrm>
            <a:off x="2345177" y="3728575"/>
            <a:ext cx="10837334" cy="4165243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RECURSIVE-ACTIVITY-SELECTOR(s, f, k, n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//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Find max-cardinality subset of activities compatible with a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ₖ</a:t>
            </a:r>
          </a:p>
          <a:p>
            <a:pPr marL="457200" indent="-457200" algn="l">
              <a:buAutoNum type="arabicPlain"/>
            </a:pP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m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= k + 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1</a:t>
            </a:r>
          </a:p>
          <a:p>
            <a:pPr marL="457200" indent="-457200" algn="l">
              <a:buAutoNum type="arabicPlain"/>
            </a:pP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while m ≤ n and s[m] &lt; f[k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]</a:t>
            </a:r>
          </a:p>
          <a:p>
            <a:pPr marL="457200" indent="-457200" algn="l">
              <a:buAutoNum type="arabicPlain"/>
            </a:pP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m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+</a:t>
            </a:r>
          </a:p>
          <a:p>
            <a:pPr algn="l"/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+                         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// skip incompatible 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activities</a:t>
            </a:r>
          </a:p>
          <a:p>
            <a:pPr algn="l"/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4  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if m ≤ 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n</a:t>
            </a:r>
          </a:p>
          <a:p>
            <a:pPr marL="457200" indent="-457200" algn="l">
              <a:buAutoNum type="arabicPlain" startAt="5"/>
            </a:pP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return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{aₘ} ∪ </a:t>
            </a:r>
            <a:endParaRPr lang="en-ID" b="1" dirty="0" smtClean="0">
              <a:solidFill>
                <a:srgbClr val="424242"/>
              </a:solidFill>
              <a:latin typeface="Courier New" panose="02070309020205020404" pitchFamily="49" charset="0"/>
            </a:endParaRPr>
          </a:p>
          <a:p>
            <a:pPr algn="l"/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RECURSIVE-ACTIVITY-SELECTOR(s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, f, m, n</a:t>
            </a:r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ID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6   </a:t>
            </a:r>
            <a:r>
              <a:rPr lang="en-ID" b="1" dirty="0">
                <a:solidFill>
                  <a:srgbClr val="424242"/>
                </a:solidFill>
                <a:latin typeface="Courier New" panose="02070309020205020404" pitchFamily="49" charset="0"/>
              </a:rPr>
              <a:t>else return {}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2429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Activity-selection problem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Iterative algorithm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dirty="0" smtClean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 smtClean="0"/>
          </a:p>
          <a:p>
            <a:pPr marL="101600" indent="0" algn="just">
              <a:buNone/>
            </a:pPr>
            <a:endParaRPr lang="en-US" dirty="0" smtClean="0"/>
          </a:p>
          <a:p>
            <a:pPr marL="101600" indent="0" algn="just">
              <a:buNone/>
            </a:pPr>
            <a:r>
              <a:rPr lang="en-US" dirty="0" smtClean="0"/>
              <a:t>Time</a:t>
            </a:r>
            <a:r>
              <a:rPr lang="en-US" dirty="0"/>
              <a:t>: </a:t>
            </a:r>
            <a:r>
              <a:rPr lang="en-US" b="1" dirty="0" smtClean="0"/>
              <a:t>O(n) </a:t>
            </a:r>
            <a:r>
              <a:rPr lang="en-US" dirty="0" smtClean="0"/>
              <a:t>after </a:t>
            </a:r>
            <a:r>
              <a:rPr lang="en-US" dirty="0"/>
              <a:t>sorting; O(n log n) including sort</a:t>
            </a:r>
            <a:r>
              <a:rPr lang="en-US" dirty="0" smtClean="0"/>
              <a:t>.</a:t>
            </a:r>
          </a:p>
          <a:p>
            <a:pPr marL="101600" indent="0" algn="just">
              <a:buNone/>
            </a:pPr>
            <a:r>
              <a:rPr lang="en-US" b="1" dirty="0" smtClean="0"/>
              <a:t>Result </a:t>
            </a:r>
            <a:r>
              <a:rPr lang="en-US" b="1" dirty="0"/>
              <a:t>for the example: </a:t>
            </a:r>
            <a:r>
              <a:rPr lang="en-US" dirty="0"/>
              <a:t>{a₁, a₄, a₈, a₁₁} — 4 activities.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8D9A59A-881E-F256-453A-7C1D3FF25AE4}"/>
              </a:ext>
            </a:extLst>
          </p:cNvPr>
          <p:cNvSpPr/>
          <p:nvPr/>
        </p:nvSpPr>
        <p:spPr>
          <a:xfrm>
            <a:off x="2345177" y="4282573"/>
            <a:ext cx="10837334" cy="3057247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GREEDY-ACTIVITY-SELECTOR(s, f, n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= {a₁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}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k =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1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for m = 2 to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n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if s[m] ≥ f[k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]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  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A = A ∪ {aₘ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}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  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k =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m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return A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6782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Elements of the greedy strategy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Greedy-Choice Property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globally optimal solution can be assembled by making a locally optimal (greedy) choice. The choice is made without considering future choices or sub-problem solutions. This distinguishes greedy from DP (which considers all sub-problems).</a:t>
            </a:r>
          </a:p>
        </p:txBody>
      </p:sp>
    </p:spTree>
    <p:extLst>
      <p:ext uri="{BB962C8B-B14F-4D97-AF65-F5344CB8AC3E}">
        <p14:creationId xmlns:p14="http://schemas.microsoft.com/office/powerpoint/2010/main" val="411467190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Elements of the greedy strategy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Optimal Substructure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After making the greedy choice, the remaining </a:t>
            </a:r>
            <a:r>
              <a:rPr lang="en-US" dirty="0" err="1"/>
              <a:t>subproblem</a:t>
            </a:r>
            <a:r>
              <a:rPr lang="en-US" dirty="0"/>
              <a:t> has optimal substructure: the optimal solution to the remaining </a:t>
            </a:r>
            <a:r>
              <a:rPr lang="en-US" dirty="0" err="1"/>
              <a:t>subproblem</a:t>
            </a:r>
            <a:r>
              <a:rPr lang="en-US" dirty="0"/>
              <a:t> is optimal</a:t>
            </a:r>
            <a:r>
              <a:rPr lang="en-US" dirty="0" smtClean="0"/>
              <a:t>.</a:t>
            </a:r>
          </a:p>
          <a:p>
            <a:pPr marL="101600" indent="0" algn="just">
              <a:buNone/>
            </a:pPr>
            <a:r>
              <a:rPr lang="en-US" b="1" dirty="0" smtClean="0"/>
              <a:t>For </a:t>
            </a:r>
            <a:r>
              <a:rPr lang="en-US" b="1" dirty="0"/>
              <a:t>Activity-Selection: </a:t>
            </a:r>
            <a:r>
              <a:rPr lang="en-US" dirty="0"/>
              <a:t>after choosing a₁, the remaining </a:t>
            </a:r>
            <a:r>
              <a:rPr lang="en-US" dirty="0" err="1"/>
              <a:t>subproblem</a:t>
            </a:r>
            <a:r>
              <a:rPr lang="en-US" dirty="0"/>
              <a:t> is: select from activities compatible with a₁, i.e., those with sᵢ ≥ f₁. The optimal solution to this </a:t>
            </a:r>
            <a:r>
              <a:rPr lang="en-US" dirty="0" err="1"/>
              <a:t>subproblem</a:t>
            </a:r>
            <a:r>
              <a:rPr lang="en-US" dirty="0"/>
              <a:t> combined with a₁ gives the global optimum.</a:t>
            </a:r>
          </a:p>
        </p:txBody>
      </p:sp>
    </p:spTree>
    <p:extLst>
      <p:ext uri="{BB962C8B-B14F-4D97-AF65-F5344CB8AC3E}">
        <p14:creationId xmlns:p14="http://schemas.microsoft.com/office/powerpoint/2010/main" val="162047876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Elements of the greedy strategy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Greedy vs. dynamic programming</a:t>
            </a:r>
            <a:endParaRPr lang="en-ID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593666870"/>
              </p:ext>
            </p:extLst>
          </p:nvPr>
        </p:nvGraphicFramePr>
        <p:xfrm>
          <a:off x="2166938" y="3714750"/>
          <a:ext cx="19032537" cy="6908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4179"/>
                <a:gridCol w="6344179"/>
                <a:gridCol w="6344179"/>
              </a:tblGrid>
              <a:tr h="1381685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Property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Greedy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Dynamic Programming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</a:tr>
              <a:tr h="1381685">
                <a:tc>
                  <a:txBody>
                    <a:bodyPr/>
                    <a:lstStyle/>
                    <a:p>
                      <a:pPr algn="l"/>
                      <a:r>
                        <a:rPr lang="en-US" sz="3200" dirty="0" err="1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Subproblems</a:t>
                      </a:r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solved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One at each step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Many,</a:t>
                      </a:r>
                      <a:r>
                        <a:rPr lang="en-US" sz="3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overlapping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</a:tr>
              <a:tr h="1381685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Backtracking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None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Full exploration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</a:tr>
              <a:tr h="1381685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Efficiency</a:t>
                      </a: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Usually O(n log</a:t>
                      </a:r>
                      <a:r>
                        <a:rPr lang="en-US" sz="3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n)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Usually O(n</a:t>
                      </a:r>
                      <a:r>
                        <a:rPr lang="en-US" sz="3200" baseline="300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en-US" sz="3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or O(n</a:t>
                      </a:r>
                      <a:r>
                        <a:rPr lang="en-US" sz="3200" baseline="300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</a:t>
                      </a:r>
                      <a:r>
                        <a:rPr lang="en-US" sz="3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</a:tr>
              <a:tr h="1381685"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Applicability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Restricted (requires GCP + OS)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Broader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7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8724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Exchange argument proof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Structure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prove a greedy algorithm optimal using the exchange argument</a:t>
            </a:r>
            <a:r>
              <a:rPr lang="en-US" dirty="0" smtClean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Assume </a:t>
            </a:r>
            <a:r>
              <a:rPr lang="en-US" dirty="0"/>
              <a:t>an optimal solution O that does not match the greedy solution G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Find </a:t>
            </a:r>
            <a:r>
              <a:rPr lang="en-US" dirty="0"/>
              <a:t>the first position where they differ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Show </a:t>
            </a:r>
            <a:r>
              <a:rPr lang="en-US" dirty="0"/>
              <a:t>that swapping the element in O to match G does not decrease the objective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Repeat </a:t>
            </a:r>
            <a:r>
              <a:rPr lang="en-US" dirty="0"/>
              <a:t>until O = G. Conclude G is optimal.</a:t>
            </a:r>
          </a:p>
        </p:txBody>
      </p:sp>
    </p:spTree>
    <p:extLst>
      <p:ext uri="{BB962C8B-B14F-4D97-AF65-F5344CB8AC3E}">
        <p14:creationId xmlns:p14="http://schemas.microsoft.com/office/powerpoint/2010/main" val="41237370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Exchange argument proof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Activity-Selection Exchange Argument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Already given in Section 1.2: replacing any first activity with a₁ (earliest finish) does not reduce cardinality, so it remains optimal.</a:t>
            </a:r>
          </a:p>
        </p:txBody>
      </p:sp>
    </p:spTree>
    <p:extLst>
      <p:ext uri="{BB962C8B-B14F-4D97-AF65-F5344CB8AC3E}">
        <p14:creationId xmlns:p14="http://schemas.microsoft.com/office/powerpoint/2010/main" val="129442339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Exchange argument proof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Scheduling to Minimize Lateness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Problem: n jobs with deadlines dᵢ and processing times pᵢ; minimize maximum lateness max(Cᵢ − dᵢ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Greedy </a:t>
            </a:r>
            <a:r>
              <a:rPr lang="en-US" dirty="0"/>
              <a:t>rule: sort by earliest deadline first (EDF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Exchange </a:t>
            </a:r>
            <a:r>
              <a:rPr lang="en-US" dirty="0"/>
              <a:t>argument: any inversion (job </a:t>
            </a:r>
            <a:r>
              <a:rPr lang="en-US" dirty="0" err="1"/>
              <a:t>i</a:t>
            </a:r>
            <a:r>
              <a:rPr lang="en-US" dirty="0"/>
              <a:t> after j when dᵢ &lt; dⱼ) can be fixed by swapping </a:t>
            </a:r>
            <a:r>
              <a:rPr lang="en-US" dirty="0" err="1"/>
              <a:t>i</a:t>
            </a:r>
            <a:r>
              <a:rPr lang="en-US" dirty="0"/>
              <a:t> and j. This reduces max lateness. Therefore EDF is optimal.</a:t>
            </a:r>
          </a:p>
        </p:txBody>
      </p:sp>
    </p:spTree>
    <p:extLst>
      <p:ext uri="{BB962C8B-B14F-4D97-AF65-F5344CB8AC3E}">
        <p14:creationId xmlns:p14="http://schemas.microsoft.com/office/powerpoint/2010/main" val="4453662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Huffman coding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Optimal Prefix-Free Codes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an alphabet C of n characters, each with frequency f[c], find a binary prefix-free code that minimizes the total encoded length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B(T</a:t>
            </a:r>
            <a:r>
              <a:rPr lang="en-US" dirty="0"/>
              <a:t>) = ∑_{</a:t>
            </a:r>
            <a:r>
              <a:rPr lang="en-US" dirty="0" err="1"/>
              <a:t>c∈C</a:t>
            </a:r>
            <a:r>
              <a:rPr lang="en-US" dirty="0"/>
              <a:t>} f[c] · </a:t>
            </a:r>
            <a:r>
              <a:rPr lang="en-US" dirty="0" err="1"/>
              <a:t>d_T</a:t>
            </a:r>
            <a:r>
              <a:rPr lang="en-US" dirty="0"/>
              <a:t>(c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dirty="0" err="1"/>
              <a:t>d_T</a:t>
            </a:r>
            <a:r>
              <a:rPr lang="en-US" dirty="0"/>
              <a:t>(c) = depth of c in the code tree 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Prefix-free</a:t>
            </a:r>
            <a:r>
              <a:rPr lang="en-US" b="1" dirty="0"/>
              <a:t>: </a:t>
            </a:r>
            <a:r>
              <a:rPr lang="en-US" dirty="0"/>
              <a:t>no </a:t>
            </a:r>
            <a:r>
              <a:rPr lang="en-US" dirty="0" err="1"/>
              <a:t>codeword</a:t>
            </a:r>
            <a:r>
              <a:rPr lang="en-US" dirty="0"/>
              <a:t> is a prefix of another → uniquely decodable.</a:t>
            </a:r>
          </a:p>
        </p:txBody>
      </p:sp>
    </p:spTree>
    <p:extLst>
      <p:ext uri="{BB962C8B-B14F-4D97-AF65-F5344CB8AC3E}">
        <p14:creationId xmlns:p14="http://schemas.microsoft.com/office/powerpoint/2010/main" val="228426904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Exchange argument proof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Huffman’s greedy algorithm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Represent each character as a leaf. Repeatedly merge the two lowest-frequency trees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Time: </a:t>
            </a:r>
            <a:r>
              <a:rPr lang="en-US" dirty="0"/>
              <a:t>O(n log n) — n−1 iterations, each O(log n) heap operations.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8D9A59A-881E-F256-453A-7C1D3FF25AE4}"/>
              </a:ext>
            </a:extLst>
          </p:cNvPr>
          <p:cNvSpPr/>
          <p:nvPr/>
        </p:nvSpPr>
        <p:spPr>
          <a:xfrm>
            <a:off x="2167377" y="5449799"/>
            <a:ext cx="10837334" cy="4165243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HUFFMAN(C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n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= |C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|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Q = min-priority queue on frequency, initialized with all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characters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for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= 1 to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n-1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z = new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node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z.left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= x = EXTRACT-MIN(Q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z.right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= y = EXTRACT-MIN(Q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z.freq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x.freq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 + </a:t>
            </a:r>
            <a:r>
              <a:rPr lang="en-US" b="1" dirty="0" err="1" smtClean="0">
                <a:solidFill>
                  <a:srgbClr val="424242"/>
                </a:solidFill>
                <a:latin typeface="Courier New" panose="02070309020205020404" pitchFamily="49" charset="0"/>
              </a:rPr>
              <a:t>y.freq</a:t>
            </a:r>
            <a:endParaRPr lang="en-US" b="1" dirty="0" smtClean="0">
              <a:solidFill>
                <a:srgbClr val="424242"/>
              </a:solidFill>
              <a:latin typeface="Courier New" panose="02070309020205020404" pitchFamily="49" charset="0"/>
            </a:endParaRP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INSERT(Q, </a:t>
            </a: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z)</a:t>
            </a:r>
          </a:p>
          <a:p>
            <a:pPr marL="457200" indent="-457200" algn="l">
              <a:buAutoNum type="arabicPlain"/>
            </a:pPr>
            <a:r>
              <a:rPr lang="en-US" b="1" dirty="0" smtClean="0">
                <a:solidFill>
                  <a:srgbClr val="42424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424242"/>
                </a:solidFill>
                <a:latin typeface="Courier New" panose="02070309020205020404" pitchFamily="49" charset="0"/>
              </a:rPr>
              <a:t>return EXTRACT-MIN(Q)  // root of Huffman tree</a:t>
            </a:r>
            <a:endParaRPr lang="en-ID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84225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Huffman coding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Characters: a(45), b(13), c(12), d(16), e(9), f(5). (Frequencies in thousands</a:t>
            </a:r>
            <a:r>
              <a:rPr lang="en-US" dirty="0" smtClean="0"/>
              <a:t>.)</a:t>
            </a:r>
          </a:p>
          <a:p>
            <a:pPr marL="0" indent="0">
              <a:buNone/>
            </a:pPr>
            <a:r>
              <a:rPr lang="en-US" dirty="0" smtClean="0"/>
              <a:t>Sorted</a:t>
            </a:r>
            <a:r>
              <a:rPr lang="en-US" dirty="0"/>
              <a:t>: f(5), e(9), c(12), b(13), d(16), a(45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Step </a:t>
            </a:r>
            <a:r>
              <a:rPr lang="en-US" dirty="0"/>
              <a:t>1: Merge </a:t>
            </a:r>
            <a:r>
              <a:rPr lang="en-US" dirty="0" err="1"/>
              <a:t>f+e</a:t>
            </a:r>
            <a:r>
              <a:rPr lang="en-US" dirty="0"/>
              <a:t> → (14). Queue: c(12), b(13), (14), d(16), a(45). Step 2: Merge </a:t>
            </a:r>
            <a:r>
              <a:rPr lang="en-US" dirty="0" err="1"/>
              <a:t>c+b</a:t>
            </a:r>
            <a:r>
              <a:rPr lang="en-US" dirty="0"/>
              <a:t> → (25). Queue: (14), d(16), (25), a(45). Step 3: Merge (14)+d → (30). Queue: (25), (30), a(45). Step 4: Merge (25)+(30) → (55). Queue: a(45), (55). Step 5: Merge a+(55) → (100) = root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36628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Huffman coding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Resulting code: </a:t>
            </a:r>
            <a:r>
              <a:rPr lang="en-US" dirty="0"/>
              <a:t>a=0 (1 bit), others get 3 or 4 bits — characters with high frequency get short codes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B(T</a:t>
            </a:r>
            <a:r>
              <a:rPr lang="en-US" dirty="0"/>
              <a:t>) = 45×1 + 16×3 + 13×3 + 12×3 + 9×4 + 5×4 = 45+48+39+36+36+20 = 224 bits per 100 characters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Fixed-length </a:t>
            </a:r>
            <a:r>
              <a:rPr lang="en-US" dirty="0"/>
              <a:t>code would need ⌈log₂6⌉ = 3 bits per character → 300 bits. Huffman saves ~25%.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40229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Huffman coding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Correctness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Theorem (CLRS, p. 431): </a:t>
            </a:r>
            <a:r>
              <a:rPr lang="en-US" dirty="0"/>
              <a:t>Huffman's algorithm produces an optimal prefix-free code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Proof </a:t>
            </a:r>
            <a:r>
              <a:rPr lang="en-US" b="1" dirty="0"/>
              <a:t>sketch</a:t>
            </a:r>
            <a:r>
              <a:rPr lang="en-US" b="1" dirty="0" smtClean="0"/>
              <a:t>:</a:t>
            </a:r>
          </a:p>
          <a:p>
            <a:r>
              <a:rPr lang="en-US" b="1" dirty="0" smtClean="0"/>
              <a:t>Greedy </a:t>
            </a:r>
            <a:r>
              <a:rPr lang="en-US" b="1" dirty="0"/>
              <a:t>choice: </a:t>
            </a:r>
            <a:r>
              <a:rPr lang="en-US" dirty="0"/>
              <a:t>the two characters with lowest frequency have the longest </a:t>
            </a:r>
            <a:r>
              <a:rPr lang="en-US" dirty="0" err="1"/>
              <a:t>codewords</a:t>
            </a:r>
            <a:r>
              <a:rPr lang="en-US" dirty="0"/>
              <a:t> in some optimal tree; they can be siblings at the deepest level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Optimal </a:t>
            </a:r>
            <a:r>
              <a:rPr lang="en-US" b="1" dirty="0"/>
              <a:t>substructure: </a:t>
            </a:r>
            <a:r>
              <a:rPr lang="en-US" dirty="0"/>
              <a:t>after merging the two lowest-frequency nodes, the problem reduces to (n−1) characters with the merged node having combined frequency.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75362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Huffman coding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of Huffman Coding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ZIP/DEFLATE: </a:t>
            </a:r>
            <a:r>
              <a:rPr lang="en-US" dirty="0"/>
              <a:t>Huffman + LZ77 (Lempel-Ziv compression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JPEG</a:t>
            </a:r>
            <a:r>
              <a:rPr lang="en-US" b="1" dirty="0"/>
              <a:t>: </a:t>
            </a:r>
            <a:r>
              <a:rPr lang="en-US" dirty="0"/>
              <a:t>Huffman coding for quantized DCT coefficients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MP3</a:t>
            </a:r>
            <a:r>
              <a:rPr lang="en-US" b="1" dirty="0"/>
              <a:t>: </a:t>
            </a:r>
            <a:r>
              <a:rPr lang="en-US" dirty="0"/>
              <a:t>Huffman tables in the </a:t>
            </a:r>
            <a:r>
              <a:rPr lang="en-US" dirty="0" err="1"/>
              <a:t>bitstream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HTTP/2</a:t>
            </a:r>
            <a:r>
              <a:rPr lang="en-US" b="1" dirty="0"/>
              <a:t>: </a:t>
            </a:r>
            <a:r>
              <a:rPr lang="en-US" dirty="0"/>
              <a:t>HPACK header compression uses Huffman.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85005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summary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Activity-Selection: </a:t>
            </a:r>
            <a:r>
              <a:rPr lang="en-US" dirty="0"/>
              <a:t>sort by finish time; greedy choice (earliest finish) is always safe; O(n) iterative algorithm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Greedy </a:t>
            </a:r>
            <a:r>
              <a:rPr lang="en-US" b="1" dirty="0"/>
              <a:t>strategy requires: </a:t>
            </a:r>
            <a:r>
              <a:rPr lang="en-US" dirty="0"/>
              <a:t>greedy-choice property + optimal substructure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Exchange </a:t>
            </a:r>
            <a:r>
              <a:rPr lang="en-US" b="1" dirty="0"/>
              <a:t>argument: </a:t>
            </a:r>
            <a:r>
              <a:rPr lang="en-US" dirty="0"/>
              <a:t>prove that any deviation from greedy can be swapped to match greedy without loss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Huffman </a:t>
            </a:r>
            <a:r>
              <a:rPr lang="en-US" b="1" dirty="0"/>
              <a:t>coding: </a:t>
            </a:r>
            <a:r>
              <a:rPr lang="en-US" dirty="0"/>
              <a:t>merges lowest-frequency nodes greedily; produces optimal prefix-free code; O(n log n); widely used in compression.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74315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exercises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Run GREEDY-ACTIVITY-SELECTOR on: activities with (</a:t>
            </a:r>
            <a:r>
              <a:rPr lang="en-US" dirty="0" err="1"/>
              <a:t>s,f</a:t>
            </a:r>
            <a:r>
              <a:rPr lang="en-US" dirty="0"/>
              <a:t>): (1,3),(2,5),(4,7),(1,8),(5,9),(8,11),(6,10),(3,6). What is the result</a:t>
            </a:r>
            <a:r>
              <a:rPr lang="en-US" dirty="0" smtClean="0"/>
              <a:t>?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Prove </a:t>
            </a:r>
            <a:r>
              <a:rPr lang="en-US" dirty="0"/>
              <a:t>using the exchange argument that the earliest-deadline-first schedule minimizes maximum lateness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Construct </a:t>
            </a:r>
            <a:r>
              <a:rPr lang="en-US" dirty="0"/>
              <a:t>the Huffman tree for: a(10), b(15), c(12), d(3), e(4), f(13), g(1). Compute B(T) and compare to fixed 3-bit encoding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Is </a:t>
            </a:r>
            <a:r>
              <a:rPr lang="en-US" dirty="0"/>
              <a:t>Huffman coding still optimal if some characters have the same frequency? Justify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Explain </a:t>
            </a:r>
            <a:r>
              <a:rPr lang="en-US" dirty="0"/>
              <a:t>why Huffman coding is a prefix-free code (no </a:t>
            </a:r>
            <a:r>
              <a:rPr lang="en-US" dirty="0" err="1"/>
              <a:t>codeword</a:t>
            </a:r>
            <a:r>
              <a:rPr lang="en-US" dirty="0"/>
              <a:t> is a prefix of another) by referring to the tree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0632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smtClean="0"/>
              <a:t>references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Primary (Required): </a:t>
            </a:r>
            <a:r>
              <a:rPr lang="en-US" dirty="0" err="1"/>
              <a:t>Cormen</a:t>
            </a:r>
            <a:r>
              <a:rPr lang="en-US" dirty="0"/>
              <a:t>, T.H., </a:t>
            </a:r>
            <a:r>
              <a:rPr lang="en-US" dirty="0" err="1"/>
              <a:t>Leiserson</a:t>
            </a:r>
            <a:r>
              <a:rPr lang="en-US" dirty="0"/>
              <a:t>, C.E., </a:t>
            </a:r>
            <a:r>
              <a:rPr lang="en-US" dirty="0" err="1"/>
              <a:t>Rivest</a:t>
            </a:r>
            <a:r>
              <a:rPr lang="en-US" dirty="0"/>
              <a:t>, R.L., &amp; Stein, C. (2022). Introduction to Algorithms, 4th Edition. MIT Press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</a:t>
            </a:r>
            <a:r>
              <a:rPr lang="en-US" dirty="0"/>
              <a:t>. 15.1 — An Activity-Selection Problem (p. 418</a:t>
            </a:r>
            <a:r>
              <a:rPr lang="en-US" dirty="0" smtClean="0"/>
              <a:t>)</a:t>
            </a:r>
          </a:p>
          <a:p>
            <a:r>
              <a:rPr lang="en-US" dirty="0" smtClean="0"/>
              <a:t>Ch</a:t>
            </a:r>
            <a:r>
              <a:rPr lang="en-US" dirty="0"/>
              <a:t>. 15.2 — Elements of the Greedy Strategy (p. 426</a:t>
            </a:r>
            <a:r>
              <a:rPr lang="en-US" dirty="0" smtClean="0"/>
              <a:t>)</a:t>
            </a:r>
          </a:p>
          <a:p>
            <a:r>
              <a:rPr lang="en-US" dirty="0" smtClean="0"/>
              <a:t>Ch</a:t>
            </a:r>
            <a:r>
              <a:rPr lang="en-US" dirty="0"/>
              <a:t>. 15.3 — Huffman Codes (p. 431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b="1" dirty="0" smtClean="0"/>
              <a:t>Secondary </a:t>
            </a:r>
            <a:r>
              <a:rPr lang="en-US" b="1" dirty="0"/>
              <a:t>(Required): </a:t>
            </a:r>
            <a:r>
              <a:rPr lang="en-US" dirty="0" err="1"/>
              <a:t>Skiena</a:t>
            </a:r>
            <a:r>
              <a:rPr lang="en-US" dirty="0"/>
              <a:t>, S.S. (2020). The Algorithm Design Manual, 3rd Edition. Springer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</a:t>
            </a:r>
            <a:r>
              <a:rPr lang="en-US" dirty="0"/>
              <a:t>. 21.5 — Text Compression — Huffman Codes (p. 693) (Activity-selection not in </a:t>
            </a:r>
            <a:r>
              <a:rPr lang="en-US" dirty="0" err="1"/>
              <a:t>Skiena</a:t>
            </a:r>
            <a:r>
              <a:rPr lang="en-US" dirty="0"/>
              <a:t>; CLRS Ch. 15.1 is the primary reference.)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>
            <a:normAutofit/>
          </a:bodyPr>
          <a:lstStyle/>
          <a:p>
            <a:r>
              <a:rPr lang="en-US" dirty="0" smtClean="0"/>
              <a:t>Session 12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898693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5135</TotalTime>
  <Words>1815</Words>
  <Application>Microsoft Office PowerPoint</Application>
  <PresentationFormat>Custom</PresentationFormat>
  <Paragraphs>211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Open Sans</vt:lpstr>
      <vt:lpstr>Courier New</vt:lpstr>
      <vt:lpstr>Open Sans ExtraBold</vt:lpstr>
      <vt:lpstr>Helvetica Neue</vt:lpstr>
      <vt:lpstr>Helvetica Neue Medium</vt:lpstr>
      <vt:lpstr>Open Sans Semibold</vt:lpstr>
      <vt:lpstr>Open Sans Light</vt:lpstr>
      <vt:lpstr>OCRB</vt:lpstr>
      <vt:lpstr>Arial</vt:lpstr>
      <vt:lpstr>21_BasicWhite</vt:lpstr>
      <vt:lpstr>Greedy: activity-selection &amp;Huffman code</vt:lpstr>
      <vt:lpstr>Learning Outcomes</vt:lpstr>
      <vt:lpstr>Learning Outcomes</vt:lpstr>
      <vt:lpstr>outline</vt:lpstr>
      <vt:lpstr>Activity-selection problem</vt:lpstr>
      <vt:lpstr>Activity-selection problem</vt:lpstr>
      <vt:lpstr>Activity-selection problem</vt:lpstr>
      <vt:lpstr>Activity-selection problem</vt:lpstr>
      <vt:lpstr>Activity-selection problem</vt:lpstr>
      <vt:lpstr>Elements of the greedy strategy</vt:lpstr>
      <vt:lpstr>Elements of the greedy strategy</vt:lpstr>
      <vt:lpstr>Elements of the greedy strategy</vt:lpstr>
      <vt:lpstr>Exchange argument proof</vt:lpstr>
      <vt:lpstr>Exchange argument proof</vt:lpstr>
      <vt:lpstr>Exchange argument proof</vt:lpstr>
      <vt:lpstr>Huffman coding</vt:lpstr>
      <vt:lpstr>Exchange argument proof</vt:lpstr>
      <vt:lpstr>Huffman coding</vt:lpstr>
      <vt:lpstr>Huffman coding</vt:lpstr>
      <vt:lpstr>Huffman coding</vt:lpstr>
      <vt:lpstr>Huffman coding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lenovo</cp:lastModifiedBy>
  <cp:revision>88</cp:revision>
  <dcterms:created xsi:type="dcterms:W3CDTF">2023-11-17T02:51:40Z</dcterms:created>
  <dcterms:modified xsi:type="dcterms:W3CDTF">2026-06-24T10:27:50Z</dcterms:modified>
</cp:coreProperties>
</file>