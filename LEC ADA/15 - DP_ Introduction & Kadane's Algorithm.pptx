
<file path=[Content_Types].xml><?xml version="1.0" encoding="utf-8"?>
<Types xmlns="http://schemas.openxmlformats.org/package/2006/content-types">
  <Default Extension="emf" ContentType="image/x-emf"/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48" r:id="rId1"/>
  </p:sldMasterIdLst>
  <p:notesMasterIdLst>
    <p:notesMasterId r:id="rId34"/>
  </p:notesMasterIdLst>
  <p:sldIdLst>
    <p:sldId id="256" r:id="rId2"/>
    <p:sldId id="257" r:id="rId3"/>
    <p:sldId id="308" r:id="rId4"/>
    <p:sldId id="258" r:id="rId5"/>
    <p:sldId id="259" r:id="rId6"/>
    <p:sldId id="313" r:id="rId7"/>
    <p:sldId id="314" r:id="rId8"/>
    <p:sldId id="321" r:id="rId9"/>
    <p:sldId id="312" r:id="rId10"/>
    <p:sldId id="309" r:id="rId11"/>
    <p:sldId id="315" r:id="rId12"/>
    <p:sldId id="316" r:id="rId13"/>
    <p:sldId id="310" r:id="rId14"/>
    <p:sldId id="311" r:id="rId15"/>
    <p:sldId id="317" r:id="rId16"/>
    <p:sldId id="319" r:id="rId17"/>
    <p:sldId id="320" r:id="rId18"/>
    <p:sldId id="322" r:id="rId19"/>
    <p:sldId id="323" r:id="rId20"/>
    <p:sldId id="324" r:id="rId21"/>
    <p:sldId id="325" r:id="rId22"/>
    <p:sldId id="326" r:id="rId23"/>
    <p:sldId id="327" r:id="rId24"/>
    <p:sldId id="328" r:id="rId25"/>
    <p:sldId id="329" r:id="rId26"/>
    <p:sldId id="330" r:id="rId27"/>
    <p:sldId id="331" r:id="rId28"/>
    <p:sldId id="332" r:id="rId29"/>
    <p:sldId id="302" r:id="rId30"/>
    <p:sldId id="306" r:id="rId31"/>
    <p:sldId id="333" r:id="rId32"/>
    <p:sldId id="278" r:id="rId33"/>
  </p:sldIdLst>
  <p:sldSz cx="24384000" cy="13716000"/>
  <p:notesSz cx="6858000" cy="9144000"/>
  <p:embeddedFontLst>
    <p:embeddedFont>
      <p:font typeface="Cambria Math" panose="02040503050406030204" pitchFamily="18" charset="0"/>
      <p:regular r:id="rId35"/>
    </p:embeddedFont>
    <p:embeddedFont>
      <p:font typeface="Consolas" panose="020B0609020204030204" pitchFamily="49" charset="0"/>
      <p:regular r:id="rId36"/>
      <p:bold r:id="rId37"/>
      <p:italic r:id="rId38"/>
      <p:boldItalic r:id="rId39"/>
    </p:embeddedFont>
    <p:embeddedFont>
      <p:font typeface="OCRB" panose="020B0609020202020204" pitchFamily="49" charset="77"/>
      <p:regular r:id="rId40"/>
    </p:embeddedFont>
    <p:embeddedFont>
      <p:font typeface="Open Sans" panose="020B0606030504020204" pitchFamily="34" charset="0"/>
      <p:regular r:id="rId41"/>
      <p:bold r:id="rId42"/>
      <p:italic r:id="rId43"/>
      <p:boldItalic r:id="rId44"/>
    </p:embeddedFont>
    <p:embeddedFont>
      <p:font typeface="Open Sans ExtraBold" panose="020B0906030804020204" pitchFamily="34" charset="0"/>
      <p:bold r:id="rId45"/>
      <p:italic r:id="rId46"/>
      <p:boldItalic r:id="rId47"/>
    </p:embeddedFont>
    <p:embeddedFont>
      <p:font typeface="Open Sans Light" panose="020B0306030504020204" pitchFamily="34" charset="0"/>
      <p:regular r:id="rId48"/>
      <p:italic r:id="rId49"/>
    </p:embeddedFont>
    <p:embeddedFont>
      <p:font typeface="Open Sans Semibold" panose="020B0706030804020204" pitchFamily="34" charset="0"/>
      <p:regular r:id="rId50"/>
      <p:bold r:id="rId51"/>
      <p:italic r:id="rId52"/>
      <p:boldItalic r:id="rId53"/>
    </p:embeddedFont>
  </p:embeddedFontLst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</a:defRPr>
    </a:defPPr>
    <a:lvl1pPr marL="0" marR="0" indent="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1pPr>
    <a:lvl2pPr marL="0" marR="0" indent="4572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2pPr>
    <a:lvl3pPr marL="0" marR="0" indent="9144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3pPr>
    <a:lvl4pPr marL="0" marR="0" indent="13716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4pPr>
    <a:lvl5pPr marL="0" marR="0" indent="18288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5pPr>
    <a:lvl6pPr marL="0" marR="0" indent="22860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6pPr>
    <a:lvl7pPr marL="0" marR="0" indent="27432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7pPr>
    <a:lvl8pPr marL="0" marR="0" indent="32004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8pPr>
    <a:lvl9pPr marL="0" marR="0" indent="36576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9pPr>
  </p:defaultTextStyle>
  <p:extLst>
    <p:ext uri="{EFAFB233-063F-42B5-8137-9DF3F51BA10A}">
      <p15:sldGuideLst xmlns:p15="http://schemas.microsoft.com/office/powerpoint/2012/main">
        <p15:guide id="1" orient="horz" pos="4320" userDrawn="1">
          <p15:clr>
            <a:srgbClr val="A4A3A4"/>
          </p15:clr>
        </p15:guide>
        <p15:guide id="2" pos="76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1B5FF"/>
    <a:srgbClr val="F5AF36"/>
    <a:srgbClr val="314F9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940675A-B579-460E-94D1-54222C63F5DA}">
  <a:tblStyle styleId="{4C3C2611-4C71-4FC5-86AE-919BDF0F9419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E3E5E8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381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381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381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Row>
  </a:tblStyle>
  <a:tblStyle styleId="{C7B018BB-80A7-4F77-B60F-C8B233D01FF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36773"/>
              </a:solidFill>
              <a:prstDash val="solid"/>
              <a:miter lim="400000"/>
            </a:ln>
          </a:left>
          <a:right>
            <a:ln w="12700" cap="flat">
              <a:solidFill>
                <a:srgbClr val="536773"/>
              </a:solidFill>
              <a:prstDash val="solid"/>
              <a:miter lim="400000"/>
            </a:ln>
          </a:right>
          <a:top>
            <a:ln w="12700" cap="flat">
              <a:solidFill>
                <a:srgbClr val="536773"/>
              </a:solidFill>
              <a:prstDash val="solid"/>
              <a:miter lim="400000"/>
            </a:ln>
          </a:top>
          <a:bottom>
            <a:ln w="12700" cap="flat">
              <a:solidFill>
                <a:srgbClr val="536773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E3E5E8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254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536773"/>
              </a:solidFill>
              <a:prstDash val="solid"/>
              <a:miter lim="400000"/>
            </a:ln>
          </a:top>
          <a:bottom>
            <a:ln w="12700" cap="flat">
              <a:solidFill>
                <a:srgbClr val="536773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36773"/>
              </a:solidFill>
              <a:prstDash val="solid"/>
              <a:miter lim="400000"/>
            </a:ln>
          </a:left>
          <a:right>
            <a:ln w="12700" cap="flat">
              <a:solidFill>
                <a:srgbClr val="536773"/>
              </a:solidFill>
              <a:prstDash val="solid"/>
              <a:miter lim="400000"/>
            </a:ln>
          </a:right>
          <a:top>
            <a:ln w="381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36773"/>
              </a:solidFill>
              <a:prstDash val="solid"/>
              <a:miter lim="400000"/>
            </a:ln>
          </a:left>
          <a:right>
            <a:ln w="12700" cap="flat">
              <a:solidFill>
                <a:srgbClr val="536773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solidFill>
            <a:schemeClr val="accent1">
              <a:lumOff val="16847"/>
            </a:schemeClr>
          </a:solidFill>
        </a:fill>
      </a:tcStyle>
    </a:firstRow>
  </a:tblStyle>
  <a:tblStyle styleId="{EEE7283C-3CF3-47DC-8721-378D4A62B22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838383"/>
              </a:solidFill>
              <a:prstDash val="solid"/>
              <a:miter lim="400000"/>
            </a:ln>
          </a:left>
          <a:right>
            <a:ln w="12700" cap="flat">
              <a:solidFill>
                <a:srgbClr val="838383"/>
              </a:solidFill>
              <a:prstDash val="solid"/>
              <a:miter lim="400000"/>
            </a:ln>
          </a:right>
          <a:top>
            <a:ln w="12700" cap="flat">
              <a:solidFill>
                <a:srgbClr val="838383"/>
              </a:solidFill>
              <a:prstDash val="solid"/>
              <a:miter lim="400000"/>
            </a:ln>
          </a:top>
          <a:bottom>
            <a:ln w="12700" cap="flat">
              <a:solidFill>
                <a:srgbClr val="838383"/>
              </a:solidFill>
              <a:prstDash val="solid"/>
              <a:miter lim="400000"/>
            </a:ln>
          </a:bottom>
          <a:insideH>
            <a:ln w="12700" cap="flat">
              <a:solidFill>
                <a:srgbClr val="838383"/>
              </a:solidFill>
              <a:prstDash val="solid"/>
              <a:miter lim="400000"/>
            </a:ln>
          </a:insideH>
          <a:insideV>
            <a:ln w="12700" cap="flat">
              <a:solidFill>
                <a:srgbClr val="838383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EDEEEE"/>
          </a:solidFill>
        </a:fill>
      </a:tcStyle>
    </a:band2H>
    <a:firstCol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4D4D4D"/>
              </a:solidFill>
              <a:prstDash val="solid"/>
              <a:miter lim="400000"/>
            </a:ln>
          </a:left>
          <a:right>
            <a:ln w="12700" cap="flat">
              <a:solidFill>
                <a:srgbClr val="808080"/>
              </a:solidFill>
              <a:prstDash val="solid"/>
              <a:miter lim="400000"/>
            </a:ln>
          </a:right>
          <a:top>
            <a:ln w="12700" cap="flat">
              <a:solidFill>
                <a:srgbClr val="808080"/>
              </a:solidFill>
              <a:prstDash val="solid"/>
              <a:miter lim="400000"/>
            </a:ln>
          </a:top>
          <a:bottom>
            <a:ln w="12700" cap="flat">
              <a:solidFill>
                <a:srgbClr val="808080"/>
              </a:solidFill>
              <a:prstDash val="solid"/>
              <a:miter lim="400000"/>
            </a:ln>
          </a:bottom>
          <a:insideH>
            <a:ln w="12700" cap="flat">
              <a:solidFill>
                <a:srgbClr val="808080"/>
              </a:solidFill>
              <a:prstDash val="solid"/>
              <a:miter lim="400000"/>
            </a:ln>
          </a:insideH>
          <a:insideV>
            <a:ln w="12700" cap="flat">
              <a:solidFill>
                <a:srgbClr val="808080"/>
              </a:solidFill>
              <a:prstDash val="solid"/>
              <a:miter lim="400000"/>
            </a:ln>
          </a:insideV>
        </a:tcBdr>
        <a:fill>
          <a:solidFill>
            <a:srgbClr val="88FA4F"/>
          </a:solidFill>
        </a:fill>
      </a:tcStyle>
    </a:firstCol>
    <a:lastRow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38100" cap="flat">
              <a:solidFill>
                <a:schemeClr val="accent3"/>
              </a:solidFill>
              <a:prstDash val="solid"/>
              <a:miter lim="400000"/>
            </a:ln>
          </a:top>
          <a:bottom>
            <a:ln w="12700" cap="flat">
              <a:solidFill>
                <a:srgbClr val="4D4D4D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4D4D4D"/>
              </a:solidFill>
              <a:prstDash val="solid"/>
              <a:miter lim="400000"/>
            </a:ln>
          </a:left>
          <a:right>
            <a:ln w="12700" cap="flat">
              <a:solidFill>
                <a:srgbClr val="4D4D4D"/>
              </a:solidFill>
              <a:prstDash val="solid"/>
              <a:miter lim="400000"/>
            </a:ln>
          </a:right>
          <a:top>
            <a:ln w="12700" cap="flat">
              <a:solidFill>
                <a:srgbClr val="4D4D4D"/>
              </a:solidFill>
              <a:prstDash val="solid"/>
              <a:miter lim="400000"/>
            </a:ln>
          </a:top>
          <a:bottom>
            <a:ln w="12700" cap="flat">
              <a:solidFill>
                <a:srgbClr val="4D4D4D"/>
              </a:solidFill>
              <a:prstDash val="solid"/>
              <a:miter lim="400000"/>
            </a:ln>
          </a:bottom>
          <a:insideH>
            <a:ln w="12700" cap="flat">
              <a:solidFill>
                <a:srgbClr val="4D4D4D"/>
              </a:solidFill>
              <a:prstDash val="solid"/>
              <a:miter lim="400000"/>
            </a:ln>
          </a:insideH>
          <a:insideV>
            <a:ln w="12700" cap="flat">
              <a:solidFill>
                <a:srgbClr val="4D4D4D"/>
              </a:solidFill>
              <a:prstDash val="solid"/>
              <a:miter lim="400000"/>
            </a:ln>
          </a:insideV>
        </a:tcBdr>
        <a:fill>
          <a:solidFill>
            <a:srgbClr val="60D937"/>
          </a:solidFill>
        </a:fill>
      </a:tcStyle>
    </a:firstRow>
  </a:tblStyle>
  <a:tblStyle styleId="{CF821DB8-F4EB-4A41-A1BA-3FCAFE7338EE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5B5A5A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AF7E9"/>
          </a:solidFill>
        </a:fill>
      </a:tcStyle>
    </a:wholeTbl>
    <a:band2H>
      <a:tcTxStyle/>
      <a:tcStyle>
        <a:tcBdr/>
        <a:fill>
          <a:solidFill>
            <a:schemeClr val="accent4">
              <a:hueOff val="348544"/>
              <a:lumOff val="7139"/>
            </a:schemeClr>
          </a:solidFill>
        </a:fill>
      </a:tcStyle>
    </a:band2H>
    <a:firstCol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5B5A5A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8BB00"/>
          </a:solidFill>
        </a:fill>
      </a:tcStyle>
    </a:firstCol>
    <a:lastRow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38100" cap="flat">
              <a:solidFill>
                <a:srgbClr val="F8BA00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AF7E9"/>
          </a:solidFill>
        </a:fill>
      </a:tcStyle>
    </a:lastRow>
    <a:firstRow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5B5A5A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F9400"/>
          </a:solidFill>
        </a:fill>
      </a:tcStyle>
    </a:firstRow>
  </a:tblStyle>
  <a:tblStyle styleId="{33BA23B1-9221-436E-865A-0063620EA4FD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464646"/>
              </a:solidFill>
              <a:prstDash val="solid"/>
              <a:miter lim="400000"/>
            </a:ln>
          </a:left>
          <a:right>
            <a:ln w="12700" cap="flat">
              <a:solidFill>
                <a:srgbClr val="464646"/>
              </a:solidFill>
              <a:prstDash val="solid"/>
              <a:miter lim="400000"/>
            </a:ln>
          </a:right>
          <a:top>
            <a:ln w="12700" cap="flat">
              <a:solidFill>
                <a:srgbClr val="464646"/>
              </a:solidFill>
              <a:prstDash val="solid"/>
              <a:miter lim="400000"/>
            </a:ln>
          </a:top>
          <a:bottom>
            <a:ln w="12700" cap="flat">
              <a:solidFill>
                <a:srgbClr val="464646"/>
              </a:solidFill>
              <a:prstDash val="solid"/>
              <a:miter lim="400000"/>
            </a:ln>
          </a:bottom>
          <a:insideH>
            <a:ln w="12700" cap="flat">
              <a:solidFill>
                <a:srgbClr val="464646"/>
              </a:solidFill>
              <a:prstDash val="solid"/>
              <a:miter lim="400000"/>
            </a:ln>
          </a:insideH>
          <a:insideV>
            <a:ln w="12700" cap="flat">
              <a:solidFill>
                <a:srgbClr val="464646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D4D5D5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5E5E5E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C3C3C3"/>
              </a:solidFill>
              <a:prstDash val="solid"/>
              <a:miter lim="400000"/>
            </a:ln>
          </a:top>
          <a:bottom>
            <a:ln w="12700" cap="flat">
              <a:solidFill>
                <a:srgbClr val="C3C3C3"/>
              </a:solidFill>
              <a:prstDash val="solid"/>
              <a:miter lim="400000"/>
            </a:ln>
          </a:bottom>
          <a:insideH>
            <a:ln w="12700" cap="flat">
              <a:solidFill>
                <a:srgbClr val="C3C3C3"/>
              </a:solidFill>
              <a:prstDash val="solid"/>
              <a:miter lim="400000"/>
            </a:ln>
          </a:insideH>
          <a:insideV>
            <a:ln w="12700" cap="flat">
              <a:solidFill>
                <a:srgbClr val="C3C3C3"/>
              </a:solidFill>
              <a:prstDash val="solid"/>
              <a:miter lim="400000"/>
            </a:ln>
          </a:insideV>
        </a:tcBdr>
        <a:fill>
          <a:solidFill>
            <a:srgbClr val="CB2A7B"/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E5E5E"/>
              </a:solidFill>
              <a:prstDash val="solid"/>
              <a:miter lim="400000"/>
            </a:ln>
          </a:left>
          <a:right>
            <a:ln w="12700" cap="flat">
              <a:solidFill>
                <a:srgbClr val="5E5E5E"/>
              </a:solidFill>
              <a:prstDash val="solid"/>
              <a:miter lim="400000"/>
            </a:ln>
          </a:right>
          <a:top>
            <a:ln w="38100" cap="flat">
              <a:solidFill>
                <a:srgbClr val="CB297B"/>
              </a:solidFill>
              <a:prstDash val="solid"/>
              <a:miter lim="400000"/>
            </a:ln>
          </a:top>
          <a:bottom>
            <a:ln w="12700" cap="flat">
              <a:solidFill>
                <a:srgbClr val="5E5E5E"/>
              </a:solidFill>
              <a:prstDash val="solid"/>
              <a:miter lim="400000"/>
            </a:ln>
          </a:bottom>
          <a:insideH>
            <a:ln w="12700" cap="flat">
              <a:solidFill>
                <a:srgbClr val="5E5E5E"/>
              </a:solidFill>
              <a:prstDash val="solid"/>
              <a:miter lim="400000"/>
            </a:ln>
          </a:insideH>
          <a:insideV>
            <a:ln w="12700" cap="flat">
              <a:solidFill>
                <a:srgbClr val="5E5E5E"/>
              </a:solidFill>
              <a:prstDash val="solid"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A6AAA9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5E5E5E"/>
              </a:solidFill>
              <a:prstDash val="solid"/>
              <a:miter lim="400000"/>
            </a:ln>
          </a:top>
          <a:bottom>
            <a:ln w="12700" cap="flat">
              <a:solidFill>
                <a:srgbClr val="A6AAA9"/>
              </a:solidFill>
              <a:prstDash val="solid"/>
              <a:miter lim="400000"/>
            </a:ln>
          </a:bottom>
          <a:insideH>
            <a:ln w="12700" cap="flat">
              <a:solidFill>
                <a:srgbClr val="A6AAA9"/>
              </a:solidFill>
              <a:prstDash val="solid"/>
              <a:miter lim="400000"/>
            </a:ln>
          </a:insideH>
          <a:insideV>
            <a:ln w="12700" cap="flat">
              <a:solidFill>
                <a:srgbClr val="A6AAA9"/>
              </a:solidFill>
              <a:prstDash val="solid"/>
              <a:miter lim="400000"/>
            </a:ln>
          </a:insideV>
        </a:tcBdr>
        <a:fill>
          <a:solidFill>
            <a:srgbClr val="991A5F"/>
          </a:solidFill>
        </a:fill>
      </a:tcStyle>
    </a:firstRow>
  </a:tblStyle>
  <a:tblStyle styleId="{2708684C-4D16-4618-839F-0558EEFCDFE6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EDEEEE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6C6C6C"/>
              </a:solidFill>
              <a:prstDash val="solid"/>
              <a:miter lim="400000"/>
            </a:ln>
          </a:left>
          <a:right>
            <a:ln w="254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6C6C6C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6C6C6C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D6DCE0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D113A9D2-9D6B-4929-AA2D-F23B5EE8CBE7}" styleName="Themed Style 2 - Accent 1">
    <a:tblBg>
      <a:fillRef idx="3">
        <a:schemeClr val="accent1"/>
      </a:fillRef>
      <a:effectRef idx="3">
        <a:schemeClr val="accent1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1">
                <a:tint val="50000"/>
              </a:schemeClr>
            </a:lnRef>
          </a:left>
          <a:right>
            <a:lnRef idx="1">
              <a:schemeClr val="accent1">
                <a:tint val="50000"/>
              </a:schemeClr>
            </a:lnRef>
          </a:right>
          <a:top>
            <a:lnRef idx="1">
              <a:schemeClr val="accent1">
                <a:tint val="50000"/>
              </a:schemeClr>
            </a:lnRef>
          </a:top>
          <a:bottom>
            <a:lnRef idx="1">
              <a:schemeClr val="accent1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1167" autoAdjust="0"/>
    <p:restoredTop sz="95617"/>
  </p:normalViewPr>
  <p:slideViewPr>
    <p:cSldViewPr snapToGrid="0" snapToObjects="1">
      <p:cViewPr varScale="1">
        <p:scale>
          <a:sx n="43" d="100"/>
          <a:sy n="43" d="100"/>
        </p:scale>
        <p:origin x="328" y="768"/>
      </p:cViewPr>
      <p:guideLst>
        <p:guide orient="horz" pos="4320"/>
        <p:guide pos="76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font" Target="fonts/font5.fntdata"/><Relationship Id="rId21" Type="http://schemas.openxmlformats.org/officeDocument/2006/relationships/slide" Target="slides/slide20.xml"/><Relationship Id="rId34" Type="http://schemas.openxmlformats.org/officeDocument/2006/relationships/notesMaster" Target="notesMasters/notesMaster1.xml"/><Relationship Id="rId42" Type="http://schemas.openxmlformats.org/officeDocument/2006/relationships/font" Target="fonts/font8.fntdata"/><Relationship Id="rId47" Type="http://schemas.openxmlformats.org/officeDocument/2006/relationships/font" Target="fonts/font13.fntdata"/><Relationship Id="rId50" Type="http://schemas.openxmlformats.org/officeDocument/2006/relationships/font" Target="fonts/font16.fntdata"/><Relationship Id="rId55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font" Target="fonts/font3.fntdata"/><Relationship Id="rId40" Type="http://schemas.openxmlformats.org/officeDocument/2006/relationships/font" Target="fonts/font6.fntdata"/><Relationship Id="rId45" Type="http://schemas.openxmlformats.org/officeDocument/2006/relationships/font" Target="fonts/font11.fntdata"/><Relationship Id="rId53" Type="http://schemas.openxmlformats.org/officeDocument/2006/relationships/font" Target="fonts/font19.fntdata"/><Relationship Id="rId58" Type="http://schemas.microsoft.com/office/2016/11/relationships/changesInfo" Target="changesInfos/changesInfo1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font" Target="fonts/font1.fntdata"/><Relationship Id="rId43" Type="http://schemas.openxmlformats.org/officeDocument/2006/relationships/font" Target="fonts/font9.fntdata"/><Relationship Id="rId48" Type="http://schemas.openxmlformats.org/officeDocument/2006/relationships/font" Target="fonts/font14.fntdata"/><Relationship Id="rId56" Type="http://schemas.openxmlformats.org/officeDocument/2006/relationships/theme" Target="theme/theme1.xml"/><Relationship Id="rId8" Type="http://schemas.openxmlformats.org/officeDocument/2006/relationships/slide" Target="slides/slide7.xml"/><Relationship Id="rId51" Type="http://schemas.openxmlformats.org/officeDocument/2006/relationships/font" Target="fonts/font17.fntdata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font" Target="fonts/font4.fntdata"/><Relationship Id="rId46" Type="http://schemas.openxmlformats.org/officeDocument/2006/relationships/font" Target="fonts/font12.fntdata"/><Relationship Id="rId20" Type="http://schemas.openxmlformats.org/officeDocument/2006/relationships/slide" Target="slides/slide19.xml"/><Relationship Id="rId41" Type="http://schemas.openxmlformats.org/officeDocument/2006/relationships/font" Target="fonts/font7.fntdata"/><Relationship Id="rId54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font" Target="fonts/font2.fntdata"/><Relationship Id="rId49" Type="http://schemas.openxmlformats.org/officeDocument/2006/relationships/font" Target="fonts/font15.fntdata"/><Relationship Id="rId57" Type="http://schemas.openxmlformats.org/officeDocument/2006/relationships/tableStyles" Target="tableStyles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font" Target="fonts/font10.fntdata"/><Relationship Id="rId52" Type="http://schemas.openxmlformats.org/officeDocument/2006/relationships/font" Target="fonts/font18.fntdata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HENRY LUCKY" userId="9f9f0d3b-fafb-4a1f-811e-e1ce60336648" providerId="ADAL" clId="{87B23BC5-493B-58B6-9C8D-8C75A953FAD3}"/>
    <pc:docChg chg="undo custSel addSld delSld modSld">
      <pc:chgData name="HENRY LUCKY" userId="9f9f0d3b-fafb-4a1f-811e-e1ce60336648" providerId="ADAL" clId="{87B23BC5-493B-58B6-9C8D-8C75A953FAD3}" dt="2026-06-24T08:32:34.551" v="7251" actId="20577"/>
      <pc:docMkLst>
        <pc:docMk/>
      </pc:docMkLst>
      <pc:sldChg chg="modSp mod">
        <pc:chgData name="HENRY LUCKY" userId="9f9f0d3b-fafb-4a1f-811e-e1ce60336648" providerId="ADAL" clId="{87B23BC5-493B-58B6-9C8D-8C75A953FAD3}" dt="2026-06-24T08:32:34.551" v="7251" actId="20577"/>
        <pc:sldMkLst>
          <pc:docMk/>
          <pc:sldMk cId="1889462471" sldId="258"/>
        </pc:sldMkLst>
        <pc:spChg chg="mod">
          <ac:chgData name="HENRY LUCKY" userId="9f9f0d3b-fafb-4a1f-811e-e1ce60336648" providerId="ADAL" clId="{87B23BC5-493B-58B6-9C8D-8C75A953FAD3}" dt="2026-06-24T08:32:34.551" v="7251" actId="20577"/>
          <ac:spMkLst>
            <pc:docMk/>
            <pc:sldMk cId="1889462471" sldId="258"/>
            <ac:spMk id="3" creationId="{0002D373-5BC5-C51D-92C2-C090C3857861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Shape 170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endParaRPr dirty="0"/>
          </a:p>
        </p:txBody>
      </p:sp>
      <p:sp>
        <p:nvSpPr>
          <p:cNvPr id="171" name="Shape 171"/>
          <p:cNvSpPr>
            <a:spLocks noGrp="1"/>
          </p:cNvSpPr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defTabSz="457200" latinLnBrk="0">
      <a:lnSpc>
        <a:spcPct val="117999"/>
      </a:lnSpc>
      <a:defRPr sz="2200" b="0" i="0">
        <a:latin typeface="Open Sans Light" pitchFamily="2" charset="0"/>
        <a:ea typeface="Open Sans Light" pitchFamily="2" charset="0"/>
        <a:cs typeface="Open Sans Light" pitchFamily="2" charset="0"/>
        <a:sym typeface="Helvetica Neue"/>
      </a:defRPr>
    </a:lvl1pPr>
    <a:lvl2pPr indent="2286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2pPr>
    <a:lvl3pPr indent="4572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3pPr>
    <a:lvl4pPr indent="6858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4pPr>
    <a:lvl5pPr indent="9144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5pPr>
    <a:lvl6pPr indent="11430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6pPr>
    <a:lvl7pPr indent="13716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7pPr>
    <a:lvl8pPr indent="16002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8pPr>
    <a:lvl9pPr indent="18288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6752289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311294-70B3-5468-3536-EF2CCC8221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362A919-F3D0-836A-B98D-DA7A1491A77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F671343-9EEB-4ABB-1B58-92CCEC50C57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7554041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0066887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5609581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54A5AF-E64C-355A-253E-41370D369E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FE3C4F4-1AF8-9EF4-8D81-97EFFC14A4C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1344462-31A4-8CBD-6E23-8C7CF6158CC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7005337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CF2362-2BF5-FDFE-BDC5-D1F1270FB1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DBEAAF0-9D0A-DC9A-D8FD-139D56BAE20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B737A8D-BBB3-73E8-30A6-AF7FE93DEC2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5856064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AD0AF3-F639-A42A-BC1A-44299F989C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42F572F-8012-CFEA-27A0-6D099EFA341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6BFFF3D-B2E0-7A92-E3AB-F4E3697A8E4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9409143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5484EC-7EC0-C9EC-2B38-61E47FDB1D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3C77911-1AC5-BFAF-E1CA-148F591DFE8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135CB89-C194-D5FE-D62B-EDB3CCB20CF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011781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FDCEEF-89DF-91BE-8CD2-4F754781A9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07B21EB-AE99-DE63-09C7-A4F421234F6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861F48D-E44D-7103-FEF9-8FCC2EAA0B1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0327267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08C6EF-F54A-BB66-1A35-B3300A44D1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77EF744-51F8-57F6-D0DC-84BC5DFBD22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50D931F-29C4-5F97-75F7-DA1DCE9416A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0273042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3322B3-3893-1B52-2776-DC1533D189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9142EB8-5408-DD5E-A77B-B8E581462F8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6053CAA-1889-9C61-B9BE-7593B2B12D6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1993030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94E3B5-7E4A-65C1-4E7A-4D6156454B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9FAF69F-D988-3C30-C9D3-83F155A4003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C5EBFDF-34A5-DEBF-AC87-1DB4D8FAA17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0310322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E7B3B4-A84F-B2FC-CDF1-91B994130F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2CFBDFC-2DC6-A94D-2616-24E0FD013B4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DDCB9A2-DDDF-F587-341B-E32580E7B6B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595874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6F549D-C55C-B385-2E12-8D8A26147D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E5511AD-99A4-D56E-DF3D-BB7242E7441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D1C89AF-8001-B460-C25A-B44E730A6EB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39193094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48F13B-21B3-750D-2CA7-45CC0C3BCA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1EB4708-4649-64A1-E93F-B2A6EDDA00C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5BC5AD8-2EE2-E520-5400-4CDD1CE9F04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 = length of array, this is a 1-based array</a:t>
            </a:r>
          </a:p>
        </p:txBody>
      </p:sp>
    </p:spTree>
    <p:extLst>
      <p:ext uri="{BB962C8B-B14F-4D97-AF65-F5344CB8AC3E}">
        <p14:creationId xmlns:p14="http://schemas.microsoft.com/office/powerpoint/2010/main" val="2003660920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7177B3-7584-9461-C4A3-A25A184C8C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5FBC2A8-76B6-C600-3B95-CD715F9D45B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FD0D110-FBCD-A811-6940-EC1178E00DF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7225530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CFF715-A43D-5A60-7A10-417A418A3F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454A896-51B5-5BCD-FACA-D3B3C4D73E0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4199778-2CE8-0559-1B36-D1F81C33641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72379653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8D1F96-1169-1879-F8DC-1138613C51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B5D8E6F-4E47-1EDD-B376-0BD82637685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ADC396C-48EC-55D4-BDCF-3954F5D6BF2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D" sz="2200" b="0" i="0" dirty="0">
                <a:effectLst/>
                <a:latin typeface="Open Sans Light" pitchFamily="2" charset="0"/>
                <a:ea typeface="Open Sans Light" pitchFamily="2" charset="0"/>
                <a:cs typeface="Open Sans Light" pitchFamily="2" charset="0"/>
                <a:sym typeface="Helvetica Neue"/>
              </a:rPr>
              <a:t>We define the value of an optimal solution recursively based on our two structural options:</a:t>
            </a:r>
          </a:p>
        </p:txBody>
      </p:sp>
    </p:spTree>
    <p:extLst>
      <p:ext uri="{BB962C8B-B14F-4D97-AF65-F5344CB8AC3E}">
        <p14:creationId xmlns:p14="http://schemas.microsoft.com/office/powerpoint/2010/main" val="54223950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7B1A22-7149-5F3E-D24E-5AF39A4CCA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C1C2A80-975C-92D6-7F95-9E715534C9E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DC93E5D-24AD-3E68-6341-6359355E0D3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 = length of array, this is a 1-based array</a:t>
            </a:r>
          </a:p>
        </p:txBody>
      </p:sp>
    </p:spTree>
    <p:extLst>
      <p:ext uri="{BB962C8B-B14F-4D97-AF65-F5344CB8AC3E}">
        <p14:creationId xmlns:p14="http://schemas.microsoft.com/office/powerpoint/2010/main" val="820705429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1D06F0-6B66-1D91-9C37-863CD9F120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FA23CF6-9360-1577-BEC8-3A4DE8ECBB7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9E98C49-2261-C5DA-BE0D-C50BA6B039F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 = length of array, this is a 1-based array</a:t>
            </a:r>
          </a:p>
        </p:txBody>
      </p:sp>
    </p:spTree>
    <p:extLst>
      <p:ext uri="{BB962C8B-B14F-4D97-AF65-F5344CB8AC3E}">
        <p14:creationId xmlns:p14="http://schemas.microsoft.com/office/powerpoint/2010/main" val="2537380255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40969E-0484-23FF-0792-3D6EFFDB19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EB7F2EB-F639-5FB2-3291-1C2318DC31D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7EAAF9E-51B1-3932-CAD0-8DCA7F168AC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08830044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3E4C89-FA80-AFDF-57E4-E8743776F0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F26EA01-AA11-E187-32A4-75B24318080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6E5E832-19A3-4184-0B8B-2BB22D126DA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11665549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3403A8-9D70-37FC-046C-BC5D000B55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04AE72A-A7CE-1266-748B-048D49FF0E1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AA869A0-B70C-BABA-2CF9-D104C711A28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 = length of array, this is a 1-based array</a:t>
            </a:r>
          </a:p>
        </p:txBody>
      </p:sp>
    </p:spTree>
    <p:extLst>
      <p:ext uri="{BB962C8B-B14F-4D97-AF65-F5344CB8AC3E}">
        <p14:creationId xmlns:p14="http://schemas.microsoft.com/office/powerpoint/2010/main" val="330889942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F20E99-F977-0142-EE53-8753823D1A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5763DB3-436E-20E1-E817-816CBFC68DC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9366D9A-7600-4913-5C0D-EE8806D5FED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14560175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176E98-5CB0-96E4-6146-4C0A381C7D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C2C49CE-E2BF-71E2-DDBF-A21B910ADAE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05156AB-8F31-5EE6-5733-ED25368E537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23218752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307BB2-5FA5-6331-D1FD-8EA07A87E4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C65077F-0FD9-BD4E-86AE-0D2C5BABDC1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30FFE0C-A0C7-A322-0850-237F6446D76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8450106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6DADBA-24D3-8FA5-FA45-AA9B3DA246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9E8DD4E-7A28-3B2A-AF33-DC384556D36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0B9A3C2-8D39-5C60-2D86-FDBA5FD3188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3603175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7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7.pn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png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png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png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png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png"/></Relationships>
</file>

<file path=ppt/slideLayouts/_rels/slideLayout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9.svg"/><Relationship Id="rId7" Type="http://schemas.openxmlformats.org/officeDocument/2006/relationships/image" Target="../media/image5.png"/><Relationship Id="rId2" Type="http://schemas.openxmlformats.org/officeDocument/2006/relationships/image" Target="../media/image8.sv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4.png"/><Relationship Id="rId5" Type="http://schemas.openxmlformats.org/officeDocument/2006/relationships/image" Target="../media/image11.svg"/><Relationship Id="rId4" Type="http://schemas.openxmlformats.org/officeDocument/2006/relationships/image" Target="../media/image10.svg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2.sv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png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svg"/><Relationship Id="rId2" Type="http://schemas.openxmlformats.org/officeDocument/2006/relationships/image" Target="../media/image13.sv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png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5.sv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typ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BG Slide-01.jpg" descr="BG Slide-01.jpg">
            <a:extLst>
              <a:ext uri="{FF2B5EF4-FFF2-40B4-BE49-F238E27FC236}">
                <a16:creationId xmlns:a16="http://schemas.microsoft.com/office/drawing/2014/main" id="{2AB02847-5A77-D04F-9022-6161AA94A36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165" r="165"/>
          <a:stretch>
            <a:fillRect/>
          </a:stretch>
        </p:blipFill>
        <p:spPr>
          <a:xfrm>
            <a:off x="-86098" y="-57547"/>
            <a:ext cx="24507155" cy="13831095"/>
          </a:xfrm>
          <a:prstGeom prst="rect">
            <a:avLst/>
          </a:prstGeom>
          <a:ln w="12700">
            <a:miter lim="400000"/>
          </a:ln>
        </p:spPr>
      </p:pic>
      <p:sp>
        <p:nvSpPr>
          <p:cNvPr id="20" name="Rounded Rectangle">
            <a:extLst>
              <a:ext uri="{FF2B5EF4-FFF2-40B4-BE49-F238E27FC236}">
                <a16:creationId xmlns:a16="http://schemas.microsoft.com/office/drawing/2014/main" id="{2610CD5C-942F-BF48-875B-42FFCE146C9A}"/>
              </a:ext>
            </a:extLst>
          </p:cNvPr>
          <p:cNvSpPr/>
          <p:nvPr userDrawn="1"/>
        </p:nvSpPr>
        <p:spPr>
          <a:xfrm>
            <a:off x="11684000" y="10608557"/>
            <a:ext cx="1016000" cy="88901"/>
          </a:xfrm>
          <a:prstGeom prst="roundRect">
            <a:avLst>
              <a:gd name="adj" fmla="val 50000"/>
            </a:avLst>
          </a:prstGeom>
          <a:solidFill>
            <a:srgbClr val="F08700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82550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b="0" i="0"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9" name="Rounded Rectangle">
            <a:extLst>
              <a:ext uri="{FF2B5EF4-FFF2-40B4-BE49-F238E27FC236}">
                <a16:creationId xmlns:a16="http://schemas.microsoft.com/office/drawing/2014/main" id="{A398922F-A33B-3C44-AAA1-709DF0A7FE30}"/>
              </a:ext>
            </a:extLst>
          </p:cNvPr>
          <p:cNvSpPr/>
          <p:nvPr userDrawn="1"/>
        </p:nvSpPr>
        <p:spPr>
          <a:xfrm>
            <a:off x="11684000" y="10608557"/>
            <a:ext cx="1016000" cy="88901"/>
          </a:xfrm>
          <a:prstGeom prst="roundRect">
            <a:avLst>
              <a:gd name="adj" fmla="val 50000"/>
            </a:avLst>
          </a:prstGeom>
          <a:solidFill>
            <a:srgbClr val="F08700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82550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23" name="Body Level One…">
            <a:extLst>
              <a:ext uri="{FF2B5EF4-FFF2-40B4-BE49-F238E27FC236}">
                <a16:creationId xmlns:a16="http://schemas.microsoft.com/office/drawing/2014/main" id="{DC9E4D2B-1303-D647-ADF8-BD63A36C3CA0}"/>
              </a:ext>
            </a:extLst>
          </p:cNvPr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1201342" y="6754848"/>
            <a:ext cx="21971001" cy="1905001"/>
          </a:xfrm>
          <a:prstGeom prst="rect">
            <a:avLst/>
          </a:prstGeom>
        </p:spPr>
        <p:txBody>
          <a:bodyPr/>
          <a:lstStyle>
            <a:lvl1pPr marL="0" indent="0" algn="ctr" defTabSz="825500">
              <a:lnSpc>
                <a:spcPct val="100000"/>
              </a:lnSpc>
              <a:spcBef>
                <a:spcPts val="0"/>
              </a:spcBef>
              <a:buSzTx/>
              <a:buNone/>
              <a:defRPr kumimoji="0" sz="5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  <a:lvl2pPr marL="0" indent="4572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2pPr>
            <a:lvl3pPr marL="0" indent="9144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3pPr>
            <a:lvl4pPr marL="0" indent="13716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4pPr>
            <a:lvl5pPr marL="0" indent="18288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5pPr>
          </a:lstStyle>
          <a:p>
            <a:r>
              <a:rPr dirty="0"/>
              <a:t>Presentation Subtitle</a:t>
            </a:r>
          </a:p>
          <a:p>
            <a:pPr lvl="4"/>
            <a:endParaRPr dirty="0"/>
          </a:p>
        </p:txBody>
      </p:sp>
      <p:sp>
        <p:nvSpPr>
          <p:cNvPr id="24" name="Presentation Title">
            <a:extLst>
              <a:ext uri="{FF2B5EF4-FFF2-40B4-BE49-F238E27FC236}">
                <a16:creationId xmlns:a16="http://schemas.microsoft.com/office/drawing/2014/main" id="{1323A2FB-C06C-AA47-AA40-00FC9E490C61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1206496" y="2574991"/>
            <a:ext cx="21971004" cy="3917819"/>
          </a:xfrm>
          <a:prstGeom prst="rect">
            <a:avLst/>
          </a:prstGeom>
        </p:spPr>
        <p:txBody>
          <a:bodyPr anchor="b">
            <a:normAutofit/>
          </a:bodyPr>
          <a:lstStyle>
            <a:lvl1pPr algn="ctr">
              <a:defRPr kumimoji="0" sz="12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r>
              <a:rPr lang="en-US" dirty="0"/>
              <a:t>Presentation</a:t>
            </a:r>
            <a:r>
              <a:rPr dirty="0"/>
              <a:t> </a:t>
            </a:r>
            <a:r>
              <a:rPr lang="en-US" dirty="0"/>
              <a:t>Title</a:t>
            </a:r>
            <a:endParaRPr dirty="0"/>
          </a:p>
        </p:txBody>
      </p:sp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D6474C2C-5958-6F6B-1482-E67DED339DDC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0058192" y="11538583"/>
            <a:ext cx="4212692" cy="745888"/>
          </a:xfrm>
        </p:spPr>
        <p:txBody>
          <a:bodyPr>
            <a:normAutofit/>
          </a:bodyPr>
          <a:lstStyle>
            <a:lvl1pPr marL="0" indent="0" algn="ctr">
              <a:buNone/>
              <a:defRPr kumimoji="0" lang="en-US" sz="20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pPr lvl="0"/>
            <a:r>
              <a:rPr lang="en-US" dirty="0"/>
              <a:t>Type your name</a:t>
            </a:r>
          </a:p>
        </p:txBody>
      </p:sp>
      <p:sp>
        <p:nvSpPr>
          <p:cNvPr id="4" name="UNIVERSITAS BINA NUSANTARA">
            <a:extLst>
              <a:ext uri="{FF2B5EF4-FFF2-40B4-BE49-F238E27FC236}">
                <a16:creationId xmlns:a16="http://schemas.microsoft.com/office/drawing/2014/main" id="{5DC7F27E-9CB9-099F-4DA7-367C6ADB411B}"/>
              </a:ext>
            </a:extLst>
          </p:cNvPr>
          <p:cNvSpPr txBox="1"/>
          <p:nvPr userDrawn="1"/>
        </p:nvSpPr>
        <p:spPr>
          <a:xfrm>
            <a:off x="10058192" y="11100823"/>
            <a:ext cx="4212692" cy="3512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/>
          <a:p>
            <a:pPr algn="l" defTabSz="821531">
              <a:lnSpc>
                <a:spcPct val="80000"/>
              </a:lnSpc>
              <a:defRPr sz="3600">
                <a:solidFill>
                  <a:srgbClr val="FFFFFF"/>
                </a:solidFill>
                <a:latin typeface="Open Sans Light"/>
                <a:ea typeface="Open Sans Light"/>
                <a:cs typeface="Open Sans Light"/>
                <a:sym typeface="Open Sans"/>
              </a:defRPr>
            </a:pPr>
            <a:r>
              <a:rPr lang="en-US" sz="2800" dirty="0"/>
              <a:t>SUBJECT MATTER EXPERT</a:t>
            </a:r>
            <a:endParaRPr sz="2800" b="1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D72B8CD-2B60-168D-460C-3FFD38B69D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1009027" y="758208"/>
            <a:ext cx="2698754" cy="1143002"/>
          </a:xfrm>
          <a:prstGeom prst="rect">
            <a:avLst/>
          </a:prstGeom>
        </p:spPr>
      </p:pic>
      <p:pic>
        <p:nvPicPr>
          <p:cNvPr id="7" name="Image" descr="Image">
            <a:extLst>
              <a:ext uri="{FF2B5EF4-FFF2-40B4-BE49-F238E27FC236}">
                <a16:creationId xmlns:a16="http://schemas.microsoft.com/office/drawing/2014/main" id="{69A49E29-524D-6392-0485-9DF63C0D6D3D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766734" y="758207"/>
            <a:ext cx="1914949" cy="1143001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4094124863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typ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4C90E15E-9DC3-D24F-8189-931487225A4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67377" y="1872058"/>
            <a:ext cx="14715569" cy="510281"/>
          </a:xfrm>
        </p:spPr>
        <p:txBody>
          <a:bodyPr>
            <a:normAutofit/>
          </a:bodyPr>
          <a:lstStyle>
            <a:lvl1pPr>
              <a:defRPr kumimoji="0" lang="en-US" sz="3800" b="1" i="0" u="none" strike="noStrike" cap="all" spc="0" normalizeH="0" baseline="0">
                <a:ln>
                  <a:noFill/>
                </a:ln>
                <a:solidFill>
                  <a:srgbClr val="128CCD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F9A081F0-DCC0-4F43-B885-A177263AC1B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167377" y="2419728"/>
            <a:ext cx="9768875" cy="803546"/>
          </a:xfrm>
        </p:spPr>
        <p:txBody>
          <a:bodyPr/>
          <a:lstStyle>
            <a:lvl1pPr marL="0" indent="0">
              <a:buNone/>
              <a:defRPr kumimoji="0" lang="en-US" sz="3200" b="1" i="0" u="none" strike="noStrike" cap="all" spc="0" normalizeH="0" baseline="0">
                <a:ln>
                  <a:noFill/>
                </a:ln>
                <a:solidFill>
                  <a:srgbClr val="424242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pPr lvl="0"/>
            <a:r>
              <a:rPr lang="en-US" dirty="0"/>
              <a:t>SUB TITLE</a:t>
            </a:r>
          </a:p>
        </p:txBody>
      </p:sp>
      <p:sp>
        <p:nvSpPr>
          <p:cNvPr id="11" name="Content Placeholder 7">
            <a:extLst>
              <a:ext uri="{FF2B5EF4-FFF2-40B4-BE49-F238E27FC236}">
                <a16:creationId xmlns:a16="http://schemas.microsoft.com/office/drawing/2014/main" id="{CCD29839-25B4-3D48-8D8C-B1D859A74A9A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2167377" y="3714224"/>
            <a:ext cx="19309300" cy="8129718"/>
          </a:xfrm>
        </p:spPr>
        <p:txBody>
          <a:bodyPr>
            <a:normAutofit/>
          </a:bodyPr>
          <a:lstStyle>
            <a:lvl1pPr marL="742950" indent="-742950">
              <a:lnSpc>
                <a:spcPct val="100000"/>
              </a:lnSpc>
              <a:spcBef>
                <a:spcPts val="3500"/>
              </a:spcBef>
              <a:buSzPct val="100000"/>
              <a:buFont typeface="Arial" panose="020B0604020202020204" pitchFamily="34" charset="0"/>
              <a:buChar char="•"/>
              <a:tabLst/>
              <a:defRPr kumimoji="0" lang="en-US" sz="44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Helvetica Neue"/>
              </a:defRPr>
            </a:lvl1pPr>
            <a:lvl2pPr marL="1498950" indent="-742950">
              <a:lnSpc>
                <a:spcPct val="100000"/>
              </a:lnSpc>
              <a:spcBef>
                <a:spcPts val="3500"/>
              </a:spcBef>
              <a:buSzPct val="100000"/>
              <a:buFont typeface="Arial" panose="020B0604020202020204" pitchFamily="34" charset="0"/>
              <a:buChar char="•"/>
              <a:tabLst/>
              <a:defRPr kumimoji="0" lang="en-US" sz="44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Helvetica Neue"/>
              </a:defRPr>
            </a:lvl2pPr>
            <a:lvl3pPr marL="2254950" indent="-742950">
              <a:lnSpc>
                <a:spcPct val="100000"/>
              </a:lnSpc>
              <a:spcBef>
                <a:spcPts val="3500"/>
              </a:spcBef>
              <a:buSzPct val="100000"/>
              <a:buFont typeface="Arial" panose="020B0604020202020204" pitchFamily="34" charset="0"/>
              <a:buChar char="•"/>
              <a:tabLst/>
              <a:defRPr kumimoji="0" lang="en-US" sz="44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Helvetica Neue"/>
              </a:defRPr>
            </a:lvl3pPr>
            <a:lvl4pPr marL="3010950" indent="-742950">
              <a:lnSpc>
                <a:spcPct val="100000"/>
              </a:lnSpc>
              <a:spcBef>
                <a:spcPts val="3500"/>
              </a:spcBef>
              <a:buSzPct val="100000"/>
              <a:buFont typeface="Arial" panose="020B0604020202020204" pitchFamily="34" charset="0"/>
              <a:buChar char="•"/>
              <a:tabLst/>
              <a:defRPr kumimoji="0" lang="en-US" sz="44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Helvetica Neue"/>
              </a:defRPr>
            </a:lvl4pPr>
            <a:lvl5pPr marL="3658950" indent="-742950">
              <a:lnSpc>
                <a:spcPct val="100000"/>
              </a:lnSpc>
              <a:spcBef>
                <a:spcPts val="3500"/>
              </a:spcBef>
              <a:buSzPct val="100000"/>
              <a:buFont typeface="Arial" panose="020B0604020202020204" pitchFamily="34" charset="0"/>
              <a:buChar char="•"/>
              <a:tabLst/>
              <a:defRPr kumimoji="0" lang="en-US" sz="44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Helvetica Neue"/>
              </a:defRPr>
            </a:lvl5pPr>
            <a:lvl7pPr marL="3657600" indent="0">
              <a:buNone/>
              <a:defRPr/>
            </a:lvl7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CB39841-01E8-3B46-1169-9D75B18B74D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166"/>
          <a:stretch/>
        </p:blipFill>
        <p:spPr>
          <a:xfrm>
            <a:off x="20815349" y="0"/>
            <a:ext cx="2811993" cy="1473200"/>
          </a:xfrm>
          <a:prstGeom prst="rect">
            <a:avLst/>
          </a:prstGeom>
        </p:spPr>
      </p:pic>
      <p:grpSp>
        <p:nvGrpSpPr>
          <p:cNvPr id="2" name="Group">
            <a:extLst>
              <a:ext uri="{FF2B5EF4-FFF2-40B4-BE49-F238E27FC236}">
                <a16:creationId xmlns:a16="http://schemas.microsoft.com/office/drawing/2014/main" id="{AC8C371E-C0F6-4081-3D3F-D6E3528C4285}"/>
              </a:ext>
            </a:extLst>
          </p:cNvPr>
          <p:cNvGrpSpPr/>
          <p:nvPr userDrawn="1"/>
        </p:nvGrpSpPr>
        <p:grpSpPr>
          <a:xfrm>
            <a:off x="756659" y="-3867"/>
            <a:ext cx="2783909" cy="2014172"/>
            <a:chOff x="-2864397" y="0"/>
            <a:chExt cx="2783907" cy="2014171"/>
          </a:xfrm>
        </p:grpSpPr>
        <p:pic>
          <p:nvPicPr>
            <p:cNvPr id="4" name="Image" descr="Image">
              <a:extLst>
                <a:ext uri="{FF2B5EF4-FFF2-40B4-BE49-F238E27FC236}">
                  <a16:creationId xmlns:a16="http://schemas.microsoft.com/office/drawing/2014/main" id="{521B05C9-D576-5C9F-B6FD-5FB48D1A784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-2864398" y="-1"/>
              <a:ext cx="630382" cy="135967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6" name="Image" descr="Image">
              <a:extLst>
                <a:ext uri="{FF2B5EF4-FFF2-40B4-BE49-F238E27FC236}">
                  <a16:creationId xmlns:a16="http://schemas.microsoft.com/office/drawing/2014/main" id="{BAAB4BAE-E916-72F8-967D-ECE287538CAD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t="88153" r="78332"/>
            <a:stretch>
              <a:fillRect/>
            </a:stretch>
          </p:blipFill>
          <p:spPr>
            <a:xfrm>
              <a:off x="-2850027" y="1390294"/>
              <a:ext cx="601633" cy="623878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7" name="Image" descr="Image">
              <a:extLst>
                <a:ext uri="{FF2B5EF4-FFF2-40B4-BE49-F238E27FC236}">
                  <a16:creationId xmlns:a16="http://schemas.microsoft.com/office/drawing/2014/main" id="{4B27BB17-04E8-65DD-1C87-6ECA478DD2AB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l="31837" t="7689" b="68044"/>
            <a:stretch>
              <a:fillRect/>
            </a:stretch>
          </p:blipFill>
          <p:spPr>
            <a:xfrm>
              <a:off x="-1973131" y="245246"/>
              <a:ext cx="1892642" cy="127797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</p:spTree>
    <p:extLst>
      <p:ext uri="{BB962C8B-B14F-4D97-AF65-F5344CB8AC3E}">
        <p14:creationId xmlns:p14="http://schemas.microsoft.com/office/powerpoint/2010/main" val="109024523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typ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BG Slide-01.jpg" descr="BG Slide-01.jpg">
            <a:extLst>
              <a:ext uri="{FF2B5EF4-FFF2-40B4-BE49-F238E27FC236}">
                <a16:creationId xmlns:a16="http://schemas.microsoft.com/office/drawing/2014/main" id="{2AB02847-5A77-D04F-9022-6161AA94A36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165" r="165"/>
          <a:stretch>
            <a:fillRect/>
          </a:stretch>
        </p:blipFill>
        <p:spPr>
          <a:xfrm>
            <a:off x="-86098" y="-57547"/>
            <a:ext cx="24507155" cy="13831095"/>
          </a:xfrm>
          <a:prstGeom prst="rect">
            <a:avLst/>
          </a:prstGeom>
          <a:ln w="12700">
            <a:miter lim="400000"/>
          </a:ln>
        </p:spPr>
      </p:pic>
      <p:sp>
        <p:nvSpPr>
          <p:cNvPr id="10" name="Rectangle">
            <a:extLst>
              <a:ext uri="{FF2B5EF4-FFF2-40B4-BE49-F238E27FC236}">
                <a16:creationId xmlns:a16="http://schemas.microsoft.com/office/drawing/2014/main" id="{F7BB76AE-A45C-1F43-9E7B-E96439A8D439}"/>
              </a:ext>
            </a:extLst>
          </p:cNvPr>
          <p:cNvSpPr/>
          <p:nvPr userDrawn="1"/>
        </p:nvSpPr>
        <p:spPr>
          <a:xfrm>
            <a:off x="0" y="0"/>
            <a:ext cx="24384000" cy="13716000"/>
          </a:xfrm>
          <a:prstGeom prst="rect">
            <a:avLst/>
          </a:prstGeom>
          <a:gradFill>
            <a:gsLst>
              <a:gs pos="0">
                <a:srgbClr val="2670B8"/>
              </a:gs>
              <a:gs pos="100000">
                <a:srgbClr val="2258A7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20" name="Rounded Rectangle">
            <a:extLst>
              <a:ext uri="{FF2B5EF4-FFF2-40B4-BE49-F238E27FC236}">
                <a16:creationId xmlns:a16="http://schemas.microsoft.com/office/drawing/2014/main" id="{2610CD5C-942F-BF48-875B-42FFCE146C9A}"/>
              </a:ext>
            </a:extLst>
          </p:cNvPr>
          <p:cNvSpPr/>
          <p:nvPr userDrawn="1"/>
        </p:nvSpPr>
        <p:spPr>
          <a:xfrm>
            <a:off x="11684000" y="10608557"/>
            <a:ext cx="1016000" cy="88901"/>
          </a:xfrm>
          <a:prstGeom prst="roundRect">
            <a:avLst>
              <a:gd name="adj" fmla="val 50000"/>
            </a:avLst>
          </a:prstGeom>
          <a:solidFill>
            <a:srgbClr val="F08700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82550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b="0" i="0"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9" name="Rounded Rectangle">
            <a:extLst>
              <a:ext uri="{FF2B5EF4-FFF2-40B4-BE49-F238E27FC236}">
                <a16:creationId xmlns:a16="http://schemas.microsoft.com/office/drawing/2014/main" id="{A398922F-A33B-3C44-AAA1-709DF0A7FE30}"/>
              </a:ext>
            </a:extLst>
          </p:cNvPr>
          <p:cNvSpPr/>
          <p:nvPr userDrawn="1"/>
        </p:nvSpPr>
        <p:spPr>
          <a:xfrm>
            <a:off x="11684000" y="10608557"/>
            <a:ext cx="1016000" cy="88901"/>
          </a:xfrm>
          <a:prstGeom prst="roundRect">
            <a:avLst>
              <a:gd name="adj" fmla="val 50000"/>
            </a:avLst>
          </a:prstGeom>
          <a:solidFill>
            <a:srgbClr val="F08700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82550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23" name="Body Level One…">
            <a:extLst>
              <a:ext uri="{FF2B5EF4-FFF2-40B4-BE49-F238E27FC236}">
                <a16:creationId xmlns:a16="http://schemas.microsoft.com/office/drawing/2014/main" id="{DC9E4D2B-1303-D647-ADF8-BD63A36C3CA0}"/>
              </a:ext>
            </a:extLst>
          </p:cNvPr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1201342" y="6754848"/>
            <a:ext cx="21971001" cy="1905001"/>
          </a:xfrm>
          <a:prstGeom prst="rect">
            <a:avLst/>
          </a:prstGeom>
        </p:spPr>
        <p:txBody>
          <a:bodyPr/>
          <a:lstStyle>
            <a:lvl1pPr marL="0" indent="0" algn="ctr" defTabSz="825500">
              <a:lnSpc>
                <a:spcPct val="100000"/>
              </a:lnSpc>
              <a:spcBef>
                <a:spcPts val="0"/>
              </a:spcBef>
              <a:buSzTx/>
              <a:buNone/>
              <a:defRPr kumimoji="0" sz="5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  <a:lvl2pPr marL="0" indent="4572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2pPr>
            <a:lvl3pPr marL="0" indent="9144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3pPr>
            <a:lvl4pPr marL="0" indent="13716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4pPr>
            <a:lvl5pPr marL="0" indent="18288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5pPr>
          </a:lstStyle>
          <a:p>
            <a:r>
              <a:rPr dirty="0"/>
              <a:t>Presentation Subtitle</a:t>
            </a:r>
          </a:p>
          <a:p>
            <a:pPr lvl="4"/>
            <a:endParaRPr dirty="0"/>
          </a:p>
        </p:txBody>
      </p:sp>
      <p:sp>
        <p:nvSpPr>
          <p:cNvPr id="24" name="Presentation Title">
            <a:extLst>
              <a:ext uri="{FF2B5EF4-FFF2-40B4-BE49-F238E27FC236}">
                <a16:creationId xmlns:a16="http://schemas.microsoft.com/office/drawing/2014/main" id="{1323A2FB-C06C-AA47-AA40-00FC9E490C61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1206496" y="2574991"/>
            <a:ext cx="21971004" cy="3917819"/>
          </a:xfrm>
          <a:prstGeom prst="rect">
            <a:avLst/>
          </a:prstGeom>
        </p:spPr>
        <p:txBody>
          <a:bodyPr anchor="b">
            <a:normAutofit/>
          </a:bodyPr>
          <a:lstStyle>
            <a:lvl1pPr algn="ctr">
              <a:defRPr kumimoji="0" sz="12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r>
              <a:rPr lang="en-US" dirty="0"/>
              <a:t>Presentation</a:t>
            </a:r>
            <a:r>
              <a:rPr dirty="0"/>
              <a:t> </a:t>
            </a:r>
            <a:r>
              <a:rPr lang="en-ID" dirty="0"/>
              <a:t>Title</a:t>
            </a:r>
            <a:endParaRPr dirty="0"/>
          </a:p>
        </p:txBody>
      </p:sp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23DCB9E1-9FF7-C612-AB16-FF6707878307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0058192" y="11538583"/>
            <a:ext cx="4212692" cy="745888"/>
          </a:xfrm>
        </p:spPr>
        <p:txBody>
          <a:bodyPr>
            <a:normAutofit/>
          </a:bodyPr>
          <a:lstStyle>
            <a:lvl1pPr marL="0" indent="0" algn="ctr">
              <a:buNone/>
              <a:defRPr kumimoji="0" lang="en-US" sz="20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pPr lvl="0"/>
            <a:r>
              <a:rPr lang="en-US" dirty="0"/>
              <a:t>Type your name</a:t>
            </a:r>
          </a:p>
        </p:txBody>
      </p:sp>
      <p:sp>
        <p:nvSpPr>
          <p:cNvPr id="3" name="UNIVERSITAS BINA NUSANTARA">
            <a:extLst>
              <a:ext uri="{FF2B5EF4-FFF2-40B4-BE49-F238E27FC236}">
                <a16:creationId xmlns:a16="http://schemas.microsoft.com/office/drawing/2014/main" id="{76287026-42FF-418F-A536-8F52F4949E8D}"/>
              </a:ext>
            </a:extLst>
          </p:cNvPr>
          <p:cNvSpPr txBox="1"/>
          <p:nvPr userDrawn="1"/>
        </p:nvSpPr>
        <p:spPr>
          <a:xfrm>
            <a:off x="10058192" y="11100823"/>
            <a:ext cx="4212692" cy="3512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/>
          <a:p>
            <a:pPr algn="l" defTabSz="821531">
              <a:lnSpc>
                <a:spcPct val="80000"/>
              </a:lnSpc>
              <a:defRPr sz="3600">
                <a:solidFill>
                  <a:srgbClr val="FFFFFF"/>
                </a:solidFill>
                <a:latin typeface="Open Sans Light"/>
                <a:ea typeface="Open Sans Light"/>
                <a:cs typeface="Open Sans Light"/>
                <a:sym typeface="Open Sans"/>
              </a:defRPr>
            </a:pPr>
            <a:r>
              <a:rPr lang="en-US" sz="2800" dirty="0"/>
              <a:t>SUBJECT MATTER EXPERT</a:t>
            </a:r>
            <a:endParaRPr sz="2800" b="1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2412E04-E7E5-6907-9DD0-CE975EF383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1009028" y="758208"/>
            <a:ext cx="2698754" cy="1143002"/>
          </a:xfrm>
          <a:prstGeom prst="rect">
            <a:avLst/>
          </a:prstGeom>
        </p:spPr>
      </p:pic>
      <p:pic>
        <p:nvPicPr>
          <p:cNvPr id="5" name="Image" descr="Image">
            <a:extLst>
              <a:ext uri="{FF2B5EF4-FFF2-40B4-BE49-F238E27FC236}">
                <a16:creationId xmlns:a16="http://schemas.microsoft.com/office/drawing/2014/main" id="{926A66CA-CC36-3D53-1A6D-2BBE35B859D5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766734" y="758207"/>
            <a:ext cx="1914949" cy="1143001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500318571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Section typ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BG Slide-01.jpg" descr="BG Slide-01.jpg">
            <a:extLst>
              <a:ext uri="{FF2B5EF4-FFF2-40B4-BE49-F238E27FC236}">
                <a16:creationId xmlns:a16="http://schemas.microsoft.com/office/drawing/2014/main" id="{4290823B-2698-F44F-82ED-3153CB051CA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165" r="165"/>
          <a:stretch>
            <a:fillRect/>
          </a:stretch>
        </p:blipFill>
        <p:spPr>
          <a:xfrm>
            <a:off x="-86098" y="-57547"/>
            <a:ext cx="24507155" cy="13831095"/>
          </a:xfrm>
          <a:prstGeom prst="rect">
            <a:avLst/>
          </a:prstGeom>
          <a:ln w="12700">
            <a:miter lim="400000"/>
          </a:ln>
        </p:spPr>
      </p:pic>
      <p:sp>
        <p:nvSpPr>
          <p:cNvPr id="71" name="Section Title"/>
          <p:cNvSpPr txBox="1">
            <a:spLocks noGrp="1"/>
          </p:cNvSpPr>
          <p:nvPr>
            <p:ph type="title" hasCustomPrompt="1"/>
          </p:nvPr>
        </p:nvSpPr>
        <p:spPr>
          <a:xfrm>
            <a:off x="1206496" y="4533900"/>
            <a:ext cx="21971004" cy="4648200"/>
          </a:xfrm>
          <a:prstGeom prst="rect">
            <a:avLst/>
          </a:prstGeom>
        </p:spPr>
        <p:txBody>
          <a:bodyPr anchor="ctr"/>
          <a:lstStyle>
            <a:lvl1pPr algn="ctr">
              <a:defRPr kumimoji="0" sz="10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r>
              <a:rPr dirty="0"/>
              <a:t>Section Title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8C493109-42AD-F678-F34A-9DA73287D1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0901451" y="758208"/>
            <a:ext cx="2698754" cy="1143002"/>
          </a:xfrm>
          <a:prstGeom prst="rect">
            <a:avLst/>
          </a:prstGeom>
        </p:spPr>
      </p:pic>
      <p:pic>
        <p:nvPicPr>
          <p:cNvPr id="3" name="Image" descr="Image">
            <a:extLst>
              <a:ext uri="{FF2B5EF4-FFF2-40B4-BE49-F238E27FC236}">
                <a16:creationId xmlns:a16="http://schemas.microsoft.com/office/drawing/2014/main" id="{B64D7030-BF7A-6737-0471-B16F6A5E9140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766734" y="758207"/>
            <a:ext cx="1914949" cy="1143001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28262084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Section typ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BG Slide-01.jpg" descr="BG Slide-01.jpg">
            <a:extLst>
              <a:ext uri="{FF2B5EF4-FFF2-40B4-BE49-F238E27FC236}">
                <a16:creationId xmlns:a16="http://schemas.microsoft.com/office/drawing/2014/main" id="{4290823B-2698-F44F-82ED-3153CB051CA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165" r="165"/>
          <a:stretch>
            <a:fillRect/>
          </a:stretch>
        </p:blipFill>
        <p:spPr>
          <a:xfrm>
            <a:off x="-86098" y="-57547"/>
            <a:ext cx="24507155" cy="13831095"/>
          </a:xfrm>
          <a:prstGeom prst="rect">
            <a:avLst/>
          </a:prstGeom>
          <a:ln w="12700">
            <a:miter lim="400000"/>
          </a:ln>
        </p:spPr>
      </p:pic>
      <p:sp>
        <p:nvSpPr>
          <p:cNvPr id="8" name="Rectangle">
            <a:extLst>
              <a:ext uri="{FF2B5EF4-FFF2-40B4-BE49-F238E27FC236}">
                <a16:creationId xmlns:a16="http://schemas.microsoft.com/office/drawing/2014/main" id="{039E3D91-9575-7645-A4DA-1857555C3973}"/>
              </a:ext>
            </a:extLst>
          </p:cNvPr>
          <p:cNvSpPr/>
          <p:nvPr userDrawn="1"/>
        </p:nvSpPr>
        <p:spPr>
          <a:xfrm>
            <a:off x="0" y="0"/>
            <a:ext cx="24384000" cy="13716000"/>
          </a:xfrm>
          <a:prstGeom prst="rect">
            <a:avLst/>
          </a:prstGeom>
          <a:gradFill>
            <a:gsLst>
              <a:gs pos="0">
                <a:srgbClr val="F15A24"/>
              </a:gs>
              <a:gs pos="100000">
                <a:srgbClr val="F8A036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71" name="Section Title"/>
          <p:cNvSpPr txBox="1">
            <a:spLocks noGrp="1"/>
          </p:cNvSpPr>
          <p:nvPr>
            <p:ph type="title" hasCustomPrompt="1"/>
          </p:nvPr>
        </p:nvSpPr>
        <p:spPr>
          <a:xfrm>
            <a:off x="1206496" y="4533900"/>
            <a:ext cx="21971004" cy="4648200"/>
          </a:xfrm>
          <a:prstGeom prst="rect">
            <a:avLst/>
          </a:prstGeom>
        </p:spPr>
        <p:txBody>
          <a:bodyPr anchor="ctr"/>
          <a:lstStyle>
            <a:lvl1pPr algn="ctr">
              <a:defRPr kumimoji="0" sz="10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r>
              <a:t>Section Title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6F37568-0478-FF67-A2F0-B1647C1EC9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0918524" y="758208"/>
            <a:ext cx="2698754" cy="1143002"/>
          </a:xfrm>
          <a:prstGeom prst="rect">
            <a:avLst/>
          </a:prstGeom>
        </p:spPr>
      </p:pic>
      <p:pic>
        <p:nvPicPr>
          <p:cNvPr id="6" name="Image" descr="Image">
            <a:extLst>
              <a:ext uri="{FF2B5EF4-FFF2-40B4-BE49-F238E27FC236}">
                <a16:creationId xmlns:a16="http://schemas.microsoft.com/office/drawing/2014/main" id="{97B52BDB-6F34-5E38-95B5-002D2E4627EA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766722" y="758207"/>
            <a:ext cx="1914972" cy="1143001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1821208626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Section typ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BG Slide-01.jpg" descr="BG Slide-01.jpg">
            <a:extLst>
              <a:ext uri="{FF2B5EF4-FFF2-40B4-BE49-F238E27FC236}">
                <a16:creationId xmlns:a16="http://schemas.microsoft.com/office/drawing/2014/main" id="{4290823B-2698-F44F-82ED-3153CB051CA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165" r="165"/>
          <a:stretch>
            <a:fillRect/>
          </a:stretch>
        </p:blipFill>
        <p:spPr>
          <a:xfrm>
            <a:off x="-86098" y="-57547"/>
            <a:ext cx="24507155" cy="13831095"/>
          </a:xfrm>
          <a:prstGeom prst="rect">
            <a:avLst/>
          </a:prstGeom>
          <a:ln w="12700">
            <a:miter lim="400000"/>
          </a:ln>
        </p:spPr>
      </p:pic>
      <p:sp>
        <p:nvSpPr>
          <p:cNvPr id="10" name="Rectangle">
            <a:extLst>
              <a:ext uri="{FF2B5EF4-FFF2-40B4-BE49-F238E27FC236}">
                <a16:creationId xmlns:a16="http://schemas.microsoft.com/office/drawing/2014/main" id="{9B58D5CA-1AEF-754B-9F74-AE29F8DD61D5}"/>
              </a:ext>
            </a:extLst>
          </p:cNvPr>
          <p:cNvSpPr/>
          <p:nvPr userDrawn="1"/>
        </p:nvSpPr>
        <p:spPr>
          <a:xfrm>
            <a:off x="-1" y="0"/>
            <a:ext cx="24384001" cy="13716000"/>
          </a:xfrm>
          <a:prstGeom prst="rect">
            <a:avLst/>
          </a:prstGeom>
          <a:gradFill>
            <a:gsLst>
              <a:gs pos="0">
                <a:srgbClr val="F89620"/>
              </a:gs>
              <a:gs pos="100000">
                <a:srgbClr val="FFB039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71" name="Section Title"/>
          <p:cNvSpPr txBox="1">
            <a:spLocks noGrp="1"/>
          </p:cNvSpPr>
          <p:nvPr>
            <p:ph type="title" hasCustomPrompt="1"/>
          </p:nvPr>
        </p:nvSpPr>
        <p:spPr>
          <a:xfrm>
            <a:off x="1206496" y="4533900"/>
            <a:ext cx="21971004" cy="4648200"/>
          </a:xfrm>
          <a:prstGeom prst="rect">
            <a:avLst/>
          </a:prstGeom>
        </p:spPr>
        <p:txBody>
          <a:bodyPr anchor="ctr"/>
          <a:lstStyle>
            <a:lvl1pPr algn="ctr">
              <a:defRPr kumimoji="0" sz="10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r>
              <a:rPr dirty="0"/>
              <a:t>Section Title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F8174CAF-8FC8-EDAE-768D-30BF901438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0918524" y="758208"/>
            <a:ext cx="2698754" cy="1143002"/>
          </a:xfrm>
          <a:prstGeom prst="rect">
            <a:avLst/>
          </a:prstGeom>
        </p:spPr>
      </p:pic>
      <p:pic>
        <p:nvPicPr>
          <p:cNvPr id="3" name="Image" descr="Image">
            <a:extLst>
              <a:ext uri="{FF2B5EF4-FFF2-40B4-BE49-F238E27FC236}">
                <a16:creationId xmlns:a16="http://schemas.microsoft.com/office/drawing/2014/main" id="{023E32AF-B055-2D80-60DC-AD951FFC6ECA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766722" y="758207"/>
            <a:ext cx="1914972" cy="1143001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4029905156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Section typ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BG Slide-01.jpg" descr="BG Slide-01.jpg">
            <a:extLst>
              <a:ext uri="{FF2B5EF4-FFF2-40B4-BE49-F238E27FC236}">
                <a16:creationId xmlns:a16="http://schemas.microsoft.com/office/drawing/2014/main" id="{4290823B-2698-F44F-82ED-3153CB051CA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165" r="165"/>
          <a:stretch>
            <a:fillRect/>
          </a:stretch>
        </p:blipFill>
        <p:spPr>
          <a:xfrm>
            <a:off x="-86098" y="-57547"/>
            <a:ext cx="24507155" cy="13831095"/>
          </a:xfrm>
          <a:prstGeom prst="rect">
            <a:avLst/>
          </a:prstGeom>
          <a:ln w="12700">
            <a:miter lim="400000"/>
          </a:ln>
        </p:spPr>
      </p:pic>
      <p:sp>
        <p:nvSpPr>
          <p:cNvPr id="8" name="Rectangle">
            <a:extLst>
              <a:ext uri="{FF2B5EF4-FFF2-40B4-BE49-F238E27FC236}">
                <a16:creationId xmlns:a16="http://schemas.microsoft.com/office/drawing/2014/main" id="{D74DB4AE-0419-BC41-9D4A-DC2FB6ABAE92}"/>
              </a:ext>
            </a:extLst>
          </p:cNvPr>
          <p:cNvSpPr/>
          <p:nvPr userDrawn="1"/>
        </p:nvSpPr>
        <p:spPr>
          <a:xfrm>
            <a:off x="0" y="0"/>
            <a:ext cx="24384000" cy="13716000"/>
          </a:xfrm>
          <a:prstGeom prst="rect">
            <a:avLst/>
          </a:prstGeom>
          <a:gradFill>
            <a:gsLst>
              <a:gs pos="0">
                <a:srgbClr val="2B7EC4"/>
              </a:gs>
              <a:gs pos="100000">
                <a:srgbClr val="57BFE8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71" name="Section Title"/>
          <p:cNvSpPr txBox="1">
            <a:spLocks noGrp="1"/>
          </p:cNvSpPr>
          <p:nvPr>
            <p:ph type="title" hasCustomPrompt="1"/>
          </p:nvPr>
        </p:nvSpPr>
        <p:spPr>
          <a:xfrm>
            <a:off x="1206496" y="4533900"/>
            <a:ext cx="21971004" cy="4648200"/>
          </a:xfrm>
          <a:prstGeom prst="rect">
            <a:avLst/>
          </a:prstGeom>
        </p:spPr>
        <p:txBody>
          <a:bodyPr anchor="ctr"/>
          <a:lstStyle>
            <a:lvl1pPr algn="ctr">
              <a:defRPr kumimoji="0" sz="10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r>
              <a:rPr dirty="0"/>
              <a:t>Section Title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2E3F9842-C644-B204-B6FB-F1DB219470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0918512" y="758208"/>
            <a:ext cx="2698754" cy="1143002"/>
          </a:xfrm>
          <a:prstGeom prst="rect">
            <a:avLst/>
          </a:prstGeom>
        </p:spPr>
      </p:pic>
      <p:pic>
        <p:nvPicPr>
          <p:cNvPr id="3" name="Image" descr="Image">
            <a:extLst>
              <a:ext uri="{FF2B5EF4-FFF2-40B4-BE49-F238E27FC236}">
                <a16:creationId xmlns:a16="http://schemas.microsoft.com/office/drawing/2014/main" id="{171C5759-0A99-760B-64A0-C6156603CACB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766734" y="758207"/>
            <a:ext cx="1914949" cy="1143001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2488882905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Section typ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BG Slide-01.jpg" descr="BG Slide-01.jpg">
            <a:extLst>
              <a:ext uri="{FF2B5EF4-FFF2-40B4-BE49-F238E27FC236}">
                <a16:creationId xmlns:a16="http://schemas.microsoft.com/office/drawing/2014/main" id="{4290823B-2698-F44F-82ED-3153CB051CA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165" r="165"/>
          <a:stretch>
            <a:fillRect/>
          </a:stretch>
        </p:blipFill>
        <p:spPr>
          <a:xfrm>
            <a:off x="-86098" y="-57547"/>
            <a:ext cx="24507155" cy="13831095"/>
          </a:xfrm>
          <a:prstGeom prst="rect">
            <a:avLst/>
          </a:prstGeom>
          <a:ln w="12700">
            <a:miter lim="400000"/>
          </a:ln>
        </p:spPr>
      </p:pic>
      <p:sp>
        <p:nvSpPr>
          <p:cNvPr id="10" name="Rectangle">
            <a:extLst>
              <a:ext uri="{FF2B5EF4-FFF2-40B4-BE49-F238E27FC236}">
                <a16:creationId xmlns:a16="http://schemas.microsoft.com/office/drawing/2014/main" id="{5C668086-F712-8640-8B8D-2424E50E003F}"/>
              </a:ext>
            </a:extLst>
          </p:cNvPr>
          <p:cNvSpPr/>
          <p:nvPr userDrawn="1"/>
        </p:nvSpPr>
        <p:spPr>
          <a:xfrm>
            <a:off x="0" y="0"/>
            <a:ext cx="24384000" cy="13716000"/>
          </a:xfrm>
          <a:prstGeom prst="rect">
            <a:avLst/>
          </a:prstGeom>
          <a:gradFill>
            <a:gsLst>
              <a:gs pos="0">
                <a:srgbClr val="2670B8"/>
              </a:gs>
              <a:gs pos="100000">
                <a:srgbClr val="2258A7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71" name="Section Title"/>
          <p:cNvSpPr txBox="1">
            <a:spLocks noGrp="1"/>
          </p:cNvSpPr>
          <p:nvPr>
            <p:ph type="title" hasCustomPrompt="1"/>
          </p:nvPr>
        </p:nvSpPr>
        <p:spPr>
          <a:xfrm>
            <a:off x="1206496" y="4533900"/>
            <a:ext cx="21971004" cy="4648200"/>
          </a:xfrm>
          <a:prstGeom prst="rect">
            <a:avLst/>
          </a:prstGeom>
        </p:spPr>
        <p:txBody>
          <a:bodyPr anchor="ctr"/>
          <a:lstStyle>
            <a:lvl1pPr algn="ctr">
              <a:defRPr kumimoji="0" sz="10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r>
              <a:rPr dirty="0"/>
              <a:t>Section Title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CFBCE66-A5E8-A158-9B31-BA9AFC1032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0918512" y="758208"/>
            <a:ext cx="2698754" cy="1143002"/>
          </a:xfrm>
          <a:prstGeom prst="rect">
            <a:avLst/>
          </a:prstGeom>
        </p:spPr>
      </p:pic>
      <p:pic>
        <p:nvPicPr>
          <p:cNvPr id="4" name="Image" descr="Image">
            <a:extLst>
              <a:ext uri="{FF2B5EF4-FFF2-40B4-BE49-F238E27FC236}">
                <a16:creationId xmlns:a16="http://schemas.microsoft.com/office/drawing/2014/main" id="{F25DF897-C0D1-81DA-05D2-9D6EC69E200F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766734" y="758207"/>
            <a:ext cx="1914949" cy="1143001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1207302220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Section typ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BG Slide-01.jpg" descr="BG Slide-01.jpg">
            <a:extLst>
              <a:ext uri="{FF2B5EF4-FFF2-40B4-BE49-F238E27FC236}">
                <a16:creationId xmlns:a16="http://schemas.microsoft.com/office/drawing/2014/main" id="{4290823B-2698-F44F-82ED-3153CB051CA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165" r="165"/>
          <a:stretch>
            <a:fillRect/>
          </a:stretch>
        </p:blipFill>
        <p:spPr>
          <a:xfrm>
            <a:off x="-86098" y="-57547"/>
            <a:ext cx="24507155" cy="13831095"/>
          </a:xfrm>
          <a:prstGeom prst="rect">
            <a:avLst/>
          </a:prstGeom>
          <a:ln w="12700">
            <a:miter lim="400000"/>
          </a:ln>
        </p:spPr>
      </p:pic>
      <p:sp>
        <p:nvSpPr>
          <p:cNvPr id="8" name="Rectangle">
            <a:extLst>
              <a:ext uri="{FF2B5EF4-FFF2-40B4-BE49-F238E27FC236}">
                <a16:creationId xmlns:a16="http://schemas.microsoft.com/office/drawing/2014/main" id="{B6B9E9EC-92F4-2943-BCEE-A17DD1A638A8}"/>
              </a:ext>
            </a:extLst>
          </p:cNvPr>
          <p:cNvSpPr/>
          <p:nvPr userDrawn="1"/>
        </p:nvSpPr>
        <p:spPr>
          <a:xfrm>
            <a:off x="-56844" y="-25400"/>
            <a:ext cx="24497688" cy="13766800"/>
          </a:xfrm>
          <a:prstGeom prst="rect">
            <a:avLst/>
          </a:prstGeom>
          <a:gradFill>
            <a:gsLst>
              <a:gs pos="0">
                <a:srgbClr val="315094"/>
              </a:gs>
              <a:gs pos="100000">
                <a:srgbClr val="293C6E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71" name="Section Title"/>
          <p:cNvSpPr txBox="1">
            <a:spLocks noGrp="1"/>
          </p:cNvSpPr>
          <p:nvPr>
            <p:ph type="title" hasCustomPrompt="1"/>
          </p:nvPr>
        </p:nvSpPr>
        <p:spPr>
          <a:xfrm>
            <a:off x="1206496" y="4533900"/>
            <a:ext cx="21971004" cy="4648200"/>
          </a:xfrm>
          <a:prstGeom prst="rect">
            <a:avLst/>
          </a:prstGeom>
        </p:spPr>
        <p:txBody>
          <a:bodyPr anchor="ctr"/>
          <a:lstStyle>
            <a:lvl1pPr algn="ctr">
              <a:defRPr kumimoji="0" sz="10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r>
              <a:rPr dirty="0"/>
              <a:t>Section Title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43DC583-F6CD-401E-7E06-373CCF9524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0918512" y="758208"/>
            <a:ext cx="2698754" cy="1143002"/>
          </a:xfrm>
          <a:prstGeom prst="rect">
            <a:avLst/>
          </a:prstGeom>
        </p:spPr>
      </p:pic>
      <p:pic>
        <p:nvPicPr>
          <p:cNvPr id="4" name="Image" descr="Image">
            <a:extLst>
              <a:ext uri="{FF2B5EF4-FFF2-40B4-BE49-F238E27FC236}">
                <a16:creationId xmlns:a16="http://schemas.microsoft.com/office/drawing/2014/main" id="{B18B5FE2-77F7-8983-B96D-E39C876C98D9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766734" y="758207"/>
            <a:ext cx="1914949" cy="1143001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2512683092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Section typ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BG Slide-01.jpg" descr="BG Slide-01.jpg">
            <a:extLst>
              <a:ext uri="{FF2B5EF4-FFF2-40B4-BE49-F238E27FC236}">
                <a16:creationId xmlns:a16="http://schemas.microsoft.com/office/drawing/2014/main" id="{4290823B-2698-F44F-82ED-3153CB051CA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165" r="165"/>
          <a:stretch>
            <a:fillRect/>
          </a:stretch>
        </p:blipFill>
        <p:spPr>
          <a:xfrm>
            <a:off x="-86098" y="-57547"/>
            <a:ext cx="24507155" cy="13831095"/>
          </a:xfrm>
          <a:prstGeom prst="rect">
            <a:avLst/>
          </a:prstGeom>
          <a:ln w="12700">
            <a:miter lim="400000"/>
          </a:ln>
        </p:spPr>
      </p:pic>
      <p:sp>
        <p:nvSpPr>
          <p:cNvPr id="10" name="Rectangle">
            <a:extLst>
              <a:ext uri="{FF2B5EF4-FFF2-40B4-BE49-F238E27FC236}">
                <a16:creationId xmlns:a16="http://schemas.microsoft.com/office/drawing/2014/main" id="{3B0134B8-92DD-5A47-83ED-ED2B1DC0A2FA}"/>
              </a:ext>
            </a:extLst>
          </p:cNvPr>
          <p:cNvSpPr/>
          <p:nvPr userDrawn="1"/>
        </p:nvSpPr>
        <p:spPr>
          <a:xfrm>
            <a:off x="-56844" y="-25400"/>
            <a:ext cx="24497688" cy="13766800"/>
          </a:xfrm>
          <a:prstGeom prst="rect">
            <a:avLst/>
          </a:prstGeom>
          <a:gradFill>
            <a:gsLst>
              <a:gs pos="0">
                <a:srgbClr val="797979"/>
              </a:gs>
              <a:gs pos="100000">
                <a:srgbClr val="A9A9A9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71" name="Section Title"/>
          <p:cNvSpPr txBox="1">
            <a:spLocks noGrp="1"/>
          </p:cNvSpPr>
          <p:nvPr>
            <p:ph type="title" hasCustomPrompt="1"/>
          </p:nvPr>
        </p:nvSpPr>
        <p:spPr>
          <a:xfrm>
            <a:off x="1206496" y="4533900"/>
            <a:ext cx="21971004" cy="4648200"/>
          </a:xfrm>
          <a:prstGeom prst="rect">
            <a:avLst/>
          </a:prstGeom>
        </p:spPr>
        <p:txBody>
          <a:bodyPr anchor="ctr"/>
          <a:lstStyle>
            <a:lvl1pPr algn="ctr">
              <a:defRPr kumimoji="0" sz="10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r>
              <a:rPr dirty="0"/>
              <a:t>Section Title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353EC82-39FF-16C4-642C-2070D4989D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0918512" y="758208"/>
            <a:ext cx="2698754" cy="1143002"/>
          </a:xfrm>
          <a:prstGeom prst="rect">
            <a:avLst/>
          </a:prstGeom>
        </p:spPr>
      </p:pic>
      <p:pic>
        <p:nvPicPr>
          <p:cNvPr id="4" name="Image" descr="Image">
            <a:extLst>
              <a:ext uri="{FF2B5EF4-FFF2-40B4-BE49-F238E27FC236}">
                <a16:creationId xmlns:a16="http://schemas.microsoft.com/office/drawing/2014/main" id="{479D2E17-CD2E-3750-65DE-315E0C44F517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766734" y="758207"/>
            <a:ext cx="1914949" cy="1143001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3579463584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ntent typ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">
            <a:extLst>
              <a:ext uri="{FF2B5EF4-FFF2-40B4-BE49-F238E27FC236}">
                <a16:creationId xmlns:a16="http://schemas.microsoft.com/office/drawing/2014/main" id="{0CE21BA8-841F-EE46-90AB-358900DBBA45}"/>
              </a:ext>
            </a:extLst>
          </p:cNvPr>
          <p:cNvSpPr/>
          <p:nvPr userDrawn="1"/>
        </p:nvSpPr>
        <p:spPr>
          <a:xfrm>
            <a:off x="0" y="2363008"/>
            <a:ext cx="24384000" cy="11436178"/>
          </a:xfrm>
          <a:prstGeom prst="rect">
            <a:avLst/>
          </a:prstGeom>
          <a:solidFill>
            <a:srgbClr val="EBEBEB"/>
          </a:soli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21" name="Rounded Rectangle 20">
            <a:extLst>
              <a:ext uri="{FF2B5EF4-FFF2-40B4-BE49-F238E27FC236}">
                <a16:creationId xmlns:a16="http://schemas.microsoft.com/office/drawing/2014/main" id="{86AB40C6-E41E-9F54-5391-1B969D0CD911}"/>
              </a:ext>
            </a:extLst>
          </p:cNvPr>
          <p:cNvSpPr/>
          <p:nvPr userDrawn="1"/>
        </p:nvSpPr>
        <p:spPr>
          <a:xfrm>
            <a:off x="6181816" y="4686855"/>
            <a:ext cx="15362340" cy="1800000"/>
          </a:xfrm>
          <a:prstGeom prst="roundRect">
            <a:avLst/>
          </a:prstGeom>
          <a:solidFill>
            <a:schemeClr val="tx1">
              <a:lumMod val="40000"/>
              <a:lumOff val="60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080221CE-1DAF-B881-9928-5F7152658A68}"/>
              </a:ext>
            </a:extLst>
          </p:cNvPr>
          <p:cNvSpPr/>
          <p:nvPr userDrawn="1"/>
        </p:nvSpPr>
        <p:spPr>
          <a:xfrm>
            <a:off x="2167377" y="4686855"/>
            <a:ext cx="4545657" cy="1800000"/>
          </a:xfrm>
          <a:prstGeom prst="roundRect">
            <a:avLst/>
          </a:prstGeom>
          <a:solidFill>
            <a:schemeClr val="accent1">
              <a:lumMod val="75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26" name="Text Placeholder 5">
            <a:extLst>
              <a:ext uri="{FF2B5EF4-FFF2-40B4-BE49-F238E27FC236}">
                <a16:creationId xmlns:a16="http://schemas.microsoft.com/office/drawing/2014/main" id="{769ADC5F-7856-93FC-73B6-D0FD6CF171F7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7051814" y="4995800"/>
            <a:ext cx="13796177" cy="1204225"/>
          </a:xfrm>
        </p:spPr>
        <p:txBody>
          <a:bodyPr>
            <a:noAutofit/>
          </a:bodyPr>
          <a:lstStyle>
            <a:lvl1pPr marL="0" indent="0">
              <a:buNone/>
              <a:defRPr kumimoji="0" lang="en-US" sz="24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5">
            <a:extLst>
              <a:ext uri="{FF2B5EF4-FFF2-40B4-BE49-F238E27FC236}">
                <a16:creationId xmlns:a16="http://schemas.microsoft.com/office/drawing/2014/main" id="{00A99FD3-8026-DED8-6415-E6F86A722F09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754063" y="4995800"/>
            <a:ext cx="3372284" cy="1204225"/>
          </a:xfrm>
        </p:spPr>
        <p:txBody>
          <a:bodyPr>
            <a:noAutofit/>
          </a:bodyPr>
          <a:lstStyle>
            <a:lvl1pPr marL="0" indent="0">
              <a:buNone/>
              <a:defRPr kumimoji="0" lang="en-US" sz="28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E247E1DC-6698-D91F-6E0F-EE6AA5A0EE44}"/>
              </a:ext>
            </a:extLst>
          </p:cNvPr>
          <p:cNvSpPr/>
          <p:nvPr userDrawn="1"/>
        </p:nvSpPr>
        <p:spPr>
          <a:xfrm>
            <a:off x="6181816" y="7440664"/>
            <a:ext cx="15362340" cy="1800000"/>
          </a:xfrm>
          <a:prstGeom prst="roundRect">
            <a:avLst/>
          </a:prstGeom>
          <a:solidFill>
            <a:schemeClr val="tx1">
              <a:lumMod val="40000"/>
              <a:lumOff val="60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E4546BDD-E691-E2BA-47E5-B549A7229C89}"/>
              </a:ext>
            </a:extLst>
          </p:cNvPr>
          <p:cNvSpPr/>
          <p:nvPr userDrawn="1"/>
        </p:nvSpPr>
        <p:spPr>
          <a:xfrm>
            <a:off x="2167377" y="7440664"/>
            <a:ext cx="4545657" cy="1800000"/>
          </a:xfrm>
          <a:prstGeom prst="roundRect">
            <a:avLst/>
          </a:prstGeom>
          <a:solidFill>
            <a:schemeClr val="accent1">
              <a:lumMod val="75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8" name="Text Placeholder 5">
            <a:extLst>
              <a:ext uri="{FF2B5EF4-FFF2-40B4-BE49-F238E27FC236}">
                <a16:creationId xmlns:a16="http://schemas.microsoft.com/office/drawing/2014/main" id="{260AF2BE-EDAA-B7C2-8580-AB1ACF70EF35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7051814" y="7749609"/>
            <a:ext cx="13796177" cy="1204225"/>
          </a:xfrm>
        </p:spPr>
        <p:txBody>
          <a:bodyPr>
            <a:noAutofit/>
          </a:bodyPr>
          <a:lstStyle>
            <a:lvl1pPr marL="0" indent="0">
              <a:buNone/>
              <a:defRPr kumimoji="0" lang="en-US" sz="24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5">
            <a:extLst>
              <a:ext uri="{FF2B5EF4-FFF2-40B4-BE49-F238E27FC236}">
                <a16:creationId xmlns:a16="http://schemas.microsoft.com/office/drawing/2014/main" id="{0EC36AFE-3A01-B3EC-7E28-B8F97B900365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2754063" y="7749609"/>
            <a:ext cx="3372284" cy="1204225"/>
          </a:xfrm>
        </p:spPr>
        <p:txBody>
          <a:bodyPr>
            <a:noAutofit/>
          </a:bodyPr>
          <a:lstStyle>
            <a:lvl1pPr marL="0" indent="0">
              <a:buNone/>
              <a:defRPr kumimoji="0" lang="en-US" sz="28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CE84B4FD-950C-7E7E-B32E-0106A01D53C4}"/>
              </a:ext>
            </a:extLst>
          </p:cNvPr>
          <p:cNvSpPr/>
          <p:nvPr userDrawn="1"/>
        </p:nvSpPr>
        <p:spPr>
          <a:xfrm>
            <a:off x="6181816" y="10194473"/>
            <a:ext cx="15362340" cy="1800000"/>
          </a:xfrm>
          <a:prstGeom prst="roundRect">
            <a:avLst/>
          </a:prstGeom>
          <a:solidFill>
            <a:schemeClr val="tx1">
              <a:lumMod val="40000"/>
              <a:lumOff val="60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3B266147-1D67-88E4-9FE7-F833346E464A}"/>
              </a:ext>
            </a:extLst>
          </p:cNvPr>
          <p:cNvSpPr/>
          <p:nvPr userDrawn="1"/>
        </p:nvSpPr>
        <p:spPr>
          <a:xfrm>
            <a:off x="2167377" y="10194473"/>
            <a:ext cx="4545657" cy="1800000"/>
          </a:xfrm>
          <a:prstGeom prst="roundRect">
            <a:avLst/>
          </a:prstGeom>
          <a:solidFill>
            <a:schemeClr val="accent1">
              <a:lumMod val="75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15" name="Text Placeholder 5">
            <a:extLst>
              <a:ext uri="{FF2B5EF4-FFF2-40B4-BE49-F238E27FC236}">
                <a16:creationId xmlns:a16="http://schemas.microsoft.com/office/drawing/2014/main" id="{6248EF39-489B-0AB6-1C39-97964F6585CC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7051814" y="10503418"/>
            <a:ext cx="13796177" cy="1204225"/>
          </a:xfrm>
        </p:spPr>
        <p:txBody>
          <a:bodyPr>
            <a:noAutofit/>
          </a:bodyPr>
          <a:lstStyle>
            <a:lvl1pPr marL="0" indent="0">
              <a:buNone/>
              <a:defRPr kumimoji="0" lang="en-US" sz="24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5">
            <a:extLst>
              <a:ext uri="{FF2B5EF4-FFF2-40B4-BE49-F238E27FC236}">
                <a16:creationId xmlns:a16="http://schemas.microsoft.com/office/drawing/2014/main" id="{E37917F2-61C0-8B23-0D87-2AA3EEB8377A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2754063" y="10503418"/>
            <a:ext cx="3372284" cy="1204225"/>
          </a:xfrm>
        </p:spPr>
        <p:txBody>
          <a:bodyPr>
            <a:noAutofit/>
          </a:bodyPr>
          <a:lstStyle>
            <a:lvl1pPr marL="0" indent="0">
              <a:buNone/>
              <a:defRPr kumimoji="0" lang="en-US" sz="28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17" name="Title 2">
            <a:extLst>
              <a:ext uri="{FF2B5EF4-FFF2-40B4-BE49-F238E27FC236}">
                <a16:creationId xmlns:a16="http://schemas.microsoft.com/office/drawing/2014/main" id="{3F0C4EB7-81AE-6D10-33F3-83A99AC2F3B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67377" y="1872058"/>
            <a:ext cx="14715569" cy="510281"/>
          </a:xfrm>
        </p:spPr>
        <p:txBody>
          <a:bodyPr>
            <a:normAutofit/>
          </a:bodyPr>
          <a:lstStyle>
            <a:lvl1pPr>
              <a:defRPr kumimoji="0" lang="en-US" sz="3800" b="1" i="0" u="none" strike="noStrike" cap="all" spc="0" normalizeH="0" baseline="0">
                <a:ln>
                  <a:noFill/>
                </a:ln>
                <a:solidFill>
                  <a:srgbClr val="128CCD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043113C8-679B-440C-38CF-27CC1A6FF3A6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167377" y="2419728"/>
            <a:ext cx="9768875" cy="803546"/>
          </a:xfrm>
        </p:spPr>
        <p:txBody>
          <a:bodyPr/>
          <a:lstStyle>
            <a:lvl1pPr marL="0" indent="0">
              <a:buNone/>
              <a:defRPr kumimoji="0" lang="en-US" sz="3200" b="1" i="0" u="none" strike="noStrike" cap="all" spc="0" normalizeH="0" baseline="0">
                <a:ln>
                  <a:noFill/>
                </a:ln>
                <a:solidFill>
                  <a:srgbClr val="424242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pPr lvl="0"/>
            <a:r>
              <a:rPr lang="en-US" dirty="0"/>
              <a:t>SUB TITLE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8947DDD-26C7-6643-F78E-7D846EE616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166"/>
          <a:stretch/>
        </p:blipFill>
        <p:spPr>
          <a:xfrm>
            <a:off x="20815349" y="0"/>
            <a:ext cx="2811993" cy="1473200"/>
          </a:xfrm>
          <a:prstGeom prst="rect">
            <a:avLst/>
          </a:prstGeom>
        </p:spPr>
      </p:pic>
      <p:grpSp>
        <p:nvGrpSpPr>
          <p:cNvPr id="4" name="Group">
            <a:extLst>
              <a:ext uri="{FF2B5EF4-FFF2-40B4-BE49-F238E27FC236}">
                <a16:creationId xmlns:a16="http://schemas.microsoft.com/office/drawing/2014/main" id="{7ECEA5DF-6E18-3A6E-8D5B-83F815F6641C}"/>
              </a:ext>
            </a:extLst>
          </p:cNvPr>
          <p:cNvGrpSpPr/>
          <p:nvPr userDrawn="1"/>
        </p:nvGrpSpPr>
        <p:grpSpPr>
          <a:xfrm>
            <a:off x="756659" y="-3867"/>
            <a:ext cx="2783909" cy="2014172"/>
            <a:chOff x="-2864397" y="0"/>
            <a:chExt cx="2783907" cy="2014171"/>
          </a:xfrm>
        </p:grpSpPr>
        <p:pic>
          <p:nvPicPr>
            <p:cNvPr id="7" name="Image" descr="Image">
              <a:extLst>
                <a:ext uri="{FF2B5EF4-FFF2-40B4-BE49-F238E27FC236}">
                  <a16:creationId xmlns:a16="http://schemas.microsoft.com/office/drawing/2014/main" id="{7091168A-CF21-90B0-E317-4D5837F6741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-2864398" y="-1"/>
              <a:ext cx="630382" cy="135967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3" name="Image" descr="Image">
              <a:extLst>
                <a:ext uri="{FF2B5EF4-FFF2-40B4-BE49-F238E27FC236}">
                  <a16:creationId xmlns:a16="http://schemas.microsoft.com/office/drawing/2014/main" id="{66F1D347-8887-50E1-404D-81CA8EA95453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t="88153" r="78332"/>
            <a:stretch>
              <a:fillRect/>
            </a:stretch>
          </p:blipFill>
          <p:spPr>
            <a:xfrm>
              <a:off x="-2850027" y="1390294"/>
              <a:ext cx="601633" cy="623878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9" name="Image" descr="Image">
              <a:extLst>
                <a:ext uri="{FF2B5EF4-FFF2-40B4-BE49-F238E27FC236}">
                  <a16:creationId xmlns:a16="http://schemas.microsoft.com/office/drawing/2014/main" id="{31815DE4-517D-1DFD-DEB0-EFAEBDA0E36C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l="31837" t="7689" b="68044"/>
            <a:stretch>
              <a:fillRect/>
            </a:stretch>
          </p:blipFill>
          <p:spPr>
            <a:xfrm>
              <a:off x="-1973131" y="245246"/>
              <a:ext cx="1892642" cy="127797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</p:spTree>
    <p:extLst>
      <p:ext uri="{BB962C8B-B14F-4D97-AF65-F5344CB8AC3E}">
        <p14:creationId xmlns:p14="http://schemas.microsoft.com/office/powerpoint/2010/main" val="3998102712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typ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Rectangle">
            <a:extLst>
              <a:ext uri="{FF2B5EF4-FFF2-40B4-BE49-F238E27FC236}">
                <a16:creationId xmlns:a16="http://schemas.microsoft.com/office/drawing/2014/main" id="{5B500D99-BCA8-5A47-AC2D-7A5DFB585C9A}"/>
              </a:ext>
            </a:extLst>
          </p:cNvPr>
          <p:cNvSpPr/>
          <p:nvPr userDrawn="1"/>
        </p:nvSpPr>
        <p:spPr>
          <a:xfrm>
            <a:off x="-13856" y="2360348"/>
            <a:ext cx="24397856" cy="11436178"/>
          </a:xfrm>
          <a:prstGeom prst="rect">
            <a:avLst/>
          </a:prstGeom>
          <a:gradFill>
            <a:gsLst>
              <a:gs pos="0">
                <a:srgbClr val="2B7EC4"/>
              </a:gs>
              <a:gs pos="100000">
                <a:srgbClr val="57BFE8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C90E15E-9DC3-D24F-8189-931487225A4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67377" y="1871164"/>
            <a:ext cx="14715569" cy="511175"/>
          </a:xfrm>
        </p:spPr>
        <p:txBody>
          <a:bodyPr>
            <a:normAutofit/>
          </a:bodyPr>
          <a:lstStyle>
            <a:lvl1pPr>
              <a:defRPr kumimoji="0" lang="en-US" sz="3800" b="1" i="0" u="none" strike="noStrike" cap="all" spc="0" normalizeH="0" baseline="0">
                <a:ln>
                  <a:noFill/>
                </a:ln>
                <a:solidFill>
                  <a:srgbClr val="128CCD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F9A081F0-DCC0-4F43-B885-A177263AC1B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167377" y="2419728"/>
            <a:ext cx="9768875" cy="803546"/>
          </a:xfrm>
        </p:spPr>
        <p:txBody>
          <a:bodyPr/>
          <a:lstStyle>
            <a:lvl1pPr marL="0" indent="0">
              <a:buNone/>
              <a:defRPr kumimoji="0" lang="en-US" sz="3200" b="1" i="0" u="none" strike="noStrike" cap="all" spc="0" normalizeH="0" baseline="0">
                <a:ln>
                  <a:noFill/>
                </a:ln>
                <a:solidFill>
                  <a:schemeClr val="bg1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pPr lvl="0"/>
            <a:r>
              <a:rPr lang="en-US" dirty="0"/>
              <a:t>SUB TITLE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DA99AE5-3E66-BB3F-4028-3D48CC999F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166"/>
          <a:stretch/>
        </p:blipFill>
        <p:spPr>
          <a:xfrm>
            <a:off x="20815349" y="0"/>
            <a:ext cx="2811993" cy="1473200"/>
          </a:xfrm>
          <a:prstGeom prst="rect">
            <a:avLst/>
          </a:prstGeom>
        </p:spPr>
      </p:pic>
      <p:grpSp>
        <p:nvGrpSpPr>
          <p:cNvPr id="5" name="Group">
            <a:extLst>
              <a:ext uri="{FF2B5EF4-FFF2-40B4-BE49-F238E27FC236}">
                <a16:creationId xmlns:a16="http://schemas.microsoft.com/office/drawing/2014/main" id="{394FDA65-5E81-1098-0941-1FB18BED14DD}"/>
              </a:ext>
            </a:extLst>
          </p:cNvPr>
          <p:cNvGrpSpPr/>
          <p:nvPr userDrawn="1"/>
        </p:nvGrpSpPr>
        <p:grpSpPr>
          <a:xfrm>
            <a:off x="756659" y="-3867"/>
            <a:ext cx="2783909" cy="2014172"/>
            <a:chOff x="-2864397" y="0"/>
            <a:chExt cx="2783907" cy="2014171"/>
          </a:xfrm>
        </p:grpSpPr>
        <p:pic>
          <p:nvPicPr>
            <p:cNvPr id="6" name="Image" descr="Image">
              <a:extLst>
                <a:ext uri="{FF2B5EF4-FFF2-40B4-BE49-F238E27FC236}">
                  <a16:creationId xmlns:a16="http://schemas.microsoft.com/office/drawing/2014/main" id="{38BA09D8-F8B2-19A8-B70A-1A73ACE241C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-2864398" y="-1"/>
              <a:ext cx="630382" cy="135967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7" name="Image" descr="Image">
              <a:extLst>
                <a:ext uri="{FF2B5EF4-FFF2-40B4-BE49-F238E27FC236}">
                  <a16:creationId xmlns:a16="http://schemas.microsoft.com/office/drawing/2014/main" id="{C8189981-CA8D-3F41-4C71-452D07E52915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t="88153" r="78332"/>
            <a:stretch>
              <a:fillRect/>
            </a:stretch>
          </p:blipFill>
          <p:spPr>
            <a:xfrm>
              <a:off x="-2850027" y="1390294"/>
              <a:ext cx="601633" cy="623878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8" name="Image" descr="Image">
              <a:extLst>
                <a:ext uri="{FF2B5EF4-FFF2-40B4-BE49-F238E27FC236}">
                  <a16:creationId xmlns:a16="http://schemas.microsoft.com/office/drawing/2014/main" id="{F2CA1978-1D7F-9FBC-1610-A6CA7FFAA5B4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l="31837" t="7689" b="68044"/>
            <a:stretch>
              <a:fillRect/>
            </a:stretch>
          </p:blipFill>
          <p:spPr>
            <a:xfrm>
              <a:off x="-1973131" y="245246"/>
              <a:ext cx="1892642" cy="127797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  <p:sp>
        <p:nvSpPr>
          <p:cNvPr id="2" name="Content Placeholder 7">
            <a:extLst>
              <a:ext uri="{FF2B5EF4-FFF2-40B4-BE49-F238E27FC236}">
                <a16:creationId xmlns:a16="http://schemas.microsoft.com/office/drawing/2014/main" id="{23987A6D-AD04-0FF1-0C66-3D62A8BBD97B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2167377" y="3714224"/>
            <a:ext cx="19309300" cy="8129718"/>
          </a:xfrm>
        </p:spPr>
        <p:txBody>
          <a:bodyPr>
            <a:normAutofit/>
          </a:bodyPr>
          <a:lstStyle>
            <a:lvl1pPr marL="742950" indent="-742950">
              <a:lnSpc>
                <a:spcPct val="100000"/>
              </a:lnSpc>
              <a:spcBef>
                <a:spcPts val="3500"/>
              </a:spcBef>
              <a:buSzPct val="100000"/>
              <a:buFont typeface="Arial" panose="020B0604020202020204" pitchFamily="34" charset="0"/>
              <a:buChar char="•"/>
              <a:tabLst/>
              <a:defRPr kumimoji="0" lang="en-US" sz="4400" b="0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Helvetica Neue"/>
              </a:defRPr>
            </a:lvl1pPr>
            <a:lvl2pPr marL="1498950" indent="-742950">
              <a:lnSpc>
                <a:spcPct val="100000"/>
              </a:lnSpc>
              <a:spcBef>
                <a:spcPts val="3500"/>
              </a:spcBef>
              <a:buSzPct val="100000"/>
              <a:buFont typeface="Arial" panose="020B0604020202020204" pitchFamily="34" charset="0"/>
              <a:buChar char="•"/>
              <a:tabLst/>
              <a:defRPr kumimoji="0" lang="en-US" sz="4400" b="0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Helvetica Neue"/>
              </a:defRPr>
            </a:lvl2pPr>
            <a:lvl3pPr marL="2254950" indent="-742950">
              <a:lnSpc>
                <a:spcPct val="100000"/>
              </a:lnSpc>
              <a:spcBef>
                <a:spcPts val="3500"/>
              </a:spcBef>
              <a:buSzPct val="100000"/>
              <a:buFont typeface="Arial" panose="020B0604020202020204" pitchFamily="34" charset="0"/>
              <a:buChar char="•"/>
              <a:tabLst/>
              <a:defRPr kumimoji="0" lang="en-US" sz="4400" b="0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Helvetica Neue"/>
              </a:defRPr>
            </a:lvl3pPr>
            <a:lvl4pPr marL="3010950" indent="-742950">
              <a:lnSpc>
                <a:spcPct val="100000"/>
              </a:lnSpc>
              <a:spcBef>
                <a:spcPts val="3500"/>
              </a:spcBef>
              <a:buSzPct val="100000"/>
              <a:buFont typeface="Arial" panose="020B0604020202020204" pitchFamily="34" charset="0"/>
              <a:buChar char="•"/>
              <a:tabLst/>
              <a:defRPr kumimoji="0" lang="en-US" sz="4400" b="0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Helvetica Neue"/>
              </a:defRPr>
            </a:lvl4pPr>
            <a:lvl5pPr marL="3658950" indent="-742950">
              <a:lnSpc>
                <a:spcPct val="100000"/>
              </a:lnSpc>
              <a:spcBef>
                <a:spcPts val="3500"/>
              </a:spcBef>
              <a:buSzPct val="100000"/>
              <a:buFont typeface="Arial" panose="020B0604020202020204" pitchFamily="34" charset="0"/>
              <a:buChar char="•"/>
              <a:tabLst/>
              <a:defRPr kumimoji="0" lang="en-US" sz="4400" b="0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Helvetica Neue"/>
              </a:defRPr>
            </a:lvl5pPr>
            <a:lvl7pPr marL="3657600" indent="0">
              <a:buNone/>
              <a:defRPr/>
            </a:lvl7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134051035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typ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">
            <a:extLst>
              <a:ext uri="{FF2B5EF4-FFF2-40B4-BE49-F238E27FC236}">
                <a16:creationId xmlns:a16="http://schemas.microsoft.com/office/drawing/2014/main" id="{D2A636C9-947E-150D-EB07-22919761FA60}"/>
              </a:ext>
            </a:extLst>
          </p:cNvPr>
          <p:cNvSpPr/>
          <p:nvPr userDrawn="1"/>
        </p:nvSpPr>
        <p:spPr>
          <a:xfrm>
            <a:off x="-13856" y="2360348"/>
            <a:ext cx="24397856" cy="11436178"/>
          </a:xfrm>
          <a:prstGeom prst="rect">
            <a:avLst/>
          </a:prstGeom>
          <a:gradFill>
            <a:gsLst>
              <a:gs pos="0">
                <a:srgbClr val="2B7EC4"/>
              </a:gs>
              <a:gs pos="100000">
                <a:srgbClr val="57BFE8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C90E15E-9DC3-D24F-8189-931487225A4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67377" y="1871164"/>
            <a:ext cx="14715569" cy="511175"/>
          </a:xfrm>
        </p:spPr>
        <p:txBody>
          <a:bodyPr>
            <a:normAutofit/>
          </a:bodyPr>
          <a:lstStyle>
            <a:lvl1pPr>
              <a:defRPr kumimoji="0" lang="en-US" sz="3800" b="1" i="0" u="none" strike="noStrike" cap="all" spc="0" normalizeH="0" baseline="0">
                <a:ln>
                  <a:noFill/>
                </a:ln>
                <a:solidFill>
                  <a:srgbClr val="128CCD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F9A081F0-DCC0-4F43-B885-A177263AC1B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167377" y="2419728"/>
            <a:ext cx="9768875" cy="803546"/>
          </a:xfrm>
        </p:spPr>
        <p:txBody>
          <a:bodyPr/>
          <a:lstStyle>
            <a:lvl1pPr marL="0" indent="0">
              <a:buNone/>
              <a:defRPr kumimoji="0" lang="en-US" sz="3200" b="1" i="0" u="none" strike="noStrike" cap="all" spc="0" normalizeH="0" baseline="0">
                <a:ln>
                  <a:noFill/>
                </a:ln>
                <a:solidFill>
                  <a:schemeClr val="bg1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pPr lvl="0"/>
            <a:r>
              <a:rPr lang="en-US" dirty="0"/>
              <a:t>SUB TITLE</a:t>
            </a:r>
          </a:p>
        </p:txBody>
      </p:sp>
      <p:sp>
        <p:nvSpPr>
          <p:cNvPr id="25" name="Text Placeholder 5">
            <a:extLst>
              <a:ext uri="{FF2B5EF4-FFF2-40B4-BE49-F238E27FC236}">
                <a16:creationId xmlns:a16="http://schemas.microsoft.com/office/drawing/2014/main" id="{0C2D7F5C-BD73-5445-9E3A-82A31E22F62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2167377" y="9337350"/>
            <a:ext cx="4759266" cy="2315506"/>
          </a:xfrm>
        </p:spPr>
        <p:txBody>
          <a:bodyPr>
            <a:noAutofit/>
          </a:bodyPr>
          <a:lstStyle>
            <a:lvl1pPr marL="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5">
            <a:extLst>
              <a:ext uri="{FF2B5EF4-FFF2-40B4-BE49-F238E27FC236}">
                <a16:creationId xmlns:a16="http://schemas.microsoft.com/office/drawing/2014/main" id="{25FCA52D-C087-3347-A5F3-54D623B2115B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9405342" y="9337350"/>
            <a:ext cx="4759266" cy="2315506"/>
          </a:xfrm>
        </p:spPr>
        <p:txBody>
          <a:bodyPr>
            <a:noAutofit/>
          </a:bodyPr>
          <a:lstStyle>
            <a:lvl1pPr marL="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7" name="Text Placeholder 5">
            <a:extLst>
              <a:ext uri="{FF2B5EF4-FFF2-40B4-BE49-F238E27FC236}">
                <a16:creationId xmlns:a16="http://schemas.microsoft.com/office/drawing/2014/main" id="{F4A212B9-DBD9-E746-BAFB-9234B89096E8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6643307" y="9337350"/>
            <a:ext cx="4759266" cy="2315506"/>
          </a:xfrm>
        </p:spPr>
        <p:txBody>
          <a:bodyPr>
            <a:noAutofit/>
          </a:bodyPr>
          <a:lstStyle>
            <a:lvl1pPr marL="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8" name="Picture Placeholder 3">
            <a:extLst>
              <a:ext uri="{FF2B5EF4-FFF2-40B4-BE49-F238E27FC236}">
                <a16:creationId xmlns:a16="http://schemas.microsoft.com/office/drawing/2014/main" id="{3A552A97-F867-374E-B40D-BD84D808047E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2167377" y="4297293"/>
            <a:ext cx="4759266" cy="4172342"/>
          </a:xfrm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9" name="Picture Placeholder 3">
            <a:extLst>
              <a:ext uri="{FF2B5EF4-FFF2-40B4-BE49-F238E27FC236}">
                <a16:creationId xmlns:a16="http://schemas.microsoft.com/office/drawing/2014/main" id="{DB283EA2-01A0-334D-8038-2E3190C1B2B9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9405342" y="4297293"/>
            <a:ext cx="4759266" cy="4172342"/>
          </a:xfrm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0" name="Picture Placeholder 3">
            <a:extLst>
              <a:ext uri="{FF2B5EF4-FFF2-40B4-BE49-F238E27FC236}">
                <a16:creationId xmlns:a16="http://schemas.microsoft.com/office/drawing/2014/main" id="{B5710E30-F50B-2E47-A284-AB9A73F6AB8F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6643307" y="4297293"/>
            <a:ext cx="4759266" cy="4172342"/>
          </a:xfrm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0B8984F-75C1-9D5B-FF38-2151D77141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166"/>
          <a:stretch/>
        </p:blipFill>
        <p:spPr>
          <a:xfrm>
            <a:off x="20815349" y="0"/>
            <a:ext cx="2811993" cy="1473200"/>
          </a:xfrm>
          <a:prstGeom prst="rect">
            <a:avLst/>
          </a:prstGeom>
        </p:spPr>
      </p:pic>
      <p:grpSp>
        <p:nvGrpSpPr>
          <p:cNvPr id="6" name="Group">
            <a:extLst>
              <a:ext uri="{FF2B5EF4-FFF2-40B4-BE49-F238E27FC236}">
                <a16:creationId xmlns:a16="http://schemas.microsoft.com/office/drawing/2014/main" id="{14440FB6-864F-EC32-9C12-F5781DD839A1}"/>
              </a:ext>
            </a:extLst>
          </p:cNvPr>
          <p:cNvGrpSpPr/>
          <p:nvPr userDrawn="1"/>
        </p:nvGrpSpPr>
        <p:grpSpPr>
          <a:xfrm>
            <a:off x="756659" y="-3867"/>
            <a:ext cx="2783909" cy="2014172"/>
            <a:chOff x="-2864397" y="0"/>
            <a:chExt cx="2783907" cy="2014171"/>
          </a:xfrm>
        </p:grpSpPr>
        <p:pic>
          <p:nvPicPr>
            <p:cNvPr id="7" name="Image" descr="Image">
              <a:extLst>
                <a:ext uri="{FF2B5EF4-FFF2-40B4-BE49-F238E27FC236}">
                  <a16:creationId xmlns:a16="http://schemas.microsoft.com/office/drawing/2014/main" id="{FD2AEEAF-7ADA-0233-2FB3-A724EEF0325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-2864398" y="-1"/>
              <a:ext cx="630382" cy="135967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8" name="Image" descr="Image">
              <a:extLst>
                <a:ext uri="{FF2B5EF4-FFF2-40B4-BE49-F238E27FC236}">
                  <a16:creationId xmlns:a16="http://schemas.microsoft.com/office/drawing/2014/main" id="{27230D68-4A71-B42E-9C59-8EFE95EE533B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t="88153" r="78332"/>
            <a:stretch>
              <a:fillRect/>
            </a:stretch>
          </p:blipFill>
          <p:spPr>
            <a:xfrm>
              <a:off x="-2850027" y="1390294"/>
              <a:ext cx="601633" cy="623878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9" name="Image" descr="Image">
              <a:extLst>
                <a:ext uri="{FF2B5EF4-FFF2-40B4-BE49-F238E27FC236}">
                  <a16:creationId xmlns:a16="http://schemas.microsoft.com/office/drawing/2014/main" id="{6FA4D137-12D3-04A4-6F7D-A965125F6540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l="31837" t="7689" b="68044"/>
            <a:stretch>
              <a:fillRect/>
            </a:stretch>
          </p:blipFill>
          <p:spPr>
            <a:xfrm>
              <a:off x="-1973131" y="245246"/>
              <a:ext cx="1892642" cy="127797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</p:spTree>
    <p:extLst>
      <p:ext uri="{BB962C8B-B14F-4D97-AF65-F5344CB8AC3E}">
        <p14:creationId xmlns:p14="http://schemas.microsoft.com/office/powerpoint/2010/main" val="3505189200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Content typ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">
            <a:extLst>
              <a:ext uri="{FF2B5EF4-FFF2-40B4-BE49-F238E27FC236}">
                <a16:creationId xmlns:a16="http://schemas.microsoft.com/office/drawing/2014/main" id="{3A325C97-8FC1-69A4-76A6-9BFCCE62D08F}"/>
              </a:ext>
            </a:extLst>
          </p:cNvPr>
          <p:cNvSpPr/>
          <p:nvPr userDrawn="1"/>
        </p:nvSpPr>
        <p:spPr>
          <a:xfrm>
            <a:off x="-13856" y="2360348"/>
            <a:ext cx="24397856" cy="11436178"/>
          </a:xfrm>
          <a:prstGeom prst="rect">
            <a:avLst/>
          </a:prstGeom>
          <a:gradFill>
            <a:gsLst>
              <a:gs pos="0">
                <a:srgbClr val="2B7EC4"/>
              </a:gs>
              <a:gs pos="100000">
                <a:srgbClr val="57BFE8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C90E15E-9DC3-D24F-8189-931487225A4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67377" y="1871164"/>
            <a:ext cx="14715569" cy="511175"/>
          </a:xfrm>
        </p:spPr>
        <p:txBody>
          <a:bodyPr>
            <a:normAutofit/>
          </a:bodyPr>
          <a:lstStyle>
            <a:lvl1pPr>
              <a:defRPr kumimoji="0" lang="en-US" sz="3800" b="1" i="0" u="none" strike="noStrike" cap="all" spc="0" normalizeH="0" baseline="0">
                <a:ln>
                  <a:noFill/>
                </a:ln>
                <a:solidFill>
                  <a:srgbClr val="128CCD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F9A081F0-DCC0-4F43-B885-A177263AC1B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167377" y="2419728"/>
            <a:ext cx="9768875" cy="803546"/>
          </a:xfrm>
        </p:spPr>
        <p:txBody>
          <a:bodyPr/>
          <a:lstStyle>
            <a:lvl1pPr marL="0" indent="0">
              <a:buNone/>
              <a:defRPr kumimoji="0" lang="en-US" sz="3200" b="1" i="0" u="none" strike="noStrike" cap="all" spc="0" normalizeH="0" baseline="0">
                <a:ln>
                  <a:noFill/>
                </a:ln>
                <a:solidFill>
                  <a:schemeClr val="bg1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pPr lvl="0"/>
            <a:r>
              <a:rPr lang="en-US" dirty="0"/>
              <a:t>SUB TITLE</a:t>
            </a:r>
          </a:p>
        </p:txBody>
      </p:sp>
      <p:sp>
        <p:nvSpPr>
          <p:cNvPr id="4" name="Right Arrow 3">
            <a:extLst>
              <a:ext uri="{FF2B5EF4-FFF2-40B4-BE49-F238E27FC236}">
                <a16:creationId xmlns:a16="http://schemas.microsoft.com/office/drawing/2014/main" id="{8F28C692-0EE9-7D99-17B4-3313049F0A01}"/>
              </a:ext>
            </a:extLst>
          </p:cNvPr>
          <p:cNvSpPr/>
          <p:nvPr userDrawn="1"/>
        </p:nvSpPr>
        <p:spPr>
          <a:xfrm>
            <a:off x="7398337" y="6690612"/>
            <a:ext cx="1573640" cy="1182013"/>
          </a:xfrm>
          <a:prstGeom prst="rightArrow">
            <a:avLst/>
          </a:prstGeom>
          <a:solidFill>
            <a:schemeClr val="accent1">
              <a:lumMod val="50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01B89336-F494-2062-ED79-0A44623AD4C4}"/>
              </a:ext>
            </a:extLst>
          </p:cNvPr>
          <p:cNvSpPr/>
          <p:nvPr userDrawn="1"/>
        </p:nvSpPr>
        <p:spPr>
          <a:xfrm>
            <a:off x="2167377" y="5155107"/>
            <a:ext cx="4924799" cy="4320000"/>
          </a:xfrm>
          <a:prstGeom prst="roundRect">
            <a:avLst>
              <a:gd name="adj" fmla="val 7112"/>
            </a:avLst>
          </a:prstGeom>
          <a:solidFill>
            <a:schemeClr val="bg1">
              <a:lumMod val="95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25" name="Text Placeholder 5">
            <a:extLst>
              <a:ext uri="{FF2B5EF4-FFF2-40B4-BE49-F238E27FC236}">
                <a16:creationId xmlns:a16="http://schemas.microsoft.com/office/drawing/2014/main" id="{0C2D7F5C-BD73-5445-9E3A-82A31E22F62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2594247" y="5701845"/>
            <a:ext cx="3895763" cy="3300760"/>
          </a:xfrm>
        </p:spPr>
        <p:txBody>
          <a:bodyPr>
            <a:noAutofit/>
          </a:bodyPr>
          <a:lstStyle>
            <a:lvl1pPr marL="0" indent="0">
              <a:buNone/>
              <a:defRPr kumimoji="0" lang="en-US" sz="3200" b="0" i="0" u="none" strike="noStrike" cap="none" spc="0" normalizeH="0" baseline="0">
                <a:ln>
                  <a:noFill/>
                </a:ln>
                <a:solidFill>
                  <a:schemeClr val="accent1">
                    <a:lumMod val="50000"/>
                  </a:schemeClr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651AEE51-4476-0347-EE71-4727AC7D90CC}"/>
              </a:ext>
            </a:extLst>
          </p:cNvPr>
          <p:cNvSpPr/>
          <p:nvPr userDrawn="1"/>
        </p:nvSpPr>
        <p:spPr>
          <a:xfrm>
            <a:off x="9278138" y="5155107"/>
            <a:ext cx="4924799" cy="4320000"/>
          </a:xfrm>
          <a:prstGeom prst="roundRect">
            <a:avLst>
              <a:gd name="adj" fmla="val 7112"/>
            </a:avLst>
          </a:prstGeom>
          <a:solidFill>
            <a:schemeClr val="bg1">
              <a:lumMod val="95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19" name="Rounded Rectangle 18">
            <a:extLst>
              <a:ext uri="{FF2B5EF4-FFF2-40B4-BE49-F238E27FC236}">
                <a16:creationId xmlns:a16="http://schemas.microsoft.com/office/drawing/2014/main" id="{C8DF8073-7CBE-78F8-385D-33EC70507F81}"/>
              </a:ext>
            </a:extLst>
          </p:cNvPr>
          <p:cNvSpPr/>
          <p:nvPr userDrawn="1"/>
        </p:nvSpPr>
        <p:spPr>
          <a:xfrm>
            <a:off x="16388899" y="5155107"/>
            <a:ext cx="4924799" cy="4320000"/>
          </a:xfrm>
          <a:prstGeom prst="roundRect">
            <a:avLst>
              <a:gd name="adj" fmla="val 7112"/>
            </a:avLst>
          </a:prstGeom>
          <a:solidFill>
            <a:schemeClr val="bg1">
              <a:lumMod val="95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23" name="Text Placeholder 5">
            <a:extLst>
              <a:ext uri="{FF2B5EF4-FFF2-40B4-BE49-F238E27FC236}">
                <a16:creationId xmlns:a16="http://schemas.microsoft.com/office/drawing/2014/main" id="{5D06E93C-E9EF-DAD7-BDE3-8DDAB05CDF9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9719708" y="5701845"/>
            <a:ext cx="3895763" cy="3300760"/>
          </a:xfrm>
        </p:spPr>
        <p:txBody>
          <a:bodyPr>
            <a:noAutofit/>
          </a:bodyPr>
          <a:lstStyle>
            <a:lvl1pPr marL="0" indent="0">
              <a:buNone/>
              <a:defRPr kumimoji="0" lang="en-US" sz="3200" b="0" i="0" u="none" strike="noStrike" cap="none" spc="0" normalizeH="0" baseline="0">
                <a:ln>
                  <a:noFill/>
                </a:ln>
                <a:solidFill>
                  <a:schemeClr val="accent1">
                    <a:lumMod val="50000"/>
                  </a:schemeClr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5">
            <a:extLst>
              <a:ext uri="{FF2B5EF4-FFF2-40B4-BE49-F238E27FC236}">
                <a16:creationId xmlns:a16="http://schemas.microsoft.com/office/drawing/2014/main" id="{AB64C3FA-E7EC-73CE-DEC9-E0D1DACCC92F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6882946" y="5701845"/>
            <a:ext cx="3895763" cy="3300760"/>
          </a:xfrm>
        </p:spPr>
        <p:txBody>
          <a:bodyPr>
            <a:noAutofit/>
          </a:bodyPr>
          <a:lstStyle>
            <a:lvl1pPr marL="0" indent="0">
              <a:buNone/>
              <a:defRPr kumimoji="0" lang="en-US" sz="3200" b="0" i="0" u="none" strike="noStrike" cap="none" spc="0" normalizeH="0" baseline="0">
                <a:ln>
                  <a:noFill/>
                </a:ln>
                <a:solidFill>
                  <a:schemeClr val="accent1">
                    <a:lumMod val="50000"/>
                  </a:schemeClr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Text Placeholder 5">
            <a:extLst>
              <a:ext uri="{FF2B5EF4-FFF2-40B4-BE49-F238E27FC236}">
                <a16:creationId xmlns:a16="http://schemas.microsoft.com/office/drawing/2014/main" id="{1B745795-7EE3-42BF-EDBE-49D4FAD835F5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2349891" y="10445295"/>
            <a:ext cx="19038148" cy="1701954"/>
          </a:xfrm>
        </p:spPr>
        <p:txBody>
          <a:bodyPr>
            <a:noAutofit/>
          </a:bodyPr>
          <a:lstStyle>
            <a:lvl1pPr marL="0" indent="0">
              <a:buNone/>
              <a:defRPr kumimoji="0" lang="en-US" sz="2800" b="0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3" name="Right Arrow 32">
            <a:extLst>
              <a:ext uri="{FF2B5EF4-FFF2-40B4-BE49-F238E27FC236}">
                <a16:creationId xmlns:a16="http://schemas.microsoft.com/office/drawing/2014/main" id="{0AE76436-839B-BF36-E19E-893653562EA3}"/>
              </a:ext>
            </a:extLst>
          </p:cNvPr>
          <p:cNvSpPr/>
          <p:nvPr userDrawn="1"/>
        </p:nvSpPr>
        <p:spPr>
          <a:xfrm>
            <a:off x="14509098" y="6690612"/>
            <a:ext cx="1573640" cy="1182013"/>
          </a:xfrm>
          <a:prstGeom prst="rightArrow">
            <a:avLst/>
          </a:prstGeom>
          <a:solidFill>
            <a:schemeClr val="accent1">
              <a:lumMod val="50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DCFF0438-821D-3C18-6D61-1BD73A4DC167}"/>
              </a:ext>
            </a:extLst>
          </p:cNvPr>
          <p:cNvSpPr/>
          <p:nvPr userDrawn="1"/>
        </p:nvSpPr>
        <p:spPr>
          <a:xfrm>
            <a:off x="4241849" y="4015089"/>
            <a:ext cx="775855" cy="836732"/>
          </a:xfrm>
          <a:prstGeom prst="ellipse">
            <a:avLst/>
          </a:prstGeom>
          <a:solidFill>
            <a:schemeClr val="bg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2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Open Sans Light" pitchFamily="2" charset="0"/>
                <a:ea typeface="Open Sans Light" pitchFamily="2" charset="0"/>
                <a:cs typeface="Open Sans Light" pitchFamily="2" charset="0"/>
                <a:sym typeface="Helvetica Neue Medium"/>
              </a:rPr>
              <a:t>1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1BC35716-81E4-A54F-3272-89DAA37CF79D}"/>
              </a:ext>
            </a:extLst>
          </p:cNvPr>
          <p:cNvSpPr/>
          <p:nvPr userDrawn="1"/>
        </p:nvSpPr>
        <p:spPr>
          <a:xfrm>
            <a:off x="11279661" y="4015089"/>
            <a:ext cx="775855" cy="836732"/>
          </a:xfrm>
          <a:prstGeom prst="ellipse">
            <a:avLst/>
          </a:prstGeom>
          <a:solidFill>
            <a:schemeClr val="bg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2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Open Sans Light" pitchFamily="2" charset="0"/>
                <a:ea typeface="Open Sans Light" pitchFamily="2" charset="0"/>
                <a:cs typeface="Open Sans Light" pitchFamily="2" charset="0"/>
                <a:sym typeface="Helvetica Neue Medium"/>
              </a:rPr>
              <a:t>2</a:t>
            </a: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6D587B62-738C-1BE8-E775-FC6EC9D2556E}"/>
              </a:ext>
            </a:extLst>
          </p:cNvPr>
          <p:cNvSpPr/>
          <p:nvPr userDrawn="1"/>
        </p:nvSpPr>
        <p:spPr>
          <a:xfrm>
            <a:off x="18463370" y="4015089"/>
            <a:ext cx="775855" cy="836732"/>
          </a:xfrm>
          <a:prstGeom prst="ellipse">
            <a:avLst/>
          </a:prstGeom>
          <a:solidFill>
            <a:schemeClr val="bg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2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Open Sans Light" pitchFamily="2" charset="0"/>
                <a:ea typeface="Open Sans Light" pitchFamily="2" charset="0"/>
                <a:cs typeface="Open Sans Light" pitchFamily="2" charset="0"/>
                <a:sym typeface="Helvetica Neue Medium"/>
              </a:rPr>
              <a:t>3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EC48672-F1E2-A230-B095-57E67183FC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166"/>
          <a:stretch/>
        </p:blipFill>
        <p:spPr>
          <a:xfrm>
            <a:off x="20815349" y="0"/>
            <a:ext cx="2811993" cy="1473200"/>
          </a:xfrm>
          <a:prstGeom prst="rect">
            <a:avLst/>
          </a:prstGeom>
        </p:spPr>
      </p:pic>
      <p:grpSp>
        <p:nvGrpSpPr>
          <p:cNvPr id="9" name="Group">
            <a:extLst>
              <a:ext uri="{FF2B5EF4-FFF2-40B4-BE49-F238E27FC236}">
                <a16:creationId xmlns:a16="http://schemas.microsoft.com/office/drawing/2014/main" id="{8D3FDAF8-012C-4D3A-C949-6317F6E219D0}"/>
              </a:ext>
            </a:extLst>
          </p:cNvPr>
          <p:cNvGrpSpPr/>
          <p:nvPr userDrawn="1"/>
        </p:nvGrpSpPr>
        <p:grpSpPr>
          <a:xfrm>
            <a:off x="756659" y="-3867"/>
            <a:ext cx="2783909" cy="2014172"/>
            <a:chOff x="-2864397" y="0"/>
            <a:chExt cx="2783907" cy="2014171"/>
          </a:xfrm>
        </p:grpSpPr>
        <p:pic>
          <p:nvPicPr>
            <p:cNvPr id="11" name="Image" descr="Image">
              <a:extLst>
                <a:ext uri="{FF2B5EF4-FFF2-40B4-BE49-F238E27FC236}">
                  <a16:creationId xmlns:a16="http://schemas.microsoft.com/office/drawing/2014/main" id="{56EB9265-9B68-78E9-B5B8-F2C39D9134A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-2864398" y="-1"/>
              <a:ext cx="630382" cy="135967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2" name="Image" descr="Image">
              <a:extLst>
                <a:ext uri="{FF2B5EF4-FFF2-40B4-BE49-F238E27FC236}">
                  <a16:creationId xmlns:a16="http://schemas.microsoft.com/office/drawing/2014/main" id="{E445F39B-125D-DE62-15D6-B4FE5E3C4A7D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t="88153" r="78332"/>
            <a:stretch>
              <a:fillRect/>
            </a:stretch>
          </p:blipFill>
          <p:spPr>
            <a:xfrm>
              <a:off x="-2850027" y="1390294"/>
              <a:ext cx="601633" cy="623878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5" name="Image" descr="Image">
              <a:extLst>
                <a:ext uri="{FF2B5EF4-FFF2-40B4-BE49-F238E27FC236}">
                  <a16:creationId xmlns:a16="http://schemas.microsoft.com/office/drawing/2014/main" id="{CC8E73D5-72F6-77A3-C650-62976C858480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l="31837" t="7689" b="68044"/>
            <a:stretch>
              <a:fillRect/>
            </a:stretch>
          </p:blipFill>
          <p:spPr>
            <a:xfrm>
              <a:off x="-1973131" y="245246"/>
              <a:ext cx="1892642" cy="127797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</p:spTree>
    <p:extLst>
      <p:ext uri="{BB962C8B-B14F-4D97-AF65-F5344CB8AC3E}">
        <p14:creationId xmlns:p14="http://schemas.microsoft.com/office/powerpoint/2010/main" val="1809284995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typ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">
            <a:extLst>
              <a:ext uri="{FF2B5EF4-FFF2-40B4-BE49-F238E27FC236}">
                <a16:creationId xmlns:a16="http://schemas.microsoft.com/office/drawing/2014/main" id="{95F33489-AE64-A520-339D-37FA55DCDDCD}"/>
              </a:ext>
            </a:extLst>
          </p:cNvPr>
          <p:cNvSpPr/>
          <p:nvPr userDrawn="1"/>
        </p:nvSpPr>
        <p:spPr>
          <a:xfrm>
            <a:off x="-13856" y="2360348"/>
            <a:ext cx="24397856" cy="11436178"/>
          </a:xfrm>
          <a:prstGeom prst="rect">
            <a:avLst/>
          </a:prstGeom>
          <a:gradFill>
            <a:gsLst>
              <a:gs pos="0">
                <a:srgbClr val="2B7EC4"/>
              </a:gs>
              <a:gs pos="100000">
                <a:srgbClr val="57BFE8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C90E15E-9DC3-D24F-8189-931487225A4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67377" y="1871164"/>
            <a:ext cx="14715569" cy="511175"/>
          </a:xfrm>
        </p:spPr>
        <p:txBody>
          <a:bodyPr>
            <a:normAutofit/>
          </a:bodyPr>
          <a:lstStyle>
            <a:lvl1pPr>
              <a:defRPr kumimoji="0" lang="en-US" sz="3800" b="1" i="0" u="none" strike="noStrike" cap="all" spc="0" normalizeH="0" baseline="0">
                <a:ln>
                  <a:noFill/>
                </a:ln>
                <a:solidFill>
                  <a:srgbClr val="128CCD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F9A081F0-DCC0-4F43-B885-A177263AC1B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167377" y="2419728"/>
            <a:ext cx="9768875" cy="803546"/>
          </a:xfrm>
        </p:spPr>
        <p:txBody>
          <a:bodyPr/>
          <a:lstStyle>
            <a:lvl1pPr marL="0" indent="0">
              <a:buNone/>
              <a:defRPr kumimoji="0" lang="en-US" sz="3200" b="1" i="0" u="none" strike="noStrike" cap="all" spc="0" normalizeH="0" baseline="0">
                <a:ln>
                  <a:noFill/>
                </a:ln>
                <a:solidFill>
                  <a:schemeClr val="bg1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pPr lvl="0"/>
            <a:r>
              <a:rPr lang="en-US" dirty="0"/>
              <a:t>SUB TITLE</a:t>
            </a:r>
          </a:p>
        </p:txBody>
      </p:sp>
      <p:sp>
        <p:nvSpPr>
          <p:cNvPr id="27" name="Text Placeholder 5">
            <a:extLst>
              <a:ext uri="{FF2B5EF4-FFF2-40B4-BE49-F238E27FC236}">
                <a16:creationId xmlns:a16="http://schemas.microsoft.com/office/drawing/2014/main" id="{F4A212B9-DBD9-E746-BAFB-9234B89096E8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2167377" y="6556917"/>
            <a:ext cx="9768906" cy="5575610"/>
          </a:xfrm>
        </p:spPr>
        <p:txBody>
          <a:bodyPr>
            <a:noAutofit/>
          </a:bodyPr>
          <a:lstStyle>
            <a:lvl1pPr marL="0" indent="0">
              <a:buNone/>
              <a:defRPr kumimoji="0" lang="en-US" sz="26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4" name="Picture Placeholder 3">
            <a:extLst>
              <a:ext uri="{FF2B5EF4-FFF2-40B4-BE49-F238E27FC236}">
                <a16:creationId xmlns:a16="http://schemas.microsoft.com/office/drawing/2014/main" id="{199BEEEC-0D44-544B-A30D-8F854BF4A1E2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2339930" y="4210629"/>
            <a:ext cx="9099057" cy="7921898"/>
          </a:xfrm>
        </p:spPr>
        <p:txBody>
          <a:bodyPr/>
          <a:lstStyle>
            <a:lvl1pPr marL="0" indent="0">
              <a:buNone/>
              <a:defRPr b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313C6146-DC72-7FB3-6375-B120A24C107F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2166938" y="4210049"/>
            <a:ext cx="9768874" cy="2039112"/>
          </a:xfrm>
        </p:spPr>
        <p:txBody>
          <a:bodyPr>
            <a:normAutofit/>
          </a:bodyPr>
          <a:lstStyle>
            <a:lvl1pPr marL="0" indent="0">
              <a:buNone/>
              <a:defRPr sz="4400">
                <a:solidFill>
                  <a:schemeClr val="bg1"/>
                </a:solidFill>
              </a:defRPr>
            </a:lvl1pPr>
            <a:lvl5pPr marL="2438400" indent="0" algn="l">
              <a:buFont typeface="Arial" panose="020B0604020202020204" pitchFamily="34" charset="0"/>
              <a:buNone/>
              <a:defRPr sz="44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5CD14E8-DE1C-14FC-FEA7-30EAAA9BB9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166"/>
          <a:stretch/>
        </p:blipFill>
        <p:spPr>
          <a:xfrm>
            <a:off x="20815349" y="0"/>
            <a:ext cx="2811993" cy="1473200"/>
          </a:xfrm>
          <a:prstGeom prst="rect">
            <a:avLst/>
          </a:prstGeom>
        </p:spPr>
      </p:pic>
      <p:grpSp>
        <p:nvGrpSpPr>
          <p:cNvPr id="7" name="Group">
            <a:extLst>
              <a:ext uri="{FF2B5EF4-FFF2-40B4-BE49-F238E27FC236}">
                <a16:creationId xmlns:a16="http://schemas.microsoft.com/office/drawing/2014/main" id="{E62B7B4A-4960-D224-2BB3-BD1A6C05E12C}"/>
              </a:ext>
            </a:extLst>
          </p:cNvPr>
          <p:cNvGrpSpPr/>
          <p:nvPr userDrawn="1"/>
        </p:nvGrpSpPr>
        <p:grpSpPr>
          <a:xfrm>
            <a:off x="756659" y="-3867"/>
            <a:ext cx="2783909" cy="2014172"/>
            <a:chOff x="-2864397" y="0"/>
            <a:chExt cx="2783907" cy="2014171"/>
          </a:xfrm>
        </p:grpSpPr>
        <p:pic>
          <p:nvPicPr>
            <p:cNvPr id="8" name="Image" descr="Image">
              <a:extLst>
                <a:ext uri="{FF2B5EF4-FFF2-40B4-BE49-F238E27FC236}">
                  <a16:creationId xmlns:a16="http://schemas.microsoft.com/office/drawing/2014/main" id="{6F2D1DB1-7918-B846-534B-BCACC79082A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-2864398" y="-1"/>
              <a:ext cx="630382" cy="135967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9" name="Image" descr="Image">
              <a:extLst>
                <a:ext uri="{FF2B5EF4-FFF2-40B4-BE49-F238E27FC236}">
                  <a16:creationId xmlns:a16="http://schemas.microsoft.com/office/drawing/2014/main" id="{A33628EC-398A-85C8-EA60-202449B367CC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t="88153" r="78332"/>
            <a:stretch>
              <a:fillRect/>
            </a:stretch>
          </p:blipFill>
          <p:spPr>
            <a:xfrm>
              <a:off x="-2850027" y="1390294"/>
              <a:ext cx="601633" cy="623878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0" name="Image" descr="Image">
              <a:extLst>
                <a:ext uri="{FF2B5EF4-FFF2-40B4-BE49-F238E27FC236}">
                  <a16:creationId xmlns:a16="http://schemas.microsoft.com/office/drawing/2014/main" id="{4EE2131F-630C-FF89-05AC-61DFC8071803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l="31837" t="7689" b="68044"/>
            <a:stretch>
              <a:fillRect/>
            </a:stretch>
          </p:blipFill>
          <p:spPr>
            <a:xfrm>
              <a:off x="-1973131" y="245246"/>
              <a:ext cx="1892642" cy="127797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</p:spTree>
    <p:extLst>
      <p:ext uri="{BB962C8B-B14F-4D97-AF65-F5344CB8AC3E}">
        <p14:creationId xmlns:p14="http://schemas.microsoft.com/office/powerpoint/2010/main" val="2085329813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ntent typ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">
            <a:extLst>
              <a:ext uri="{FF2B5EF4-FFF2-40B4-BE49-F238E27FC236}">
                <a16:creationId xmlns:a16="http://schemas.microsoft.com/office/drawing/2014/main" id="{28F252AD-5DE4-7070-6059-31CB6E8E15CC}"/>
              </a:ext>
            </a:extLst>
          </p:cNvPr>
          <p:cNvSpPr/>
          <p:nvPr userDrawn="1"/>
        </p:nvSpPr>
        <p:spPr>
          <a:xfrm>
            <a:off x="-13856" y="2360348"/>
            <a:ext cx="24397856" cy="11436178"/>
          </a:xfrm>
          <a:prstGeom prst="rect">
            <a:avLst/>
          </a:prstGeom>
          <a:gradFill>
            <a:gsLst>
              <a:gs pos="0">
                <a:srgbClr val="2B7EC4"/>
              </a:gs>
              <a:gs pos="100000">
                <a:srgbClr val="57BFE8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C90E15E-9DC3-D24F-8189-931487225A4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67377" y="1871164"/>
            <a:ext cx="14715569" cy="511175"/>
          </a:xfrm>
        </p:spPr>
        <p:txBody>
          <a:bodyPr>
            <a:normAutofit/>
          </a:bodyPr>
          <a:lstStyle>
            <a:lvl1pPr>
              <a:defRPr kumimoji="0" lang="en-US" sz="3800" b="1" i="0" u="none" strike="noStrike" cap="all" spc="0" normalizeH="0" baseline="0">
                <a:ln>
                  <a:noFill/>
                </a:ln>
                <a:solidFill>
                  <a:srgbClr val="128CCD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F9A081F0-DCC0-4F43-B885-A177263AC1B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167377" y="2419728"/>
            <a:ext cx="9768875" cy="803546"/>
          </a:xfrm>
        </p:spPr>
        <p:txBody>
          <a:bodyPr/>
          <a:lstStyle>
            <a:lvl1pPr marL="0" indent="0">
              <a:buNone/>
              <a:defRPr kumimoji="0" lang="en-US" sz="3200" b="1" i="0" u="none" strike="noStrike" cap="all" spc="0" normalizeH="0" baseline="0">
                <a:ln>
                  <a:noFill/>
                </a:ln>
                <a:solidFill>
                  <a:schemeClr val="bg1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pPr lvl="0"/>
            <a:r>
              <a:rPr lang="en-US" dirty="0"/>
              <a:t>SUB TITLE</a:t>
            </a:r>
          </a:p>
        </p:txBody>
      </p:sp>
      <p:sp>
        <p:nvSpPr>
          <p:cNvPr id="4" name="Or 3">
            <a:extLst>
              <a:ext uri="{FF2B5EF4-FFF2-40B4-BE49-F238E27FC236}">
                <a16:creationId xmlns:a16="http://schemas.microsoft.com/office/drawing/2014/main" id="{E68A1B27-C10C-399D-6C52-E0B8F062FF6D}"/>
              </a:ext>
            </a:extLst>
          </p:cNvPr>
          <p:cNvSpPr/>
          <p:nvPr userDrawn="1"/>
        </p:nvSpPr>
        <p:spPr>
          <a:xfrm>
            <a:off x="7481303" y="3712458"/>
            <a:ext cx="9144000" cy="9144000"/>
          </a:xfrm>
          <a:prstGeom prst="flowChartOr">
            <a:avLst/>
          </a:prstGeom>
          <a:solidFill>
            <a:schemeClr val="bg1">
              <a:lumMod val="95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9AE1FE12-D6E7-CC76-3FE4-BC8F0EC78DF0}"/>
              </a:ext>
            </a:extLst>
          </p:cNvPr>
          <p:cNvCxnSpPr>
            <a:cxnSpLocks/>
            <a:stCxn id="4" idx="0"/>
          </p:cNvCxnSpPr>
          <p:nvPr userDrawn="1"/>
        </p:nvCxnSpPr>
        <p:spPr>
          <a:xfrm>
            <a:off x="12053303" y="3712458"/>
            <a:ext cx="22098" cy="9144000"/>
          </a:xfrm>
          <a:prstGeom prst="line">
            <a:avLst/>
          </a:prstGeom>
          <a:noFill/>
          <a:ln w="76200" cap="flat">
            <a:solidFill>
              <a:srgbClr val="314F93"/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4945EE12-0322-D3C6-8589-1B9554503365}"/>
              </a:ext>
            </a:extLst>
          </p:cNvPr>
          <p:cNvCxnSpPr>
            <a:cxnSpLocks/>
            <a:endCxn id="4" idx="2"/>
          </p:cNvCxnSpPr>
          <p:nvPr userDrawn="1"/>
        </p:nvCxnSpPr>
        <p:spPr>
          <a:xfrm flipH="1">
            <a:off x="7481303" y="8284458"/>
            <a:ext cx="9144000" cy="0"/>
          </a:xfrm>
          <a:prstGeom prst="line">
            <a:avLst/>
          </a:prstGeom>
          <a:noFill/>
          <a:ln w="76200" cap="flat">
            <a:solidFill>
              <a:srgbClr val="314F93"/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9B267469-4390-8C92-5D06-4DA338A102E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166939" y="4018728"/>
            <a:ext cx="4683924" cy="3600000"/>
          </a:xfrm>
        </p:spPr>
        <p:txBody>
          <a:bodyPr>
            <a:normAutofit/>
          </a:bodyPr>
          <a:lstStyle>
            <a:lvl1pPr marL="0" indent="0">
              <a:buNone/>
              <a:defRPr sz="2800">
                <a:solidFill>
                  <a:schemeClr val="bg1"/>
                </a:solidFill>
              </a:defRPr>
            </a:lvl1pPr>
            <a:lvl5pPr marL="2438400" indent="0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25" name="Text Placeholder 15">
            <a:extLst>
              <a:ext uri="{FF2B5EF4-FFF2-40B4-BE49-F238E27FC236}">
                <a16:creationId xmlns:a16="http://schemas.microsoft.com/office/drawing/2014/main" id="{FC4F9637-2BA1-E3F7-1599-2295EF076CCC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056949" y="7294814"/>
            <a:ext cx="3795402" cy="751262"/>
          </a:xfrm>
        </p:spPr>
        <p:txBody>
          <a:bodyPr>
            <a:normAutofit/>
          </a:bodyPr>
          <a:lstStyle>
            <a:lvl1pPr marL="0" indent="0" algn="ctr">
              <a:buNone/>
              <a:defRPr sz="2800">
                <a:solidFill>
                  <a:srgbClr val="002060"/>
                </a:solidFill>
              </a:defRPr>
            </a:lvl1pPr>
            <a:lvl5pPr marL="2438400" indent="0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26" name="Text Placeholder 15">
            <a:extLst>
              <a:ext uri="{FF2B5EF4-FFF2-40B4-BE49-F238E27FC236}">
                <a16:creationId xmlns:a16="http://schemas.microsoft.com/office/drawing/2014/main" id="{47270689-CD03-86EE-AD4E-701F61CD37A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056949" y="8617313"/>
            <a:ext cx="3795402" cy="751262"/>
          </a:xfrm>
        </p:spPr>
        <p:txBody>
          <a:bodyPr>
            <a:normAutofit/>
          </a:bodyPr>
          <a:lstStyle>
            <a:lvl1pPr marL="0" indent="0" algn="ctr">
              <a:buNone/>
              <a:defRPr sz="2800">
                <a:solidFill>
                  <a:srgbClr val="002060"/>
                </a:solidFill>
              </a:defRPr>
            </a:lvl1pPr>
            <a:lvl5pPr marL="2438400" indent="0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28" name="Text Placeholder 15">
            <a:extLst>
              <a:ext uri="{FF2B5EF4-FFF2-40B4-BE49-F238E27FC236}">
                <a16:creationId xmlns:a16="http://schemas.microsoft.com/office/drawing/2014/main" id="{B5939A4B-8504-2C32-E90E-9DA4843EF0E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2365741" y="7298299"/>
            <a:ext cx="3795402" cy="751262"/>
          </a:xfrm>
        </p:spPr>
        <p:txBody>
          <a:bodyPr>
            <a:normAutofit/>
          </a:bodyPr>
          <a:lstStyle>
            <a:lvl1pPr marL="0" indent="0" algn="ctr">
              <a:buNone/>
              <a:defRPr sz="2800">
                <a:solidFill>
                  <a:srgbClr val="002060"/>
                </a:solidFill>
              </a:defRPr>
            </a:lvl1pPr>
            <a:lvl5pPr marL="2438400" indent="0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29" name="Text Placeholder 15">
            <a:extLst>
              <a:ext uri="{FF2B5EF4-FFF2-40B4-BE49-F238E27FC236}">
                <a16:creationId xmlns:a16="http://schemas.microsoft.com/office/drawing/2014/main" id="{44D6C0A8-7DC7-6F84-E472-8E0CA423C51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2427997" y="8595891"/>
            <a:ext cx="3795402" cy="751262"/>
          </a:xfrm>
        </p:spPr>
        <p:txBody>
          <a:bodyPr>
            <a:normAutofit/>
          </a:bodyPr>
          <a:lstStyle>
            <a:lvl1pPr marL="0" indent="0" algn="ctr">
              <a:buNone/>
              <a:defRPr sz="2800">
                <a:solidFill>
                  <a:srgbClr val="002060"/>
                </a:solidFill>
              </a:defRPr>
            </a:lvl1pPr>
            <a:lvl5pPr marL="2438400" indent="0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30" name="Text Placeholder 15">
            <a:extLst>
              <a:ext uri="{FF2B5EF4-FFF2-40B4-BE49-F238E27FC236}">
                <a16:creationId xmlns:a16="http://schemas.microsoft.com/office/drawing/2014/main" id="{F6BCDD7A-9667-FF15-DEDB-20C0D431E0A3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166939" y="8938684"/>
            <a:ext cx="4683924" cy="3600000"/>
          </a:xfrm>
        </p:spPr>
        <p:txBody>
          <a:bodyPr>
            <a:normAutofit/>
          </a:bodyPr>
          <a:lstStyle>
            <a:lvl1pPr marL="0" indent="0">
              <a:buNone/>
              <a:defRPr sz="2800">
                <a:solidFill>
                  <a:schemeClr val="bg1"/>
                </a:solidFill>
              </a:defRPr>
            </a:lvl1pPr>
            <a:lvl5pPr marL="2438400" indent="0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31" name="Text Placeholder 15">
            <a:extLst>
              <a:ext uri="{FF2B5EF4-FFF2-40B4-BE49-F238E27FC236}">
                <a16:creationId xmlns:a16="http://schemas.microsoft.com/office/drawing/2014/main" id="{6ADBE3FB-D313-E2BC-715C-D8600CF8BD21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7255744" y="4018728"/>
            <a:ext cx="4683924" cy="3600000"/>
          </a:xfrm>
        </p:spPr>
        <p:txBody>
          <a:bodyPr>
            <a:normAutofit/>
          </a:bodyPr>
          <a:lstStyle>
            <a:lvl1pPr marL="0" indent="0">
              <a:buNone/>
              <a:defRPr sz="2800">
                <a:solidFill>
                  <a:schemeClr val="bg1"/>
                </a:solidFill>
              </a:defRPr>
            </a:lvl1pPr>
            <a:lvl5pPr marL="2438400" indent="0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32" name="Text Placeholder 15">
            <a:extLst>
              <a:ext uri="{FF2B5EF4-FFF2-40B4-BE49-F238E27FC236}">
                <a16:creationId xmlns:a16="http://schemas.microsoft.com/office/drawing/2014/main" id="{A79FD328-17AF-2BB2-5730-3D5CA0EE9704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7255744" y="8938684"/>
            <a:ext cx="4683924" cy="3600000"/>
          </a:xfrm>
        </p:spPr>
        <p:txBody>
          <a:bodyPr>
            <a:normAutofit/>
          </a:bodyPr>
          <a:lstStyle>
            <a:lvl1pPr marL="0" indent="0">
              <a:buNone/>
              <a:defRPr sz="2800">
                <a:solidFill>
                  <a:schemeClr val="bg1"/>
                </a:solidFill>
              </a:defRPr>
            </a:lvl1pPr>
            <a:lvl5pPr marL="2438400" indent="0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pic>
        <p:nvPicPr>
          <p:cNvPr id="20" name="Graphic 19" descr="Artificial Intelligence with solid fill">
            <a:extLst>
              <a:ext uri="{FF2B5EF4-FFF2-40B4-BE49-F238E27FC236}">
                <a16:creationId xmlns:a16="http://schemas.microsoft.com/office/drawing/2014/main" id="{717E632E-7C2D-8BE2-BA0D-FBA56ED592A2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328162" y="4999921"/>
            <a:ext cx="1936946" cy="1936946"/>
          </a:xfrm>
          <a:prstGeom prst="rect">
            <a:avLst/>
          </a:prstGeom>
        </p:spPr>
      </p:pic>
      <p:pic>
        <p:nvPicPr>
          <p:cNvPr id="22" name="Graphic 21" descr="Atom with solid fill">
            <a:extLst>
              <a:ext uri="{FF2B5EF4-FFF2-40B4-BE49-F238E27FC236}">
                <a16:creationId xmlns:a16="http://schemas.microsoft.com/office/drawing/2014/main" id="{CCE4C43E-15B3-15EB-CF11-EB3378A3CEF1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2837038" y="4968699"/>
            <a:ext cx="1958731" cy="1958731"/>
          </a:xfrm>
          <a:prstGeom prst="rect">
            <a:avLst/>
          </a:prstGeom>
        </p:spPr>
      </p:pic>
      <p:pic>
        <p:nvPicPr>
          <p:cNvPr id="24" name="Graphic 23" descr="Bar chart with solid fill">
            <a:extLst>
              <a:ext uri="{FF2B5EF4-FFF2-40B4-BE49-F238E27FC236}">
                <a16:creationId xmlns:a16="http://schemas.microsoft.com/office/drawing/2014/main" id="{0445AAA4-0C9A-80AB-86CE-F91A16FFC29C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504135" y="9715514"/>
            <a:ext cx="1696410" cy="1696410"/>
          </a:xfrm>
          <a:prstGeom prst="rect">
            <a:avLst/>
          </a:prstGeom>
        </p:spPr>
      </p:pic>
      <p:pic>
        <p:nvPicPr>
          <p:cNvPr id="35" name="Graphic 34" descr="Blockchain with solid fill">
            <a:extLst>
              <a:ext uri="{FF2B5EF4-FFF2-40B4-BE49-F238E27FC236}">
                <a16:creationId xmlns:a16="http://schemas.microsoft.com/office/drawing/2014/main" id="{CB7D00AA-1C33-1508-6057-E10BDF964F0D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2837038" y="9711819"/>
            <a:ext cx="1700105" cy="170010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C97FCB3B-92B7-9A04-09DB-5667129A353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166"/>
          <a:stretch/>
        </p:blipFill>
        <p:spPr>
          <a:xfrm>
            <a:off x="20815349" y="0"/>
            <a:ext cx="2811993" cy="1473200"/>
          </a:xfrm>
          <a:prstGeom prst="rect">
            <a:avLst/>
          </a:prstGeom>
        </p:spPr>
      </p:pic>
      <p:grpSp>
        <p:nvGrpSpPr>
          <p:cNvPr id="6" name="Group">
            <a:extLst>
              <a:ext uri="{FF2B5EF4-FFF2-40B4-BE49-F238E27FC236}">
                <a16:creationId xmlns:a16="http://schemas.microsoft.com/office/drawing/2014/main" id="{805F1785-290C-1641-A96F-184692C72980}"/>
              </a:ext>
            </a:extLst>
          </p:cNvPr>
          <p:cNvGrpSpPr/>
          <p:nvPr userDrawn="1"/>
        </p:nvGrpSpPr>
        <p:grpSpPr>
          <a:xfrm>
            <a:off x="756659" y="-3867"/>
            <a:ext cx="2783909" cy="2014172"/>
            <a:chOff x="-2864397" y="0"/>
            <a:chExt cx="2783907" cy="2014171"/>
          </a:xfrm>
        </p:grpSpPr>
        <p:pic>
          <p:nvPicPr>
            <p:cNvPr id="9" name="Image" descr="Image">
              <a:extLst>
                <a:ext uri="{FF2B5EF4-FFF2-40B4-BE49-F238E27FC236}">
                  <a16:creationId xmlns:a16="http://schemas.microsoft.com/office/drawing/2014/main" id="{DE051A88-BFBF-58FB-0D20-AA66E50B943F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-2864398" y="-1"/>
              <a:ext cx="630382" cy="135967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0" name="Image" descr="Image">
              <a:extLst>
                <a:ext uri="{FF2B5EF4-FFF2-40B4-BE49-F238E27FC236}">
                  <a16:creationId xmlns:a16="http://schemas.microsoft.com/office/drawing/2014/main" id="{FF606EC9-F598-701C-CF2B-AC339348BD1A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rcRect t="88153" r="78332"/>
            <a:stretch>
              <a:fillRect/>
            </a:stretch>
          </p:blipFill>
          <p:spPr>
            <a:xfrm>
              <a:off x="-2850027" y="1390294"/>
              <a:ext cx="601633" cy="623878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1" name="Image" descr="Image">
              <a:extLst>
                <a:ext uri="{FF2B5EF4-FFF2-40B4-BE49-F238E27FC236}">
                  <a16:creationId xmlns:a16="http://schemas.microsoft.com/office/drawing/2014/main" id="{1DD6A07B-1CB5-B903-09DB-950559FCE4E0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rcRect l="31837" t="7689" b="68044"/>
            <a:stretch>
              <a:fillRect/>
            </a:stretch>
          </p:blipFill>
          <p:spPr>
            <a:xfrm>
              <a:off x="-1973131" y="245246"/>
              <a:ext cx="1892642" cy="127797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</p:spTree>
    <p:extLst>
      <p:ext uri="{BB962C8B-B14F-4D97-AF65-F5344CB8AC3E}">
        <p14:creationId xmlns:p14="http://schemas.microsoft.com/office/powerpoint/2010/main" val="1070102926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ontent typ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">
            <a:extLst>
              <a:ext uri="{FF2B5EF4-FFF2-40B4-BE49-F238E27FC236}">
                <a16:creationId xmlns:a16="http://schemas.microsoft.com/office/drawing/2014/main" id="{F55631E8-C878-10B3-37B6-B446CE8244F9}"/>
              </a:ext>
            </a:extLst>
          </p:cNvPr>
          <p:cNvSpPr/>
          <p:nvPr userDrawn="1"/>
        </p:nvSpPr>
        <p:spPr>
          <a:xfrm>
            <a:off x="-13856" y="2360348"/>
            <a:ext cx="24397856" cy="11436178"/>
          </a:xfrm>
          <a:prstGeom prst="rect">
            <a:avLst/>
          </a:prstGeom>
          <a:gradFill>
            <a:gsLst>
              <a:gs pos="0">
                <a:srgbClr val="2B7EC4"/>
              </a:gs>
              <a:gs pos="100000">
                <a:srgbClr val="57BFE8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b="0" i="0" dirty="0">
              <a:latin typeface="OCRB" panose="020F0502020204030204" pitchFamily="34" charset="0"/>
              <a:ea typeface="Open Sans Light" pitchFamily="2" charset="0"/>
              <a:cs typeface="OCRB" panose="020F0502020204030204" pitchFamily="34" charset="0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C90E15E-9DC3-D24F-8189-931487225A4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67377" y="1871164"/>
            <a:ext cx="14715569" cy="511175"/>
          </a:xfrm>
        </p:spPr>
        <p:txBody>
          <a:bodyPr>
            <a:normAutofit/>
          </a:bodyPr>
          <a:lstStyle>
            <a:lvl1pPr>
              <a:defRPr kumimoji="0" lang="en-US" sz="3800" b="1" i="0" u="none" strike="noStrike" cap="all" spc="0" normalizeH="0" baseline="0">
                <a:ln>
                  <a:noFill/>
                </a:ln>
                <a:solidFill>
                  <a:srgbClr val="128CCD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F9A081F0-DCC0-4F43-B885-A177263AC1B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167377" y="2419728"/>
            <a:ext cx="9768875" cy="803546"/>
          </a:xfrm>
        </p:spPr>
        <p:txBody>
          <a:bodyPr/>
          <a:lstStyle>
            <a:lvl1pPr marL="0" indent="0">
              <a:buNone/>
              <a:defRPr kumimoji="0" lang="en-US" sz="3200" b="1" i="0" u="none" strike="noStrike" cap="all" spc="0" normalizeH="0" baseline="0">
                <a:ln>
                  <a:noFill/>
                </a:ln>
                <a:solidFill>
                  <a:schemeClr val="bg1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pPr lvl="0"/>
            <a:r>
              <a:rPr lang="en-US" dirty="0"/>
              <a:t>SUB TITLE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9B267469-4390-8C92-5D06-4DA338A102E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166938" y="4349750"/>
            <a:ext cx="12097701" cy="3462458"/>
          </a:xfrm>
        </p:spPr>
        <p:txBody>
          <a:bodyPr>
            <a:normAutofit/>
          </a:bodyPr>
          <a:lstStyle>
            <a:lvl1pPr marL="0" indent="0">
              <a:buNone/>
              <a:defRPr sz="4000">
                <a:solidFill>
                  <a:schemeClr val="bg1"/>
                </a:solidFill>
              </a:defRPr>
            </a:lvl1pPr>
            <a:lvl5pPr marL="2438400" indent="0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30" name="Text Placeholder 15">
            <a:extLst>
              <a:ext uri="{FF2B5EF4-FFF2-40B4-BE49-F238E27FC236}">
                <a16:creationId xmlns:a16="http://schemas.microsoft.com/office/drawing/2014/main" id="{F6BCDD7A-9667-FF15-DEDB-20C0D431E0A3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166938" y="8938684"/>
            <a:ext cx="19839621" cy="3676241"/>
          </a:xfrm>
        </p:spPr>
        <p:txBody>
          <a:bodyPr>
            <a:normAutofit/>
          </a:bodyPr>
          <a:lstStyle>
            <a:lvl1pPr marL="0" indent="0">
              <a:buNone/>
              <a:defRPr sz="3600">
                <a:solidFill>
                  <a:schemeClr val="bg1"/>
                </a:solidFill>
              </a:defRPr>
            </a:lvl1pPr>
            <a:lvl5pPr marL="2438400" indent="0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pic>
        <p:nvPicPr>
          <p:cNvPr id="5" name="Graphic 4" descr="Checklist with solid fill">
            <a:extLst>
              <a:ext uri="{FF2B5EF4-FFF2-40B4-BE49-F238E27FC236}">
                <a16:creationId xmlns:a16="http://schemas.microsoft.com/office/drawing/2014/main" id="{EEEA3E7D-43D1-BB41-8C28-FEDBD7273D0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5240000" y="4320116"/>
            <a:ext cx="3535680" cy="353568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8D1F61AE-0C1A-636C-687E-207E2A2A70F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166"/>
          <a:stretch/>
        </p:blipFill>
        <p:spPr>
          <a:xfrm>
            <a:off x="20815349" y="0"/>
            <a:ext cx="2811993" cy="1473200"/>
          </a:xfrm>
          <a:prstGeom prst="rect">
            <a:avLst/>
          </a:prstGeom>
        </p:spPr>
      </p:pic>
      <p:grpSp>
        <p:nvGrpSpPr>
          <p:cNvPr id="7" name="Group">
            <a:extLst>
              <a:ext uri="{FF2B5EF4-FFF2-40B4-BE49-F238E27FC236}">
                <a16:creationId xmlns:a16="http://schemas.microsoft.com/office/drawing/2014/main" id="{A734540B-EB64-130D-3523-93575103ED02}"/>
              </a:ext>
            </a:extLst>
          </p:cNvPr>
          <p:cNvGrpSpPr/>
          <p:nvPr userDrawn="1"/>
        </p:nvGrpSpPr>
        <p:grpSpPr>
          <a:xfrm>
            <a:off x="756659" y="-3867"/>
            <a:ext cx="2783909" cy="2014172"/>
            <a:chOff x="-2864397" y="0"/>
            <a:chExt cx="2783907" cy="2014171"/>
          </a:xfrm>
        </p:grpSpPr>
        <p:pic>
          <p:nvPicPr>
            <p:cNvPr id="8" name="Image" descr="Image">
              <a:extLst>
                <a:ext uri="{FF2B5EF4-FFF2-40B4-BE49-F238E27FC236}">
                  <a16:creationId xmlns:a16="http://schemas.microsoft.com/office/drawing/2014/main" id="{5953221E-8F74-C3B9-7C70-CFB02A3B7E6C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-2864398" y="-1"/>
              <a:ext cx="630382" cy="135967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9" name="Image" descr="Image">
              <a:extLst>
                <a:ext uri="{FF2B5EF4-FFF2-40B4-BE49-F238E27FC236}">
                  <a16:creationId xmlns:a16="http://schemas.microsoft.com/office/drawing/2014/main" id="{49A2096B-323B-F3EF-7CC9-DF562AC8C228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rcRect t="88153" r="78332"/>
            <a:stretch>
              <a:fillRect/>
            </a:stretch>
          </p:blipFill>
          <p:spPr>
            <a:xfrm>
              <a:off x="-2850027" y="1390294"/>
              <a:ext cx="601633" cy="623878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0" name="Image" descr="Image">
              <a:extLst>
                <a:ext uri="{FF2B5EF4-FFF2-40B4-BE49-F238E27FC236}">
                  <a16:creationId xmlns:a16="http://schemas.microsoft.com/office/drawing/2014/main" id="{8B7EE6C9-8BC7-CD09-089B-BA35D919D1CC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rcRect l="31837" t="7689" b="68044"/>
            <a:stretch>
              <a:fillRect/>
            </a:stretch>
          </p:blipFill>
          <p:spPr>
            <a:xfrm>
              <a:off x="-1973131" y="245246"/>
              <a:ext cx="1892642" cy="127797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</p:spTree>
    <p:extLst>
      <p:ext uri="{BB962C8B-B14F-4D97-AF65-F5344CB8AC3E}">
        <p14:creationId xmlns:p14="http://schemas.microsoft.com/office/powerpoint/2010/main" val="2227040866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ntent typ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">
            <a:extLst>
              <a:ext uri="{FF2B5EF4-FFF2-40B4-BE49-F238E27FC236}">
                <a16:creationId xmlns:a16="http://schemas.microsoft.com/office/drawing/2014/main" id="{57D6C136-B186-B244-9E34-B1B3CC503956}"/>
              </a:ext>
            </a:extLst>
          </p:cNvPr>
          <p:cNvSpPr/>
          <p:nvPr userDrawn="1"/>
        </p:nvSpPr>
        <p:spPr>
          <a:xfrm>
            <a:off x="0" y="2360348"/>
            <a:ext cx="24384000" cy="11436178"/>
          </a:xfrm>
          <a:prstGeom prst="rect">
            <a:avLst/>
          </a:prstGeom>
          <a:gradFill>
            <a:gsLst>
              <a:gs pos="0">
                <a:srgbClr val="F15A24"/>
              </a:gs>
              <a:gs pos="100000">
                <a:srgbClr val="F8A036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C90E15E-9DC3-D24F-8189-931487225A4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67377" y="1871164"/>
            <a:ext cx="14715569" cy="511175"/>
          </a:xfrm>
        </p:spPr>
        <p:txBody>
          <a:bodyPr>
            <a:normAutofit/>
          </a:bodyPr>
          <a:lstStyle>
            <a:lvl1pPr>
              <a:defRPr kumimoji="0" lang="en-US" sz="3800" b="1" i="0" u="none" strike="noStrike" cap="all" spc="0" normalizeH="0" baseline="0">
                <a:ln>
                  <a:noFill/>
                </a:ln>
                <a:solidFill>
                  <a:srgbClr val="128CCD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F9A081F0-DCC0-4F43-B885-A177263AC1B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167377" y="2419728"/>
            <a:ext cx="9768875" cy="803546"/>
          </a:xfrm>
        </p:spPr>
        <p:txBody>
          <a:bodyPr/>
          <a:lstStyle>
            <a:lvl1pPr marL="0" indent="0">
              <a:buNone/>
              <a:defRPr kumimoji="0" lang="en-US" sz="3200" b="1" i="0" u="none" strike="noStrike" cap="all" spc="0" normalizeH="0" baseline="0">
                <a:ln>
                  <a:noFill/>
                </a:ln>
                <a:solidFill>
                  <a:schemeClr val="bg1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pPr lvl="0"/>
            <a:r>
              <a:rPr lang="en-US" dirty="0"/>
              <a:t>SUB TITLE</a:t>
            </a:r>
          </a:p>
        </p:txBody>
      </p:sp>
      <p:sp>
        <p:nvSpPr>
          <p:cNvPr id="25" name="Text Placeholder 5">
            <a:extLst>
              <a:ext uri="{FF2B5EF4-FFF2-40B4-BE49-F238E27FC236}">
                <a16:creationId xmlns:a16="http://schemas.microsoft.com/office/drawing/2014/main" id="{0C2D7F5C-BD73-5445-9E3A-82A31E22F62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176751" y="10942822"/>
            <a:ext cx="8523218" cy="1444847"/>
          </a:xfrm>
        </p:spPr>
        <p:txBody>
          <a:bodyPr>
            <a:noAutofit/>
          </a:bodyPr>
          <a:lstStyle>
            <a:lvl1pPr marL="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5">
            <a:extLst>
              <a:ext uri="{FF2B5EF4-FFF2-40B4-BE49-F238E27FC236}">
                <a16:creationId xmlns:a16="http://schemas.microsoft.com/office/drawing/2014/main" id="{25FCA52D-C087-3347-A5F3-54D623B2115B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12684029" y="10972442"/>
            <a:ext cx="8523218" cy="1444848"/>
          </a:xfrm>
        </p:spPr>
        <p:txBody>
          <a:bodyPr>
            <a:noAutofit/>
          </a:bodyPr>
          <a:lstStyle>
            <a:lvl1pPr marL="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3" name="Picture Placeholder 3">
            <a:extLst>
              <a:ext uri="{FF2B5EF4-FFF2-40B4-BE49-F238E27FC236}">
                <a16:creationId xmlns:a16="http://schemas.microsoft.com/office/drawing/2014/main" id="{3520A367-5826-4047-8F6E-214336795336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3176751" y="4582010"/>
            <a:ext cx="8523218" cy="5555977"/>
          </a:xfrm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4" name="Picture Placeholder 3">
            <a:extLst>
              <a:ext uri="{FF2B5EF4-FFF2-40B4-BE49-F238E27FC236}">
                <a16:creationId xmlns:a16="http://schemas.microsoft.com/office/drawing/2014/main" id="{09A473F0-3B7E-704A-AA89-F4277FCB9971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12684029" y="4582010"/>
            <a:ext cx="8523218" cy="5577461"/>
          </a:xfrm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5210B6C-2009-3AB9-2B36-C9C111BD1F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166"/>
          <a:stretch/>
        </p:blipFill>
        <p:spPr>
          <a:xfrm>
            <a:off x="20815349" y="0"/>
            <a:ext cx="2811993" cy="1473200"/>
          </a:xfrm>
          <a:prstGeom prst="rect">
            <a:avLst/>
          </a:prstGeom>
        </p:spPr>
      </p:pic>
      <p:grpSp>
        <p:nvGrpSpPr>
          <p:cNvPr id="5" name="Group">
            <a:extLst>
              <a:ext uri="{FF2B5EF4-FFF2-40B4-BE49-F238E27FC236}">
                <a16:creationId xmlns:a16="http://schemas.microsoft.com/office/drawing/2014/main" id="{6BFD5909-E19C-D820-5C51-280C15B09CBC}"/>
              </a:ext>
            </a:extLst>
          </p:cNvPr>
          <p:cNvGrpSpPr/>
          <p:nvPr userDrawn="1"/>
        </p:nvGrpSpPr>
        <p:grpSpPr>
          <a:xfrm>
            <a:off x="756659" y="-3867"/>
            <a:ext cx="2783909" cy="2014172"/>
            <a:chOff x="-2864397" y="0"/>
            <a:chExt cx="2783907" cy="2014171"/>
          </a:xfrm>
        </p:grpSpPr>
        <p:pic>
          <p:nvPicPr>
            <p:cNvPr id="6" name="Image" descr="Image">
              <a:extLst>
                <a:ext uri="{FF2B5EF4-FFF2-40B4-BE49-F238E27FC236}">
                  <a16:creationId xmlns:a16="http://schemas.microsoft.com/office/drawing/2014/main" id="{8B08C927-B7A0-43BA-4100-83612BFB59A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-2864398" y="-1"/>
              <a:ext cx="630382" cy="135967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7" name="Image" descr="Image">
              <a:extLst>
                <a:ext uri="{FF2B5EF4-FFF2-40B4-BE49-F238E27FC236}">
                  <a16:creationId xmlns:a16="http://schemas.microsoft.com/office/drawing/2014/main" id="{6AFC5A1D-896A-4BE5-A25A-A0172137210B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t="88153" r="78332"/>
            <a:stretch>
              <a:fillRect/>
            </a:stretch>
          </p:blipFill>
          <p:spPr>
            <a:xfrm>
              <a:off x="-2850027" y="1390294"/>
              <a:ext cx="601633" cy="623878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8" name="Image" descr="Image">
              <a:extLst>
                <a:ext uri="{FF2B5EF4-FFF2-40B4-BE49-F238E27FC236}">
                  <a16:creationId xmlns:a16="http://schemas.microsoft.com/office/drawing/2014/main" id="{58C85CFC-A584-60C9-398C-FC5F3B10CF07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l="31837" t="7689" b="68044"/>
            <a:stretch>
              <a:fillRect/>
            </a:stretch>
          </p:blipFill>
          <p:spPr>
            <a:xfrm>
              <a:off x="-1973131" y="245246"/>
              <a:ext cx="1892642" cy="127797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</p:spTree>
    <p:extLst>
      <p:ext uri="{BB962C8B-B14F-4D97-AF65-F5344CB8AC3E}">
        <p14:creationId xmlns:p14="http://schemas.microsoft.com/office/powerpoint/2010/main" val="779245570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rt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">
            <a:extLst>
              <a:ext uri="{FF2B5EF4-FFF2-40B4-BE49-F238E27FC236}">
                <a16:creationId xmlns:a16="http://schemas.microsoft.com/office/drawing/2014/main" id="{450F1BD6-0F15-C34E-9F74-50970B5378D2}"/>
              </a:ext>
            </a:extLst>
          </p:cNvPr>
          <p:cNvSpPr/>
          <p:nvPr userDrawn="1"/>
        </p:nvSpPr>
        <p:spPr>
          <a:xfrm>
            <a:off x="0" y="2360348"/>
            <a:ext cx="24384000" cy="11436178"/>
          </a:xfrm>
          <a:prstGeom prst="rect">
            <a:avLst/>
          </a:prstGeom>
          <a:gradFill>
            <a:gsLst>
              <a:gs pos="0">
                <a:srgbClr val="F15A24"/>
              </a:gs>
              <a:gs pos="100000">
                <a:srgbClr val="F8A036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C90E15E-9DC3-D24F-8189-931487225A4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67377" y="1871164"/>
            <a:ext cx="14715569" cy="511175"/>
          </a:xfrm>
        </p:spPr>
        <p:txBody>
          <a:bodyPr>
            <a:normAutofit/>
          </a:bodyPr>
          <a:lstStyle>
            <a:lvl1pPr>
              <a:defRPr kumimoji="0" lang="en-US" sz="3800" b="1" i="0" u="none" strike="noStrike" cap="all" spc="0" normalizeH="0" baseline="0">
                <a:ln>
                  <a:noFill/>
                </a:ln>
                <a:solidFill>
                  <a:srgbClr val="128CCD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F9A081F0-DCC0-4F43-B885-A177263AC1B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167377" y="2419728"/>
            <a:ext cx="9768875" cy="803546"/>
          </a:xfrm>
        </p:spPr>
        <p:txBody>
          <a:bodyPr/>
          <a:lstStyle>
            <a:lvl1pPr marL="0" indent="0">
              <a:buNone/>
              <a:defRPr kumimoji="0" lang="en-US" sz="3200" b="1" i="0" u="none" strike="noStrike" cap="all" spc="0" normalizeH="0" baseline="0">
                <a:ln>
                  <a:noFill/>
                </a:ln>
                <a:solidFill>
                  <a:schemeClr val="bg1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pPr lvl="0"/>
            <a:r>
              <a:rPr lang="en-US" dirty="0"/>
              <a:t>SUB TITLE</a:t>
            </a:r>
          </a:p>
        </p:txBody>
      </p:sp>
      <p:sp>
        <p:nvSpPr>
          <p:cNvPr id="4" name="Chart Placeholder 3">
            <a:extLst>
              <a:ext uri="{FF2B5EF4-FFF2-40B4-BE49-F238E27FC236}">
                <a16:creationId xmlns:a16="http://schemas.microsoft.com/office/drawing/2014/main" id="{64D80AC6-9CFD-09B5-1CEF-F695884CCD02}"/>
              </a:ext>
            </a:extLst>
          </p:cNvPr>
          <p:cNvSpPr>
            <a:spLocks noGrp="1"/>
          </p:cNvSpPr>
          <p:nvPr>
            <p:ph type="chart" sz="quarter" idx="11" hasCustomPrompt="1"/>
          </p:nvPr>
        </p:nvSpPr>
        <p:spPr>
          <a:xfrm>
            <a:off x="11460163" y="3962400"/>
            <a:ext cx="12118975" cy="9083675"/>
          </a:xfrm>
        </p:spPr>
        <p:txBody>
          <a:bodyPr>
            <a:normAutofit/>
          </a:bodyPr>
          <a:lstStyle>
            <a:lvl1pPr marL="0" indent="0">
              <a:buNone/>
              <a:defRPr sz="4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insert chart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DEA6CC15-DCB9-9ABD-A03B-8B586BD05B11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902075" y="3962399"/>
            <a:ext cx="7010400" cy="4058049"/>
          </a:xfrm>
        </p:spPr>
        <p:txBody>
          <a:bodyPr>
            <a:normAutofit/>
          </a:bodyPr>
          <a:lstStyle>
            <a:lvl1pPr marL="0" indent="0">
              <a:buNone/>
              <a:defRPr sz="36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9" name="Graphic 8" descr="Blockchain with solid fill">
            <a:extLst>
              <a:ext uri="{FF2B5EF4-FFF2-40B4-BE49-F238E27FC236}">
                <a16:creationId xmlns:a16="http://schemas.microsoft.com/office/drawing/2014/main" id="{C6F9FEE2-3F55-6EBA-4F92-F43ABD638BA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137047" y="3962400"/>
            <a:ext cx="1403522" cy="1403522"/>
          </a:xfrm>
          <a:prstGeom prst="rect">
            <a:avLst/>
          </a:prstGeom>
        </p:spPr>
      </p:pic>
      <p:sp>
        <p:nvSpPr>
          <p:cNvPr id="20" name="Text Placeholder 5">
            <a:extLst>
              <a:ext uri="{FF2B5EF4-FFF2-40B4-BE49-F238E27FC236}">
                <a16:creationId xmlns:a16="http://schemas.microsoft.com/office/drawing/2014/main" id="{8597BD3B-4478-8A1D-BD26-1D9EFAA7FCF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902075" y="8861383"/>
            <a:ext cx="7010400" cy="4058049"/>
          </a:xfrm>
        </p:spPr>
        <p:txBody>
          <a:bodyPr>
            <a:normAutofit/>
          </a:bodyPr>
          <a:lstStyle>
            <a:lvl1pPr marL="0" indent="0">
              <a:buNone/>
              <a:defRPr sz="36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11" name="Graphic 10" descr="Bullseye with solid fill">
            <a:extLst>
              <a:ext uri="{FF2B5EF4-FFF2-40B4-BE49-F238E27FC236}">
                <a16:creationId xmlns:a16="http://schemas.microsoft.com/office/drawing/2014/main" id="{D6B829BF-9E0D-0105-F75C-8DDD429EFC01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287110" y="8648744"/>
            <a:ext cx="1403521" cy="140352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0C22165-28E5-078B-D527-EB85E34E9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166"/>
          <a:stretch/>
        </p:blipFill>
        <p:spPr>
          <a:xfrm>
            <a:off x="20815349" y="0"/>
            <a:ext cx="2811993" cy="1473200"/>
          </a:xfrm>
          <a:prstGeom prst="rect">
            <a:avLst/>
          </a:prstGeom>
        </p:spPr>
      </p:pic>
      <p:grpSp>
        <p:nvGrpSpPr>
          <p:cNvPr id="8" name="Group">
            <a:extLst>
              <a:ext uri="{FF2B5EF4-FFF2-40B4-BE49-F238E27FC236}">
                <a16:creationId xmlns:a16="http://schemas.microsoft.com/office/drawing/2014/main" id="{1AB01AB1-EADC-77A2-A940-2DE69B7ABE8E}"/>
              </a:ext>
            </a:extLst>
          </p:cNvPr>
          <p:cNvGrpSpPr/>
          <p:nvPr userDrawn="1"/>
        </p:nvGrpSpPr>
        <p:grpSpPr>
          <a:xfrm>
            <a:off x="756659" y="-3867"/>
            <a:ext cx="2783909" cy="2014172"/>
            <a:chOff x="-2864397" y="0"/>
            <a:chExt cx="2783907" cy="2014171"/>
          </a:xfrm>
        </p:grpSpPr>
        <p:pic>
          <p:nvPicPr>
            <p:cNvPr id="10" name="Image" descr="Image">
              <a:extLst>
                <a:ext uri="{FF2B5EF4-FFF2-40B4-BE49-F238E27FC236}">
                  <a16:creationId xmlns:a16="http://schemas.microsoft.com/office/drawing/2014/main" id="{3B174F11-D671-E0EF-C5C9-332FF7B2255D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-2864398" y="-1"/>
              <a:ext cx="630382" cy="135967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2" name="Image" descr="Image">
              <a:extLst>
                <a:ext uri="{FF2B5EF4-FFF2-40B4-BE49-F238E27FC236}">
                  <a16:creationId xmlns:a16="http://schemas.microsoft.com/office/drawing/2014/main" id="{B2D60E6B-CEFB-1201-1ABC-A47A5C6DEDA7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rcRect t="88153" r="78332"/>
            <a:stretch>
              <a:fillRect/>
            </a:stretch>
          </p:blipFill>
          <p:spPr>
            <a:xfrm>
              <a:off x="-2850027" y="1390294"/>
              <a:ext cx="601633" cy="623878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4" name="Image" descr="Image">
              <a:extLst>
                <a:ext uri="{FF2B5EF4-FFF2-40B4-BE49-F238E27FC236}">
                  <a16:creationId xmlns:a16="http://schemas.microsoft.com/office/drawing/2014/main" id="{3ECE39F8-02C5-64A7-9AC5-4BDC8C44E368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rcRect l="31837" t="7689" b="68044"/>
            <a:stretch>
              <a:fillRect/>
            </a:stretch>
          </p:blipFill>
          <p:spPr>
            <a:xfrm>
              <a:off x="-1973131" y="245246"/>
              <a:ext cx="1892642" cy="127797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</p:spTree>
    <p:extLst>
      <p:ext uri="{BB962C8B-B14F-4D97-AF65-F5344CB8AC3E}">
        <p14:creationId xmlns:p14="http://schemas.microsoft.com/office/powerpoint/2010/main" val="3811012248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ontent typ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">
            <a:extLst>
              <a:ext uri="{FF2B5EF4-FFF2-40B4-BE49-F238E27FC236}">
                <a16:creationId xmlns:a16="http://schemas.microsoft.com/office/drawing/2014/main" id="{6D051288-6E3E-A95D-1377-4372C7DC1C4F}"/>
              </a:ext>
            </a:extLst>
          </p:cNvPr>
          <p:cNvSpPr/>
          <p:nvPr userDrawn="1"/>
        </p:nvSpPr>
        <p:spPr>
          <a:xfrm>
            <a:off x="0" y="2360348"/>
            <a:ext cx="24384000" cy="11436178"/>
          </a:xfrm>
          <a:prstGeom prst="rect">
            <a:avLst/>
          </a:prstGeom>
          <a:gradFill>
            <a:gsLst>
              <a:gs pos="0">
                <a:srgbClr val="F15A24"/>
              </a:gs>
              <a:gs pos="100000">
                <a:srgbClr val="F8A036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C90E15E-9DC3-D24F-8189-931487225A4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67377" y="1871164"/>
            <a:ext cx="14715569" cy="511175"/>
          </a:xfrm>
        </p:spPr>
        <p:txBody>
          <a:bodyPr>
            <a:normAutofit/>
          </a:bodyPr>
          <a:lstStyle>
            <a:lvl1pPr>
              <a:defRPr kumimoji="0" lang="en-US" sz="3800" b="1" i="0" u="none" strike="noStrike" cap="all" spc="0" normalizeH="0" baseline="0">
                <a:ln>
                  <a:noFill/>
                </a:ln>
                <a:solidFill>
                  <a:srgbClr val="128CCD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F9A081F0-DCC0-4F43-B885-A177263AC1B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167377" y="2419728"/>
            <a:ext cx="9768875" cy="803546"/>
          </a:xfrm>
        </p:spPr>
        <p:txBody>
          <a:bodyPr/>
          <a:lstStyle>
            <a:lvl1pPr marL="0" indent="0">
              <a:buNone/>
              <a:defRPr kumimoji="0" lang="en-US" sz="3200" b="1" i="0" u="none" strike="noStrike" cap="all" spc="0" normalizeH="0" baseline="0">
                <a:ln>
                  <a:noFill/>
                </a:ln>
                <a:solidFill>
                  <a:schemeClr val="bg1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pPr lvl="0"/>
            <a:r>
              <a:rPr lang="en-US" dirty="0"/>
              <a:t>SUB TITLE</a:t>
            </a:r>
          </a:p>
        </p:txBody>
      </p:sp>
      <p:sp>
        <p:nvSpPr>
          <p:cNvPr id="23" name="Picture Placeholder 3">
            <a:extLst>
              <a:ext uri="{FF2B5EF4-FFF2-40B4-BE49-F238E27FC236}">
                <a16:creationId xmlns:a16="http://schemas.microsoft.com/office/drawing/2014/main" id="{4D652F67-94A0-0840-AE16-55B87BEAF320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2167377" y="4120517"/>
            <a:ext cx="9469197" cy="8568593"/>
          </a:xfrm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2" name="Text Placeholder 5">
            <a:extLst>
              <a:ext uri="{FF2B5EF4-FFF2-40B4-BE49-F238E27FC236}">
                <a16:creationId xmlns:a16="http://schemas.microsoft.com/office/drawing/2014/main" id="{6A7F952E-8DC5-6A79-9AE3-813B3AE4D1F2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2747867" y="6462508"/>
            <a:ext cx="8024838" cy="6226602"/>
          </a:xfrm>
        </p:spPr>
        <p:txBody>
          <a:bodyPr>
            <a:noAutofit/>
          </a:bodyPr>
          <a:lstStyle>
            <a:lvl1pPr marL="0" indent="0">
              <a:buNone/>
              <a:defRPr kumimoji="0" lang="en-US" sz="26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5">
            <a:extLst>
              <a:ext uri="{FF2B5EF4-FFF2-40B4-BE49-F238E27FC236}">
                <a16:creationId xmlns:a16="http://schemas.microsoft.com/office/drawing/2014/main" id="{BA033C1D-E65C-08C9-F39B-80EFE57D65D8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2747428" y="4115640"/>
            <a:ext cx="8024812" cy="1968425"/>
          </a:xfrm>
        </p:spPr>
        <p:txBody>
          <a:bodyPr>
            <a:normAutofit/>
          </a:bodyPr>
          <a:lstStyle>
            <a:lvl1pPr marL="0" indent="0">
              <a:buNone/>
              <a:defRPr sz="4400">
                <a:solidFill>
                  <a:schemeClr val="bg1"/>
                </a:solidFill>
              </a:defRPr>
            </a:lvl1pPr>
            <a:lvl5pPr marL="2438400" indent="0" algn="l">
              <a:buFont typeface="Arial" panose="020B0604020202020204" pitchFamily="34" charset="0"/>
              <a:buNone/>
              <a:defRPr sz="44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079C9F5-AAFF-0002-246E-C6EBF2351B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166"/>
          <a:stretch/>
        </p:blipFill>
        <p:spPr>
          <a:xfrm>
            <a:off x="20815349" y="0"/>
            <a:ext cx="2811993" cy="1473200"/>
          </a:xfrm>
          <a:prstGeom prst="rect">
            <a:avLst/>
          </a:prstGeom>
        </p:spPr>
      </p:pic>
      <p:grpSp>
        <p:nvGrpSpPr>
          <p:cNvPr id="6" name="Group">
            <a:extLst>
              <a:ext uri="{FF2B5EF4-FFF2-40B4-BE49-F238E27FC236}">
                <a16:creationId xmlns:a16="http://schemas.microsoft.com/office/drawing/2014/main" id="{19954499-52C9-37B8-CE68-E31F97D9B97E}"/>
              </a:ext>
            </a:extLst>
          </p:cNvPr>
          <p:cNvGrpSpPr/>
          <p:nvPr userDrawn="1"/>
        </p:nvGrpSpPr>
        <p:grpSpPr>
          <a:xfrm>
            <a:off x="756659" y="-3867"/>
            <a:ext cx="2783909" cy="2014172"/>
            <a:chOff x="-2864397" y="0"/>
            <a:chExt cx="2783907" cy="2014171"/>
          </a:xfrm>
        </p:grpSpPr>
        <p:pic>
          <p:nvPicPr>
            <p:cNvPr id="8" name="Image" descr="Image">
              <a:extLst>
                <a:ext uri="{FF2B5EF4-FFF2-40B4-BE49-F238E27FC236}">
                  <a16:creationId xmlns:a16="http://schemas.microsoft.com/office/drawing/2014/main" id="{1827E7EE-F7D7-B912-1873-48F271C754A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-2864398" y="-1"/>
              <a:ext cx="630382" cy="135967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9" name="Image" descr="Image">
              <a:extLst>
                <a:ext uri="{FF2B5EF4-FFF2-40B4-BE49-F238E27FC236}">
                  <a16:creationId xmlns:a16="http://schemas.microsoft.com/office/drawing/2014/main" id="{97CC2254-DB2F-2222-3ACB-0F4D49DF246B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t="88153" r="78332"/>
            <a:stretch>
              <a:fillRect/>
            </a:stretch>
          </p:blipFill>
          <p:spPr>
            <a:xfrm>
              <a:off x="-2850027" y="1390294"/>
              <a:ext cx="601633" cy="623878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0" name="Image" descr="Image">
              <a:extLst>
                <a:ext uri="{FF2B5EF4-FFF2-40B4-BE49-F238E27FC236}">
                  <a16:creationId xmlns:a16="http://schemas.microsoft.com/office/drawing/2014/main" id="{1DEA3358-B0D8-2D88-2DDF-CD2824CEACE3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l="31837" t="7689" b="68044"/>
            <a:stretch>
              <a:fillRect/>
            </a:stretch>
          </p:blipFill>
          <p:spPr>
            <a:xfrm>
              <a:off x="-1973131" y="245246"/>
              <a:ext cx="1892642" cy="127797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</p:spTree>
    <p:extLst>
      <p:ext uri="{BB962C8B-B14F-4D97-AF65-F5344CB8AC3E}">
        <p14:creationId xmlns:p14="http://schemas.microsoft.com/office/powerpoint/2010/main" val="1134045232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iz layou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">
            <a:extLst>
              <a:ext uri="{FF2B5EF4-FFF2-40B4-BE49-F238E27FC236}">
                <a16:creationId xmlns:a16="http://schemas.microsoft.com/office/drawing/2014/main" id="{FABE8965-C5C7-9C39-4D77-41321DCB42C7}"/>
              </a:ext>
            </a:extLst>
          </p:cNvPr>
          <p:cNvSpPr/>
          <p:nvPr userDrawn="1"/>
        </p:nvSpPr>
        <p:spPr>
          <a:xfrm>
            <a:off x="0" y="2360348"/>
            <a:ext cx="24384000" cy="11436178"/>
          </a:xfrm>
          <a:prstGeom prst="rect">
            <a:avLst/>
          </a:prstGeom>
          <a:gradFill>
            <a:gsLst>
              <a:gs pos="0">
                <a:srgbClr val="F15A24"/>
              </a:gs>
              <a:gs pos="100000">
                <a:srgbClr val="F8A036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C90E15E-9DC3-D24F-8189-931487225A4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67377" y="1871164"/>
            <a:ext cx="14715569" cy="511175"/>
          </a:xfrm>
        </p:spPr>
        <p:txBody>
          <a:bodyPr>
            <a:normAutofit/>
          </a:bodyPr>
          <a:lstStyle>
            <a:lvl1pPr>
              <a:defRPr kumimoji="0" lang="en-US" sz="3800" b="1" i="0" u="none" strike="noStrike" cap="all" spc="0" normalizeH="0" baseline="0">
                <a:ln>
                  <a:noFill/>
                </a:ln>
                <a:solidFill>
                  <a:srgbClr val="128CCD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F9A081F0-DCC0-4F43-B885-A177263AC1B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167377" y="2419728"/>
            <a:ext cx="9768875" cy="803546"/>
          </a:xfrm>
        </p:spPr>
        <p:txBody>
          <a:bodyPr/>
          <a:lstStyle>
            <a:lvl1pPr marL="0" indent="0">
              <a:buNone/>
              <a:defRPr kumimoji="0" lang="en-US" sz="3200" b="1" i="0" u="none" strike="noStrike" cap="all" spc="0" normalizeH="0" baseline="0">
                <a:ln>
                  <a:noFill/>
                </a:ln>
                <a:solidFill>
                  <a:schemeClr val="bg1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pPr lvl="0"/>
            <a:r>
              <a:rPr lang="en-US" dirty="0"/>
              <a:t>SUB TITLE</a:t>
            </a:r>
          </a:p>
        </p:txBody>
      </p:sp>
      <p:sp>
        <p:nvSpPr>
          <p:cNvPr id="4" name="Round Same Side Corner Rectangle 3">
            <a:extLst>
              <a:ext uri="{FF2B5EF4-FFF2-40B4-BE49-F238E27FC236}">
                <a16:creationId xmlns:a16="http://schemas.microsoft.com/office/drawing/2014/main" id="{FA29A0C7-63A9-37AE-C36E-28D29DB1FC0C}"/>
              </a:ext>
            </a:extLst>
          </p:cNvPr>
          <p:cNvSpPr/>
          <p:nvPr userDrawn="1"/>
        </p:nvSpPr>
        <p:spPr>
          <a:xfrm>
            <a:off x="2124334" y="5228017"/>
            <a:ext cx="7712393" cy="8605898"/>
          </a:xfrm>
          <a:prstGeom prst="round2SameRect">
            <a:avLst>
              <a:gd name="adj1" fmla="val 7123"/>
              <a:gd name="adj2" fmla="val 0"/>
            </a:avLst>
          </a:prstGeom>
          <a:solidFill>
            <a:schemeClr val="bg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16" name="Text Placeholder 5">
            <a:extLst>
              <a:ext uri="{FF2B5EF4-FFF2-40B4-BE49-F238E27FC236}">
                <a16:creationId xmlns:a16="http://schemas.microsoft.com/office/drawing/2014/main" id="{00BFA553-2EAA-7D5D-66A4-3CB0B3039A4F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2594247" y="7248019"/>
            <a:ext cx="6817382" cy="6226602"/>
          </a:xfrm>
        </p:spPr>
        <p:txBody>
          <a:bodyPr>
            <a:noAutofit/>
          </a:bodyPr>
          <a:lstStyle>
            <a:lvl1pPr marL="0" indent="0">
              <a:buNone/>
              <a:defRPr kumimoji="0" lang="en-US" sz="2600" b="0" i="0" u="none" strike="noStrike" cap="none" spc="0" normalizeH="0" baseline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6" name="Graphic 5" descr="Help with solid fill">
            <a:extLst>
              <a:ext uri="{FF2B5EF4-FFF2-40B4-BE49-F238E27FC236}">
                <a16:creationId xmlns:a16="http://schemas.microsoft.com/office/drawing/2014/main" id="{5BCC09F5-BEFD-455C-0F2F-F18D468EC78F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594247" y="5468810"/>
            <a:ext cx="1427671" cy="1427671"/>
          </a:xfrm>
          <a:prstGeom prst="rect">
            <a:avLst/>
          </a:prstGeom>
        </p:spPr>
      </p:pic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7A5EDB33-736C-0AA5-C7CD-BDFF535E7A9C}"/>
              </a:ext>
            </a:extLst>
          </p:cNvPr>
          <p:cNvSpPr/>
          <p:nvPr userDrawn="1"/>
        </p:nvSpPr>
        <p:spPr>
          <a:xfrm>
            <a:off x="11485756" y="5237573"/>
            <a:ext cx="11731083" cy="1080000"/>
          </a:xfrm>
          <a:prstGeom prst="roundRect">
            <a:avLst/>
          </a:prstGeom>
          <a:solidFill>
            <a:schemeClr val="bg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19" name="Rounded Rectangle 18">
            <a:extLst>
              <a:ext uri="{FF2B5EF4-FFF2-40B4-BE49-F238E27FC236}">
                <a16:creationId xmlns:a16="http://schemas.microsoft.com/office/drawing/2014/main" id="{9A29247D-C253-CBDD-13EE-F16B85217807}"/>
              </a:ext>
            </a:extLst>
          </p:cNvPr>
          <p:cNvSpPr/>
          <p:nvPr userDrawn="1"/>
        </p:nvSpPr>
        <p:spPr>
          <a:xfrm>
            <a:off x="11485756" y="6937152"/>
            <a:ext cx="11731083" cy="1080000"/>
          </a:xfrm>
          <a:prstGeom prst="roundRect">
            <a:avLst/>
          </a:prstGeom>
          <a:solidFill>
            <a:schemeClr val="bg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20" name="Rounded Rectangle 19">
            <a:extLst>
              <a:ext uri="{FF2B5EF4-FFF2-40B4-BE49-F238E27FC236}">
                <a16:creationId xmlns:a16="http://schemas.microsoft.com/office/drawing/2014/main" id="{640D50B7-0BFF-E456-7675-C96913EC6D02}"/>
              </a:ext>
            </a:extLst>
          </p:cNvPr>
          <p:cNvSpPr/>
          <p:nvPr userDrawn="1"/>
        </p:nvSpPr>
        <p:spPr>
          <a:xfrm>
            <a:off x="11485756" y="8615938"/>
            <a:ext cx="11731083" cy="1080000"/>
          </a:xfrm>
          <a:prstGeom prst="roundRect">
            <a:avLst/>
          </a:prstGeom>
          <a:solidFill>
            <a:schemeClr val="bg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21" name="Rounded Rectangle 20">
            <a:extLst>
              <a:ext uri="{FF2B5EF4-FFF2-40B4-BE49-F238E27FC236}">
                <a16:creationId xmlns:a16="http://schemas.microsoft.com/office/drawing/2014/main" id="{A4EB9AD0-97D9-EA55-1897-8E787ACA18AD}"/>
              </a:ext>
            </a:extLst>
          </p:cNvPr>
          <p:cNvSpPr/>
          <p:nvPr userDrawn="1"/>
        </p:nvSpPr>
        <p:spPr>
          <a:xfrm>
            <a:off x="11485756" y="10294724"/>
            <a:ext cx="11731083" cy="1080000"/>
          </a:xfrm>
          <a:prstGeom prst="roundRect">
            <a:avLst/>
          </a:prstGeom>
          <a:solidFill>
            <a:schemeClr val="bg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22" name="Rounded Rectangle 21">
            <a:extLst>
              <a:ext uri="{FF2B5EF4-FFF2-40B4-BE49-F238E27FC236}">
                <a16:creationId xmlns:a16="http://schemas.microsoft.com/office/drawing/2014/main" id="{1FE4A142-7345-2F27-77AC-6B8D7F3BB8F0}"/>
              </a:ext>
            </a:extLst>
          </p:cNvPr>
          <p:cNvSpPr/>
          <p:nvPr userDrawn="1"/>
        </p:nvSpPr>
        <p:spPr>
          <a:xfrm>
            <a:off x="11485756" y="11973510"/>
            <a:ext cx="11731083" cy="1080000"/>
          </a:xfrm>
          <a:prstGeom prst="roundRect">
            <a:avLst/>
          </a:prstGeom>
          <a:solidFill>
            <a:schemeClr val="bg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24" name="Text Placeholder 5">
            <a:extLst>
              <a:ext uri="{FF2B5EF4-FFF2-40B4-BE49-F238E27FC236}">
                <a16:creationId xmlns:a16="http://schemas.microsoft.com/office/drawing/2014/main" id="{8ED258EB-0A79-0CC4-9AC5-E5BB65095D9B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11936252" y="5570897"/>
            <a:ext cx="10801828" cy="468000"/>
          </a:xfrm>
        </p:spPr>
        <p:txBody>
          <a:bodyPr>
            <a:noAutofit/>
          </a:bodyPr>
          <a:lstStyle>
            <a:lvl1pPr marL="0" indent="0">
              <a:buNone/>
              <a:defRPr kumimoji="0" lang="en-US" sz="2600" b="0" i="0" u="none" strike="noStrike" cap="none" spc="0" normalizeH="0" baseline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5">
            <a:extLst>
              <a:ext uri="{FF2B5EF4-FFF2-40B4-BE49-F238E27FC236}">
                <a16:creationId xmlns:a16="http://schemas.microsoft.com/office/drawing/2014/main" id="{D7D34A3F-BE3B-171A-71BC-2F827D2C4C80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11936252" y="7270476"/>
            <a:ext cx="10801828" cy="468000"/>
          </a:xfrm>
        </p:spPr>
        <p:txBody>
          <a:bodyPr>
            <a:noAutofit/>
          </a:bodyPr>
          <a:lstStyle>
            <a:lvl1pPr marL="0" indent="0">
              <a:buNone/>
              <a:defRPr kumimoji="0" lang="en-US" sz="2600" b="0" i="0" u="none" strike="noStrike" cap="none" spc="0" normalizeH="0" baseline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5">
            <a:extLst>
              <a:ext uri="{FF2B5EF4-FFF2-40B4-BE49-F238E27FC236}">
                <a16:creationId xmlns:a16="http://schemas.microsoft.com/office/drawing/2014/main" id="{3421587F-10AC-7EBE-6901-E1BA33DF8AE1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11936252" y="8949262"/>
            <a:ext cx="10801828" cy="468000"/>
          </a:xfrm>
        </p:spPr>
        <p:txBody>
          <a:bodyPr>
            <a:noAutofit/>
          </a:bodyPr>
          <a:lstStyle>
            <a:lvl1pPr marL="0" indent="0">
              <a:buNone/>
              <a:defRPr kumimoji="0" lang="en-US" sz="2600" b="0" i="0" u="none" strike="noStrike" cap="none" spc="0" normalizeH="0" baseline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7" name="Text Placeholder 5">
            <a:extLst>
              <a:ext uri="{FF2B5EF4-FFF2-40B4-BE49-F238E27FC236}">
                <a16:creationId xmlns:a16="http://schemas.microsoft.com/office/drawing/2014/main" id="{B1FF3B0B-6113-DB9F-2F3C-96810CE90162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11936252" y="10628048"/>
            <a:ext cx="10801828" cy="468000"/>
          </a:xfrm>
        </p:spPr>
        <p:txBody>
          <a:bodyPr>
            <a:noAutofit/>
          </a:bodyPr>
          <a:lstStyle>
            <a:lvl1pPr marL="0" indent="0">
              <a:buNone/>
              <a:defRPr kumimoji="0" lang="en-US" sz="2600" b="0" i="0" u="none" strike="noStrike" cap="none" spc="0" normalizeH="0" baseline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8" name="Text Placeholder 5">
            <a:extLst>
              <a:ext uri="{FF2B5EF4-FFF2-40B4-BE49-F238E27FC236}">
                <a16:creationId xmlns:a16="http://schemas.microsoft.com/office/drawing/2014/main" id="{1B78CB5C-262B-068C-9251-A2C3C592CF45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11936252" y="12306834"/>
            <a:ext cx="10801828" cy="468000"/>
          </a:xfrm>
        </p:spPr>
        <p:txBody>
          <a:bodyPr>
            <a:noAutofit/>
          </a:bodyPr>
          <a:lstStyle>
            <a:lvl1pPr marL="0" indent="0">
              <a:buNone/>
              <a:defRPr kumimoji="0" lang="en-US" sz="2600" b="0" i="0" u="none" strike="noStrike" cap="none" spc="0" normalizeH="0" baseline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F9AF533-B5F6-1F4C-DB2A-D5C619F697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166"/>
          <a:stretch/>
        </p:blipFill>
        <p:spPr>
          <a:xfrm>
            <a:off x="20815349" y="0"/>
            <a:ext cx="2811993" cy="1473200"/>
          </a:xfrm>
          <a:prstGeom prst="rect">
            <a:avLst/>
          </a:prstGeom>
        </p:spPr>
      </p:pic>
      <p:grpSp>
        <p:nvGrpSpPr>
          <p:cNvPr id="9" name="Group">
            <a:extLst>
              <a:ext uri="{FF2B5EF4-FFF2-40B4-BE49-F238E27FC236}">
                <a16:creationId xmlns:a16="http://schemas.microsoft.com/office/drawing/2014/main" id="{CACAE48A-1410-60E4-FCE8-EBA95AD9A7D1}"/>
              </a:ext>
            </a:extLst>
          </p:cNvPr>
          <p:cNvGrpSpPr/>
          <p:nvPr userDrawn="1"/>
        </p:nvGrpSpPr>
        <p:grpSpPr>
          <a:xfrm>
            <a:off x="756659" y="-3867"/>
            <a:ext cx="2783909" cy="2014172"/>
            <a:chOff x="-2864397" y="0"/>
            <a:chExt cx="2783907" cy="2014171"/>
          </a:xfrm>
        </p:grpSpPr>
        <p:pic>
          <p:nvPicPr>
            <p:cNvPr id="10" name="Image" descr="Image">
              <a:extLst>
                <a:ext uri="{FF2B5EF4-FFF2-40B4-BE49-F238E27FC236}">
                  <a16:creationId xmlns:a16="http://schemas.microsoft.com/office/drawing/2014/main" id="{835D3321-F5AB-7B39-240A-709C3EABC96A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-2864398" y="-1"/>
              <a:ext cx="630382" cy="135967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1" name="Image" descr="Image">
              <a:extLst>
                <a:ext uri="{FF2B5EF4-FFF2-40B4-BE49-F238E27FC236}">
                  <a16:creationId xmlns:a16="http://schemas.microsoft.com/office/drawing/2014/main" id="{9A5045C5-E6D9-0C02-A60D-808D1A46D9CC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rcRect t="88153" r="78332"/>
            <a:stretch>
              <a:fillRect/>
            </a:stretch>
          </p:blipFill>
          <p:spPr>
            <a:xfrm>
              <a:off x="-2850027" y="1390294"/>
              <a:ext cx="601633" cy="623878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2" name="Image" descr="Image">
              <a:extLst>
                <a:ext uri="{FF2B5EF4-FFF2-40B4-BE49-F238E27FC236}">
                  <a16:creationId xmlns:a16="http://schemas.microsoft.com/office/drawing/2014/main" id="{5C378790-9194-7CF7-64F2-DCDC541DE747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rcRect l="31837" t="7689" b="68044"/>
            <a:stretch>
              <a:fillRect/>
            </a:stretch>
          </p:blipFill>
          <p:spPr>
            <a:xfrm>
              <a:off x="-1973131" y="245246"/>
              <a:ext cx="1892642" cy="127797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</p:spTree>
    <p:extLst>
      <p:ext uri="{BB962C8B-B14F-4D97-AF65-F5344CB8AC3E}">
        <p14:creationId xmlns:p14="http://schemas.microsoft.com/office/powerpoint/2010/main" val="1151361529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 typ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BG Slide-01.jpg" descr="BG Slide-01.jpg">
            <a:extLst>
              <a:ext uri="{FF2B5EF4-FFF2-40B4-BE49-F238E27FC236}">
                <a16:creationId xmlns:a16="http://schemas.microsoft.com/office/drawing/2014/main" id="{EB456242-AA88-DF45-9244-298FA0B8369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165" r="165"/>
          <a:stretch>
            <a:fillRect/>
          </a:stretch>
        </p:blipFill>
        <p:spPr>
          <a:xfrm>
            <a:off x="-86098" y="-57547"/>
            <a:ext cx="24507155" cy="13831095"/>
          </a:xfrm>
          <a:prstGeom prst="rect">
            <a:avLst/>
          </a:prstGeom>
          <a:ln w="12700">
            <a:miter lim="400000"/>
          </a:ln>
        </p:spPr>
      </p:pic>
      <p:sp>
        <p:nvSpPr>
          <p:cNvPr id="8" name="UNIVERSITAS BINA NUSANTARA">
            <a:extLst>
              <a:ext uri="{FF2B5EF4-FFF2-40B4-BE49-F238E27FC236}">
                <a16:creationId xmlns:a16="http://schemas.microsoft.com/office/drawing/2014/main" id="{1D553A28-04FA-E944-90CB-BDB2AEBEA300}"/>
              </a:ext>
            </a:extLst>
          </p:cNvPr>
          <p:cNvSpPr txBox="1"/>
          <p:nvPr userDrawn="1"/>
        </p:nvSpPr>
        <p:spPr>
          <a:xfrm>
            <a:off x="9823213" y="8366096"/>
            <a:ext cx="4727256" cy="3010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/>
          <a:p>
            <a:pPr algn="l" defTabSz="821531">
              <a:lnSpc>
                <a:spcPct val="80000"/>
              </a:lnSpc>
              <a:defRPr sz="3600">
                <a:solidFill>
                  <a:srgbClr val="FFFFFF"/>
                </a:solidFill>
                <a:latin typeface="Open Sans Light"/>
                <a:ea typeface="Open Sans Light"/>
                <a:cs typeface="Open Sans Light"/>
                <a:sym typeface="Open Sans"/>
              </a:defRPr>
            </a:pPr>
            <a:r>
              <a:rPr sz="2400" dirty="0"/>
              <a:t>UNIVERSITAS</a:t>
            </a:r>
            <a:r>
              <a:rPr sz="2400" b="1" dirty="0"/>
              <a:t> BINA NUSANTARA</a:t>
            </a:r>
          </a:p>
        </p:txBody>
      </p:sp>
      <p:sp>
        <p:nvSpPr>
          <p:cNvPr id="9" name="Rounded Rectangle">
            <a:extLst>
              <a:ext uri="{FF2B5EF4-FFF2-40B4-BE49-F238E27FC236}">
                <a16:creationId xmlns:a16="http://schemas.microsoft.com/office/drawing/2014/main" id="{A398922F-A33B-3C44-AAA1-709DF0A7FE30}"/>
              </a:ext>
            </a:extLst>
          </p:cNvPr>
          <p:cNvSpPr/>
          <p:nvPr userDrawn="1"/>
        </p:nvSpPr>
        <p:spPr>
          <a:xfrm>
            <a:off x="11684000" y="9025087"/>
            <a:ext cx="1016000" cy="88901"/>
          </a:xfrm>
          <a:prstGeom prst="roundRect">
            <a:avLst>
              <a:gd name="adj" fmla="val 50000"/>
            </a:avLst>
          </a:prstGeom>
          <a:solidFill>
            <a:srgbClr val="F08700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82550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13" name="Body Level One…"/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1201342" y="7438335"/>
            <a:ext cx="21971001" cy="864672"/>
          </a:xfrm>
          <a:prstGeom prst="rect">
            <a:avLst/>
          </a:prstGeom>
        </p:spPr>
        <p:txBody>
          <a:bodyPr/>
          <a:lstStyle>
            <a:lvl1pPr marL="0" indent="0" algn="ctr" defTabSz="825500">
              <a:lnSpc>
                <a:spcPct val="100000"/>
              </a:lnSpc>
              <a:spcBef>
                <a:spcPts val="0"/>
              </a:spcBef>
              <a:buSzTx/>
              <a:buNone/>
              <a:defRPr kumimoji="0" sz="5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  <a:lvl2pPr marL="0" indent="4572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2pPr>
            <a:lvl3pPr marL="0" indent="9144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3pPr>
            <a:lvl4pPr marL="0" indent="13716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4pPr>
            <a:lvl5pPr marL="0" indent="18288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5pPr>
          </a:lstStyle>
          <a:p>
            <a:r>
              <a:rPr dirty="0"/>
              <a:t>Presentation </a:t>
            </a:r>
            <a:r>
              <a:rPr lang="en-US" dirty="0"/>
              <a:t>TITLE</a:t>
            </a:r>
            <a:endParaRPr dirty="0"/>
          </a:p>
        </p:txBody>
      </p:sp>
      <p:sp>
        <p:nvSpPr>
          <p:cNvPr id="18" name="Presentation Title">
            <a:extLst>
              <a:ext uri="{FF2B5EF4-FFF2-40B4-BE49-F238E27FC236}">
                <a16:creationId xmlns:a16="http://schemas.microsoft.com/office/drawing/2014/main" id="{15CBFADB-E6B3-9B4E-8320-314E3790EC2E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1206496" y="3058757"/>
            <a:ext cx="21971004" cy="3746281"/>
          </a:xfrm>
          <a:prstGeom prst="rect">
            <a:avLst/>
          </a:prstGeom>
        </p:spPr>
        <p:txBody>
          <a:bodyPr anchor="b">
            <a:normAutofit/>
          </a:bodyPr>
          <a:lstStyle>
            <a:lvl1pPr algn="ctr">
              <a:defRPr kumimoji="0" sz="12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r>
              <a:rPr lang="en-US" dirty="0"/>
              <a:t>THANK YOU message</a:t>
            </a:r>
            <a:endParaRPr dirty="0"/>
          </a:p>
        </p:txBody>
      </p:sp>
      <p:sp>
        <p:nvSpPr>
          <p:cNvPr id="19" name="Text Placeholder 2">
            <a:extLst>
              <a:ext uri="{FF2B5EF4-FFF2-40B4-BE49-F238E27FC236}">
                <a16:creationId xmlns:a16="http://schemas.microsoft.com/office/drawing/2014/main" id="{9973D83C-1488-3E4C-B9DF-5608E0394C0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075574" y="9486762"/>
            <a:ext cx="6222535" cy="358278"/>
          </a:xfrm>
        </p:spPr>
        <p:txBody>
          <a:bodyPr>
            <a:normAutofit/>
          </a:bodyPr>
          <a:lstStyle>
            <a:lvl1pPr marL="0" indent="0" algn="ctr">
              <a:buNone/>
              <a:defRPr kumimoji="0" lang="en-US" sz="20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pPr lvl="0"/>
            <a:r>
              <a:rPr kumimoji="0" lang="en-US" sz="20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rPr>
              <a:t>MONTH YEAR</a:t>
            </a:r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EBE46FE-17DA-131C-25CA-513E1EB2D6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0918512" y="758208"/>
            <a:ext cx="2698754" cy="1143002"/>
          </a:xfrm>
          <a:prstGeom prst="rect">
            <a:avLst/>
          </a:prstGeom>
        </p:spPr>
      </p:pic>
      <p:pic>
        <p:nvPicPr>
          <p:cNvPr id="4" name="Image" descr="Image">
            <a:extLst>
              <a:ext uri="{FF2B5EF4-FFF2-40B4-BE49-F238E27FC236}">
                <a16:creationId xmlns:a16="http://schemas.microsoft.com/office/drawing/2014/main" id="{49D08008-1FC5-26A6-E9A3-347420006839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766734" y="758207"/>
            <a:ext cx="1914949" cy="1143001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2273209878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 typ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BG Slide-01.jpg" descr="BG Slide-01.jpg">
            <a:extLst>
              <a:ext uri="{FF2B5EF4-FFF2-40B4-BE49-F238E27FC236}">
                <a16:creationId xmlns:a16="http://schemas.microsoft.com/office/drawing/2014/main" id="{EB456242-AA88-DF45-9244-298FA0B8369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165" r="165"/>
          <a:stretch>
            <a:fillRect/>
          </a:stretch>
        </p:blipFill>
        <p:spPr>
          <a:xfrm>
            <a:off x="-86098" y="-57547"/>
            <a:ext cx="24507155" cy="13831095"/>
          </a:xfrm>
          <a:prstGeom prst="rect">
            <a:avLst/>
          </a:prstGeom>
          <a:ln w="12700">
            <a:miter lim="400000"/>
          </a:ln>
        </p:spPr>
      </p:pic>
      <p:sp>
        <p:nvSpPr>
          <p:cNvPr id="10" name="Rectangle">
            <a:extLst>
              <a:ext uri="{FF2B5EF4-FFF2-40B4-BE49-F238E27FC236}">
                <a16:creationId xmlns:a16="http://schemas.microsoft.com/office/drawing/2014/main" id="{BE73ECD8-9761-904C-83FC-7C21B825FC86}"/>
              </a:ext>
            </a:extLst>
          </p:cNvPr>
          <p:cNvSpPr/>
          <p:nvPr userDrawn="1"/>
        </p:nvSpPr>
        <p:spPr>
          <a:xfrm>
            <a:off x="0" y="0"/>
            <a:ext cx="24384000" cy="13716000"/>
          </a:xfrm>
          <a:prstGeom prst="rect">
            <a:avLst/>
          </a:prstGeom>
          <a:gradFill>
            <a:gsLst>
              <a:gs pos="0">
                <a:srgbClr val="2670B8"/>
              </a:gs>
              <a:gs pos="100000">
                <a:srgbClr val="2258A7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9" name="Rounded Rectangle">
            <a:extLst>
              <a:ext uri="{FF2B5EF4-FFF2-40B4-BE49-F238E27FC236}">
                <a16:creationId xmlns:a16="http://schemas.microsoft.com/office/drawing/2014/main" id="{A398922F-A33B-3C44-AAA1-709DF0A7FE30}"/>
              </a:ext>
            </a:extLst>
          </p:cNvPr>
          <p:cNvSpPr/>
          <p:nvPr userDrawn="1"/>
        </p:nvSpPr>
        <p:spPr>
          <a:xfrm>
            <a:off x="11684000" y="9025087"/>
            <a:ext cx="1016000" cy="88901"/>
          </a:xfrm>
          <a:prstGeom prst="roundRect">
            <a:avLst>
              <a:gd name="adj" fmla="val 50000"/>
            </a:avLst>
          </a:prstGeom>
          <a:solidFill>
            <a:srgbClr val="F08700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82550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13" name="Body Level One…"/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1201342" y="7438335"/>
            <a:ext cx="21971001" cy="864672"/>
          </a:xfrm>
          <a:prstGeom prst="rect">
            <a:avLst/>
          </a:prstGeom>
        </p:spPr>
        <p:txBody>
          <a:bodyPr/>
          <a:lstStyle>
            <a:lvl1pPr marL="0" indent="0" algn="ctr" defTabSz="825500">
              <a:lnSpc>
                <a:spcPct val="100000"/>
              </a:lnSpc>
              <a:spcBef>
                <a:spcPts val="0"/>
              </a:spcBef>
              <a:buSzTx/>
              <a:buNone/>
              <a:defRPr kumimoji="0" sz="5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  <a:lvl2pPr marL="0" indent="4572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2pPr>
            <a:lvl3pPr marL="0" indent="9144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3pPr>
            <a:lvl4pPr marL="0" indent="13716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4pPr>
            <a:lvl5pPr marL="0" indent="18288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5pPr>
          </a:lstStyle>
          <a:p>
            <a:r>
              <a:rPr dirty="0"/>
              <a:t>Presentation </a:t>
            </a:r>
            <a:r>
              <a:rPr lang="en-US" dirty="0"/>
              <a:t>TITLE</a:t>
            </a:r>
            <a:endParaRPr dirty="0"/>
          </a:p>
        </p:txBody>
      </p:sp>
      <p:sp>
        <p:nvSpPr>
          <p:cNvPr id="18" name="Presentation Title">
            <a:extLst>
              <a:ext uri="{FF2B5EF4-FFF2-40B4-BE49-F238E27FC236}">
                <a16:creationId xmlns:a16="http://schemas.microsoft.com/office/drawing/2014/main" id="{15CBFADB-E6B3-9B4E-8320-314E3790EC2E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1206496" y="3058757"/>
            <a:ext cx="21971004" cy="3746281"/>
          </a:xfrm>
          <a:prstGeom prst="rect">
            <a:avLst/>
          </a:prstGeom>
        </p:spPr>
        <p:txBody>
          <a:bodyPr anchor="b">
            <a:normAutofit/>
          </a:bodyPr>
          <a:lstStyle>
            <a:lvl1pPr algn="ctr">
              <a:defRPr kumimoji="0" sz="12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r>
              <a:rPr lang="en-US"/>
              <a:t>THANK YOU message</a:t>
            </a:r>
            <a:endParaRPr/>
          </a:p>
        </p:txBody>
      </p:sp>
      <p:sp>
        <p:nvSpPr>
          <p:cNvPr id="19" name="Text Placeholder 2">
            <a:extLst>
              <a:ext uri="{FF2B5EF4-FFF2-40B4-BE49-F238E27FC236}">
                <a16:creationId xmlns:a16="http://schemas.microsoft.com/office/drawing/2014/main" id="{9973D83C-1488-3E4C-B9DF-5608E0394C0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075574" y="9486762"/>
            <a:ext cx="6222535" cy="358278"/>
          </a:xfrm>
        </p:spPr>
        <p:txBody>
          <a:bodyPr>
            <a:normAutofit/>
          </a:bodyPr>
          <a:lstStyle>
            <a:lvl1pPr marL="0" indent="0" algn="ctr">
              <a:buNone/>
              <a:defRPr kumimoji="0" lang="en-US" sz="20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pPr lvl="0"/>
            <a:r>
              <a:rPr kumimoji="0" lang="en-US" sz="20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rPr>
              <a:t>MONTH YEAR</a:t>
            </a:r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5851190-1E16-8731-05F7-9E415A2E72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0918512" y="758208"/>
            <a:ext cx="2698754" cy="1143002"/>
          </a:xfrm>
          <a:prstGeom prst="rect">
            <a:avLst/>
          </a:prstGeom>
        </p:spPr>
      </p:pic>
      <p:pic>
        <p:nvPicPr>
          <p:cNvPr id="4" name="Image" descr="Image">
            <a:extLst>
              <a:ext uri="{FF2B5EF4-FFF2-40B4-BE49-F238E27FC236}">
                <a16:creationId xmlns:a16="http://schemas.microsoft.com/office/drawing/2014/main" id="{16478055-4CD9-7AD2-1E0C-062019F0D612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766734" y="758207"/>
            <a:ext cx="1914949" cy="1143001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2109941728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Title"/>
          <p:cNvSpPr txBox="1">
            <a:spLocks noGrp="1"/>
          </p:cNvSpPr>
          <p:nvPr>
            <p:ph type="title" hasCustomPrompt="1"/>
          </p:nvPr>
        </p:nvSpPr>
        <p:spPr>
          <a:xfrm>
            <a:off x="1206500" y="1079500"/>
            <a:ext cx="21971000" cy="14331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>
            <a:normAutofit/>
          </a:bodyPr>
          <a:lstStyle/>
          <a:p>
            <a:r>
              <a:rPr dirty="0"/>
              <a:t>Slide Title</a:t>
            </a:r>
          </a:p>
        </p:txBody>
      </p:sp>
      <p:sp>
        <p:nvSpPr>
          <p:cNvPr id="3" name="Body Level One…"/>
          <p:cNvSpPr txBox="1">
            <a:spLocks noGrp="1"/>
          </p:cNvSpPr>
          <p:nvPr>
            <p:ph type="body" idx="1" hasCustomPrompt="1"/>
          </p:nvPr>
        </p:nvSpPr>
        <p:spPr>
          <a:xfrm>
            <a:off x="1206500" y="4248504"/>
            <a:ext cx="21971000" cy="82560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>
            <a:normAutofit/>
          </a:bodyPr>
          <a:lstStyle/>
          <a:p>
            <a:r>
              <a:rPr dirty="0"/>
              <a:t>Slide bullet text</a:t>
            </a:r>
          </a:p>
          <a:p>
            <a:pPr lvl="1"/>
            <a:endParaRPr dirty="0"/>
          </a:p>
          <a:p>
            <a:pPr lvl="2"/>
            <a:endParaRPr dirty="0"/>
          </a:p>
          <a:p>
            <a:pPr lvl="3"/>
            <a:endParaRPr dirty="0"/>
          </a:p>
          <a:p>
            <a:pPr lvl="4"/>
            <a:endParaRPr dirty="0"/>
          </a:p>
        </p:txBody>
      </p:sp>
      <p:sp>
        <p:nvSpPr>
          <p:cNvPr id="4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1989384" y="13076008"/>
            <a:ext cx="392736" cy="379591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 anchor="b">
            <a:spAutoFit/>
          </a:bodyPr>
          <a:lstStyle>
            <a:lvl1pPr defTabSz="584200">
              <a:defRPr sz="1800">
                <a:solidFill>
                  <a:srgbClr val="000000"/>
                </a:solidFill>
                <a:latin typeface="Open Sans Light" panose="020B0606030504020204" pitchFamily="34" charset="0"/>
                <a:ea typeface="Open Sans Light" panose="020B0606030504020204" pitchFamily="34" charset="0"/>
                <a:cs typeface="Open Sans Light" panose="020B0606030504020204" pitchFamily="34" charset="0"/>
              </a:defRPr>
            </a:lvl1pPr>
          </a:lstStyle>
          <a:p>
            <a:fld id="{86CB4B4D-7CA3-9044-876B-883B54F8677D}" type="slidenum">
              <a:rPr lang="en-ID"/>
              <a:pPr/>
              <a:t>‹#›</a:t>
            </a:fld>
            <a:endParaRPr lang="en-ID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2" r:id="rId1"/>
    <p:sldLayoutId id="2147483666" r:id="rId2"/>
    <p:sldLayoutId id="2147483682" r:id="rId3"/>
    <p:sldLayoutId id="2147483673" r:id="rId4"/>
    <p:sldLayoutId id="2147483674" r:id="rId5"/>
    <p:sldLayoutId id="2147483675" r:id="rId6"/>
    <p:sldLayoutId id="2147483676" r:id="rId7"/>
    <p:sldLayoutId id="2147483677" r:id="rId8"/>
    <p:sldLayoutId id="2147483678" r:id="rId9"/>
    <p:sldLayoutId id="2147483679" r:id="rId10"/>
    <p:sldLayoutId id="2147483684" r:id="rId11"/>
    <p:sldLayoutId id="2147483667" r:id="rId12"/>
    <p:sldLayoutId id="2147483668" r:id="rId13"/>
    <p:sldLayoutId id="2147483685" r:id="rId14"/>
    <p:sldLayoutId id="2147483669" r:id="rId15"/>
    <p:sldLayoutId id="2147483683" r:id="rId16"/>
    <p:sldLayoutId id="2147483688" r:id="rId17"/>
    <p:sldLayoutId id="2147483670" r:id="rId18"/>
    <p:sldLayoutId id="2147483687" r:id="rId19"/>
    <p:sldLayoutId id="2147483671" r:id="rId20"/>
    <p:sldLayoutId id="2147483686" r:id="rId21"/>
    <p:sldLayoutId id="2147483680" r:id="rId22"/>
    <p:sldLayoutId id="2147483681" r:id="rId23"/>
  </p:sldLayoutIdLst>
  <p:transition spd="med"/>
  <p:txStyles>
    <p:titleStyle>
      <a:lvl1pPr marL="0" marR="0" indent="0" algn="l" defTabSz="2438338" rtl="0" eaLnBrk="1" latinLnBrk="0" hangingPunct="1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Open Sans Extrabold" panose="020B0606030504020204" pitchFamily="34" charset="0"/>
          <a:ea typeface="Open Sans Extrabold" panose="020B0606030504020204" pitchFamily="34" charset="0"/>
          <a:cs typeface="Open Sans Extrabold" panose="020B0606030504020204" pitchFamily="34" charset="0"/>
          <a:sym typeface="Helvetica Neue"/>
        </a:defRPr>
      </a:lvl1pPr>
      <a:lvl2pPr marL="0" marR="0" indent="457200" algn="l" defTabSz="2438338" rtl="0" eaLnBrk="1" latinLnBrk="0" hangingPunct="1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2pPr>
      <a:lvl3pPr marL="0" marR="0" indent="914400" algn="l" defTabSz="2438338" rtl="0" eaLnBrk="1" latinLnBrk="0" hangingPunct="1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3pPr>
      <a:lvl4pPr marL="0" marR="0" indent="1371600" algn="l" defTabSz="2438338" rtl="0" eaLnBrk="1" latinLnBrk="0" hangingPunct="1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4pPr>
      <a:lvl5pPr marL="0" marR="0" indent="1828800" algn="l" defTabSz="2438338" rtl="0" eaLnBrk="1" latinLnBrk="0" hangingPunct="1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5pPr>
      <a:lvl6pPr marL="0" marR="0" indent="2286000" algn="l" defTabSz="2438338" rtl="0" eaLnBrk="1" latinLnBrk="0" hangingPunct="1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6pPr>
      <a:lvl7pPr marL="0" marR="0" indent="2743200" algn="l" defTabSz="2438338" rtl="0" eaLnBrk="1" latinLnBrk="0" hangingPunct="1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7pPr>
      <a:lvl8pPr marL="0" marR="0" indent="3200400" algn="l" defTabSz="2438338" rtl="0" eaLnBrk="1" latinLnBrk="0" hangingPunct="1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8pPr>
      <a:lvl9pPr marL="0" marR="0" indent="3657600" algn="l" defTabSz="2438338" rtl="0" eaLnBrk="1" latinLnBrk="0" hangingPunct="1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9pPr>
    </p:titleStyle>
    <p:bodyStyle>
      <a:lvl1pPr marL="609600" marR="0" indent="-609600" algn="l" defTabSz="2438338" rtl="0" eaLnBrk="1" latinLnBrk="0" hangingPunct="1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Open Sans Light" panose="020B0606030504020204" pitchFamily="34" charset="0"/>
          <a:ea typeface="Open Sans Light" panose="020B0606030504020204" pitchFamily="34" charset="0"/>
          <a:cs typeface="Open Sans Light" panose="020B0606030504020204" pitchFamily="34" charset="0"/>
          <a:sym typeface="Helvetica Neue"/>
        </a:defRPr>
      </a:lvl1pPr>
      <a:lvl2pPr marL="1219200" marR="0" indent="-609600" algn="l" defTabSz="2438338" rtl="0" eaLnBrk="1" latinLnBrk="0" hangingPunct="1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Open Sans Light" panose="020B0606030504020204" pitchFamily="34" charset="0"/>
          <a:ea typeface="Open Sans Light" panose="020B0606030504020204" pitchFamily="34" charset="0"/>
          <a:cs typeface="Open Sans Light" panose="020B0606030504020204" pitchFamily="34" charset="0"/>
          <a:sym typeface="Helvetica Neue"/>
        </a:defRPr>
      </a:lvl2pPr>
      <a:lvl3pPr marL="1828800" marR="0" indent="-609600" algn="l" defTabSz="2438338" rtl="0" eaLnBrk="1" latinLnBrk="0" hangingPunct="1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Open Sans Light" panose="020B0606030504020204" pitchFamily="34" charset="0"/>
          <a:ea typeface="Open Sans Light" panose="020B0606030504020204" pitchFamily="34" charset="0"/>
          <a:cs typeface="Open Sans Light" panose="020B0606030504020204" pitchFamily="34" charset="0"/>
          <a:sym typeface="Helvetica Neue"/>
        </a:defRPr>
      </a:lvl3pPr>
      <a:lvl4pPr marL="2438400" marR="0" indent="-609600" algn="l" defTabSz="2438338" rtl="0" eaLnBrk="1" latinLnBrk="0" hangingPunct="1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Open Sans Light" panose="020B0606030504020204" pitchFamily="34" charset="0"/>
          <a:ea typeface="Open Sans Light" panose="020B0606030504020204" pitchFamily="34" charset="0"/>
          <a:cs typeface="Open Sans Light" panose="020B0606030504020204" pitchFamily="34" charset="0"/>
          <a:sym typeface="Helvetica Neue"/>
        </a:defRPr>
      </a:lvl4pPr>
      <a:lvl5pPr marL="3048000" marR="0" indent="-609600" algn="l" defTabSz="2438338" rtl="0" eaLnBrk="1" latinLnBrk="0" hangingPunct="1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Open Sans Light" panose="020B0606030504020204" pitchFamily="34" charset="0"/>
          <a:ea typeface="Open Sans Light" panose="020B0606030504020204" pitchFamily="34" charset="0"/>
          <a:cs typeface="Open Sans Light" panose="020B0606030504020204" pitchFamily="34" charset="0"/>
          <a:sym typeface="Helvetica Neue"/>
        </a:defRPr>
      </a:lvl5pPr>
      <a:lvl6pPr marL="3657600" marR="0" indent="-609600" algn="l" defTabSz="2438338" rtl="0" eaLnBrk="1" latinLnBrk="0" hangingPunct="1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6pPr>
      <a:lvl7pPr marL="4267200" marR="0" indent="-609600" algn="l" defTabSz="2438338" rtl="0" eaLnBrk="1" latinLnBrk="0" hangingPunct="1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7pPr>
      <a:lvl8pPr marL="4876800" marR="0" indent="-609600" algn="l" defTabSz="2438338" rtl="0" eaLnBrk="1" latinLnBrk="0" hangingPunct="1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8pPr>
      <a:lvl9pPr marL="5486400" marR="0" indent="-609600" algn="l" defTabSz="2438338" rtl="0" eaLnBrk="1" latinLnBrk="0" hangingPunct="1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9pPr>
    </p:bodyStyle>
    <p:otherStyle>
      <a:lvl1pPr marL="0" marR="0" indent="0" algn="ctr" defTabSz="5842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1pPr>
      <a:lvl2pPr marL="0" marR="0" indent="457200" algn="ctr" defTabSz="5842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2pPr>
      <a:lvl3pPr marL="0" marR="0" indent="914400" algn="ctr" defTabSz="5842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3pPr>
      <a:lvl4pPr marL="0" marR="0" indent="1371600" algn="ctr" defTabSz="5842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4pPr>
      <a:lvl5pPr marL="0" marR="0" indent="1828800" algn="ctr" defTabSz="5842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5pPr>
      <a:lvl6pPr marL="0" marR="0" indent="2286000" algn="ctr" defTabSz="5842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6pPr>
      <a:lvl7pPr marL="0" marR="0" indent="2743200" algn="ctr" defTabSz="5842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7pPr>
      <a:lvl8pPr marL="0" marR="0" indent="3200400" algn="ctr" defTabSz="5842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8pPr>
      <a:lvl9pPr marL="0" marR="0" indent="3657600" algn="ctr" defTabSz="5842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7" Type="http://schemas.openxmlformats.org/officeDocument/2006/relationships/image" Target="../media/image25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5.png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50F9371B-F92F-AED8-457A-F4BAE6779B8C}"/>
              </a:ext>
            </a:extLst>
          </p:cNvPr>
          <p:cNvSpPr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r>
              <a:rPr lang="en-US" dirty="0"/>
              <a:t>Session 15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05C0E2BF-BBBC-BF27-4255-C5149D1931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Dynamic Programming: Maximum subarray sum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19DA326-32BB-7EBF-F49C-D0308881B79F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/>
              <a:t>Henry Lucky, </a:t>
            </a:r>
            <a:r>
              <a:rPr lang="en-US" dirty="0" err="1"/>
              <a:t>S.Kom</a:t>
            </a:r>
            <a:r>
              <a:rPr lang="en-US" dirty="0"/>
              <a:t>., </a:t>
            </a:r>
            <a:r>
              <a:rPr lang="en-US" dirty="0" err="1"/>
              <a:t>M.Kom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807564589"/>
      </p:ext>
    </p:extLst>
  </p:cSld>
  <p:clrMapOvr>
    <a:masterClrMapping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3EE913-EE39-C321-5882-05A506DB34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Learning Outcomes</a:t>
            </a:r>
            <a:endParaRPr lang="en-ID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002D373-5BC5-C51D-92C2-C090C385786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ID" dirty="0"/>
              <a:t>Session 15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2B426B6-A02E-F758-7A2B-554FFF354A1A}"/>
              </a:ext>
            </a:extLst>
          </p:cNvPr>
          <p:cNvSpPr>
            <a:spLocks noGrp="1"/>
          </p:cNvSpPr>
          <p:nvPr>
            <p:ph sz="quarter" idx="1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ID" dirty="0"/>
              <a:t>This session addresses:</a:t>
            </a:r>
          </a:p>
          <a:p>
            <a:r>
              <a:rPr lang="en-ID" b="1" dirty="0"/>
              <a:t>LO 2</a:t>
            </a:r>
            <a:r>
              <a:rPr lang="en-ID" dirty="0"/>
              <a:t>: </a:t>
            </a:r>
            <a:r>
              <a:rPr lang="en-ID" dirty="0" err="1"/>
              <a:t>Analyze</a:t>
            </a:r>
            <a:r>
              <a:rPr lang="en-ID" dirty="0"/>
              <a:t> unfamiliar computational problems by identifying their structural properties, classifying them into known algorithmic categories including graph, string, and combinatorial problems and recommending a solution strategy with justification.</a:t>
            </a:r>
          </a:p>
          <a:p>
            <a:r>
              <a:rPr lang="en-ID" b="1" dirty="0"/>
              <a:t>LO 3</a:t>
            </a:r>
            <a:r>
              <a:rPr lang="en-ID" dirty="0"/>
              <a:t>: Design solutions to unfamiliar computational problems by selecting and applying appropriate strategies including Divide and Conquer, Greedy, Dynamic Programming, and Backtracking.</a:t>
            </a:r>
          </a:p>
          <a:p>
            <a:endParaRPr lang="en-ID" dirty="0"/>
          </a:p>
          <a:p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2766454393"/>
      </p:ext>
    </p:extLst>
  </p:cSld>
  <p:clrMapOvr>
    <a:masterClrMapping/>
  </p:clrMapOvr>
  <p:transition spd="med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532D87-21EB-666E-FDFA-EE8EC54260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861FC5-9980-91C1-25D9-164352C1E2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Learning Outcomes</a:t>
            </a:r>
            <a:endParaRPr lang="en-ID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1403358-7DF9-8BFB-9E97-787FC92DCB4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ID" dirty="0"/>
              <a:t>Session 15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136D1C9-B6D9-EC11-DA3F-1C975CAE1E22}"/>
              </a:ext>
            </a:extLst>
          </p:cNvPr>
          <p:cNvSpPr>
            <a:spLocks noGrp="1"/>
          </p:cNvSpPr>
          <p:nvPr>
            <p:ph sz="quarter" idx="1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ID" dirty="0"/>
              <a:t>By the end of this session, students will be able to:</a:t>
            </a:r>
          </a:p>
          <a:p>
            <a:r>
              <a:rPr lang="en-ID" dirty="0"/>
              <a:t>LO 2 – Identify optimal substructure and overlapping subproblems as conditions for applying DP; distinguish DP from greedy (no re-evaluation) and D&amp;C (independent subproblems); classify </a:t>
            </a:r>
            <a:r>
              <a:rPr lang="en-ID" dirty="0" err="1"/>
              <a:t>Kadane's</a:t>
            </a:r>
            <a:r>
              <a:rPr lang="en-ID" dirty="0"/>
              <a:t> algorithm as DP by recognizing its state-dependent decision.</a:t>
            </a:r>
          </a:p>
          <a:p>
            <a:r>
              <a:rPr lang="en-ID" dirty="0"/>
              <a:t>LO 3 – Design </a:t>
            </a:r>
            <a:r>
              <a:rPr lang="en-ID" dirty="0" err="1"/>
              <a:t>Kadane's</a:t>
            </a:r>
            <a:r>
              <a:rPr lang="en-ID" dirty="0"/>
              <a:t> algorithm using the recurrence </a:t>
            </a:r>
            <a:r>
              <a:rPr lang="en-ID" dirty="0" err="1"/>
              <a:t>dp</a:t>
            </a:r>
            <a:r>
              <a:rPr lang="en-ID" dirty="0"/>
              <a:t>[</a:t>
            </a:r>
            <a:r>
              <a:rPr lang="en-ID" dirty="0" err="1"/>
              <a:t>i</a:t>
            </a:r>
            <a:r>
              <a:rPr lang="en-ID" dirty="0"/>
              <a:t>] = max(A[</a:t>
            </a:r>
            <a:r>
              <a:rPr lang="en-ID" dirty="0" err="1"/>
              <a:t>i</a:t>
            </a:r>
            <a:r>
              <a:rPr lang="en-ID" dirty="0"/>
              <a:t>], </a:t>
            </a:r>
            <a:r>
              <a:rPr lang="en-ID" dirty="0" err="1"/>
              <a:t>dp</a:t>
            </a:r>
            <a:r>
              <a:rPr lang="en-ID" dirty="0"/>
              <a:t>[i-1]+A[</a:t>
            </a:r>
            <a:r>
              <a:rPr lang="en-ID" dirty="0" err="1"/>
              <a:t>i</a:t>
            </a:r>
            <a:r>
              <a:rPr lang="en-ID" dirty="0"/>
              <a:t>]); apply the four-step DP design process (characterize → define → compute → construct); implement both </a:t>
            </a:r>
            <a:r>
              <a:rPr lang="en-ID" dirty="0" err="1"/>
              <a:t>memoization</a:t>
            </a:r>
            <a:r>
              <a:rPr lang="en-ID" dirty="0"/>
              <a:t> and tabulation.</a:t>
            </a:r>
          </a:p>
          <a:p>
            <a:endParaRPr lang="en-ID" dirty="0"/>
          </a:p>
          <a:p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189259876"/>
      </p:ext>
    </p:extLst>
  </p:cSld>
  <p:clrMapOvr>
    <a:masterClrMapping/>
  </p:clrMapOvr>
  <p:transition spd="med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3EE913-EE39-C321-5882-05A506DB34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outline</a:t>
            </a:r>
            <a:endParaRPr lang="en-ID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002D373-5BC5-C51D-92C2-C090C385786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ID" dirty="0"/>
              <a:t>Session 15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2B426B6-A02E-F758-7A2B-554FFF354A1A}"/>
              </a:ext>
            </a:extLst>
          </p:cNvPr>
          <p:cNvSpPr>
            <a:spLocks noGrp="1"/>
          </p:cNvSpPr>
          <p:nvPr>
            <p:ph sz="quarter" idx="11"/>
          </p:nvPr>
        </p:nvSpPr>
        <p:spPr/>
        <p:txBody>
          <a:bodyPr>
            <a:normAutofit/>
          </a:bodyPr>
          <a:lstStyle/>
          <a:p>
            <a:r>
              <a:rPr lang="en-ID" dirty="0"/>
              <a:t>DP Paradigm — Optimal Substructure and Overlapping Subproblems</a:t>
            </a:r>
          </a:p>
          <a:p>
            <a:r>
              <a:rPr lang="en-ID" dirty="0" err="1"/>
              <a:t>Memoization</a:t>
            </a:r>
            <a:r>
              <a:rPr lang="en-ID" dirty="0"/>
              <a:t> vs. Tabulation</a:t>
            </a:r>
          </a:p>
          <a:p>
            <a:r>
              <a:rPr lang="en-ID" dirty="0"/>
              <a:t>Maximum Subarray Sum: </a:t>
            </a:r>
            <a:r>
              <a:rPr lang="en-ID" dirty="0" err="1"/>
              <a:t>Kadane's</a:t>
            </a:r>
            <a:r>
              <a:rPr lang="en-ID" dirty="0"/>
              <a:t> Algorithm</a:t>
            </a:r>
          </a:p>
          <a:p>
            <a:r>
              <a:rPr lang="en-ID" dirty="0"/>
              <a:t>Why </a:t>
            </a:r>
            <a:r>
              <a:rPr lang="en-ID" dirty="0" err="1"/>
              <a:t>Kadane's</a:t>
            </a:r>
            <a:r>
              <a:rPr lang="en-ID" dirty="0"/>
              <a:t> is DP and Not Greedy</a:t>
            </a:r>
          </a:p>
          <a:p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1889462471"/>
      </p:ext>
    </p:extLst>
  </p:cSld>
  <p:clrMapOvr>
    <a:masterClrMapping/>
  </p:clrMapOvr>
  <p:transition spd="med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8A328C-1B95-C676-8144-17B68BDBF8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D" dirty="0"/>
              <a:t>Dynamic Programming paradigm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9FD4B36-DB29-EC9E-2767-9ED5EA04575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r>
              <a:rPr lang="en-ID" dirty="0"/>
              <a:t>Why DP?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50E50B6-6863-4D06-4C7D-4E3B74F82B76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2167377" y="3714224"/>
            <a:ext cx="19032265" cy="9138176"/>
          </a:xfrm>
        </p:spPr>
        <p:txBody>
          <a:bodyPr>
            <a:normAutofit/>
          </a:bodyPr>
          <a:lstStyle/>
          <a:p>
            <a:pPr marL="673100" indent="-571500" algn="just"/>
            <a:r>
              <a:rPr lang="en-ID" dirty="0"/>
              <a:t>Compute</a:t>
            </a:r>
            <a:r>
              <a:rPr lang="en-ID" b="1" dirty="0"/>
              <a:t> fib(5) </a:t>
            </a:r>
            <a:r>
              <a:rPr lang="en-ID" dirty="0"/>
              <a:t>by hand recursively. Draw the recursion tree.</a:t>
            </a:r>
          </a:p>
          <a:p>
            <a:pPr marL="673100" indent="-571500" algn="just"/>
            <a:endParaRPr lang="en-US" i="1" dirty="0">
              <a:solidFill>
                <a:srgbClr val="000000"/>
              </a:solidFill>
            </a:endParaRPr>
          </a:p>
          <a:p>
            <a:pPr marL="673100" indent="-571500" algn="just"/>
            <a:endParaRPr lang="en-US" i="1" dirty="0">
              <a:solidFill>
                <a:srgbClr val="000000"/>
              </a:solidFill>
            </a:endParaRPr>
          </a:p>
          <a:p>
            <a:pPr marL="673100" indent="-571500" algn="just"/>
            <a:endParaRPr lang="en-US" i="1" dirty="0">
              <a:solidFill>
                <a:srgbClr val="000000"/>
              </a:solidFill>
            </a:endParaRPr>
          </a:p>
          <a:p>
            <a:pPr marL="101600" indent="0" algn="just">
              <a:buNone/>
            </a:pPr>
            <a:endParaRPr lang="en-US" i="1" dirty="0">
              <a:solidFill>
                <a:srgbClr val="000000"/>
              </a:solidFill>
            </a:endParaRPr>
          </a:p>
          <a:p>
            <a:pPr marL="673100" indent="-571500" algn="just"/>
            <a:r>
              <a:rPr lang="en-US" i="1" dirty="0">
                <a:solidFill>
                  <a:srgbClr val="000000"/>
                </a:solidFill>
              </a:rPr>
              <a:t>Question: how many times do we compute fib(2)? How about fib(3)?</a:t>
            </a:r>
            <a:endParaRPr lang="en-US" dirty="0"/>
          </a:p>
          <a:p>
            <a:pPr marL="673100" indent="-571500" algn="just"/>
            <a:endParaRPr lang="en-ID" dirty="0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5FDCB0D4-3F56-C433-E14D-AA96736195FA}"/>
              </a:ext>
            </a:extLst>
          </p:cNvPr>
          <p:cNvSpPr/>
          <p:nvPr/>
        </p:nvSpPr>
        <p:spPr>
          <a:xfrm>
            <a:off x="2167377" y="4800601"/>
            <a:ext cx="19032265" cy="416560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9525">
            <a:solidFill>
              <a:srgbClr val="AAAAAA"/>
            </a:solidFill>
            <a:prstDash val="solid"/>
          </a:ln>
        </p:spPr>
        <p:txBody>
          <a:bodyPr/>
          <a:lstStyle/>
          <a:p>
            <a:endParaRPr lang="en-US" sz="720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6E330383-AA11-2984-D584-F2D7367C3B78}"/>
              </a:ext>
            </a:extLst>
          </p:cNvPr>
          <p:cNvSpPr/>
          <p:nvPr/>
        </p:nvSpPr>
        <p:spPr>
          <a:xfrm>
            <a:off x="2915820" y="5322387"/>
            <a:ext cx="14789664" cy="3251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/>
            <a:r>
              <a:rPr lang="en-US" sz="48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FIB(n)</a:t>
            </a:r>
          </a:p>
          <a:p>
            <a:pPr algn="l"/>
            <a:r>
              <a:rPr lang="en-US" sz="48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  if n &lt;= 1</a:t>
            </a:r>
          </a:p>
          <a:p>
            <a:pPr algn="l"/>
            <a:r>
              <a:rPr lang="en-US" sz="48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      return n</a:t>
            </a:r>
          </a:p>
          <a:p>
            <a:pPr algn="l"/>
            <a:r>
              <a:rPr lang="en-US" sz="48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  return FIB(n - 1) + FIB(n - 2)</a:t>
            </a:r>
          </a:p>
        </p:txBody>
      </p:sp>
    </p:spTree>
    <p:extLst>
      <p:ext uri="{BB962C8B-B14F-4D97-AF65-F5344CB8AC3E}">
        <p14:creationId xmlns:p14="http://schemas.microsoft.com/office/powerpoint/2010/main" val="3405509346"/>
      </p:ext>
    </p:extLst>
  </p:cSld>
  <p:clrMapOvr>
    <a:masterClrMapping/>
  </p:clrMapOvr>
  <p:transition spd="med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510C67-36CA-C01E-2C68-B0FBA28AFE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3267D8-56A2-1E00-F00F-DF068D911B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D" dirty="0"/>
              <a:t>Dynamic Programming paradigm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566CEC9-0CA3-E523-F02A-32606BAF652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r>
              <a:rPr lang="en-ID" dirty="0"/>
              <a:t>Why DP?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Content Placeholder 3">
                <a:extLst>
                  <a:ext uri="{FF2B5EF4-FFF2-40B4-BE49-F238E27FC236}">
                    <a16:creationId xmlns:a16="http://schemas.microsoft.com/office/drawing/2014/main" id="{F9D79171-D13B-73C8-EB02-E1FA78804B0F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2167377" y="10492724"/>
                <a:ext cx="19032265" cy="2359675"/>
              </a:xfrm>
              <a:prstGeom prst="rect">
                <a:avLst/>
              </a:prstGeom>
              <a:ln w="12700">
                <a:miter lim="400000"/>
              </a:ln>
              <a:extLst>
                <a:ext uri="{C572A759-6A51-4108-AA02-DFA0A04FC94B}">
                  <ma14:wrappingTextBoxFlag xmlns:ma14="http://schemas.microsoft.com/office/mac/drawingml/2011/main" xmlns:m="http://schemas.openxmlformats.org/officeDocument/2006/math" xmlns="" val="1"/>
                </a:ext>
              </a:extLst>
            </p:spPr>
            <p:txBody>
              <a:bodyPr lIns="50800" tIns="50800" rIns="50800" bIns="50800">
                <a:normAutofit/>
              </a:bodyPr>
              <a:lstStyle>
                <a:lvl1pPr marL="742950" marR="0" indent="-742950" algn="l" defTabSz="2438338" rtl="0" eaLnBrk="1" latinLnBrk="0" hangingPunct="1">
                  <a:lnSpc>
                    <a:spcPct val="100000"/>
                  </a:lnSpc>
                  <a:spcBef>
                    <a:spcPts val="3500"/>
                  </a:spcBef>
                  <a:spcAft>
                    <a:spcPts val="0"/>
                  </a:spcAft>
                  <a:buClrTx/>
                  <a:buSzPct val="100000"/>
                  <a:buFont typeface="Arial" panose="020B0604020202020204" pitchFamily="34" charset="0"/>
                  <a:buChar char="•"/>
                  <a:tabLst/>
                  <a:defRPr kumimoji="0" lang="en-US" sz="4400" b="0" i="0" u="none" strike="noStrike" cap="none" spc="0" normalizeH="0" baseline="0">
                    <a:ln>
                      <a:noFill/>
                    </a:ln>
                    <a:solidFill>
                      <a:srgbClr val="212121"/>
                    </a:solidFill>
                    <a:effectLst/>
                    <a:uFillTx/>
                    <a:latin typeface="Open Sans" panose="020B0606030504020204" pitchFamily="34" charset="0"/>
                    <a:ea typeface="Open Sans" panose="020B0606030504020204" pitchFamily="34" charset="0"/>
                    <a:cs typeface="Open Sans" panose="020B0606030504020204" pitchFamily="34" charset="0"/>
                    <a:sym typeface="Helvetica Neue"/>
                  </a:defRPr>
                </a:lvl1pPr>
                <a:lvl2pPr marL="1498950" marR="0" indent="-742950" algn="l" defTabSz="2438338" rtl="0" eaLnBrk="1" latinLnBrk="0" hangingPunct="1">
                  <a:lnSpc>
                    <a:spcPct val="100000"/>
                  </a:lnSpc>
                  <a:spcBef>
                    <a:spcPts val="3500"/>
                  </a:spcBef>
                  <a:spcAft>
                    <a:spcPts val="0"/>
                  </a:spcAft>
                  <a:buClrTx/>
                  <a:buSzPct val="100000"/>
                  <a:buFont typeface="Arial" panose="020B0604020202020204" pitchFamily="34" charset="0"/>
                  <a:buChar char="•"/>
                  <a:tabLst/>
                  <a:defRPr kumimoji="0" lang="en-US" sz="4400" b="0" i="0" u="none" strike="noStrike" cap="none" spc="0" normalizeH="0" baseline="0">
                    <a:ln>
                      <a:noFill/>
                    </a:ln>
                    <a:solidFill>
                      <a:srgbClr val="212121"/>
                    </a:solidFill>
                    <a:effectLst/>
                    <a:uFillTx/>
                    <a:latin typeface="Open Sans" panose="020B0606030504020204" pitchFamily="34" charset="0"/>
                    <a:ea typeface="Open Sans" panose="020B0606030504020204" pitchFamily="34" charset="0"/>
                    <a:cs typeface="Open Sans" panose="020B0606030504020204" pitchFamily="34" charset="0"/>
                    <a:sym typeface="Helvetica Neue"/>
                  </a:defRPr>
                </a:lvl2pPr>
                <a:lvl3pPr marL="2254950" marR="0" indent="-742950" algn="l" defTabSz="2438338" rtl="0" eaLnBrk="1" latinLnBrk="0" hangingPunct="1">
                  <a:lnSpc>
                    <a:spcPct val="100000"/>
                  </a:lnSpc>
                  <a:spcBef>
                    <a:spcPts val="3500"/>
                  </a:spcBef>
                  <a:spcAft>
                    <a:spcPts val="0"/>
                  </a:spcAft>
                  <a:buClrTx/>
                  <a:buSzPct val="100000"/>
                  <a:buFont typeface="Arial" panose="020B0604020202020204" pitchFamily="34" charset="0"/>
                  <a:buChar char="•"/>
                  <a:tabLst/>
                  <a:defRPr kumimoji="0" lang="en-US" sz="4400" b="0" i="0" u="none" strike="noStrike" cap="none" spc="0" normalizeH="0" baseline="0">
                    <a:ln>
                      <a:noFill/>
                    </a:ln>
                    <a:solidFill>
                      <a:srgbClr val="212121"/>
                    </a:solidFill>
                    <a:effectLst/>
                    <a:uFillTx/>
                    <a:latin typeface="Open Sans" panose="020B0606030504020204" pitchFamily="34" charset="0"/>
                    <a:ea typeface="Open Sans" panose="020B0606030504020204" pitchFamily="34" charset="0"/>
                    <a:cs typeface="Open Sans" panose="020B0606030504020204" pitchFamily="34" charset="0"/>
                    <a:sym typeface="Helvetica Neue"/>
                  </a:defRPr>
                </a:lvl3pPr>
                <a:lvl4pPr marL="3010950" marR="0" indent="-742950" algn="l" defTabSz="2438338" rtl="0" eaLnBrk="1" latinLnBrk="0" hangingPunct="1">
                  <a:lnSpc>
                    <a:spcPct val="100000"/>
                  </a:lnSpc>
                  <a:spcBef>
                    <a:spcPts val="3500"/>
                  </a:spcBef>
                  <a:spcAft>
                    <a:spcPts val="0"/>
                  </a:spcAft>
                  <a:buClrTx/>
                  <a:buSzPct val="100000"/>
                  <a:buFont typeface="Arial" panose="020B0604020202020204" pitchFamily="34" charset="0"/>
                  <a:buChar char="•"/>
                  <a:tabLst/>
                  <a:defRPr kumimoji="0" lang="en-US" sz="4400" b="0" i="0" u="none" strike="noStrike" cap="none" spc="0" normalizeH="0" baseline="0">
                    <a:ln>
                      <a:noFill/>
                    </a:ln>
                    <a:solidFill>
                      <a:srgbClr val="212121"/>
                    </a:solidFill>
                    <a:effectLst/>
                    <a:uFillTx/>
                    <a:latin typeface="Open Sans" panose="020B0606030504020204" pitchFamily="34" charset="0"/>
                    <a:ea typeface="Open Sans" panose="020B0606030504020204" pitchFamily="34" charset="0"/>
                    <a:cs typeface="Open Sans" panose="020B0606030504020204" pitchFamily="34" charset="0"/>
                    <a:sym typeface="Helvetica Neue"/>
                  </a:defRPr>
                </a:lvl4pPr>
                <a:lvl5pPr marL="3658950" marR="0" indent="-742950" algn="l" defTabSz="2438338" rtl="0" eaLnBrk="1" latinLnBrk="0" hangingPunct="1">
                  <a:lnSpc>
                    <a:spcPct val="100000"/>
                  </a:lnSpc>
                  <a:spcBef>
                    <a:spcPts val="3500"/>
                  </a:spcBef>
                  <a:spcAft>
                    <a:spcPts val="0"/>
                  </a:spcAft>
                  <a:buClrTx/>
                  <a:buSzPct val="100000"/>
                  <a:buFont typeface="Arial" panose="020B0604020202020204" pitchFamily="34" charset="0"/>
                  <a:buChar char="•"/>
                  <a:tabLst/>
                  <a:defRPr kumimoji="0" lang="en-US" sz="4400" b="0" i="0" u="none" strike="noStrike" cap="none" spc="0" normalizeH="0" baseline="0">
                    <a:ln>
                      <a:noFill/>
                    </a:ln>
                    <a:solidFill>
                      <a:srgbClr val="212121"/>
                    </a:solidFill>
                    <a:effectLst/>
                    <a:uFillTx/>
                    <a:latin typeface="Open Sans" panose="020B0606030504020204" pitchFamily="34" charset="0"/>
                    <a:ea typeface="Open Sans" panose="020B0606030504020204" pitchFamily="34" charset="0"/>
                    <a:cs typeface="Open Sans" panose="020B0606030504020204" pitchFamily="34" charset="0"/>
                    <a:sym typeface="Helvetica Neue"/>
                  </a:defRPr>
                </a:lvl5pPr>
                <a:lvl6pPr marL="3657600" marR="0" indent="-609600" algn="l" defTabSz="2438338" rtl="0" eaLnBrk="1" latinLnBrk="0" hangingPunct="1">
                  <a:lnSpc>
                    <a:spcPct val="90000"/>
                  </a:lnSpc>
                  <a:spcBef>
                    <a:spcPts val="4500"/>
                  </a:spcBef>
                  <a:spcAft>
                    <a:spcPts val="0"/>
                  </a:spcAft>
                  <a:buClrTx/>
                  <a:buSzPct val="123000"/>
                  <a:buFontTx/>
                  <a:buChar char="•"/>
                  <a:tabLst/>
                  <a:defRPr sz="4800" b="0" i="0" u="none" strike="noStrike" cap="none" spc="0" baseline="0">
                    <a:solidFill>
                      <a:srgbClr val="000000"/>
                    </a:solidFill>
                    <a:uFillTx/>
                    <a:latin typeface="+mn-lt"/>
                    <a:ea typeface="+mn-ea"/>
                    <a:cs typeface="+mn-cs"/>
                    <a:sym typeface="Helvetica Neue"/>
                  </a:defRPr>
                </a:lvl6pPr>
                <a:lvl7pPr marL="3657600" marR="0" indent="0" algn="l" defTabSz="2438338" rtl="0" eaLnBrk="1" latinLnBrk="0" hangingPunct="1">
                  <a:lnSpc>
                    <a:spcPct val="90000"/>
                  </a:lnSpc>
                  <a:spcBef>
                    <a:spcPts val="4500"/>
                  </a:spcBef>
                  <a:spcAft>
                    <a:spcPts val="0"/>
                  </a:spcAft>
                  <a:buClrTx/>
                  <a:buSzPct val="123000"/>
                  <a:buFontTx/>
                  <a:buNone/>
                  <a:tabLst/>
                  <a:defRPr sz="4800" b="0" i="0" u="none" strike="noStrike" cap="none" spc="0" baseline="0">
                    <a:solidFill>
                      <a:srgbClr val="000000"/>
                    </a:solidFill>
                    <a:uFillTx/>
                    <a:latin typeface="+mn-lt"/>
                    <a:ea typeface="+mn-ea"/>
                    <a:cs typeface="+mn-cs"/>
                    <a:sym typeface="Helvetica Neue"/>
                  </a:defRPr>
                </a:lvl7pPr>
                <a:lvl8pPr marL="4876800" marR="0" indent="-609600" algn="l" defTabSz="2438338" rtl="0" eaLnBrk="1" latinLnBrk="0" hangingPunct="1">
                  <a:lnSpc>
                    <a:spcPct val="90000"/>
                  </a:lnSpc>
                  <a:spcBef>
                    <a:spcPts val="4500"/>
                  </a:spcBef>
                  <a:spcAft>
                    <a:spcPts val="0"/>
                  </a:spcAft>
                  <a:buClrTx/>
                  <a:buSzPct val="123000"/>
                  <a:buFontTx/>
                  <a:buChar char="•"/>
                  <a:tabLst/>
                  <a:defRPr sz="4800" b="0" i="0" u="none" strike="noStrike" cap="none" spc="0" baseline="0">
                    <a:solidFill>
                      <a:srgbClr val="000000"/>
                    </a:solidFill>
                    <a:uFillTx/>
                    <a:latin typeface="+mn-lt"/>
                    <a:ea typeface="+mn-ea"/>
                    <a:cs typeface="+mn-cs"/>
                    <a:sym typeface="Helvetica Neue"/>
                  </a:defRPr>
                </a:lvl8pPr>
                <a:lvl9pPr marL="5486400" marR="0" indent="-609600" algn="l" defTabSz="2438338" rtl="0" eaLnBrk="1" latinLnBrk="0" hangingPunct="1">
                  <a:lnSpc>
                    <a:spcPct val="90000"/>
                  </a:lnSpc>
                  <a:spcBef>
                    <a:spcPts val="4500"/>
                  </a:spcBef>
                  <a:spcAft>
                    <a:spcPts val="0"/>
                  </a:spcAft>
                  <a:buClrTx/>
                  <a:buSzPct val="123000"/>
                  <a:buFontTx/>
                  <a:buChar char="•"/>
                  <a:tabLst/>
                  <a:defRPr sz="4800" b="0" i="0" u="none" strike="noStrike" cap="none" spc="0" baseline="0">
                    <a:solidFill>
                      <a:srgbClr val="000000"/>
                    </a:solidFill>
                    <a:uFillTx/>
                    <a:latin typeface="+mn-lt"/>
                    <a:ea typeface="+mn-ea"/>
                    <a:cs typeface="+mn-cs"/>
                    <a:sym typeface="Helvetica Neue"/>
                  </a:defRPr>
                </a:lvl9pPr>
              </a:lstStyle>
              <a:p>
                <a:pPr marL="673100" indent="-571500" algn="just"/>
                <a:r>
                  <a:rPr lang="en-ID" dirty="0"/>
                  <a:t>The same subproblems appear again and again, resulting in </a:t>
                </a:r>
                <a14:m>
                  <m:oMath xmlns:m="http://schemas.openxmlformats.org/officeDocument/2006/math">
                    <m:r>
                      <a:rPr lang="en-US" b="1" i="1" smtClean="0">
                        <a:latin typeface="Cambria Math" panose="02040503050406030204" pitchFamily="18" charset="0"/>
                      </a:rPr>
                      <m:t>𝑶</m:t>
                    </m:r>
                    <m:r>
                      <a:rPr lang="en-US" b="1" i="1" smtClean="0">
                        <a:latin typeface="Cambria Math" panose="02040503050406030204" pitchFamily="18" charset="0"/>
                      </a:rPr>
                      <m:t>(</m:t>
                    </m:r>
                    <m:sSup>
                      <m:sSupPr>
                        <m:ctrlPr>
                          <a:rPr lang="en-US" b="1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𝟐</m:t>
                        </m:r>
                      </m:e>
                      <m:sup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𝒏</m:t>
                        </m:r>
                      </m:sup>
                    </m:sSup>
                    <m:r>
                      <a:rPr lang="en-US" b="1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ID" dirty="0"/>
                  <a:t>.</a:t>
                </a:r>
              </a:p>
              <a:p>
                <a:pPr marL="673100" indent="-571500" algn="just"/>
                <a:r>
                  <a:rPr lang="en-ID" b="1" dirty="0"/>
                  <a:t>What if we wrote the result the first time it is calculated?</a:t>
                </a:r>
              </a:p>
              <a:p>
                <a:pPr marL="673100" indent="-571500" algn="just"/>
                <a:endParaRPr lang="en-ID" i="1" dirty="0">
                  <a:solidFill>
                    <a:srgbClr val="000000"/>
                  </a:solidFill>
                </a:endParaRPr>
              </a:p>
              <a:p>
                <a:pPr marL="673100" indent="-571500" algn="just"/>
                <a:endParaRPr lang="en-ID" i="1" dirty="0">
                  <a:solidFill>
                    <a:srgbClr val="000000"/>
                  </a:solidFill>
                </a:endParaRPr>
              </a:p>
              <a:p>
                <a:pPr marL="673100" indent="-571500" algn="just"/>
                <a:endParaRPr lang="en-ID" i="1" dirty="0">
                  <a:solidFill>
                    <a:srgbClr val="000000"/>
                  </a:solidFill>
                </a:endParaRPr>
              </a:p>
              <a:p>
                <a:pPr marL="673100" indent="-571500" algn="just"/>
                <a:endParaRPr lang="en-ID" i="1" dirty="0">
                  <a:solidFill>
                    <a:srgbClr val="000000"/>
                  </a:solidFill>
                </a:endParaRPr>
              </a:p>
              <a:p>
                <a:pPr marL="673100" indent="-571500" algn="just"/>
                <a:endParaRPr lang="en-ID" i="1" dirty="0">
                  <a:solidFill>
                    <a:srgbClr val="000000"/>
                  </a:solidFill>
                </a:endParaRPr>
              </a:p>
              <a:p>
                <a:pPr marL="673100" indent="-571500" algn="just"/>
                <a:endParaRPr lang="en-ID" i="1" dirty="0">
                  <a:solidFill>
                    <a:srgbClr val="000000"/>
                  </a:solidFill>
                </a:endParaRPr>
              </a:p>
              <a:p>
                <a:pPr marL="673100" indent="-571500" algn="just"/>
                <a:endParaRPr lang="en-ID" dirty="0"/>
              </a:p>
            </p:txBody>
          </p:sp>
        </mc:Choice>
        <mc:Fallback xmlns="">
          <p:sp>
            <p:nvSpPr>
              <p:cNvPr id="9" name="Content Placeholder 3">
                <a:extLst>
                  <a:ext uri="{FF2B5EF4-FFF2-40B4-BE49-F238E27FC236}">
                    <a16:creationId xmlns:a16="http://schemas.microsoft.com/office/drawing/2014/main" id="{F9D79171-D13B-73C8-EB02-E1FA78804B0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67377" y="10492724"/>
                <a:ext cx="19032265" cy="2359675"/>
              </a:xfrm>
              <a:prstGeom prst="rect">
                <a:avLst/>
              </a:prstGeom>
              <a:blipFill>
                <a:blip r:embed="rId3"/>
                <a:stretch>
                  <a:fillRect l="-867" t="-4839"/>
                </a:stretch>
              </a:blipFill>
              <a:ln w="12700">
                <a:miter lim="400000"/>
              </a:ln>
              <a:extLst>
                <a:ext uri="{C572A759-6A51-4108-AA02-DFA0A04FC94B}">
  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028" name="Picture 4" descr="Analysis of Time and Space Complexity in Recursive Algorithms | by Ying  Peng | Medium">
            <a:extLst>
              <a:ext uri="{FF2B5EF4-FFF2-40B4-BE49-F238E27FC236}">
                <a16:creationId xmlns:a16="http://schemas.microsoft.com/office/drawing/2014/main" id="{435226DF-4FD3-CAFC-0FCB-062F66E55F4E}"/>
              </a:ext>
            </a:extLst>
          </p:cNvPr>
          <p:cNvPicPr>
            <a:picLocks noGrp="1" noChangeAspect="1" noChangeArrowheads="1"/>
          </p:cNvPicPr>
          <p:nvPr>
            <p:ph sz="quarter" idx="11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53471" y="3260663"/>
            <a:ext cx="12877058" cy="64017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Oval 10">
            <a:extLst>
              <a:ext uri="{FF2B5EF4-FFF2-40B4-BE49-F238E27FC236}">
                <a16:creationId xmlns:a16="http://schemas.microsoft.com/office/drawing/2014/main" id="{ADE2573D-2F6C-586F-BD64-AFF19932976B}"/>
              </a:ext>
            </a:extLst>
          </p:cNvPr>
          <p:cNvSpPr/>
          <p:nvPr/>
        </p:nvSpPr>
        <p:spPr>
          <a:xfrm>
            <a:off x="6375400" y="7315200"/>
            <a:ext cx="1574800" cy="1117600"/>
          </a:xfrm>
          <a:prstGeom prst="ellipse">
            <a:avLst/>
          </a:prstGeom>
          <a:noFill/>
          <a:ln w="57150" cap="flat">
            <a:solidFill>
              <a:schemeClr val="accent5">
                <a:lumMod val="75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B9442809-8967-86F7-1352-8E5ABEC9C965}"/>
              </a:ext>
            </a:extLst>
          </p:cNvPr>
          <p:cNvSpPr/>
          <p:nvPr/>
        </p:nvSpPr>
        <p:spPr>
          <a:xfrm>
            <a:off x="10896109" y="5902732"/>
            <a:ext cx="1574800" cy="1117600"/>
          </a:xfrm>
          <a:prstGeom prst="ellipse">
            <a:avLst/>
          </a:prstGeom>
          <a:noFill/>
          <a:ln w="57150" cap="flat">
            <a:solidFill>
              <a:schemeClr val="accent5">
                <a:lumMod val="75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AE8F6E62-CDF7-9C03-AE7C-739633AA6A61}"/>
              </a:ext>
            </a:extLst>
          </p:cNvPr>
          <p:cNvSpPr/>
          <p:nvPr/>
        </p:nvSpPr>
        <p:spPr>
          <a:xfrm>
            <a:off x="13975919" y="5902732"/>
            <a:ext cx="1574800" cy="1117600"/>
          </a:xfrm>
          <a:prstGeom prst="ellipse">
            <a:avLst/>
          </a:prstGeom>
          <a:noFill/>
          <a:ln w="57150" cap="flat">
            <a:solidFill>
              <a:schemeClr val="accent5">
                <a:lumMod val="75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1E3EFFD3-6289-2908-17EC-20E467EC4301}"/>
              </a:ext>
            </a:extLst>
          </p:cNvPr>
          <p:cNvSpPr/>
          <p:nvPr/>
        </p:nvSpPr>
        <p:spPr>
          <a:xfrm>
            <a:off x="7315200" y="5926077"/>
            <a:ext cx="1574800" cy="1117600"/>
          </a:xfrm>
          <a:prstGeom prst="ellipse">
            <a:avLst/>
          </a:prstGeom>
          <a:noFill/>
          <a:ln w="57150" cap="flat">
            <a:solidFill>
              <a:schemeClr val="accent1">
                <a:lumMod val="75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C1093A66-9F7E-45E4-A392-FBD63A59B442}"/>
              </a:ext>
            </a:extLst>
          </p:cNvPr>
          <p:cNvSpPr/>
          <p:nvPr/>
        </p:nvSpPr>
        <p:spPr>
          <a:xfrm>
            <a:off x="15138400" y="4465608"/>
            <a:ext cx="1574800" cy="1117600"/>
          </a:xfrm>
          <a:prstGeom prst="ellipse">
            <a:avLst/>
          </a:prstGeom>
          <a:noFill/>
          <a:ln w="57150" cap="flat">
            <a:solidFill>
              <a:schemeClr val="accent1">
                <a:lumMod val="75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</p:spTree>
    <p:extLst>
      <p:ext uri="{BB962C8B-B14F-4D97-AF65-F5344CB8AC3E}">
        <p14:creationId xmlns:p14="http://schemas.microsoft.com/office/powerpoint/2010/main" val="1614322398"/>
      </p:ext>
    </p:extLst>
  </p:cSld>
  <p:clrMapOvr>
    <a:masterClrMapping/>
  </p:clrMapOvr>
  <p:transition spd="med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3B12AA-A0FF-9F05-7BED-ADC92DDC7B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91FD94-D026-424F-9B2A-DC7405540B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D" dirty="0"/>
              <a:t>Dynamic Programming paradigm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F09AA89-9D25-8A55-B86A-2DE25A66F9E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r>
              <a:rPr lang="en-ID" dirty="0"/>
              <a:t>Why DP?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67920F77-B8FF-BB4D-E797-AFE470C91370}"/>
                  </a:ext>
                </a:extLst>
              </p:cNvPr>
              <p:cNvSpPr>
                <a:spLocks noGrp="1"/>
              </p:cNvSpPr>
              <p:nvPr>
                <p:ph sz="quarter" idx="11"/>
              </p:nvPr>
            </p:nvSpPr>
            <p:spPr>
              <a:xfrm>
                <a:off x="2167377" y="3714224"/>
                <a:ext cx="19032265" cy="9658876"/>
              </a:xfrm>
            </p:spPr>
            <p:txBody>
              <a:bodyPr>
                <a:normAutofit/>
              </a:bodyPr>
              <a:lstStyle/>
              <a:p>
                <a:pPr marL="101600" indent="0" algn="just">
                  <a:buNone/>
                </a:pPr>
                <a:endParaRPr lang="en-US" i="1" dirty="0">
                  <a:solidFill>
                    <a:srgbClr val="000000"/>
                  </a:solidFill>
                </a:endParaRPr>
              </a:p>
              <a:p>
                <a:pPr marL="673100" indent="-571500" algn="just"/>
                <a:endParaRPr lang="en-US" i="1" dirty="0">
                  <a:solidFill>
                    <a:srgbClr val="000000"/>
                  </a:solidFill>
                </a:endParaRPr>
              </a:p>
              <a:p>
                <a:pPr marL="673100" indent="-571500" algn="just"/>
                <a:endParaRPr lang="en-US" i="1" dirty="0">
                  <a:solidFill>
                    <a:srgbClr val="000000"/>
                  </a:solidFill>
                </a:endParaRPr>
              </a:p>
              <a:p>
                <a:pPr marL="101600" indent="0" algn="just">
                  <a:buNone/>
                </a:pPr>
                <a:endParaRPr lang="en-US" i="1" dirty="0">
                  <a:solidFill>
                    <a:srgbClr val="000000"/>
                  </a:solidFill>
                </a:endParaRPr>
              </a:p>
              <a:p>
                <a:pPr marL="673100" indent="-571500" algn="just"/>
                <a:endParaRPr lang="en-US" i="1" dirty="0">
                  <a:solidFill>
                    <a:srgbClr val="000000"/>
                  </a:solidFill>
                </a:endParaRPr>
              </a:p>
              <a:p>
                <a:pPr marL="101600" indent="0" algn="just">
                  <a:buNone/>
                </a:pPr>
                <a:endParaRPr lang="en-US" i="1" dirty="0">
                  <a:solidFill>
                    <a:srgbClr val="000000"/>
                  </a:solidFill>
                </a:endParaRPr>
              </a:p>
              <a:p>
                <a:pPr marL="673100" indent="-571500" algn="just"/>
                <a:endParaRPr lang="en-US" dirty="0">
                  <a:solidFill>
                    <a:srgbClr val="000000"/>
                  </a:solidFill>
                </a:endParaRPr>
              </a:p>
              <a:p>
                <a:pPr marL="673100" indent="-571500" algn="just"/>
                <a:r>
                  <a:rPr lang="en-US" dirty="0">
                    <a:solidFill>
                      <a:srgbClr val="000000"/>
                    </a:solidFill>
                  </a:rPr>
                  <a:t>Here, we save the first call in an array called </a:t>
                </a:r>
                <a:r>
                  <a:rPr lang="en-US" dirty="0">
                    <a:solidFill>
                      <a:srgbClr val="000000"/>
                    </a:solidFill>
                    <a:latin typeface="Consolas" panose="020B0609020204030204" pitchFamily="49" charset="0"/>
                    <a:cs typeface="Consolas" panose="020B0609020204030204" pitchFamily="49" charset="0"/>
                  </a:rPr>
                  <a:t>memo</a:t>
                </a:r>
                <a:r>
                  <a:rPr lang="en-US" dirty="0">
                    <a:solidFill>
                      <a:srgbClr val="000000"/>
                    </a:solidFill>
                  </a:rPr>
                  <a:t>, so each subproblem solved at most once, resulting in </a:t>
                </a:r>
                <a14:m>
                  <m:oMath xmlns:m="http://schemas.openxmlformats.org/officeDocument/2006/math">
                    <m:r>
                      <a:rPr lang="en-US" b="1" i="1">
                        <a:latin typeface="Cambria Math" panose="02040503050406030204" pitchFamily="18" charset="0"/>
                      </a:rPr>
                      <m:t>𝑶</m:t>
                    </m:r>
                    <m:d>
                      <m:dPr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𝒏</m:t>
                        </m:r>
                      </m:e>
                    </m:d>
                  </m:oMath>
                </a14:m>
                <a:r>
                  <a:rPr lang="en-US" dirty="0"/>
                  <a:t> time complexity.</a:t>
                </a:r>
              </a:p>
              <a:p>
                <a:pPr marL="673100" indent="-571500" algn="just"/>
                <a:endParaRPr lang="en-ID" dirty="0"/>
              </a:p>
            </p:txBody>
          </p:sp>
        </mc:Choice>
        <mc:Fallback xmlns="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67920F77-B8FF-BB4D-E797-AFE470C9137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1"/>
              </p:nvPr>
            </p:nvSpPr>
            <p:spPr>
              <a:xfrm>
                <a:off x="2167377" y="3714224"/>
                <a:ext cx="19032265" cy="9658876"/>
              </a:xfrm>
              <a:blipFill>
                <a:blip r:embed="rId3"/>
                <a:stretch>
                  <a:fillRect l="-867" r="-15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Shape 3">
            <a:extLst>
              <a:ext uri="{FF2B5EF4-FFF2-40B4-BE49-F238E27FC236}">
                <a16:creationId xmlns:a16="http://schemas.microsoft.com/office/drawing/2014/main" id="{4F8D35B2-2F2B-ED8D-B6AA-F828368C7ACC}"/>
              </a:ext>
            </a:extLst>
          </p:cNvPr>
          <p:cNvSpPr/>
          <p:nvPr/>
        </p:nvSpPr>
        <p:spPr>
          <a:xfrm>
            <a:off x="2167377" y="3714224"/>
            <a:ext cx="19526762" cy="7582047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9525">
            <a:solidFill>
              <a:srgbClr val="AAAAAA"/>
            </a:solidFill>
            <a:prstDash val="solid"/>
          </a:ln>
        </p:spPr>
        <p:txBody>
          <a:bodyPr/>
          <a:lstStyle/>
          <a:p>
            <a:endParaRPr lang="en-US" sz="720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ECC1BBE0-C5D5-807D-A830-A257A3C235DE}"/>
              </a:ext>
            </a:extLst>
          </p:cNvPr>
          <p:cNvSpPr/>
          <p:nvPr/>
        </p:nvSpPr>
        <p:spPr>
          <a:xfrm>
            <a:off x="2689861" y="4116483"/>
            <a:ext cx="18181319" cy="67775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/>
            <a:r>
              <a:rPr lang="en-US" sz="34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MEMOIZED-FIB(n)</a:t>
            </a:r>
          </a:p>
          <a:p>
            <a:pPr algn="l"/>
            <a:r>
              <a:rPr lang="en-US" sz="34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  let memo[0..n] be a new array</a:t>
            </a:r>
          </a:p>
          <a:p>
            <a:pPr algn="l"/>
            <a:r>
              <a:rPr lang="en-US" sz="34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  for </a:t>
            </a:r>
            <a:r>
              <a:rPr lang="en-US" sz="3400" dirty="0" err="1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</a:t>
            </a:r>
            <a:r>
              <a:rPr lang="en-US" sz="34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0 to n</a:t>
            </a:r>
          </a:p>
          <a:p>
            <a:pPr algn="l"/>
            <a:r>
              <a:rPr lang="en-US" sz="34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      memo[</a:t>
            </a:r>
            <a:r>
              <a:rPr lang="en-US" sz="3400" dirty="0" err="1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</a:t>
            </a:r>
            <a:r>
              <a:rPr lang="en-US" sz="34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 = NIL</a:t>
            </a:r>
          </a:p>
          <a:p>
            <a:pPr algn="l"/>
            <a:r>
              <a:rPr lang="en-US" sz="34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  return MEMOIZED-FIB-AUX(n, memo)</a:t>
            </a:r>
          </a:p>
          <a:p>
            <a:pPr algn="l"/>
            <a:endParaRPr lang="en-US" sz="3400" dirty="0">
              <a:solidFill>
                <a:srgbClr val="000000"/>
              </a:solidFill>
              <a:latin typeface="Consolas" pitchFamily="34" charset="0"/>
              <a:ea typeface="Consolas" pitchFamily="34" charset="-122"/>
              <a:cs typeface="Consolas" pitchFamily="34" charset="-120"/>
            </a:endParaRPr>
          </a:p>
          <a:p>
            <a:pPr algn="l"/>
            <a:r>
              <a:rPr lang="en-US" sz="34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MEMOIZED-FIB-AUX(n, memo)</a:t>
            </a:r>
          </a:p>
          <a:p>
            <a:pPr algn="l"/>
            <a:r>
              <a:rPr lang="en-US" sz="34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  if n &lt;= 1</a:t>
            </a:r>
          </a:p>
          <a:p>
            <a:pPr algn="l"/>
            <a:r>
              <a:rPr lang="en-US" sz="34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      return n</a:t>
            </a:r>
          </a:p>
          <a:p>
            <a:pPr algn="l"/>
            <a:r>
              <a:rPr lang="en-US" sz="34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  if memo[n] != NIL </a:t>
            </a:r>
            <a:r>
              <a:rPr lang="en-US" sz="3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//if saved, no need to recalculate</a:t>
            </a:r>
          </a:p>
          <a:p>
            <a:pPr algn="l"/>
            <a:r>
              <a:rPr lang="en-US" sz="34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      return memo[n]</a:t>
            </a:r>
          </a:p>
          <a:p>
            <a:pPr algn="l"/>
            <a:r>
              <a:rPr lang="en-US" sz="34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  </a:t>
            </a:r>
            <a:r>
              <a:rPr lang="en-US" sz="3400" b="1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memo[n] = MEMOIZED-FIB-AUX(n – 1, memo) + MEMOIZED-FIB-AUX(n – 2, memo)</a:t>
            </a:r>
          </a:p>
          <a:p>
            <a:pPr algn="l"/>
            <a:r>
              <a:rPr lang="en-US" sz="34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  return memo[n]</a:t>
            </a:r>
          </a:p>
        </p:txBody>
      </p:sp>
    </p:spTree>
    <p:extLst>
      <p:ext uri="{BB962C8B-B14F-4D97-AF65-F5344CB8AC3E}">
        <p14:creationId xmlns:p14="http://schemas.microsoft.com/office/powerpoint/2010/main" val="3389777736"/>
      </p:ext>
    </p:extLst>
  </p:cSld>
  <p:clrMapOvr>
    <a:masterClrMapping/>
  </p:clrMapOvr>
  <p:transition spd="med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332A96-ACA3-D2FE-6967-7FE517A2AA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D789AC-C5C0-0A72-A91B-8579E5E5A6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D" dirty="0"/>
              <a:t>Dynamic Programming paradigm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2809AAF-F5C4-1845-7AC9-E9EB4376108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r>
              <a:rPr lang="en-ID" dirty="0"/>
              <a:t>Why DP?</a:t>
            </a:r>
          </a:p>
        </p:txBody>
      </p:sp>
      <p:sp>
        <p:nvSpPr>
          <p:cNvPr id="9" name="Content Placeholder 3">
            <a:extLst>
              <a:ext uri="{FF2B5EF4-FFF2-40B4-BE49-F238E27FC236}">
                <a16:creationId xmlns:a16="http://schemas.microsoft.com/office/drawing/2014/main" id="{FA269F42-413B-7CF8-8523-E4708811F4E9}"/>
              </a:ext>
            </a:extLst>
          </p:cNvPr>
          <p:cNvSpPr txBox="1">
            <a:spLocks/>
          </p:cNvSpPr>
          <p:nvPr/>
        </p:nvSpPr>
        <p:spPr>
          <a:xfrm>
            <a:off x="2167377" y="10492724"/>
            <a:ext cx="19032265" cy="235967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>
            <a:normAutofit/>
          </a:bodyPr>
          <a:lstStyle>
            <a:lvl1pPr marL="742950" marR="0" indent="-742950" algn="l" defTabSz="2438338" rtl="0" eaLnBrk="1" latinLnBrk="0" hangingPunct="1">
              <a:lnSpc>
                <a:spcPct val="100000"/>
              </a:lnSpc>
              <a:spcBef>
                <a:spcPts val="3500"/>
              </a:spcBef>
              <a:spcAft>
                <a:spcPts val="0"/>
              </a:spcAft>
              <a:buClrTx/>
              <a:buSzPct val="100000"/>
              <a:buFont typeface="Arial" panose="020B0604020202020204" pitchFamily="34" charset="0"/>
              <a:buChar char="•"/>
              <a:tabLst/>
              <a:defRPr kumimoji="0" lang="en-US" sz="44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Helvetica Neue"/>
              </a:defRPr>
            </a:lvl1pPr>
            <a:lvl2pPr marL="1498950" marR="0" indent="-742950" algn="l" defTabSz="2438338" rtl="0" eaLnBrk="1" latinLnBrk="0" hangingPunct="1">
              <a:lnSpc>
                <a:spcPct val="100000"/>
              </a:lnSpc>
              <a:spcBef>
                <a:spcPts val="3500"/>
              </a:spcBef>
              <a:spcAft>
                <a:spcPts val="0"/>
              </a:spcAft>
              <a:buClrTx/>
              <a:buSzPct val="100000"/>
              <a:buFont typeface="Arial" panose="020B0604020202020204" pitchFamily="34" charset="0"/>
              <a:buChar char="•"/>
              <a:tabLst/>
              <a:defRPr kumimoji="0" lang="en-US" sz="44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Helvetica Neue"/>
              </a:defRPr>
            </a:lvl2pPr>
            <a:lvl3pPr marL="2254950" marR="0" indent="-742950" algn="l" defTabSz="2438338" rtl="0" eaLnBrk="1" latinLnBrk="0" hangingPunct="1">
              <a:lnSpc>
                <a:spcPct val="100000"/>
              </a:lnSpc>
              <a:spcBef>
                <a:spcPts val="3500"/>
              </a:spcBef>
              <a:spcAft>
                <a:spcPts val="0"/>
              </a:spcAft>
              <a:buClrTx/>
              <a:buSzPct val="100000"/>
              <a:buFont typeface="Arial" panose="020B0604020202020204" pitchFamily="34" charset="0"/>
              <a:buChar char="•"/>
              <a:tabLst/>
              <a:defRPr kumimoji="0" lang="en-US" sz="44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Helvetica Neue"/>
              </a:defRPr>
            </a:lvl3pPr>
            <a:lvl4pPr marL="3010950" marR="0" indent="-742950" algn="l" defTabSz="2438338" rtl="0" eaLnBrk="1" latinLnBrk="0" hangingPunct="1">
              <a:lnSpc>
                <a:spcPct val="100000"/>
              </a:lnSpc>
              <a:spcBef>
                <a:spcPts val="3500"/>
              </a:spcBef>
              <a:spcAft>
                <a:spcPts val="0"/>
              </a:spcAft>
              <a:buClrTx/>
              <a:buSzPct val="100000"/>
              <a:buFont typeface="Arial" panose="020B0604020202020204" pitchFamily="34" charset="0"/>
              <a:buChar char="•"/>
              <a:tabLst/>
              <a:defRPr kumimoji="0" lang="en-US" sz="44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Helvetica Neue"/>
              </a:defRPr>
            </a:lvl4pPr>
            <a:lvl5pPr marL="3658950" marR="0" indent="-742950" algn="l" defTabSz="2438338" rtl="0" eaLnBrk="1" latinLnBrk="0" hangingPunct="1">
              <a:lnSpc>
                <a:spcPct val="100000"/>
              </a:lnSpc>
              <a:spcBef>
                <a:spcPts val="3500"/>
              </a:spcBef>
              <a:spcAft>
                <a:spcPts val="0"/>
              </a:spcAft>
              <a:buClrTx/>
              <a:buSzPct val="100000"/>
              <a:buFont typeface="Arial" panose="020B0604020202020204" pitchFamily="34" charset="0"/>
              <a:buChar char="•"/>
              <a:tabLst/>
              <a:defRPr kumimoji="0" lang="en-US" sz="44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Helvetica Neue"/>
              </a:defRPr>
            </a:lvl5pPr>
            <a:lvl6pPr marL="36576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6pPr>
            <a:lvl7pPr marL="3657600" marR="0" indent="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None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7pPr>
            <a:lvl8pPr marL="48768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8pPr>
            <a:lvl9pPr marL="54864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9pPr>
          </a:lstStyle>
          <a:p>
            <a:pPr marL="673100" indent="-571500" algn="just"/>
            <a:r>
              <a:rPr lang="en-ID" dirty="0"/>
              <a:t>The resulting recursion tree will looks like this.</a:t>
            </a:r>
          </a:p>
          <a:p>
            <a:pPr marL="673100" indent="-571500" algn="just"/>
            <a:r>
              <a:rPr lang="en-ID" dirty="0"/>
              <a:t>The same subproblems are called, </a:t>
            </a:r>
            <a:r>
              <a:rPr lang="en-US" dirty="0"/>
              <a:t>but not calculated further.</a:t>
            </a:r>
            <a:endParaRPr lang="en-ID" dirty="0"/>
          </a:p>
          <a:p>
            <a:pPr marL="673100" indent="-571500" algn="just"/>
            <a:endParaRPr lang="en-ID" i="1" dirty="0">
              <a:solidFill>
                <a:srgbClr val="000000"/>
              </a:solidFill>
            </a:endParaRPr>
          </a:p>
          <a:p>
            <a:pPr marL="673100" indent="-571500" algn="just"/>
            <a:endParaRPr lang="en-ID" i="1" dirty="0">
              <a:solidFill>
                <a:srgbClr val="000000"/>
              </a:solidFill>
            </a:endParaRPr>
          </a:p>
          <a:p>
            <a:pPr marL="673100" indent="-571500" algn="just"/>
            <a:endParaRPr lang="en-ID" i="1" dirty="0">
              <a:solidFill>
                <a:srgbClr val="000000"/>
              </a:solidFill>
            </a:endParaRPr>
          </a:p>
          <a:p>
            <a:pPr marL="673100" indent="-571500" algn="just"/>
            <a:endParaRPr lang="en-ID" i="1" dirty="0">
              <a:solidFill>
                <a:srgbClr val="000000"/>
              </a:solidFill>
            </a:endParaRPr>
          </a:p>
          <a:p>
            <a:pPr marL="673100" indent="-571500" algn="just"/>
            <a:endParaRPr lang="en-ID" i="1" dirty="0">
              <a:solidFill>
                <a:srgbClr val="000000"/>
              </a:solidFill>
            </a:endParaRPr>
          </a:p>
          <a:p>
            <a:pPr marL="673100" indent="-571500" algn="just"/>
            <a:endParaRPr lang="en-ID" i="1" dirty="0">
              <a:solidFill>
                <a:srgbClr val="000000"/>
              </a:solidFill>
            </a:endParaRPr>
          </a:p>
          <a:p>
            <a:pPr marL="673100" indent="-571500" algn="just"/>
            <a:endParaRPr lang="en-ID" dirty="0"/>
          </a:p>
        </p:txBody>
      </p:sp>
      <p:pic>
        <p:nvPicPr>
          <p:cNvPr id="1028" name="Picture 4" descr="Analysis of Time and Space Complexity in Recursive Algorithms | by Ying  Peng | Medium">
            <a:extLst>
              <a:ext uri="{FF2B5EF4-FFF2-40B4-BE49-F238E27FC236}">
                <a16:creationId xmlns:a16="http://schemas.microsoft.com/office/drawing/2014/main" id="{FB9A891D-16A3-2C49-1D6F-5A81532AB160}"/>
              </a:ext>
            </a:extLst>
          </p:cNvPr>
          <p:cNvPicPr>
            <a:picLocks noGrp="1" noChangeAspect="1" noChangeArrowheads="1"/>
          </p:cNvPicPr>
          <p:nvPr>
            <p:ph sz="quarter" idx="1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53471" y="3260663"/>
            <a:ext cx="12877058" cy="64017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463ED010-DE4C-55C5-3112-BE782BB46923}"/>
              </a:ext>
            </a:extLst>
          </p:cNvPr>
          <p:cNvSpPr/>
          <p:nvPr/>
        </p:nvSpPr>
        <p:spPr>
          <a:xfrm>
            <a:off x="9963806" y="6758152"/>
            <a:ext cx="6663559" cy="1471448"/>
          </a:xfrm>
          <a:prstGeom prst="rect">
            <a:avLst/>
          </a:prstGeom>
          <a:solidFill>
            <a:schemeClr val="bg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2939207-00C1-F0F1-D280-EB04F9981000}"/>
              </a:ext>
            </a:extLst>
          </p:cNvPr>
          <p:cNvSpPr/>
          <p:nvPr/>
        </p:nvSpPr>
        <p:spPr>
          <a:xfrm>
            <a:off x="13295585" y="5286704"/>
            <a:ext cx="6663559" cy="1471448"/>
          </a:xfrm>
          <a:prstGeom prst="rect">
            <a:avLst/>
          </a:prstGeom>
          <a:solidFill>
            <a:schemeClr val="bg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</p:spTree>
    <p:extLst>
      <p:ext uri="{BB962C8B-B14F-4D97-AF65-F5344CB8AC3E}">
        <p14:creationId xmlns:p14="http://schemas.microsoft.com/office/powerpoint/2010/main" val="1401990731"/>
      </p:ext>
    </p:extLst>
  </p:cSld>
  <p:clrMapOvr>
    <a:masterClrMapping/>
  </p:clrMapOvr>
  <p:transition spd="med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C3CAAF-B9E0-D557-84C1-E1AA4305C2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66F748-BBE3-DF23-A4AA-7A717B444E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D" dirty="0"/>
              <a:t>Dynamic Programming paradigm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78D1D07-FF26-445C-4841-DA21337D995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r>
              <a:rPr lang="en-ID" dirty="0"/>
              <a:t>Definition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ABF3C6D-E052-1DDC-0A62-E8A7BA8A7852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2167377" y="3714224"/>
            <a:ext cx="19032265" cy="9138176"/>
          </a:xfrm>
        </p:spPr>
        <p:txBody>
          <a:bodyPr>
            <a:normAutofit/>
          </a:bodyPr>
          <a:lstStyle/>
          <a:p>
            <a:pPr marL="673100" indent="-571500" algn="just"/>
            <a:r>
              <a:rPr lang="en-ID" b="1" dirty="0"/>
              <a:t>Dynamic Programming (DP)</a:t>
            </a:r>
            <a:r>
              <a:rPr lang="en-ID" dirty="0"/>
              <a:t> is an algorithm design technique for solving problems with overlapping subproblems and optimal substructure by storing intermediate results.</a:t>
            </a:r>
          </a:p>
          <a:p>
            <a:pPr marL="673100" indent="-571500" algn="just"/>
            <a:r>
              <a:rPr lang="en-ID" dirty="0"/>
              <a:t>DP is applicable when:</a:t>
            </a:r>
          </a:p>
          <a:p>
            <a:pPr lvl="1"/>
            <a:r>
              <a:rPr lang="en-ID" b="1" dirty="0"/>
              <a:t>Optimal substructure:</a:t>
            </a:r>
            <a:r>
              <a:rPr lang="en-ID" dirty="0"/>
              <a:t> The optimal solution to the problem contains optimal solutions to subproblems.</a:t>
            </a:r>
          </a:p>
          <a:p>
            <a:pPr lvl="1"/>
            <a:r>
              <a:rPr lang="en-ID" b="1" dirty="0"/>
              <a:t>Overlapping subproblems:</a:t>
            </a:r>
            <a:r>
              <a:rPr lang="en-ID" dirty="0"/>
              <a:t> The same subproblems are solved repeatedly in a naïve recursive solution.</a:t>
            </a:r>
          </a:p>
          <a:p>
            <a:r>
              <a:rPr lang="en-ID" dirty="0"/>
              <a:t>This contrasts with Divide-and-Conquer (independent subproblems) and Greedy (single greedy choice with optimal substructure).</a:t>
            </a:r>
          </a:p>
        </p:txBody>
      </p:sp>
    </p:spTree>
    <p:extLst>
      <p:ext uri="{BB962C8B-B14F-4D97-AF65-F5344CB8AC3E}">
        <p14:creationId xmlns:p14="http://schemas.microsoft.com/office/powerpoint/2010/main" val="4143510409"/>
      </p:ext>
    </p:extLst>
  </p:cSld>
  <p:clrMapOvr>
    <a:masterClrMapping/>
  </p:clrMapOvr>
  <p:transition spd="med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AE8F00-0C82-BA37-52EB-5B5BA23546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9570DC-363E-96B4-59BC-A50C726B03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D" dirty="0"/>
              <a:t>Dynamic Programming paradigm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D221776-278F-C760-DB0A-D54C99C04D6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r>
              <a:rPr lang="en-ID" dirty="0"/>
              <a:t>Two implementations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72404F2-23E8-364B-995C-F80C28205D67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2167377" y="3714224"/>
            <a:ext cx="19032265" cy="9138176"/>
          </a:xfrm>
        </p:spPr>
        <p:txBody>
          <a:bodyPr>
            <a:normAutofit/>
          </a:bodyPr>
          <a:lstStyle/>
          <a:p>
            <a:pPr marL="673100" indent="-571500" algn="just"/>
            <a:r>
              <a:rPr lang="en-ID" b="1" dirty="0"/>
              <a:t>Top-down (</a:t>
            </a:r>
            <a:r>
              <a:rPr lang="en-ID" b="1" dirty="0" err="1"/>
              <a:t>Memoization</a:t>
            </a:r>
            <a:r>
              <a:rPr lang="en-ID" b="1" dirty="0"/>
              <a:t>): </a:t>
            </a:r>
            <a:r>
              <a:rPr lang="en-ID" dirty="0"/>
              <a:t>Write the natural recursion; cache results to avoid </a:t>
            </a:r>
            <a:r>
              <a:rPr lang="en-ID" dirty="0" err="1"/>
              <a:t>recomputation</a:t>
            </a:r>
            <a:r>
              <a:rPr lang="en-ID" dirty="0"/>
              <a:t>.</a:t>
            </a:r>
            <a:endParaRPr lang="en-ID" b="1" dirty="0"/>
          </a:p>
          <a:p>
            <a:pPr marL="673100" indent="-571500" algn="just"/>
            <a:r>
              <a:rPr lang="en-ID" b="1" dirty="0"/>
              <a:t>Bottom-up (Tabulation): </a:t>
            </a:r>
            <a:r>
              <a:rPr lang="en-ID" dirty="0"/>
              <a:t>Fill a table in an order ensuring subproblems are solved before they are needed.</a:t>
            </a:r>
          </a:p>
          <a:p>
            <a:pPr marL="673100" indent="-571500" algn="just"/>
            <a:r>
              <a:rPr lang="en-ID" dirty="0"/>
              <a:t>The implementation in slide 7 is a Top-down (</a:t>
            </a:r>
            <a:r>
              <a:rPr lang="en-ID" dirty="0" err="1"/>
              <a:t>Memoization</a:t>
            </a:r>
            <a:r>
              <a:rPr lang="en-ID" dirty="0"/>
              <a:t>) implementation.</a:t>
            </a:r>
          </a:p>
          <a:p>
            <a:pPr marL="673100" indent="-571500" algn="just"/>
            <a:r>
              <a:rPr lang="en-ID" b="1" dirty="0"/>
              <a:t>Can we make it to Bottom-up implementation?</a:t>
            </a:r>
          </a:p>
        </p:txBody>
      </p:sp>
    </p:spTree>
    <p:extLst>
      <p:ext uri="{BB962C8B-B14F-4D97-AF65-F5344CB8AC3E}">
        <p14:creationId xmlns:p14="http://schemas.microsoft.com/office/powerpoint/2010/main" val="36982886"/>
      </p:ext>
    </p:extLst>
  </p:cSld>
  <p:clrMapOvr>
    <a:masterClrMapping/>
  </p:clrMapOvr>
  <p:transition spd="med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F40F31-35C4-6F61-DBD8-9D26B1C9F6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8313A5-515E-FE38-DE4D-4DBD709288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D" dirty="0"/>
              <a:t>Dynamic Programming paradigm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C209727-0048-3E0B-31AC-D091F61D4B1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r>
              <a:rPr lang="en-ID" dirty="0"/>
              <a:t>Bottom-up </a:t>
            </a:r>
            <a:r>
              <a:rPr lang="en-ID" dirty="0" err="1"/>
              <a:t>fibonacci</a:t>
            </a:r>
            <a:endParaRPr lang="en-ID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B04D6F34-2854-D25C-027F-10B9D7FCCDFC}"/>
                  </a:ext>
                </a:extLst>
              </p:cNvPr>
              <p:cNvSpPr>
                <a:spLocks noGrp="1"/>
              </p:cNvSpPr>
              <p:nvPr>
                <p:ph sz="quarter" idx="11"/>
              </p:nvPr>
            </p:nvSpPr>
            <p:spPr>
              <a:xfrm>
                <a:off x="2167377" y="3714224"/>
                <a:ext cx="19032265" cy="9138176"/>
              </a:xfrm>
            </p:spPr>
            <p:txBody>
              <a:bodyPr>
                <a:normAutofit/>
              </a:bodyPr>
              <a:lstStyle/>
              <a:p>
                <a:pPr marL="101600" indent="0" algn="just">
                  <a:buNone/>
                </a:pPr>
                <a:endParaRPr lang="en-US" i="1" dirty="0">
                  <a:solidFill>
                    <a:srgbClr val="000000"/>
                  </a:solidFill>
                </a:endParaRPr>
              </a:p>
              <a:p>
                <a:pPr marL="673100" indent="-571500" algn="just"/>
                <a:endParaRPr lang="en-US" i="1" dirty="0">
                  <a:solidFill>
                    <a:srgbClr val="000000"/>
                  </a:solidFill>
                </a:endParaRPr>
              </a:p>
              <a:p>
                <a:pPr marL="673100" indent="-571500" algn="just"/>
                <a:endParaRPr lang="en-US" i="1" dirty="0">
                  <a:solidFill>
                    <a:srgbClr val="000000"/>
                  </a:solidFill>
                </a:endParaRPr>
              </a:p>
              <a:p>
                <a:pPr marL="101600" indent="0" algn="just">
                  <a:buNone/>
                </a:pPr>
                <a:endParaRPr lang="en-US" i="1" dirty="0">
                  <a:solidFill>
                    <a:srgbClr val="000000"/>
                  </a:solidFill>
                </a:endParaRPr>
              </a:p>
              <a:p>
                <a:pPr marL="101600" indent="0" algn="just">
                  <a:buNone/>
                </a:pPr>
                <a:endParaRPr lang="en-US" i="1" dirty="0">
                  <a:solidFill>
                    <a:srgbClr val="000000"/>
                  </a:solidFill>
                </a:endParaRPr>
              </a:p>
              <a:p>
                <a:pPr marL="101600" indent="0" algn="just">
                  <a:buNone/>
                </a:pPr>
                <a:endParaRPr lang="en-US" i="1" dirty="0">
                  <a:solidFill>
                    <a:srgbClr val="000000"/>
                  </a:solidFill>
                </a:endParaRPr>
              </a:p>
              <a:p>
                <a:pPr marL="673100" indent="-571500" algn="just"/>
                <a:r>
                  <a:rPr lang="en-US" dirty="0">
                    <a:solidFill>
                      <a:srgbClr val="000000"/>
                    </a:solidFill>
                  </a:rPr>
                  <a:t>Here, we initialize the array </a:t>
                </a:r>
                <a:r>
                  <a:rPr lang="en-US" dirty="0" err="1">
                    <a:solidFill>
                      <a:srgbClr val="000000"/>
                    </a:solidFill>
                    <a:latin typeface="Consolas" panose="020B0609020204030204" pitchFamily="49" charset="0"/>
                    <a:cs typeface="Consolas" panose="020B0609020204030204" pitchFamily="49" charset="0"/>
                  </a:rPr>
                  <a:t>dp</a:t>
                </a:r>
                <a:r>
                  <a:rPr lang="en-US" dirty="0">
                    <a:solidFill>
                      <a:srgbClr val="000000"/>
                    </a:solidFill>
                  </a:rPr>
                  <a:t> and starting to calculate Fibonacci value starting from 2 to n, resulting in </a:t>
                </a:r>
                <a14:m>
                  <m:oMath xmlns:m="http://schemas.openxmlformats.org/officeDocument/2006/math">
                    <m:r>
                      <a:rPr lang="en-US" b="1" i="1">
                        <a:latin typeface="Cambria Math" panose="02040503050406030204" pitchFamily="18" charset="0"/>
                      </a:rPr>
                      <m:t>𝑶</m:t>
                    </m:r>
                    <m:d>
                      <m:dPr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𝒏</m:t>
                        </m:r>
                      </m:e>
                    </m:d>
                  </m:oMath>
                </a14:m>
                <a:r>
                  <a:rPr lang="en-US" dirty="0"/>
                  <a:t> time complexity.</a:t>
                </a:r>
              </a:p>
              <a:p>
                <a:pPr marL="673100" indent="-571500" algn="just"/>
                <a:endParaRPr lang="en-ID" dirty="0"/>
              </a:p>
            </p:txBody>
          </p:sp>
        </mc:Choice>
        <mc:Fallback xmlns="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B04D6F34-2854-D25C-027F-10B9D7FCCDF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1"/>
              </p:nvPr>
            </p:nvSpPr>
            <p:spPr>
              <a:xfrm>
                <a:off x="2167377" y="3714224"/>
                <a:ext cx="19032265" cy="9138176"/>
              </a:xfrm>
              <a:blipFill>
                <a:blip r:embed="rId3"/>
                <a:stretch>
                  <a:fillRect l="-867" r="-15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Shape 3">
            <a:extLst>
              <a:ext uri="{FF2B5EF4-FFF2-40B4-BE49-F238E27FC236}">
                <a16:creationId xmlns:a16="http://schemas.microsoft.com/office/drawing/2014/main" id="{33B1BC4C-1E9F-90AA-2D36-D2D92949BAF7}"/>
              </a:ext>
            </a:extLst>
          </p:cNvPr>
          <p:cNvSpPr/>
          <p:nvPr/>
        </p:nvSpPr>
        <p:spPr>
          <a:xfrm>
            <a:off x="2167377" y="3714225"/>
            <a:ext cx="19032265" cy="6090176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9525">
            <a:solidFill>
              <a:srgbClr val="AAAAAA"/>
            </a:solidFill>
            <a:prstDash val="solid"/>
          </a:ln>
        </p:spPr>
        <p:txBody>
          <a:bodyPr/>
          <a:lstStyle/>
          <a:p>
            <a:endParaRPr lang="en-US" sz="720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642A2DE3-DA35-57A7-19BF-707690C8BFAA}"/>
              </a:ext>
            </a:extLst>
          </p:cNvPr>
          <p:cNvSpPr/>
          <p:nvPr/>
        </p:nvSpPr>
        <p:spPr>
          <a:xfrm>
            <a:off x="2930619" y="4263853"/>
            <a:ext cx="17505780" cy="47531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/>
            <a:r>
              <a:rPr lang="en-US" sz="48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FIB-DP(n)</a:t>
            </a:r>
          </a:p>
          <a:p>
            <a:pPr algn="l"/>
            <a:r>
              <a:rPr lang="en-US" sz="48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  let </a:t>
            </a:r>
            <a:r>
              <a:rPr lang="en-US" sz="4800" dirty="0" err="1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dp</a:t>
            </a:r>
            <a:r>
              <a:rPr lang="en-US" sz="48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[0..n] be a new array</a:t>
            </a:r>
          </a:p>
          <a:p>
            <a:pPr algn="l"/>
            <a:r>
              <a:rPr lang="en-US" sz="48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  </a:t>
            </a:r>
            <a:r>
              <a:rPr lang="en-US" sz="4800" dirty="0" err="1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dp</a:t>
            </a:r>
            <a:r>
              <a:rPr lang="en-US" sz="48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[0] = 0</a:t>
            </a:r>
          </a:p>
          <a:p>
            <a:pPr algn="l"/>
            <a:r>
              <a:rPr lang="en-US" sz="48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  </a:t>
            </a:r>
            <a:r>
              <a:rPr lang="en-US" sz="4800" dirty="0" err="1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dp</a:t>
            </a:r>
            <a:r>
              <a:rPr lang="en-US" sz="48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[1] = 1</a:t>
            </a:r>
          </a:p>
          <a:p>
            <a:pPr algn="l"/>
            <a:r>
              <a:rPr lang="en-US" sz="48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  for </a:t>
            </a:r>
            <a:r>
              <a:rPr lang="en-US" sz="4800" dirty="0" err="1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</a:t>
            </a:r>
            <a:r>
              <a:rPr lang="en-US" sz="48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2 to n</a:t>
            </a:r>
          </a:p>
          <a:p>
            <a:pPr algn="l"/>
            <a:r>
              <a:rPr lang="en-US" sz="48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      </a:t>
            </a:r>
            <a:r>
              <a:rPr lang="en-US" sz="4800" dirty="0" err="1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dp</a:t>
            </a:r>
            <a:r>
              <a:rPr lang="en-US" sz="48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</a:t>
            </a:r>
            <a:r>
              <a:rPr lang="en-US" sz="4800" dirty="0" err="1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</a:t>
            </a:r>
            <a:r>
              <a:rPr lang="en-US" sz="48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 = </a:t>
            </a:r>
            <a:r>
              <a:rPr lang="en-US" sz="4800" dirty="0" err="1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dp</a:t>
            </a:r>
            <a:r>
              <a:rPr lang="en-US" sz="48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</a:t>
            </a:r>
            <a:r>
              <a:rPr lang="en-US" sz="4800" dirty="0" err="1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</a:t>
            </a:r>
            <a:r>
              <a:rPr lang="en-US" sz="48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- 1] + </a:t>
            </a:r>
            <a:r>
              <a:rPr lang="en-US" sz="4800" dirty="0" err="1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dp</a:t>
            </a:r>
            <a:r>
              <a:rPr lang="en-US" sz="48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</a:t>
            </a:r>
            <a:r>
              <a:rPr lang="en-US" sz="4800" dirty="0" err="1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</a:t>
            </a:r>
            <a:r>
              <a:rPr lang="en-US" sz="48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- 2]</a:t>
            </a:r>
          </a:p>
          <a:p>
            <a:pPr algn="l"/>
            <a:r>
              <a:rPr lang="en-US" sz="48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  return </a:t>
            </a:r>
            <a:r>
              <a:rPr lang="en-US" sz="4800" dirty="0" err="1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dp</a:t>
            </a:r>
            <a:r>
              <a:rPr lang="en-US" sz="48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[n]</a:t>
            </a:r>
          </a:p>
        </p:txBody>
      </p:sp>
    </p:spTree>
    <p:extLst>
      <p:ext uri="{BB962C8B-B14F-4D97-AF65-F5344CB8AC3E}">
        <p14:creationId xmlns:p14="http://schemas.microsoft.com/office/powerpoint/2010/main" val="1888276749"/>
      </p:ext>
    </p:extLst>
  </p:cSld>
  <p:clrMapOvr>
    <a:masterClrMapping/>
  </p:clrMapOvr>
  <p:transition spd="med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27A81B-B4B0-3630-BB0D-B02B1058EC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391728-F414-8A56-9211-FEF888B8A0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D" dirty="0"/>
              <a:t>Dynamic Programming paradigm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ECA3CDA-3A9D-EFCB-AC47-2E0E08E0BDC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r>
              <a:rPr lang="en-ID" dirty="0"/>
              <a:t>Top-down vs bottom-up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4CDB32F-8205-8059-4809-0574E3D65099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2167377" y="3714224"/>
            <a:ext cx="19032265" cy="9138176"/>
          </a:xfrm>
        </p:spPr>
        <p:txBody>
          <a:bodyPr>
            <a:normAutofit/>
          </a:bodyPr>
          <a:lstStyle/>
          <a:p>
            <a:pPr marL="101600" indent="0" algn="just">
              <a:buNone/>
            </a:pPr>
            <a:endParaRPr lang="en-US" i="1" dirty="0">
              <a:solidFill>
                <a:srgbClr val="000000"/>
              </a:solidFill>
            </a:endParaRPr>
          </a:p>
          <a:p>
            <a:pPr marL="673100" indent="-571500" algn="just"/>
            <a:endParaRPr lang="en-US" i="1" dirty="0">
              <a:solidFill>
                <a:srgbClr val="000000"/>
              </a:solidFill>
            </a:endParaRPr>
          </a:p>
          <a:p>
            <a:pPr marL="673100" indent="-571500" algn="just"/>
            <a:endParaRPr lang="en-US" i="1" dirty="0">
              <a:solidFill>
                <a:srgbClr val="000000"/>
              </a:solidFill>
            </a:endParaRPr>
          </a:p>
          <a:p>
            <a:pPr marL="101600" indent="0" algn="just">
              <a:buNone/>
            </a:pPr>
            <a:endParaRPr lang="en-US" i="1" dirty="0">
              <a:solidFill>
                <a:srgbClr val="000000"/>
              </a:solidFill>
            </a:endParaRPr>
          </a:p>
          <a:p>
            <a:pPr marL="101600" indent="0" algn="just">
              <a:buNone/>
            </a:pPr>
            <a:endParaRPr lang="en-US" i="1" dirty="0">
              <a:solidFill>
                <a:srgbClr val="00000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7" name="Table 6">
                <a:extLst>
                  <a:ext uri="{FF2B5EF4-FFF2-40B4-BE49-F238E27FC236}">
                    <a16:creationId xmlns:a16="http://schemas.microsoft.com/office/drawing/2014/main" id="{F6C3D8E5-F954-13E3-C186-95F9A6CA2CCB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654933906"/>
                  </p:ext>
                </p:extLst>
              </p:nvPr>
            </p:nvGraphicFramePr>
            <p:xfrm>
              <a:off x="2167378" y="4663440"/>
              <a:ext cx="19032264" cy="438912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6344088">
                      <a:extLst>
                        <a:ext uri="{9D8B030D-6E8A-4147-A177-3AD203B41FA5}">
                          <a16:colId xmlns:a16="http://schemas.microsoft.com/office/drawing/2014/main" val="696421053"/>
                        </a:ext>
                      </a:extLst>
                    </a:gridCol>
                    <a:gridCol w="6344088">
                      <a:extLst>
                        <a:ext uri="{9D8B030D-6E8A-4147-A177-3AD203B41FA5}">
                          <a16:colId xmlns:a16="http://schemas.microsoft.com/office/drawing/2014/main" val="1493180687"/>
                        </a:ext>
                      </a:extLst>
                    </a:gridCol>
                    <a:gridCol w="6344088">
                      <a:extLst>
                        <a:ext uri="{9D8B030D-6E8A-4147-A177-3AD203B41FA5}">
                          <a16:colId xmlns:a16="http://schemas.microsoft.com/office/drawing/2014/main" val="4091871352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endParaRPr lang="en-US" sz="4400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Open Sans" panose="020B0606030504020204" pitchFamily="34" charset="0"/>
                            <a:ea typeface="Open Sans" panose="020B0606030504020204" pitchFamily="34" charset="0"/>
                            <a:cs typeface="Open Sans" panose="020B0606030504020204" pitchFamily="34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4400" b="1" dirty="0" err="1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Open Sans" panose="020B0606030504020204" pitchFamily="34" charset="0"/>
                              <a:ea typeface="Open Sans" panose="020B0606030504020204" pitchFamily="34" charset="0"/>
                              <a:cs typeface="Open Sans" panose="020B0606030504020204" pitchFamily="34" charset="0"/>
                            </a:rPr>
                            <a:t>Memoization</a:t>
                          </a:r>
                          <a:endParaRPr lang="en-US" sz="4400" b="1" dirty="0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Open Sans" panose="020B0606030504020204" pitchFamily="34" charset="0"/>
                            <a:ea typeface="Open Sans" panose="020B0606030504020204" pitchFamily="34" charset="0"/>
                            <a:cs typeface="Open Sans" panose="020B0606030504020204" pitchFamily="34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4400" b="1" dirty="0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Open Sans" panose="020B0606030504020204" pitchFamily="34" charset="0"/>
                              <a:ea typeface="Open Sans" panose="020B0606030504020204" pitchFamily="34" charset="0"/>
                              <a:cs typeface="Open Sans" panose="020B0606030504020204" pitchFamily="34" charset="0"/>
                            </a:rPr>
                            <a:t>Tabulation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15373590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sz="4400" b="1" dirty="0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Open Sans" panose="020B0606030504020204" pitchFamily="34" charset="0"/>
                              <a:ea typeface="Open Sans" panose="020B0606030504020204" pitchFamily="34" charset="0"/>
                              <a:cs typeface="Open Sans" panose="020B0606030504020204" pitchFamily="34" charset="0"/>
                            </a:rPr>
                            <a:t>Computation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4400" dirty="0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Open Sans" panose="020B0606030504020204" pitchFamily="34" charset="0"/>
                              <a:ea typeface="Open Sans" panose="020B0606030504020204" pitchFamily="34" charset="0"/>
                              <a:cs typeface="Open Sans" panose="020B0606030504020204" pitchFamily="34" charset="0"/>
                            </a:rPr>
                            <a:t>Only needed subproblems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4400" dirty="0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Open Sans" panose="020B0606030504020204" pitchFamily="34" charset="0"/>
                              <a:ea typeface="Open Sans" panose="020B0606030504020204" pitchFamily="34" charset="0"/>
                              <a:cs typeface="Open Sans" panose="020B0606030504020204" pitchFamily="34" charset="0"/>
                            </a:rPr>
                            <a:t>All subproblems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41070237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sz="4400" b="1" dirty="0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Open Sans" panose="020B0606030504020204" pitchFamily="34" charset="0"/>
                              <a:ea typeface="Open Sans" panose="020B0606030504020204" pitchFamily="34" charset="0"/>
                              <a:cs typeface="Open Sans" panose="020B0606030504020204" pitchFamily="34" charset="0"/>
                            </a:rPr>
                            <a:t>Space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4400" b="0" i="1" smtClean="0">
                                    <a:solidFill>
                                      <a:schemeClr val="bg2">
                                        <a:lumMod val="10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Open Sans" panose="020B0606030504020204" pitchFamily="34" charset="0"/>
                                    <a:cs typeface="Open Sans" panose="020B0606030504020204" pitchFamily="34" charset="0"/>
                                  </a:rPr>
                                  <m:t>𝑂</m:t>
                                </m:r>
                                <m:r>
                                  <a:rPr lang="en-US" sz="4400" b="0" i="1" smtClean="0">
                                    <a:solidFill>
                                      <a:schemeClr val="bg2">
                                        <a:lumMod val="10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Open Sans" panose="020B0606030504020204" pitchFamily="34" charset="0"/>
                                    <a:cs typeface="Open Sans" panose="020B0606030504020204" pitchFamily="34" charset="0"/>
                                  </a:rPr>
                                  <m:t>(</m:t>
                                </m:r>
                                <m:r>
                                  <a:rPr lang="en-US" sz="4400" b="0" i="1" smtClean="0">
                                    <a:solidFill>
                                      <a:schemeClr val="bg2">
                                        <a:lumMod val="10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Open Sans" panose="020B0606030504020204" pitchFamily="34" charset="0"/>
                                    <a:cs typeface="Open Sans" panose="020B0606030504020204" pitchFamily="34" charset="0"/>
                                  </a:rPr>
                                  <m:t>𝑠𝑢𝑏𝑝𝑟𝑜𝑏𝑙𝑒𝑚𝑠</m:t>
                                </m:r>
                                <m:r>
                                  <a:rPr lang="en-US" sz="4400" b="0" i="1" smtClean="0">
                                    <a:solidFill>
                                      <a:schemeClr val="bg2">
                                        <a:lumMod val="10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Open Sans" panose="020B0606030504020204" pitchFamily="34" charset="0"/>
                                    <a:cs typeface="Open Sans" panose="020B0606030504020204" pitchFamily="34" charset="0"/>
                                  </a:rPr>
                                  <m:t> </m:t>
                                </m:r>
                              </m:oMath>
                            </m:oMathPara>
                          </a14:m>
                          <a:endParaRPr lang="en-US" sz="4400" b="0" i="1" dirty="0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Cambria Math" panose="02040503050406030204" pitchFamily="18" charset="0"/>
                            <a:ea typeface="Open Sans" panose="020B0606030504020204" pitchFamily="34" charset="0"/>
                            <a:cs typeface="Open Sans" panose="020B0606030504020204" pitchFamily="34" charset="0"/>
                          </a:endParaRPr>
                        </a:p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4400" b="0" i="1" smtClean="0">
                                    <a:solidFill>
                                      <a:schemeClr val="bg2">
                                        <a:lumMod val="10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Open Sans" panose="020B0606030504020204" pitchFamily="34" charset="0"/>
                                    <a:cs typeface="Open Sans" panose="020B0606030504020204" pitchFamily="34" charset="0"/>
                                  </a:rPr>
                                  <m:t>𝑐𝑜𝑚𝑝𝑢𝑡𝑒𝑑</m:t>
                                </m:r>
                                <m:r>
                                  <a:rPr lang="en-US" sz="4400" b="0" i="1" smtClean="0">
                                    <a:solidFill>
                                      <a:schemeClr val="bg2">
                                        <a:lumMod val="10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Open Sans" panose="020B0606030504020204" pitchFamily="34" charset="0"/>
                                    <a:cs typeface="Open Sans" panose="020B0606030504020204" pitchFamily="34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en-US" sz="4400" dirty="0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Open Sans" panose="020B0606030504020204" pitchFamily="34" charset="0"/>
                            <a:ea typeface="Open Sans" panose="020B0606030504020204" pitchFamily="34" charset="0"/>
                            <a:cs typeface="Open Sans" panose="020B0606030504020204" pitchFamily="34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4400" b="0" i="1" smtClean="0">
                                    <a:solidFill>
                                      <a:schemeClr val="bg2">
                                        <a:lumMod val="10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Open Sans" panose="020B0606030504020204" pitchFamily="34" charset="0"/>
                                    <a:cs typeface="Open Sans" panose="020B0606030504020204" pitchFamily="34" charset="0"/>
                                  </a:rPr>
                                  <m:t>𝑂</m:t>
                                </m:r>
                                <m:r>
                                  <a:rPr lang="en-US" sz="4400" b="0" i="1" smtClean="0">
                                    <a:solidFill>
                                      <a:schemeClr val="bg2">
                                        <a:lumMod val="10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Open Sans" panose="020B0606030504020204" pitchFamily="34" charset="0"/>
                                    <a:cs typeface="Open Sans" panose="020B0606030504020204" pitchFamily="34" charset="0"/>
                                  </a:rPr>
                                  <m:t>(</m:t>
                                </m:r>
                                <m:r>
                                  <a:rPr lang="en-US" sz="4400" b="0" i="1" smtClean="0">
                                    <a:solidFill>
                                      <a:schemeClr val="bg2">
                                        <a:lumMod val="10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Open Sans" panose="020B0606030504020204" pitchFamily="34" charset="0"/>
                                    <a:cs typeface="Open Sans" panose="020B0606030504020204" pitchFamily="34" charset="0"/>
                                  </a:rPr>
                                  <m:t>𝑡𝑎𝑏𝑙𝑒</m:t>
                                </m:r>
                                <m:r>
                                  <a:rPr lang="en-US" sz="4400" b="0" i="1" smtClean="0">
                                    <a:solidFill>
                                      <a:schemeClr val="bg2">
                                        <a:lumMod val="10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Open Sans" panose="020B0606030504020204" pitchFamily="34" charset="0"/>
                                    <a:cs typeface="Open Sans" panose="020B0606030504020204" pitchFamily="34" charset="0"/>
                                  </a:rPr>
                                  <m:t> </m:t>
                                </m:r>
                                <m:r>
                                  <a:rPr lang="en-US" sz="4400" b="0" i="1" smtClean="0">
                                    <a:solidFill>
                                      <a:schemeClr val="bg2">
                                        <a:lumMod val="10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Open Sans" panose="020B0606030504020204" pitchFamily="34" charset="0"/>
                                    <a:cs typeface="Open Sans" panose="020B0606030504020204" pitchFamily="34" charset="0"/>
                                  </a:rPr>
                                  <m:t>𝑠𝑖𝑧𝑒</m:t>
                                </m:r>
                                <m:r>
                                  <a:rPr lang="en-US" sz="4400" b="0" i="1" smtClean="0">
                                    <a:solidFill>
                                      <a:schemeClr val="bg2">
                                        <a:lumMod val="10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ea typeface="Open Sans" panose="020B0606030504020204" pitchFamily="34" charset="0"/>
                                    <a:cs typeface="Open Sans" panose="020B0606030504020204" pitchFamily="34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en-US" sz="4400" dirty="0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Open Sans" panose="020B0606030504020204" pitchFamily="34" charset="0"/>
                            <a:ea typeface="Open Sans" panose="020B0606030504020204" pitchFamily="34" charset="0"/>
                            <a:cs typeface="Open Sans" panose="020B0606030504020204" pitchFamily="34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97321258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sz="4400" b="1" dirty="0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Open Sans" panose="020B0606030504020204" pitchFamily="34" charset="0"/>
                              <a:ea typeface="Open Sans" panose="020B0606030504020204" pitchFamily="34" charset="0"/>
                              <a:cs typeface="Open Sans" panose="020B0606030504020204" pitchFamily="34" charset="0"/>
                            </a:rPr>
                            <a:t>Overhead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4400" dirty="0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Open Sans" panose="020B0606030504020204" pitchFamily="34" charset="0"/>
                              <a:ea typeface="Open Sans" panose="020B0606030504020204" pitchFamily="34" charset="0"/>
                              <a:cs typeface="Open Sans" panose="020B0606030504020204" pitchFamily="34" charset="0"/>
                            </a:rPr>
                            <a:t>Recursion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4400" dirty="0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Open Sans" panose="020B0606030504020204" pitchFamily="34" charset="0"/>
                              <a:ea typeface="Open Sans" panose="020B0606030504020204" pitchFamily="34" charset="0"/>
                              <a:cs typeface="Open Sans" panose="020B0606030504020204" pitchFamily="34" charset="0"/>
                            </a:rPr>
                            <a:t>Iteration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47010592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7" name="Table 6">
                <a:extLst>
                  <a:ext uri="{FF2B5EF4-FFF2-40B4-BE49-F238E27FC236}">
                    <a16:creationId xmlns:a16="http://schemas.microsoft.com/office/drawing/2014/main" id="{F6C3D8E5-F954-13E3-C186-95F9A6CA2CCB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654933906"/>
                  </p:ext>
                </p:extLst>
              </p:nvPr>
            </p:nvGraphicFramePr>
            <p:xfrm>
              <a:off x="2167378" y="4663440"/>
              <a:ext cx="19032264" cy="438912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6344088">
                      <a:extLst>
                        <a:ext uri="{9D8B030D-6E8A-4147-A177-3AD203B41FA5}">
                          <a16:colId xmlns:a16="http://schemas.microsoft.com/office/drawing/2014/main" val="696421053"/>
                        </a:ext>
                      </a:extLst>
                    </a:gridCol>
                    <a:gridCol w="6344088">
                      <a:extLst>
                        <a:ext uri="{9D8B030D-6E8A-4147-A177-3AD203B41FA5}">
                          <a16:colId xmlns:a16="http://schemas.microsoft.com/office/drawing/2014/main" val="1493180687"/>
                        </a:ext>
                      </a:extLst>
                    </a:gridCol>
                    <a:gridCol w="6344088">
                      <a:extLst>
                        <a:ext uri="{9D8B030D-6E8A-4147-A177-3AD203B41FA5}">
                          <a16:colId xmlns:a16="http://schemas.microsoft.com/office/drawing/2014/main" val="4091871352"/>
                        </a:ext>
                      </a:extLst>
                    </a:gridCol>
                  </a:tblGrid>
                  <a:tr h="762000">
                    <a:tc>
                      <a:txBody>
                        <a:bodyPr/>
                        <a:lstStyle/>
                        <a:p>
                          <a:endParaRPr lang="en-US" sz="4400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Open Sans" panose="020B0606030504020204" pitchFamily="34" charset="0"/>
                            <a:ea typeface="Open Sans" panose="020B0606030504020204" pitchFamily="34" charset="0"/>
                            <a:cs typeface="Open Sans" panose="020B0606030504020204" pitchFamily="34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4400" b="1" dirty="0" err="1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Open Sans" panose="020B0606030504020204" pitchFamily="34" charset="0"/>
                              <a:ea typeface="Open Sans" panose="020B0606030504020204" pitchFamily="34" charset="0"/>
                              <a:cs typeface="Open Sans" panose="020B0606030504020204" pitchFamily="34" charset="0"/>
                            </a:rPr>
                            <a:t>Memoization</a:t>
                          </a:r>
                          <a:endParaRPr lang="en-US" sz="4400" b="1" dirty="0">
                            <a:solidFill>
                              <a:schemeClr val="bg2">
                                <a:lumMod val="10000"/>
                              </a:schemeClr>
                            </a:solidFill>
                            <a:latin typeface="Open Sans" panose="020B0606030504020204" pitchFamily="34" charset="0"/>
                            <a:ea typeface="Open Sans" panose="020B0606030504020204" pitchFamily="34" charset="0"/>
                            <a:cs typeface="Open Sans" panose="020B0606030504020204" pitchFamily="34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4400" b="1" dirty="0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Open Sans" panose="020B0606030504020204" pitchFamily="34" charset="0"/>
                              <a:ea typeface="Open Sans" panose="020B0606030504020204" pitchFamily="34" charset="0"/>
                              <a:cs typeface="Open Sans" panose="020B0606030504020204" pitchFamily="34" charset="0"/>
                            </a:rPr>
                            <a:t>Tabulation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153735908"/>
                      </a:ext>
                    </a:extLst>
                  </a:tr>
                  <a:tr h="1432560">
                    <a:tc>
                      <a:txBody>
                        <a:bodyPr/>
                        <a:lstStyle/>
                        <a:p>
                          <a:r>
                            <a:rPr lang="en-US" sz="4400" b="1" dirty="0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Open Sans" panose="020B0606030504020204" pitchFamily="34" charset="0"/>
                              <a:ea typeface="Open Sans" panose="020B0606030504020204" pitchFamily="34" charset="0"/>
                              <a:cs typeface="Open Sans" panose="020B0606030504020204" pitchFamily="34" charset="0"/>
                            </a:rPr>
                            <a:t>Computation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4400" dirty="0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Open Sans" panose="020B0606030504020204" pitchFamily="34" charset="0"/>
                              <a:ea typeface="Open Sans" panose="020B0606030504020204" pitchFamily="34" charset="0"/>
                              <a:cs typeface="Open Sans" panose="020B0606030504020204" pitchFamily="34" charset="0"/>
                            </a:rPr>
                            <a:t>Only needed subproblems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4400" dirty="0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Open Sans" panose="020B0606030504020204" pitchFamily="34" charset="0"/>
                              <a:ea typeface="Open Sans" panose="020B0606030504020204" pitchFamily="34" charset="0"/>
                              <a:cs typeface="Open Sans" panose="020B0606030504020204" pitchFamily="34" charset="0"/>
                            </a:rPr>
                            <a:t>All subproblems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410702371"/>
                      </a:ext>
                    </a:extLst>
                  </a:tr>
                  <a:tr h="1432560">
                    <a:tc>
                      <a:txBody>
                        <a:bodyPr/>
                        <a:lstStyle/>
                        <a:p>
                          <a:r>
                            <a:rPr lang="en-US" sz="4400" b="1" dirty="0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Open Sans" panose="020B0606030504020204" pitchFamily="34" charset="0"/>
                              <a:ea typeface="Open Sans" panose="020B0606030504020204" pitchFamily="34" charset="0"/>
                              <a:cs typeface="Open Sans" panose="020B0606030504020204" pitchFamily="34" charset="0"/>
                            </a:rPr>
                            <a:t>Space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100200" t="-161947" r="-100200" b="-734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200200" t="-161947" r="-200" b="-7345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973212582"/>
                      </a:ext>
                    </a:extLst>
                  </a:tr>
                  <a:tr h="762000">
                    <a:tc>
                      <a:txBody>
                        <a:bodyPr/>
                        <a:lstStyle/>
                        <a:p>
                          <a:r>
                            <a:rPr lang="en-US" sz="4400" b="1" dirty="0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Open Sans" panose="020B0606030504020204" pitchFamily="34" charset="0"/>
                              <a:ea typeface="Open Sans" panose="020B0606030504020204" pitchFamily="34" charset="0"/>
                              <a:cs typeface="Open Sans" panose="020B0606030504020204" pitchFamily="34" charset="0"/>
                            </a:rPr>
                            <a:t>Overhead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4400" dirty="0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Open Sans" panose="020B0606030504020204" pitchFamily="34" charset="0"/>
                              <a:ea typeface="Open Sans" panose="020B0606030504020204" pitchFamily="34" charset="0"/>
                              <a:cs typeface="Open Sans" panose="020B0606030504020204" pitchFamily="34" charset="0"/>
                            </a:rPr>
                            <a:t>Recursion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4400" dirty="0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  <a:latin typeface="Open Sans" panose="020B0606030504020204" pitchFamily="34" charset="0"/>
                              <a:ea typeface="Open Sans" panose="020B0606030504020204" pitchFamily="34" charset="0"/>
                              <a:cs typeface="Open Sans" panose="020B0606030504020204" pitchFamily="34" charset="0"/>
                            </a:rPr>
                            <a:t>Iteration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47010592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1275431753"/>
      </p:ext>
    </p:extLst>
  </p:cSld>
  <p:clrMapOvr>
    <a:masterClrMapping/>
  </p:clrMapOvr>
  <p:transition spd="med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5769C2-477B-4118-EC61-FD62EC8EDA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42C627-80D9-E748-000F-579DF058BC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D" dirty="0"/>
              <a:t>Dynamic Programming paradigm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A16B8AA-3334-CEDA-A61F-E7DB4A9A090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r>
              <a:rPr lang="en-ID" dirty="0"/>
              <a:t>Design steps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6DB4E5B-F179-D948-39DA-D9B3EA6A01CC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2167377" y="3714224"/>
            <a:ext cx="19032265" cy="913817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D" dirty="0"/>
              <a:t>Generally, there are 4 steps to design a DP algorithm:</a:t>
            </a:r>
          </a:p>
          <a:p>
            <a:pPr>
              <a:buFont typeface="+mj-lt"/>
              <a:buAutoNum type="arabicPeriod"/>
            </a:pPr>
            <a:r>
              <a:rPr lang="en-ID" b="1" dirty="0"/>
              <a:t>Characterize</a:t>
            </a:r>
            <a:r>
              <a:rPr lang="en-ID" dirty="0"/>
              <a:t> the structure of an optimal solution.</a:t>
            </a:r>
          </a:p>
          <a:p>
            <a:pPr>
              <a:buFont typeface="+mj-lt"/>
              <a:buAutoNum type="arabicPeriod"/>
            </a:pPr>
            <a:r>
              <a:rPr lang="en-ID" b="1" dirty="0"/>
              <a:t>Define</a:t>
            </a:r>
            <a:r>
              <a:rPr lang="en-ID" dirty="0"/>
              <a:t> the value of an optimal solution recursively.</a:t>
            </a:r>
          </a:p>
          <a:p>
            <a:pPr>
              <a:buFont typeface="+mj-lt"/>
              <a:buAutoNum type="arabicPeriod"/>
            </a:pPr>
            <a:r>
              <a:rPr lang="en-ID" b="1" dirty="0"/>
              <a:t>Compute</a:t>
            </a:r>
            <a:r>
              <a:rPr lang="en-ID" dirty="0"/>
              <a:t> the value bottom-up (or top-down with </a:t>
            </a:r>
            <a:r>
              <a:rPr lang="en-ID" dirty="0" err="1"/>
              <a:t>memoization</a:t>
            </a:r>
            <a:r>
              <a:rPr lang="en-ID" dirty="0"/>
              <a:t>).</a:t>
            </a:r>
          </a:p>
          <a:p>
            <a:pPr>
              <a:buFont typeface="+mj-lt"/>
              <a:buAutoNum type="arabicPeriod"/>
            </a:pPr>
            <a:r>
              <a:rPr lang="en-ID" b="1" dirty="0"/>
              <a:t>Construct</a:t>
            </a:r>
            <a:r>
              <a:rPr lang="en-ID" dirty="0"/>
              <a:t> an optimal solution from the computed information.</a:t>
            </a:r>
          </a:p>
        </p:txBody>
      </p:sp>
    </p:spTree>
    <p:extLst>
      <p:ext uri="{BB962C8B-B14F-4D97-AF65-F5344CB8AC3E}">
        <p14:creationId xmlns:p14="http://schemas.microsoft.com/office/powerpoint/2010/main" val="3766875962"/>
      </p:ext>
    </p:extLst>
  </p:cSld>
  <p:clrMapOvr>
    <a:masterClrMapping/>
  </p:clrMapOvr>
  <p:transition spd="med"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4D79F0-CBCC-9F17-3FB7-921982BD2A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7BBBB5-FCA1-505A-AA79-FBAF86D13F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D" dirty="0"/>
              <a:t>Maximum Subarray Sum: </a:t>
            </a:r>
            <a:r>
              <a:rPr lang="en-ID" dirty="0" err="1"/>
              <a:t>Kadane's</a:t>
            </a:r>
            <a:r>
              <a:rPr lang="en-ID" dirty="0"/>
              <a:t> Algorithm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B6149AF-72C3-9BB8-6EB5-983F7555CF2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r>
              <a:rPr lang="en-ID" dirty="0"/>
              <a:t>problem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C56A2DD-CADF-6740-8DBF-EF6AB95912C7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2167377" y="3714224"/>
            <a:ext cx="19032265" cy="9138176"/>
          </a:xfrm>
        </p:spPr>
        <p:txBody>
          <a:bodyPr>
            <a:normAutofit/>
          </a:bodyPr>
          <a:lstStyle/>
          <a:p>
            <a:r>
              <a:rPr lang="en-ID" dirty="0"/>
              <a:t>Given an array A[1..n] of integers (possibly negative), find the contiguous subarray A[</a:t>
            </a:r>
            <a:r>
              <a:rPr lang="en-ID" dirty="0" err="1"/>
              <a:t>i</a:t>
            </a:r>
            <a:r>
              <a:rPr lang="en-ID" dirty="0"/>
              <a:t>..j] with the maximum sum.</a:t>
            </a:r>
          </a:p>
          <a:p>
            <a:r>
              <a:rPr lang="en-ID" b="1" dirty="0"/>
              <a:t>Example:</a:t>
            </a:r>
            <a:r>
              <a:rPr lang="en-ID" dirty="0"/>
              <a:t> A = [−2, 1, −3, 4, −1, 2, 1, −5, 4] → Maximum subarray: A[4..7] = [4, −1, 2, 1], sum = 6.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3EC245F6-59EA-A421-7BE5-C8429D39F7B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95706856"/>
              </p:ext>
            </p:extLst>
          </p:nvPr>
        </p:nvGraphicFramePr>
        <p:xfrm>
          <a:off x="3412958" y="8392988"/>
          <a:ext cx="16200000" cy="180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800000">
                  <a:extLst>
                    <a:ext uri="{9D8B030D-6E8A-4147-A177-3AD203B41FA5}">
                      <a16:colId xmlns:a16="http://schemas.microsoft.com/office/drawing/2014/main" val="2740099654"/>
                    </a:ext>
                  </a:extLst>
                </a:gridCol>
                <a:gridCol w="1800000">
                  <a:extLst>
                    <a:ext uri="{9D8B030D-6E8A-4147-A177-3AD203B41FA5}">
                      <a16:colId xmlns:a16="http://schemas.microsoft.com/office/drawing/2014/main" val="1056358261"/>
                    </a:ext>
                  </a:extLst>
                </a:gridCol>
                <a:gridCol w="1800000">
                  <a:extLst>
                    <a:ext uri="{9D8B030D-6E8A-4147-A177-3AD203B41FA5}">
                      <a16:colId xmlns:a16="http://schemas.microsoft.com/office/drawing/2014/main" val="244834787"/>
                    </a:ext>
                  </a:extLst>
                </a:gridCol>
                <a:gridCol w="1800000">
                  <a:extLst>
                    <a:ext uri="{9D8B030D-6E8A-4147-A177-3AD203B41FA5}">
                      <a16:colId xmlns:a16="http://schemas.microsoft.com/office/drawing/2014/main" val="2871556928"/>
                    </a:ext>
                  </a:extLst>
                </a:gridCol>
                <a:gridCol w="1800000">
                  <a:extLst>
                    <a:ext uri="{9D8B030D-6E8A-4147-A177-3AD203B41FA5}">
                      <a16:colId xmlns:a16="http://schemas.microsoft.com/office/drawing/2014/main" val="2709200728"/>
                    </a:ext>
                  </a:extLst>
                </a:gridCol>
                <a:gridCol w="1800000">
                  <a:extLst>
                    <a:ext uri="{9D8B030D-6E8A-4147-A177-3AD203B41FA5}">
                      <a16:colId xmlns:a16="http://schemas.microsoft.com/office/drawing/2014/main" val="2084525418"/>
                    </a:ext>
                  </a:extLst>
                </a:gridCol>
                <a:gridCol w="1800000">
                  <a:extLst>
                    <a:ext uri="{9D8B030D-6E8A-4147-A177-3AD203B41FA5}">
                      <a16:colId xmlns:a16="http://schemas.microsoft.com/office/drawing/2014/main" val="1166543574"/>
                    </a:ext>
                  </a:extLst>
                </a:gridCol>
                <a:gridCol w="1800000">
                  <a:extLst>
                    <a:ext uri="{9D8B030D-6E8A-4147-A177-3AD203B41FA5}">
                      <a16:colId xmlns:a16="http://schemas.microsoft.com/office/drawing/2014/main" val="2378715598"/>
                    </a:ext>
                  </a:extLst>
                </a:gridCol>
                <a:gridCol w="1800000">
                  <a:extLst>
                    <a:ext uri="{9D8B030D-6E8A-4147-A177-3AD203B41FA5}">
                      <a16:colId xmlns:a16="http://schemas.microsoft.com/office/drawing/2014/main" val="993261918"/>
                    </a:ext>
                  </a:extLst>
                </a:gridCol>
              </a:tblGrid>
              <a:tr h="1800000">
                <a:tc>
                  <a:txBody>
                    <a:bodyPr/>
                    <a:lstStyle/>
                    <a:p>
                      <a:pPr marL="0" marR="0" indent="0" algn="ctr" defTabSz="584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4400" b="1" dirty="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−2</a:t>
                      </a:r>
                    </a:p>
                  </a:txBody>
                  <a:tcPr anchor="ctr">
                    <a:lnL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4400" b="1" dirty="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1</a:t>
                      </a:r>
                    </a:p>
                  </a:txBody>
                  <a:tcPr anchor="ctr">
                    <a:lnL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4400" b="1" dirty="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−3</a:t>
                      </a:r>
                    </a:p>
                  </a:txBody>
                  <a:tcPr anchor="ctr">
                    <a:lnL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4400" b="1" dirty="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4</a:t>
                      </a:r>
                    </a:p>
                  </a:txBody>
                  <a:tcPr anchor="ctr">
                    <a:lnL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4400" b="1" dirty="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−1</a:t>
                      </a:r>
                    </a:p>
                  </a:txBody>
                  <a:tcPr anchor="ctr">
                    <a:lnL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4400" b="1" dirty="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2</a:t>
                      </a:r>
                    </a:p>
                  </a:txBody>
                  <a:tcPr anchor="ctr">
                    <a:lnL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4400" b="1" dirty="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1</a:t>
                      </a:r>
                    </a:p>
                  </a:txBody>
                  <a:tcPr anchor="ctr">
                    <a:lnL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4400" b="1" dirty="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−5</a:t>
                      </a:r>
                    </a:p>
                  </a:txBody>
                  <a:tcPr anchor="ctr">
                    <a:lnL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4400" b="1" dirty="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4</a:t>
                      </a:r>
                    </a:p>
                  </a:txBody>
                  <a:tcPr anchor="ctr">
                    <a:lnL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99067356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291AE6B7-28ED-C3FA-3804-1BF5F0D1863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8959618"/>
              </p:ext>
            </p:extLst>
          </p:nvPr>
        </p:nvGraphicFramePr>
        <p:xfrm>
          <a:off x="3412958" y="10192987"/>
          <a:ext cx="16200000" cy="1331885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800000">
                  <a:extLst>
                    <a:ext uri="{9D8B030D-6E8A-4147-A177-3AD203B41FA5}">
                      <a16:colId xmlns:a16="http://schemas.microsoft.com/office/drawing/2014/main" val="2740099654"/>
                    </a:ext>
                  </a:extLst>
                </a:gridCol>
                <a:gridCol w="1800000">
                  <a:extLst>
                    <a:ext uri="{9D8B030D-6E8A-4147-A177-3AD203B41FA5}">
                      <a16:colId xmlns:a16="http://schemas.microsoft.com/office/drawing/2014/main" val="1056358261"/>
                    </a:ext>
                  </a:extLst>
                </a:gridCol>
                <a:gridCol w="1800000">
                  <a:extLst>
                    <a:ext uri="{9D8B030D-6E8A-4147-A177-3AD203B41FA5}">
                      <a16:colId xmlns:a16="http://schemas.microsoft.com/office/drawing/2014/main" val="244834787"/>
                    </a:ext>
                  </a:extLst>
                </a:gridCol>
                <a:gridCol w="1800000">
                  <a:extLst>
                    <a:ext uri="{9D8B030D-6E8A-4147-A177-3AD203B41FA5}">
                      <a16:colId xmlns:a16="http://schemas.microsoft.com/office/drawing/2014/main" val="2871556928"/>
                    </a:ext>
                  </a:extLst>
                </a:gridCol>
                <a:gridCol w="1800000">
                  <a:extLst>
                    <a:ext uri="{9D8B030D-6E8A-4147-A177-3AD203B41FA5}">
                      <a16:colId xmlns:a16="http://schemas.microsoft.com/office/drawing/2014/main" val="2709200728"/>
                    </a:ext>
                  </a:extLst>
                </a:gridCol>
                <a:gridCol w="1800000">
                  <a:extLst>
                    <a:ext uri="{9D8B030D-6E8A-4147-A177-3AD203B41FA5}">
                      <a16:colId xmlns:a16="http://schemas.microsoft.com/office/drawing/2014/main" val="2084525418"/>
                    </a:ext>
                  </a:extLst>
                </a:gridCol>
                <a:gridCol w="1800000">
                  <a:extLst>
                    <a:ext uri="{9D8B030D-6E8A-4147-A177-3AD203B41FA5}">
                      <a16:colId xmlns:a16="http://schemas.microsoft.com/office/drawing/2014/main" val="1166543574"/>
                    </a:ext>
                  </a:extLst>
                </a:gridCol>
                <a:gridCol w="1800000">
                  <a:extLst>
                    <a:ext uri="{9D8B030D-6E8A-4147-A177-3AD203B41FA5}">
                      <a16:colId xmlns:a16="http://schemas.microsoft.com/office/drawing/2014/main" val="2378715598"/>
                    </a:ext>
                  </a:extLst>
                </a:gridCol>
                <a:gridCol w="1800000">
                  <a:extLst>
                    <a:ext uri="{9D8B030D-6E8A-4147-A177-3AD203B41FA5}">
                      <a16:colId xmlns:a16="http://schemas.microsoft.com/office/drawing/2014/main" val="993261918"/>
                    </a:ext>
                  </a:extLst>
                </a:gridCol>
              </a:tblGrid>
              <a:tr h="1331885">
                <a:tc>
                  <a:txBody>
                    <a:bodyPr/>
                    <a:lstStyle/>
                    <a:p>
                      <a:pPr marL="0" marR="0" indent="0" algn="ctr" defTabSz="584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4400" b="0" dirty="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4400" b="0" dirty="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2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4400" b="0" dirty="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3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4400" b="0" dirty="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4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4400" b="0" dirty="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5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4400" b="0" dirty="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6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4400" b="0" dirty="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7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4400" b="0" dirty="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8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4400" b="0" dirty="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9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9906735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6957476"/>
      </p:ext>
    </p:extLst>
  </p:cSld>
  <p:clrMapOvr>
    <a:masterClrMapping/>
  </p:clrMapOvr>
  <p:transition spd="med"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8EB970-15EA-898B-C5E1-B4B0516B08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097F46-501A-ED78-1FBD-AA7448619B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D" dirty="0"/>
              <a:t>Maximum Subarray Sum: </a:t>
            </a:r>
            <a:r>
              <a:rPr lang="en-ID" dirty="0" err="1"/>
              <a:t>Kadane's</a:t>
            </a:r>
            <a:r>
              <a:rPr lang="en-ID" dirty="0"/>
              <a:t> Algorithm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40D35BC-C4A2-512D-5169-5AE4B9B3D1C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r>
              <a:rPr lang="en-ID" dirty="0"/>
              <a:t>Naïve Approach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8B8C0854-75E1-6CAE-8A65-F87586D5024B}"/>
                  </a:ext>
                </a:extLst>
              </p:cNvPr>
              <p:cNvSpPr>
                <a:spLocks noGrp="1"/>
              </p:cNvSpPr>
              <p:nvPr>
                <p:ph sz="quarter" idx="11"/>
              </p:nvPr>
            </p:nvSpPr>
            <p:spPr>
              <a:xfrm>
                <a:off x="2167377" y="3714224"/>
                <a:ext cx="19032265" cy="9498856"/>
              </a:xfrm>
            </p:spPr>
            <p:txBody>
              <a:bodyPr>
                <a:normAutofit/>
              </a:bodyPr>
              <a:lstStyle/>
              <a:p>
                <a:r>
                  <a:rPr lang="en-ID" dirty="0"/>
                  <a:t>For every index </a:t>
                </a:r>
                <a14:m>
                  <m:oMath xmlns:m="http://schemas.openxmlformats.org/officeDocument/2006/math">
                    <m:r>
                      <a:rPr lang="en-ID" i="1" dirty="0" smtClean="0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ID" dirty="0"/>
                  <a:t>, there are </a:t>
                </a:r>
                <a14:m>
                  <m:oMath xmlns:m="http://schemas.openxmlformats.org/officeDocument/2006/math">
                    <m:r>
                      <a:rPr lang="en-ID" i="1" dirty="0" smtClean="0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ID" dirty="0"/>
                  <a:t> possible subarrays ending exactly at that index.</a:t>
                </a:r>
              </a:p>
              <a:p>
                <a:endParaRPr lang="en-ID" dirty="0"/>
              </a:p>
              <a:p>
                <a:endParaRPr lang="en-ID" dirty="0"/>
              </a:p>
              <a:p>
                <a:endParaRPr lang="en-ID" dirty="0"/>
              </a:p>
              <a:p>
                <a:pPr marL="0" indent="0">
                  <a:buNone/>
                </a:pPr>
                <a:endParaRPr lang="en-ID" dirty="0"/>
              </a:p>
              <a:p>
                <a:r>
                  <a:rPr lang="en-ID" dirty="0"/>
                  <a:t>Therefore, there are </a:t>
                </a:r>
                <a14:m>
                  <m:oMath xmlns:m="http://schemas.openxmlformats.org/officeDocument/2006/math">
                    <m:r>
                      <a:rPr lang="en-ID" b="1" i="1" dirty="0" smtClean="0">
                        <a:latin typeface="Cambria Math" panose="02040503050406030204" pitchFamily="18" charset="0"/>
                      </a:rPr>
                      <m:t>𝟏</m:t>
                    </m:r>
                    <m:r>
                      <a:rPr lang="en-ID" b="1" i="1" dirty="0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ID" b="1" i="1" dirty="0" smtClean="0">
                        <a:latin typeface="Cambria Math" panose="02040503050406030204" pitchFamily="18" charset="0"/>
                      </a:rPr>
                      <m:t>𝟐</m:t>
                    </m:r>
                    <m:r>
                      <a:rPr lang="en-ID" b="1" i="1" dirty="0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ID" b="1" i="1" dirty="0" smtClean="0">
                        <a:latin typeface="Cambria Math" panose="02040503050406030204" pitchFamily="18" charset="0"/>
                      </a:rPr>
                      <m:t>𝟑</m:t>
                    </m:r>
                    <m:r>
                      <a:rPr lang="en-ID" b="1" i="1" dirty="0" smtClean="0">
                        <a:latin typeface="Cambria Math" panose="02040503050406030204" pitchFamily="18" charset="0"/>
                      </a:rPr>
                      <m:t>+…+</m:t>
                    </m:r>
                    <m:r>
                      <a:rPr lang="en-ID" b="1" i="1" dirty="0" smtClean="0">
                        <a:latin typeface="Cambria Math" panose="02040503050406030204" pitchFamily="18" charset="0"/>
                      </a:rPr>
                      <m:t>𝒏</m:t>
                    </m:r>
                    <m:r>
                      <a:rPr lang="en-US" b="1" i="1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1" i="1" dirty="0" smtClean="0">
                        <a:latin typeface="Cambria Math" panose="02040503050406030204" pitchFamily="18" charset="0"/>
                      </a:rPr>
                      <m:t>𝑶</m:t>
                    </m:r>
                    <m:r>
                      <a:rPr lang="en-US" b="1" i="1" dirty="0" smtClean="0">
                        <a:latin typeface="Cambria Math" panose="02040503050406030204" pitchFamily="18" charset="0"/>
                      </a:rPr>
                      <m:t>(</m:t>
                    </m:r>
                    <m:sSup>
                      <m:sSupPr>
                        <m:ctrlPr>
                          <a:rPr lang="en-US" b="1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1" i="1" dirty="0" smtClean="0">
                            <a:latin typeface="Cambria Math" panose="02040503050406030204" pitchFamily="18" charset="0"/>
                          </a:rPr>
                          <m:t>𝒏</m:t>
                        </m:r>
                      </m:e>
                      <m:sup>
                        <m:r>
                          <a:rPr lang="en-US" b="1" i="1" dirty="0" smtClean="0">
                            <a:latin typeface="Cambria Math" panose="02040503050406030204" pitchFamily="18" charset="0"/>
                          </a:rPr>
                          <m:t>𝟐</m:t>
                        </m:r>
                      </m:sup>
                    </m:sSup>
                    <m:r>
                      <a:rPr lang="en-US" b="1" i="1" dirty="0" smtClean="0">
                        <a:latin typeface="Cambria Math" panose="02040503050406030204" pitchFamily="18" charset="0"/>
                      </a:rPr>
                      <m:t>)</m:t>
                    </m:r>
                    <m:r>
                      <a:rPr lang="en-ID" b="1" i="1" dirty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ID" dirty="0"/>
                  <a:t>possible subarrays. </a:t>
                </a:r>
              </a:p>
              <a:p>
                <a:r>
                  <a:rPr lang="en-ID" dirty="0"/>
                  <a:t>For each possible subarray, calculating the sum cost </a:t>
                </a:r>
                <a14:m>
                  <m:oMath xmlns:m="http://schemas.openxmlformats.org/officeDocument/2006/math">
                    <m:r>
                      <a:rPr lang="en-US" b="1" i="1" smtClean="0">
                        <a:latin typeface="Cambria Math" panose="02040503050406030204" pitchFamily="18" charset="0"/>
                      </a:rPr>
                      <m:t>𝑶</m:t>
                    </m:r>
                    <m:r>
                      <a:rPr lang="en-US" b="1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1" i="1" smtClean="0">
                        <a:latin typeface="Cambria Math" panose="02040503050406030204" pitchFamily="18" charset="0"/>
                      </a:rPr>
                      <m:t>𝒏</m:t>
                    </m:r>
                    <m:r>
                      <a:rPr lang="en-US" b="1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ID" dirty="0"/>
                  <a:t>, so the total time complexity is </a:t>
                </a:r>
                <a14:m>
                  <m:oMath xmlns:m="http://schemas.openxmlformats.org/officeDocument/2006/math">
                    <m:r>
                      <a:rPr lang="en-US" b="1" i="1" smtClean="0">
                        <a:latin typeface="Cambria Math" panose="02040503050406030204" pitchFamily="18" charset="0"/>
                      </a:rPr>
                      <m:t>𝑶</m:t>
                    </m:r>
                    <m:r>
                      <a:rPr lang="en-US" b="1" i="1" smtClean="0">
                        <a:latin typeface="Cambria Math" panose="02040503050406030204" pitchFamily="18" charset="0"/>
                      </a:rPr>
                      <m:t>(</m:t>
                    </m:r>
                    <m:sSup>
                      <m:sSupPr>
                        <m:ctrlPr>
                          <a:rPr lang="en-US" b="1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𝒏</m:t>
                        </m:r>
                      </m:e>
                      <m:sup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𝟑</m:t>
                        </m:r>
                      </m:sup>
                    </m:sSup>
                    <m:r>
                      <a:rPr lang="en-US" b="1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ID" b="1" dirty="0"/>
                  <a:t>.</a:t>
                </a:r>
              </a:p>
            </p:txBody>
          </p:sp>
        </mc:Choice>
        <mc:Fallback xmlns="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8B8C0854-75E1-6CAE-8A65-F87586D5024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1"/>
              </p:nvPr>
            </p:nvSpPr>
            <p:spPr>
              <a:xfrm>
                <a:off x="2167377" y="3714224"/>
                <a:ext cx="19032265" cy="9498856"/>
              </a:xfrm>
              <a:blipFill>
                <a:blip r:embed="rId3"/>
                <a:stretch>
                  <a:fillRect l="-1400" t="-1068" r="-18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BD4D8E14-D79D-EC91-E92C-C291CF14FFD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1354326"/>
              </p:ext>
            </p:extLst>
          </p:nvPr>
        </p:nvGraphicFramePr>
        <p:xfrm>
          <a:off x="3036057" y="5823720"/>
          <a:ext cx="3600000" cy="72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20000">
                  <a:extLst>
                    <a:ext uri="{9D8B030D-6E8A-4147-A177-3AD203B41FA5}">
                      <a16:colId xmlns:a16="http://schemas.microsoft.com/office/drawing/2014/main" val="2740099654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1056358261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44834787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709200728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084525418"/>
                    </a:ext>
                  </a:extLst>
                </a:gridCol>
              </a:tblGrid>
              <a:tr h="720000">
                <a:tc>
                  <a:txBody>
                    <a:bodyPr/>
                    <a:lstStyle/>
                    <a:p>
                      <a:pPr marL="0" marR="0" indent="0" algn="ctr" defTabSz="584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b="1" dirty="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1</a:t>
                      </a:r>
                    </a:p>
                  </a:txBody>
                  <a:tcPr anchor="ctr">
                    <a:lnL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b="1" dirty="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2</a:t>
                      </a:r>
                    </a:p>
                  </a:txBody>
                  <a:tcPr anchor="ctr">
                    <a:lnL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b="1" dirty="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3</a:t>
                      </a:r>
                    </a:p>
                  </a:txBody>
                  <a:tcPr anchor="ctr">
                    <a:lnL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b="1" dirty="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…</a:t>
                      </a:r>
                    </a:p>
                  </a:txBody>
                  <a:tcPr anchor="ctr">
                    <a:lnL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b="1" dirty="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n</a:t>
                      </a:r>
                    </a:p>
                  </a:txBody>
                  <a:tcPr anchor="ctr">
                    <a:lnL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99067356"/>
                  </a:ext>
                </a:extLst>
              </a:tr>
            </a:tbl>
          </a:graphicData>
        </a:graphic>
      </p:graphicFrame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F87EABA8-CCCA-6145-ABA2-CF3969CC923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17881656"/>
              </p:ext>
            </p:extLst>
          </p:nvPr>
        </p:nvGraphicFramePr>
        <p:xfrm>
          <a:off x="7920494" y="5823720"/>
          <a:ext cx="3600000" cy="72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20000">
                  <a:extLst>
                    <a:ext uri="{9D8B030D-6E8A-4147-A177-3AD203B41FA5}">
                      <a16:colId xmlns:a16="http://schemas.microsoft.com/office/drawing/2014/main" val="2740099654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1056358261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44834787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709200728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084525418"/>
                    </a:ext>
                  </a:extLst>
                </a:gridCol>
              </a:tblGrid>
              <a:tr h="720000">
                <a:tc>
                  <a:txBody>
                    <a:bodyPr/>
                    <a:lstStyle/>
                    <a:p>
                      <a:pPr marL="0" marR="0" indent="0" algn="ctr" defTabSz="584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b="1" dirty="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1</a:t>
                      </a:r>
                    </a:p>
                  </a:txBody>
                  <a:tcPr anchor="ctr">
                    <a:lnL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b="1" dirty="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2</a:t>
                      </a:r>
                    </a:p>
                  </a:txBody>
                  <a:tcPr anchor="ctr">
                    <a:lnL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b="1" dirty="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3</a:t>
                      </a:r>
                    </a:p>
                  </a:txBody>
                  <a:tcPr anchor="ctr">
                    <a:lnL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b="1" dirty="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…</a:t>
                      </a:r>
                    </a:p>
                  </a:txBody>
                  <a:tcPr anchor="ctr">
                    <a:lnL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b="1" dirty="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n</a:t>
                      </a:r>
                    </a:p>
                  </a:txBody>
                  <a:tcPr anchor="ctr">
                    <a:lnL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99067356"/>
                  </a:ext>
                </a:extLst>
              </a:tr>
            </a:tbl>
          </a:graphicData>
        </a:graphic>
      </p:graphicFrame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904B432F-FBFD-17EB-44EA-287E8D99696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32788204"/>
              </p:ext>
            </p:extLst>
          </p:nvPr>
        </p:nvGraphicFramePr>
        <p:xfrm>
          <a:off x="12804931" y="5823720"/>
          <a:ext cx="3600000" cy="72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20000">
                  <a:extLst>
                    <a:ext uri="{9D8B030D-6E8A-4147-A177-3AD203B41FA5}">
                      <a16:colId xmlns:a16="http://schemas.microsoft.com/office/drawing/2014/main" val="2740099654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1056358261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44834787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709200728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084525418"/>
                    </a:ext>
                  </a:extLst>
                </a:gridCol>
              </a:tblGrid>
              <a:tr h="720000">
                <a:tc>
                  <a:txBody>
                    <a:bodyPr/>
                    <a:lstStyle/>
                    <a:p>
                      <a:pPr marL="0" marR="0" indent="0" algn="ctr" defTabSz="584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b="1" dirty="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1</a:t>
                      </a:r>
                    </a:p>
                  </a:txBody>
                  <a:tcPr anchor="ctr">
                    <a:lnL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b="1" dirty="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2</a:t>
                      </a:r>
                    </a:p>
                  </a:txBody>
                  <a:tcPr anchor="ctr">
                    <a:lnL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b="1" dirty="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3</a:t>
                      </a:r>
                    </a:p>
                  </a:txBody>
                  <a:tcPr anchor="ctr">
                    <a:lnL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b="1" dirty="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…</a:t>
                      </a:r>
                    </a:p>
                  </a:txBody>
                  <a:tcPr anchor="ctr">
                    <a:lnL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b="1" dirty="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n</a:t>
                      </a:r>
                    </a:p>
                  </a:txBody>
                  <a:tcPr anchor="ctr">
                    <a:lnL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99067356"/>
                  </a:ext>
                </a:extLst>
              </a:tr>
            </a:tbl>
          </a:graphicData>
        </a:graphic>
      </p:graphicFrame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AD076217-37BA-9F6B-8D3E-EA901E1CCCF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84395266"/>
              </p:ext>
            </p:extLst>
          </p:nvPr>
        </p:nvGraphicFramePr>
        <p:xfrm>
          <a:off x="7920494" y="7034670"/>
          <a:ext cx="3600000" cy="72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20000">
                  <a:extLst>
                    <a:ext uri="{9D8B030D-6E8A-4147-A177-3AD203B41FA5}">
                      <a16:colId xmlns:a16="http://schemas.microsoft.com/office/drawing/2014/main" val="2740099654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1056358261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44834787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709200728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084525418"/>
                    </a:ext>
                  </a:extLst>
                </a:gridCol>
              </a:tblGrid>
              <a:tr h="720000">
                <a:tc>
                  <a:txBody>
                    <a:bodyPr/>
                    <a:lstStyle/>
                    <a:p>
                      <a:pPr marL="0" marR="0" indent="0" algn="ctr" defTabSz="584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b="1" dirty="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1</a:t>
                      </a:r>
                    </a:p>
                  </a:txBody>
                  <a:tcPr anchor="ctr">
                    <a:lnL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b="1" dirty="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2</a:t>
                      </a:r>
                    </a:p>
                  </a:txBody>
                  <a:tcPr anchor="ctr">
                    <a:lnL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b="1" dirty="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3</a:t>
                      </a:r>
                    </a:p>
                  </a:txBody>
                  <a:tcPr anchor="ctr">
                    <a:lnL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b="1" dirty="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…</a:t>
                      </a:r>
                    </a:p>
                  </a:txBody>
                  <a:tcPr anchor="ctr">
                    <a:lnL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b="1" dirty="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n</a:t>
                      </a:r>
                    </a:p>
                  </a:txBody>
                  <a:tcPr anchor="ctr">
                    <a:lnL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99067356"/>
                  </a:ext>
                </a:extLst>
              </a:tr>
            </a:tbl>
          </a:graphicData>
        </a:graphic>
      </p:graphicFrame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36B2CBCF-3F30-36F4-6E28-7C1C3461516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54903405"/>
              </p:ext>
            </p:extLst>
          </p:nvPr>
        </p:nvGraphicFramePr>
        <p:xfrm>
          <a:off x="12804931" y="7034670"/>
          <a:ext cx="3600000" cy="72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20000">
                  <a:extLst>
                    <a:ext uri="{9D8B030D-6E8A-4147-A177-3AD203B41FA5}">
                      <a16:colId xmlns:a16="http://schemas.microsoft.com/office/drawing/2014/main" val="2740099654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1056358261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44834787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709200728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084525418"/>
                    </a:ext>
                  </a:extLst>
                </a:gridCol>
              </a:tblGrid>
              <a:tr h="720000">
                <a:tc>
                  <a:txBody>
                    <a:bodyPr/>
                    <a:lstStyle/>
                    <a:p>
                      <a:pPr marL="0" marR="0" indent="0" algn="ctr" defTabSz="584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b="1" dirty="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1</a:t>
                      </a:r>
                    </a:p>
                  </a:txBody>
                  <a:tcPr anchor="ctr">
                    <a:lnL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b="1" dirty="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2</a:t>
                      </a:r>
                    </a:p>
                  </a:txBody>
                  <a:tcPr anchor="ctr">
                    <a:lnL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b="1" dirty="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3</a:t>
                      </a:r>
                    </a:p>
                  </a:txBody>
                  <a:tcPr anchor="ctr">
                    <a:lnL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b="1" dirty="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…</a:t>
                      </a:r>
                    </a:p>
                  </a:txBody>
                  <a:tcPr anchor="ctr">
                    <a:lnL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b="1" dirty="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n</a:t>
                      </a:r>
                    </a:p>
                  </a:txBody>
                  <a:tcPr anchor="ctr">
                    <a:lnL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99067356"/>
                  </a:ext>
                </a:extLst>
              </a:tr>
            </a:tbl>
          </a:graphicData>
        </a:graphic>
      </p:graphicFrame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9D8CBB60-04DD-5C40-78BC-F6BD16C9EED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52692115"/>
              </p:ext>
            </p:extLst>
          </p:nvPr>
        </p:nvGraphicFramePr>
        <p:xfrm>
          <a:off x="12804931" y="8255488"/>
          <a:ext cx="3600000" cy="72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20000">
                  <a:extLst>
                    <a:ext uri="{9D8B030D-6E8A-4147-A177-3AD203B41FA5}">
                      <a16:colId xmlns:a16="http://schemas.microsoft.com/office/drawing/2014/main" val="2740099654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1056358261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44834787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709200728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084525418"/>
                    </a:ext>
                  </a:extLst>
                </a:gridCol>
              </a:tblGrid>
              <a:tr h="720000">
                <a:tc>
                  <a:txBody>
                    <a:bodyPr/>
                    <a:lstStyle/>
                    <a:p>
                      <a:pPr marL="0" marR="0" indent="0" algn="ctr" defTabSz="584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b="1" dirty="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1</a:t>
                      </a:r>
                    </a:p>
                  </a:txBody>
                  <a:tcPr anchor="ctr">
                    <a:lnL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b="1" dirty="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2</a:t>
                      </a:r>
                    </a:p>
                  </a:txBody>
                  <a:tcPr anchor="ctr">
                    <a:lnL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b="1" dirty="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3</a:t>
                      </a:r>
                    </a:p>
                  </a:txBody>
                  <a:tcPr anchor="ctr">
                    <a:lnL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b="1" dirty="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…</a:t>
                      </a:r>
                    </a:p>
                  </a:txBody>
                  <a:tcPr anchor="ctr">
                    <a:lnL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b="1" dirty="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n</a:t>
                      </a:r>
                    </a:p>
                  </a:txBody>
                  <a:tcPr anchor="ctr">
                    <a:lnL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99067356"/>
                  </a:ext>
                </a:extLst>
              </a:tr>
            </a:tbl>
          </a:graphicData>
        </a:graphic>
      </p:graphicFrame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9519A792-03B8-0564-B33F-D1512B95B11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63520294"/>
              </p:ext>
            </p:extLst>
          </p:nvPr>
        </p:nvGraphicFramePr>
        <p:xfrm>
          <a:off x="17689368" y="5823720"/>
          <a:ext cx="3600000" cy="72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20000">
                  <a:extLst>
                    <a:ext uri="{9D8B030D-6E8A-4147-A177-3AD203B41FA5}">
                      <a16:colId xmlns:a16="http://schemas.microsoft.com/office/drawing/2014/main" val="2740099654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1056358261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44834787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709200728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084525418"/>
                    </a:ext>
                  </a:extLst>
                </a:gridCol>
              </a:tblGrid>
              <a:tr h="720000">
                <a:tc>
                  <a:txBody>
                    <a:bodyPr/>
                    <a:lstStyle/>
                    <a:p>
                      <a:pPr marL="0" marR="0" indent="0" algn="ctr" defTabSz="584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b="1" dirty="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1</a:t>
                      </a:r>
                    </a:p>
                  </a:txBody>
                  <a:tcPr anchor="ctr">
                    <a:lnL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b="1" dirty="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2</a:t>
                      </a:r>
                    </a:p>
                  </a:txBody>
                  <a:tcPr anchor="ctr">
                    <a:lnL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b="1" dirty="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3</a:t>
                      </a:r>
                    </a:p>
                  </a:txBody>
                  <a:tcPr anchor="ctr">
                    <a:lnL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b="1" dirty="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…</a:t>
                      </a:r>
                    </a:p>
                  </a:txBody>
                  <a:tcPr anchor="ctr">
                    <a:lnL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b="1" dirty="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n</a:t>
                      </a:r>
                    </a:p>
                  </a:txBody>
                  <a:tcPr anchor="ctr">
                    <a:lnL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99067356"/>
                  </a:ext>
                </a:extLst>
              </a:tr>
            </a:tbl>
          </a:graphicData>
        </a:graphic>
      </p:graphicFrame>
      <p:graphicFrame>
        <p:nvGraphicFramePr>
          <p:cNvPr id="14" name="Table 13">
            <a:extLst>
              <a:ext uri="{FF2B5EF4-FFF2-40B4-BE49-F238E27FC236}">
                <a16:creationId xmlns:a16="http://schemas.microsoft.com/office/drawing/2014/main" id="{AF5F8691-D311-89C2-7BB6-5584531AB0B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08827317"/>
              </p:ext>
            </p:extLst>
          </p:nvPr>
        </p:nvGraphicFramePr>
        <p:xfrm>
          <a:off x="17689368" y="8255488"/>
          <a:ext cx="3600000" cy="72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20000">
                  <a:extLst>
                    <a:ext uri="{9D8B030D-6E8A-4147-A177-3AD203B41FA5}">
                      <a16:colId xmlns:a16="http://schemas.microsoft.com/office/drawing/2014/main" val="2740099654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1056358261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44834787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709200728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084525418"/>
                    </a:ext>
                  </a:extLst>
                </a:gridCol>
              </a:tblGrid>
              <a:tr h="720000">
                <a:tc>
                  <a:txBody>
                    <a:bodyPr/>
                    <a:lstStyle/>
                    <a:p>
                      <a:pPr marL="0" marR="0" indent="0" algn="ctr" defTabSz="584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b="1" dirty="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1</a:t>
                      </a:r>
                    </a:p>
                  </a:txBody>
                  <a:tcPr anchor="ctr">
                    <a:lnL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b="1" dirty="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2</a:t>
                      </a:r>
                    </a:p>
                  </a:txBody>
                  <a:tcPr anchor="ctr">
                    <a:lnL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b="1" dirty="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3</a:t>
                      </a:r>
                    </a:p>
                  </a:txBody>
                  <a:tcPr anchor="ctr">
                    <a:lnL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b="1" dirty="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…</a:t>
                      </a:r>
                    </a:p>
                  </a:txBody>
                  <a:tcPr anchor="ctr">
                    <a:lnL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b="1" dirty="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n</a:t>
                      </a:r>
                    </a:p>
                  </a:txBody>
                  <a:tcPr anchor="ctr">
                    <a:lnL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99067356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9908288C-1691-92C5-874B-D83A37D5F867}"/>
                  </a:ext>
                </a:extLst>
              </p:cNvPr>
              <p:cNvSpPr txBox="1"/>
              <p:nvPr/>
            </p:nvSpPr>
            <p:spPr>
              <a:xfrm>
                <a:off x="4694606" y="5257980"/>
                <a:ext cx="1002902" cy="471924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none" lIns="50800" tIns="50800" rIns="50800" bIns="50800" numCol="1" spcCol="38100" rtlCol="0" anchor="ctr">
                <a:spAutoFit/>
              </a:bodyPr>
              <a:lstStyle/>
              <a:p>
                <a:pPr marL="0" marR="0" indent="0" algn="ctr" defTabSz="2438338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dirty="0" smtClean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𝒊</m:t>
                      </m:r>
                      <m:r>
                        <a:rPr kumimoji="0" lang="en-US" sz="2400" b="1" i="1" u="none" strike="noStrike" cap="none" spc="0" normalizeH="0" baseline="0" dirty="0" smtClean="0">
                          <a:ln>
                            <a:noFill/>
                          </a:ln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uFillTx/>
                          <a:latin typeface="Cambria Math" panose="02040503050406030204" pitchFamily="18" charset="0"/>
                          <a:sym typeface="Helvetica Neue"/>
                        </a:rPr>
                        <m:t> = </m:t>
                      </m:r>
                      <m:r>
                        <a:rPr kumimoji="0" lang="en-US" sz="2400" b="1" i="1" u="none" strike="noStrike" cap="none" spc="0" normalizeH="0" baseline="0" dirty="0" smtClean="0">
                          <a:ln>
                            <a:noFill/>
                          </a:ln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uFillTx/>
                          <a:latin typeface="Cambria Math" panose="02040503050406030204" pitchFamily="18" charset="0"/>
                          <a:sym typeface="Helvetica Neue"/>
                        </a:rPr>
                        <m:t>𝟏</m:t>
                      </m:r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9908288C-1691-92C5-874B-D83A37D5F86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94606" y="5257980"/>
                <a:ext cx="1002902" cy="471924"/>
              </a:xfrm>
              <a:prstGeom prst="rect">
                <a:avLst/>
              </a:prstGeom>
              <a:blipFill>
                <a:blip r:embed="rId4"/>
                <a:stretch>
                  <a:fillRect l="-5000" t="-10526" r="-12500" b="-23684"/>
                </a:stretch>
              </a:blipFill>
              <a:ln w="12700" cap="flat">
                <a:noFill/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22FAABFE-BFE4-D01C-4D0B-6F10F8689294}"/>
                  </a:ext>
                </a:extLst>
              </p:cNvPr>
              <p:cNvSpPr txBox="1"/>
              <p:nvPr/>
            </p:nvSpPr>
            <p:spPr>
              <a:xfrm>
                <a:off x="19460819" y="5257980"/>
                <a:ext cx="950004" cy="471924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none" lIns="50800" tIns="50800" rIns="50800" bIns="50800" numCol="1" spcCol="38100" rtlCol="0" anchor="ctr">
                <a:spAutoFit/>
              </a:bodyPr>
              <a:lstStyle/>
              <a:p>
                <a:pPr marL="0" marR="0" indent="0" algn="ctr" defTabSz="2438338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dirty="0" smtClean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𝒊</m:t>
                      </m:r>
                      <m:r>
                        <a:rPr kumimoji="0" lang="en-US" sz="2400" b="1" i="1" u="none" strike="noStrike" cap="none" spc="0" normalizeH="0" baseline="0" dirty="0" smtClean="0">
                          <a:ln>
                            <a:noFill/>
                          </a:ln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uFillTx/>
                          <a:latin typeface="Cambria Math" panose="02040503050406030204" pitchFamily="18" charset="0"/>
                          <a:sym typeface="Helvetica Neue"/>
                        </a:rPr>
                        <m:t> =</m:t>
                      </m:r>
                      <m:r>
                        <a:rPr kumimoji="0" lang="en-US" sz="2400" b="1" i="1" u="none" strike="noStrike" cap="none" spc="0" normalizeH="0" baseline="0" dirty="0" smtClean="0">
                          <a:ln>
                            <a:noFill/>
                          </a:ln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uFillTx/>
                          <a:latin typeface="Cambria Math" panose="02040503050406030204" pitchFamily="18" charset="0"/>
                          <a:sym typeface="Helvetica Neue"/>
                        </a:rPr>
                        <m:t>𝒏</m:t>
                      </m:r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22FAABFE-BFE4-D01C-4D0B-6F10F868929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460819" y="5257980"/>
                <a:ext cx="950004" cy="471924"/>
              </a:xfrm>
              <a:prstGeom prst="rect">
                <a:avLst/>
              </a:prstGeom>
              <a:blipFill>
                <a:blip r:embed="rId5"/>
                <a:stretch>
                  <a:fillRect l="-5263" t="-10526" r="-13158" b="-23684"/>
                </a:stretch>
              </a:blipFill>
              <a:ln w="12700" cap="flat">
                <a:noFill/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D8C9CD53-C380-51C3-48D7-95403A6A3D2E}"/>
                  </a:ext>
                </a:extLst>
              </p:cNvPr>
              <p:cNvSpPr txBox="1"/>
              <p:nvPr/>
            </p:nvSpPr>
            <p:spPr>
              <a:xfrm>
                <a:off x="14497143" y="5257980"/>
                <a:ext cx="935576" cy="471924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none" lIns="50800" tIns="50800" rIns="50800" bIns="50800" numCol="1" spcCol="38100" rtlCol="0" anchor="ctr">
                <a:spAutoFit/>
              </a:bodyPr>
              <a:lstStyle/>
              <a:p>
                <a:pPr marL="0" marR="0" indent="0" algn="ctr" defTabSz="2438338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dirty="0" smtClean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𝒊</m:t>
                      </m:r>
                      <m:r>
                        <a:rPr kumimoji="0" lang="en-US" sz="2400" b="1" i="1" u="none" strike="noStrike" cap="none" spc="0" normalizeH="0" baseline="0" dirty="0" smtClean="0">
                          <a:ln>
                            <a:noFill/>
                          </a:ln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uFillTx/>
                          <a:latin typeface="Cambria Math" panose="02040503050406030204" pitchFamily="18" charset="0"/>
                          <a:sym typeface="Helvetica Neue"/>
                        </a:rPr>
                        <m:t> =</m:t>
                      </m:r>
                      <m:r>
                        <a:rPr kumimoji="0" lang="en-US" sz="2400" b="1" i="1" u="none" strike="noStrike" cap="none" spc="0" normalizeH="0" baseline="0" dirty="0" smtClean="0">
                          <a:ln>
                            <a:noFill/>
                          </a:ln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uFillTx/>
                          <a:latin typeface="Cambria Math" panose="02040503050406030204" pitchFamily="18" charset="0"/>
                          <a:sym typeface="Helvetica Neue"/>
                        </a:rPr>
                        <m:t>𝟑</m:t>
                      </m:r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D8C9CD53-C380-51C3-48D7-95403A6A3D2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497143" y="5257980"/>
                <a:ext cx="935576" cy="471924"/>
              </a:xfrm>
              <a:prstGeom prst="rect">
                <a:avLst/>
              </a:prstGeom>
              <a:blipFill>
                <a:blip r:embed="rId6"/>
                <a:stretch>
                  <a:fillRect l="-5333" t="-10526" r="-13333" b="-23684"/>
                </a:stretch>
              </a:blipFill>
              <a:ln w="12700" cap="flat">
                <a:noFill/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97F06121-0F6B-BEFD-1FE3-1EAFCDB4E09B}"/>
                  </a:ext>
                </a:extLst>
              </p:cNvPr>
              <p:cNvSpPr txBox="1"/>
              <p:nvPr/>
            </p:nvSpPr>
            <p:spPr>
              <a:xfrm>
                <a:off x="9612706" y="5257980"/>
                <a:ext cx="935576" cy="471924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none" lIns="50800" tIns="50800" rIns="50800" bIns="50800" numCol="1" spcCol="38100" rtlCol="0" anchor="ctr">
                <a:spAutoFit/>
              </a:bodyPr>
              <a:lstStyle/>
              <a:p>
                <a:pPr marL="0" marR="0" indent="0" algn="ctr" defTabSz="2438338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dirty="0" smtClean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𝒊</m:t>
                      </m:r>
                      <m:r>
                        <a:rPr kumimoji="0" lang="en-US" sz="2400" b="1" i="1" u="none" strike="noStrike" cap="none" spc="0" normalizeH="0" baseline="0" dirty="0" smtClean="0">
                          <a:ln>
                            <a:noFill/>
                          </a:ln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uFillTx/>
                          <a:latin typeface="Cambria Math" panose="02040503050406030204" pitchFamily="18" charset="0"/>
                          <a:sym typeface="Helvetica Neue"/>
                        </a:rPr>
                        <m:t> =</m:t>
                      </m:r>
                      <m:r>
                        <a:rPr kumimoji="0" lang="en-US" sz="2400" b="1" i="1" u="none" strike="noStrike" cap="none" spc="0" normalizeH="0" baseline="0" dirty="0" smtClean="0">
                          <a:ln>
                            <a:noFill/>
                          </a:ln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uFillTx/>
                          <a:latin typeface="Cambria Math" panose="02040503050406030204" pitchFamily="18" charset="0"/>
                          <a:sym typeface="Helvetica Neue"/>
                        </a:rPr>
                        <m:t>𝟐</m:t>
                      </m:r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97F06121-0F6B-BEFD-1FE3-1EAFCDB4E09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12706" y="5257980"/>
                <a:ext cx="935576" cy="471924"/>
              </a:xfrm>
              <a:prstGeom prst="rect">
                <a:avLst/>
              </a:prstGeom>
              <a:blipFill>
                <a:blip r:embed="rId7"/>
                <a:stretch>
                  <a:fillRect l="-4000" t="-10526" r="-13333" b="-23684"/>
                </a:stretch>
              </a:blipFill>
              <a:ln w="12700" cap="flat">
                <a:noFill/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1" name="TextBox 20">
            <a:extLst>
              <a:ext uri="{FF2B5EF4-FFF2-40B4-BE49-F238E27FC236}">
                <a16:creationId xmlns:a16="http://schemas.microsoft.com/office/drawing/2014/main" id="{1028508A-7409-3CED-7B53-9A6EA04D1AB1}"/>
              </a:ext>
            </a:extLst>
          </p:cNvPr>
          <p:cNvSpPr txBox="1"/>
          <p:nvPr/>
        </p:nvSpPr>
        <p:spPr>
          <a:xfrm>
            <a:off x="19472553" y="7127093"/>
            <a:ext cx="779701" cy="54502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vert" wrap="none" lIns="50800" tIns="50800" rIns="50800" bIns="50800" numCol="1" spcCol="38100" rtlCol="0" anchor="ctr">
            <a:spAutoFit/>
          </a:bodyPr>
          <a:lstStyle/>
          <a:p>
            <a:pPr marL="0" marR="0" indent="0" algn="ctr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4400" dirty="0"/>
              <a:t>…</a:t>
            </a:r>
            <a:endParaRPr kumimoji="0" lang="en-US" sz="4400" b="0" i="0" u="none" strike="noStrike" cap="none" spc="0" normalizeH="0" baseline="0" dirty="0">
              <a:ln>
                <a:noFill/>
              </a:ln>
              <a:solidFill>
                <a:srgbClr val="5E5E5E"/>
              </a:solidFill>
              <a:effectLst/>
              <a:uFillTx/>
              <a:latin typeface="+mn-lt"/>
              <a:ea typeface="+mn-ea"/>
              <a:cs typeface="+mn-cs"/>
              <a:sym typeface="Helvetica Neue"/>
            </a:endParaRPr>
          </a:p>
        </p:txBody>
      </p:sp>
    </p:spTree>
    <p:extLst>
      <p:ext uri="{BB962C8B-B14F-4D97-AF65-F5344CB8AC3E}">
        <p14:creationId xmlns:p14="http://schemas.microsoft.com/office/powerpoint/2010/main" val="1804518839"/>
      </p:ext>
    </p:extLst>
  </p:cSld>
  <p:clrMapOvr>
    <a:masterClrMapping/>
  </p:clrMapOvr>
  <p:transition spd="med"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BE5ABD-8F04-1D39-4F05-DC0378643D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184663-D94E-F51B-E7BF-DB12B2C2FB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D" dirty="0"/>
              <a:t>Maximum Subarray Sum: </a:t>
            </a:r>
            <a:r>
              <a:rPr lang="en-ID" dirty="0" err="1"/>
              <a:t>Kadane's</a:t>
            </a:r>
            <a:r>
              <a:rPr lang="en-ID" dirty="0"/>
              <a:t> Algorithm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1E336E7-E432-F1A8-3645-9115F8BC232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r>
              <a:rPr lang="en-ID" dirty="0"/>
              <a:t>Naïve approach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703DC8C-4F16-E7CB-B53E-756676C5F1EC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2167377" y="3714224"/>
            <a:ext cx="19032265" cy="9138176"/>
          </a:xfrm>
        </p:spPr>
        <p:txBody>
          <a:bodyPr>
            <a:normAutofit/>
          </a:bodyPr>
          <a:lstStyle/>
          <a:p>
            <a:pPr marL="101600" indent="0" algn="just">
              <a:buNone/>
            </a:pPr>
            <a:endParaRPr lang="en-US" i="1" dirty="0">
              <a:solidFill>
                <a:srgbClr val="000000"/>
              </a:solidFill>
            </a:endParaRPr>
          </a:p>
          <a:p>
            <a:pPr marL="673100" indent="-571500" algn="just"/>
            <a:endParaRPr lang="en-US" i="1" dirty="0">
              <a:solidFill>
                <a:srgbClr val="000000"/>
              </a:solidFill>
            </a:endParaRPr>
          </a:p>
          <a:p>
            <a:pPr marL="673100" indent="-571500" algn="just"/>
            <a:endParaRPr lang="en-US" i="1" dirty="0">
              <a:solidFill>
                <a:srgbClr val="000000"/>
              </a:solidFill>
            </a:endParaRPr>
          </a:p>
          <a:p>
            <a:pPr marL="101600" indent="0" algn="just">
              <a:buNone/>
            </a:pPr>
            <a:endParaRPr lang="en-US" i="1" dirty="0">
              <a:solidFill>
                <a:srgbClr val="000000"/>
              </a:solidFill>
            </a:endParaRPr>
          </a:p>
          <a:p>
            <a:pPr marL="101600" indent="0" algn="just">
              <a:buNone/>
            </a:pPr>
            <a:endParaRPr lang="en-US" i="1" dirty="0">
              <a:solidFill>
                <a:srgbClr val="000000"/>
              </a:solidFill>
            </a:endParaRPr>
          </a:p>
          <a:p>
            <a:pPr marL="101600" indent="0" algn="just">
              <a:buNone/>
            </a:pPr>
            <a:endParaRPr lang="en-US" i="1" dirty="0">
              <a:solidFill>
                <a:srgbClr val="000000"/>
              </a:solidFill>
            </a:endParaRPr>
          </a:p>
          <a:p>
            <a:pPr marL="673100" indent="-571500" algn="just"/>
            <a:endParaRPr lang="en-ID" dirty="0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80F57D90-F13A-ACEB-1F34-2EB93C7D3B15}"/>
              </a:ext>
            </a:extLst>
          </p:cNvPr>
          <p:cNvSpPr/>
          <p:nvPr/>
        </p:nvSpPr>
        <p:spPr>
          <a:xfrm>
            <a:off x="2167377" y="3714225"/>
            <a:ext cx="20049246" cy="856364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9525">
            <a:solidFill>
              <a:srgbClr val="AAAAAA"/>
            </a:solidFill>
            <a:prstDash val="solid"/>
          </a:ln>
        </p:spPr>
        <p:txBody>
          <a:bodyPr/>
          <a:lstStyle/>
          <a:p>
            <a:endParaRPr lang="en-US" sz="720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157B027B-8530-9207-93E6-47EC5AC4A9FC}"/>
              </a:ext>
            </a:extLst>
          </p:cNvPr>
          <p:cNvSpPr/>
          <p:nvPr/>
        </p:nvSpPr>
        <p:spPr>
          <a:xfrm>
            <a:off x="2867389" y="4288757"/>
            <a:ext cx="19349234" cy="79891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/>
            <a:r>
              <a:rPr lang="en-US" sz="40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BRUTE-FORCE-SUM(A)</a:t>
            </a:r>
          </a:p>
          <a:p>
            <a:pPr algn="l"/>
            <a:r>
              <a:rPr lang="en-US" sz="40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  n = </a:t>
            </a:r>
            <a:r>
              <a:rPr lang="en-US" sz="4000" dirty="0" err="1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A.length</a:t>
            </a:r>
            <a:endParaRPr lang="en-US" sz="4000" dirty="0">
              <a:solidFill>
                <a:srgbClr val="000000"/>
              </a:solidFill>
              <a:latin typeface="Consolas" pitchFamily="34" charset="0"/>
              <a:ea typeface="Consolas" pitchFamily="34" charset="-122"/>
              <a:cs typeface="Consolas" pitchFamily="34" charset="-120"/>
            </a:endParaRPr>
          </a:p>
          <a:p>
            <a:pPr algn="l"/>
            <a:r>
              <a:rPr lang="en-US" sz="40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  if n == 0</a:t>
            </a:r>
          </a:p>
          <a:p>
            <a:pPr algn="l"/>
            <a:r>
              <a:rPr lang="en-US" sz="40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      return 0</a:t>
            </a:r>
          </a:p>
          <a:p>
            <a:pPr algn="l"/>
            <a:r>
              <a:rPr lang="en-US" sz="40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  </a:t>
            </a:r>
            <a:r>
              <a:rPr lang="en-US" sz="4000" dirty="0" err="1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global_max</a:t>
            </a:r>
            <a:r>
              <a:rPr lang="en-US" sz="40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-∞</a:t>
            </a:r>
          </a:p>
          <a:p>
            <a:pPr algn="l"/>
            <a:r>
              <a:rPr lang="en-US" sz="40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  for end = 1 to n </a:t>
            </a:r>
            <a:r>
              <a:rPr lang="en-US" sz="4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//for every end index</a:t>
            </a:r>
          </a:p>
          <a:p>
            <a:pPr algn="l"/>
            <a:r>
              <a:rPr lang="en-US" sz="40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      for start = 1 to end </a:t>
            </a:r>
            <a:r>
              <a:rPr lang="en-US" sz="4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//search for every possible start index</a:t>
            </a:r>
          </a:p>
          <a:p>
            <a:pPr algn="l"/>
            <a:r>
              <a:rPr lang="en-US" sz="40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          </a:t>
            </a:r>
            <a:r>
              <a:rPr lang="en-US" sz="4000" dirty="0" err="1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current_subarray_sum</a:t>
            </a:r>
            <a:r>
              <a:rPr lang="en-US" sz="40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0</a:t>
            </a:r>
          </a:p>
          <a:p>
            <a:pPr algn="l"/>
            <a:r>
              <a:rPr lang="en-US" sz="40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          for </a:t>
            </a:r>
            <a:r>
              <a:rPr lang="en-US" sz="4000" dirty="0" err="1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</a:t>
            </a:r>
            <a:r>
              <a:rPr lang="en-US" sz="40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start to end </a:t>
            </a:r>
            <a:r>
              <a:rPr lang="en-US" sz="4000" dirty="0">
                <a:solidFill>
                  <a:schemeClr val="accent1">
                    <a:lumMod val="40000"/>
                    <a:lumOff val="60000"/>
                  </a:scheme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//calculate the sum of the subarray</a:t>
            </a:r>
          </a:p>
          <a:p>
            <a:pPr algn="l"/>
            <a:r>
              <a:rPr lang="en-US" sz="40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              </a:t>
            </a:r>
            <a:r>
              <a:rPr lang="en-US" sz="4000" dirty="0" err="1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current_subarray_sum</a:t>
            </a:r>
            <a:r>
              <a:rPr lang="en-US" sz="40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</a:t>
            </a:r>
            <a:r>
              <a:rPr lang="en-US" sz="4000" dirty="0" err="1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current_subarray_sum</a:t>
            </a:r>
            <a:r>
              <a:rPr lang="en-US" sz="40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+ A[</a:t>
            </a:r>
            <a:r>
              <a:rPr lang="en-US" sz="4000" dirty="0" err="1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</a:t>
            </a:r>
            <a:r>
              <a:rPr lang="en-US" sz="40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</a:t>
            </a:r>
          </a:p>
          <a:p>
            <a:pPr algn="l"/>
            <a:r>
              <a:rPr lang="en-US" sz="40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         </a:t>
            </a:r>
            <a:r>
              <a:rPr lang="en-US" sz="4000" dirty="0" err="1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global_max</a:t>
            </a:r>
            <a:r>
              <a:rPr lang="en-US" sz="40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max(</a:t>
            </a:r>
            <a:r>
              <a:rPr lang="en-US" sz="4000" dirty="0" err="1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global_max</a:t>
            </a:r>
            <a:r>
              <a:rPr lang="en-US" sz="40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r>
              <a:rPr lang="en-US" sz="4000" dirty="0" err="1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current_subarray_sum</a:t>
            </a:r>
            <a:r>
              <a:rPr lang="en-US" sz="40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</a:p>
          <a:p>
            <a:pPr algn="l"/>
            <a:r>
              <a:rPr lang="en-US" sz="40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 return </a:t>
            </a:r>
            <a:r>
              <a:rPr lang="en-US" sz="4000" dirty="0" err="1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global_max</a:t>
            </a:r>
            <a:endParaRPr lang="en-US" sz="4000" dirty="0">
              <a:solidFill>
                <a:srgbClr val="000000"/>
              </a:solidFill>
              <a:latin typeface="Consolas" pitchFamily="34" charset="0"/>
              <a:ea typeface="Consolas" pitchFamily="34" charset="-122"/>
              <a:cs typeface="Consolas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51304956"/>
      </p:ext>
    </p:extLst>
  </p:cSld>
  <p:clrMapOvr>
    <a:masterClrMapping/>
  </p:clrMapOvr>
  <p:transition spd="med"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0E30A2-9E66-D470-2226-29D9AA9211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5F3C9A-7103-6C00-D3DA-88F321F400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D" dirty="0"/>
              <a:t>Maximum Subarray Sum: </a:t>
            </a:r>
            <a:r>
              <a:rPr lang="en-ID" dirty="0" err="1"/>
              <a:t>Kadane's</a:t>
            </a:r>
            <a:r>
              <a:rPr lang="en-ID" dirty="0"/>
              <a:t> Algorithm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2428B89-82D8-6D92-010C-EAF8566C4C8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167377" y="2419728"/>
            <a:ext cx="11640063" cy="803546"/>
          </a:xfrm>
        </p:spPr>
        <p:txBody>
          <a:bodyPr>
            <a:normAutofit/>
          </a:bodyPr>
          <a:lstStyle/>
          <a:p>
            <a:r>
              <a:rPr lang="en-ID" dirty="0"/>
              <a:t>Naïve Approach: Overlapping Subproblems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1531C01-A9BF-0367-82F1-290E6969159C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2167377" y="3714224"/>
            <a:ext cx="19032265" cy="9498856"/>
          </a:xfrm>
        </p:spPr>
        <p:txBody>
          <a:bodyPr>
            <a:normAutofit/>
          </a:bodyPr>
          <a:lstStyle/>
          <a:p>
            <a:r>
              <a:rPr lang="en-ID" dirty="0"/>
              <a:t>Overlapping subproblems happens everywhere here, for example:</a:t>
            </a:r>
          </a:p>
          <a:p>
            <a:endParaRPr lang="en-ID" dirty="0"/>
          </a:p>
          <a:p>
            <a:endParaRPr lang="en-ID" dirty="0"/>
          </a:p>
          <a:p>
            <a:endParaRPr lang="en-ID" dirty="0"/>
          </a:p>
          <a:p>
            <a:pPr marL="0" indent="0">
              <a:buNone/>
            </a:pPr>
            <a:endParaRPr lang="en-ID" dirty="0"/>
          </a:p>
          <a:p>
            <a:pPr marL="0" indent="0">
              <a:buNone/>
            </a:pPr>
            <a:endParaRPr lang="en-ID" dirty="0"/>
          </a:p>
          <a:p>
            <a:r>
              <a:rPr lang="en-US" dirty="0"/>
              <a:t>On a closer look, we actually only care about the previous maximum sum for the current ending index</a:t>
            </a:r>
          </a:p>
          <a:p>
            <a:r>
              <a:rPr lang="en-US" b="1" dirty="0"/>
              <a:t>So, what if we save the maximum sum for every ending index?</a:t>
            </a:r>
            <a:endParaRPr lang="en-ID" b="1" dirty="0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9EF11D15-98B3-8D5C-F0BD-ED9E585E939E}"/>
              </a:ext>
            </a:extLst>
          </p:cNvPr>
          <p:cNvGraphicFramePr>
            <a:graphicFrameLocks noGrp="1"/>
          </p:cNvGraphicFramePr>
          <p:nvPr/>
        </p:nvGraphicFramePr>
        <p:xfrm>
          <a:off x="3036057" y="5823720"/>
          <a:ext cx="3600000" cy="72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20000">
                  <a:extLst>
                    <a:ext uri="{9D8B030D-6E8A-4147-A177-3AD203B41FA5}">
                      <a16:colId xmlns:a16="http://schemas.microsoft.com/office/drawing/2014/main" val="2740099654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1056358261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44834787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709200728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084525418"/>
                    </a:ext>
                  </a:extLst>
                </a:gridCol>
              </a:tblGrid>
              <a:tr h="720000">
                <a:tc>
                  <a:txBody>
                    <a:bodyPr/>
                    <a:lstStyle/>
                    <a:p>
                      <a:pPr marL="0" marR="0" indent="0" algn="ctr" defTabSz="584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b="1" dirty="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1</a:t>
                      </a:r>
                    </a:p>
                  </a:txBody>
                  <a:tcPr anchor="ctr">
                    <a:lnL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b="1" dirty="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2</a:t>
                      </a:r>
                    </a:p>
                  </a:txBody>
                  <a:tcPr anchor="ctr">
                    <a:lnL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b="1" dirty="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3</a:t>
                      </a:r>
                    </a:p>
                  </a:txBody>
                  <a:tcPr anchor="ctr">
                    <a:lnL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b="1" dirty="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…</a:t>
                      </a:r>
                    </a:p>
                  </a:txBody>
                  <a:tcPr anchor="ctr">
                    <a:lnL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b="1" dirty="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n</a:t>
                      </a:r>
                    </a:p>
                  </a:txBody>
                  <a:tcPr anchor="ctr">
                    <a:lnL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99067356"/>
                  </a:ext>
                </a:extLst>
              </a:tr>
            </a:tbl>
          </a:graphicData>
        </a:graphic>
      </p:graphicFrame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A8D43F62-49BB-BD39-649E-BB004AD6FBA3}"/>
              </a:ext>
            </a:extLst>
          </p:cNvPr>
          <p:cNvGraphicFramePr>
            <a:graphicFrameLocks noGrp="1"/>
          </p:cNvGraphicFramePr>
          <p:nvPr/>
        </p:nvGraphicFramePr>
        <p:xfrm>
          <a:off x="7920494" y="5823720"/>
          <a:ext cx="3600000" cy="72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20000">
                  <a:extLst>
                    <a:ext uri="{9D8B030D-6E8A-4147-A177-3AD203B41FA5}">
                      <a16:colId xmlns:a16="http://schemas.microsoft.com/office/drawing/2014/main" val="2740099654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1056358261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44834787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709200728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084525418"/>
                    </a:ext>
                  </a:extLst>
                </a:gridCol>
              </a:tblGrid>
              <a:tr h="720000">
                <a:tc>
                  <a:txBody>
                    <a:bodyPr/>
                    <a:lstStyle/>
                    <a:p>
                      <a:pPr marL="0" marR="0" indent="0" algn="ctr" defTabSz="584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b="1" dirty="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1</a:t>
                      </a:r>
                    </a:p>
                  </a:txBody>
                  <a:tcPr anchor="ctr">
                    <a:lnL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b="1" dirty="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2</a:t>
                      </a:r>
                    </a:p>
                  </a:txBody>
                  <a:tcPr anchor="ctr">
                    <a:lnL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b="1" dirty="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3</a:t>
                      </a:r>
                    </a:p>
                  </a:txBody>
                  <a:tcPr anchor="ctr">
                    <a:lnL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b="1" dirty="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…</a:t>
                      </a:r>
                    </a:p>
                  </a:txBody>
                  <a:tcPr anchor="ctr">
                    <a:lnL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b="1" dirty="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n</a:t>
                      </a:r>
                    </a:p>
                  </a:txBody>
                  <a:tcPr anchor="ctr">
                    <a:lnL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99067356"/>
                  </a:ext>
                </a:extLst>
              </a:tr>
            </a:tbl>
          </a:graphicData>
        </a:graphic>
      </p:graphicFrame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5EE70F7C-4663-7760-E217-376A2306CDCF}"/>
              </a:ext>
            </a:extLst>
          </p:cNvPr>
          <p:cNvGraphicFramePr>
            <a:graphicFrameLocks noGrp="1"/>
          </p:cNvGraphicFramePr>
          <p:nvPr/>
        </p:nvGraphicFramePr>
        <p:xfrm>
          <a:off x="12804931" y="5823720"/>
          <a:ext cx="3600000" cy="72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20000">
                  <a:extLst>
                    <a:ext uri="{9D8B030D-6E8A-4147-A177-3AD203B41FA5}">
                      <a16:colId xmlns:a16="http://schemas.microsoft.com/office/drawing/2014/main" val="2740099654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1056358261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44834787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709200728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084525418"/>
                    </a:ext>
                  </a:extLst>
                </a:gridCol>
              </a:tblGrid>
              <a:tr h="720000">
                <a:tc>
                  <a:txBody>
                    <a:bodyPr/>
                    <a:lstStyle/>
                    <a:p>
                      <a:pPr marL="0" marR="0" indent="0" algn="ctr" defTabSz="584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b="1" dirty="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1</a:t>
                      </a:r>
                    </a:p>
                  </a:txBody>
                  <a:tcPr anchor="ctr">
                    <a:lnL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b="1" dirty="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2</a:t>
                      </a:r>
                    </a:p>
                  </a:txBody>
                  <a:tcPr anchor="ctr">
                    <a:lnL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b="1" dirty="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3</a:t>
                      </a:r>
                    </a:p>
                  </a:txBody>
                  <a:tcPr anchor="ctr">
                    <a:lnL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b="1" dirty="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…</a:t>
                      </a:r>
                    </a:p>
                  </a:txBody>
                  <a:tcPr anchor="ctr">
                    <a:lnL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b="1" dirty="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n</a:t>
                      </a:r>
                    </a:p>
                  </a:txBody>
                  <a:tcPr anchor="ctr">
                    <a:lnL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99067356"/>
                  </a:ext>
                </a:extLst>
              </a:tr>
            </a:tbl>
          </a:graphicData>
        </a:graphic>
      </p:graphicFrame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94D66F0E-F1B6-66DF-6EEF-04A12CAEC5AC}"/>
              </a:ext>
            </a:extLst>
          </p:cNvPr>
          <p:cNvGraphicFramePr>
            <a:graphicFrameLocks noGrp="1"/>
          </p:cNvGraphicFramePr>
          <p:nvPr/>
        </p:nvGraphicFramePr>
        <p:xfrm>
          <a:off x="7920494" y="7034670"/>
          <a:ext cx="3600000" cy="72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20000">
                  <a:extLst>
                    <a:ext uri="{9D8B030D-6E8A-4147-A177-3AD203B41FA5}">
                      <a16:colId xmlns:a16="http://schemas.microsoft.com/office/drawing/2014/main" val="2740099654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1056358261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44834787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709200728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084525418"/>
                    </a:ext>
                  </a:extLst>
                </a:gridCol>
              </a:tblGrid>
              <a:tr h="720000">
                <a:tc>
                  <a:txBody>
                    <a:bodyPr/>
                    <a:lstStyle/>
                    <a:p>
                      <a:pPr marL="0" marR="0" indent="0" algn="ctr" defTabSz="584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b="1" dirty="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1</a:t>
                      </a:r>
                    </a:p>
                  </a:txBody>
                  <a:tcPr anchor="ctr">
                    <a:lnL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b="1" dirty="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2</a:t>
                      </a:r>
                    </a:p>
                  </a:txBody>
                  <a:tcPr anchor="ctr">
                    <a:lnL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b="1" dirty="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3</a:t>
                      </a:r>
                    </a:p>
                  </a:txBody>
                  <a:tcPr anchor="ctr">
                    <a:lnL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b="1" dirty="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…</a:t>
                      </a:r>
                    </a:p>
                  </a:txBody>
                  <a:tcPr anchor="ctr">
                    <a:lnL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b="1" dirty="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n</a:t>
                      </a:r>
                    </a:p>
                  </a:txBody>
                  <a:tcPr anchor="ctr">
                    <a:lnL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99067356"/>
                  </a:ext>
                </a:extLst>
              </a:tr>
            </a:tbl>
          </a:graphicData>
        </a:graphic>
      </p:graphicFrame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FAB75524-1416-4B82-3B9D-5A06B9F07EE9}"/>
              </a:ext>
            </a:extLst>
          </p:cNvPr>
          <p:cNvGraphicFramePr>
            <a:graphicFrameLocks noGrp="1"/>
          </p:cNvGraphicFramePr>
          <p:nvPr/>
        </p:nvGraphicFramePr>
        <p:xfrm>
          <a:off x="12804931" y="7034670"/>
          <a:ext cx="3600000" cy="72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20000">
                  <a:extLst>
                    <a:ext uri="{9D8B030D-6E8A-4147-A177-3AD203B41FA5}">
                      <a16:colId xmlns:a16="http://schemas.microsoft.com/office/drawing/2014/main" val="2740099654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1056358261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44834787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709200728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084525418"/>
                    </a:ext>
                  </a:extLst>
                </a:gridCol>
              </a:tblGrid>
              <a:tr h="720000">
                <a:tc>
                  <a:txBody>
                    <a:bodyPr/>
                    <a:lstStyle/>
                    <a:p>
                      <a:pPr marL="0" marR="0" indent="0" algn="ctr" defTabSz="584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b="1" dirty="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1</a:t>
                      </a:r>
                    </a:p>
                  </a:txBody>
                  <a:tcPr anchor="ctr">
                    <a:lnL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b="1" dirty="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2</a:t>
                      </a:r>
                    </a:p>
                  </a:txBody>
                  <a:tcPr anchor="ctr">
                    <a:lnL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b="1" dirty="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3</a:t>
                      </a:r>
                    </a:p>
                  </a:txBody>
                  <a:tcPr anchor="ctr">
                    <a:lnL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b="1" dirty="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…</a:t>
                      </a:r>
                    </a:p>
                  </a:txBody>
                  <a:tcPr anchor="ctr">
                    <a:lnL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b="1" dirty="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n</a:t>
                      </a:r>
                    </a:p>
                  </a:txBody>
                  <a:tcPr anchor="ctr">
                    <a:lnL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99067356"/>
                  </a:ext>
                </a:extLst>
              </a:tr>
            </a:tbl>
          </a:graphicData>
        </a:graphic>
      </p:graphicFrame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31439AF5-5CAF-7D8E-B9BB-D9AA2099F504}"/>
              </a:ext>
            </a:extLst>
          </p:cNvPr>
          <p:cNvGraphicFramePr>
            <a:graphicFrameLocks noGrp="1"/>
          </p:cNvGraphicFramePr>
          <p:nvPr/>
        </p:nvGraphicFramePr>
        <p:xfrm>
          <a:off x="12804931" y="8255488"/>
          <a:ext cx="3600000" cy="72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20000">
                  <a:extLst>
                    <a:ext uri="{9D8B030D-6E8A-4147-A177-3AD203B41FA5}">
                      <a16:colId xmlns:a16="http://schemas.microsoft.com/office/drawing/2014/main" val="2740099654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1056358261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44834787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709200728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084525418"/>
                    </a:ext>
                  </a:extLst>
                </a:gridCol>
              </a:tblGrid>
              <a:tr h="720000">
                <a:tc>
                  <a:txBody>
                    <a:bodyPr/>
                    <a:lstStyle/>
                    <a:p>
                      <a:pPr marL="0" marR="0" indent="0" algn="ctr" defTabSz="584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b="1" dirty="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1</a:t>
                      </a:r>
                    </a:p>
                  </a:txBody>
                  <a:tcPr anchor="ctr">
                    <a:lnL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b="1" dirty="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2</a:t>
                      </a:r>
                    </a:p>
                  </a:txBody>
                  <a:tcPr anchor="ctr">
                    <a:lnL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b="1" dirty="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3</a:t>
                      </a:r>
                    </a:p>
                  </a:txBody>
                  <a:tcPr anchor="ctr">
                    <a:lnL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b="1" dirty="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…</a:t>
                      </a:r>
                    </a:p>
                  </a:txBody>
                  <a:tcPr anchor="ctr">
                    <a:lnL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b="1" dirty="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n</a:t>
                      </a:r>
                    </a:p>
                  </a:txBody>
                  <a:tcPr anchor="ctr">
                    <a:lnL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99067356"/>
                  </a:ext>
                </a:extLst>
              </a:tr>
            </a:tbl>
          </a:graphicData>
        </a:graphic>
      </p:graphicFrame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0DDA2E02-C374-7D7A-849B-2BA3EC053AE8}"/>
              </a:ext>
            </a:extLst>
          </p:cNvPr>
          <p:cNvGraphicFramePr>
            <a:graphicFrameLocks noGrp="1"/>
          </p:cNvGraphicFramePr>
          <p:nvPr/>
        </p:nvGraphicFramePr>
        <p:xfrm>
          <a:off x="17689368" y="5823720"/>
          <a:ext cx="3600000" cy="72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20000">
                  <a:extLst>
                    <a:ext uri="{9D8B030D-6E8A-4147-A177-3AD203B41FA5}">
                      <a16:colId xmlns:a16="http://schemas.microsoft.com/office/drawing/2014/main" val="2740099654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1056358261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44834787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709200728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084525418"/>
                    </a:ext>
                  </a:extLst>
                </a:gridCol>
              </a:tblGrid>
              <a:tr h="720000">
                <a:tc>
                  <a:txBody>
                    <a:bodyPr/>
                    <a:lstStyle/>
                    <a:p>
                      <a:pPr marL="0" marR="0" indent="0" algn="ctr" defTabSz="584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b="1" dirty="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1</a:t>
                      </a:r>
                    </a:p>
                  </a:txBody>
                  <a:tcPr anchor="ctr">
                    <a:lnL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b="1" dirty="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2</a:t>
                      </a:r>
                    </a:p>
                  </a:txBody>
                  <a:tcPr anchor="ctr">
                    <a:lnL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b="1" dirty="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3</a:t>
                      </a:r>
                    </a:p>
                  </a:txBody>
                  <a:tcPr anchor="ctr">
                    <a:lnL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b="1" dirty="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…</a:t>
                      </a:r>
                    </a:p>
                  </a:txBody>
                  <a:tcPr anchor="ctr">
                    <a:lnL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b="1" dirty="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n</a:t>
                      </a:r>
                    </a:p>
                  </a:txBody>
                  <a:tcPr anchor="ctr">
                    <a:lnL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99067356"/>
                  </a:ext>
                </a:extLst>
              </a:tr>
            </a:tbl>
          </a:graphicData>
        </a:graphic>
      </p:graphicFrame>
      <p:graphicFrame>
        <p:nvGraphicFramePr>
          <p:cNvPr id="14" name="Table 13">
            <a:extLst>
              <a:ext uri="{FF2B5EF4-FFF2-40B4-BE49-F238E27FC236}">
                <a16:creationId xmlns:a16="http://schemas.microsoft.com/office/drawing/2014/main" id="{DDADCBB7-6773-C96B-EDCF-907DA66AA4B3}"/>
              </a:ext>
            </a:extLst>
          </p:cNvPr>
          <p:cNvGraphicFramePr>
            <a:graphicFrameLocks noGrp="1"/>
          </p:cNvGraphicFramePr>
          <p:nvPr/>
        </p:nvGraphicFramePr>
        <p:xfrm>
          <a:off x="17689368" y="8255488"/>
          <a:ext cx="3600000" cy="72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20000">
                  <a:extLst>
                    <a:ext uri="{9D8B030D-6E8A-4147-A177-3AD203B41FA5}">
                      <a16:colId xmlns:a16="http://schemas.microsoft.com/office/drawing/2014/main" val="2740099654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1056358261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44834787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709200728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084525418"/>
                    </a:ext>
                  </a:extLst>
                </a:gridCol>
              </a:tblGrid>
              <a:tr h="720000">
                <a:tc>
                  <a:txBody>
                    <a:bodyPr/>
                    <a:lstStyle/>
                    <a:p>
                      <a:pPr marL="0" marR="0" indent="0" algn="ctr" defTabSz="584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b="1" dirty="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1</a:t>
                      </a:r>
                    </a:p>
                  </a:txBody>
                  <a:tcPr anchor="ctr">
                    <a:lnL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b="1" dirty="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2</a:t>
                      </a:r>
                    </a:p>
                  </a:txBody>
                  <a:tcPr anchor="ctr">
                    <a:lnL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b="1" dirty="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3</a:t>
                      </a:r>
                    </a:p>
                  </a:txBody>
                  <a:tcPr anchor="ctr">
                    <a:lnL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b="1" dirty="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…</a:t>
                      </a:r>
                    </a:p>
                  </a:txBody>
                  <a:tcPr anchor="ctr">
                    <a:lnL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b="1" dirty="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n</a:t>
                      </a:r>
                    </a:p>
                  </a:txBody>
                  <a:tcPr anchor="ctr">
                    <a:lnL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2">
                          <a:lumMod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99067356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3C1290C5-9DDC-6613-25A3-3C73D024731A}"/>
                  </a:ext>
                </a:extLst>
              </p:cNvPr>
              <p:cNvSpPr txBox="1"/>
              <p:nvPr/>
            </p:nvSpPr>
            <p:spPr>
              <a:xfrm>
                <a:off x="4694606" y="5257980"/>
                <a:ext cx="1002902" cy="471924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none" lIns="50800" tIns="50800" rIns="50800" bIns="50800" numCol="1" spcCol="38100" rtlCol="0" anchor="ctr">
                <a:spAutoFit/>
              </a:bodyPr>
              <a:lstStyle/>
              <a:p>
                <a:pPr marL="0" marR="0" indent="0" algn="ctr" defTabSz="2438338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dirty="0" smtClean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𝒊</m:t>
                      </m:r>
                      <m:r>
                        <a:rPr kumimoji="0" lang="en-US" sz="2400" b="1" i="1" u="none" strike="noStrike" cap="none" spc="0" normalizeH="0" baseline="0" dirty="0" smtClean="0">
                          <a:ln>
                            <a:noFill/>
                          </a:ln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uFillTx/>
                          <a:latin typeface="Cambria Math" panose="02040503050406030204" pitchFamily="18" charset="0"/>
                          <a:sym typeface="Helvetica Neue"/>
                        </a:rPr>
                        <m:t> = </m:t>
                      </m:r>
                      <m:r>
                        <a:rPr kumimoji="0" lang="en-US" sz="2400" b="1" i="1" u="none" strike="noStrike" cap="none" spc="0" normalizeH="0" baseline="0" dirty="0" smtClean="0">
                          <a:ln>
                            <a:noFill/>
                          </a:ln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uFillTx/>
                          <a:latin typeface="Cambria Math" panose="02040503050406030204" pitchFamily="18" charset="0"/>
                          <a:sym typeface="Helvetica Neue"/>
                        </a:rPr>
                        <m:t>𝟏</m:t>
                      </m:r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3C1290C5-9DDC-6613-25A3-3C73D024731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94606" y="5257980"/>
                <a:ext cx="1002902" cy="471924"/>
              </a:xfrm>
              <a:prstGeom prst="rect">
                <a:avLst/>
              </a:prstGeom>
              <a:blipFill>
                <a:blip r:embed="rId3"/>
                <a:stretch>
                  <a:fillRect l="-5000" t="-10526" r="-12500" b="-23684"/>
                </a:stretch>
              </a:blipFill>
              <a:ln w="12700" cap="flat">
                <a:noFill/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D1ED7A84-A75A-33B3-DD7E-9C05248D9E92}"/>
                  </a:ext>
                </a:extLst>
              </p:cNvPr>
              <p:cNvSpPr txBox="1"/>
              <p:nvPr/>
            </p:nvSpPr>
            <p:spPr>
              <a:xfrm>
                <a:off x="19460819" y="5257980"/>
                <a:ext cx="950004" cy="471924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none" lIns="50800" tIns="50800" rIns="50800" bIns="50800" numCol="1" spcCol="38100" rtlCol="0" anchor="ctr">
                <a:spAutoFit/>
              </a:bodyPr>
              <a:lstStyle/>
              <a:p>
                <a:pPr marL="0" marR="0" indent="0" algn="ctr" defTabSz="2438338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dirty="0" smtClean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𝒊</m:t>
                      </m:r>
                      <m:r>
                        <a:rPr kumimoji="0" lang="en-US" sz="2400" b="1" i="1" u="none" strike="noStrike" cap="none" spc="0" normalizeH="0" baseline="0" dirty="0" smtClean="0">
                          <a:ln>
                            <a:noFill/>
                          </a:ln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uFillTx/>
                          <a:latin typeface="Cambria Math" panose="02040503050406030204" pitchFamily="18" charset="0"/>
                          <a:sym typeface="Helvetica Neue"/>
                        </a:rPr>
                        <m:t> =</m:t>
                      </m:r>
                      <m:r>
                        <a:rPr kumimoji="0" lang="en-US" sz="2400" b="1" i="1" u="none" strike="noStrike" cap="none" spc="0" normalizeH="0" baseline="0" dirty="0" smtClean="0">
                          <a:ln>
                            <a:noFill/>
                          </a:ln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uFillTx/>
                          <a:latin typeface="Cambria Math" panose="02040503050406030204" pitchFamily="18" charset="0"/>
                          <a:sym typeface="Helvetica Neue"/>
                        </a:rPr>
                        <m:t>𝒏</m:t>
                      </m:r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D1ED7A84-A75A-33B3-DD7E-9C05248D9E9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460819" y="5257980"/>
                <a:ext cx="950004" cy="471924"/>
              </a:xfrm>
              <a:prstGeom prst="rect">
                <a:avLst/>
              </a:prstGeom>
              <a:blipFill>
                <a:blip r:embed="rId4"/>
                <a:stretch>
                  <a:fillRect l="-5263" t="-10526" r="-13158" b="-23684"/>
                </a:stretch>
              </a:blipFill>
              <a:ln w="12700" cap="flat">
                <a:noFill/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97B0F3D5-5847-622B-D1EB-638949E47051}"/>
                  </a:ext>
                </a:extLst>
              </p:cNvPr>
              <p:cNvSpPr txBox="1"/>
              <p:nvPr/>
            </p:nvSpPr>
            <p:spPr>
              <a:xfrm>
                <a:off x="14497143" y="5257980"/>
                <a:ext cx="935576" cy="471924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none" lIns="50800" tIns="50800" rIns="50800" bIns="50800" numCol="1" spcCol="38100" rtlCol="0" anchor="ctr">
                <a:spAutoFit/>
              </a:bodyPr>
              <a:lstStyle/>
              <a:p>
                <a:pPr marL="0" marR="0" indent="0" algn="ctr" defTabSz="2438338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dirty="0" smtClean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𝒊</m:t>
                      </m:r>
                      <m:r>
                        <a:rPr kumimoji="0" lang="en-US" sz="2400" b="1" i="1" u="none" strike="noStrike" cap="none" spc="0" normalizeH="0" baseline="0" dirty="0" smtClean="0">
                          <a:ln>
                            <a:noFill/>
                          </a:ln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uFillTx/>
                          <a:latin typeface="Cambria Math" panose="02040503050406030204" pitchFamily="18" charset="0"/>
                          <a:sym typeface="Helvetica Neue"/>
                        </a:rPr>
                        <m:t> =</m:t>
                      </m:r>
                      <m:r>
                        <a:rPr kumimoji="0" lang="en-US" sz="2400" b="1" i="1" u="none" strike="noStrike" cap="none" spc="0" normalizeH="0" baseline="0" dirty="0" smtClean="0">
                          <a:ln>
                            <a:noFill/>
                          </a:ln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uFillTx/>
                          <a:latin typeface="Cambria Math" panose="02040503050406030204" pitchFamily="18" charset="0"/>
                          <a:sym typeface="Helvetica Neue"/>
                        </a:rPr>
                        <m:t>𝟑</m:t>
                      </m:r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97B0F3D5-5847-622B-D1EB-638949E4705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497143" y="5257980"/>
                <a:ext cx="935576" cy="471924"/>
              </a:xfrm>
              <a:prstGeom prst="rect">
                <a:avLst/>
              </a:prstGeom>
              <a:blipFill>
                <a:blip r:embed="rId5"/>
                <a:stretch>
                  <a:fillRect l="-5333" t="-10526" r="-13333" b="-23684"/>
                </a:stretch>
              </a:blipFill>
              <a:ln w="12700" cap="flat">
                <a:noFill/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CE86FAF4-1E3E-52AD-300B-1F38F72FAFF4}"/>
                  </a:ext>
                </a:extLst>
              </p:cNvPr>
              <p:cNvSpPr txBox="1"/>
              <p:nvPr/>
            </p:nvSpPr>
            <p:spPr>
              <a:xfrm>
                <a:off x="9612706" y="5257980"/>
                <a:ext cx="935576" cy="471924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none" lIns="50800" tIns="50800" rIns="50800" bIns="50800" numCol="1" spcCol="38100" rtlCol="0" anchor="ctr">
                <a:spAutoFit/>
              </a:bodyPr>
              <a:lstStyle/>
              <a:p>
                <a:pPr marL="0" marR="0" indent="0" algn="ctr" defTabSz="2438338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dirty="0" smtClean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𝒊</m:t>
                      </m:r>
                      <m:r>
                        <a:rPr kumimoji="0" lang="en-US" sz="2400" b="1" i="1" u="none" strike="noStrike" cap="none" spc="0" normalizeH="0" baseline="0" dirty="0" smtClean="0">
                          <a:ln>
                            <a:noFill/>
                          </a:ln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uFillTx/>
                          <a:latin typeface="Cambria Math" panose="02040503050406030204" pitchFamily="18" charset="0"/>
                          <a:sym typeface="Helvetica Neue"/>
                        </a:rPr>
                        <m:t> =</m:t>
                      </m:r>
                      <m:r>
                        <a:rPr kumimoji="0" lang="en-US" sz="2400" b="1" i="1" u="none" strike="noStrike" cap="none" spc="0" normalizeH="0" baseline="0" dirty="0" smtClean="0">
                          <a:ln>
                            <a:noFill/>
                          </a:ln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uFillTx/>
                          <a:latin typeface="Cambria Math" panose="02040503050406030204" pitchFamily="18" charset="0"/>
                          <a:sym typeface="Helvetica Neue"/>
                        </a:rPr>
                        <m:t>𝟐</m:t>
                      </m:r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CE86FAF4-1E3E-52AD-300B-1F38F72FAFF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12706" y="5257980"/>
                <a:ext cx="935576" cy="471924"/>
              </a:xfrm>
              <a:prstGeom prst="rect">
                <a:avLst/>
              </a:prstGeom>
              <a:blipFill>
                <a:blip r:embed="rId6"/>
                <a:stretch>
                  <a:fillRect l="-4000" t="-10526" r="-13333" b="-23684"/>
                </a:stretch>
              </a:blipFill>
              <a:ln w="12700" cap="flat">
                <a:noFill/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1" name="TextBox 20">
            <a:extLst>
              <a:ext uri="{FF2B5EF4-FFF2-40B4-BE49-F238E27FC236}">
                <a16:creationId xmlns:a16="http://schemas.microsoft.com/office/drawing/2014/main" id="{646EE403-06C1-CFF7-37DA-7C4B422F050B}"/>
              </a:ext>
            </a:extLst>
          </p:cNvPr>
          <p:cNvSpPr txBox="1"/>
          <p:nvPr/>
        </p:nvSpPr>
        <p:spPr>
          <a:xfrm>
            <a:off x="19472553" y="7127093"/>
            <a:ext cx="779701" cy="54502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vert" wrap="none" lIns="50800" tIns="50800" rIns="50800" bIns="50800" numCol="1" spcCol="38100" rtlCol="0" anchor="ctr">
            <a:spAutoFit/>
          </a:bodyPr>
          <a:lstStyle/>
          <a:p>
            <a:pPr marL="0" marR="0" indent="0" algn="ctr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4400" dirty="0"/>
              <a:t>…</a:t>
            </a:r>
            <a:endParaRPr kumimoji="0" lang="en-US" sz="4400" b="0" i="0" u="none" strike="noStrike" cap="none" spc="0" normalizeH="0" baseline="0" dirty="0">
              <a:ln>
                <a:noFill/>
              </a:ln>
              <a:solidFill>
                <a:srgbClr val="5E5E5E"/>
              </a:solidFill>
              <a:effectLst/>
              <a:uFillTx/>
              <a:latin typeface="+mn-lt"/>
              <a:ea typeface="+mn-ea"/>
              <a:cs typeface="+mn-cs"/>
              <a:sym typeface="Helvetica Neue"/>
            </a:endParaRP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574363DF-1625-65F9-F0F6-8FB15222534C}"/>
              </a:ext>
            </a:extLst>
          </p:cNvPr>
          <p:cNvSpPr/>
          <p:nvPr/>
        </p:nvSpPr>
        <p:spPr>
          <a:xfrm>
            <a:off x="7669402" y="6695926"/>
            <a:ext cx="1855759" cy="1397488"/>
          </a:xfrm>
          <a:prstGeom prst="ellipse">
            <a:avLst/>
          </a:prstGeom>
          <a:noFill/>
          <a:ln w="57150" cap="flat">
            <a:solidFill>
              <a:schemeClr val="accent5">
                <a:lumMod val="75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65DE1861-3FAD-E7A3-BDC1-9F6F93647B9E}"/>
              </a:ext>
            </a:extLst>
          </p:cNvPr>
          <p:cNvSpPr/>
          <p:nvPr/>
        </p:nvSpPr>
        <p:spPr>
          <a:xfrm>
            <a:off x="12578763" y="7916744"/>
            <a:ext cx="1855759" cy="1397488"/>
          </a:xfrm>
          <a:prstGeom prst="ellipse">
            <a:avLst/>
          </a:prstGeom>
          <a:noFill/>
          <a:ln w="57150" cap="flat">
            <a:solidFill>
              <a:schemeClr val="accent5">
                <a:lumMod val="75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</p:spTree>
    <p:extLst>
      <p:ext uri="{BB962C8B-B14F-4D97-AF65-F5344CB8AC3E}">
        <p14:creationId xmlns:p14="http://schemas.microsoft.com/office/powerpoint/2010/main" val="4112495715"/>
      </p:ext>
    </p:extLst>
  </p:cSld>
  <p:clrMapOvr>
    <a:masterClrMapping/>
  </p:clrMapOvr>
  <p:transition spd="med"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601811-0728-46FF-1C97-AEA43FE059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2BDABF-446A-5A34-338C-E8AB99CB99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D" dirty="0"/>
              <a:t>Maximum Subarray Sum: </a:t>
            </a:r>
            <a:r>
              <a:rPr lang="en-ID" dirty="0" err="1"/>
              <a:t>Kadane's</a:t>
            </a:r>
            <a:r>
              <a:rPr lang="en-ID" dirty="0"/>
              <a:t> Algorithm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F29F404-A2AA-4FD8-09CF-088B130D151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167377" y="2419728"/>
            <a:ext cx="18110788" cy="803546"/>
          </a:xfrm>
        </p:spPr>
        <p:txBody>
          <a:bodyPr>
            <a:normAutofit/>
          </a:bodyPr>
          <a:lstStyle/>
          <a:p>
            <a:r>
              <a:rPr lang="en-ID" dirty="0"/>
              <a:t>Step 1 – Characterize the Structure: Optimal Substructure property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F3C8962F-AD46-977A-C147-6996BB23B424}"/>
                  </a:ext>
                </a:extLst>
              </p:cNvPr>
              <p:cNvSpPr>
                <a:spLocks noGrp="1"/>
              </p:cNvSpPr>
              <p:nvPr>
                <p:ph sz="quarter" idx="11"/>
              </p:nvPr>
            </p:nvSpPr>
            <p:spPr>
              <a:xfrm>
                <a:off x="2167377" y="3714224"/>
                <a:ext cx="20235423" cy="9498856"/>
              </a:xfrm>
            </p:spPr>
            <p:txBody>
              <a:bodyPr>
                <a:normAutofit/>
              </a:bodyPr>
              <a:lstStyle/>
              <a:p>
                <a:r>
                  <a:rPr lang="en-ID" b="1" dirty="0">
                    <a:solidFill>
                      <a:schemeClr val="accent1">
                        <a:lumMod val="75000"/>
                      </a:schemeClr>
                    </a:solidFill>
                  </a:rPr>
                  <a:t>Subproblem definition</a:t>
                </a:r>
                <a:r>
                  <a:rPr lang="en-ID" dirty="0">
                    <a:solidFill>
                      <a:schemeClr val="accent1">
                        <a:lumMod val="75000"/>
                      </a:schemeClr>
                    </a:solidFill>
                  </a:rPr>
                  <a:t>: </a:t>
                </a:r>
                <a:r>
                  <a:rPr lang="en-ID" dirty="0"/>
                  <a:t>Let </a:t>
                </a:r>
                <a14:m>
                  <m:oMath xmlns:m="http://schemas.openxmlformats.org/officeDocument/2006/math">
                    <m:r>
                      <a:rPr lang="en-US" b="1" i="1" dirty="0" smtClean="0">
                        <a:latin typeface="Cambria Math" panose="02040503050406030204" pitchFamily="18" charset="0"/>
                      </a:rPr>
                      <m:t>𝒅𝒑</m:t>
                    </m:r>
                    <m:r>
                      <a:rPr lang="en-ID" b="1" i="1" dirty="0" smtClean="0">
                        <a:latin typeface="Cambria Math" panose="02040503050406030204" pitchFamily="18" charset="0"/>
                      </a:rPr>
                      <m:t>[</m:t>
                    </m:r>
                    <m:r>
                      <a:rPr lang="en-ID" b="1" i="1" dirty="0" err="1" smtClean="0">
                        <a:latin typeface="Cambria Math" panose="02040503050406030204" pitchFamily="18" charset="0"/>
                      </a:rPr>
                      <m:t>𝒊</m:t>
                    </m:r>
                    <m:r>
                      <a:rPr lang="en-ID" b="1" i="1" dirty="0" smtClean="0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lang="en-ID" b="1" dirty="0"/>
                  <a:t> </a:t>
                </a:r>
                <a:r>
                  <a:rPr lang="en-ID" dirty="0"/>
                  <a:t>be the maximum subarray sum ending exactly at index </a:t>
                </a:r>
                <a14:m>
                  <m:oMath xmlns:m="http://schemas.openxmlformats.org/officeDocument/2006/math">
                    <m:r>
                      <a:rPr lang="en-ID" b="1" i="1" dirty="0">
                        <a:latin typeface="Cambria Math" panose="02040503050406030204" pitchFamily="18" charset="0"/>
                      </a:rPr>
                      <m:t>𝒊</m:t>
                    </m:r>
                  </m:oMath>
                </a14:m>
                <a:r>
                  <a:rPr lang="en-ID" dirty="0"/>
                  <a:t>.</a:t>
                </a:r>
              </a:p>
              <a:p>
                <a:r>
                  <a:rPr lang="en-ID" b="1" dirty="0">
                    <a:solidFill>
                      <a:schemeClr val="accent1">
                        <a:lumMod val="75000"/>
                      </a:schemeClr>
                    </a:solidFill>
                  </a:rPr>
                  <a:t>The Structural Choice</a:t>
                </a:r>
                <a:r>
                  <a:rPr lang="en-ID" dirty="0"/>
                  <a:t>: Any optimal subarray ending at index </a:t>
                </a:r>
                <a14:m>
                  <m:oMath xmlns:m="http://schemas.openxmlformats.org/officeDocument/2006/math">
                    <m:r>
                      <a:rPr lang="en-ID" b="1" i="1" dirty="0">
                        <a:latin typeface="Cambria Math" panose="02040503050406030204" pitchFamily="18" charset="0"/>
                      </a:rPr>
                      <m:t>𝒊</m:t>
                    </m:r>
                    <m:r>
                      <a:rPr lang="en-ID" b="1" i="1" dirty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ID" dirty="0"/>
                  <a:t> must choose between two options:</a:t>
                </a:r>
              </a:p>
              <a:p>
                <a:pPr lvl="1"/>
                <a:r>
                  <a:rPr lang="en-ID" dirty="0"/>
                  <a:t>Option A: Extend the optimal subarray ending at index </a:t>
                </a:r>
                <a14:m>
                  <m:oMath xmlns:m="http://schemas.openxmlformats.org/officeDocument/2006/math">
                    <m:r>
                      <a:rPr lang="en-ID" b="1" i="1" dirty="0">
                        <a:latin typeface="Cambria Math" panose="02040503050406030204" pitchFamily="18" charset="0"/>
                      </a:rPr>
                      <m:t>𝒊</m:t>
                    </m:r>
                  </m:oMath>
                </a14:m>
                <a:r>
                  <a:rPr lang="en-ID" dirty="0"/>
                  <a:t> from previous subarray sum.</a:t>
                </a:r>
              </a:p>
              <a:p>
                <a:pPr lvl="1"/>
                <a:r>
                  <a:rPr lang="en-ID" dirty="0"/>
                  <a:t>Option B: Start a brand-new subarray at index </a:t>
                </a:r>
                <a14:m>
                  <m:oMath xmlns:m="http://schemas.openxmlformats.org/officeDocument/2006/math">
                    <m:r>
                      <a:rPr lang="en-ID" b="1" i="1" dirty="0">
                        <a:latin typeface="Cambria Math" panose="02040503050406030204" pitchFamily="18" charset="0"/>
                      </a:rPr>
                      <m:t>𝒊</m:t>
                    </m:r>
                  </m:oMath>
                </a14:m>
                <a:r>
                  <a:rPr lang="en-ID" dirty="0"/>
                  <a:t> if Option A give lower value.</a:t>
                </a:r>
              </a:p>
              <a:p>
                <a:r>
                  <a:rPr lang="en-ID" b="1" dirty="0">
                    <a:solidFill>
                      <a:schemeClr val="accent1">
                        <a:lumMod val="75000"/>
                      </a:schemeClr>
                    </a:solidFill>
                  </a:rPr>
                  <a:t>The Theorem</a:t>
                </a:r>
                <a:r>
                  <a:rPr lang="en-ID" dirty="0"/>
                  <a:t>: An optimal solution to the subproblem at index </a:t>
                </a:r>
                <a14:m>
                  <m:oMath xmlns:m="http://schemas.openxmlformats.org/officeDocument/2006/math">
                    <m:r>
                      <a:rPr lang="en-ID" b="1" i="1" dirty="0">
                        <a:latin typeface="Cambria Math" panose="02040503050406030204" pitchFamily="18" charset="0"/>
                      </a:rPr>
                      <m:t>𝒊</m:t>
                    </m:r>
                  </m:oMath>
                </a14:m>
                <a:r>
                  <a:rPr lang="en-ID" dirty="0"/>
                  <a:t> contains within it the optimal solution to the subproblem at index </a:t>
                </a:r>
                <a14:m>
                  <m:oMath xmlns:m="http://schemas.openxmlformats.org/officeDocument/2006/math">
                    <m:r>
                      <a:rPr lang="en-ID" b="1" i="1" dirty="0">
                        <a:latin typeface="Cambria Math" panose="02040503050406030204" pitchFamily="18" charset="0"/>
                      </a:rPr>
                      <m:t>𝒊</m:t>
                    </m:r>
                    <m:r>
                      <a:rPr lang="en-US" b="1" i="1" dirty="0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b="1" i="1" dirty="0" smtClean="0">
                        <a:latin typeface="Cambria Math" panose="02040503050406030204" pitchFamily="18" charset="0"/>
                      </a:rPr>
                      <m:t>𝟏</m:t>
                    </m:r>
                  </m:oMath>
                </a14:m>
                <a:endParaRPr lang="en-ID" dirty="0"/>
              </a:p>
            </p:txBody>
          </p:sp>
        </mc:Choice>
        <mc:Fallback xmlns="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F3C8962F-AD46-977A-C147-6996BB23B42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1"/>
              </p:nvPr>
            </p:nvSpPr>
            <p:spPr>
              <a:xfrm>
                <a:off x="2167377" y="3714224"/>
                <a:ext cx="20235423" cy="9498856"/>
              </a:xfrm>
              <a:blipFill>
                <a:blip r:embed="rId3"/>
                <a:stretch>
                  <a:fillRect l="-1317" t="-1068" r="-50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564026095"/>
      </p:ext>
    </p:extLst>
  </p:cSld>
  <p:clrMapOvr>
    <a:masterClrMapping/>
  </p:clrMapOvr>
  <p:transition spd="med"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C627AA-73F3-5600-3BF1-C352631050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6396F3-3CA1-C30F-3C22-83DA7C1FB4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D" dirty="0"/>
              <a:t>Maximum Subarray Sum: </a:t>
            </a:r>
            <a:r>
              <a:rPr lang="en-ID" dirty="0" err="1"/>
              <a:t>Kadane's</a:t>
            </a:r>
            <a:r>
              <a:rPr lang="en-ID" dirty="0"/>
              <a:t> Algorithm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4D78CB6-609A-F437-C41D-77948593900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167376" y="2419728"/>
            <a:ext cx="19885799" cy="803546"/>
          </a:xfrm>
        </p:spPr>
        <p:txBody>
          <a:bodyPr>
            <a:normAutofit/>
          </a:bodyPr>
          <a:lstStyle/>
          <a:p>
            <a:r>
              <a:rPr lang="en-ID" dirty="0"/>
              <a:t>Step 2 – Define optimal solution recursively: recurrence relation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37F82104-D8C0-8E01-83BF-04216F36E5BB}"/>
                  </a:ext>
                </a:extLst>
              </p:cNvPr>
              <p:cNvSpPr>
                <a:spLocks noGrp="1"/>
              </p:cNvSpPr>
              <p:nvPr>
                <p:ph sz="quarter" idx="11"/>
              </p:nvPr>
            </p:nvSpPr>
            <p:spPr>
              <a:xfrm>
                <a:off x="2167377" y="3714224"/>
                <a:ext cx="20235423" cy="9498856"/>
              </a:xfrm>
            </p:spPr>
            <p:txBody>
              <a:bodyPr>
                <a:normAutofit/>
              </a:bodyPr>
              <a:lstStyle/>
              <a:p>
                <a:r>
                  <a:rPr lang="en-ID" b="1" dirty="0">
                    <a:solidFill>
                      <a:schemeClr val="accent1">
                        <a:lumMod val="75000"/>
                      </a:schemeClr>
                    </a:solidFill>
                  </a:rPr>
                  <a:t>Mathematical definition</a:t>
                </a:r>
                <a:r>
                  <a:rPr lang="en-ID" dirty="0">
                    <a:solidFill>
                      <a:schemeClr val="accent1">
                        <a:lumMod val="75000"/>
                      </a:schemeClr>
                    </a:solidFill>
                  </a:rPr>
                  <a:t>: </a:t>
                </a:r>
                <a:r>
                  <a:rPr lang="en-ID" dirty="0"/>
                  <a:t>We define the value of an optimal solution recursively based on our two structural options:</a:t>
                </a:r>
              </a:p>
              <a:p>
                <a:pPr marL="0" indent="0">
                  <a:lnSpc>
                    <a:spcPct val="20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𝒅𝒑</m:t>
                      </m:r>
                      <m:d>
                        <m:dPr>
                          <m:begChr m:val="["/>
                          <m:endChr m:val="]"/>
                          <m:ctrlPr>
                            <a:rPr lang="en-US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𝒊</m:t>
                          </m:r>
                        </m:e>
                      </m:d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1" i="0" smtClean="0">
                          <a:latin typeface="Cambria Math" panose="02040503050406030204" pitchFamily="18" charset="0"/>
                        </a:rPr>
                        <m:t>𝐦𝐚𝐱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⁡(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𝑨</m:t>
                      </m:r>
                      <m:d>
                        <m:dPr>
                          <m:begChr m:val="["/>
                          <m:endChr m:val="]"/>
                          <m:ctrlPr>
                            <a:rPr lang="en-US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𝒊</m:t>
                          </m:r>
                        </m:e>
                      </m:d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𝒅𝒑</m:t>
                      </m:r>
                      <m:d>
                        <m:dPr>
                          <m:begChr m:val="["/>
                          <m:endChr m:val="]"/>
                          <m:ctrlPr>
                            <a:rPr lang="en-US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𝒊</m:t>
                          </m:r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𝟏</m:t>
                          </m:r>
                        </m:e>
                      </m:d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𝑨</m:t>
                      </m:r>
                      <m:d>
                        <m:dPr>
                          <m:begChr m:val="["/>
                          <m:endChr m:val="]"/>
                          <m:ctrlPr>
                            <a:rPr lang="en-US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𝒊</m:t>
                          </m:r>
                        </m:e>
                      </m:d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ID" b="1" dirty="0"/>
              </a:p>
              <a:p>
                <a:r>
                  <a:rPr lang="en-ID" b="1" dirty="0">
                    <a:solidFill>
                      <a:schemeClr val="accent1">
                        <a:lumMod val="75000"/>
                      </a:schemeClr>
                    </a:solidFill>
                  </a:rPr>
                  <a:t>Base case</a:t>
                </a:r>
                <a:r>
                  <a:rPr lang="en-ID" dirty="0"/>
                  <a:t>: The problem cannot look back before first element:</a:t>
                </a:r>
              </a:p>
              <a:p>
                <a:pPr marL="0" indent="0">
                  <a:lnSpc>
                    <a:spcPct val="20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𝒅𝒑</m:t>
                      </m:r>
                      <m:d>
                        <m:dPr>
                          <m:begChr m:val="["/>
                          <m:endChr m:val="]"/>
                          <m:ctrlPr>
                            <a:rPr lang="en-US" b="1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𝟏</m:t>
                          </m:r>
                        </m:e>
                      </m:d>
                      <m:r>
                        <a:rPr lang="en-US" b="1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1" i="1">
                          <a:latin typeface="Cambria Math" panose="02040503050406030204" pitchFamily="18" charset="0"/>
                        </a:rPr>
                        <m:t>𝑨</m:t>
                      </m:r>
                      <m:r>
                        <a:rPr lang="en-US" b="1" i="1">
                          <a:latin typeface="Cambria Math" panose="02040503050406030204" pitchFamily="18" charset="0"/>
                        </a:rPr>
                        <m:t>[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𝟏</m:t>
                      </m:r>
                      <m:r>
                        <a:rPr lang="en-US" b="1" i="1">
                          <a:latin typeface="Cambria Math" panose="02040503050406030204" pitchFamily="18" charset="0"/>
                        </a:rPr>
                        <m:t>]</m:t>
                      </m:r>
                    </m:oMath>
                  </m:oMathPara>
                </a14:m>
                <a:endParaRPr lang="en-ID" b="1" dirty="0"/>
              </a:p>
              <a:p>
                <a:r>
                  <a:rPr lang="en-ID" b="1" dirty="0">
                    <a:solidFill>
                      <a:schemeClr val="accent1">
                        <a:lumMod val="75000"/>
                      </a:schemeClr>
                    </a:solidFill>
                  </a:rPr>
                  <a:t>Global maximum</a:t>
                </a:r>
                <a:r>
                  <a:rPr lang="en-ID" dirty="0"/>
                  <a:t>: The maximum subarray sum can end anywhere in the array: 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𝑮𝒍𝒐𝒃𝒂𝒍𝑴𝒂𝒙</m:t>
                      </m:r>
                      <m:r>
                        <a:rPr lang="en-US" b="1" i="1"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US" b="1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 b="1" i="1" smtClean="0"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a:rPr lang="en-US" b="1" i="0" smtClean="0">
                                  <a:latin typeface="Cambria Math" panose="02040503050406030204" pitchFamily="18" charset="0"/>
                                </a:rPr>
                                <m:t>𝐦𝐚𝐱</m:t>
                              </m:r>
                            </m:e>
                            <m:lim>
                              <m:r>
                                <a:rPr lang="en-US" b="1" i="1" smtClean="0"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  <m:r>
                                <a:rPr lang="en-US" b="1" i="1" smtClean="0">
                                  <a:latin typeface="Cambria Math" panose="02040503050406030204" pitchFamily="18" charset="0"/>
                                </a:rPr>
                                <m:t>≤</m:t>
                              </m:r>
                              <m:r>
                                <a:rPr lang="en-US" b="1" i="1" smtClean="0">
                                  <a:latin typeface="Cambria Math" panose="02040503050406030204" pitchFamily="18" charset="0"/>
                                </a:rPr>
                                <m:t>𝒊</m:t>
                              </m:r>
                              <m:r>
                                <a:rPr lang="en-US" b="1" i="1" smtClean="0">
                                  <a:latin typeface="Cambria Math" panose="02040503050406030204" pitchFamily="18" charset="0"/>
                                </a:rPr>
                                <m:t>≤</m:t>
                              </m:r>
                              <m:r>
                                <a:rPr lang="en-US" b="1" i="1" smtClean="0">
                                  <a:latin typeface="Cambria Math" panose="02040503050406030204" pitchFamily="18" charset="0"/>
                                </a:rPr>
                                <m:t>𝒏</m:t>
                              </m:r>
                            </m:lim>
                          </m:limLow>
                        </m:fName>
                        <m:e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𝒅𝒑</m:t>
                          </m:r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[</m:t>
                          </m:r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𝒊</m:t>
                          </m:r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]</m:t>
                          </m:r>
                        </m:e>
                      </m:func>
                    </m:oMath>
                  </m:oMathPara>
                </a14:m>
                <a:endParaRPr lang="en-ID" b="1" dirty="0"/>
              </a:p>
              <a:p>
                <a:endParaRPr lang="en-ID" dirty="0"/>
              </a:p>
            </p:txBody>
          </p:sp>
        </mc:Choice>
        <mc:Fallback xmlns="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37F82104-D8C0-8E01-83BF-04216F36E5B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1"/>
              </p:nvPr>
            </p:nvSpPr>
            <p:spPr>
              <a:xfrm>
                <a:off x="2167377" y="3714224"/>
                <a:ext cx="20235423" cy="9498856"/>
              </a:xfrm>
              <a:blipFill>
                <a:blip r:embed="rId3"/>
                <a:stretch>
                  <a:fillRect l="-1317" t="-1202" r="-6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945988630"/>
      </p:ext>
    </p:extLst>
  </p:cSld>
  <p:clrMapOvr>
    <a:masterClrMapping/>
  </p:clrMapOvr>
  <p:transition spd="med"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465FC7-9B1E-0BD9-DB73-77C1D593EA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1111A2-54E5-FC48-34DC-5E7973225B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D" dirty="0"/>
              <a:t>Maximum Subarray Sum: </a:t>
            </a:r>
            <a:r>
              <a:rPr lang="en-ID" dirty="0" err="1"/>
              <a:t>Kadane's</a:t>
            </a:r>
            <a:r>
              <a:rPr lang="en-ID" dirty="0"/>
              <a:t> Algorithm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78BF31A-8789-4DE5-5EDF-E9535CBD8D7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r>
              <a:rPr lang="en-ID" dirty="0"/>
              <a:t>Step 3 – Compute the Value Bottom-Up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06E09AD2-54B0-878A-9A57-F86314214BB3}"/>
                  </a:ext>
                </a:extLst>
              </p:cNvPr>
              <p:cNvSpPr>
                <a:spLocks noGrp="1"/>
              </p:cNvSpPr>
              <p:nvPr>
                <p:ph sz="quarter" idx="11"/>
              </p:nvPr>
            </p:nvSpPr>
            <p:spPr>
              <a:xfrm>
                <a:off x="2167377" y="11332180"/>
                <a:ext cx="20049246" cy="1520219"/>
              </a:xfrm>
            </p:spPr>
            <p:txBody>
              <a:bodyPr>
                <a:normAutofit/>
              </a:bodyPr>
              <a:lstStyle/>
              <a:p>
                <a:pPr marL="101600" indent="0" algn="just">
                  <a:buNone/>
                </a:pPr>
                <a:r>
                  <a:rPr lang="en-US" dirty="0">
                    <a:solidFill>
                      <a:srgbClr val="000000"/>
                    </a:solidFill>
                  </a:rPr>
                  <a:t>Here, we only ever look at </a:t>
                </a:r>
                <a14:m>
                  <m:oMath xmlns:m="http://schemas.openxmlformats.org/officeDocument/2006/math">
                    <m:r>
                      <a:rPr lang="en-US" b="0" i="1" dirty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𝑑𝑝</m:t>
                    </m:r>
                    <m:r>
                      <a:rPr lang="en-US" i="1" dirty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US" i="1" dirty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i="1" dirty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−1] </m:t>
                    </m:r>
                  </m:oMath>
                </a14:m>
                <a:r>
                  <a:rPr lang="en-US" dirty="0">
                    <a:solidFill>
                      <a:srgbClr val="000000"/>
                    </a:solidFill>
                  </a:rPr>
                  <a:t>to compute </a:t>
                </a:r>
                <a14:m>
                  <m:oMath xmlns:m="http://schemas.openxmlformats.org/officeDocument/2006/math">
                    <m:r>
                      <a:rPr lang="en-US" b="0" i="1" dirty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𝑑𝑝</m:t>
                    </m:r>
                    <m:r>
                      <a:rPr lang="en-US" i="1" dirty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US" i="1" dirty="0" err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i="1" dirty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lang="en-US" dirty="0">
                    <a:solidFill>
                      <a:srgbClr val="000000"/>
                    </a:solidFill>
                  </a:rPr>
                  <a:t>. We can optimize the space by dropping the array and just use one variable to track the state.</a:t>
                </a:r>
              </a:p>
            </p:txBody>
          </p:sp>
        </mc:Choice>
        <mc:Fallback xmlns="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06E09AD2-54B0-878A-9A57-F86314214BB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1"/>
              </p:nvPr>
            </p:nvSpPr>
            <p:spPr>
              <a:xfrm>
                <a:off x="2167377" y="11332180"/>
                <a:ext cx="20049246" cy="1520219"/>
              </a:xfrm>
              <a:blipFill>
                <a:blip r:embed="rId3"/>
                <a:stretch>
                  <a:fillRect l="-886" t="-7500" r="-1456" b="-141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Shape 3">
            <a:extLst>
              <a:ext uri="{FF2B5EF4-FFF2-40B4-BE49-F238E27FC236}">
                <a16:creationId xmlns:a16="http://schemas.microsoft.com/office/drawing/2014/main" id="{E3F4A92F-9513-F09E-D34E-82694986D771}"/>
              </a:ext>
            </a:extLst>
          </p:cNvPr>
          <p:cNvSpPr/>
          <p:nvPr/>
        </p:nvSpPr>
        <p:spPr>
          <a:xfrm>
            <a:off x="2167377" y="3714226"/>
            <a:ext cx="20049246" cy="7257274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9525">
            <a:solidFill>
              <a:srgbClr val="AAAAAA"/>
            </a:solidFill>
            <a:prstDash val="solid"/>
          </a:ln>
        </p:spPr>
        <p:txBody>
          <a:bodyPr/>
          <a:lstStyle/>
          <a:p>
            <a:endParaRPr lang="en-US" sz="720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BB3C629C-5188-55DF-A4D7-436F7992FEEE}"/>
              </a:ext>
            </a:extLst>
          </p:cNvPr>
          <p:cNvSpPr/>
          <p:nvPr/>
        </p:nvSpPr>
        <p:spPr>
          <a:xfrm>
            <a:off x="2867389" y="4288758"/>
            <a:ext cx="19349234" cy="64688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/>
            <a:r>
              <a:rPr lang="en-US" sz="40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KADANE-TABLE(A)</a:t>
            </a:r>
          </a:p>
          <a:p>
            <a:pPr algn="l"/>
            <a:r>
              <a:rPr lang="en-US" sz="40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  n = </a:t>
            </a:r>
            <a:r>
              <a:rPr lang="en-US" sz="4000" dirty="0" err="1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A.length</a:t>
            </a:r>
            <a:endParaRPr lang="en-US" sz="4000" dirty="0">
              <a:solidFill>
                <a:srgbClr val="000000"/>
              </a:solidFill>
              <a:latin typeface="Consolas" pitchFamily="34" charset="0"/>
              <a:ea typeface="Consolas" pitchFamily="34" charset="-122"/>
              <a:cs typeface="Consolas" pitchFamily="34" charset="-120"/>
            </a:endParaRPr>
          </a:p>
          <a:p>
            <a:pPr algn="l"/>
            <a:r>
              <a:rPr lang="en-US" sz="40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  let s[1..n] be a new array</a:t>
            </a:r>
          </a:p>
          <a:p>
            <a:pPr algn="l"/>
            <a:r>
              <a:rPr lang="en-US" sz="40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  </a:t>
            </a:r>
            <a:r>
              <a:rPr lang="en-US" sz="4000" dirty="0" err="1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dp</a:t>
            </a:r>
            <a:r>
              <a:rPr lang="en-US" sz="40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[1] = A[1]</a:t>
            </a:r>
          </a:p>
          <a:p>
            <a:pPr algn="l"/>
            <a:r>
              <a:rPr lang="en-US" sz="40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  </a:t>
            </a:r>
            <a:r>
              <a:rPr lang="en-US" sz="4000" dirty="0" err="1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global_max</a:t>
            </a:r>
            <a:r>
              <a:rPr lang="en-US" sz="40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A[1]</a:t>
            </a:r>
          </a:p>
          <a:p>
            <a:pPr algn="l"/>
            <a:r>
              <a:rPr lang="en-US" sz="40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  for </a:t>
            </a:r>
            <a:r>
              <a:rPr lang="en-US" sz="4000" dirty="0" err="1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</a:t>
            </a:r>
            <a:r>
              <a:rPr lang="en-US" sz="40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2 to n</a:t>
            </a:r>
          </a:p>
          <a:p>
            <a:pPr algn="l"/>
            <a:r>
              <a:rPr lang="en-US" sz="40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      </a:t>
            </a:r>
            <a:r>
              <a:rPr lang="en-US" sz="4000" dirty="0" err="1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dp</a:t>
            </a:r>
            <a:r>
              <a:rPr lang="en-US" sz="40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</a:t>
            </a:r>
            <a:r>
              <a:rPr lang="en-US" sz="4000" dirty="0" err="1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</a:t>
            </a:r>
            <a:r>
              <a:rPr lang="en-US" sz="40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 = max(A[</a:t>
            </a:r>
            <a:r>
              <a:rPr lang="en-US" sz="4000" dirty="0" err="1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</a:t>
            </a:r>
            <a:r>
              <a:rPr lang="en-US" sz="40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], </a:t>
            </a:r>
            <a:r>
              <a:rPr lang="en-US" sz="4000" dirty="0" err="1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dp</a:t>
            </a:r>
            <a:r>
              <a:rPr lang="en-US" sz="40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</a:t>
            </a:r>
            <a:r>
              <a:rPr lang="en-US" sz="4000" dirty="0" err="1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</a:t>
            </a:r>
            <a:r>
              <a:rPr lang="en-US" sz="40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- 1] + A[</a:t>
            </a:r>
            <a:r>
              <a:rPr lang="en-US" sz="4000" dirty="0" err="1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</a:t>
            </a:r>
            <a:r>
              <a:rPr lang="en-US" sz="40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])</a:t>
            </a:r>
          </a:p>
          <a:p>
            <a:pPr algn="l"/>
            <a:r>
              <a:rPr lang="en-US" sz="40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      if </a:t>
            </a:r>
            <a:r>
              <a:rPr lang="en-US" sz="4000" dirty="0" err="1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dp</a:t>
            </a:r>
            <a:r>
              <a:rPr lang="en-US" sz="40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</a:t>
            </a:r>
            <a:r>
              <a:rPr lang="en-US" sz="4000" dirty="0" err="1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</a:t>
            </a:r>
            <a:r>
              <a:rPr lang="en-US" sz="40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 &gt; </a:t>
            </a:r>
            <a:r>
              <a:rPr lang="en-US" sz="4000" dirty="0" err="1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global_max</a:t>
            </a:r>
            <a:endParaRPr lang="en-US" sz="4000" dirty="0">
              <a:solidFill>
                <a:srgbClr val="000000"/>
              </a:solidFill>
              <a:latin typeface="Consolas" pitchFamily="34" charset="0"/>
              <a:ea typeface="Consolas" pitchFamily="34" charset="-122"/>
              <a:cs typeface="Consolas" pitchFamily="34" charset="-120"/>
            </a:endParaRPr>
          </a:p>
          <a:p>
            <a:pPr algn="l"/>
            <a:r>
              <a:rPr lang="en-US" sz="40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          </a:t>
            </a:r>
            <a:r>
              <a:rPr lang="en-US" sz="4000" dirty="0" err="1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global_max</a:t>
            </a:r>
            <a:r>
              <a:rPr lang="en-US" sz="40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</a:t>
            </a:r>
            <a:r>
              <a:rPr lang="en-US" sz="4000" dirty="0" err="1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dp</a:t>
            </a:r>
            <a:r>
              <a:rPr lang="en-US" sz="40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</a:t>
            </a:r>
            <a:r>
              <a:rPr lang="en-US" sz="4000" dirty="0" err="1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</a:t>
            </a:r>
            <a:r>
              <a:rPr lang="en-US" sz="40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</a:t>
            </a:r>
          </a:p>
          <a:p>
            <a:pPr algn="l"/>
            <a:r>
              <a:rPr lang="en-US" sz="40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  return </a:t>
            </a:r>
            <a:r>
              <a:rPr lang="en-US" sz="4000" dirty="0" err="1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global_max</a:t>
            </a:r>
            <a:endParaRPr lang="en-US" sz="4000" dirty="0">
              <a:solidFill>
                <a:srgbClr val="000000"/>
              </a:solidFill>
              <a:latin typeface="Consolas" pitchFamily="34" charset="0"/>
              <a:ea typeface="Consolas" pitchFamily="34" charset="-122"/>
              <a:cs typeface="Consolas" pitchFamily="34" charset="-120"/>
            </a:endParaRPr>
          </a:p>
        </p:txBody>
      </p:sp>
      <p:sp>
        <p:nvSpPr>
          <p:cNvPr id="8" name="Content Placeholder 3">
            <a:extLst>
              <a:ext uri="{FF2B5EF4-FFF2-40B4-BE49-F238E27FC236}">
                <a16:creationId xmlns:a16="http://schemas.microsoft.com/office/drawing/2014/main" id="{F4DCB8C1-98C0-4124-A16D-E65E25F6F521}"/>
              </a:ext>
            </a:extLst>
          </p:cNvPr>
          <p:cNvSpPr txBox="1">
            <a:spLocks/>
          </p:cNvSpPr>
          <p:nvPr/>
        </p:nvSpPr>
        <p:spPr>
          <a:xfrm>
            <a:off x="2167377" y="3714224"/>
            <a:ext cx="20235423" cy="949885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>
            <a:normAutofit/>
          </a:bodyPr>
          <a:lstStyle>
            <a:lvl1pPr marL="742950" marR="0" indent="-742950" algn="l" defTabSz="2438338" rtl="0" eaLnBrk="1" latinLnBrk="0" hangingPunct="1">
              <a:lnSpc>
                <a:spcPct val="100000"/>
              </a:lnSpc>
              <a:spcBef>
                <a:spcPts val="3500"/>
              </a:spcBef>
              <a:spcAft>
                <a:spcPts val="0"/>
              </a:spcAft>
              <a:buClrTx/>
              <a:buSzPct val="100000"/>
              <a:buFont typeface="Arial" panose="020B0604020202020204" pitchFamily="34" charset="0"/>
              <a:buChar char="•"/>
              <a:tabLst/>
              <a:defRPr kumimoji="0" lang="en-US" sz="44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Helvetica Neue"/>
              </a:defRPr>
            </a:lvl1pPr>
            <a:lvl2pPr marL="1498950" marR="0" indent="-742950" algn="l" defTabSz="2438338" rtl="0" eaLnBrk="1" latinLnBrk="0" hangingPunct="1">
              <a:lnSpc>
                <a:spcPct val="100000"/>
              </a:lnSpc>
              <a:spcBef>
                <a:spcPts val="3500"/>
              </a:spcBef>
              <a:spcAft>
                <a:spcPts val="0"/>
              </a:spcAft>
              <a:buClrTx/>
              <a:buSzPct val="100000"/>
              <a:buFont typeface="Arial" panose="020B0604020202020204" pitchFamily="34" charset="0"/>
              <a:buChar char="•"/>
              <a:tabLst/>
              <a:defRPr kumimoji="0" lang="en-US" sz="44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Helvetica Neue"/>
              </a:defRPr>
            </a:lvl2pPr>
            <a:lvl3pPr marL="2254950" marR="0" indent="-742950" algn="l" defTabSz="2438338" rtl="0" eaLnBrk="1" latinLnBrk="0" hangingPunct="1">
              <a:lnSpc>
                <a:spcPct val="100000"/>
              </a:lnSpc>
              <a:spcBef>
                <a:spcPts val="3500"/>
              </a:spcBef>
              <a:spcAft>
                <a:spcPts val="0"/>
              </a:spcAft>
              <a:buClrTx/>
              <a:buSzPct val="100000"/>
              <a:buFont typeface="Arial" panose="020B0604020202020204" pitchFamily="34" charset="0"/>
              <a:buChar char="•"/>
              <a:tabLst/>
              <a:defRPr kumimoji="0" lang="en-US" sz="44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Helvetica Neue"/>
              </a:defRPr>
            </a:lvl3pPr>
            <a:lvl4pPr marL="3010950" marR="0" indent="-742950" algn="l" defTabSz="2438338" rtl="0" eaLnBrk="1" latinLnBrk="0" hangingPunct="1">
              <a:lnSpc>
                <a:spcPct val="100000"/>
              </a:lnSpc>
              <a:spcBef>
                <a:spcPts val="3500"/>
              </a:spcBef>
              <a:spcAft>
                <a:spcPts val="0"/>
              </a:spcAft>
              <a:buClrTx/>
              <a:buSzPct val="100000"/>
              <a:buFont typeface="Arial" panose="020B0604020202020204" pitchFamily="34" charset="0"/>
              <a:buChar char="•"/>
              <a:tabLst/>
              <a:defRPr kumimoji="0" lang="en-US" sz="44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Helvetica Neue"/>
              </a:defRPr>
            </a:lvl4pPr>
            <a:lvl5pPr marL="3658950" marR="0" indent="-742950" algn="l" defTabSz="2438338" rtl="0" eaLnBrk="1" latinLnBrk="0" hangingPunct="1">
              <a:lnSpc>
                <a:spcPct val="100000"/>
              </a:lnSpc>
              <a:spcBef>
                <a:spcPts val="3500"/>
              </a:spcBef>
              <a:spcAft>
                <a:spcPts val="0"/>
              </a:spcAft>
              <a:buClrTx/>
              <a:buSzPct val="100000"/>
              <a:buFont typeface="Arial" panose="020B0604020202020204" pitchFamily="34" charset="0"/>
              <a:buChar char="•"/>
              <a:tabLst/>
              <a:defRPr kumimoji="0" lang="en-US" sz="44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Helvetica Neue"/>
              </a:defRPr>
            </a:lvl5pPr>
            <a:lvl6pPr marL="36576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6pPr>
            <a:lvl7pPr marL="3657600" marR="0" indent="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None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7pPr>
            <a:lvl8pPr marL="48768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8pPr>
            <a:lvl9pPr marL="54864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9pPr>
          </a:lstStyle>
          <a:p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1667794301"/>
      </p:ext>
    </p:extLst>
  </p:cSld>
  <p:clrMapOvr>
    <a:masterClrMapping/>
  </p:clrMapOvr>
  <p:transition spd="med"/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A9ACD5-A7C4-C80B-B96F-12978494F9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96A6C8-A923-4597-27CC-C6C77CA2B7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D" dirty="0"/>
              <a:t>Maximum Subarray Sum: </a:t>
            </a:r>
            <a:r>
              <a:rPr lang="en-ID" dirty="0" err="1"/>
              <a:t>Kadane's</a:t>
            </a:r>
            <a:r>
              <a:rPr lang="en-ID" dirty="0"/>
              <a:t> Algorithm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70BA813-0E86-ED4C-5A4A-BCE67DE4CAB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r>
              <a:rPr lang="en-ID" dirty="0"/>
              <a:t>Step 3 – Compute the Value Bottom-Up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AEFD7853-1161-BF9B-8A86-120174157032}"/>
                  </a:ext>
                </a:extLst>
              </p:cNvPr>
              <p:cNvSpPr>
                <a:spLocks noGrp="1"/>
              </p:cNvSpPr>
              <p:nvPr>
                <p:ph sz="quarter" idx="11"/>
              </p:nvPr>
            </p:nvSpPr>
            <p:spPr>
              <a:xfrm>
                <a:off x="2167377" y="11332180"/>
                <a:ext cx="20049246" cy="1520219"/>
              </a:xfrm>
            </p:spPr>
            <p:txBody>
              <a:bodyPr>
                <a:normAutofit/>
              </a:bodyPr>
              <a:lstStyle/>
              <a:p>
                <a:pPr marL="101600" indent="0" algn="just">
                  <a:buNone/>
                </a:pPr>
                <a:r>
                  <a:rPr lang="en-US" dirty="0">
                    <a:solidFill>
                      <a:srgbClr val="000000"/>
                    </a:solidFill>
                  </a:rPr>
                  <a:t>By optimizing like this, we reduce the space complexity from</a:t>
                </a:r>
                <a14:m>
                  <m:oMath xmlns:m="http://schemas.openxmlformats.org/officeDocument/2006/math">
                    <m:r>
                      <a:rPr lang="en-US" i="1" dirty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i="1" dirty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US" i="1" dirty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 dirty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i="1" dirty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) </m:t>
                    </m:r>
                  </m:oMath>
                </a14:m>
                <a:r>
                  <a:rPr lang="en-US" dirty="0">
                    <a:solidFill>
                      <a:srgbClr val="000000"/>
                    </a:solidFill>
                  </a:rPr>
                  <a:t>to </a:t>
                </a:r>
                <a14:m>
                  <m:oMath xmlns:m="http://schemas.openxmlformats.org/officeDocument/2006/math">
                    <m:r>
                      <a:rPr lang="en-US" i="1" dirty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US" i="1" dirty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(1)</m:t>
                    </m:r>
                  </m:oMath>
                </a14:m>
                <a:r>
                  <a:rPr lang="en-US" dirty="0">
                    <a:solidFill>
                      <a:srgbClr val="000000"/>
                    </a:solidFill>
                  </a:rPr>
                  <a:t>. DP algorithm is not always about table.</a:t>
                </a:r>
              </a:p>
            </p:txBody>
          </p:sp>
        </mc:Choice>
        <mc:Fallback xmlns="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AEFD7853-1161-BF9B-8A86-12017415703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1"/>
              </p:nvPr>
            </p:nvSpPr>
            <p:spPr>
              <a:xfrm>
                <a:off x="2167377" y="11332180"/>
                <a:ext cx="20049246" cy="1520219"/>
              </a:xfrm>
              <a:blipFill>
                <a:blip r:embed="rId3"/>
                <a:stretch>
                  <a:fillRect l="-886" t="-7500" r="-1456" b="-141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Shape 3">
            <a:extLst>
              <a:ext uri="{FF2B5EF4-FFF2-40B4-BE49-F238E27FC236}">
                <a16:creationId xmlns:a16="http://schemas.microsoft.com/office/drawing/2014/main" id="{4394F056-CD93-9B88-5ADF-A2B8BFABC76E}"/>
              </a:ext>
            </a:extLst>
          </p:cNvPr>
          <p:cNvSpPr/>
          <p:nvPr/>
        </p:nvSpPr>
        <p:spPr>
          <a:xfrm>
            <a:off x="2167377" y="3714225"/>
            <a:ext cx="20049246" cy="6828269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9525">
            <a:solidFill>
              <a:srgbClr val="AAAAAA"/>
            </a:solidFill>
            <a:prstDash val="solid"/>
          </a:ln>
        </p:spPr>
        <p:txBody>
          <a:bodyPr/>
          <a:lstStyle/>
          <a:p>
            <a:endParaRPr lang="en-US" sz="720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BE14BEAE-7FFE-ECAA-D710-01BBBAB71157}"/>
              </a:ext>
            </a:extLst>
          </p:cNvPr>
          <p:cNvSpPr/>
          <p:nvPr/>
        </p:nvSpPr>
        <p:spPr>
          <a:xfrm>
            <a:off x="2867389" y="4288758"/>
            <a:ext cx="19349234" cy="57965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/>
            <a:r>
              <a:rPr lang="en-US" sz="40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KADANE-SPACE-OPTIMIZED(A)</a:t>
            </a:r>
          </a:p>
          <a:p>
            <a:pPr algn="l"/>
            <a:r>
              <a:rPr lang="en-US" sz="40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  n = </a:t>
            </a:r>
            <a:r>
              <a:rPr lang="en-US" sz="4000" dirty="0" err="1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A.length</a:t>
            </a:r>
            <a:endParaRPr lang="en-US" sz="4000" dirty="0">
              <a:solidFill>
                <a:srgbClr val="000000"/>
              </a:solidFill>
              <a:latin typeface="Consolas" pitchFamily="34" charset="0"/>
              <a:ea typeface="Consolas" pitchFamily="34" charset="-122"/>
              <a:cs typeface="Consolas" pitchFamily="34" charset="-120"/>
            </a:endParaRPr>
          </a:p>
          <a:p>
            <a:pPr algn="l"/>
            <a:r>
              <a:rPr lang="en-US" sz="40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  </a:t>
            </a:r>
            <a:r>
              <a:rPr lang="en-US" sz="4000" dirty="0" err="1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curr_max</a:t>
            </a:r>
            <a:r>
              <a:rPr lang="en-US" sz="40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A[1]</a:t>
            </a:r>
          </a:p>
          <a:p>
            <a:pPr algn="l"/>
            <a:r>
              <a:rPr lang="en-US" sz="40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  </a:t>
            </a:r>
            <a:r>
              <a:rPr lang="en-US" sz="4000" dirty="0" err="1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global_max</a:t>
            </a:r>
            <a:r>
              <a:rPr lang="en-US" sz="40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A[1]</a:t>
            </a:r>
          </a:p>
          <a:p>
            <a:pPr algn="l"/>
            <a:r>
              <a:rPr lang="en-US" sz="40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  for </a:t>
            </a:r>
            <a:r>
              <a:rPr lang="en-US" sz="4000" dirty="0" err="1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</a:t>
            </a:r>
            <a:r>
              <a:rPr lang="en-US" sz="40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2 to n</a:t>
            </a:r>
          </a:p>
          <a:p>
            <a:pPr algn="l"/>
            <a:r>
              <a:rPr lang="en-US" sz="40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      </a:t>
            </a:r>
            <a:r>
              <a:rPr lang="en-US" sz="4000" dirty="0" err="1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curr_max</a:t>
            </a:r>
            <a:r>
              <a:rPr lang="en-US" sz="40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max(A[</a:t>
            </a:r>
            <a:r>
              <a:rPr lang="en-US" sz="4000" dirty="0" err="1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</a:t>
            </a:r>
            <a:r>
              <a:rPr lang="en-US" sz="40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], </a:t>
            </a:r>
            <a:r>
              <a:rPr lang="en-US" sz="4000" dirty="0" err="1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curr_max</a:t>
            </a:r>
            <a:r>
              <a:rPr lang="en-US" sz="40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+ A[</a:t>
            </a:r>
            <a:r>
              <a:rPr lang="en-US" sz="4000" dirty="0" err="1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</a:t>
            </a:r>
            <a:r>
              <a:rPr lang="en-US" sz="40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])</a:t>
            </a:r>
          </a:p>
          <a:p>
            <a:pPr algn="l"/>
            <a:r>
              <a:rPr lang="en-US" sz="40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      if </a:t>
            </a:r>
            <a:r>
              <a:rPr lang="en-US" sz="4000" dirty="0" err="1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curr_max</a:t>
            </a:r>
            <a:r>
              <a:rPr lang="en-US" sz="40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&gt; </a:t>
            </a:r>
            <a:r>
              <a:rPr lang="en-US" sz="4000" dirty="0" err="1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global_max</a:t>
            </a:r>
            <a:endParaRPr lang="en-US" sz="4000" dirty="0">
              <a:solidFill>
                <a:srgbClr val="000000"/>
              </a:solidFill>
              <a:latin typeface="Consolas" pitchFamily="34" charset="0"/>
              <a:ea typeface="Consolas" pitchFamily="34" charset="-122"/>
              <a:cs typeface="Consolas" pitchFamily="34" charset="-120"/>
            </a:endParaRPr>
          </a:p>
          <a:p>
            <a:pPr algn="l"/>
            <a:r>
              <a:rPr lang="en-US" sz="40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          </a:t>
            </a:r>
            <a:r>
              <a:rPr lang="en-US" sz="4000" dirty="0" err="1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global_max</a:t>
            </a:r>
            <a:r>
              <a:rPr lang="en-US" sz="40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</a:t>
            </a:r>
            <a:r>
              <a:rPr lang="en-US" sz="4000" dirty="0" err="1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curr_max</a:t>
            </a:r>
            <a:endParaRPr lang="en-US" sz="4000" dirty="0">
              <a:solidFill>
                <a:srgbClr val="000000"/>
              </a:solidFill>
              <a:latin typeface="Consolas" pitchFamily="34" charset="0"/>
              <a:ea typeface="Consolas" pitchFamily="34" charset="-122"/>
              <a:cs typeface="Consolas" pitchFamily="34" charset="-120"/>
            </a:endParaRPr>
          </a:p>
          <a:p>
            <a:pPr algn="l"/>
            <a:r>
              <a:rPr lang="en-US" sz="40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  return </a:t>
            </a:r>
            <a:r>
              <a:rPr lang="en-US" sz="4000" dirty="0" err="1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global_max</a:t>
            </a:r>
            <a:endParaRPr lang="en-US" sz="4000" dirty="0">
              <a:solidFill>
                <a:srgbClr val="000000"/>
              </a:solidFill>
              <a:latin typeface="Consolas" pitchFamily="34" charset="0"/>
              <a:ea typeface="Consolas" pitchFamily="34" charset="-122"/>
              <a:cs typeface="Consolas" pitchFamily="34" charset="-120"/>
            </a:endParaRPr>
          </a:p>
        </p:txBody>
      </p:sp>
      <p:sp>
        <p:nvSpPr>
          <p:cNvPr id="8" name="Content Placeholder 3">
            <a:extLst>
              <a:ext uri="{FF2B5EF4-FFF2-40B4-BE49-F238E27FC236}">
                <a16:creationId xmlns:a16="http://schemas.microsoft.com/office/drawing/2014/main" id="{67545933-15CF-2BCF-3DD6-04B5C9A9BCDD}"/>
              </a:ext>
            </a:extLst>
          </p:cNvPr>
          <p:cNvSpPr txBox="1">
            <a:spLocks/>
          </p:cNvSpPr>
          <p:nvPr/>
        </p:nvSpPr>
        <p:spPr>
          <a:xfrm>
            <a:off x="2167377" y="3714224"/>
            <a:ext cx="20235423" cy="949885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>
            <a:normAutofit/>
          </a:bodyPr>
          <a:lstStyle>
            <a:lvl1pPr marL="742950" marR="0" indent="-742950" algn="l" defTabSz="2438338" rtl="0" eaLnBrk="1" latinLnBrk="0" hangingPunct="1">
              <a:lnSpc>
                <a:spcPct val="100000"/>
              </a:lnSpc>
              <a:spcBef>
                <a:spcPts val="3500"/>
              </a:spcBef>
              <a:spcAft>
                <a:spcPts val="0"/>
              </a:spcAft>
              <a:buClrTx/>
              <a:buSzPct val="100000"/>
              <a:buFont typeface="Arial" panose="020B0604020202020204" pitchFamily="34" charset="0"/>
              <a:buChar char="•"/>
              <a:tabLst/>
              <a:defRPr kumimoji="0" lang="en-US" sz="44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Helvetica Neue"/>
              </a:defRPr>
            </a:lvl1pPr>
            <a:lvl2pPr marL="1498950" marR="0" indent="-742950" algn="l" defTabSz="2438338" rtl="0" eaLnBrk="1" latinLnBrk="0" hangingPunct="1">
              <a:lnSpc>
                <a:spcPct val="100000"/>
              </a:lnSpc>
              <a:spcBef>
                <a:spcPts val="3500"/>
              </a:spcBef>
              <a:spcAft>
                <a:spcPts val="0"/>
              </a:spcAft>
              <a:buClrTx/>
              <a:buSzPct val="100000"/>
              <a:buFont typeface="Arial" panose="020B0604020202020204" pitchFamily="34" charset="0"/>
              <a:buChar char="•"/>
              <a:tabLst/>
              <a:defRPr kumimoji="0" lang="en-US" sz="44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Helvetica Neue"/>
              </a:defRPr>
            </a:lvl2pPr>
            <a:lvl3pPr marL="2254950" marR="0" indent="-742950" algn="l" defTabSz="2438338" rtl="0" eaLnBrk="1" latinLnBrk="0" hangingPunct="1">
              <a:lnSpc>
                <a:spcPct val="100000"/>
              </a:lnSpc>
              <a:spcBef>
                <a:spcPts val="3500"/>
              </a:spcBef>
              <a:spcAft>
                <a:spcPts val="0"/>
              </a:spcAft>
              <a:buClrTx/>
              <a:buSzPct val="100000"/>
              <a:buFont typeface="Arial" panose="020B0604020202020204" pitchFamily="34" charset="0"/>
              <a:buChar char="•"/>
              <a:tabLst/>
              <a:defRPr kumimoji="0" lang="en-US" sz="44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Helvetica Neue"/>
              </a:defRPr>
            </a:lvl3pPr>
            <a:lvl4pPr marL="3010950" marR="0" indent="-742950" algn="l" defTabSz="2438338" rtl="0" eaLnBrk="1" latinLnBrk="0" hangingPunct="1">
              <a:lnSpc>
                <a:spcPct val="100000"/>
              </a:lnSpc>
              <a:spcBef>
                <a:spcPts val="3500"/>
              </a:spcBef>
              <a:spcAft>
                <a:spcPts val="0"/>
              </a:spcAft>
              <a:buClrTx/>
              <a:buSzPct val="100000"/>
              <a:buFont typeface="Arial" panose="020B0604020202020204" pitchFamily="34" charset="0"/>
              <a:buChar char="•"/>
              <a:tabLst/>
              <a:defRPr kumimoji="0" lang="en-US" sz="44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Helvetica Neue"/>
              </a:defRPr>
            </a:lvl4pPr>
            <a:lvl5pPr marL="3658950" marR="0" indent="-742950" algn="l" defTabSz="2438338" rtl="0" eaLnBrk="1" latinLnBrk="0" hangingPunct="1">
              <a:lnSpc>
                <a:spcPct val="100000"/>
              </a:lnSpc>
              <a:spcBef>
                <a:spcPts val="3500"/>
              </a:spcBef>
              <a:spcAft>
                <a:spcPts val="0"/>
              </a:spcAft>
              <a:buClrTx/>
              <a:buSzPct val="100000"/>
              <a:buFont typeface="Arial" panose="020B0604020202020204" pitchFamily="34" charset="0"/>
              <a:buChar char="•"/>
              <a:tabLst/>
              <a:defRPr kumimoji="0" lang="en-US" sz="44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Helvetica Neue"/>
              </a:defRPr>
            </a:lvl5pPr>
            <a:lvl6pPr marL="36576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6pPr>
            <a:lvl7pPr marL="3657600" marR="0" indent="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None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7pPr>
            <a:lvl8pPr marL="48768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8pPr>
            <a:lvl9pPr marL="54864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9pPr>
          </a:lstStyle>
          <a:p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2909912746"/>
      </p:ext>
    </p:extLst>
  </p:cSld>
  <p:clrMapOvr>
    <a:masterClrMapping/>
  </p:clrMapOvr>
  <p:transition spd="med"/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DBC489-2C55-AA15-3C87-08EFB1FA71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A439CD-EF02-71B0-257D-C4C64AF6C5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D" dirty="0"/>
              <a:t>Maximum Subarray Sum: </a:t>
            </a:r>
            <a:r>
              <a:rPr lang="en-ID" dirty="0" err="1"/>
              <a:t>Kadane's</a:t>
            </a:r>
            <a:r>
              <a:rPr lang="en-ID" dirty="0"/>
              <a:t> Algorithm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1F1AC0E-0E84-6EBF-CC1C-A71B05C51DB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r>
              <a:rPr lang="en-ID" dirty="0"/>
              <a:t>Step 3 – Compute the Value Bottom-Up</a:t>
            </a:r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663DD897-03BE-6178-2403-FC602DC64F37}"/>
              </a:ext>
            </a:extLst>
          </p:cNvPr>
          <p:cNvSpPr/>
          <p:nvPr/>
        </p:nvSpPr>
        <p:spPr>
          <a:xfrm>
            <a:off x="2167377" y="3714225"/>
            <a:ext cx="19032265" cy="7032418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9525">
            <a:solidFill>
              <a:srgbClr val="AAAAAA"/>
            </a:solidFill>
            <a:prstDash val="solid"/>
          </a:ln>
        </p:spPr>
        <p:txBody>
          <a:bodyPr/>
          <a:lstStyle/>
          <a:p>
            <a:endParaRPr lang="en-US" sz="720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8265A494-349B-CF2E-54DD-EB861FA7A740}"/>
              </a:ext>
            </a:extLst>
          </p:cNvPr>
          <p:cNvSpPr/>
          <p:nvPr/>
        </p:nvSpPr>
        <p:spPr>
          <a:xfrm>
            <a:off x="2930619" y="4263853"/>
            <a:ext cx="17505780" cy="70324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/>
            <a:r>
              <a:rPr lang="en-US" sz="48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FIB-SPACE-OPTIMIZED(n)</a:t>
            </a:r>
          </a:p>
          <a:p>
            <a:pPr algn="l"/>
            <a:r>
              <a:rPr lang="en-US" sz="48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  if n == 0 return 0</a:t>
            </a:r>
          </a:p>
          <a:p>
            <a:pPr algn="l"/>
            <a:r>
              <a:rPr lang="en-US" sz="48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  prev2 = 0</a:t>
            </a:r>
          </a:p>
          <a:p>
            <a:pPr algn="l"/>
            <a:r>
              <a:rPr lang="en-US" sz="48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  prev1 = 1</a:t>
            </a:r>
          </a:p>
          <a:p>
            <a:pPr algn="l"/>
            <a:r>
              <a:rPr lang="en-US" sz="48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  for </a:t>
            </a:r>
            <a:r>
              <a:rPr lang="en-US" sz="4800" dirty="0" err="1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</a:t>
            </a:r>
            <a:r>
              <a:rPr lang="en-US" sz="48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2 to n</a:t>
            </a:r>
          </a:p>
          <a:p>
            <a:pPr algn="l"/>
            <a:r>
              <a:rPr lang="en-US" sz="48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      </a:t>
            </a:r>
            <a:r>
              <a:rPr lang="en-US" sz="4800" dirty="0" err="1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curr</a:t>
            </a:r>
            <a:r>
              <a:rPr lang="en-US" sz="48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prev1 + prev2</a:t>
            </a:r>
          </a:p>
          <a:p>
            <a:pPr algn="l"/>
            <a:r>
              <a:rPr lang="en-US" sz="48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      prev2, prev1 = prev1, </a:t>
            </a:r>
            <a:r>
              <a:rPr lang="en-US" sz="4800" dirty="0" err="1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curr</a:t>
            </a:r>
            <a:endParaRPr lang="en-US" sz="4800" dirty="0">
              <a:solidFill>
                <a:srgbClr val="000000"/>
              </a:solidFill>
              <a:latin typeface="Consolas" pitchFamily="34" charset="0"/>
              <a:ea typeface="Consolas" pitchFamily="34" charset="-122"/>
              <a:cs typeface="Consolas" pitchFamily="34" charset="-120"/>
            </a:endParaRPr>
          </a:p>
          <a:p>
            <a:pPr algn="l"/>
            <a:r>
              <a:rPr lang="en-US" sz="48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  return prev1</a:t>
            </a:r>
          </a:p>
        </p:txBody>
      </p:sp>
      <p:sp>
        <p:nvSpPr>
          <p:cNvPr id="7" name="Content Placeholder 3">
            <a:extLst>
              <a:ext uri="{FF2B5EF4-FFF2-40B4-BE49-F238E27FC236}">
                <a16:creationId xmlns:a16="http://schemas.microsoft.com/office/drawing/2014/main" id="{5529AFA3-5A66-248B-3A63-C17C82771F8F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2167377" y="11332180"/>
            <a:ext cx="20049246" cy="1520219"/>
          </a:xfrm>
        </p:spPr>
        <p:txBody>
          <a:bodyPr>
            <a:normAutofit/>
          </a:bodyPr>
          <a:lstStyle/>
          <a:p>
            <a:pPr marL="101600" indent="0" algn="just">
              <a:buNone/>
            </a:pPr>
            <a:r>
              <a:rPr lang="en-US" dirty="0">
                <a:solidFill>
                  <a:srgbClr val="000000"/>
                </a:solidFill>
              </a:rPr>
              <a:t>In fact, you may have done this in Fibonacci before.</a:t>
            </a:r>
          </a:p>
        </p:txBody>
      </p:sp>
    </p:spTree>
    <p:extLst>
      <p:ext uri="{BB962C8B-B14F-4D97-AF65-F5344CB8AC3E}">
        <p14:creationId xmlns:p14="http://schemas.microsoft.com/office/powerpoint/2010/main" val="1801260228"/>
      </p:ext>
    </p:extLst>
  </p:cSld>
  <p:clrMapOvr>
    <a:masterClrMapping/>
  </p:clrMapOvr>
  <p:transition spd="med"/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86D73A-FD55-403F-1974-DFF961C845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ED6444-DB11-832A-B632-CF9D2C592F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D" dirty="0"/>
              <a:t>Maximum Subarray Sum: </a:t>
            </a:r>
            <a:r>
              <a:rPr lang="en-ID" dirty="0" err="1"/>
              <a:t>Kadane's</a:t>
            </a:r>
            <a:r>
              <a:rPr lang="en-ID" dirty="0"/>
              <a:t> Algorithm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B6C8B74-FB5B-C064-5DE2-5A8B1B91171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167377" y="2419728"/>
            <a:ext cx="17572905" cy="803546"/>
          </a:xfrm>
        </p:spPr>
        <p:txBody>
          <a:bodyPr>
            <a:normAutofit/>
          </a:bodyPr>
          <a:lstStyle/>
          <a:p>
            <a:r>
              <a:rPr lang="en-ID" dirty="0"/>
              <a:t>Step 4 – Construct the solution: Tracking Indices to Rebuild the Subarray</a:t>
            </a:r>
          </a:p>
        </p:txBody>
      </p:sp>
      <p:sp>
        <p:nvSpPr>
          <p:cNvPr id="10" name="Content Placeholder 3">
            <a:extLst>
              <a:ext uri="{FF2B5EF4-FFF2-40B4-BE49-F238E27FC236}">
                <a16:creationId xmlns:a16="http://schemas.microsoft.com/office/drawing/2014/main" id="{0436EB71-25F3-DDB8-8EB0-279C4BD83617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2167377" y="3714224"/>
            <a:ext cx="20235423" cy="9498856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chemeClr val="bg2">
                    <a:lumMod val="10000"/>
                  </a:schemeClr>
                </a:solidFill>
              </a:rPr>
              <a:t>So, we have got the optimal solution. </a:t>
            </a:r>
          </a:p>
          <a:p>
            <a:r>
              <a:rPr lang="en-US" b="1" dirty="0">
                <a:solidFill>
                  <a:schemeClr val="bg2">
                    <a:lumMod val="10000"/>
                  </a:schemeClr>
                </a:solidFill>
              </a:rPr>
              <a:t>Now, what if we want to know from which subarray does the solution come from?</a:t>
            </a:r>
          </a:p>
          <a:p>
            <a:r>
              <a:rPr lang="en-US" dirty="0">
                <a:solidFill>
                  <a:schemeClr val="bg2">
                    <a:lumMod val="10000"/>
                  </a:schemeClr>
                </a:solidFill>
              </a:rPr>
              <a:t>To output the subarray, we need the indices information, so track index boundaries when values change:</a:t>
            </a:r>
          </a:p>
          <a:p>
            <a:pPr lvl="1"/>
            <a:r>
              <a:rPr lang="en-US" b="1" dirty="0">
                <a:solidFill>
                  <a:schemeClr val="bg2">
                    <a:lumMod val="10000"/>
                  </a:schemeClr>
                </a:solidFill>
              </a:rPr>
              <a:t>Expansion Rule</a:t>
            </a:r>
            <a:r>
              <a:rPr lang="en-US" dirty="0">
                <a:solidFill>
                  <a:schemeClr val="bg2">
                    <a:lumMod val="10000"/>
                  </a:schemeClr>
                </a:solidFill>
              </a:rPr>
              <a:t>: If </a:t>
            </a:r>
            <a:r>
              <a:rPr lang="en-US" dirty="0" err="1">
                <a:solidFill>
                  <a:schemeClr val="bg2">
                    <a:lumMod val="10000"/>
                  </a:schemeClr>
                </a:solidFill>
              </a:rPr>
              <a:t>curr_max</a:t>
            </a:r>
            <a:r>
              <a:rPr lang="en-US" dirty="0">
                <a:solidFill>
                  <a:schemeClr val="bg2">
                    <a:lumMod val="10000"/>
                  </a:schemeClr>
                </a:solidFill>
              </a:rPr>
              <a:t> reset, the start boundary shift to current index.</a:t>
            </a:r>
          </a:p>
          <a:p>
            <a:pPr lvl="1"/>
            <a:r>
              <a:rPr lang="en-US" b="1" dirty="0">
                <a:solidFill>
                  <a:schemeClr val="bg2">
                    <a:lumMod val="10000"/>
                  </a:schemeClr>
                </a:solidFill>
              </a:rPr>
              <a:t>Global Rule</a:t>
            </a:r>
            <a:r>
              <a:rPr lang="en-US" dirty="0">
                <a:solidFill>
                  <a:schemeClr val="bg2">
                    <a:lumMod val="10000"/>
                  </a:schemeClr>
                </a:solidFill>
              </a:rPr>
              <a:t>: If new global maximum is achieved, update the start and end boundaries permanently.</a:t>
            </a:r>
            <a:endParaRPr lang="en-ID" dirty="0">
              <a:solidFill>
                <a:schemeClr val="bg2">
                  <a:lumMod val="1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02104114"/>
      </p:ext>
    </p:extLst>
  </p:cSld>
  <p:clrMapOvr>
    <a:masterClrMapping/>
  </p:clrMapOvr>
  <p:transition spd="med"/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F6871C-E566-C766-2E5F-5A73EE4F58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921B8D-6241-D362-F5BA-44546E428A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D" dirty="0"/>
              <a:t>Maximum Subarray Sum: </a:t>
            </a:r>
            <a:r>
              <a:rPr lang="en-ID" dirty="0" err="1"/>
              <a:t>Kadane's</a:t>
            </a:r>
            <a:r>
              <a:rPr lang="en-ID" dirty="0"/>
              <a:t> Algorithm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111412C-2B1C-1BEF-2799-8B85B4AF338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167377" y="2419728"/>
            <a:ext cx="19240341" cy="803546"/>
          </a:xfrm>
        </p:spPr>
        <p:txBody>
          <a:bodyPr>
            <a:normAutofit/>
          </a:bodyPr>
          <a:lstStyle/>
          <a:p>
            <a:r>
              <a:rPr lang="en-ID" dirty="0"/>
              <a:t>Step 4 – Construct the solution: Tracking Indices to Rebuild the Subarray</a:t>
            </a:r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FDB0E958-6F80-3A48-C59D-C7C820D4D175}"/>
              </a:ext>
            </a:extLst>
          </p:cNvPr>
          <p:cNvSpPr/>
          <p:nvPr/>
        </p:nvSpPr>
        <p:spPr>
          <a:xfrm>
            <a:off x="2167377" y="3310815"/>
            <a:ext cx="20049246" cy="10001775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9525">
            <a:solidFill>
              <a:srgbClr val="AAAAAA"/>
            </a:solidFill>
            <a:prstDash val="solid"/>
          </a:ln>
        </p:spPr>
        <p:txBody>
          <a:bodyPr/>
          <a:lstStyle/>
          <a:p>
            <a:endParaRPr lang="en-US" sz="720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34761D55-B15E-BB32-BCBE-0E52572AF269}"/>
              </a:ext>
            </a:extLst>
          </p:cNvPr>
          <p:cNvSpPr/>
          <p:nvPr/>
        </p:nvSpPr>
        <p:spPr>
          <a:xfrm>
            <a:off x="2867389" y="3660435"/>
            <a:ext cx="18540329" cy="92487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/>
            <a:r>
              <a:rPr lang="en-US" sz="40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KADANE-CONSTRUCT(A)</a:t>
            </a:r>
          </a:p>
          <a:p>
            <a:pPr algn="l"/>
            <a:r>
              <a:rPr lang="en-US" sz="40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  n = </a:t>
            </a:r>
            <a:r>
              <a:rPr lang="en-US" sz="4000" dirty="0" err="1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A.length</a:t>
            </a:r>
            <a:endParaRPr lang="en-US" sz="4000" dirty="0">
              <a:solidFill>
                <a:srgbClr val="000000"/>
              </a:solidFill>
              <a:latin typeface="Consolas" pitchFamily="34" charset="0"/>
              <a:ea typeface="Consolas" pitchFamily="34" charset="-122"/>
              <a:cs typeface="Consolas" pitchFamily="34" charset="-120"/>
            </a:endParaRPr>
          </a:p>
          <a:p>
            <a:pPr algn="l"/>
            <a:r>
              <a:rPr lang="en-US" sz="40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  </a:t>
            </a:r>
            <a:r>
              <a:rPr lang="en-US" sz="4000" dirty="0" err="1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curr_max</a:t>
            </a:r>
            <a:r>
              <a:rPr lang="en-US" sz="40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A[1]</a:t>
            </a:r>
          </a:p>
          <a:p>
            <a:pPr algn="l"/>
            <a:r>
              <a:rPr lang="en-US" sz="40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  </a:t>
            </a:r>
            <a:r>
              <a:rPr lang="en-US" sz="4000" dirty="0" err="1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global_max</a:t>
            </a:r>
            <a:r>
              <a:rPr lang="en-US" sz="40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A[1]</a:t>
            </a:r>
          </a:p>
          <a:p>
            <a:pPr algn="l"/>
            <a:r>
              <a:rPr lang="en-US" sz="4000" b="1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  start = 1; end = 1; </a:t>
            </a:r>
            <a:r>
              <a:rPr lang="en-US" sz="4000" b="1" dirty="0" err="1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temp_start</a:t>
            </a:r>
            <a:r>
              <a:rPr lang="en-US" sz="4000" b="1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1</a:t>
            </a:r>
          </a:p>
          <a:p>
            <a:pPr algn="l"/>
            <a:r>
              <a:rPr lang="en-US" sz="40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  for </a:t>
            </a:r>
            <a:r>
              <a:rPr lang="en-US" sz="4000" dirty="0" err="1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</a:t>
            </a:r>
            <a:r>
              <a:rPr lang="en-US" sz="40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2 to n</a:t>
            </a:r>
          </a:p>
          <a:p>
            <a:pPr algn="l"/>
            <a:r>
              <a:rPr lang="en-US" sz="40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      if A[</a:t>
            </a:r>
            <a:r>
              <a:rPr lang="en-US" sz="4000" dirty="0" err="1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</a:t>
            </a:r>
            <a:r>
              <a:rPr lang="en-US" sz="40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 &gt; </a:t>
            </a:r>
            <a:r>
              <a:rPr lang="en-US" sz="4000" dirty="0" err="1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curr_max</a:t>
            </a:r>
            <a:r>
              <a:rPr lang="en-US" sz="40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+ A[</a:t>
            </a:r>
            <a:r>
              <a:rPr lang="en-US" sz="4000" dirty="0" err="1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</a:t>
            </a:r>
            <a:r>
              <a:rPr lang="en-US" sz="40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</a:t>
            </a:r>
          </a:p>
          <a:p>
            <a:pPr algn="l"/>
            <a:r>
              <a:rPr lang="en-US" sz="40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          </a:t>
            </a:r>
            <a:r>
              <a:rPr lang="en-US" sz="4000" dirty="0" err="1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curr_max</a:t>
            </a:r>
            <a:r>
              <a:rPr lang="en-US" sz="40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A[</a:t>
            </a:r>
            <a:r>
              <a:rPr lang="en-US" sz="4000" dirty="0" err="1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</a:t>
            </a:r>
            <a:r>
              <a:rPr lang="en-US" sz="40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</a:t>
            </a:r>
          </a:p>
          <a:p>
            <a:pPr algn="l"/>
            <a:r>
              <a:rPr lang="en-US" sz="40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          </a:t>
            </a:r>
            <a:r>
              <a:rPr lang="en-US" sz="4000" b="1" dirty="0" err="1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temp_start</a:t>
            </a:r>
            <a:r>
              <a:rPr lang="en-US" sz="4000" b="1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</a:t>
            </a:r>
            <a:r>
              <a:rPr lang="en-US" sz="4000" b="1" dirty="0" err="1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</a:t>
            </a:r>
            <a:endParaRPr lang="en-US" sz="4000" b="1" dirty="0">
              <a:solidFill>
                <a:srgbClr val="000000"/>
              </a:solidFill>
              <a:latin typeface="Consolas" pitchFamily="34" charset="0"/>
              <a:ea typeface="Consolas" pitchFamily="34" charset="-122"/>
              <a:cs typeface="Consolas" pitchFamily="34" charset="-120"/>
            </a:endParaRPr>
          </a:p>
          <a:p>
            <a:pPr algn="l"/>
            <a:r>
              <a:rPr lang="en-US" sz="40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      else </a:t>
            </a:r>
            <a:r>
              <a:rPr lang="en-US" sz="4000" dirty="0" err="1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curr_max</a:t>
            </a:r>
            <a:r>
              <a:rPr lang="en-US" sz="40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</a:t>
            </a:r>
            <a:r>
              <a:rPr lang="en-US" sz="4000" dirty="0" err="1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curr_max</a:t>
            </a:r>
            <a:r>
              <a:rPr lang="en-US" sz="40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+ A[</a:t>
            </a:r>
            <a:r>
              <a:rPr lang="en-US" sz="4000" dirty="0" err="1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</a:t>
            </a:r>
            <a:r>
              <a:rPr lang="en-US" sz="40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</a:t>
            </a:r>
          </a:p>
          <a:p>
            <a:pPr algn="l"/>
            <a:r>
              <a:rPr lang="en-US" sz="40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     if </a:t>
            </a:r>
            <a:r>
              <a:rPr lang="en-US" sz="4000" dirty="0" err="1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curr_max</a:t>
            </a:r>
            <a:r>
              <a:rPr lang="en-US" sz="40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&gt; </a:t>
            </a:r>
            <a:r>
              <a:rPr lang="en-US" sz="4000" dirty="0" err="1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global_max</a:t>
            </a:r>
            <a:endParaRPr lang="en-US" sz="4000" dirty="0">
              <a:solidFill>
                <a:srgbClr val="000000"/>
              </a:solidFill>
              <a:latin typeface="Consolas" pitchFamily="34" charset="0"/>
              <a:ea typeface="Consolas" pitchFamily="34" charset="-122"/>
              <a:cs typeface="Consolas" pitchFamily="34" charset="-120"/>
            </a:endParaRPr>
          </a:p>
          <a:p>
            <a:pPr algn="l"/>
            <a:r>
              <a:rPr lang="en-US" sz="40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         </a:t>
            </a:r>
            <a:r>
              <a:rPr lang="en-US" sz="4000" dirty="0" err="1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global_max</a:t>
            </a:r>
            <a:r>
              <a:rPr lang="en-US" sz="40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</a:t>
            </a:r>
            <a:r>
              <a:rPr lang="en-US" sz="4000" dirty="0" err="1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curr_max</a:t>
            </a:r>
            <a:endParaRPr lang="en-US" sz="4000" dirty="0">
              <a:solidFill>
                <a:srgbClr val="000000"/>
              </a:solidFill>
              <a:latin typeface="Consolas" pitchFamily="34" charset="0"/>
              <a:ea typeface="Consolas" pitchFamily="34" charset="-122"/>
              <a:cs typeface="Consolas" pitchFamily="34" charset="-120"/>
            </a:endParaRPr>
          </a:p>
          <a:p>
            <a:pPr algn="l"/>
            <a:r>
              <a:rPr lang="en-US" sz="40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         </a:t>
            </a:r>
            <a:r>
              <a:rPr lang="en-US" sz="4000" b="1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start = </a:t>
            </a:r>
            <a:r>
              <a:rPr lang="en-US" sz="4000" b="1" dirty="0" err="1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temp_start</a:t>
            </a:r>
            <a:endParaRPr lang="en-US" sz="4000" b="1" dirty="0">
              <a:solidFill>
                <a:srgbClr val="000000"/>
              </a:solidFill>
              <a:latin typeface="Consolas" pitchFamily="34" charset="0"/>
              <a:ea typeface="Consolas" pitchFamily="34" charset="-122"/>
              <a:cs typeface="Consolas" pitchFamily="34" charset="-120"/>
            </a:endParaRPr>
          </a:p>
          <a:p>
            <a:pPr algn="l"/>
            <a:r>
              <a:rPr lang="en-US" sz="40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13         </a:t>
            </a:r>
            <a:r>
              <a:rPr lang="en-US" sz="4000" b="1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end = </a:t>
            </a:r>
            <a:r>
              <a:rPr lang="en-US" sz="4000" b="1" dirty="0" err="1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</a:t>
            </a:r>
            <a:endParaRPr lang="en-US" sz="4000" b="1" dirty="0">
              <a:solidFill>
                <a:srgbClr val="000000"/>
              </a:solidFill>
              <a:latin typeface="Consolas" pitchFamily="34" charset="0"/>
              <a:ea typeface="Consolas" pitchFamily="34" charset="-122"/>
              <a:cs typeface="Consolas" pitchFamily="34" charset="-120"/>
            </a:endParaRPr>
          </a:p>
          <a:p>
            <a:pPr algn="l"/>
            <a:r>
              <a:rPr lang="en-US" sz="40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14 return A[</a:t>
            </a:r>
            <a:r>
              <a:rPr lang="en-US" sz="4000" dirty="0" err="1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start..end</a:t>
            </a:r>
            <a:r>
              <a:rPr lang="en-US" sz="40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 with sum </a:t>
            </a:r>
            <a:r>
              <a:rPr lang="en-US" sz="4000" dirty="0" err="1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global_max</a:t>
            </a:r>
            <a:endParaRPr lang="en-US" sz="4000" dirty="0">
              <a:solidFill>
                <a:srgbClr val="000000"/>
              </a:solidFill>
              <a:latin typeface="Consolas" pitchFamily="34" charset="0"/>
              <a:ea typeface="Consolas" pitchFamily="34" charset="-122"/>
              <a:cs typeface="Consolas" pitchFamily="34" charset="-120"/>
            </a:endParaRPr>
          </a:p>
        </p:txBody>
      </p:sp>
      <p:sp>
        <p:nvSpPr>
          <p:cNvPr id="8" name="Content Placeholder 3">
            <a:extLst>
              <a:ext uri="{FF2B5EF4-FFF2-40B4-BE49-F238E27FC236}">
                <a16:creationId xmlns:a16="http://schemas.microsoft.com/office/drawing/2014/main" id="{2939422B-96BB-EA77-1AE7-C79F44061861}"/>
              </a:ext>
            </a:extLst>
          </p:cNvPr>
          <p:cNvSpPr txBox="1">
            <a:spLocks/>
          </p:cNvSpPr>
          <p:nvPr/>
        </p:nvSpPr>
        <p:spPr>
          <a:xfrm>
            <a:off x="2167377" y="3714224"/>
            <a:ext cx="20235423" cy="949885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>
            <a:normAutofit/>
          </a:bodyPr>
          <a:lstStyle>
            <a:lvl1pPr marL="742950" marR="0" indent="-742950" algn="l" defTabSz="2438338" rtl="0" eaLnBrk="1" latinLnBrk="0" hangingPunct="1">
              <a:lnSpc>
                <a:spcPct val="100000"/>
              </a:lnSpc>
              <a:spcBef>
                <a:spcPts val="3500"/>
              </a:spcBef>
              <a:spcAft>
                <a:spcPts val="0"/>
              </a:spcAft>
              <a:buClrTx/>
              <a:buSzPct val="100000"/>
              <a:buFont typeface="Arial" panose="020B0604020202020204" pitchFamily="34" charset="0"/>
              <a:buChar char="•"/>
              <a:tabLst/>
              <a:defRPr kumimoji="0" lang="en-US" sz="44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Helvetica Neue"/>
              </a:defRPr>
            </a:lvl1pPr>
            <a:lvl2pPr marL="1498950" marR="0" indent="-742950" algn="l" defTabSz="2438338" rtl="0" eaLnBrk="1" latinLnBrk="0" hangingPunct="1">
              <a:lnSpc>
                <a:spcPct val="100000"/>
              </a:lnSpc>
              <a:spcBef>
                <a:spcPts val="3500"/>
              </a:spcBef>
              <a:spcAft>
                <a:spcPts val="0"/>
              </a:spcAft>
              <a:buClrTx/>
              <a:buSzPct val="100000"/>
              <a:buFont typeface="Arial" panose="020B0604020202020204" pitchFamily="34" charset="0"/>
              <a:buChar char="•"/>
              <a:tabLst/>
              <a:defRPr kumimoji="0" lang="en-US" sz="44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Helvetica Neue"/>
              </a:defRPr>
            </a:lvl2pPr>
            <a:lvl3pPr marL="2254950" marR="0" indent="-742950" algn="l" defTabSz="2438338" rtl="0" eaLnBrk="1" latinLnBrk="0" hangingPunct="1">
              <a:lnSpc>
                <a:spcPct val="100000"/>
              </a:lnSpc>
              <a:spcBef>
                <a:spcPts val="3500"/>
              </a:spcBef>
              <a:spcAft>
                <a:spcPts val="0"/>
              </a:spcAft>
              <a:buClrTx/>
              <a:buSzPct val="100000"/>
              <a:buFont typeface="Arial" panose="020B0604020202020204" pitchFamily="34" charset="0"/>
              <a:buChar char="•"/>
              <a:tabLst/>
              <a:defRPr kumimoji="0" lang="en-US" sz="44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Helvetica Neue"/>
              </a:defRPr>
            </a:lvl3pPr>
            <a:lvl4pPr marL="3010950" marR="0" indent="-742950" algn="l" defTabSz="2438338" rtl="0" eaLnBrk="1" latinLnBrk="0" hangingPunct="1">
              <a:lnSpc>
                <a:spcPct val="100000"/>
              </a:lnSpc>
              <a:spcBef>
                <a:spcPts val="3500"/>
              </a:spcBef>
              <a:spcAft>
                <a:spcPts val="0"/>
              </a:spcAft>
              <a:buClrTx/>
              <a:buSzPct val="100000"/>
              <a:buFont typeface="Arial" panose="020B0604020202020204" pitchFamily="34" charset="0"/>
              <a:buChar char="•"/>
              <a:tabLst/>
              <a:defRPr kumimoji="0" lang="en-US" sz="44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Helvetica Neue"/>
              </a:defRPr>
            </a:lvl4pPr>
            <a:lvl5pPr marL="3658950" marR="0" indent="-742950" algn="l" defTabSz="2438338" rtl="0" eaLnBrk="1" latinLnBrk="0" hangingPunct="1">
              <a:lnSpc>
                <a:spcPct val="100000"/>
              </a:lnSpc>
              <a:spcBef>
                <a:spcPts val="3500"/>
              </a:spcBef>
              <a:spcAft>
                <a:spcPts val="0"/>
              </a:spcAft>
              <a:buClrTx/>
              <a:buSzPct val="100000"/>
              <a:buFont typeface="Arial" panose="020B0604020202020204" pitchFamily="34" charset="0"/>
              <a:buChar char="•"/>
              <a:tabLst/>
              <a:defRPr kumimoji="0" lang="en-US" sz="44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Helvetica Neue"/>
              </a:defRPr>
            </a:lvl5pPr>
            <a:lvl6pPr marL="36576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6pPr>
            <a:lvl7pPr marL="3657600" marR="0" indent="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None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7pPr>
            <a:lvl8pPr marL="48768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8pPr>
            <a:lvl9pPr marL="54864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9pPr>
          </a:lstStyle>
          <a:p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1398257891"/>
      </p:ext>
    </p:extLst>
  </p:cSld>
  <p:clrMapOvr>
    <a:masterClrMapping/>
  </p:clrMapOvr>
  <p:transition spd="med"/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D19AA6-58C7-8629-1F79-445717C66C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8C18C7-61A5-6D27-7A33-CEA6B1C4FB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D" dirty="0"/>
              <a:t>Maximum Subarray Sum: </a:t>
            </a:r>
            <a:r>
              <a:rPr lang="en-ID" dirty="0" err="1"/>
              <a:t>Kadane's</a:t>
            </a:r>
            <a:r>
              <a:rPr lang="en-ID" dirty="0"/>
              <a:t> Algorithm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CAD2748-4AD4-648E-1507-E211BBDF913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167377" y="2419728"/>
            <a:ext cx="17572905" cy="803546"/>
          </a:xfrm>
        </p:spPr>
        <p:txBody>
          <a:bodyPr>
            <a:normAutofit/>
          </a:bodyPr>
          <a:lstStyle/>
          <a:p>
            <a:r>
              <a:rPr lang="en-ID" dirty="0"/>
              <a:t>Trace on array = [-2, 1, -3, 4, -1, 2, 1]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4" name="Content Placeholder 3">
                <a:extLst>
                  <a:ext uri="{FF2B5EF4-FFF2-40B4-BE49-F238E27FC236}">
                    <a16:creationId xmlns:a16="http://schemas.microsoft.com/office/drawing/2014/main" id="{28762BF0-1529-945A-5E66-6BCD528A9D88}"/>
                  </a:ext>
                </a:extLst>
              </p:cNvPr>
              <p:cNvGraphicFramePr>
                <a:graphicFrameLocks noGrp="1"/>
              </p:cNvGraphicFramePr>
              <p:nvPr>
                <p:ph sz="quarter" idx="11"/>
                <p:extLst>
                  <p:ext uri="{D42A27DB-BD31-4B8C-83A1-F6EECF244321}">
                    <p14:modId xmlns:p14="http://schemas.microsoft.com/office/powerpoint/2010/main" val="4063993487"/>
                  </p:ext>
                </p:extLst>
              </p:nvPr>
            </p:nvGraphicFramePr>
            <p:xfrm>
              <a:off x="2166938" y="3714750"/>
              <a:ext cx="20235863" cy="8870640"/>
            </p:xfrm>
            <a:graphic>
              <a:graphicData uri="http://schemas.openxmlformats.org/drawingml/2006/table">
                <a:tbl>
                  <a:tblPr firstRow="1" bandRow="1">
                    <a:tableStyleId>{3C2FFA5D-87B4-456A-9821-1D502468CF0F}</a:tableStyleId>
                  </a:tblPr>
                  <a:tblGrid>
                    <a:gridCol w="1691665">
                      <a:extLst>
                        <a:ext uri="{9D8B030D-6E8A-4147-A177-3AD203B41FA5}">
                          <a16:colId xmlns:a16="http://schemas.microsoft.com/office/drawing/2014/main" val="1750353325"/>
                        </a:ext>
                      </a:extLst>
                    </a:gridCol>
                    <a:gridCol w="2687534">
                      <a:extLst>
                        <a:ext uri="{9D8B030D-6E8A-4147-A177-3AD203B41FA5}">
                          <a16:colId xmlns:a16="http://schemas.microsoft.com/office/drawing/2014/main" val="3079489845"/>
                        </a:ext>
                      </a:extLst>
                    </a:gridCol>
                    <a:gridCol w="5738732">
                      <a:extLst>
                        <a:ext uri="{9D8B030D-6E8A-4147-A177-3AD203B41FA5}">
                          <a16:colId xmlns:a16="http://schemas.microsoft.com/office/drawing/2014/main" val="3669343845"/>
                        </a:ext>
                      </a:extLst>
                    </a:gridCol>
                    <a:gridCol w="2722049">
                      <a:extLst>
                        <a:ext uri="{9D8B030D-6E8A-4147-A177-3AD203B41FA5}">
                          <a16:colId xmlns:a16="http://schemas.microsoft.com/office/drawing/2014/main" val="3492459274"/>
                        </a:ext>
                      </a:extLst>
                    </a:gridCol>
                    <a:gridCol w="3281082">
                      <a:extLst>
                        <a:ext uri="{9D8B030D-6E8A-4147-A177-3AD203B41FA5}">
                          <a16:colId xmlns:a16="http://schemas.microsoft.com/office/drawing/2014/main" val="2322849096"/>
                        </a:ext>
                      </a:extLst>
                    </a:gridCol>
                    <a:gridCol w="4114801">
                      <a:extLst>
                        <a:ext uri="{9D8B030D-6E8A-4147-A177-3AD203B41FA5}">
                          <a16:colId xmlns:a16="http://schemas.microsoft.com/office/drawing/2014/main" val="3426120698"/>
                        </a:ext>
                      </a:extLst>
                    </a:gridCol>
                  </a:tblGrid>
                  <a:tr h="1080000">
                    <a:tc>
                      <a:txBody>
                        <a:bodyPr/>
                        <a:lstStyle/>
                        <a:p>
                          <a:r>
                            <a:rPr lang="en-US" sz="4000" dirty="0" err="1"/>
                            <a:t>i</a:t>
                          </a:r>
                          <a:endParaRPr lang="en-US" sz="40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r>
                            <a:rPr lang="en-US" sz="4000" dirty="0"/>
                            <a:t>Element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r>
                            <a:rPr lang="en-US" sz="4000" dirty="0"/>
                            <a:t>Formula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r>
                            <a:rPr lang="en-US" sz="4000" dirty="0" err="1"/>
                            <a:t>curr_max</a:t>
                          </a:r>
                          <a:endParaRPr lang="en-US" sz="40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r>
                            <a:rPr lang="en-US" sz="4000" dirty="0" err="1"/>
                            <a:t>global_max</a:t>
                          </a:r>
                          <a:endParaRPr lang="en-US" sz="40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r>
                            <a:rPr lang="en-US" sz="4000" dirty="0"/>
                            <a:t>Subarray Tracked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959871269"/>
                      </a:ext>
                    </a:extLst>
                  </a:tr>
                  <a:tr h="1080000">
                    <a:tc>
                      <a:txBody>
                        <a:bodyPr/>
                        <a:lstStyle/>
                        <a:p>
                          <a:endParaRPr lang="en-US" sz="4000" dirty="0">
                            <a:solidFill>
                              <a:schemeClr val="bg2">
                                <a:lumMod val="10000"/>
                              </a:schemeClr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r>
                            <a:rPr lang="en-US" sz="4000" dirty="0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</a:rPr>
                            <a:t>-2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r>
                            <a:rPr lang="en-US" sz="4000" dirty="0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</a:rPr>
                            <a:t>Initialization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r>
                            <a:rPr lang="en-US" sz="4000" dirty="0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</a:rPr>
                            <a:t>-2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r>
                            <a:rPr lang="en-US" sz="4000" dirty="0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</a:rPr>
                            <a:t>-2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r>
                            <a:rPr lang="en-US" sz="4000" dirty="0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</a:rPr>
                            <a:t>[-2]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840506733"/>
                      </a:ext>
                    </a:extLst>
                  </a:tr>
                  <a:tr h="1080000">
                    <a:tc>
                      <a:txBody>
                        <a:bodyPr/>
                        <a:lstStyle/>
                        <a:p>
                          <a:r>
                            <a:rPr lang="en-US" sz="4000" dirty="0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</a:rPr>
                            <a:t>2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r>
                            <a:rPr lang="en-US" sz="4000" dirty="0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</a:rPr>
                            <a:t>1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ar-AE" sz="4000" b="0" i="1" dirty="0" smtClean="0">
                                    <a:solidFill>
                                      <a:schemeClr val="bg2">
                                        <a:lumMod val="1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𝑚</m:t>
                                </m:r>
                                <m:r>
                                  <a:rPr lang="ar-AE" sz="4000" i="1" dirty="0" smtClean="0">
                                    <a:solidFill>
                                      <a:schemeClr val="bg2">
                                        <a:lumMod val="1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𝑎𝑥</m:t>
                                </m:r>
                                <m:d>
                                  <m:dPr>
                                    <m:ctrlPr>
                                      <a:rPr lang="ar-AE" sz="4000" i="1" dirty="0" smtClean="0">
                                        <a:solidFill>
                                          <a:schemeClr val="bg2">
                                            <a:lumMod val="1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ar-AE" sz="4000" i="1" dirty="0" smtClean="0">
                                        <a:solidFill>
                                          <a:schemeClr val="bg2">
                                            <a:lumMod val="1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1, −2+1</m:t>
                                    </m:r>
                                  </m:e>
                                </m:d>
                                <m:r>
                                  <a:rPr lang="ar-AE" sz="4000" b="0" i="1" dirty="0" smtClean="0">
                                    <a:solidFill>
                                      <a:schemeClr val="bg2">
                                        <a:lumMod val="1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=1</m:t>
                                </m:r>
                              </m:oMath>
                            </m:oMathPara>
                          </a14:m>
                          <a:endParaRPr lang="ar-AE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r>
                            <a:rPr lang="en-US" sz="4000" dirty="0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</a:rPr>
                            <a:t>1 (Reset)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r>
                            <a:rPr lang="en-US" sz="4000" dirty="0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</a:rPr>
                            <a:t>1 (UP)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r>
                            <a:rPr lang="en-US" sz="4000" dirty="0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</a:rPr>
                            <a:t>[1]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731849345"/>
                      </a:ext>
                    </a:extLst>
                  </a:tr>
                  <a:tr h="1080000">
                    <a:tc>
                      <a:txBody>
                        <a:bodyPr/>
                        <a:lstStyle/>
                        <a:p>
                          <a:r>
                            <a:rPr lang="en-US" sz="4000" dirty="0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</a:rPr>
                            <a:t>3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r>
                            <a:rPr lang="en-US" sz="4000" dirty="0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</a:rPr>
                            <a:t>-3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584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4000" b="0" i="1" dirty="0" smtClean="0">
                                    <a:solidFill>
                                      <a:schemeClr val="bg2">
                                        <a:lumMod val="1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𝑚</m:t>
                                </m:r>
                                <m:r>
                                  <a:rPr lang="en-US" sz="4000" i="1" dirty="0" smtClean="0">
                                    <a:solidFill>
                                      <a:schemeClr val="bg2">
                                        <a:lumMod val="1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𝑎𝑥</m:t>
                                </m:r>
                                <m:d>
                                  <m:dPr>
                                    <m:ctrlPr>
                                      <a:rPr lang="en-US" sz="4000" i="1" dirty="0" smtClean="0">
                                        <a:solidFill>
                                          <a:schemeClr val="bg2">
                                            <a:lumMod val="1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4000" b="0" i="1" dirty="0" smtClean="0">
                                        <a:solidFill>
                                          <a:schemeClr val="bg2">
                                            <a:lumMod val="1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−3</m:t>
                                    </m:r>
                                    <m:r>
                                      <a:rPr lang="en-US" sz="4000" i="1" dirty="0" smtClean="0">
                                        <a:solidFill>
                                          <a:schemeClr val="bg2">
                                            <a:lumMod val="1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, </m:t>
                                    </m:r>
                                    <m:r>
                                      <a:rPr lang="en-US" sz="4000" b="0" i="1" dirty="0" smtClean="0">
                                        <a:solidFill>
                                          <a:schemeClr val="bg2">
                                            <a:lumMod val="1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1+(−3)</m:t>
                                    </m:r>
                                  </m:e>
                                </m:d>
                                <m:r>
                                  <a:rPr lang="en-US" sz="4000" b="0" i="1" dirty="0" smtClean="0">
                                    <a:solidFill>
                                      <a:schemeClr val="bg2">
                                        <a:lumMod val="1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=1</m:t>
                                </m:r>
                              </m:oMath>
                            </m:oMathPara>
                          </a14:m>
                          <a:endParaRPr lang="en-US" sz="4000" b="0" dirty="0">
                            <a:solidFill>
                              <a:schemeClr val="bg2">
                                <a:lumMod val="10000"/>
                              </a:schemeClr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r>
                            <a:rPr lang="en-US" sz="4000" dirty="0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</a:rPr>
                            <a:t>-2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r>
                            <a:rPr lang="en-US" sz="4000" dirty="0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</a:rPr>
                            <a:t>1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r>
                            <a:rPr lang="en-US" sz="4000" dirty="0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</a:rPr>
                            <a:t>[1, -2]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838890007"/>
                      </a:ext>
                    </a:extLst>
                  </a:tr>
                  <a:tr h="1080000">
                    <a:tc>
                      <a:txBody>
                        <a:bodyPr/>
                        <a:lstStyle/>
                        <a:p>
                          <a:r>
                            <a:rPr lang="en-US" sz="4000" dirty="0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</a:rPr>
                            <a:t>4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r>
                            <a:rPr lang="en-US" sz="4000" dirty="0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</a:rPr>
                            <a:t>4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584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4000" b="0" i="1" dirty="0" smtClean="0">
                                    <a:solidFill>
                                      <a:schemeClr val="bg2">
                                        <a:lumMod val="1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𝑚</m:t>
                                </m:r>
                                <m:r>
                                  <a:rPr lang="en-US" sz="4000" i="1" dirty="0" smtClean="0">
                                    <a:solidFill>
                                      <a:schemeClr val="bg2">
                                        <a:lumMod val="1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𝑎𝑥</m:t>
                                </m:r>
                                <m:d>
                                  <m:dPr>
                                    <m:ctrlPr>
                                      <a:rPr lang="en-US" sz="4000" i="1" dirty="0" smtClean="0">
                                        <a:solidFill>
                                          <a:schemeClr val="bg2">
                                            <a:lumMod val="1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4000" b="0" i="1" dirty="0" smtClean="0">
                                        <a:solidFill>
                                          <a:schemeClr val="bg2">
                                            <a:lumMod val="1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4</m:t>
                                    </m:r>
                                    <m:r>
                                      <a:rPr lang="en-US" sz="4000" i="1" dirty="0" smtClean="0">
                                        <a:solidFill>
                                          <a:schemeClr val="bg2">
                                            <a:lumMod val="1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, </m:t>
                                    </m:r>
                                    <m:r>
                                      <a:rPr lang="en-US" sz="4000" b="0" i="1" dirty="0" smtClean="0">
                                        <a:solidFill>
                                          <a:schemeClr val="bg2">
                                            <a:lumMod val="1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−2+4</m:t>
                                    </m:r>
                                  </m:e>
                                </m:d>
                                <m:r>
                                  <a:rPr lang="en-US" sz="4000" b="0" i="1" dirty="0" smtClean="0">
                                    <a:solidFill>
                                      <a:schemeClr val="bg2">
                                        <a:lumMod val="1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=4</m:t>
                                </m:r>
                              </m:oMath>
                            </m:oMathPara>
                          </a14:m>
                          <a:endParaRPr lang="en-US" sz="4000" b="0" dirty="0">
                            <a:solidFill>
                              <a:schemeClr val="bg2">
                                <a:lumMod val="10000"/>
                              </a:schemeClr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r>
                            <a:rPr lang="en-US" sz="4000" dirty="0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</a:rPr>
                            <a:t>4 (Reset)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r>
                            <a:rPr lang="en-US" sz="4000" dirty="0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</a:rPr>
                            <a:t>4 (UP)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r>
                            <a:rPr lang="en-US" sz="4000" dirty="0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</a:rPr>
                            <a:t>[4]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8235370"/>
                      </a:ext>
                    </a:extLst>
                  </a:tr>
                  <a:tr h="1080000">
                    <a:tc>
                      <a:txBody>
                        <a:bodyPr/>
                        <a:lstStyle/>
                        <a:p>
                          <a:r>
                            <a:rPr lang="en-US" sz="4000" dirty="0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</a:rPr>
                            <a:t>5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r>
                            <a:rPr lang="en-US" sz="4000" dirty="0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</a:rPr>
                            <a:t>-1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584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4000" b="0" i="1" dirty="0" smtClean="0">
                                    <a:solidFill>
                                      <a:schemeClr val="bg2">
                                        <a:lumMod val="1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𝑚</m:t>
                                </m:r>
                                <m:r>
                                  <a:rPr lang="en-US" sz="4000" i="1" dirty="0" smtClean="0">
                                    <a:solidFill>
                                      <a:schemeClr val="bg2">
                                        <a:lumMod val="1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𝑎𝑥</m:t>
                                </m:r>
                                <m:d>
                                  <m:dPr>
                                    <m:ctrlPr>
                                      <a:rPr lang="en-US" sz="4000" i="1" dirty="0" smtClean="0">
                                        <a:solidFill>
                                          <a:schemeClr val="bg2">
                                            <a:lumMod val="1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4000" b="0" i="1" dirty="0" smtClean="0">
                                        <a:solidFill>
                                          <a:schemeClr val="bg2">
                                            <a:lumMod val="1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r>
                                      <a:rPr lang="en-US" sz="4000" i="1" dirty="0" smtClean="0">
                                        <a:solidFill>
                                          <a:schemeClr val="bg2">
                                            <a:lumMod val="1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1, </m:t>
                                    </m:r>
                                    <m:r>
                                      <a:rPr lang="en-US" sz="4000" b="0" i="1" dirty="0" smtClean="0">
                                        <a:solidFill>
                                          <a:schemeClr val="bg2">
                                            <a:lumMod val="1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4</m:t>
                                    </m:r>
                                    <m:r>
                                      <a:rPr lang="en-US" sz="4000" i="1" dirty="0" smtClean="0">
                                        <a:solidFill>
                                          <a:schemeClr val="bg2">
                                            <a:lumMod val="1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  <m:r>
                                      <a:rPr lang="en-US" sz="4000" b="0" i="1" dirty="0" smtClean="0">
                                        <a:solidFill>
                                          <a:schemeClr val="bg2">
                                            <a:lumMod val="1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(−</m:t>
                                    </m:r>
                                    <m:r>
                                      <a:rPr lang="en-US" sz="4000" i="1" dirty="0" smtClean="0">
                                        <a:solidFill>
                                          <a:schemeClr val="bg2">
                                            <a:lumMod val="1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  <m:r>
                                      <a:rPr lang="en-US" sz="4000" b="0" i="1" dirty="0" smtClean="0">
                                        <a:solidFill>
                                          <a:schemeClr val="bg2">
                                            <a:lumMod val="1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)</m:t>
                                    </m:r>
                                  </m:e>
                                </m:d>
                                <m:r>
                                  <a:rPr lang="en-US" sz="4000" b="0" i="1" dirty="0" smtClean="0">
                                    <a:solidFill>
                                      <a:schemeClr val="bg2">
                                        <a:lumMod val="1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=3</m:t>
                                </m:r>
                              </m:oMath>
                            </m:oMathPara>
                          </a14:m>
                          <a:endParaRPr lang="en-US" sz="4000" b="0" dirty="0">
                            <a:solidFill>
                              <a:schemeClr val="bg2">
                                <a:lumMod val="10000"/>
                              </a:schemeClr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r>
                            <a:rPr lang="en-US" sz="4000" dirty="0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</a:rPr>
                            <a:t>3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r>
                            <a:rPr lang="en-US" sz="4000" dirty="0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</a:rPr>
                            <a:t>4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r>
                            <a:rPr lang="en-US" sz="4000" dirty="0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</a:rPr>
                            <a:t>[4, -1]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848967460"/>
                      </a:ext>
                    </a:extLst>
                  </a:tr>
                  <a:tr h="1080000">
                    <a:tc>
                      <a:txBody>
                        <a:bodyPr/>
                        <a:lstStyle/>
                        <a:p>
                          <a:r>
                            <a:rPr lang="en-US" sz="4000" dirty="0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</a:rPr>
                            <a:t>6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r>
                            <a:rPr lang="en-US" sz="4000" dirty="0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</a:rPr>
                            <a:t>2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584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4000" b="0" i="1" dirty="0" smtClean="0">
                                    <a:solidFill>
                                      <a:schemeClr val="bg2">
                                        <a:lumMod val="1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𝑚</m:t>
                                </m:r>
                                <m:r>
                                  <a:rPr lang="en-US" sz="4000" i="1" dirty="0" smtClean="0">
                                    <a:solidFill>
                                      <a:schemeClr val="bg2">
                                        <a:lumMod val="1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𝑎𝑥</m:t>
                                </m:r>
                                <m:d>
                                  <m:dPr>
                                    <m:ctrlPr>
                                      <a:rPr lang="en-US" sz="4000" i="1" dirty="0" smtClean="0">
                                        <a:solidFill>
                                          <a:schemeClr val="bg2">
                                            <a:lumMod val="1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4000" b="0" i="1" dirty="0" smtClean="0">
                                        <a:solidFill>
                                          <a:schemeClr val="bg2">
                                            <a:lumMod val="1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  <m:r>
                                      <a:rPr lang="en-US" sz="4000" i="1" dirty="0" smtClean="0">
                                        <a:solidFill>
                                          <a:schemeClr val="bg2">
                                            <a:lumMod val="1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, </m:t>
                                    </m:r>
                                    <m:r>
                                      <a:rPr lang="en-US" sz="4000" b="0" i="1" dirty="0" smtClean="0">
                                        <a:solidFill>
                                          <a:schemeClr val="bg2">
                                            <a:lumMod val="1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  <m:r>
                                      <a:rPr lang="en-US" sz="4000" i="1" dirty="0" smtClean="0">
                                        <a:solidFill>
                                          <a:schemeClr val="bg2">
                                            <a:lumMod val="1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  <m:r>
                                      <a:rPr lang="en-US" sz="4000" b="0" i="1" dirty="0" smtClean="0">
                                        <a:solidFill>
                                          <a:schemeClr val="bg2">
                                            <a:lumMod val="1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e>
                                </m:d>
                                <m:r>
                                  <a:rPr lang="en-US" sz="4000" b="0" i="1" dirty="0" smtClean="0">
                                    <a:solidFill>
                                      <a:schemeClr val="bg2">
                                        <a:lumMod val="1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=5</m:t>
                                </m:r>
                              </m:oMath>
                            </m:oMathPara>
                          </a14:m>
                          <a:endParaRPr lang="en-US" sz="4000" b="0" dirty="0">
                            <a:solidFill>
                              <a:schemeClr val="bg2">
                                <a:lumMod val="10000"/>
                              </a:schemeClr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r>
                            <a:rPr lang="en-US" sz="4000" dirty="0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</a:rPr>
                            <a:t>5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r>
                            <a:rPr lang="en-US" sz="4000" dirty="0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</a:rPr>
                            <a:t>5 (UP)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r>
                            <a:rPr lang="en-US" sz="4000" dirty="0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</a:rPr>
                            <a:t>[4, -1, 2]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437040695"/>
                      </a:ext>
                    </a:extLst>
                  </a:tr>
                  <a:tr h="1080000">
                    <a:tc>
                      <a:txBody>
                        <a:bodyPr/>
                        <a:lstStyle/>
                        <a:p>
                          <a:r>
                            <a:rPr lang="en-US" sz="4000" dirty="0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</a:rPr>
                            <a:t>7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r>
                            <a:rPr lang="en-US" sz="4000" dirty="0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</a:rPr>
                            <a:t>1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5842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4000" b="0" i="1" dirty="0" smtClean="0">
                                    <a:solidFill>
                                      <a:schemeClr val="bg2">
                                        <a:lumMod val="1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𝑚</m:t>
                                </m:r>
                                <m:r>
                                  <a:rPr lang="en-US" sz="4000" i="1" dirty="0" smtClean="0">
                                    <a:solidFill>
                                      <a:schemeClr val="bg2">
                                        <a:lumMod val="1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𝑎𝑥</m:t>
                                </m:r>
                                <m:d>
                                  <m:dPr>
                                    <m:ctrlPr>
                                      <a:rPr lang="en-US" sz="4000" i="1" dirty="0" smtClean="0">
                                        <a:solidFill>
                                          <a:schemeClr val="bg2">
                                            <a:lumMod val="1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4000" i="1" dirty="0" smtClean="0">
                                        <a:solidFill>
                                          <a:schemeClr val="bg2">
                                            <a:lumMod val="1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1, </m:t>
                                    </m:r>
                                    <m:r>
                                      <a:rPr lang="en-US" sz="4000" b="0" i="1" dirty="0" smtClean="0">
                                        <a:solidFill>
                                          <a:schemeClr val="bg2">
                                            <a:lumMod val="1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5</m:t>
                                    </m:r>
                                    <m:r>
                                      <a:rPr lang="en-US" sz="4000" i="1" dirty="0" smtClean="0">
                                        <a:solidFill>
                                          <a:schemeClr val="bg2">
                                            <a:lumMod val="1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+1</m:t>
                                    </m:r>
                                  </m:e>
                                </m:d>
                                <m:r>
                                  <a:rPr lang="en-US" sz="4000" b="0" i="1" dirty="0" smtClean="0">
                                    <a:solidFill>
                                      <a:schemeClr val="bg2">
                                        <a:lumMod val="1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=6</m:t>
                                </m:r>
                              </m:oMath>
                            </m:oMathPara>
                          </a14:m>
                          <a:endParaRPr lang="en-US" sz="4000" b="0" dirty="0">
                            <a:solidFill>
                              <a:schemeClr val="bg2">
                                <a:lumMod val="10000"/>
                              </a:schemeClr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r>
                            <a:rPr lang="en-US" sz="4000" dirty="0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</a:rPr>
                            <a:t>6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r>
                            <a:rPr lang="en-US" sz="4000" b="1" dirty="0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</a:rPr>
                            <a:t>6 (UP)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r>
                            <a:rPr lang="en-US" sz="4000" dirty="0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</a:rPr>
                            <a:t>[4, 1, 2, 1]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852073925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4" name="Content Placeholder 3">
                <a:extLst>
                  <a:ext uri="{FF2B5EF4-FFF2-40B4-BE49-F238E27FC236}">
                    <a16:creationId xmlns:a16="http://schemas.microsoft.com/office/drawing/2014/main" id="{28762BF0-1529-945A-5E66-6BCD528A9D88}"/>
                  </a:ext>
                </a:extLst>
              </p:cNvPr>
              <p:cNvGraphicFramePr>
                <a:graphicFrameLocks noGrp="1"/>
              </p:cNvGraphicFramePr>
              <p:nvPr>
                <p:ph sz="quarter" idx="11"/>
                <p:extLst>
                  <p:ext uri="{D42A27DB-BD31-4B8C-83A1-F6EECF244321}">
                    <p14:modId xmlns:p14="http://schemas.microsoft.com/office/powerpoint/2010/main" val="4063993487"/>
                  </p:ext>
                </p:extLst>
              </p:nvPr>
            </p:nvGraphicFramePr>
            <p:xfrm>
              <a:off x="2166938" y="3714750"/>
              <a:ext cx="20235863" cy="8870640"/>
            </p:xfrm>
            <a:graphic>
              <a:graphicData uri="http://schemas.openxmlformats.org/drawingml/2006/table">
                <a:tbl>
                  <a:tblPr firstRow="1" bandRow="1">
                    <a:tableStyleId>{3C2FFA5D-87B4-456A-9821-1D502468CF0F}</a:tableStyleId>
                  </a:tblPr>
                  <a:tblGrid>
                    <a:gridCol w="1691665">
                      <a:extLst>
                        <a:ext uri="{9D8B030D-6E8A-4147-A177-3AD203B41FA5}">
                          <a16:colId xmlns:a16="http://schemas.microsoft.com/office/drawing/2014/main" val="1750353325"/>
                        </a:ext>
                      </a:extLst>
                    </a:gridCol>
                    <a:gridCol w="2687534">
                      <a:extLst>
                        <a:ext uri="{9D8B030D-6E8A-4147-A177-3AD203B41FA5}">
                          <a16:colId xmlns:a16="http://schemas.microsoft.com/office/drawing/2014/main" val="3079489845"/>
                        </a:ext>
                      </a:extLst>
                    </a:gridCol>
                    <a:gridCol w="5738732">
                      <a:extLst>
                        <a:ext uri="{9D8B030D-6E8A-4147-A177-3AD203B41FA5}">
                          <a16:colId xmlns:a16="http://schemas.microsoft.com/office/drawing/2014/main" val="3669343845"/>
                        </a:ext>
                      </a:extLst>
                    </a:gridCol>
                    <a:gridCol w="2722049">
                      <a:extLst>
                        <a:ext uri="{9D8B030D-6E8A-4147-A177-3AD203B41FA5}">
                          <a16:colId xmlns:a16="http://schemas.microsoft.com/office/drawing/2014/main" val="3492459274"/>
                        </a:ext>
                      </a:extLst>
                    </a:gridCol>
                    <a:gridCol w="3281082">
                      <a:extLst>
                        <a:ext uri="{9D8B030D-6E8A-4147-A177-3AD203B41FA5}">
                          <a16:colId xmlns:a16="http://schemas.microsoft.com/office/drawing/2014/main" val="2322849096"/>
                        </a:ext>
                      </a:extLst>
                    </a:gridCol>
                    <a:gridCol w="4114801">
                      <a:extLst>
                        <a:ext uri="{9D8B030D-6E8A-4147-A177-3AD203B41FA5}">
                          <a16:colId xmlns:a16="http://schemas.microsoft.com/office/drawing/2014/main" val="3426120698"/>
                        </a:ext>
                      </a:extLst>
                    </a:gridCol>
                  </a:tblGrid>
                  <a:tr h="1310640">
                    <a:tc>
                      <a:txBody>
                        <a:bodyPr/>
                        <a:lstStyle/>
                        <a:p>
                          <a:r>
                            <a:rPr lang="en-US" sz="4000" dirty="0" err="1"/>
                            <a:t>i</a:t>
                          </a:r>
                          <a:endParaRPr lang="en-US" sz="40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r>
                            <a:rPr lang="en-US" sz="4000" dirty="0"/>
                            <a:t>Element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r>
                            <a:rPr lang="en-US" sz="4000" dirty="0"/>
                            <a:t>Formula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r>
                            <a:rPr lang="en-US" sz="4000" dirty="0" err="1"/>
                            <a:t>curr_max</a:t>
                          </a:r>
                          <a:endParaRPr lang="en-US" sz="40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r>
                            <a:rPr lang="en-US" sz="4000" dirty="0" err="1"/>
                            <a:t>global_max</a:t>
                          </a:r>
                          <a:endParaRPr lang="en-US" sz="40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r>
                            <a:rPr lang="en-US" sz="4000" dirty="0"/>
                            <a:t>Subarray Tracked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959871269"/>
                      </a:ext>
                    </a:extLst>
                  </a:tr>
                  <a:tr h="1080000">
                    <a:tc>
                      <a:txBody>
                        <a:bodyPr/>
                        <a:lstStyle/>
                        <a:p>
                          <a:endParaRPr lang="en-US" sz="4000" dirty="0">
                            <a:solidFill>
                              <a:schemeClr val="bg2">
                                <a:lumMod val="10000"/>
                              </a:schemeClr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r>
                            <a:rPr lang="en-US" sz="4000" dirty="0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</a:rPr>
                            <a:t>-2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r>
                            <a:rPr lang="en-US" sz="4000" dirty="0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</a:rPr>
                            <a:t>Initialization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r>
                            <a:rPr lang="en-US" sz="4000" dirty="0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</a:rPr>
                            <a:t>-2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r>
                            <a:rPr lang="en-US" sz="4000" dirty="0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</a:rPr>
                            <a:t>-2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r>
                            <a:rPr lang="en-US" sz="4000" dirty="0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</a:rPr>
                            <a:t>[-2]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840506733"/>
                      </a:ext>
                    </a:extLst>
                  </a:tr>
                  <a:tr h="1080000">
                    <a:tc>
                      <a:txBody>
                        <a:bodyPr/>
                        <a:lstStyle/>
                        <a:p>
                          <a:r>
                            <a:rPr lang="en-US" sz="4000" dirty="0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</a:rPr>
                            <a:t>2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r>
                            <a:rPr lang="en-US" sz="4000" dirty="0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</a:rPr>
                            <a:t>1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76549" t="-231765" r="-176770" b="-50823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4000" dirty="0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</a:rPr>
                            <a:t>1 (Reset)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r>
                            <a:rPr lang="en-US" sz="4000" dirty="0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</a:rPr>
                            <a:t>1 (UP)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r>
                            <a:rPr lang="en-US" sz="4000" dirty="0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</a:rPr>
                            <a:t>[1]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731849345"/>
                      </a:ext>
                    </a:extLst>
                  </a:tr>
                  <a:tr h="1080000">
                    <a:tc>
                      <a:txBody>
                        <a:bodyPr/>
                        <a:lstStyle/>
                        <a:p>
                          <a:r>
                            <a:rPr lang="en-US" sz="4000" dirty="0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</a:rPr>
                            <a:t>3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r>
                            <a:rPr lang="en-US" sz="4000" dirty="0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</a:rPr>
                            <a:t>-3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76549" t="-327907" r="-176770" b="-40232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4000" dirty="0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</a:rPr>
                            <a:t>-2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r>
                            <a:rPr lang="en-US" sz="4000" dirty="0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</a:rPr>
                            <a:t>1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r>
                            <a:rPr lang="en-US" sz="4000" dirty="0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</a:rPr>
                            <a:t>[1, -2]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838890007"/>
                      </a:ext>
                    </a:extLst>
                  </a:tr>
                  <a:tr h="1080000">
                    <a:tc>
                      <a:txBody>
                        <a:bodyPr/>
                        <a:lstStyle/>
                        <a:p>
                          <a:r>
                            <a:rPr lang="en-US" sz="4000" dirty="0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</a:rPr>
                            <a:t>4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r>
                            <a:rPr lang="en-US" sz="4000" dirty="0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</a:rPr>
                            <a:t>4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76549" t="-432941" r="-176770" b="-30705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4000" dirty="0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</a:rPr>
                            <a:t>4 (Reset)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r>
                            <a:rPr lang="en-US" sz="4000" dirty="0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</a:rPr>
                            <a:t>4 (UP)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r>
                            <a:rPr lang="en-US" sz="4000" dirty="0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</a:rPr>
                            <a:t>[4]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8235370"/>
                      </a:ext>
                    </a:extLst>
                  </a:tr>
                  <a:tr h="1080000">
                    <a:tc>
                      <a:txBody>
                        <a:bodyPr/>
                        <a:lstStyle/>
                        <a:p>
                          <a:r>
                            <a:rPr lang="en-US" sz="4000" dirty="0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</a:rPr>
                            <a:t>5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r>
                            <a:rPr lang="en-US" sz="4000" dirty="0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</a:rPr>
                            <a:t>-1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76549" t="-532941" r="-176770" b="-20705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4000" dirty="0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</a:rPr>
                            <a:t>3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r>
                            <a:rPr lang="en-US" sz="4000" dirty="0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</a:rPr>
                            <a:t>4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r>
                            <a:rPr lang="en-US" sz="4000" dirty="0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</a:rPr>
                            <a:t>[4, -1]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848967460"/>
                      </a:ext>
                    </a:extLst>
                  </a:tr>
                  <a:tr h="1080000">
                    <a:tc>
                      <a:txBody>
                        <a:bodyPr/>
                        <a:lstStyle/>
                        <a:p>
                          <a:r>
                            <a:rPr lang="en-US" sz="4000" dirty="0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</a:rPr>
                            <a:t>6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r>
                            <a:rPr lang="en-US" sz="4000" dirty="0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</a:rPr>
                            <a:t>2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76549" t="-632941" r="-176770" b="-10705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4000" dirty="0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</a:rPr>
                            <a:t>5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r>
                            <a:rPr lang="en-US" sz="4000" dirty="0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</a:rPr>
                            <a:t>5 (UP)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r>
                            <a:rPr lang="en-US" sz="4000" dirty="0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</a:rPr>
                            <a:t>[4, -1, 2]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437040695"/>
                      </a:ext>
                    </a:extLst>
                  </a:tr>
                  <a:tr h="1080000">
                    <a:tc>
                      <a:txBody>
                        <a:bodyPr/>
                        <a:lstStyle/>
                        <a:p>
                          <a:r>
                            <a:rPr lang="en-US" sz="4000" dirty="0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</a:rPr>
                            <a:t>7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r>
                            <a:rPr lang="en-US" sz="4000" dirty="0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</a:rPr>
                            <a:t>1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76549" t="-732941" r="-176770" b="-705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4000" dirty="0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</a:rPr>
                            <a:t>6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r>
                            <a:rPr lang="en-US" sz="4000" b="1" dirty="0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</a:rPr>
                            <a:t>6 (UP)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r>
                            <a:rPr lang="en-US" sz="4000" dirty="0">
                              <a:solidFill>
                                <a:schemeClr val="bg2">
                                  <a:lumMod val="10000"/>
                                </a:schemeClr>
                              </a:solidFill>
                            </a:rPr>
                            <a:t>[4, 1, 2, 1]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852073925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1460055248"/>
      </p:ext>
    </p:extLst>
  </p:cSld>
  <p:clrMapOvr>
    <a:masterClrMapping/>
  </p:clrMapOvr>
  <p:transition spd="med"/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73E235-A4D8-D100-734F-72007409CF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829788-4BA0-48FF-6B49-F01DBBFE29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D" dirty="0"/>
              <a:t>Why </a:t>
            </a:r>
            <a:r>
              <a:rPr lang="en-ID" dirty="0" err="1"/>
              <a:t>Kadane's</a:t>
            </a:r>
            <a:r>
              <a:rPr lang="en-ID" dirty="0"/>
              <a:t> is DP and Not Greedy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D138CDE-B8E7-4813-96FF-7CA869A608E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167377" y="2419728"/>
            <a:ext cx="17572905" cy="803546"/>
          </a:xfrm>
        </p:spPr>
        <p:txBody>
          <a:bodyPr>
            <a:normAutofit/>
          </a:bodyPr>
          <a:lstStyle/>
          <a:p>
            <a:r>
              <a:rPr lang="en-ID" dirty="0"/>
              <a:t>DP identification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Content Placeholder 5">
                <a:extLst>
                  <a:ext uri="{FF2B5EF4-FFF2-40B4-BE49-F238E27FC236}">
                    <a16:creationId xmlns:a16="http://schemas.microsoft.com/office/drawing/2014/main" id="{3782915D-AB9B-18F4-D793-94929E857016}"/>
                  </a:ext>
                </a:extLst>
              </p:cNvPr>
              <p:cNvSpPr>
                <a:spLocks noGrp="1"/>
              </p:cNvSpPr>
              <p:nvPr>
                <p:ph sz="quarter" idx="1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en-ID" dirty="0" err="1"/>
                  <a:t>Kadane</a:t>
                </a:r>
                <a:r>
                  <a:rPr lang="en-ID" dirty="0"/>
                  <a:t> satisfies both DP properties:</a:t>
                </a:r>
              </a:p>
              <a:p>
                <a:r>
                  <a:rPr lang="en-ID" b="1" dirty="0"/>
                  <a:t>Optimal substructure:</a:t>
                </a:r>
                <a:r>
                  <a:rPr lang="en-ID" dirty="0"/>
                  <a:t> The optimal subarray ending at </a:t>
                </a:r>
                <a14:m>
                  <m:oMath xmlns:m="http://schemas.openxmlformats.org/officeDocument/2006/math">
                    <m:r>
                      <a:rPr lang="en-ID" b="1" i="1" dirty="0" smtClean="0">
                        <a:latin typeface="Cambria Math" panose="02040503050406030204" pitchFamily="18" charset="0"/>
                      </a:rPr>
                      <m:t>𝒊</m:t>
                    </m:r>
                  </m:oMath>
                </a14:m>
                <a:r>
                  <a:rPr lang="en-ID" dirty="0"/>
                  <a:t> is either </a:t>
                </a:r>
                <a14:m>
                  <m:oMath xmlns:m="http://schemas.openxmlformats.org/officeDocument/2006/math">
                    <m:r>
                      <a:rPr lang="en-ID" b="1" i="1" dirty="0" smtClean="0">
                        <a:latin typeface="Cambria Math" panose="02040503050406030204" pitchFamily="18" charset="0"/>
                      </a:rPr>
                      <m:t>𝑨</m:t>
                    </m:r>
                    <m:r>
                      <a:rPr lang="en-ID" b="1" i="1" dirty="0" smtClean="0">
                        <a:latin typeface="Cambria Math" panose="02040503050406030204" pitchFamily="18" charset="0"/>
                      </a:rPr>
                      <m:t>[</m:t>
                    </m:r>
                    <m:r>
                      <a:rPr lang="en-ID" b="1" i="1" dirty="0" err="1">
                        <a:latin typeface="Cambria Math" panose="02040503050406030204" pitchFamily="18" charset="0"/>
                      </a:rPr>
                      <m:t>𝒊</m:t>
                    </m:r>
                    <m:r>
                      <a:rPr lang="en-ID" b="1" i="1" dirty="0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lang="en-ID" dirty="0"/>
                  <a:t> alone or </a:t>
                </a:r>
                <a14:m>
                  <m:oMath xmlns:m="http://schemas.openxmlformats.org/officeDocument/2006/math">
                    <m:r>
                      <a:rPr lang="en-ID" b="1" i="1" dirty="0" smtClean="0">
                        <a:latin typeface="Cambria Math" panose="02040503050406030204" pitchFamily="18" charset="0"/>
                      </a:rPr>
                      <m:t>𝑨</m:t>
                    </m:r>
                    <m:r>
                      <a:rPr lang="en-ID" b="1" i="1" dirty="0" smtClean="0">
                        <a:latin typeface="Cambria Math" panose="02040503050406030204" pitchFamily="18" charset="0"/>
                      </a:rPr>
                      <m:t>[</m:t>
                    </m:r>
                    <m:r>
                      <a:rPr lang="en-ID" b="1" i="1" dirty="0" err="1">
                        <a:latin typeface="Cambria Math" panose="02040503050406030204" pitchFamily="18" charset="0"/>
                      </a:rPr>
                      <m:t>𝒊</m:t>
                    </m:r>
                    <m:r>
                      <a:rPr lang="en-ID" b="1" i="1" dirty="0">
                        <a:latin typeface="Cambria Math" panose="02040503050406030204" pitchFamily="18" charset="0"/>
                      </a:rPr>
                      <m:t>] </m:t>
                    </m:r>
                  </m:oMath>
                </a14:m>
                <a:r>
                  <a:rPr lang="en-ID" dirty="0"/>
                  <a:t>appended to the optimal subarray ending at </a:t>
                </a:r>
                <a14:m>
                  <m:oMath xmlns:m="http://schemas.openxmlformats.org/officeDocument/2006/math">
                    <m:r>
                      <a:rPr lang="en-ID" b="1" i="1" dirty="0" smtClean="0">
                        <a:latin typeface="Cambria Math" panose="02040503050406030204" pitchFamily="18" charset="0"/>
                      </a:rPr>
                      <m:t>𝒊</m:t>
                    </m:r>
                    <m:r>
                      <a:rPr lang="en-ID" b="1" i="1" dirty="0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D" b="1" i="1" dirty="0" smtClean="0">
                        <a:latin typeface="Cambria Math" panose="02040503050406030204" pitchFamily="18" charset="0"/>
                      </a:rPr>
                      <m:t>𝟏</m:t>
                    </m:r>
                  </m:oMath>
                </a14:m>
                <a:r>
                  <a:rPr lang="en-ID" dirty="0"/>
                  <a:t>. The subproblem solution (best ending at </a:t>
                </a:r>
                <a14:m>
                  <m:oMath xmlns:m="http://schemas.openxmlformats.org/officeDocument/2006/math">
                    <m:r>
                      <a:rPr lang="en-ID" b="1" i="1" dirty="0" smtClean="0">
                        <a:latin typeface="Cambria Math" panose="02040503050406030204" pitchFamily="18" charset="0"/>
                      </a:rPr>
                      <m:t>𝒊</m:t>
                    </m:r>
                    <m:r>
                      <a:rPr lang="en-ID" b="1" i="1" dirty="0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D" b="1" i="1" dirty="0" smtClean="0">
                        <a:latin typeface="Cambria Math" panose="02040503050406030204" pitchFamily="18" charset="0"/>
                      </a:rPr>
                      <m:t>𝟏</m:t>
                    </m:r>
                  </m:oMath>
                </a14:m>
                <a:r>
                  <a:rPr lang="en-ID" dirty="0"/>
                  <a:t>) is directly used.</a:t>
                </a:r>
              </a:p>
              <a:p>
                <a:r>
                  <a:rPr lang="en-ID" b="1" dirty="0"/>
                  <a:t>Overlapping subproblems:</a:t>
                </a:r>
                <a:r>
                  <a:rPr lang="en-ID" dirty="0"/>
                  <a:t> If we naïvely asked "what is the best subarray ending at </a:t>
                </a:r>
                <a14:m>
                  <m:oMath xmlns:m="http://schemas.openxmlformats.org/officeDocument/2006/math">
                    <m:r>
                      <a:rPr lang="en-ID" b="1" i="1" dirty="0" smtClean="0">
                        <a:latin typeface="Cambria Math" panose="02040503050406030204" pitchFamily="18" charset="0"/>
                      </a:rPr>
                      <m:t>𝒊</m:t>
                    </m:r>
                  </m:oMath>
                </a14:m>
                <a:r>
                  <a:rPr lang="en-ID" dirty="0"/>
                  <a:t>?" for each </a:t>
                </a:r>
                <a14:m>
                  <m:oMath xmlns:m="http://schemas.openxmlformats.org/officeDocument/2006/math">
                    <m:r>
                      <a:rPr lang="en-ID" b="1" i="1" dirty="0">
                        <a:latin typeface="Cambria Math" panose="02040503050406030204" pitchFamily="18" charset="0"/>
                      </a:rPr>
                      <m:t>𝒊</m:t>
                    </m:r>
                  </m:oMath>
                </a14:m>
                <a:r>
                  <a:rPr lang="en-ID" dirty="0"/>
                  <a:t>, and computed it from scratch each time, we would re-examine the same prefixes. DP avoids this with </a:t>
                </a:r>
                <a14:m>
                  <m:oMath xmlns:m="http://schemas.openxmlformats.org/officeDocument/2006/math">
                    <m:r>
                      <a:rPr lang="en-ID" b="1" i="1" dirty="0" smtClean="0">
                        <a:latin typeface="Cambria Math" panose="02040503050406030204" pitchFamily="18" charset="0"/>
                      </a:rPr>
                      <m:t>𝒅𝒑</m:t>
                    </m:r>
                    <m:r>
                      <a:rPr lang="en-ID" b="1" i="1" dirty="0">
                        <a:latin typeface="Cambria Math" panose="02040503050406030204" pitchFamily="18" charset="0"/>
                      </a:rPr>
                      <m:t>[</m:t>
                    </m:r>
                    <m:r>
                      <a:rPr lang="en-ID" b="1" i="1" dirty="0">
                        <a:latin typeface="Cambria Math" panose="02040503050406030204" pitchFamily="18" charset="0"/>
                      </a:rPr>
                      <m:t>𝒊</m:t>
                    </m:r>
                    <m:r>
                      <a:rPr lang="en-ID" b="1" i="1" dirty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D" b="1" i="1" dirty="0">
                        <a:latin typeface="Cambria Math" panose="02040503050406030204" pitchFamily="18" charset="0"/>
                      </a:rPr>
                      <m:t>𝟏</m:t>
                    </m:r>
                    <m:r>
                      <a:rPr lang="en-ID" b="1" i="1" dirty="0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lang="en-ID" dirty="0"/>
                  <a:t> or </a:t>
                </a:r>
                <a14:m>
                  <m:oMath xmlns:m="http://schemas.openxmlformats.org/officeDocument/2006/math">
                    <m:r>
                      <a:rPr lang="en-ID" b="1" i="1" dirty="0" smtClean="0">
                        <a:latin typeface="Cambria Math" panose="02040503050406030204" pitchFamily="18" charset="0"/>
                      </a:rPr>
                      <m:t>𝒄𝒖𝒓𝒓</m:t>
                    </m:r>
                    <m:r>
                      <a:rPr lang="en-ID" b="1" i="1" dirty="0" smtClean="0">
                        <a:latin typeface="Cambria Math" panose="02040503050406030204" pitchFamily="18" charset="0"/>
                      </a:rPr>
                      <m:t>_</m:t>
                    </m:r>
                    <m:r>
                      <a:rPr lang="en-ID" b="1" i="1" dirty="0" smtClean="0">
                        <a:latin typeface="Cambria Math" panose="02040503050406030204" pitchFamily="18" charset="0"/>
                      </a:rPr>
                      <m:t>𝒎𝒂𝒙</m:t>
                    </m:r>
                  </m:oMath>
                </a14:m>
                <a:r>
                  <a:rPr lang="en-ID" dirty="0"/>
                  <a:t>.</a:t>
                </a:r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6" name="Content Placeholder 5">
                <a:extLst>
                  <a:ext uri="{FF2B5EF4-FFF2-40B4-BE49-F238E27FC236}">
                    <a16:creationId xmlns:a16="http://schemas.microsoft.com/office/drawing/2014/main" id="{3782915D-AB9B-18F4-D793-94929E85701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1"/>
              </p:nvPr>
            </p:nvSpPr>
            <p:spPr>
              <a:blipFill>
                <a:blip r:embed="rId3"/>
                <a:stretch>
                  <a:fillRect l="-1511" t="-140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341976463"/>
      </p:ext>
    </p:extLst>
  </p:cSld>
  <p:clrMapOvr>
    <a:masterClrMapping/>
  </p:clrMapOvr>
  <p:transition spd="med"/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2D74DA-91DC-2BD7-0F91-BAFF4FCA00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F8207F-2BD1-7686-6CE0-D36F1F21BE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D" dirty="0"/>
              <a:t>Why </a:t>
            </a:r>
            <a:r>
              <a:rPr lang="en-ID" dirty="0" err="1"/>
              <a:t>Kadane's</a:t>
            </a:r>
            <a:r>
              <a:rPr lang="en-ID" dirty="0"/>
              <a:t> is DP and Not Greedy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0BCA915-AF4F-FBE1-2704-45E7CB59A19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167377" y="2419728"/>
            <a:ext cx="17572905" cy="803546"/>
          </a:xfrm>
        </p:spPr>
        <p:txBody>
          <a:bodyPr>
            <a:normAutofit/>
          </a:bodyPr>
          <a:lstStyle/>
          <a:p>
            <a:r>
              <a:rPr lang="en-ID" dirty="0"/>
              <a:t>Why not greedy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Content Placeholder 5">
                <a:extLst>
                  <a:ext uri="{FF2B5EF4-FFF2-40B4-BE49-F238E27FC236}">
                    <a16:creationId xmlns:a16="http://schemas.microsoft.com/office/drawing/2014/main" id="{8EF6F8DB-019B-DA6C-14D7-C61A394FDACF}"/>
                  </a:ext>
                </a:extLst>
              </p:cNvPr>
              <p:cNvSpPr>
                <a:spLocks noGrp="1"/>
              </p:cNvSpPr>
              <p:nvPr>
                <p:ph sz="quarter" idx="11"/>
              </p:nvPr>
            </p:nvSpPr>
            <p:spPr/>
            <p:txBody>
              <a:bodyPr/>
              <a:lstStyle/>
              <a:p>
                <a:r>
                  <a:rPr lang="en-ID" dirty="0"/>
                  <a:t>A greedy algorithm would make a single pass with a fixed rule. </a:t>
                </a:r>
              </a:p>
              <a:p>
                <a:r>
                  <a:rPr lang="en-ID" dirty="0"/>
                  <a:t>Consider: take elements as long as they are positive; reset on negative. This fails: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ID" i="1" dirty="0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D" i="1" dirty="0" smtClean="0">
                        <a:latin typeface="Cambria Math" panose="02040503050406030204" pitchFamily="18" charset="0"/>
                      </a:rPr>
                      <m:t> = [−1, 3, −1, 4]</m:t>
                    </m:r>
                  </m:oMath>
                </a14:m>
                <a:r>
                  <a:rPr lang="en-ID" dirty="0"/>
                  <a:t>: greedy might reset at index 3, miss </a:t>
                </a:r>
                <a14:m>
                  <m:oMath xmlns:m="http://schemas.openxmlformats.org/officeDocument/2006/math">
                    <m:r>
                      <a:rPr lang="en-ID" i="1" dirty="0" smtClean="0">
                        <a:latin typeface="Cambria Math" panose="02040503050406030204" pitchFamily="18" charset="0"/>
                      </a:rPr>
                      <m:t>[3,−1,4] = 6</m:t>
                    </m:r>
                  </m:oMath>
                </a14:m>
                <a:r>
                  <a:rPr lang="en-ID" dirty="0"/>
                  <a:t>.</a:t>
                </a:r>
              </a:p>
              <a:p>
                <a:r>
                  <a:rPr lang="en-ID" dirty="0" err="1"/>
                  <a:t>Kadane's</a:t>
                </a:r>
                <a:r>
                  <a:rPr lang="en-ID" dirty="0"/>
                  <a:t> makes a </a:t>
                </a:r>
                <a:r>
                  <a:rPr lang="en-ID" b="1" dirty="0"/>
                  <a:t>decision at each step</a:t>
                </a:r>
                <a:r>
                  <a:rPr lang="en-ID" dirty="0"/>
                  <a:t> (extend or restart) based on </a:t>
                </a:r>
                <a:r>
                  <a:rPr lang="en-ID" b="1" dirty="0"/>
                  <a:t>previously computed state</a:t>
                </a:r>
                <a:r>
                  <a:rPr lang="en-ID" dirty="0"/>
                  <a:t> (</a:t>
                </a:r>
                <a14:m>
                  <m:oMath xmlns:m="http://schemas.openxmlformats.org/officeDocument/2006/math">
                    <m:r>
                      <a:rPr lang="en-ID" i="1" dirty="0" smtClean="0">
                        <a:latin typeface="Cambria Math" panose="02040503050406030204" pitchFamily="18" charset="0"/>
                      </a:rPr>
                      <m:t>𝑑𝑝</m:t>
                    </m:r>
                    <m:r>
                      <a:rPr lang="en-ID" i="1" dirty="0">
                        <a:latin typeface="Cambria Math" panose="02040503050406030204" pitchFamily="18" charset="0"/>
                      </a:rPr>
                      <m:t>[</m:t>
                    </m:r>
                    <m:r>
                      <a:rPr lang="en-ID" i="1" dirty="0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ID" i="1" dirty="0">
                        <a:latin typeface="Cambria Math" panose="02040503050406030204" pitchFamily="18" charset="0"/>
                      </a:rPr>
                      <m:t>−1]</m:t>
                    </m:r>
                  </m:oMath>
                </a14:m>
                <a:r>
                  <a:rPr lang="en-ID" dirty="0"/>
                  <a:t>). This is a DP decision, not a greedy choice — the state </a:t>
                </a:r>
                <a14:m>
                  <m:oMath xmlns:m="http://schemas.openxmlformats.org/officeDocument/2006/math">
                    <m:r>
                      <a:rPr lang="en-ID" i="1" dirty="0" smtClean="0">
                        <a:latin typeface="Cambria Math" panose="02040503050406030204" pitchFamily="18" charset="0"/>
                      </a:rPr>
                      <m:t>𝑑𝑝</m:t>
                    </m:r>
                    <m:r>
                      <a:rPr lang="en-ID" i="1" dirty="0">
                        <a:latin typeface="Cambria Math" panose="02040503050406030204" pitchFamily="18" charset="0"/>
                      </a:rPr>
                      <m:t>[</m:t>
                    </m:r>
                    <m:r>
                      <a:rPr lang="en-ID" i="1" dirty="0" err="1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ID" i="1" dirty="0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lang="en-ID" dirty="0"/>
                  <a:t> is defined recursively in terms of </a:t>
                </a:r>
                <a14:m>
                  <m:oMath xmlns:m="http://schemas.openxmlformats.org/officeDocument/2006/math">
                    <m:r>
                      <a:rPr lang="en-ID" i="1" dirty="0" smtClean="0">
                        <a:latin typeface="Cambria Math" panose="02040503050406030204" pitchFamily="18" charset="0"/>
                      </a:rPr>
                      <m:t>𝑑𝑝</m:t>
                    </m:r>
                    <m:r>
                      <a:rPr lang="en-ID" i="1" dirty="0">
                        <a:latin typeface="Cambria Math" panose="02040503050406030204" pitchFamily="18" charset="0"/>
                      </a:rPr>
                      <m:t>[</m:t>
                    </m:r>
                    <m:r>
                      <a:rPr lang="en-ID" i="1" dirty="0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ID" i="1" dirty="0">
                        <a:latin typeface="Cambria Math" panose="02040503050406030204" pitchFamily="18" charset="0"/>
                      </a:rPr>
                      <m:t>−1]</m:t>
                    </m:r>
                  </m:oMath>
                </a14:m>
                <a:r>
                  <a:rPr lang="en-ID" dirty="0"/>
                  <a:t>.</a:t>
                </a:r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6" name="Content Placeholder 5">
                <a:extLst>
                  <a:ext uri="{FF2B5EF4-FFF2-40B4-BE49-F238E27FC236}">
                    <a16:creationId xmlns:a16="http://schemas.microsoft.com/office/drawing/2014/main" id="{8EF6F8DB-019B-DA6C-14D7-C61A394FDAC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1"/>
              </p:nvPr>
            </p:nvSpPr>
            <p:spPr>
              <a:blipFill>
                <a:blip r:embed="rId3"/>
                <a:stretch>
                  <a:fillRect l="-1380" t="-1404" r="-170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185323742"/>
      </p:ext>
    </p:extLst>
  </p:cSld>
  <p:clrMapOvr>
    <a:masterClrMapping/>
  </p:clrMapOvr>
  <p:transition spd="med"/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7EB21F-0FFA-58F4-EB3A-A79A431175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66DA85-FC8A-162A-4780-696347A882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D" dirty="0"/>
              <a:t>Why </a:t>
            </a:r>
            <a:r>
              <a:rPr lang="en-ID" dirty="0" err="1"/>
              <a:t>Kadane's</a:t>
            </a:r>
            <a:r>
              <a:rPr lang="en-ID" dirty="0"/>
              <a:t> is DP and Not Greedy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A01C0EE-67E6-04A7-1465-2EA5DBA882E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167377" y="2419728"/>
            <a:ext cx="17572905" cy="803546"/>
          </a:xfrm>
        </p:spPr>
        <p:txBody>
          <a:bodyPr>
            <a:normAutofit/>
          </a:bodyPr>
          <a:lstStyle/>
          <a:p>
            <a:r>
              <a:rPr lang="en-ID" dirty="0"/>
              <a:t>DP vs greedy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9876E991-4D3E-7876-D3ED-52E48FC9140C}"/>
              </a:ext>
            </a:extLst>
          </p:cNvPr>
          <p:cNvGraphicFramePr>
            <a:graphicFrameLocks noGrp="1"/>
          </p:cNvGraphicFramePr>
          <p:nvPr>
            <p:ph sz="quarter" idx="11"/>
            <p:extLst>
              <p:ext uri="{D42A27DB-BD31-4B8C-83A1-F6EECF244321}">
                <p14:modId xmlns:p14="http://schemas.microsoft.com/office/powerpoint/2010/main" val="3821989266"/>
              </p:ext>
            </p:extLst>
          </p:nvPr>
        </p:nvGraphicFramePr>
        <p:xfrm>
          <a:off x="2167377" y="3260663"/>
          <a:ext cx="20520000" cy="9492480"/>
        </p:xfrm>
        <a:graphic>
          <a:graphicData uri="http://schemas.openxmlformats.org/drawingml/2006/table">
            <a:tbl>
              <a:tblPr firstRow="1" firstCol="1" bandRow="1">
                <a:tableStyleId>{3C2FFA5D-87B4-456A-9821-1D502468CF0F}</a:tableStyleId>
              </a:tblPr>
              <a:tblGrid>
                <a:gridCol w="4906215">
                  <a:extLst>
                    <a:ext uri="{9D8B030D-6E8A-4147-A177-3AD203B41FA5}">
                      <a16:colId xmlns:a16="http://schemas.microsoft.com/office/drawing/2014/main" val="2616572033"/>
                    </a:ext>
                  </a:extLst>
                </a:gridCol>
                <a:gridCol w="7853082">
                  <a:extLst>
                    <a:ext uri="{9D8B030D-6E8A-4147-A177-3AD203B41FA5}">
                      <a16:colId xmlns:a16="http://schemas.microsoft.com/office/drawing/2014/main" val="2627618306"/>
                    </a:ext>
                  </a:extLst>
                </a:gridCol>
                <a:gridCol w="7760703">
                  <a:extLst>
                    <a:ext uri="{9D8B030D-6E8A-4147-A177-3AD203B41FA5}">
                      <a16:colId xmlns:a16="http://schemas.microsoft.com/office/drawing/2014/main" val="732745330"/>
                    </a:ext>
                  </a:extLst>
                </a:gridCol>
              </a:tblGrid>
              <a:tr h="10800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4000" dirty="0"/>
                        <a:t>Property</a:t>
                      </a:r>
                    </a:p>
                  </a:txBody>
                  <a:tcPr marL="137160" marR="137160" marT="137160" marB="13716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4000" dirty="0"/>
                        <a:t>Greedy</a:t>
                      </a:r>
                    </a:p>
                  </a:txBody>
                  <a:tcPr marL="137160" marR="137160" marT="137160" marB="13716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4000" dirty="0"/>
                        <a:t>Dynamic Programming</a:t>
                      </a:r>
                    </a:p>
                  </a:txBody>
                  <a:tcPr marL="137160" marR="137160" marT="137160" marB="137160" anchor="ctr"/>
                </a:tc>
                <a:extLst>
                  <a:ext uri="{0D108BD9-81ED-4DB2-BD59-A6C34878D82A}">
                    <a16:rowId xmlns:a16="http://schemas.microsoft.com/office/drawing/2014/main" val="930187184"/>
                  </a:ext>
                </a:extLst>
              </a:tr>
              <a:tr h="10800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4000" dirty="0">
                          <a:solidFill>
                            <a:schemeClr val="bg2">
                              <a:lumMod val="10000"/>
                            </a:schemeClr>
                          </a:solidFill>
                        </a:rPr>
                        <a:t>How it decides?</a:t>
                      </a:r>
                    </a:p>
                  </a:txBody>
                  <a:tcPr marL="137160" marR="137160" marT="137160" marB="137160" anchor="ctr"/>
                </a:tc>
                <a:tc>
                  <a:txBody>
                    <a:bodyPr/>
                    <a:lstStyle/>
                    <a:p>
                      <a:pPr marL="0" marR="0" indent="0" algn="ctr" defTabSz="584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4000" dirty="0">
                          <a:solidFill>
                            <a:schemeClr val="bg2">
                              <a:lumMod val="10000"/>
                            </a:schemeClr>
                          </a:solidFill>
                        </a:rPr>
                        <a:t>Uses only raw input data/heuristic available right now/at current step</a:t>
                      </a:r>
                    </a:p>
                  </a:txBody>
                  <a:tcPr marL="137160" marR="137160" marT="137160" marB="137160" anchor="ctr"/>
                </a:tc>
                <a:tc>
                  <a:txBody>
                    <a:bodyPr/>
                    <a:lstStyle/>
                    <a:p>
                      <a:pPr marL="0" marR="0" indent="0" algn="ctr" defTabSz="584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4000" dirty="0">
                          <a:solidFill>
                            <a:schemeClr val="bg2">
                              <a:lumMod val="10000"/>
                            </a:schemeClr>
                          </a:solidFill>
                        </a:rPr>
                        <a:t>Uses previously computed subproblem states </a:t>
                      </a:r>
                    </a:p>
                  </a:txBody>
                  <a:tcPr marL="137160" marR="137160" marT="137160" marB="137160" anchor="ctr"/>
                </a:tc>
                <a:extLst>
                  <a:ext uri="{0D108BD9-81ED-4DB2-BD59-A6C34878D82A}">
                    <a16:rowId xmlns:a16="http://schemas.microsoft.com/office/drawing/2014/main" val="2007945916"/>
                  </a:ext>
                </a:extLst>
              </a:tr>
              <a:tr h="10800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4000" dirty="0">
                          <a:solidFill>
                            <a:schemeClr val="bg2">
                              <a:lumMod val="10000"/>
                            </a:schemeClr>
                          </a:solidFill>
                        </a:rPr>
                        <a:t>Decision Pipeline</a:t>
                      </a:r>
                    </a:p>
                  </a:txBody>
                  <a:tcPr marL="137160" marR="137160" marT="137160" marB="13716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4000" dirty="0">
                          <a:solidFill>
                            <a:schemeClr val="bg2">
                              <a:lumMod val="10000"/>
                            </a:schemeClr>
                          </a:solidFill>
                        </a:rPr>
                        <a:t>Makes a choice before solving subproblems</a:t>
                      </a:r>
                    </a:p>
                  </a:txBody>
                  <a:tcPr marL="137160" marR="137160" marT="137160" marB="13716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4000" dirty="0">
                          <a:solidFill>
                            <a:schemeClr val="bg2">
                              <a:lumMod val="10000"/>
                            </a:schemeClr>
                          </a:solidFill>
                        </a:rPr>
                        <a:t>Makes a choice after evaluating previous subproblems</a:t>
                      </a:r>
                    </a:p>
                  </a:txBody>
                  <a:tcPr marL="137160" marR="137160" marT="137160" marB="137160" anchor="ctr"/>
                </a:tc>
                <a:extLst>
                  <a:ext uri="{0D108BD9-81ED-4DB2-BD59-A6C34878D82A}">
                    <a16:rowId xmlns:a16="http://schemas.microsoft.com/office/drawing/2014/main" val="888096600"/>
                  </a:ext>
                </a:extLst>
              </a:tr>
              <a:tr h="10800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4000" dirty="0">
                          <a:solidFill>
                            <a:schemeClr val="bg2">
                              <a:lumMod val="10000"/>
                            </a:schemeClr>
                          </a:solidFill>
                        </a:rPr>
                        <a:t>Can it look back?</a:t>
                      </a:r>
                    </a:p>
                  </a:txBody>
                  <a:tcPr marL="137160" marR="137160" marT="137160" marB="137160" anchor="ctr"/>
                </a:tc>
                <a:tc>
                  <a:txBody>
                    <a:bodyPr/>
                    <a:lstStyle/>
                    <a:p>
                      <a:pPr marL="0" marR="0" indent="0" algn="ctr" defTabSz="584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4000" dirty="0">
                          <a:solidFill>
                            <a:schemeClr val="bg2">
                              <a:lumMod val="10000"/>
                            </a:schemeClr>
                          </a:solidFill>
                        </a:rPr>
                        <a:t>No. It makes a choice and never revisits or relies on a calculated state table.</a:t>
                      </a:r>
                    </a:p>
                  </a:txBody>
                  <a:tcPr marL="137160" marR="137160" marT="137160" marB="137160" anchor="ctr"/>
                </a:tc>
                <a:tc>
                  <a:txBody>
                    <a:bodyPr/>
                    <a:lstStyle/>
                    <a:p>
                      <a:pPr marL="0" marR="0" indent="0" algn="ctr" defTabSz="584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4000" dirty="0">
                          <a:solidFill>
                            <a:schemeClr val="bg2">
                              <a:lumMod val="10000"/>
                            </a:schemeClr>
                          </a:solidFill>
                        </a:rPr>
                        <a:t>Yes. It must read from the table/state of a solved subproblem to make the current calculation.</a:t>
                      </a:r>
                    </a:p>
                  </a:txBody>
                  <a:tcPr marL="137160" marR="137160" marT="137160" marB="137160" anchor="ctr"/>
                </a:tc>
                <a:extLst>
                  <a:ext uri="{0D108BD9-81ED-4DB2-BD59-A6C34878D82A}">
                    <a16:rowId xmlns:a16="http://schemas.microsoft.com/office/drawing/2014/main" val="2102917474"/>
                  </a:ext>
                </a:extLst>
              </a:tr>
              <a:tr h="10800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4000" dirty="0">
                          <a:solidFill>
                            <a:schemeClr val="bg2">
                              <a:lumMod val="10000"/>
                            </a:schemeClr>
                          </a:solidFill>
                        </a:rPr>
                        <a:t>Examples</a:t>
                      </a:r>
                    </a:p>
                  </a:txBody>
                  <a:tcPr marL="137160" marR="137160" marT="137160" marB="13716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4000" dirty="0">
                          <a:solidFill>
                            <a:schemeClr val="bg2">
                              <a:lumMod val="10000"/>
                            </a:schemeClr>
                          </a:solidFill>
                        </a:rPr>
                        <a:t>Activity Selection, Fractional Knapsack, Huffman Code, Dijkstra</a:t>
                      </a:r>
                    </a:p>
                  </a:txBody>
                  <a:tcPr marL="137160" marR="137160" marT="137160" marB="13716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4000" dirty="0">
                          <a:solidFill>
                            <a:schemeClr val="bg2">
                              <a:lumMod val="10000"/>
                            </a:schemeClr>
                          </a:solidFill>
                        </a:rPr>
                        <a:t>Max Subarray Sum, 0/1 Knapsack, Coin Change (Non Canonical)</a:t>
                      </a:r>
                    </a:p>
                  </a:txBody>
                  <a:tcPr marL="137160" marR="137160" marT="137160" marB="137160" anchor="ctr"/>
                </a:tc>
                <a:extLst>
                  <a:ext uri="{0D108BD9-81ED-4DB2-BD59-A6C34878D82A}">
                    <a16:rowId xmlns:a16="http://schemas.microsoft.com/office/drawing/2014/main" val="228458218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9803044"/>
      </p:ext>
    </p:extLst>
  </p:cSld>
  <p:clrMapOvr>
    <a:masterClrMapping/>
  </p:clrMapOvr>
  <p:transition spd="med"/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249EB3-F9B6-707C-9796-DF4A8307DD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A64458-D103-D5FD-B7B7-C344172AB4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Summary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D968348-9BEE-53B2-6244-AA69EE066B3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Session 15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48FE3BF0-3CA5-1EB1-F99A-97C9C6E06557}"/>
                  </a:ext>
                </a:extLst>
              </p:cNvPr>
              <p:cNvSpPr>
                <a:spLocks noGrp="1"/>
              </p:cNvSpPr>
              <p:nvPr>
                <p:ph sz="quarter" idx="11"/>
              </p:nvPr>
            </p:nvSpPr>
            <p:spPr/>
            <p:txBody>
              <a:bodyPr/>
              <a:lstStyle/>
              <a:p>
                <a:r>
                  <a:rPr lang="en-ID" b="1" dirty="0"/>
                  <a:t>DP</a:t>
                </a:r>
                <a:r>
                  <a:rPr lang="en-ID" dirty="0"/>
                  <a:t> solves problems by caching solutions to overlapping subproblems; requires optimal substructure.</a:t>
                </a:r>
              </a:p>
              <a:p>
                <a:r>
                  <a:rPr lang="en-ID" b="1" dirty="0" err="1"/>
                  <a:t>Memoization</a:t>
                </a:r>
                <a:r>
                  <a:rPr lang="en-ID" dirty="0"/>
                  <a:t> (top-down): cache recursive calls. </a:t>
                </a:r>
                <a:r>
                  <a:rPr lang="en-ID" b="1" dirty="0"/>
                  <a:t>Tabulation</a:t>
                </a:r>
                <a:r>
                  <a:rPr lang="en-ID" dirty="0"/>
                  <a:t> (bottom-up): fill table iteratively.</a:t>
                </a:r>
              </a:p>
              <a:p>
                <a:r>
                  <a:rPr lang="en-ID" b="1" dirty="0" err="1"/>
                  <a:t>Kadane's</a:t>
                </a:r>
                <a:r>
                  <a:rPr lang="en-ID" b="1" dirty="0"/>
                  <a:t> algorithm:</a:t>
                </a:r>
                <a:r>
                  <a:rPr lang="en-ID" dirty="0"/>
                  <a:t> </a:t>
                </a:r>
                <a14:m>
                  <m:oMath xmlns:m="http://schemas.openxmlformats.org/officeDocument/2006/math">
                    <m:r>
                      <a:rPr lang="en-ID" i="1" dirty="0" smtClean="0">
                        <a:latin typeface="Cambria Math" panose="02040503050406030204" pitchFamily="18" charset="0"/>
                      </a:rPr>
                      <m:t>𝑑𝑝</m:t>
                    </m:r>
                    <m:r>
                      <a:rPr lang="en-ID" i="1" dirty="0">
                        <a:latin typeface="Cambria Math" panose="02040503050406030204" pitchFamily="18" charset="0"/>
                      </a:rPr>
                      <m:t>[</m:t>
                    </m:r>
                    <m:r>
                      <a:rPr lang="en-ID" i="1" dirty="0" err="1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ID" i="1" dirty="0">
                        <a:latin typeface="Cambria Math" panose="02040503050406030204" pitchFamily="18" charset="0"/>
                      </a:rPr>
                      <m:t>] = </m:t>
                    </m:r>
                    <m:r>
                      <m:rPr>
                        <m:sty m:val="p"/>
                      </m:rPr>
                      <a:rPr lang="en-ID" i="1" dirty="0">
                        <a:latin typeface="Cambria Math" panose="02040503050406030204" pitchFamily="18" charset="0"/>
                      </a:rPr>
                      <m:t>max</m:t>
                    </m:r>
                    <m:r>
                      <a:rPr lang="en-ID" i="1" dirty="0">
                        <a:latin typeface="Cambria Math" panose="02040503050406030204" pitchFamily="18" charset="0"/>
                      </a:rPr>
                      <m:t>⁡(</m:t>
                    </m:r>
                    <m:r>
                      <a:rPr lang="en-ID" i="1" dirty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D" i="1" dirty="0">
                        <a:latin typeface="Cambria Math" panose="02040503050406030204" pitchFamily="18" charset="0"/>
                      </a:rPr>
                      <m:t>[</m:t>
                    </m:r>
                    <m:r>
                      <a:rPr lang="en-ID" i="1" dirty="0" err="1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ID" i="1" dirty="0">
                        <a:latin typeface="Cambria Math" panose="02040503050406030204" pitchFamily="18" charset="0"/>
                      </a:rPr>
                      <m:t>], </m:t>
                    </m:r>
                    <m:r>
                      <a:rPr lang="en-ID" i="1" dirty="0" err="1">
                        <a:latin typeface="Cambria Math" panose="02040503050406030204" pitchFamily="18" charset="0"/>
                      </a:rPr>
                      <m:t>𝑑𝑝</m:t>
                    </m:r>
                    <m:r>
                      <a:rPr lang="en-ID" i="1" dirty="0">
                        <a:latin typeface="Cambria Math" panose="02040503050406030204" pitchFamily="18" charset="0"/>
                      </a:rPr>
                      <m:t>[</m:t>
                    </m:r>
                    <m:r>
                      <a:rPr lang="en-ID" i="1" dirty="0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ID" i="1" dirty="0">
                        <a:latin typeface="Cambria Math" panose="02040503050406030204" pitchFamily="18" charset="0"/>
                      </a:rPr>
                      <m:t>−1]+</m:t>
                    </m:r>
                    <m:r>
                      <a:rPr lang="en-ID" i="1" dirty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D" i="1" dirty="0">
                        <a:latin typeface="Cambria Math" panose="02040503050406030204" pitchFamily="18" charset="0"/>
                      </a:rPr>
                      <m:t>[</m:t>
                    </m:r>
                    <m:r>
                      <a:rPr lang="en-ID" i="1" dirty="0" err="1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ID" i="1" dirty="0">
                        <a:latin typeface="Cambria Math" panose="02040503050406030204" pitchFamily="18" charset="0"/>
                      </a:rPr>
                      <m:t>])</m:t>
                    </m:r>
                  </m:oMath>
                </a14:m>
                <a:r>
                  <a:rPr lang="en-ID" dirty="0"/>
                  <a:t>; </a:t>
                </a:r>
                <a14:m>
                  <m:oMath xmlns:m="http://schemas.openxmlformats.org/officeDocument/2006/math">
                    <m:r>
                      <a:rPr lang="en-ID" i="1" dirty="0" smtClean="0"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ID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ID" i="1" dirty="0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ID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ID" dirty="0"/>
                  <a:t> time, </a:t>
                </a:r>
                <a14:m>
                  <m:oMath xmlns:m="http://schemas.openxmlformats.org/officeDocument/2006/math">
                    <m:r>
                      <a:rPr lang="en-ID" i="1" dirty="0" smtClean="0"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ID" i="1" dirty="0" smtClean="0">
                        <a:latin typeface="Cambria Math" panose="02040503050406030204" pitchFamily="18" charset="0"/>
                      </a:rPr>
                      <m:t>(1) </m:t>
                    </m:r>
                  </m:oMath>
                </a14:m>
                <a:r>
                  <a:rPr lang="en-ID" dirty="0"/>
                  <a:t>space in optimized version.</a:t>
                </a:r>
              </a:p>
              <a:p>
                <a:r>
                  <a:rPr lang="en-ID" dirty="0" err="1"/>
                  <a:t>Kadane</a:t>
                </a:r>
                <a:r>
                  <a:rPr lang="en-ID" dirty="0"/>
                  <a:t> is DP because each </a:t>
                </a:r>
                <a14:m>
                  <m:oMath xmlns:m="http://schemas.openxmlformats.org/officeDocument/2006/math">
                    <m:r>
                      <a:rPr lang="en-ID" i="1" dirty="0" smtClean="0">
                        <a:latin typeface="Cambria Math" panose="02040503050406030204" pitchFamily="18" charset="0"/>
                      </a:rPr>
                      <m:t>𝑑𝑝</m:t>
                    </m:r>
                    <m:r>
                      <a:rPr lang="en-ID" i="1" dirty="0">
                        <a:latin typeface="Cambria Math" panose="02040503050406030204" pitchFamily="18" charset="0"/>
                      </a:rPr>
                      <m:t>[</m:t>
                    </m:r>
                    <m:r>
                      <a:rPr lang="en-ID" i="1" dirty="0" err="1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ID" i="1" dirty="0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lang="en-ID" dirty="0"/>
                  <a:t> depends on </a:t>
                </a:r>
                <a14:m>
                  <m:oMath xmlns:m="http://schemas.openxmlformats.org/officeDocument/2006/math">
                    <m:r>
                      <a:rPr lang="en-ID" i="1" dirty="0" smtClean="0">
                        <a:latin typeface="Cambria Math" panose="02040503050406030204" pitchFamily="18" charset="0"/>
                      </a:rPr>
                      <m:t>𝑑𝑝</m:t>
                    </m:r>
                    <m:r>
                      <a:rPr lang="en-ID" i="1" dirty="0">
                        <a:latin typeface="Cambria Math" panose="02040503050406030204" pitchFamily="18" charset="0"/>
                      </a:rPr>
                      <m:t>[</m:t>
                    </m:r>
                    <m:r>
                      <a:rPr lang="en-ID" i="1" dirty="0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ID" i="1" dirty="0">
                        <a:latin typeface="Cambria Math" panose="02040503050406030204" pitchFamily="18" charset="0"/>
                      </a:rPr>
                      <m:t>−1] </m:t>
                    </m:r>
                  </m:oMath>
                </a14:m>
                <a:r>
                  <a:rPr lang="en-ID" dirty="0"/>
                  <a:t>(optimal substructure), and decisions cannot be made greedily without knowing the past optimal state.</a:t>
                </a:r>
              </a:p>
            </p:txBody>
          </p:sp>
        </mc:Choice>
        <mc:Fallback xmlns="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48FE3BF0-3CA5-1EB1-F99A-97C9C6E0655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1"/>
              </p:nvPr>
            </p:nvSpPr>
            <p:spPr>
              <a:blipFill>
                <a:blip r:embed="rId2"/>
                <a:stretch>
                  <a:fillRect l="-1380" t="-1404" r="-190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223313578"/>
      </p:ext>
    </p:extLst>
  </p:cSld>
  <p:clrMapOvr>
    <a:masterClrMapping/>
  </p:clrMapOvr>
  <p:transition spd="med"/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7311A8-D707-1764-F641-D2F424B55E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B88510-7F87-096B-B1B6-66729A6477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Exercise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84FB7EF-EC20-05A6-9354-4F14D09A67B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The climbing stairs problem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A0FD3DC6-4F0A-AD41-1B1B-3B4B9C64C4E3}"/>
                  </a:ext>
                </a:extLst>
              </p:cNvPr>
              <p:cNvSpPr>
                <a:spLocks noGrp="1"/>
              </p:cNvSpPr>
              <p:nvPr>
                <p:ph sz="quarter" idx="11"/>
              </p:nvPr>
            </p:nvSpPr>
            <p:spPr>
              <a:xfrm>
                <a:off x="2167376" y="3714223"/>
                <a:ext cx="20342999" cy="9356317"/>
              </a:xfrm>
            </p:spPr>
            <p:txBody>
              <a:bodyPr>
                <a:noAutofit/>
              </a:bodyPr>
              <a:lstStyle/>
              <a:p>
                <a:r>
                  <a:rPr lang="en-US" sz="4000" dirty="0">
                    <a:solidFill>
                      <a:schemeClr val="bg2">
                        <a:lumMod val="10000"/>
                      </a:schemeClr>
                    </a:solidFill>
                  </a:rPr>
                  <a:t>You are climbing a staircase that has exactly </a:t>
                </a:r>
                <a14:m>
                  <m:oMath xmlns:m="http://schemas.openxmlformats.org/officeDocument/2006/math">
                    <m:r>
                      <a:rPr lang="en-US" sz="4000" b="1" i="1" dirty="0" smtClean="0">
                        <a:solidFill>
                          <a:schemeClr val="bg2">
                            <a:lumMod val="10000"/>
                          </a:schemeClr>
                        </a:solidFill>
                        <a:latin typeface="Cambria Math" panose="02040503050406030204" pitchFamily="18" charset="0"/>
                      </a:rPr>
                      <m:t>𝒏</m:t>
                    </m:r>
                  </m:oMath>
                </a14:m>
                <a:r>
                  <a:rPr lang="en-US" sz="4000" dirty="0">
                    <a:solidFill>
                      <a:schemeClr val="bg2">
                        <a:lumMod val="10000"/>
                      </a:schemeClr>
                    </a:solidFill>
                  </a:rPr>
                  <a:t> steps to reach the top. Each time you make a move, you can choose to climb either 1 step or 2 steps. Calculate how many completely distinct ways or combinations of moves exist to reach the very top.</a:t>
                </a:r>
              </a:p>
              <a:p>
                <a:r>
                  <a:rPr lang="en-US" sz="4000" dirty="0">
                    <a:solidFill>
                      <a:schemeClr val="bg2">
                        <a:lumMod val="10000"/>
                      </a:schemeClr>
                    </a:solidFill>
                  </a:rPr>
                  <a:t>Input: A single positive integer, representing the total number of steps to the top.</a:t>
                </a:r>
              </a:p>
              <a:p>
                <a:r>
                  <a:rPr lang="en-US" sz="4000" dirty="0">
                    <a:solidFill>
                      <a:schemeClr val="bg2">
                        <a:lumMod val="10000"/>
                      </a:schemeClr>
                    </a:solidFill>
                  </a:rPr>
                  <a:t>Output: An integer representing the total number of distinct ways to reach the top.</a:t>
                </a:r>
              </a:p>
              <a:p>
                <a:r>
                  <a:rPr lang="en-US" sz="4000" dirty="0">
                    <a:solidFill>
                      <a:schemeClr val="bg2">
                        <a:lumMod val="10000"/>
                      </a:schemeClr>
                    </a:solidFill>
                  </a:rPr>
                  <a:t>Example:</a:t>
                </a:r>
              </a:p>
              <a:p>
                <a:pPr lvl="1"/>
                <a:r>
                  <a:rPr lang="en-US" sz="4000" dirty="0">
                    <a:solidFill>
                      <a:schemeClr val="bg2">
                        <a:lumMod val="10000"/>
                      </a:schemeClr>
                    </a:solidFill>
                  </a:rPr>
                  <a:t>Input: </a:t>
                </a:r>
                <a14:m>
                  <m:oMath xmlns:m="http://schemas.openxmlformats.org/officeDocument/2006/math">
                    <m:r>
                      <a:rPr lang="en-US" sz="4000" b="1" i="1" dirty="0" smtClean="0">
                        <a:solidFill>
                          <a:schemeClr val="bg2">
                            <a:lumMod val="10000"/>
                          </a:schemeClr>
                        </a:solidFill>
                        <a:latin typeface="Cambria Math" panose="02040503050406030204" pitchFamily="18" charset="0"/>
                      </a:rPr>
                      <m:t>𝒏</m:t>
                    </m:r>
                    <m:r>
                      <a:rPr lang="en-US" sz="4000" b="1" i="1" dirty="0" smtClean="0">
                        <a:solidFill>
                          <a:schemeClr val="bg2">
                            <a:lumMod val="10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4000" b="1" i="1" dirty="0" smtClean="0">
                        <a:solidFill>
                          <a:schemeClr val="bg2">
                            <a:lumMod val="10000"/>
                          </a:schemeClr>
                        </a:solidFill>
                        <a:latin typeface="Cambria Math" panose="02040503050406030204" pitchFamily="18" charset="0"/>
                      </a:rPr>
                      <m:t>𝟑</m:t>
                    </m:r>
                  </m:oMath>
                </a14:m>
                <a:r>
                  <a:rPr lang="en-US" sz="4000" dirty="0">
                    <a:solidFill>
                      <a:schemeClr val="bg2">
                        <a:lumMod val="10000"/>
                      </a:schemeClr>
                    </a:solidFill>
                  </a:rPr>
                  <a:t>; Output: </a:t>
                </a:r>
                <a14:m>
                  <m:oMath xmlns:m="http://schemas.openxmlformats.org/officeDocument/2006/math">
                    <m:r>
                      <a:rPr lang="en-US" sz="4000" b="1" i="1" dirty="0" smtClean="0">
                        <a:solidFill>
                          <a:schemeClr val="bg2">
                            <a:lumMod val="10000"/>
                          </a:schemeClr>
                        </a:solidFill>
                        <a:latin typeface="Cambria Math" panose="02040503050406030204" pitchFamily="18" charset="0"/>
                      </a:rPr>
                      <m:t>𝟑</m:t>
                    </m:r>
                  </m:oMath>
                </a14:m>
                <a:endParaRPr lang="en-US" sz="4000" b="1" dirty="0">
                  <a:solidFill>
                    <a:schemeClr val="bg2">
                      <a:lumMod val="10000"/>
                    </a:schemeClr>
                  </a:solidFill>
                </a:endParaRPr>
              </a:p>
              <a:p>
                <a:pPr lvl="1"/>
                <a:r>
                  <a:rPr lang="en-US" sz="4000" dirty="0">
                    <a:solidFill>
                      <a:schemeClr val="bg2">
                        <a:lumMod val="10000"/>
                      </a:schemeClr>
                    </a:solidFill>
                  </a:rPr>
                  <a:t>Explanation: There are three ways to reach the top: (1+1+1), (1+2), OR (2+1).</a:t>
                </a:r>
              </a:p>
              <a:p>
                <a:pPr>
                  <a:buFont typeface="Wingdings" pitchFamily="2" charset="2"/>
                  <a:buChar char="Ø"/>
                </a:pPr>
                <a:r>
                  <a:rPr lang="en-US" sz="4000" dirty="0">
                    <a:solidFill>
                      <a:schemeClr val="bg2">
                        <a:lumMod val="10000"/>
                      </a:schemeClr>
                    </a:solidFill>
                  </a:rPr>
                  <a:t>Give the pseudocode using Dynamic Programming approach using the 4 steps.</a:t>
                </a:r>
              </a:p>
            </p:txBody>
          </p:sp>
        </mc:Choice>
        <mc:Fallback xmlns="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A0FD3DC6-4F0A-AD41-1B1B-3B4B9C64C4E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1"/>
              </p:nvPr>
            </p:nvSpPr>
            <p:spPr>
              <a:xfrm>
                <a:off x="2167376" y="3714223"/>
                <a:ext cx="20342999" cy="9356317"/>
              </a:xfrm>
              <a:blipFill>
                <a:blip r:embed="rId2"/>
                <a:stretch>
                  <a:fillRect l="-1185" t="-1084" r="-811" b="-393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10743237"/>
      </p:ext>
    </p:extLst>
  </p:cSld>
  <p:clrMapOvr>
    <a:masterClrMapping/>
  </p:clrMapOvr>
  <p:transition spd="med"/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999CEB-5BAD-91AB-96FF-560F73EDA3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B3D560-5827-440A-C8DC-97E85DA729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Exercise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2E742BE-09A3-161E-5F30-D49F97257A5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Maximum product subarray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47B004CE-DF52-317B-33A6-886E6409C0A6}"/>
                  </a:ext>
                </a:extLst>
              </p:cNvPr>
              <p:cNvSpPr>
                <a:spLocks noGrp="1"/>
              </p:cNvSpPr>
              <p:nvPr>
                <p:ph sz="quarter" idx="11"/>
              </p:nvPr>
            </p:nvSpPr>
            <p:spPr>
              <a:xfrm>
                <a:off x="2167376" y="3714223"/>
                <a:ext cx="20342999" cy="9356317"/>
              </a:xfrm>
            </p:spPr>
            <p:txBody>
              <a:bodyPr>
                <a:noAutofit/>
              </a:bodyPr>
              <a:lstStyle/>
              <a:p>
                <a:r>
                  <a:rPr lang="en-ID" sz="4000" dirty="0"/>
                  <a:t>Given an integer array, find a contiguous subarray within the array (containing at least one number) which has the largest product.</a:t>
                </a:r>
              </a:p>
              <a:p>
                <a:r>
                  <a:rPr lang="en-US" sz="4000" dirty="0">
                    <a:solidFill>
                      <a:schemeClr val="bg2">
                        <a:lumMod val="10000"/>
                      </a:schemeClr>
                    </a:solidFill>
                  </a:rPr>
                  <a:t>Input: An array of integers </a:t>
                </a:r>
                <a14:m>
                  <m:oMath xmlns:m="http://schemas.openxmlformats.org/officeDocument/2006/math">
                    <m:r>
                      <a:rPr lang="en-US" sz="4000" b="1" i="1" dirty="0" smtClean="0">
                        <a:solidFill>
                          <a:schemeClr val="bg2">
                            <a:lumMod val="10000"/>
                          </a:schemeClr>
                        </a:solidFill>
                        <a:latin typeface="Cambria Math" panose="02040503050406030204" pitchFamily="18" charset="0"/>
                      </a:rPr>
                      <m:t>𝑨</m:t>
                    </m:r>
                    <m:r>
                      <a:rPr lang="en-US" sz="4000" b="1" i="1" dirty="0" smtClean="0">
                        <a:solidFill>
                          <a:schemeClr val="bg2">
                            <a:lumMod val="10000"/>
                          </a:schemeClr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US" sz="4000" b="1" i="1" dirty="0" smtClean="0">
                        <a:solidFill>
                          <a:schemeClr val="bg2">
                            <a:lumMod val="10000"/>
                          </a:schemeClr>
                        </a:solidFill>
                        <a:latin typeface="Cambria Math" panose="02040503050406030204" pitchFamily="18" charset="0"/>
                      </a:rPr>
                      <m:t>𝟏</m:t>
                    </m:r>
                    <m:r>
                      <a:rPr lang="en-US" sz="4000" b="1" i="1" dirty="0" smtClean="0">
                        <a:solidFill>
                          <a:schemeClr val="bg2">
                            <a:lumMod val="10000"/>
                          </a:schemeClr>
                        </a:solidFill>
                        <a:latin typeface="Cambria Math" panose="02040503050406030204" pitchFamily="18" charset="0"/>
                      </a:rPr>
                      <m:t>…</m:t>
                    </m:r>
                    <m:r>
                      <a:rPr lang="en-US" sz="4000" b="1" i="1" dirty="0" smtClean="0">
                        <a:solidFill>
                          <a:schemeClr val="bg2">
                            <a:lumMod val="10000"/>
                          </a:schemeClr>
                        </a:solidFill>
                        <a:latin typeface="Cambria Math" panose="02040503050406030204" pitchFamily="18" charset="0"/>
                      </a:rPr>
                      <m:t>𝒏</m:t>
                    </m:r>
                    <m:r>
                      <a:rPr lang="en-US" sz="4000" b="1" i="1" dirty="0" smtClean="0">
                        <a:solidFill>
                          <a:schemeClr val="bg2">
                            <a:lumMod val="10000"/>
                          </a:schemeClr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lang="en-US" sz="4000" dirty="0">
                    <a:solidFill>
                      <a:schemeClr val="bg2">
                        <a:lumMod val="10000"/>
                      </a:schemeClr>
                    </a:solidFill>
                  </a:rPr>
                  <a:t> (can contain positive, negative or zero).</a:t>
                </a:r>
              </a:p>
              <a:p>
                <a:r>
                  <a:rPr lang="en-US" sz="4000" dirty="0">
                    <a:solidFill>
                      <a:schemeClr val="bg2">
                        <a:lumMod val="10000"/>
                      </a:schemeClr>
                    </a:solidFill>
                  </a:rPr>
                  <a:t>Output: </a:t>
                </a:r>
                <a:r>
                  <a:rPr lang="en-ID" sz="4000" dirty="0"/>
                  <a:t>The maximum product achieved by any contiguous subarray.</a:t>
                </a:r>
                <a:endParaRPr lang="en-US" sz="4000" dirty="0">
                  <a:solidFill>
                    <a:schemeClr val="bg2">
                      <a:lumMod val="10000"/>
                    </a:schemeClr>
                  </a:solidFill>
                </a:endParaRPr>
              </a:p>
              <a:p>
                <a:r>
                  <a:rPr lang="en-US" sz="4000" dirty="0">
                    <a:solidFill>
                      <a:schemeClr val="bg2">
                        <a:lumMod val="10000"/>
                      </a:schemeClr>
                    </a:solidFill>
                  </a:rPr>
                  <a:t>Example:</a:t>
                </a:r>
              </a:p>
              <a:p>
                <a:pPr lvl="1"/>
                <a:r>
                  <a:rPr lang="en-US" sz="4000" dirty="0">
                    <a:solidFill>
                      <a:schemeClr val="bg2">
                        <a:lumMod val="10000"/>
                      </a:schemeClr>
                    </a:solidFill>
                  </a:rPr>
                  <a:t>Input: </a:t>
                </a:r>
                <a14:m>
                  <m:oMath xmlns:m="http://schemas.openxmlformats.org/officeDocument/2006/math">
                    <m:r>
                      <a:rPr lang="en-US" sz="4000" b="1" i="1" dirty="0" smtClean="0">
                        <a:solidFill>
                          <a:schemeClr val="bg2">
                            <a:lumMod val="10000"/>
                          </a:schemeClr>
                        </a:solidFill>
                        <a:latin typeface="Cambria Math" panose="02040503050406030204" pitchFamily="18" charset="0"/>
                      </a:rPr>
                      <m:t>𝑨</m:t>
                    </m:r>
                    <m:r>
                      <a:rPr lang="en-US" sz="4000" b="1" i="1" dirty="0" smtClean="0">
                        <a:solidFill>
                          <a:schemeClr val="bg2">
                            <a:lumMod val="10000"/>
                          </a:schemeClr>
                        </a:solidFill>
                        <a:latin typeface="Cambria Math" panose="02040503050406030204" pitchFamily="18" charset="0"/>
                      </a:rPr>
                      <m:t>=[−</m:t>
                    </m:r>
                    <m:r>
                      <a:rPr lang="en-US" sz="4000" b="1" i="1" dirty="0" smtClean="0">
                        <a:solidFill>
                          <a:schemeClr val="bg2">
                            <a:lumMod val="10000"/>
                          </a:schemeClr>
                        </a:solidFill>
                        <a:latin typeface="Cambria Math" panose="02040503050406030204" pitchFamily="18" charset="0"/>
                      </a:rPr>
                      <m:t>𝟏</m:t>
                    </m:r>
                    <m:r>
                      <a:rPr lang="en-US" sz="4000" b="1" i="1" dirty="0" smtClean="0">
                        <a:solidFill>
                          <a:schemeClr val="bg2">
                            <a:lumMod val="10000"/>
                          </a:schemeClr>
                        </a:solidFill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sz="4000" b="1" i="1" dirty="0" smtClean="0">
                        <a:solidFill>
                          <a:schemeClr val="bg2">
                            <a:lumMod val="10000"/>
                          </a:schemeClr>
                        </a:solidFill>
                        <a:latin typeface="Cambria Math" panose="02040503050406030204" pitchFamily="18" charset="0"/>
                      </a:rPr>
                      <m:t>𝟑</m:t>
                    </m:r>
                    <m:r>
                      <a:rPr lang="en-US" sz="4000" b="1" i="1" dirty="0" smtClean="0">
                        <a:solidFill>
                          <a:schemeClr val="bg2">
                            <a:lumMod val="10000"/>
                          </a:schemeClr>
                        </a:solidFill>
                        <a:latin typeface="Cambria Math" panose="02040503050406030204" pitchFamily="18" charset="0"/>
                      </a:rPr>
                      <m:t>, −</m:t>
                    </m:r>
                    <m:r>
                      <a:rPr lang="en-US" sz="4000" b="1" i="1" dirty="0" smtClean="0">
                        <a:solidFill>
                          <a:schemeClr val="bg2">
                            <a:lumMod val="10000"/>
                          </a:schemeClr>
                        </a:solidFill>
                        <a:latin typeface="Cambria Math" panose="02040503050406030204" pitchFamily="18" charset="0"/>
                      </a:rPr>
                      <m:t>𝟒</m:t>
                    </m:r>
                    <m:r>
                      <a:rPr lang="en-US" sz="4000" b="1" i="1" dirty="0" smtClean="0">
                        <a:solidFill>
                          <a:schemeClr val="bg2">
                            <a:lumMod val="10000"/>
                          </a:schemeClr>
                        </a:solidFill>
                        <a:latin typeface="Cambria Math" panose="02040503050406030204" pitchFamily="18" charset="0"/>
                      </a:rPr>
                      <m:t>, −</m:t>
                    </m:r>
                    <m:r>
                      <a:rPr lang="en-US" sz="4000" b="1" i="1" dirty="0" smtClean="0">
                        <a:solidFill>
                          <a:schemeClr val="bg2">
                            <a:lumMod val="10000"/>
                          </a:schemeClr>
                        </a:solidFill>
                        <a:latin typeface="Cambria Math" panose="02040503050406030204" pitchFamily="18" charset="0"/>
                      </a:rPr>
                      <m:t>𝟐</m:t>
                    </m:r>
                    <m:r>
                      <a:rPr lang="en-US" sz="4000" b="1" i="1" dirty="0" smtClean="0">
                        <a:solidFill>
                          <a:schemeClr val="bg2">
                            <a:lumMod val="10000"/>
                          </a:schemeClr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lang="en-US" sz="4000" dirty="0">
                    <a:solidFill>
                      <a:schemeClr val="bg2">
                        <a:lumMod val="10000"/>
                      </a:schemeClr>
                    </a:solidFill>
                  </a:rPr>
                  <a:t>; Output: </a:t>
                </a:r>
                <a14:m>
                  <m:oMath xmlns:m="http://schemas.openxmlformats.org/officeDocument/2006/math">
                    <m:r>
                      <a:rPr lang="en-US" sz="4000" b="1" i="1" smtClean="0">
                        <a:solidFill>
                          <a:schemeClr val="bg2">
                            <a:lumMod val="10000"/>
                          </a:schemeClr>
                        </a:solidFill>
                        <a:latin typeface="Cambria Math" panose="02040503050406030204" pitchFamily="18" charset="0"/>
                      </a:rPr>
                      <m:t>𝟐𝟒</m:t>
                    </m:r>
                  </m:oMath>
                </a14:m>
                <a:endParaRPr lang="en-US" sz="4000" b="1" dirty="0">
                  <a:solidFill>
                    <a:schemeClr val="bg2">
                      <a:lumMod val="10000"/>
                    </a:schemeClr>
                  </a:solidFill>
                </a:endParaRPr>
              </a:p>
              <a:p>
                <a:pPr lvl="1"/>
                <a:r>
                  <a:rPr lang="en-US" sz="4000" dirty="0">
                    <a:solidFill>
                      <a:schemeClr val="bg2">
                        <a:lumMod val="10000"/>
                      </a:schemeClr>
                    </a:solidFill>
                  </a:rPr>
                  <a:t>Explanation: The continuous subarray </a:t>
                </a:r>
                <a14:m>
                  <m:oMath xmlns:m="http://schemas.openxmlformats.org/officeDocument/2006/math">
                    <m:r>
                      <a:rPr lang="en-US" sz="4000" b="1" i="1" dirty="0">
                        <a:solidFill>
                          <a:schemeClr val="bg2">
                            <a:lumMod val="10000"/>
                          </a:schemeClr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US" sz="4000" b="1" i="1" dirty="0">
                        <a:solidFill>
                          <a:schemeClr val="bg2">
                            <a:lumMod val="10000"/>
                          </a:schemeClr>
                        </a:solidFill>
                        <a:latin typeface="Cambria Math" panose="02040503050406030204" pitchFamily="18" charset="0"/>
                      </a:rPr>
                      <m:t>𝟑</m:t>
                    </m:r>
                    <m:r>
                      <a:rPr lang="en-US" sz="4000" b="1" i="1" dirty="0">
                        <a:solidFill>
                          <a:schemeClr val="bg2">
                            <a:lumMod val="10000"/>
                          </a:schemeClr>
                        </a:solidFill>
                        <a:latin typeface="Cambria Math" panose="02040503050406030204" pitchFamily="18" charset="0"/>
                      </a:rPr>
                      <m:t>, −</m:t>
                    </m:r>
                    <m:r>
                      <a:rPr lang="en-US" sz="4000" b="1" i="1" dirty="0">
                        <a:solidFill>
                          <a:schemeClr val="bg2">
                            <a:lumMod val="10000"/>
                          </a:schemeClr>
                        </a:solidFill>
                        <a:latin typeface="Cambria Math" panose="02040503050406030204" pitchFamily="18" charset="0"/>
                      </a:rPr>
                      <m:t>𝟒</m:t>
                    </m:r>
                    <m:r>
                      <a:rPr lang="en-US" sz="4000" b="1" i="1" dirty="0">
                        <a:solidFill>
                          <a:schemeClr val="bg2">
                            <a:lumMod val="10000"/>
                          </a:schemeClr>
                        </a:solidFill>
                        <a:latin typeface="Cambria Math" panose="02040503050406030204" pitchFamily="18" charset="0"/>
                      </a:rPr>
                      <m:t>, −</m:t>
                    </m:r>
                    <m:r>
                      <a:rPr lang="en-US" sz="4000" b="1" i="1" dirty="0">
                        <a:solidFill>
                          <a:schemeClr val="bg2">
                            <a:lumMod val="10000"/>
                          </a:schemeClr>
                        </a:solidFill>
                        <a:latin typeface="Cambria Math" panose="02040503050406030204" pitchFamily="18" charset="0"/>
                      </a:rPr>
                      <m:t>𝟐</m:t>
                    </m:r>
                    <m:r>
                      <a:rPr lang="en-US" sz="4000" b="1" i="1" dirty="0">
                        <a:solidFill>
                          <a:schemeClr val="bg2">
                            <a:lumMod val="10000"/>
                          </a:schemeClr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lang="en-US" sz="4000" dirty="0">
                    <a:solidFill>
                      <a:schemeClr val="bg2">
                        <a:lumMod val="10000"/>
                      </a:schemeClr>
                    </a:solidFill>
                  </a:rPr>
                  <a:t> has maximum product of 24.</a:t>
                </a:r>
              </a:p>
              <a:p>
                <a:pPr>
                  <a:buFont typeface="Wingdings" pitchFamily="2" charset="2"/>
                  <a:buChar char="Ø"/>
                </a:pPr>
                <a:r>
                  <a:rPr lang="en-US" sz="4000" dirty="0">
                    <a:solidFill>
                      <a:schemeClr val="bg2">
                        <a:lumMod val="10000"/>
                      </a:schemeClr>
                    </a:solidFill>
                  </a:rPr>
                  <a:t>Why the standard </a:t>
                </a:r>
                <a:r>
                  <a:rPr lang="en-US" sz="4000" dirty="0" err="1">
                    <a:solidFill>
                      <a:schemeClr val="bg2">
                        <a:lumMod val="10000"/>
                      </a:schemeClr>
                    </a:solidFill>
                  </a:rPr>
                  <a:t>Kadane</a:t>
                </a:r>
                <a:r>
                  <a:rPr lang="en-US" sz="4000" dirty="0">
                    <a:solidFill>
                      <a:schemeClr val="bg2">
                        <a:lumMod val="10000"/>
                      </a:schemeClr>
                    </a:solidFill>
                  </a:rPr>
                  <a:t> algorithm doesn’t work here? How to make </a:t>
                </a:r>
                <a:r>
                  <a:rPr lang="en-US" sz="4000">
                    <a:solidFill>
                      <a:schemeClr val="bg2">
                        <a:lumMod val="10000"/>
                      </a:schemeClr>
                    </a:solidFill>
                  </a:rPr>
                  <a:t>it work and why? </a:t>
                </a:r>
                <a:endParaRPr lang="en-US" sz="4000" dirty="0">
                  <a:solidFill>
                    <a:schemeClr val="bg2">
                      <a:lumMod val="1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47B004CE-DF52-317B-33A6-886E6409C0A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1"/>
              </p:nvPr>
            </p:nvSpPr>
            <p:spPr>
              <a:xfrm>
                <a:off x="2167376" y="3714223"/>
                <a:ext cx="20342999" cy="9356317"/>
              </a:xfrm>
              <a:blipFill>
                <a:blip r:embed="rId2"/>
                <a:stretch>
                  <a:fillRect l="-1185" t="-1084" r="-43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727852677"/>
      </p:ext>
    </p:extLst>
  </p:cSld>
  <p:clrMapOvr>
    <a:masterClrMapping/>
  </p:clrMapOvr>
  <p:transition spd="med"/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8A328C-1B95-C676-8144-17B68BDBF8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D" dirty="0"/>
              <a:t>References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9FD4B36-DB29-EC9E-2767-9ED5EA04575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Session 15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FC03F54-B3BC-80AB-98AC-C3ABDC8D86EE}"/>
              </a:ext>
            </a:extLst>
          </p:cNvPr>
          <p:cNvSpPr>
            <a:spLocks noGrp="1"/>
          </p:cNvSpPr>
          <p:nvPr>
            <p:ph sz="quarter" idx="11"/>
          </p:nvPr>
        </p:nvSpPr>
        <p:spPr/>
        <p:txBody>
          <a:bodyPr>
            <a:normAutofit/>
          </a:bodyPr>
          <a:lstStyle/>
          <a:p>
            <a:r>
              <a:rPr lang="en-ID" dirty="0" err="1"/>
              <a:t>Cormen</a:t>
            </a:r>
            <a:r>
              <a:rPr lang="en-ID" dirty="0"/>
              <a:t>, T.H., </a:t>
            </a:r>
            <a:r>
              <a:rPr lang="en-ID" dirty="0" err="1"/>
              <a:t>Leiserson</a:t>
            </a:r>
            <a:r>
              <a:rPr lang="en-ID" dirty="0"/>
              <a:t>, C.E., Rivest, R.L., &amp; Stein, C. (2022). </a:t>
            </a:r>
            <a:r>
              <a:rPr lang="en-ID" i="1" dirty="0"/>
              <a:t>Introduction to Algorithms, 4th Edition.</a:t>
            </a:r>
            <a:r>
              <a:rPr lang="en-ID" dirty="0"/>
              <a:t> MIT Press. Chapter 14.3.</a:t>
            </a:r>
          </a:p>
          <a:p>
            <a:r>
              <a:rPr lang="en-ID" dirty="0" err="1"/>
              <a:t>Skiena</a:t>
            </a:r>
            <a:r>
              <a:rPr lang="en-ID" dirty="0"/>
              <a:t>, S.S. (2020). </a:t>
            </a:r>
            <a:r>
              <a:rPr lang="en-ID" i="1" dirty="0"/>
              <a:t>The Algorithm Design Manual, 3rd Edition.</a:t>
            </a:r>
            <a:r>
              <a:rPr lang="en-ID" dirty="0"/>
              <a:t> Springer. Chapter 10.1.</a:t>
            </a:r>
          </a:p>
        </p:txBody>
      </p:sp>
    </p:spTree>
    <p:extLst>
      <p:ext uri="{BB962C8B-B14F-4D97-AF65-F5344CB8AC3E}">
        <p14:creationId xmlns:p14="http://schemas.microsoft.com/office/powerpoint/2010/main" val="3774771954"/>
      </p:ext>
    </p:extLst>
  </p:cSld>
  <p:clrMapOvr>
    <a:masterClrMapping/>
  </p:clrMapOvr>
  <p:transition spd="med"/>
</p:sld>
</file>

<file path=ppt/theme/theme1.xml><?xml version="1.0" encoding="utf-8"?>
<a:theme xmlns:a="http://schemas.openxmlformats.org/drawingml/2006/main" name="21_BasicWhite">
  <a:themeElements>
    <a:clrScheme name="21_BasicWhite">
      <a:dk1>
        <a:srgbClr val="5E5E5E"/>
      </a:dk1>
      <a:lt1>
        <a:srgbClr val="FFFFFF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61D836"/>
      </a:accent3>
      <a:accent4>
        <a:srgbClr val="FFD932"/>
      </a:accent4>
      <a:accent5>
        <a:srgbClr val="FF644E"/>
      </a:accent5>
      <a:accent6>
        <a:srgbClr val="FF42A1"/>
      </a:accent6>
      <a:hlink>
        <a:srgbClr val="0000FF"/>
      </a:hlink>
      <a:folHlink>
        <a:srgbClr val="FF00FF"/>
      </a:folHlink>
    </a:clrScheme>
    <a:fontScheme name="Custom 1">
      <a:majorFont>
        <a:latin typeface="Open Sans"/>
        <a:ea typeface=""/>
        <a:cs typeface=""/>
      </a:majorFont>
      <a:minorFont>
        <a:latin typeface="Open Sans"/>
        <a:ea typeface=""/>
        <a:cs typeface=""/>
      </a:minorFont>
    </a:fontScheme>
    <a:fmtScheme name="21_Basic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000000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3200" b="0" i="0" u="none" strike="noStrike" cap="none" spc="0" normalizeH="0" baseline="0">
            <a:ln>
              <a:noFill/>
            </a:ln>
            <a:solidFill>
              <a:srgbClr val="FFFFFF"/>
            </a:solidFill>
            <a:effectLst/>
            <a:uFillTx/>
            <a:latin typeface="Helvetica Neue Medium"/>
            <a:ea typeface="Helvetica Neue Medium"/>
            <a:cs typeface="Helvetica Neue Medium"/>
            <a:sym typeface="Helvetica Neue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2438338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2400" b="0" i="0" u="none" strike="noStrike" cap="none" spc="0" normalizeH="0" baseline="0">
            <a:ln>
              <a:noFill/>
            </a:ln>
            <a:solidFill>
              <a:srgbClr val="5E5E5E"/>
            </a:solidFill>
            <a:effectLst/>
            <a:uFillTx/>
            <a:latin typeface="+mn-lt"/>
            <a:ea typeface="+mn-ea"/>
            <a:cs typeface="+mn-cs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  <a:extLst>
    <a:ext uri="{05A4C25C-085E-4340-85A3-A5531E510DB2}">
      <thm15:themeFamily xmlns:thm15="http://schemas.microsoft.com/office/thememl/2012/main" name="BINUS Learning Object Slide Template 2023  -  Read-Only" id="{0B9ADDDE-C7FD-42D8-83B7-6621693F3C5D}" vid="{472DF894-1FEC-4319-A5F3-1F8BDBEC1F3D}"/>
    </a:ext>
  </a:extLst>
</a:theme>
</file>

<file path=ppt/theme/theme2.xml><?xml version="1.0" encoding="utf-8"?>
<a:theme xmlns:a="http://schemas.openxmlformats.org/drawingml/2006/main" name="21_BasicWhite">
  <a:themeElements>
    <a:clrScheme name="21_BasicWhite">
      <a:dk1>
        <a:srgbClr val="000000"/>
      </a:dk1>
      <a:lt1>
        <a:srgbClr val="FFFFFF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61D836"/>
      </a:accent3>
      <a:accent4>
        <a:srgbClr val="FFD932"/>
      </a:accent4>
      <a:accent5>
        <a:srgbClr val="FF644E"/>
      </a:accent5>
      <a:accent6>
        <a:srgbClr val="FF42A1"/>
      </a:accent6>
      <a:hlink>
        <a:srgbClr val="0000FF"/>
      </a:hlink>
      <a:folHlink>
        <a:srgbClr val="FF00FF"/>
      </a:folHlink>
    </a:clrScheme>
    <a:fontScheme name="21_BasicWhite">
      <a:majorFont>
        <a:latin typeface="Helvetica Neue"/>
        <a:ea typeface="Helvetica Neue"/>
        <a:cs typeface="Helvetica Neue"/>
      </a:majorFont>
      <a:minorFont>
        <a:latin typeface="Helvetica Neue"/>
        <a:ea typeface="Helvetica Neue"/>
        <a:cs typeface="Helvetica Neue"/>
      </a:minorFont>
    </a:fontScheme>
    <a:fmtScheme name="21_Basic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000000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3200" b="0" i="0" u="none" strike="noStrike" cap="none" spc="0" normalizeH="0" baseline="0">
            <a:ln>
              <a:noFill/>
            </a:ln>
            <a:solidFill>
              <a:srgbClr val="FFFFFF"/>
            </a:solidFill>
            <a:effectLst/>
            <a:uFillTx/>
            <a:latin typeface="Helvetica Neue Medium"/>
            <a:ea typeface="Helvetica Neue Medium"/>
            <a:cs typeface="Helvetica Neue Medium"/>
            <a:sym typeface="Helvetica Neue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2438338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2400" b="0" i="0" u="none" strike="noStrike" cap="none" spc="0" normalizeH="0" baseline="0">
            <a:ln>
              <a:noFill/>
            </a:ln>
            <a:solidFill>
              <a:srgbClr val="5E5E5E"/>
            </a:solidFill>
            <a:effectLst/>
            <a:uFillTx/>
            <a:latin typeface="+mn-lt"/>
            <a:ea typeface="+mn-ea"/>
            <a:cs typeface="+mn-cs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docMetadata/LabelInfo.xml><?xml version="1.0" encoding="utf-8"?>
<clbl:labelList xmlns:clbl="http://schemas.microsoft.com/office/2020/mipLabelMetadata">
  <clbl:label id="{3485b963-82ba-4a6f-810f-b5cc226ff898}" enabled="0" method="" siteId="{3485b963-82ba-4a6f-810f-b5cc226ff898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21_BasicWhite</Template>
  <TotalTime>5807</TotalTime>
  <Words>3029</Words>
  <Application>Microsoft Macintosh PowerPoint</Application>
  <PresentationFormat>Custom</PresentationFormat>
  <Paragraphs>460</Paragraphs>
  <Slides>32</Slides>
  <Notes>27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32</vt:i4>
      </vt:variant>
    </vt:vector>
  </HeadingPairs>
  <TitlesOfParts>
    <vt:vector size="43" baseType="lpstr">
      <vt:lpstr>Open Sans Semibold</vt:lpstr>
      <vt:lpstr>OCRB</vt:lpstr>
      <vt:lpstr>Cambria Math</vt:lpstr>
      <vt:lpstr>Open Sans ExtraBold</vt:lpstr>
      <vt:lpstr>Open Sans Light</vt:lpstr>
      <vt:lpstr>Consolas</vt:lpstr>
      <vt:lpstr>Helvetica Neue Medium</vt:lpstr>
      <vt:lpstr>Open Sans</vt:lpstr>
      <vt:lpstr>Arial</vt:lpstr>
      <vt:lpstr>Wingdings</vt:lpstr>
      <vt:lpstr>21_BasicWhite</vt:lpstr>
      <vt:lpstr>Dynamic Programming: Maximum subarray sum</vt:lpstr>
      <vt:lpstr>Learning Outcomes</vt:lpstr>
      <vt:lpstr>Learning Outcomes</vt:lpstr>
      <vt:lpstr>outline</vt:lpstr>
      <vt:lpstr>Dynamic Programming paradigm</vt:lpstr>
      <vt:lpstr>Dynamic Programming paradigm</vt:lpstr>
      <vt:lpstr>Dynamic Programming paradigm</vt:lpstr>
      <vt:lpstr>Dynamic Programming paradigm</vt:lpstr>
      <vt:lpstr>Dynamic Programming paradigm</vt:lpstr>
      <vt:lpstr>Dynamic Programming paradigm</vt:lpstr>
      <vt:lpstr>Dynamic Programming paradigm</vt:lpstr>
      <vt:lpstr>Dynamic Programming paradigm</vt:lpstr>
      <vt:lpstr>Dynamic Programming paradigm</vt:lpstr>
      <vt:lpstr>Maximum Subarray Sum: Kadane's Algorithm</vt:lpstr>
      <vt:lpstr>Maximum Subarray Sum: Kadane's Algorithm</vt:lpstr>
      <vt:lpstr>Maximum Subarray Sum: Kadane's Algorithm</vt:lpstr>
      <vt:lpstr>Maximum Subarray Sum: Kadane's Algorithm</vt:lpstr>
      <vt:lpstr>Maximum Subarray Sum: Kadane's Algorithm</vt:lpstr>
      <vt:lpstr>Maximum Subarray Sum: Kadane's Algorithm</vt:lpstr>
      <vt:lpstr>Maximum Subarray Sum: Kadane's Algorithm</vt:lpstr>
      <vt:lpstr>Maximum Subarray Sum: Kadane's Algorithm</vt:lpstr>
      <vt:lpstr>Maximum Subarray Sum: Kadane's Algorithm</vt:lpstr>
      <vt:lpstr>Maximum Subarray Sum: Kadane's Algorithm</vt:lpstr>
      <vt:lpstr>Maximum Subarray Sum: Kadane's Algorithm</vt:lpstr>
      <vt:lpstr>Maximum Subarray Sum: Kadane's Algorithm</vt:lpstr>
      <vt:lpstr>Why Kadane's is DP and Not Greedy</vt:lpstr>
      <vt:lpstr>Why Kadane's is DP and Not Greedy</vt:lpstr>
      <vt:lpstr>Why Kadane's is DP and Not Greedy</vt:lpstr>
      <vt:lpstr>Summary</vt:lpstr>
      <vt:lpstr>Exercise</vt:lpstr>
      <vt:lpstr>Exercise</vt:lpstr>
      <vt:lpstr>References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HENRY LUCKY</dc:creator>
  <cp:lastModifiedBy>HENRY LUCKY</cp:lastModifiedBy>
  <cp:revision>40</cp:revision>
  <dcterms:created xsi:type="dcterms:W3CDTF">2023-11-17T02:51:40Z</dcterms:created>
  <dcterms:modified xsi:type="dcterms:W3CDTF">2026-06-24T08:32:44Z</dcterms:modified>
</cp:coreProperties>
</file>