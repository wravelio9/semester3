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308" r:id="rId4"/>
    <p:sldId id="258" r:id="rId5"/>
    <p:sldId id="349" r:id="rId6"/>
    <p:sldId id="352" r:id="rId7"/>
    <p:sldId id="350" r:id="rId8"/>
    <p:sldId id="351" r:id="rId9"/>
    <p:sldId id="259" r:id="rId10"/>
    <p:sldId id="353" r:id="rId11"/>
    <p:sldId id="354" r:id="rId12"/>
    <p:sldId id="355" r:id="rId13"/>
    <p:sldId id="356" r:id="rId14"/>
    <p:sldId id="366" r:id="rId15"/>
    <p:sldId id="369" r:id="rId16"/>
    <p:sldId id="367" r:id="rId17"/>
    <p:sldId id="371" r:id="rId18"/>
    <p:sldId id="336" r:id="rId19"/>
    <p:sldId id="337" r:id="rId20"/>
    <p:sldId id="361" r:id="rId21"/>
    <p:sldId id="362" r:id="rId22"/>
    <p:sldId id="363" r:id="rId23"/>
    <p:sldId id="364" r:id="rId24"/>
    <p:sldId id="365" r:id="rId25"/>
    <p:sldId id="342" r:id="rId26"/>
    <p:sldId id="343" r:id="rId27"/>
    <p:sldId id="373" r:id="rId28"/>
    <p:sldId id="374" r:id="rId29"/>
    <p:sldId id="375" r:id="rId30"/>
    <p:sldId id="372" r:id="rId31"/>
    <p:sldId id="376" r:id="rId32"/>
    <p:sldId id="377" r:id="rId33"/>
    <p:sldId id="378" r:id="rId34"/>
    <p:sldId id="345" r:id="rId35"/>
    <p:sldId id="344" r:id="rId36"/>
    <p:sldId id="346" r:id="rId37"/>
    <p:sldId id="347" r:id="rId38"/>
    <p:sldId id="348" r:id="rId39"/>
    <p:sldId id="334" r:id="rId40"/>
    <p:sldId id="335" r:id="rId41"/>
    <p:sldId id="278" r:id="rId42"/>
  </p:sldIdLst>
  <p:sldSz cx="24384000" cy="13716000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OCRB" panose="020B0609020202020204" pitchFamily="49" charset="77"/>
      <p:regular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pen Sans ExtraBold" panose="020B0906030804020204" pitchFamily="34" charset="0"/>
      <p:bold r:id="rId50"/>
      <p:italic r:id="rId51"/>
      <p:boldItalic r:id="rId52"/>
    </p:embeddedFont>
    <p:embeddedFont>
      <p:font typeface="Open Sans Light" panose="020B0306030504020204" pitchFamily="34" charset="0"/>
      <p:regular r:id="rId53"/>
      <p:italic r:id="rId54"/>
    </p:embeddedFont>
    <p:embeddedFont>
      <p:font typeface="Open Sans Semibold" panose="020B0706030804020204" pitchFamily="34" charset="0"/>
      <p:regular r:id="rId55"/>
      <p:bold r:id="rId56"/>
      <p:italic r:id="rId57"/>
      <p:boldItalic r:id="rId58"/>
    </p:embeddedFont>
    <p:embeddedFont>
      <p:font typeface="Tahoma" panose="020B0604030504040204" pitchFamily="34" charset="0"/>
      <p:regular r:id="rId59"/>
      <p:bold r:id="rId6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FFF7D6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3" autoAdjust="0"/>
    <p:restoredTop sz="95584"/>
  </p:normalViewPr>
  <p:slideViewPr>
    <p:cSldViewPr snapToGrid="0" snapToObjects="1">
      <p:cViewPr varScale="1">
        <p:scale>
          <a:sx n="58" d="100"/>
          <a:sy n="58" d="100"/>
        </p:scale>
        <p:origin x="432" y="24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undo custSel modSld">
      <pc:chgData name="HENRY LUCKY" userId="9f9f0d3b-fafb-4a1f-811e-e1ce60336648" providerId="ADAL" clId="{87B23BC5-493B-58B6-9C8D-8C75A953FAD3}" dt="2026-10-11T17:53:10.951" v="56"/>
      <pc:docMkLst>
        <pc:docMk/>
      </pc:docMkLst>
      <pc:sldChg chg="modSp mod">
        <pc:chgData name="HENRY LUCKY" userId="9f9f0d3b-fafb-4a1f-811e-e1ce60336648" providerId="ADAL" clId="{87B23BC5-493B-58B6-9C8D-8C75A953FAD3}" dt="2026-10-11T17:48:45.026" v="50" actId="20577"/>
        <pc:sldMkLst>
          <pc:docMk/>
          <pc:sldMk cId="2529832680" sldId="336"/>
        </pc:sldMkLst>
        <pc:spChg chg="mod">
          <ac:chgData name="HENRY LUCKY" userId="9f9f0d3b-fafb-4a1f-811e-e1ce60336648" providerId="ADAL" clId="{87B23BC5-493B-58B6-9C8D-8C75A953FAD3}" dt="2026-10-11T17:48:45.026" v="50" actId="20577"/>
          <ac:spMkLst>
            <pc:docMk/>
            <pc:sldMk cId="2529832680" sldId="336"/>
            <ac:spMk id="5" creationId="{38D9A59A-881E-F256-453A-7C1D3FF25AE4}"/>
          </ac:spMkLst>
        </pc:spChg>
      </pc:sldChg>
      <pc:sldChg chg="modSp mod">
        <pc:chgData name="HENRY LUCKY" userId="9f9f0d3b-fafb-4a1f-811e-e1ce60336648" providerId="ADAL" clId="{87B23BC5-493B-58B6-9C8D-8C75A953FAD3}" dt="2026-10-11T17:51:41.561" v="53" actId="34807"/>
        <pc:sldMkLst>
          <pc:docMk/>
          <pc:sldMk cId="3437924947" sldId="343"/>
        </pc:sldMkLst>
        <pc:picChg chg="mod modCrop">
          <ac:chgData name="HENRY LUCKY" userId="9f9f0d3b-fafb-4a1f-811e-e1ce60336648" providerId="ADAL" clId="{87B23BC5-493B-58B6-9C8D-8C75A953FAD3}" dt="2026-10-11T17:51:41.561" v="53" actId="34807"/>
          <ac:picMkLst>
            <pc:docMk/>
            <pc:sldMk cId="3437924947" sldId="343"/>
            <ac:picMk id="6" creationId="{2CEF3CFF-CFAE-94F8-0DC4-33FF82CE15FD}"/>
          </ac:picMkLst>
        </pc:picChg>
      </pc:sldChg>
      <pc:sldChg chg="modSp mod">
        <pc:chgData name="HENRY LUCKY" userId="9f9f0d3b-fafb-4a1f-811e-e1ce60336648" providerId="ADAL" clId="{87B23BC5-493B-58B6-9C8D-8C75A953FAD3}" dt="2026-10-11T17:44:26.990" v="1" actId="20577"/>
        <pc:sldMkLst>
          <pc:docMk/>
          <pc:sldMk cId="2655759922" sldId="366"/>
        </pc:sldMkLst>
        <pc:spChg chg="mod">
          <ac:chgData name="HENRY LUCKY" userId="9f9f0d3b-fafb-4a1f-811e-e1ce60336648" providerId="ADAL" clId="{87B23BC5-493B-58B6-9C8D-8C75A953FAD3}" dt="2026-10-11T17:44:26.990" v="1" actId="20577"/>
          <ac:spMkLst>
            <pc:docMk/>
            <pc:sldMk cId="2655759922" sldId="366"/>
            <ac:spMk id="4" creationId="{F8E66761-DAF6-435A-9441-62C8A0F43F6D}"/>
          </ac:spMkLst>
        </pc:spChg>
      </pc:sldChg>
      <pc:sldChg chg="modSp mod">
        <pc:chgData name="HENRY LUCKY" userId="9f9f0d3b-fafb-4a1f-811e-e1ce60336648" providerId="ADAL" clId="{87B23BC5-493B-58B6-9C8D-8C75A953FAD3}" dt="2026-10-11T17:47:55.005" v="46" actId="20577"/>
        <pc:sldMkLst>
          <pc:docMk/>
          <pc:sldMk cId="1806105601" sldId="369"/>
        </pc:sldMkLst>
        <pc:spChg chg="mod">
          <ac:chgData name="HENRY LUCKY" userId="9f9f0d3b-fafb-4a1f-811e-e1ce60336648" providerId="ADAL" clId="{87B23BC5-493B-58B6-9C8D-8C75A953FAD3}" dt="2026-10-11T17:47:55.005" v="46" actId="20577"/>
          <ac:spMkLst>
            <pc:docMk/>
            <pc:sldMk cId="1806105601" sldId="369"/>
            <ac:spMk id="4" creationId="{78250FFF-BE48-6812-618E-BDE7868C4B02}"/>
          </ac:spMkLst>
        </pc:spChg>
      </pc:sldChg>
      <pc:sldChg chg="modSp mod">
        <pc:chgData name="HENRY LUCKY" userId="9f9f0d3b-fafb-4a1f-811e-e1ce60336648" providerId="ADAL" clId="{87B23BC5-493B-58B6-9C8D-8C75A953FAD3}" dt="2026-10-11T17:53:00.149" v="54" actId="34807"/>
        <pc:sldMkLst>
          <pc:docMk/>
          <pc:sldMk cId="3760684385" sldId="373"/>
        </pc:sldMkLst>
        <pc:picChg chg="mod modCrop">
          <ac:chgData name="HENRY LUCKY" userId="9f9f0d3b-fafb-4a1f-811e-e1ce60336648" providerId="ADAL" clId="{87B23BC5-493B-58B6-9C8D-8C75A953FAD3}" dt="2026-10-11T17:53:00.149" v="54" actId="34807"/>
          <ac:picMkLst>
            <pc:docMk/>
            <pc:sldMk cId="3760684385" sldId="373"/>
            <ac:picMk id="5" creationId="{2C6D6431-FEA8-60E9-D740-B5371AD5A62C}"/>
          </ac:picMkLst>
        </pc:picChg>
      </pc:sldChg>
      <pc:sldChg chg="addSp delSp modSp mod">
        <pc:chgData name="HENRY LUCKY" userId="9f9f0d3b-fafb-4a1f-811e-e1ce60336648" providerId="ADAL" clId="{87B23BC5-493B-58B6-9C8D-8C75A953FAD3}" dt="2026-10-11T17:53:10.951" v="56"/>
        <pc:sldMkLst>
          <pc:docMk/>
          <pc:sldMk cId="3586236996" sldId="374"/>
        </pc:sldMkLst>
        <pc:picChg chg="del">
          <ac:chgData name="HENRY LUCKY" userId="9f9f0d3b-fafb-4a1f-811e-e1ce60336648" providerId="ADAL" clId="{87B23BC5-493B-58B6-9C8D-8C75A953FAD3}" dt="2026-10-11T17:53:09.984" v="55" actId="478"/>
          <ac:picMkLst>
            <pc:docMk/>
            <pc:sldMk cId="3586236996" sldId="374"/>
            <ac:picMk id="5" creationId="{8C41D351-461C-DCD4-E6F0-B76D705C0401}"/>
          </ac:picMkLst>
        </pc:picChg>
        <pc:picChg chg="add mod">
          <ac:chgData name="HENRY LUCKY" userId="9f9f0d3b-fafb-4a1f-811e-e1ce60336648" providerId="ADAL" clId="{87B23BC5-493B-58B6-9C8D-8C75A953FAD3}" dt="2026-10-11T17:53:10.951" v="56"/>
          <ac:picMkLst>
            <pc:docMk/>
            <pc:sldMk cId="3586236996" sldId="374"/>
            <ac:picMk id="6" creationId="{DE2762E9-B080-B2D8-1235-39282C1A25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948138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2FB5-99CE-D303-6091-0B697137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D5084-A51F-2A97-ABD1-8581B86C2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AC1F3-F676-2B28-6A91-1CE4D67A2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29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2192-6A49-0466-28A5-09D7126D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6C604-3D1E-BC27-A2B7-243F085FF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0F0A9-9C15-DB50-033D-6D718BD40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509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629C-F02F-7A93-A19E-72B5EF42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C0D1F-BFE7-DF29-0718-35CC45736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E2B2B-3B69-D7D6-41F7-8ACD98AE6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49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15023-9F13-13A4-6318-5CA3272A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2FD85-DBC6-C354-AE1C-CF7CEEF66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7D47A-D7BB-997D-B1D6-0179D3554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08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B9FD8-A77E-2DE5-8F05-D86F3A57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7F0B8-3715-B5A5-3CF5-1F49BA316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9A786-C926-06E8-F84C-5C482C268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03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4EA3F-C13C-0313-B59B-CC252BA6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E6A52-6730-E1FA-6488-905EC8EF1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BA6E7-1B6B-3CF1-F93E-8EA06289E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110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346E-F8CD-6F24-9B42-998F1E37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810E0-757E-C6E3-7E7C-0BD738678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CAE5D-B026-67E0-20AC-272790E71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960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4B4C-F5D7-F04C-D362-4BE637C3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90C1C-E52F-CDB6-1B67-49976FC91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DBBD7-6150-D6DF-91C1-00324A423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620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ECB21-5D14-1950-2330-5C23FFAC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6DC92-D741-4443-9C74-2A6E45DD7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879CF-9086-6D41-E603-61AFE4545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487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90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6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804FF-5AA1-CA4D-C8FF-B5EE8540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E1510-DCD4-D463-8C7B-6886BF9A0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F5334-DADD-157F-49F2-79D4B4658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557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894A-824F-BE39-A549-E24BFCC2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092DC-F64E-2AFA-B515-BD78C87DF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5D7AF-9BA1-780F-FE9D-08FA50E6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76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1386-A5A9-3839-2D4E-7F2B4061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15149-5DA5-00C0-F2FB-FB4735592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50527-5384-0337-7E90-4F55EA5F3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29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344D-0DB4-2655-71FF-FF153A5F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FEDD5-47B6-18B3-9B25-00717D1F9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238C3-167F-3185-01AF-296ABA1E0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319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8CB0-4AA3-1585-A5C3-4669C68A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37B2A-2ECB-9660-A858-43C741AFD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2B653-04F4-D7FD-5E39-92A8CEC90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86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88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87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5F7D-CE23-2DAC-3D0C-7C22B8EE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8197C-3A96-1709-F148-9079BE756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834BF-DA9D-76D8-50ED-74A2AB73C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510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E664-C552-A6EB-4A13-F0778858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5DD8-9BBB-D514-29EF-23881D512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56BCF-58D6-1B52-4F9B-A8083612F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458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1194-45AB-B8A1-0E84-3885F1FA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528C0-B178-0567-66C3-6B38E57B3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5F8BB-A1E8-B35A-3D91-5D8DDA16D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03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B8CE0-58BE-C0E1-17AB-327C154F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94551-F8E2-1007-8A25-13E1BEA54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A62F5-67E4-76E6-B72A-578A96A9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1062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FE69-874A-A184-06EA-0553D6CC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A9FDD-E97A-40C0-FBE0-43DE39E43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D078D-783B-A811-57DA-6B8500A04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6438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0DC3-ACCD-00E5-CB47-FD3796C8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E7711-5A99-C4D7-7F01-04B45A1F8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695C0-3B23-2FFC-44A7-0020B410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371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6E5D-8491-DA4E-DE63-D2515534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57F76-4AC2-A04F-4C28-2B75B9DEB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8A94D-B155-BE4E-FF96-DC6C8BB0E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8228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321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087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090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096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8281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Greedy: knapsack, disjoint sets, </a:t>
            </a:r>
            <a:r>
              <a:rPr lang="en-ID" b="1" dirty="0" err="1"/>
              <a:t>mst</a:t>
            </a:r>
            <a:r>
              <a:rPr lang="en-ID" b="1" dirty="0"/>
              <a:t> &amp; shortest path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pPr algn="just"/>
            <a:r>
              <a:rPr lang="en-US" b="1" dirty="0"/>
              <a:t>LO 2: </a:t>
            </a:r>
            <a:r>
              <a:rPr lang="en-US" dirty="0"/>
              <a:t>Analyze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pPr algn="just"/>
            <a:r>
              <a:rPr lang="en-US" b="1" dirty="0"/>
              <a:t>LO 3: </a:t>
            </a:r>
            <a:r>
              <a:rPr lang="en-US" dirty="0"/>
              <a:t>Design solutions to unfamiliar computational problems by selecting and applying appropriate strategies including Divide and Conquer, Greedy, Dynamic Programming, and Backtracking.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r>
              <a:rPr lang="en-ID" dirty="0"/>
              <a:t>[LO 2] Identify greedy as appropriate for fractional knapsack, MST, and SSSP; classify problems where greedy succeeds vs. fails (0/1 knapsack) by verifying the greedy-choice property; distinguish disjoint-set union as a greedy-supporting data structure.</a:t>
            </a:r>
          </a:p>
          <a:p>
            <a:r>
              <a:rPr lang="en-ID" dirty="0"/>
              <a:t>[LO 3] Design and apply fractional knapsack greedy, Kruskal's and Prim's MST algorithms with Union-Find (path compression + union by rank), and Dijkstra's SSSP; implement DECREASE-KEY for Dijkstra using a min-heap.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Paradigm — When It Works and When It Fails</a:t>
            </a:r>
          </a:p>
          <a:p>
            <a:r>
              <a:rPr lang="en-US" dirty="0"/>
              <a:t>Fractional Knapsack</a:t>
            </a:r>
          </a:p>
          <a:p>
            <a:r>
              <a:rPr lang="en-US" dirty="0"/>
              <a:t>Minimum Spanning Tree: Kruskal's and Prim's</a:t>
            </a:r>
          </a:p>
          <a:p>
            <a:r>
              <a:rPr lang="en-US" dirty="0" err="1"/>
              <a:t>Dijkstra's</a:t>
            </a:r>
            <a:r>
              <a:rPr lang="en-US" dirty="0"/>
              <a:t> Shortest Path Algorithm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paradigm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Solution of 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of the functions of the algorithm is to solve problems/issues.</a:t>
            </a:r>
          </a:p>
          <a:p>
            <a:r>
              <a:rPr lang="en-US" dirty="0"/>
              <a:t>A problem could be:</a:t>
            </a:r>
          </a:p>
          <a:p>
            <a:pPr lvl="1"/>
            <a:r>
              <a:rPr lang="en-US" dirty="0"/>
              <a:t>Having a single set of solutions</a:t>
            </a:r>
          </a:p>
          <a:p>
            <a:pPr lvl="1"/>
            <a:r>
              <a:rPr lang="en-US" dirty="0"/>
              <a:t>Having multiple sets of solutions that are equally true</a:t>
            </a:r>
          </a:p>
          <a:p>
            <a:pPr lvl="1"/>
            <a:r>
              <a:rPr lang="en-US" dirty="0"/>
              <a:t>Having multiple sets of solutions with different levels of truth</a:t>
            </a:r>
          </a:p>
          <a:p>
            <a:pPr lvl="1"/>
            <a:r>
              <a:rPr lang="en-US" dirty="0"/>
              <a:t>Do not have a set of solutions that "total" true, but there are several sets of solutions close to the truth</a:t>
            </a:r>
          </a:p>
          <a:p>
            <a:pPr lvl="1"/>
            <a:r>
              <a:rPr lang="en-US" dirty="0"/>
              <a:t>Do not have the set of solutions at all</a:t>
            </a:r>
          </a:p>
        </p:txBody>
      </p:sp>
    </p:spTree>
    <p:extLst>
      <p:ext uri="{BB962C8B-B14F-4D97-AF65-F5344CB8AC3E}">
        <p14:creationId xmlns:p14="http://schemas.microsoft.com/office/powerpoint/2010/main" val="56131273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B210-A160-3215-02A2-3D844E2FC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5884-F1E3-4CF1-A982-E0FD877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paradigm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B3E29-2FD9-11EA-3EE2-21BAF7A6EFF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800" dirty="0">
                <a:latin typeface="+mn-lt"/>
              </a:rPr>
              <a:t>A problem has:</a:t>
            </a:r>
          </a:p>
          <a:p>
            <a:pPr lvl="1"/>
            <a:r>
              <a:rPr lang="en-US" sz="4800" dirty="0">
                <a:latin typeface="+mn-lt"/>
              </a:rPr>
              <a:t>Universal solution</a:t>
            </a:r>
          </a:p>
          <a:p>
            <a:pPr lvl="2"/>
            <a:r>
              <a:rPr lang="en-US" sz="4800" dirty="0">
                <a:latin typeface="+mn-lt"/>
              </a:rPr>
              <a:t>all the possible solutions both right and wrong</a:t>
            </a:r>
          </a:p>
          <a:p>
            <a:pPr lvl="1"/>
            <a:r>
              <a:rPr lang="en-US" sz="4800" dirty="0">
                <a:latin typeface="+mn-lt"/>
              </a:rPr>
              <a:t>Feasible solution</a:t>
            </a:r>
          </a:p>
          <a:p>
            <a:pPr lvl="2"/>
            <a:r>
              <a:rPr lang="en-US" sz="4800" dirty="0">
                <a:latin typeface="+mn-lt"/>
              </a:rPr>
              <a:t>all possible correct solutions, but different levels of truth</a:t>
            </a:r>
          </a:p>
          <a:p>
            <a:pPr lvl="1"/>
            <a:r>
              <a:rPr lang="en-US" sz="4800" dirty="0">
                <a:latin typeface="+mn-lt"/>
              </a:rPr>
              <a:t>Objective function</a:t>
            </a:r>
          </a:p>
          <a:p>
            <a:pPr lvl="2"/>
            <a:r>
              <a:rPr lang="en-US" sz="4800" dirty="0">
                <a:latin typeface="+mn-lt"/>
              </a:rPr>
              <a:t>the function to measure the solution which is more correct (better)</a:t>
            </a:r>
          </a:p>
          <a:p>
            <a:pPr lvl="1"/>
            <a:r>
              <a:rPr lang="en-US" sz="4800" dirty="0">
                <a:latin typeface="+mn-lt"/>
              </a:rPr>
              <a:t>Optimal solution</a:t>
            </a:r>
          </a:p>
          <a:p>
            <a:pPr lvl="2"/>
            <a:r>
              <a:rPr lang="en-US" sz="4800" dirty="0">
                <a:latin typeface="+mn-lt"/>
              </a:rPr>
              <a:t>the most correct solution (best)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21194-337B-2D5B-2D99-3DA88CA48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/>
          <a:lstStyle/>
          <a:p>
            <a:r>
              <a:rPr lang="en-ID" dirty="0"/>
              <a:t>Solution of problems</a:t>
            </a:r>
          </a:p>
        </p:txBody>
      </p:sp>
    </p:spTree>
    <p:extLst>
      <p:ext uri="{BB962C8B-B14F-4D97-AF65-F5344CB8AC3E}">
        <p14:creationId xmlns:p14="http://schemas.microsoft.com/office/powerpoint/2010/main" val="182900841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DE3E-40DA-3AF8-4839-A1303956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E8784-1015-36D2-F745-F2E866C7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paradigm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DC838-12FF-173F-2EA9-39CB20281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Problem solving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F6841-47F6-6168-BD39-BA3E10B29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of the popular techniques in problem solving:</a:t>
            </a:r>
          </a:p>
          <a:p>
            <a:pPr lvl="1"/>
            <a:r>
              <a:rPr lang="en-US" dirty="0"/>
              <a:t>Greedy method</a:t>
            </a:r>
          </a:p>
          <a:p>
            <a:pPr lvl="1"/>
            <a:r>
              <a:rPr lang="en-US" dirty="0"/>
              <a:t>Dynamic Programming</a:t>
            </a:r>
          </a:p>
          <a:p>
            <a:pPr lvl="1"/>
            <a:r>
              <a:rPr lang="en-US" dirty="0"/>
              <a:t>Data compression</a:t>
            </a:r>
          </a:p>
          <a:p>
            <a:pPr lvl="1"/>
            <a:r>
              <a:rPr lang="en-US" dirty="0"/>
              <a:t>Backtracking</a:t>
            </a:r>
          </a:p>
          <a:p>
            <a:pPr lvl="1"/>
            <a:r>
              <a:rPr lang="en-US" dirty="0"/>
              <a:t>Branch and Bound</a:t>
            </a:r>
          </a:p>
        </p:txBody>
      </p:sp>
    </p:spTree>
    <p:extLst>
      <p:ext uri="{BB962C8B-B14F-4D97-AF65-F5344CB8AC3E}">
        <p14:creationId xmlns:p14="http://schemas.microsoft.com/office/powerpoint/2010/main" val="371698015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DA03-8C24-F7C2-B5F7-2570A9D8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57AE-A22D-C3E7-6788-A35341B7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paradigm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6A5E-0232-802C-D316-447368388C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673100" indent="-571500" algn="just"/>
            <a:r>
              <a:rPr lang="en-US" dirty="0"/>
              <a:t>A </a:t>
            </a:r>
            <a:r>
              <a:rPr lang="en-US" b="1" dirty="0"/>
              <a:t>greedy algorithm </a:t>
            </a:r>
            <a:r>
              <a:rPr lang="en-US" dirty="0"/>
              <a:t>builds a solution incrementally by making the locally optimal (greedy) choice at each step, never revising past decisions.</a:t>
            </a:r>
          </a:p>
          <a:p>
            <a:pPr algn="just"/>
            <a:r>
              <a:rPr lang="en-US" dirty="0"/>
              <a:t>Algorithms often perform some calculation phase before finding a final solution.</a:t>
            </a:r>
          </a:p>
          <a:p>
            <a:pPr algn="just"/>
            <a:r>
              <a:rPr lang="en-US" dirty="0"/>
              <a:t>Sometimes these stages produced a number of elements that will be used to formulate the final solution.</a:t>
            </a:r>
          </a:p>
          <a:p>
            <a:pPr algn="just"/>
            <a:r>
              <a:rPr lang="en-US" dirty="0"/>
              <a:t>Greedy method will "ignore" a complete calculation in the search for solutions, replacing it with using those elements to calculate the solution more quickly.</a:t>
            </a:r>
          </a:p>
          <a:p>
            <a:pPr algn="just"/>
            <a:r>
              <a:rPr lang="en-US" dirty="0"/>
              <a:t>Very useful if the search for solutions 100% take too long rather than waste time trying to calculate the "best" solution, it is better saved by finding a "good enough" solution.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CF1C2-4F9B-87F7-78CC-F3006F609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>
            <a:normAutofit/>
          </a:bodyPr>
          <a:lstStyle/>
          <a:p>
            <a:r>
              <a:rPr lang="en-ID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36951263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Greedy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b="1" dirty="0"/>
              <a:t>When it works: </a:t>
            </a:r>
            <a:r>
              <a:rPr lang="en-US" dirty="0"/>
              <a:t>The problem exhibits: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Greedy-choice property: </a:t>
            </a:r>
            <a:r>
              <a:rPr lang="en-US" dirty="0"/>
              <a:t>A globally optimal solution can be reached by making a locally optimal choice.</a:t>
            </a:r>
          </a:p>
          <a:p>
            <a:pPr marL="844550" algn="just">
              <a:buFont typeface="+mj-lt"/>
              <a:buAutoNum type="arabicPeriod"/>
            </a:pPr>
            <a:r>
              <a:rPr lang="en-US" b="1" dirty="0"/>
              <a:t>Optimal substructure: </a:t>
            </a:r>
            <a:r>
              <a:rPr lang="en-US" dirty="0"/>
              <a:t>The optimal solution to the problem contains optimal solutions to subproblems.</a:t>
            </a:r>
          </a:p>
          <a:p>
            <a:pPr marL="844550" algn="just">
              <a:buFont typeface="+mj-lt"/>
              <a:buAutoNum type="arabicPeriod"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When it doesn’t work: </a:t>
            </a:r>
          </a:p>
          <a:p>
            <a:pPr marL="0" indent="0" algn="just">
              <a:buNone/>
            </a:pPr>
            <a:r>
              <a:rPr lang="en-US" dirty="0"/>
              <a:t>Simply, when the problem doesn’t exhibit those two properties, especially </a:t>
            </a:r>
            <a:r>
              <a:rPr lang="en-US" b="1" dirty="0"/>
              <a:t>the Greedy-choice </a:t>
            </a:r>
            <a:r>
              <a:rPr lang="en-US" dirty="0"/>
              <a:t>(as many problems exhibit optimal substructure).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Knapsack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lnSpcReduction="10000"/>
          </a:bodyPr>
          <a:lstStyle/>
          <a:p>
            <a:r>
              <a:rPr lang="en-US" sz="4800" dirty="0"/>
              <a:t>A thief entered a house. He was carrying a bag with maximum capacity 20 kg. At the house there are items A, B, C, D, E.</a:t>
            </a:r>
          </a:p>
          <a:p>
            <a:pPr lvl="1"/>
            <a:r>
              <a:rPr lang="en-US" sz="4800" dirty="0"/>
              <a:t> A weighed 7 kg, valued at $ 2975</a:t>
            </a:r>
          </a:p>
          <a:p>
            <a:pPr lvl="1"/>
            <a:r>
              <a:rPr lang="en-US" sz="4800" dirty="0"/>
              <a:t> B weighed 3 kg, valued at $ 1230</a:t>
            </a:r>
          </a:p>
          <a:p>
            <a:pPr lvl="1"/>
            <a:r>
              <a:rPr lang="en-US" sz="4800" dirty="0"/>
              <a:t> C weighed 9 kg, valued at $ 3870</a:t>
            </a:r>
          </a:p>
          <a:p>
            <a:pPr lvl="1"/>
            <a:r>
              <a:rPr lang="en-US" sz="4800" dirty="0"/>
              <a:t> D weighed 2 kg, valued at $ 840</a:t>
            </a:r>
          </a:p>
          <a:p>
            <a:pPr lvl="1"/>
            <a:r>
              <a:rPr lang="en-US" sz="4800" dirty="0"/>
              <a:t> E weighed 5 kg, valued at $ 2250</a:t>
            </a:r>
          </a:p>
          <a:p>
            <a:r>
              <a:rPr lang="en-US" sz="4800" dirty="0"/>
              <a:t>What items to bring the thief for getting maximum benefit? (must not exceed the capacity of his bag of 20 kg)</a:t>
            </a:r>
            <a:endParaRPr lang="en-US" sz="2800" dirty="0">
              <a:solidFill>
                <a:srgbClr val="3399FF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93115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3121-54B5-4CE2-06C0-4A2CF441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2997-010F-0233-CAB5-F3886EF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FF689-6533-CBBF-7870-2DF9A1FAC0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Variation of knapsack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89439-1182-689F-6E99-9A20689991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US" sz="4800" b="1" dirty="0"/>
              <a:t>Fractional Knapsack Problem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The items are divisible. You can take any fraction of an item.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Think of items like gold dust, spices, or liquids, where you can take exactly the amount you can carry.</a:t>
            </a:r>
            <a:endParaRPr lang="en-US" sz="4800" dirty="0"/>
          </a:p>
          <a:p>
            <a:r>
              <a:rPr lang="en-US" sz="4800" b="1" dirty="0"/>
              <a:t>0/1 Knapsack Problem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The items are indivisible. You must either take an entire item or leave it behind.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You cannot take half a laptop or a piece of a television.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1137427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AD719E-75C3-5F2E-EAB2-1064D1E8B5D2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2167377" y="2419728"/>
                <a:ext cx="15714223" cy="8035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Brute force of 0/1 knapsack: all feasible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/>
                  <a:t> solution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AD719E-75C3-5F2E-EAB2-1064D1E8B5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2167377" y="2419728"/>
                <a:ext cx="15714223" cy="803546"/>
              </a:xfrm>
              <a:blipFill>
                <a:blip r:embed="rId3"/>
                <a:stretch>
                  <a:fillRect l="-1212" t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Group 739">
            <a:extLst>
              <a:ext uri="{FF2B5EF4-FFF2-40B4-BE49-F238E27FC236}">
                <a16:creationId xmlns:a16="http://schemas.microsoft.com/office/drawing/2014/main" id="{1E8DBF41-B1B0-60F6-6EF0-B5CDDF66B6F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793889423"/>
              </p:ext>
            </p:extLst>
          </p:nvPr>
        </p:nvGraphicFramePr>
        <p:xfrm>
          <a:off x="1496289" y="3510044"/>
          <a:ext cx="21391421" cy="9326540"/>
        </p:xfrm>
        <a:graphic>
          <a:graphicData uri="http://schemas.openxmlformats.org/drawingml/2006/table">
            <a:tbl>
              <a:tblPr/>
              <a:tblGrid>
                <a:gridCol w="3222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2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9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2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29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85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itchFamily="34" charset="0"/>
                          <a:ea typeface="MS Mincho" pitchFamily="49" charset="-128"/>
                        </a:rPr>
                        <a:t>Item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itchFamily="34" charset="0"/>
                          <a:ea typeface="MS Mincho" pitchFamily="49" charset="-128"/>
                        </a:rPr>
                        <a:t>Weight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itchFamily="34" charset="0"/>
                          <a:ea typeface="MS Mincho" pitchFamily="49" charset="-128"/>
                        </a:rPr>
                        <a:t>Value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itchFamily="34" charset="0"/>
                          <a:ea typeface="MS Mincho" pitchFamily="49" charset="-128"/>
                        </a:rPr>
                        <a:t>Item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itchFamily="34" charset="0"/>
                          <a:ea typeface="MS Mincho" pitchFamily="49" charset="-128"/>
                        </a:rPr>
                        <a:t>Weight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Arial" pitchFamily="34" charset="0"/>
                          <a:ea typeface="MS Mincho" pitchFamily="49" charset="-128"/>
                        </a:rPr>
                        <a:t>Value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{}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0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0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{A,B,C}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19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8075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7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2975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12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5045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3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1230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15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6455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{C}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9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3870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{A,C,D}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18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7685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840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{A,C,E}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21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9095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2250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14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6065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4205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{B,C,D}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14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5940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{A,C}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16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6845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{B,C,E}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17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7350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9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3815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4320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12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5225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{C,D,E}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16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6960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{B,C}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12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5100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{A,B,C,D}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21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8915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2070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{A,B,C,E}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24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10325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8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3480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17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7295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{C,D}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11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4710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{A,C,D,E}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23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9935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{C,E}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14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6120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{B,C,D,E}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19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8190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85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7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3090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{A,B,C,D,E}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27</a:t>
                      </a:r>
                      <a:endParaRPr kumimoji="0" lang="en-US" altLang="ja-JP" sz="24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ourier New" pitchFamily="49" charset="0"/>
                          <a:ea typeface="MS Mincho" pitchFamily="49" charset="-128"/>
                          <a:cs typeface="Courier New" pitchFamily="49" charset="0"/>
                        </a:rPr>
                        <a:t>11165</a:t>
                      </a:r>
                      <a:endParaRPr kumimoji="0" lang="en-US" altLang="ja-JP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itchFamily="34" charset="0"/>
                        <a:ea typeface="MS Mincho" pitchFamily="49" charset="-128"/>
                        <a:cs typeface="Courier New" pitchFamily="49" charset="0"/>
                      </a:endParaRPr>
                    </a:p>
                  </a:txBody>
                  <a:tcPr marL="182880" marR="182880" marT="91430" marB="914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22912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4885-A4E6-5799-7C74-98E71938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1408-5741-6AD0-9FA1-6B7A3BDB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6F57-FCA3-FF59-02EA-93B779106F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Greedy mindset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BFDBA-8452-BD39-062A-2EFED6FC69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dirty="0"/>
              <a:t>For now, we will only talk about the fractional variant.</a:t>
            </a:r>
          </a:p>
          <a:p>
            <a:pPr>
              <a:spcBef>
                <a:spcPts val="1200"/>
              </a:spcBef>
            </a:pPr>
            <a:r>
              <a:rPr lang="en-ID" dirty="0"/>
              <a:t>Let's consider how a greedy mindset might approach this problem. </a:t>
            </a:r>
          </a:p>
          <a:p>
            <a:pPr>
              <a:spcBef>
                <a:spcPts val="1200"/>
              </a:spcBef>
            </a:pPr>
            <a:r>
              <a:rPr lang="en-ID" dirty="0"/>
              <a:t>What is the most obvious "locally optimal" choice? Here are a few plausible greedy rules: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Greedy by Highest Value:</a:t>
            </a:r>
            <a:r>
              <a:rPr lang="en-ID" dirty="0"/>
              <a:t> Always take the most valuable item available that fits.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Greedy by Lowest Weight:</a:t>
            </a:r>
            <a:r>
              <a:rPr lang="en-ID" dirty="0"/>
              <a:t> Always take the lightest item available that fits, to leave more room.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>
                <a:solidFill>
                  <a:schemeClr val="accent1"/>
                </a:solidFill>
              </a:rPr>
              <a:t>Greedy by Highest Value Density</a:t>
            </a:r>
            <a:r>
              <a:rPr lang="en-ID" b="1" dirty="0"/>
              <a:t>:</a:t>
            </a:r>
            <a:r>
              <a:rPr lang="en-ID" dirty="0"/>
              <a:t> Always take the item with the highest value-to-weight ratio (e.g., dollars per kilogram).</a:t>
            </a:r>
          </a:p>
          <a:p>
            <a:pPr>
              <a:spcBef>
                <a:spcPts val="12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1994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B7F7-4C24-2733-0CA2-EA9C7B36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4FD4-FC77-3203-6E69-7045F48F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B44AD-5B5A-6DD7-4043-EE1D58A8C6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347241" cy="803546"/>
          </a:xfrm>
        </p:spPr>
        <p:txBody>
          <a:bodyPr>
            <a:normAutofit/>
          </a:bodyPr>
          <a:lstStyle/>
          <a:p>
            <a:r>
              <a:rPr lang="en-ID" dirty="0"/>
              <a:t>Refuting Greedy Rules with Counterexamples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66761-DAF6-435A-9441-62C8A0F43F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Autofit/>
          </a:bodyPr>
          <a:lstStyle/>
          <a:p>
            <a:r>
              <a:rPr lang="en-ID" dirty="0"/>
              <a:t>Consider a knapsack with a capacity of </a:t>
            </a:r>
            <a:r>
              <a:rPr lang="en-ID" b="1" dirty="0"/>
              <a:t>50 kg</a:t>
            </a:r>
            <a:r>
              <a:rPr lang="en-ID" dirty="0"/>
              <a:t>.</a:t>
            </a:r>
          </a:p>
          <a:p>
            <a:r>
              <a:rPr lang="en-ID" dirty="0"/>
              <a:t>With four items: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A:</a:t>
            </a:r>
            <a:r>
              <a:rPr lang="en-ID" dirty="0"/>
              <a:t> 20 kg, $20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B:</a:t>
            </a:r>
            <a:r>
              <a:rPr lang="en-ID" dirty="0"/>
              <a:t> 25 kg, $100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C:</a:t>
            </a:r>
            <a:r>
              <a:rPr lang="en-ID" dirty="0"/>
              <a:t> 40 kg, $110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D: </a:t>
            </a:r>
            <a:r>
              <a:rPr lang="en-ID" dirty="0"/>
              <a:t>15 kg, $10</a:t>
            </a:r>
          </a:p>
          <a:p>
            <a:r>
              <a:rPr lang="en-ID" dirty="0"/>
              <a:t>This is the exact instance that works as counter example for Greedy by Highest Value and Lowest Weight.</a:t>
            </a:r>
          </a:p>
        </p:txBody>
      </p:sp>
    </p:spTree>
    <p:extLst>
      <p:ext uri="{BB962C8B-B14F-4D97-AF65-F5344CB8AC3E}">
        <p14:creationId xmlns:p14="http://schemas.microsoft.com/office/powerpoint/2010/main" val="265575992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3BEE-C20F-BF58-3070-CD88E1BA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DE9-4BF4-42E5-B073-F7B9ED85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4F996-35B8-2B82-1B8B-57D7402D9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4347241" cy="803546"/>
          </a:xfrm>
        </p:spPr>
        <p:txBody>
          <a:bodyPr>
            <a:normAutofit/>
          </a:bodyPr>
          <a:lstStyle/>
          <a:p>
            <a:r>
              <a:rPr lang="en-ID" dirty="0"/>
              <a:t>Refuting Greedy Rules with Counterexamples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50FFF-BE48-6812-618E-BDE7868C4B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224272" cy="9138176"/>
          </a:xfrm>
        </p:spPr>
        <p:txBody>
          <a:bodyPr>
            <a:noAutofit/>
          </a:bodyPr>
          <a:lstStyle/>
          <a:p>
            <a:r>
              <a:rPr lang="en-ID" dirty="0"/>
              <a:t>Consider a knapsack with a capacity of </a:t>
            </a:r>
            <a:r>
              <a:rPr lang="en-ID" b="1" dirty="0"/>
              <a:t>50 kg</a:t>
            </a:r>
            <a:r>
              <a:rPr lang="en-ID" dirty="0"/>
              <a:t>.</a:t>
            </a:r>
          </a:p>
          <a:p>
            <a:r>
              <a:rPr lang="en-ID" dirty="0"/>
              <a:t>With four items: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A:</a:t>
            </a:r>
            <a:r>
              <a:rPr lang="en-ID" dirty="0"/>
              <a:t> 20 kg, $20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B:</a:t>
            </a:r>
            <a:r>
              <a:rPr lang="en-ID" dirty="0"/>
              <a:t> 25 kg, $100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C:</a:t>
            </a:r>
            <a:r>
              <a:rPr lang="en-ID" dirty="0"/>
              <a:t> 40 kg, $110</a:t>
            </a:r>
          </a:p>
          <a:p>
            <a:pPr lvl="1">
              <a:buFont typeface="Wingdings" pitchFamily="2" charset="2"/>
              <a:buChar char="Ø"/>
            </a:pPr>
            <a:r>
              <a:rPr lang="en-ID" b="1" dirty="0"/>
              <a:t>Item D: </a:t>
            </a:r>
            <a:r>
              <a:rPr lang="en-ID" dirty="0"/>
              <a:t>15 kg, $10</a:t>
            </a:r>
          </a:p>
          <a:p>
            <a:r>
              <a:rPr lang="en-ID" dirty="0"/>
              <a:t>Greedy by </a:t>
            </a:r>
            <a:r>
              <a:rPr lang="en-ID" b="1" dirty="0"/>
              <a:t>Highest Value </a:t>
            </a:r>
            <a:r>
              <a:rPr lang="en-ID" dirty="0"/>
              <a:t>would choose C + 10/25 of B ($140) </a:t>
            </a:r>
          </a:p>
          <a:p>
            <a:r>
              <a:rPr lang="en-ID" dirty="0"/>
              <a:t>Greedy by </a:t>
            </a:r>
            <a:r>
              <a:rPr lang="en-ID" b="1" dirty="0"/>
              <a:t>Lowest Weight </a:t>
            </a:r>
            <a:r>
              <a:rPr lang="en-ID" dirty="0"/>
              <a:t>would choose D, A, and 15/25 of B ($90).</a:t>
            </a:r>
          </a:p>
        </p:txBody>
      </p:sp>
    </p:spTree>
    <p:extLst>
      <p:ext uri="{BB962C8B-B14F-4D97-AF65-F5344CB8AC3E}">
        <p14:creationId xmlns:p14="http://schemas.microsoft.com/office/powerpoint/2010/main" val="180610560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D8EC-C69F-3148-0591-C2608CDC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E802-7E26-ABB4-F915-11C1A7CD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74D28-DAC8-34A6-418C-F4DC504B3D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Validating a greedy rule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D3A35-A1C0-7EB6-2EC7-82E3DE72DE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dirty="0"/>
              <a:t>Now, let’s run the Greedy by </a:t>
            </a:r>
            <a:r>
              <a:rPr lang="en-US" b="1" dirty="0"/>
              <a:t>Highest Value Density</a:t>
            </a:r>
          </a:p>
          <a:p>
            <a:pPr lvl="0"/>
            <a:r>
              <a:rPr lang="en-ID" dirty="0"/>
              <a:t>Knapsack Capacity: 50 kg</a:t>
            </a:r>
          </a:p>
          <a:p>
            <a:pPr lvl="0"/>
            <a:r>
              <a:rPr lang="en-ID" dirty="0"/>
              <a:t>Items value density:</a:t>
            </a:r>
          </a:p>
          <a:p>
            <a:pPr lvl="1"/>
            <a:r>
              <a:rPr lang="en-ID" b="1" dirty="0"/>
              <a:t>Item A:</a:t>
            </a:r>
            <a:r>
              <a:rPr lang="en-ID" dirty="0"/>
              <a:t> 20 kg, $20 → $1/kg</a:t>
            </a:r>
          </a:p>
          <a:p>
            <a:pPr lvl="1"/>
            <a:r>
              <a:rPr lang="en-ID" b="1" dirty="0"/>
              <a:t>Item B:</a:t>
            </a:r>
            <a:r>
              <a:rPr lang="en-ID" dirty="0"/>
              <a:t> 25 kg, $100 → $4/kg</a:t>
            </a:r>
          </a:p>
          <a:p>
            <a:pPr lvl="1"/>
            <a:r>
              <a:rPr lang="en-ID" b="1" dirty="0"/>
              <a:t>Item C:</a:t>
            </a:r>
            <a:r>
              <a:rPr lang="en-ID" dirty="0"/>
              <a:t> 40 kg, $110 → $2,75/kg</a:t>
            </a:r>
          </a:p>
          <a:p>
            <a:pPr lvl="1"/>
            <a:r>
              <a:rPr lang="en-ID" b="1" dirty="0"/>
              <a:t>Item D: </a:t>
            </a:r>
            <a:r>
              <a:rPr lang="en-ID" dirty="0"/>
              <a:t>15 kg, $10 → $0,667/kg</a:t>
            </a:r>
          </a:p>
          <a:p>
            <a:r>
              <a:rPr lang="en-US" b="1" dirty="0"/>
              <a:t>Items sorted by highest density: </a:t>
            </a:r>
            <a:r>
              <a:rPr lang="en-US" b="1" dirty="0">
                <a:solidFill>
                  <a:schemeClr val="accent1"/>
                </a:solidFill>
              </a:rPr>
              <a:t>B (</a:t>
            </a:r>
            <a:r>
              <a:rPr lang="en-ID" b="1" dirty="0">
                <a:solidFill>
                  <a:schemeClr val="accent1"/>
                </a:solidFill>
              </a:rPr>
              <a:t>$4/kg</a:t>
            </a:r>
            <a:r>
              <a:rPr lang="en-US" b="1" dirty="0">
                <a:solidFill>
                  <a:schemeClr val="accent1"/>
                </a:solidFill>
              </a:rPr>
              <a:t>), C (</a:t>
            </a:r>
            <a:r>
              <a:rPr lang="en-ID" b="1" dirty="0">
                <a:solidFill>
                  <a:schemeClr val="accent1"/>
                </a:solidFill>
              </a:rPr>
              <a:t>$2,75/kg</a:t>
            </a:r>
            <a:r>
              <a:rPr lang="en-US" b="1" dirty="0">
                <a:solidFill>
                  <a:schemeClr val="accent1"/>
                </a:solidFill>
              </a:rPr>
              <a:t>), A (</a:t>
            </a:r>
            <a:r>
              <a:rPr lang="en-ID" b="1" dirty="0">
                <a:solidFill>
                  <a:schemeClr val="accent1"/>
                </a:solidFill>
              </a:rPr>
              <a:t>$1/kg</a:t>
            </a:r>
            <a:r>
              <a:rPr lang="en-US" b="1" dirty="0">
                <a:solidFill>
                  <a:schemeClr val="accent1"/>
                </a:solidFill>
              </a:rPr>
              <a:t>), D (</a:t>
            </a:r>
            <a:r>
              <a:rPr lang="en-ID" b="1" dirty="0">
                <a:solidFill>
                  <a:schemeClr val="accent1"/>
                </a:solidFill>
              </a:rPr>
              <a:t>$0,667/kg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608155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10F29-0FD0-3A85-20A7-301AF642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538E-6F2F-7F03-3C15-4277EAA6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C9382-B134-55AE-456D-C97AF3A91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Validating a greedy rule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E27BA-1455-F8A0-8AE9-E0BB696F42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803459" cy="913817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dirty="0"/>
              <a:t>After taking item B (the highest value density), we are left with 50-25 = 15kg capacity.</a:t>
            </a:r>
            <a:endParaRPr lang="en-US" b="1" dirty="0"/>
          </a:p>
          <a:p>
            <a:pPr lvl="0"/>
            <a:r>
              <a:rPr lang="en-ID" dirty="0"/>
              <a:t>Therefore, we could take 15/40 of item C (the next highest value density)</a:t>
            </a:r>
          </a:p>
          <a:p>
            <a:pPr lvl="0"/>
            <a:r>
              <a:rPr lang="en-ID" b="1" dirty="0"/>
              <a:t>Here, we get $100 + 15/40 * $110 = $141,25 with full 50kg total weight.</a:t>
            </a:r>
          </a:p>
          <a:p>
            <a:pPr lvl="0"/>
            <a:r>
              <a:rPr lang="en-ID" dirty="0"/>
              <a:t>By taking the highest-density item, we are always making the most efficient use of every kilogram of capacity. </a:t>
            </a:r>
          </a:p>
          <a:p>
            <a:pPr lvl="0"/>
            <a:r>
              <a:rPr lang="en-ID" dirty="0"/>
              <a:t>Intuitively, this feels correct. But to be sure, we need a more robust justification than just our gut feeling. </a:t>
            </a:r>
          </a:p>
          <a:p>
            <a:pPr lvl="0"/>
            <a:r>
              <a:rPr lang="en-ID" dirty="0"/>
              <a:t>This is where the </a:t>
            </a:r>
            <a:r>
              <a:rPr lang="en-ID" b="1" dirty="0"/>
              <a:t>exchange argument</a:t>
            </a:r>
            <a:r>
              <a:rPr lang="en-ID" dirty="0"/>
              <a:t> comes in.</a:t>
            </a:r>
          </a:p>
        </p:txBody>
      </p:sp>
    </p:spTree>
    <p:extLst>
      <p:ext uri="{BB962C8B-B14F-4D97-AF65-F5344CB8AC3E}">
        <p14:creationId xmlns:p14="http://schemas.microsoft.com/office/powerpoint/2010/main" val="98526294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314587" cy="803546"/>
          </a:xfrm>
        </p:spPr>
        <p:txBody>
          <a:bodyPr>
            <a:normAutofit/>
          </a:bodyPr>
          <a:lstStyle/>
          <a:p>
            <a:r>
              <a:rPr lang="en-ID" dirty="0"/>
              <a:t>Greedy algorithm</a:t>
            </a:r>
          </a:p>
          <a:p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marL="101600" indent="0" algn="just">
                  <a:buNone/>
                </a:pPr>
                <a:r>
                  <a:rPr lang="en-US" dirty="0"/>
                  <a:t>Compute value density = vᵢ/wᵢ for each item. Sort by descending density. Fill the knapsack greedily:</a:t>
                </a:r>
              </a:p>
              <a:p>
                <a:pPr marL="101600" indent="0" algn="just">
                  <a:buNone/>
                </a:pP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01600" indent="0" algn="just">
                  <a:buNone/>
                </a:pP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01600" indent="0" algn="just">
                  <a:buNone/>
                </a:pP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01600" indent="0" algn="just">
                  <a:buNone/>
                </a:pP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01600" indent="0" algn="just">
                  <a:buNone/>
                </a:pP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101600" indent="0" algn="just">
                  <a:buNone/>
                </a:pPr>
                <a:r>
                  <a:rPr lang="pt-BR" dirty="0">
                    <a:solidFill>
                      <a:schemeClr val="bg2">
                        <a:lumMod val="10000"/>
                      </a:schemeClr>
                    </a:solidFill>
                  </a:rPr>
                  <a:t>Time: </a:t>
                </a:r>
                <a14:m>
                  <m:oMath xmlns:m="http://schemas.openxmlformats.org/officeDocument/2006/math">
                    <m:r>
                      <a:rPr lang="pt-BR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pt-BR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  <m:r>
                          <a:rPr lang="en-US" b="1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1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bg2">
                        <a:lumMod val="10000"/>
                      </a:schemeClr>
                    </a:solidFill>
                  </a:rPr>
                  <a:t> for sorting.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933" t="-1528" r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70576" y="5600685"/>
            <a:ext cx="18829066" cy="5088573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FRACTIONAL-KNAPSACK(items, W)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sort items by vᵢ/wᵢ descending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total = 0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item </a:t>
            </a:r>
            <a:r>
              <a:rPr lang="en-ID" sz="3600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i</a:t>
            </a: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in sorted order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if W ≥ wᵢ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take whole item: total += vᵢ; W -= wᵢ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else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take fraction: total += vᵢ × (W/wᵢ); W = 0; break</a:t>
            </a:r>
          </a:p>
          <a:p>
            <a:pPr marL="457200" indent="-457200" algn="l">
              <a:buAutoNum type="arabicPlain"/>
            </a:pPr>
            <a:r>
              <a:rPr lang="en-ID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return total</a:t>
            </a:r>
            <a:endParaRPr lang="en-ID" sz="36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83268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Exchange argument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dirty="0"/>
              <a:t>The </a:t>
            </a:r>
            <a:r>
              <a:rPr lang="en-ID" b="1" dirty="0"/>
              <a:t>exchange argument</a:t>
            </a:r>
            <a:r>
              <a:rPr lang="en-ID" dirty="0"/>
              <a:t> is a standard proof technique used to show that a greedy algorithm produces an optimal solution.</a:t>
            </a:r>
          </a:p>
          <a:p>
            <a:r>
              <a:rPr lang="en-ID" dirty="0"/>
              <a:t>The logic goes like this: </a:t>
            </a:r>
          </a:p>
          <a:p>
            <a:pPr lvl="1">
              <a:buFont typeface="Wingdings" pitchFamily="2" charset="2"/>
              <a:buChar char="v"/>
            </a:pPr>
            <a:r>
              <a:rPr lang="en-ID" dirty="0"/>
              <a:t>Assume there is some optimal solution that is </a:t>
            </a:r>
            <a:r>
              <a:rPr lang="en-ID" i="1" dirty="0"/>
              <a:t>different</a:t>
            </a:r>
            <a:r>
              <a:rPr lang="en-ID" dirty="0"/>
              <a:t> from our greedy solution. </a:t>
            </a:r>
          </a:p>
          <a:p>
            <a:pPr lvl="1">
              <a:buFont typeface="Wingdings" pitchFamily="2" charset="2"/>
              <a:buChar char="v"/>
            </a:pPr>
            <a:r>
              <a:rPr lang="en-ID" dirty="0"/>
              <a:t>We will show that we can transform that optimal solution into our greedy one without decreasing its total value, thus proving that the greedy solution is itself optimal.</a:t>
            </a:r>
            <a:br>
              <a:rPr lang="en-ID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2790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ED5F-7EF7-5470-C35C-57669EA7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1F6D-0100-DE9F-D56C-67327EC6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75A4C-90C7-178C-F30D-7EB67FD238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979605" cy="803546"/>
          </a:xfrm>
        </p:spPr>
        <p:txBody>
          <a:bodyPr>
            <a:normAutofit/>
          </a:bodyPr>
          <a:lstStyle/>
          <a:p>
            <a:r>
              <a:rPr lang="en-ID" dirty="0"/>
              <a:t>Exchange argument: Step 1 – Assume an Optimal Solution Exists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F6FEF-AB7D-16BC-25A8-853D9552AE2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ID" dirty="0"/>
              <a:t>Let G be the solution produced by our </a:t>
            </a:r>
            <a:r>
              <a:rPr lang="en-ID" b="1" dirty="0"/>
              <a:t>greedy algorithm</a:t>
            </a:r>
            <a:r>
              <a:rPr lang="en-ID" dirty="0"/>
              <a:t>.</a:t>
            </a:r>
          </a:p>
          <a:p>
            <a:r>
              <a:rPr lang="en-ID" dirty="0"/>
              <a:t>Assume there is an </a:t>
            </a:r>
            <a:r>
              <a:rPr lang="en-ID" b="1" dirty="0"/>
              <a:t>optimal solution O</a:t>
            </a:r>
            <a:r>
              <a:rPr lang="en-ID" dirty="0"/>
              <a:t> that is different from G.</a:t>
            </a:r>
          </a:p>
          <a:p>
            <a:r>
              <a:rPr lang="en-ID" dirty="0"/>
              <a:t>Our goal is to show that the total value of O cannot be strictly greater than the total value of G (V(O) ≤ V(G)).</a:t>
            </a:r>
          </a:p>
          <a:p>
            <a:r>
              <a:rPr lang="en-ID" dirty="0"/>
              <a:t>Because if total value of O is more than G, then our greedy algorithm failed to find the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40839210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BED6-DC1E-AE95-5FF3-81B9A29D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E059-F71A-5E38-1ACA-61254063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298E8-76BF-6B6D-C917-924C57AED4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289350" cy="803546"/>
          </a:xfrm>
        </p:spPr>
        <p:txBody>
          <a:bodyPr>
            <a:normAutofit/>
          </a:bodyPr>
          <a:lstStyle/>
          <a:p>
            <a:r>
              <a:rPr lang="en-ID" dirty="0"/>
              <a:t>Exchange argument: Step 2 – Find the First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CC29E2-B326-A358-A36F-78C25375E2F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Compare G and O item by item, following the greedy sorted order (highest ratio to lowest ratio).</a:t>
                </a:r>
              </a:p>
              <a:p>
                <a:pPr lvl="0"/>
                <a:r>
                  <a:rPr lang="en-ID" dirty="0"/>
                  <a:t>If G and O are identical, we are done. </a:t>
                </a:r>
              </a:p>
              <a:p>
                <a:pPr lvl="0"/>
                <a:r>
                  <a:rPr lang="en-ID" dirty="0"/>
                  <a:t>If not, they must differ in the amount they take of at least one item. Let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be the highest-density item. Our greedy algorithm G takes as much of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as possible.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CC29E2-B326-A358-A36F-78C25375E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5646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F88D-D0FA-4EE1-585E-49E352B2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2F02-3CD6-3A75-80EE-981C7492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85444-D952-A2D7-D66B-4FA8781146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704987" cy="803546"/>
          </a:xfrm>
        </p:spPr>
        <p:txBody>
          <a:bodyPr>
            <a:normAutofit/>
          </a:bodyPr>
          <a:lstStyle/>
          <a:p>
            <a:r>
              <a:rPr lang="en-ID" dirty="0"/>
              <a:t>Exchange argument: Step 3 – Identify the available substitute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45F45E7-D80F-5C9D-CB60-831388E78C7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ID" dirty="0"/>
                  <a:t>Suppose the optimal solution O takes less of item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than G does. </a:t>
                </a:r>
              </a:p>
              <a:p>
                <a:r>
                  <a:rPr lang="en-ID" dirty="0"/>
                  <a:t>To fill that weight, O must have taken more of some other item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ID" dirty="0"/>
                  <a:t>, </a:t>
                </a:r>
              </a:p>
              <a:p>
                <a:r>
                  <a:rPr lang="en-ID" dirty="0"/>
                  <a:t>Because the greedy algorithm takes as much of the highest-ratio item as allowed by the remaining capacity, it must be true that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ID" dirty="0"/>
                  <a:t> has a lower value density than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45F45E7-D80F-5C9D-CB60-831388E78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111" r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59094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17A5-E9FA-1421-5CF0-1CF6BBF1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52F1-2BA8-5E0D-291D-E5B86F92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BB15E-D0E1-A8BF-9DD3-11B2BDDD5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629278" cy="803546"/>
          </a:xfrm>
        </p:spPr>
        <p:txBody>
          <a:bodyPr>
            <a:normAutofit/>
          </a:bodyPr>
          <a:lstStyle/>
          <a:p>
            <a:r>
              <a:rPr lang="en-ID" dirty="0"/>
              <a:t>Exchange argument: Step 4 – Do the exchange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1E1F7D3-8F6F-A3C8-A0E2-AB0910A0FEB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marL="673100" indent="-571500" algn="just"/>
                <a:r>
                  <a:rPr lang="en-ID" dirty="0"/>
                  <a:t>We can modify O to create a new solution, O’. </a:t>
                </a:r>
              </a:p>
              <a:p>
                <a:pPr marL="673100" indent="-571500" algn="just"/>
                <a:r>
                  <a:rPr lang="en-ID" dirty="0"/>
                  <a:t>We take a small amount of weight (say, x kg) from item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ID" dirty="0"/>
                  <a:t> out of the knapsack and replace it with x kg of item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. </a:t>
                </a:r>
              </a:p>
              <a:p>
                <a:pPr marL="673100" indent="-571500" algn="just"/>
                <a:r>
                  <a:rPr lang="en-ID" dirty="0"/>
                  <a:t>We can do this because O didn't take the full amount of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that was available.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1E1F7D3-8F6F-A3C8-A0E2-AB0910A0F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867" t="-1250" r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57536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33C04-0518-7B6E-4037-96AE2A54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3389-F3CA-7FCC-EE39-F275AA89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Fractional knapsack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29380-B2A2-BDB0-25AE-D81FC3CD98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Exchange argument: The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F40B09-118C-EB3D-9DD0-F8D697A0F4E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Since item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has a higher value density than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ID" dirty="0"/>
                  <a:t>, replacing x kg of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ID" dirty="0"/>
                  <a:t> with x kg of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will increase the total value of the solution (or leave it the same if the densities were equal).</a:t>
                </a:r>
              </a:p>
              <a:p>
                <a:pPr lvl="0"/>
                <a:r>
                  <a:rPr lang="en-ID" dirty="0"/>
                  <a:t>By repeating this exchange process, we can transform O step-by-step to match the choices of G, at each step never decreasing the total value. </a:t>
                </a:r>
              </a:p>
              <a:p>
                <a:pPr lvl="0"/>
                <a:r>
                  <a:rPr lang="en-ID" dirty="0"/>
                  <a:t>Eventually, we will have transformed O into G, proving that G must be at least as good as any arbitrary optimal solution. Therefore, G is optimal.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F40B09-118C-EB3D-9DD0-F8D697A0F4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111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415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8" y="3714224"/>
                <a:ext cx="8916258" cy="9138176"/>
              </a:xfrm>
            </p:spPr>
            <p:txBody>
              <a:bodyPr>
                <a:normAutofit/>
              </a:bodyPr>
              <a:lstStyle/>
              <a:p>
                <a:pPr marL="101600" indent="0" algn="just">
                  <a:buNone/>
                </a:pPr>
                <a:r>
                  <a:rPr lang="en-US" dirty="0"/>
                  <a:t>Given a connected undirected weighted graph G = (V, E, w), find a spanning tree T ⊆ E that minimizes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8" y="3714224"/>
                <a:ext cx="8916258" cy="9138176"/>
              </a:xfrm>
              <a:blipFill>
                <a:blip r:embed="rId3"/>
                <a:stretch>
                  <a:fillRect l="-1991" t="-1250" r="-3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S 225 | Minimum Spanning Tree">
            <a:extLst>
              <a:ext uri="{FF2B5EF4-FFF2-40B4-BE49-F238E27FC236}">
                <a16:creationId xmlns:a16="http://schemas.microsoft.com/office/drawing/2014/main" id="{2DD343A0-CCFB-D361-491C-FC0F2FEA9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4658" y="3223274"/>
            <a:ext cx="10861964" cy="1036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8999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The cut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7226005" cy="9138176"/>
              </a:xfrm>
            </p:spPr>
            <p:txBody>
              <a:bodyPr>
                <a:normAutofit/>
              </a:bodyPr>
              <a:lstStyle/>
              <a:p>
                <a:pPr marL="673100" indent="-571500" algn="just"/>
                <a:r>
                  <a:rPr lang="en-US" b="1" dirty="0"/>
                  <a:t>Cut property: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/>
                  <a:t> is any cut, and e is the minimum-weight edge crossing the cut, then e belongs to some MST.</a:t>
                </a:r>
              </a:p>
              <a:p>
                <a:pPr marL="673100" indent="-571500"/>
                <a:r>
                  <a:rPr lang="en-US" dirty="0"/>
                  <a:t>In image here, we could say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i="0" dirty="0">
                    <a:latin typeface="Cambria Math" panose="02040503050406030204" pitchFamily="18" charset="0"/>
                  </a:rPr>
                  <a:t> gray vertices </a:t>
                </a:r>
                <a:r>
                  <a:rPr lang="en-US" b="0" i="0" dirty="0"/>
                  <a:t>and</a:t>
                </a:r>
                <a:r>
                  <a:rPr lang="en-US" b="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b="1" dirty="0">
                    <a:latin typeface="Cambria Math" panose="02040503050406030204" pitchFamily="18" charset="0"/>
                  </a:rPr>
                  <a:t>white vertices </a:t>
                </a:r>
                <a:r>
                  <a:rPr lang="en-US" dirty="0"/>
                  <a:t>or vice versa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7226005" cy="9138176"/>
              </a:xfrm>
              <a:blipFill>
                <a:blip r:embed="rId3"/>
                <a:stretch>
                  <a:fillRect l="-2281" t="-1111" r="-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Minimum Spanning Trees Reading - CSE 373">
            <a:extLst>
              <a:ext uri="{FF2B5EF4-FFF2-40B4-BE49-F238E27FC236}">
                <a16:creationId xmlns:a16="http://schemas.microsoft.com/office/drawing/2014/main" id="{2CEF3CFF-CFAE-94F8-0DC4-33FF82CE15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3124" y="3591068"/>
            <a:ext cx="11932348" cy="901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2494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4358-09DA-F6F4-005B-4D09CAFB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8318-5DDA-BA2A-F66D-3C584E4D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F3997-CC93-83CF-B488-E146DB1C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The cut property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25A3A-0C24-8726-4E3E-6C6258BF9F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661640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dirty="0"/>
              <a:t>One way to see the cut property in action is to imagine a small example. </a:t>
            </a:r>
          </a:p>
          <a:p>
            <a:pPr marL="673100" indent="-571500" algn="just"/>
            <a:r>
              <a:rPr lang="en-ID" dirty="0"/>
              <a:t>Suppose we’ve almost found our minimum spanning tree, except for the vertex labelled 6 in the graph here.</a:t>
            </a:r>
            <a:endParaRPr lang="en-US" dirty="0"/>
          </a:p>
        </p:txBody>
      </p:sp>
      <p:pic>
        <p:nvPicPr>
          <p:cNvPr id="5" name="Picture 4" descr="MST Example 2">
            <a:extLst>
              <a:ext uri="{FF2B5EF4-FFF2-40B4-BE49-F238E27FC236}">
                <a16:creationId xmlns:a16="http://schemas.microsoft.com/office/drawing/2014/main" id="{2C6D6431-FEA8-60E9-D740-B5371AD5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161" y="3714224"/>
            <a:ext cx="14002096" cy="758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8438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866D-E207-39AC-B59D-F2D9D0C5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A5C0-F8C7-72CB-1385-08BA08CD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1F8C-FE69-5E36-302F-DA5675B53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The cut property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0A59E-B481-C103-85BB-FCBC2CCE8A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661640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dirty="0"/>
              <a:t>The only way to get to the vertex labelled 6 is using one of the four edges: (3, 6), (2, 6), (0, 6), or (4, 6). </a:t>
            </a:r>
          </a:p>
          <a:p>
            <a:pPr marL="673100" indent="-571500" algn="just"/>
            <a:r>
              <a:rPr lang="en-ID" dirty="0"/>
              <a:t>A minimum spanning tree must choose a minimum-weight edge among the four options.</a:t>
            </a:r>
            <a:endParaRPr lang="en-US" dirty="0"/>
          </a:p>
        </p:txBody>
      </p:sp>
      <p:pic>
        <p:nvPicPr>
          <p:cNvPr id="6" name="Picture 5" descr="MST Example 2">
            <a:extLst>
              <a:ext uri="{FF2B5EF4-FFF2-40B4-BE49-F238E27FC236}">
                <a16:creationId xmlns:a16="http://schemas.microsoft.com/office/drawing/2014/main" id="{DE2762E9-B080-B2D8-1235-39282C1A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161" y="3714224"/>
            <a:ext cx="14002096" cy="758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3699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D922-F1A5-E700-BF2F-93817EC3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B328-13D7-BC52-AA01-F0A6B97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46939-B90A-A39E-9A15-FF7437420D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The cut property: insight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2244E-6B23-F883-C814-23F534997C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dirty="0"/>
              <a:t>We can also design an algorithm for finding the minimum spanning tree based on this insight by working backwards from this idea. </a:t>
            </a:r>
          </a:p>
          <a:p>
            <a:pPr marL="673100" indent="-571500" algn="just"/>
            <a:r>
              <a:rPr lang="en-ID" dirty="0"/>
              <a:t>Suppose we start from scratch in the same graph before. </a:t>
            </a:r>
          </a:p>
          <a:p>
            <a:pPr marL="673100" indent="-571500" algn="just"/>
            <a:r>
              <a:rPr lang="en-ID" dirty="0"/>
              <a:t>If we (arbitrarily) choose to start at the vertex labelled 6, then the cut property tells us that we must choose a minimum-weight edge among the four options. </a:t>
            </a:r>
          </a:p>
          <a:p>
            <a:pPr marL="673100" indent="-571500" algn="just"/>
            <a:r>
              <a:rPr lang="en-ID" dirty="0"/>
              <a:t>This is the basis of </a:t>
            </a:r>
            <a:r>
              <a:rPr lang="en-ID" b="1" dirty="0"/>
              <a:t>Prim’s algorithm</a:t>
            </a:r>
            <a:r>
              <a:rPr lang="en-ID" dirty="0"/>
              <a:t> for finding a minimum spanning tree.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79756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0B5A-848F-5A93-5BE8-9E16CAC5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40BF-FB03-AE0E-C3FC-F05FD787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63B21-5AB3-A5FF-EBA4-61CA9131E8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Generic </a:t>
            </a:r>
            <a:r>
              <a:rPr lang="en-ID" dirty="0" err="1"/>
              <a:t>mst</a:t>
            </a:r>
            <a:r>
              <a:rPr lang="en-ID" dirty="0"/>
              <a:t>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92765-29E5-86E1-3DD4-E9BD8228A6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All MST algorithms maintain a safe edge set A ⊆ MST: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05AE5-0DC4-66D8-AF3A-D55FC14DFFF2}"/>
              </a:ext>
            </a:extLst>
          </p:cNvPr>
          <p:cNvSpPr/>
          <p:nvPr/>
        </p:nvSpPr>
        <p:spPr>
          <a:xfrm>
            <a:off x="2370576" y="5031770"/>
            <a:ext cx="14512370" cy="4165243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4400" b="1" dirty="0">
                <a:solidFill>
                  <a:srgbClr val="424242"/>
                </a:solidFill>
                <a:latin typeface="Courier New" panose="02070309020205020404" pitchFamily="49" charset="0"/>
              </a:rPr>
              <a:t>GENERIC-MST(G, w)</a:t>
            </a:r>
          </a:p>
          <a:p>
            <a:pPr marL="457200" indent="-457200" algn="l">
              <a:buAutoNum type="arabicPlain"/>
            </a:pPr>
            <a:r>
              <a:rPr lang="en-US" sz="4400" b="1" dirty="0">
                <a:solidFill>
                  <a:srgbClr val="424242"/>
                </a:solidFill>
                <a:latin typeface="Courier New" panose="02070309020205020404" pitchFamily="49" charset="0"/>
              </a:rPr>
              <a:t>  A = {}</a:t>
            </a:r>
          </a:p>
          <a:p>
            <a:pPr marL="457200" indent="-457200" algn="l">
              <a:buAutoNum type="arabicPlain"/>
            </a:pPr>
            <a:r>
              <a:rPr lang="en-US" sz="4400" b="1" dirty="0">
                <a:solidFill>
                  <a:srgbClr val="424242"/>
                </a:solidFill>
                <a:latin typeface="Courier New" panose="02070309020205020404" pitchFamily="49" charset="0"/>
              </a:rPr>
              <a:t>  while A does not form a spanning tree</a:t>
            </a:r>
          </a:p>
          <a:p>
            <a:pPr marL="457200" indent="-457200" algn="l">
              <a:buAutoNum type="arabicPlain"/>
            </a:pPr>
            <a:r>
              <a:rPr lang="en-US" sz="44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find a safe edge (u, v) for A</a:t>
            </a:r>
          </a:p>
          <a:p>
            <a:pPr marL="457200" indent="-457200" algn="l">
              <a:buAutoNum type="arabicPlain"/>
            </a:pPr>
            <a:r>
              <a:rPr lang="en-US" sz="44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A = A ∪ {(u, v)}</a:t>
            </a:r>
          </a:p>
          <a:p>
            <a:pPr marL="457200" indent="-457200" algn="l">
              <a:buAutoNum type="arabicPlain"/>
            </a:pPr>
            <a:r>
              <a:rPr lang="en-US" sz="4400" b="1" dirty="0">
                <a:solidFill>
                  <a:srgbClr val="424242"/>
                </a:solidFill>
                <a:latin typeface="Courier New" panose="02070309020205020404" pitchFamily="49" charset="0"/>
              </a:rPr>
              <a:t>  return A</a:t>
            </a:r>
            <a:endParaRPr lang="en-ID" sz="44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9421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687E-0ACA-E024-ED84-3F77A637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44C6-C294-7CA5-7864-650930C4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15364-003E-CC0B-227F-67F9337E79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573859" cy="803546"/>
          </a:xfrm>
        </p:spPr>
        <p:txBody>
          <a:bodyPr>
            <a:normAutofit/>
          </a:bodyPr>
          <a:lstStyle/>
          <a:p>
            <a:r>
              <a:rPr lang="en-ID" dirty="0"/>
              <a:t>Generic </a:t>
            </a:r>
            <a:r>
              <a:rPr lang="en-ID" dirty="0" err="1"/>
              <a:t>mst</a:t>
            </a:r>
            <a:r>
              <a:rPr lang="en-ID" dirty="0"/>
              <a:t> algorithm: Exchange argument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6156C-B8D6-61CB-056D-99974F0C55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dirty="0"/>
              <a:t>The logic:</a:t>
            </a:r>
          </a:p>
          <a:p>
            <a:pPr marL="1429100" lvl="1" indent="-571500" algn="just">
              <a:buFont typeface="Wingdings" pitchFamily="2" charset="2"/>
              <a:buChar char="Ø"/>
            </a:pPr>
            <a:r>
              <a:rPr lang="en-ID" dirty="0"/>
              <a:t>Take an arbitrary MST T (Optimal Solution)</a:t>
            </a:r>
          </a:p>
          <a:p>
            <a:pPr marL="1429100" lvl="1" indent="-571500" algn="just">
              <a:buFont typeface="Wingdings" pitchFamily="2" charset="2"/>
              <a:buChar char="Ø"/>
            </a:pPr>
            <a:r>
              <a:rPr lang="en-ID" dirty="0"/>
              <a:t>Convert it into the algorithm’s output G by repeated exchange</a:t>
            </a:r>
          </a:p>
          <a:p>
            <a:pPr marL="1429100" lvl="1" indent="-571500" algn="just">
              <a:buFont typeface="Wingdings" pitchFamily="2" charset="2"/>
              <a:buChar char="Ø"/>
            </a:pPr>
            <a:r>
              <a:rPr lang="en-ID" dirty="0"/>
              <a:t>Each exchange keeps T a spanning tree without increasing its weight.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7946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E53D-B295-80B1-C9B5-B9E0962E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6E42-94B3-3BA8-F401-56301FD2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FD29-345E-0468-AE2C-7E7C75A0DB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231459" cy="803546"/>
          </a:xfrm>
        </p:spPr>
        <p:txBody>
          <a:bodyPr>
            <a:normAutofit/>
          </a:bodyPr>
          <a:lstStyle/>
          <a:p>
            <a:r>
              <a:rPr lang="en-ID" dirty="0"/>
              <a:t>Generic </a:t>
            </a:r>
            <a:r>
              <a:rPr lang="en-ID" dirty="0" err="1"/>
              <a:t>mst</a:t>
            </a:r>
            <a:r>
              <a:rPr lang="en-ID" dirty="0"/>
              <a:t> algorithm: Exchange argument – Find The difference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099BCB-286C-7B15-E0F6-85CD7189418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Let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2,...,</m:t>
                    </m:r>
                    <m:sSub>
                      <m:sSub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D" i="0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D" dirty="0"/>
                  <a:t> in the order the algorithm picks the edges. </a:t>
                </a:r>
              </a:p>
              <a:p>
                <a:r>
                  <a:rPr lang="en-ID" dirty="0"/>
                  <a:t>Among all MSTs, take T that agrees with G on the longest prefix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D" i="0" dirty="0" smtClean="0">
                        <a:latin typeface="Cambria Math" panose="02040503050406030204" pitchFamily="18" charset="0"/>
                      </a:rPr>
                      <m:t>1..</m:t>
                    </m:r>
                    <m:sSub>
                      <m:sSub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D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D" dirty="0"/>
                  <a:t>. </a:t>
                </a:r>
              </a:p>
              <a:p>
                <a:r>
                  <a:rPr lang="en-ID" dirty="0"/>
                  <a:t>Assume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D" i="0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D" dirty="0"/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D" i="0" dirty="0" err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D" i="1" dirty="0" err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D" dirty="0"/>
                  <a:t>, where k is the first index where T and G differ.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5099BCB-286C-7B15-E0F6-85CD71894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26610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744B-6DBF-A18A-C932-23E81B1C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B395-C4D7-44FD-7523-6FD33EEE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1025C-9857-D363-E5DE-BD7F6200D1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833641" cy="803546"/>
          </a:xfrm>
        </p:spPr>
        <p:txBody>
          <a:bodyPr>
            <a:normAutofit/>
          </a:bodyPr>
          <a:lstStyle/>
          <a:p>
            <a:r>
              <a:rPr lang="en-ID" dirty="0"/>
              <a:t>Generic </a:t>
            </a:r>
            <a:r>
              <a:rPr lang="en-ID" dirty="0" err="1"/>
              <a:t>mst</a:t>
            </a:r>
            <a:r>
              <a:rPr lang="en-ID" dirty="0"/>
              <a:t> algorithm: Exchange argument – Find The Substitute and Exchange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BB228FC-FFA4-0B08-AC9E-4015BC06113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7863314" cy="913817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D" dirty="0"/>
                  <a:t> contains exactly one cycle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D" dirty="0"/>
                  <a:t>. </a:t>
                </a:r>
              </a:p>
              <a:p>
                <a:r>
                  <a:rPr lang="en-ID" dirty="0"/>
                  <a:t>Find an edge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D" dirty="0"/>
                  <a:t> with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D" i="0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D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D" i="0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D" i="0" dirty="0" smtClean="0">
                        <a:latin typeface="Cambria Math" panose="02040503050406030204" pitchFamily="18" charset="0"/>
                      </a:rPr>
                      <m:t>1..</m:t>
                    </m:r>
                    <m:sSub>
                      <m:sSub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D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D" dirty="0"/>
                  <a:t>, and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ID" i="0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D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dirty="0"/>
                  <a:t>. </a:t>
                </a:r>
              </a:p>
              <a:p>
                <a:r>
                  <a:rPr lang="en-ID" dirty="0"/>
                  <a:t>Set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D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D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D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ID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D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ID" dirty="0"/>
                  <a:t> will have total minimum weight less than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D" dirty="0"/>
                  <a:t> because </a:t>
                </a:r>
                <a14:m>
                  <m:oMath xmlns:m="http://schemas.openxmlformats.org/officeDocument/2006/math"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ID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D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D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D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dirty="0"/>
                  <a:t>, which is also optimal and become closer to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BB228FC-FFA4-0B08-AC9E-4015BC061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7863314" cy="9138176"/>
              </a:xfrm>
              <a:blipFill>
                <a:blip r:embed="rId3"/>
                <a:stretch>
                  <a:fillRect l="-3387" t="-1111" r="-5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4762F94-526B-5636-72BF-BB9E52186C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49278" y="3714224"/>
            <a:ext cx="13047905" cy="5873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828A9E-B232-EC6A-83BB-594BAC90E553}"/>
                  </a:ext>
                </a:extLst>
              </p:cNvPr>
              <p:cNvSpPr txBox="1"/>
              <p:nvPr/>
            </p:nvSpPr>
            <p:spPr>
              <a:xfrm>
                <a:off x="11112742" y="9627107"/>
                <a:ext cx="2539670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𝑻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+</m:t>
                      </m:r>
                      <m:sSub>
                        <m:sSubPr>
                          <m:ctrlPr>
                            <a:rPr kumimoji="0" lang="en-US" sz="2400" b="1" i="1" u="none" strike="noStrike" cap="none" spc="0" normalizeH="0" baseline="0" dirty="0" err="1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400" b="1" i="1" u="none" strike="noStrike" cap="none" spc="0" normalizeH="0" baseline="0" dirty="0" err="1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𝒆</m:t>
                          </m:r>
                        </m:e>
                        <m:sub>
                          <m:r>
                            <a:rPr kumimoji="0" lang="en-US" sz="2400" b="1" i="1" u="none" strike="noStrike" cap="none" spc="0" normalizeH="0" baseline="0" dirty="0" err="1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𝒌</m:t>
                          </m:r>
                        </m:sub>
                      </m:sSub>
                      <m:r>
                        <a:rPr kumimoji="0" lang="en-US" sz="2400" b="1" i="0" u="none" strike="noStrike" cap="none" spc="0" normalizeH="0" baseline="0" dirty="0" err="1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:</m:t>
                      </m:r>
                      <m:r>
                        <a:rPr kumimoji="0" lang="en-US" sz="2400" b="1" i="0" u="none" strike="noStrike" cap="none" spc="0" normalizeH="0" baseline="0" dirty="0" err="1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𝐨𝐧𝐞</m:t>
                      </m:r>
                      <m:r>
                        <a:rPr kumimoji="0" lang="en-US" sz="2400" b="1" i="0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 </m:t>
                      </m:r>
                      <m:r>
                        <a:rPr kumimoji="0" lang="en-US" sz="2400" b="1" i="0" u="none" strike="noStrike" cap="none" spc="0" normalizeH="0" baseline="0" dirty="0" err="1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𝐜𝐲𝐜𝐥𝐞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828A9E-B232-EC6A-83BB-594BAC90E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742" y="9627107"/>
                <a:ext cx="2539670" cy="471924"/>
              </a:xfrm>
              <a:prstGeom prst="rect">
                <a:avLst/>
              </a:prstGeom>
              <a:blipFill>
                <a:blip r:embed="rId5"/>
                <a:stretch>
                  <a:fillRect l="-1493" b="-1794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5092B4-DF92-5C5D-7BEF-2B53D0C6D6C3}"/>
                  </a:ext>
                </a:extLst>
              </p:cNvPr>
              <p:cNvSpPr txBox="1"/>
              <p:nvPr/>
            </p:nvSpPr>
            <p:spPr>
              <a:xfrm>
                <a:off x="19354483" y="9606974"/>
                <a:ext cx="1599284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𝑻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+</m:t>
                      </m:r>
                      <m:sSub>
                        <m:sSubPr>
                          <m:ctrlPr>
                            <a:rPr kumimoji="0" lang="en-US" sz="2400" b="1" i="1" u="none" strike="noStrike" cap="none" spc="0" normalizeH="0" baseline="0" dirty="0" err="1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2400" b="1" i="1" u="none" strike="noStrike" cap="none" spc="0" normalizeH="0" baseline="0" dirty="0" err="1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𝒆</m:t>
                          </m:r>
                        </m:e>
                        <m:sub>
                          <m:r>
                            <a:rPr kumimoji="0" lang="en-US" sz="2400" b="1" i="1" u="none" strike="noStrike" cap="none" spc="0" normalizeH="0" baseline="0" dirty="0" err="1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𝒌</m:t>
                          </m:r>
                        </m:sub>
                      </m:sSub>
                      <m:r>
                        <a:rPr kumimoji="0" lang="en-US" sz="2400" b="1" i="1" u="none" strike="noStrike" cap="none" spc="0" normalizeH="0" baseline="0" dirty="0" err="1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−</m:t>
                      </m:r>
                      <m:r>
                        <a:rPr kumimoji="0" lang="en-US" sz="2400" b="1" i="1" u="none" strike="noStrike" cap="none" spc="0" normalizeH="0" baseline="0" dirty="0" err="1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𝒇</m:t>
                      </m:r>
                    </m:oMath>
                  </m:oMathPara>
                </a14:m>
                <a:endParaRPr kumimoji="0" lang="en-US" sz="2400" b="1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5092B4-DF92-5C5D-7BEF-2B53D0C6D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483" y="9606974"/>
                <a:ext cx="1599284" cy="471924"/>
              </a:xfrm>
              <a:prstGeom prst="rect">
                <a:avLst/>
              </a:prstGeom>
              <a:blipFill>
                <a:blip r:embed="rId6"/>
                <a:stretch>
                  <a:fillRect l="-3175" r="-794" b="-1578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6501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Prim’s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Grow one tree greedily: always add the minimum-weight edge connecting the tree to a non-tree vertex.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Time: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O((V + E) log V) with a binary min-heap; O(E + V log V) with a Fibonacci heap.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380737" y="5231063"/>
            <a:ext cx="15521184" cy="5642570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PRIM(G, w, r)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u ∈ V: key[u] = ∞; </a:t>
            </a:r>
            <a:r>
              <a:rPr lang="el-GR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u] = NIL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key[r] = 0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Q = min-priority queue of V by key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while Q ≠ {}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u = EXTRACT-MIN(Q)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for each v adjacent to u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if v ∈ Q and w(</a:t>
            </a:r>
            <a:r>
              <a:rPr lang="en-US" sz="3600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) &lt; key[v]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    </a:t>
            </a:r>
            <a:r>
              <a:rPr lang="el-GR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v] = u; key[v] = w(</a:t>
            </a:r>
            <a:r>
              <a:rPr lang="en-US" sz="3600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    DECREASE-KEY(Q, v, w(</a:t>
            </a:r>
            <a:r>
              <a:rPr lang="en-US" sz="3600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))</a:t>
            </a:r>
            <a:endParaRPr lang="en-ID" sz="36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79865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Minimum spanning tree (MST)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Kruskal’s</a:t>
            </a:r>
            <a:r>
              <a:rPr lang="en-ID" dirty="0"/>
              <a:t>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Sort edges by weight; add edge if it does not create a cycle (use Union-Find).</a:t>
            </a: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Time: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O(E log E) = O(E log V) — dominated by sorting.</a:t>
            </a:r>
          </a:p>
          <a:p>
            <a:pPr marL="101600" indent="0" algn="just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Correctness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Each added edge crosses a cut and is minimum weight crossing that cut → safe edge by cut property.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167377" y="5231339"/>
            <a:ext cx="15063984" cy="4534575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KRUSKAL(G, w)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A = {}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vertex v: MAKE-SET(v)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sort edges by weight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edge (u, v) in sorted order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if FIND-SET(u) ≠ FIND-SET(v)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A = A ∪ {(u, v)}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UNION(u, v)</a:t>
            </a:r>
          </a:p>
          <a:p>
            <a:pPr marL="457200" indent="-457200" algn="l">
              <a:buAutoNum type="arabicPlain"/>
            </a:pPr>
            <a:r>
              <a:rPr lang="en-US" sz="3200" b="1" dirty="0">
                <a:solidFill>
                  <a:srgbClr val="424242"/>
                </a:solidFill>
                <a:latin typeface="Courier New" panose="02070309020205020404" pitchFamily="49" charset="0"/>
              </a:rPr>
              <a:t>  return A</a:t>
            </a:r>
            <a:endParaRPr lang="en-ID" sz="32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502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Dijkstra’s</a:t>
            </a:r>
            <a:r>
              <a:rPr lang="en-ID" dirty="0"/>
              <a:t> shortest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Single-source shortest path: given G = (V, E, w) with non-negative weights and source s, find shortest path from s to every other vertex.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38774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Dijkstra’s</a:t>
            </a:r>
            <a:r>
              <a:rPr lang="en-ID" dirty="0"/>
              <a:t> shortest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Greedy: always relax the vertex with the smallest tentative distance.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9A59A-881E-F256-453A-7C1D3FF25AE4}"/>
              </a:ext>
            </a:extLst>
          </p:cNvPr>
          <p:cNvSpPr/>
          <p:nvPr/>
        </p:nvSpPr>
        <p:spPr>
          <a:xfrm>
            <a:off x="2421022" y="5050462"/>
            <a:ext cx="11650223" cy="7858562"/>
          </a:xfrm>
          <a:prstGeom prst="rect">
            <a:avLst/>
          </a:prstGeom>
          <a:solidFill>
            <a:srgbClr val="FFF7D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DIJKSTRA(G, w, s)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for each v: d[v] = ∞; </a:t>
            </a:r>
            <a:r>
              <a:rPr lang="el-GR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v] = NIL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d[s] = 0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Q = min-priority queue of V by d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while Q ≠ {}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u = EXTRACT-MIN(Q)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for each v adjacent to u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    RELAX(u, v, w)</a:t>
            </a:r>
          </a:p>
          <a:p>
            <a:pPr algn="l"/>
            <a:endParaRPr lang="en-US" sz="3600" b="1" dirty="0">
              <a:solidFill>
                <a:srgbClr val="424242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RELAX(u, v, w)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if d[v] &gt; d[u] + w(</a:t>
            </a:r>
            <a:r>
              <a:rPr lang="en-US" sz="3600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d[v] = d[u] + w(</a:t>
            </a:r>
            <a:r>
              <a:rPr lang="en-US" sz="3600" b="1" dirty="0" err="1">
                <a:solidFill>
                  <a:srgbClr val="424242"/>
                </a:solidFill>
                <a:latin typeface="Courier New" panose="02070309020205020404" pitchFamily="49" charset="0"/>
              </a:rPr>
              <a:t>u,v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)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</a:t>
            </a:r>
            <a:r>
              <a:rPr lang="el-GR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π[</a:t>
            </a: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v] = u</a:t>
            </a:r>
          </a:p>
          <a:p>
            <a:pPr marL="457200" indent="-457200" algn="l">
              <a:buAutoNum type="arabicPlain"/>
            </a:pPr>
            <a:r>
              <a:rPr lang="en-US" sz="3600" b="1" dirty="0">
                <a:solidFill>
                  <a:srgbClr val="424242"/>
                </a:solidFill>
                <a:latin typeface="Courier New" panose="02070309020205020404" pitchFamily="49" charset="0"/>
              </a:rPr>
              <a:t>      DECREASE-KEY(Q, v, d[v])</a:t>
            </a:r>
            <a:endParaRPr lang="en-ID" sz="3600" b="1" i="0" dirty="0">
              <a:solidFill>
                <a:srgbClr val="4242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351001" y="5358238"/>
            <a:ext cx="8295639" cy="68736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212121"/>
                </a:solidFill>
              </a:rPr>
              <a:t>Time: </a:t>
            </a:r>
            <a:r>
              <a:rPr lang="en-US" sz="4000" dirty="0">
                <a:solidFill>
                  <a:srgbClr val="212121"/>
                </a:solidFill>
              </a:rPr>
              <a:t>O((V + E) log V) with binary heap; O(E + V log V) with Fibonacci heap.</a:t>
            </a:r>
            <a:endParaRPr lang="en-US" sz="4000" b="1" dirty="0">
              <a:solidFill>
                <a:srgbClr val="212121"/>
              </a:solidFill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212121"/>
                </a:solidFill>
              </a:rPr>
              <a:t>Correctness: </a:t>
            </a:r>
            <a:r>
              <a:rPr lang="en-US" sz="4000" dirty="0">
                <a:solidFill>
                  <a:srgbClr val="212121"/>
                </a:solidFill>
              </a:rPr>
              <a:t>When a vertex u is extracted from Q, d[u] is final. Proven by induction using the non-negative weight assumption.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212121"/>
                </a:solidFill>
              </a:rPr>
              <a:t>Limitation: </a:t>
            </a:r>
            <a:r>
              <a:rPr lang="en-US" sz="4000" dirty="0">
                <a:solidFill>
                  <a:srgbClr val="212121"/>
                </a:solidFill>
              </a:rPr>
              <a:t>Does not work with negative-weight edges. Use Bellman-Ford (Session 20).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212121"/>
              </a:solidFill>
              <a:effectLst/>
              <a:uFillTx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8982661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Dijkstra’s</a:t>
            </a:r>
            <a:r>
              <a:rPr lang="en-ID" dirty="0"/>
              <a:t> shortest path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Dijkstra</a:t>
            </a:r>
            <a:r>
              <a:rPr lang="en-ID" dirty="0"/>
              <a:t> vs. Prim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Both algorithms are structurally identical — the only difference is the key update rule:</a:t>
            </a:r>
          </a:p>
          <a:p>
            <a:pPr marL="673100" indent="-571500" algn="just"/>
            <a:r>
              <a:rPr lang="en-US" b="1" dirty="0"/>
              <a:t>Prim: </a:t>
            </a:r>
            <a:r>
              <a:rPr lang="en-US" dirty="0"/>
              <a:t>key[v] = minimum edge weight from tree to v.</a:t>
            </a:r>
          </a:p>
          <a:p>
            <a:pPr marL="673100" indent="-571500" algn="just"/>
            <a:r>
              <a:rPr lang="en-US" b="1" dirty="0" err="1"/>
              <a:t>Dijkstra</a:t>
            </a:r>
            <a:r>
              <a:rPr lang="en-US" b="1" dirty="0"/>
              <a:t>: </a:t>
            </a:r>
            <a:r>
              <a:rPr lang="en-US" dirty="0"/>
              <a:t>d[v] = minimum total path distance from source to v.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318990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2CE5-A3E8-9383-F708-28F2C13D0D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/>
            <a:r>
              <a:rPr lang="en-ID" b="1" dirty="0"/>
              <a:t>Greedy</a:t>
            </a:r>
            <a:r>
              <a:rPr lang="en-ID" dirty="0"/>
              <a:t> works when the problem has the greedy-choice property and optimal substructure.</a:t>
            </a:r>
          </a:p>
          <a:p>
            <a:pPr algn="just"/>
            <a:r>
              <a:rPr lang="en-ID" b="1" dirty="0"/>
              <a:t>Fractional Knapsack: </a:t>
            </a:r>
            <a:r>
              <a:rPr lang="en-ID" dirty="0"/>
              <a:t>sort by value density; O(n log n). Greedy fails for 0/1 Knapsack.</a:t>
            </a:r>
          </a:p>
          <a:p>
            <a:pPr algn="just"/>
            <a:r>
              <a:rPr lang="en-ID" b="1" dirty="0"/>
              <a:t>Prim's: </a:t>
            </a:r>
            <a:r>
              <a:rPr lang="en-ID" dirty="0"/>
              <a:t>grow tree using min-heap → O(E log V) with binary heap.</a:t>
            </a:r>
          </a:p>
          <a:p>
            <a:pPr algn="just"/>
            <a:r>
              <a:rPr lang="en-ID" b="1" dirty="0"/>
              <a:t>Kruskal's: </a:t>
            </a:r>
            <a:r>
              <a:rPr lang="en-ID" dirty="0"/>
              <a:t>sort edges + Union-Find → O(E log V).</a:t>
            </a:r>
          </a:p>
          <a:p>
            <a:pPr algn="just"/>
            <a:r>
              <a:rPr lang="en-ID" b="1" dirty="0"/>
              <a:t>Dijkstra's: </a:t>
            </a:r>
            <a:r>
              <a:rPr lang="en-ID" dirty="0"/>
              <a:t>single-source shortest path with non-negative weights → O(E log V); analogous to Prim's.</a:t>
            </a:r>
          </a:p>
        </p:txBody>
      </p:sp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11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B44C8-A6ED-A683-33EE-A99E42E2D6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Kruskal's</a:t>
            </a:r>
            <a:r>
              <a:rPr lang="en-US" dirty="0"/>
              <a:t> algorithm on: V={A,B,C,D,E}, edges with weights: AB=1, AC=4, BC=2, BD=5, CD=3, DE=6, CE=1. Show the MST.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Dijkstra's</a:t>
            </a:r>
            <a:r>
              <a:rPr lang="en-US" dirty="0"/>
              <a:t> algorithm from source A on the same graph. Show d[] and π[] after each EXTRACT-MIN.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Give a 0/1 knapsack instance where the fractional greedy algorithm gives the wrong answer.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Create the exchange argument for Dijkstra Algorithm! Identify the Optimal Solution, Substitute, Exchange and why it works!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What is the difference in time complexity between </a:t>
            </a:r>
            <a:r>
              <a:rPr lang="en-US" dirty="0" err="1"/>
              <a:t>Kruskal's</a:t>
            </a:r>
            <a:r>
              <a:rPr lang="en-US" dirty="0"/>
              <a:t> and Prim's for (a) a sparse graph E=O(V) and (b) a dense graph E=O(V²)?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b="1" dirty="0"/>
              <a:t>Primary (Required): 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</a:t>
            </a:r>
            <a:r>
              <a:rPr lang="en-ID" dirty="0" err="1"/>
              <a:t>Rivest</a:t>
            </a:r>
            <a:r>
              <a:rPr lang="en-ID" dirty="0"/>
              <a:t>, R.L., &amp; Stein, C. (2022). Introduction to Algorithms, 4th Edition. MIT Press.</a:t>
            </a:r>
          </a:p>
          <a:p>
            <a:r>
              <a:rPr lang="en-ID" dirty="0"/>
              <a:t>Ch. 15.2 — Elements of the Greedy Strategy (p. 426)</a:t>
            </a:r>
          </a:p>
          <a:p>
            <a:r>
              <a:rPr lang="en-ID" dirty="0"/>
              <a:t>Ch. 19.1–19.3 — Disjoint-Set Operations and Forests (p. 520–527)</a:t>
            </a:r>
          </a:p>
          <a:p>
            <a:r>
              <a:rPr lang="en-ID" dirty="0"/>
              <a:t>Ch. 21.1–21.2 — Minimum Spanning Trees, </a:t>
            </a:r>
            <a:r>
              <a:rPr lang="en-ID" dirty="0" err="1"/>
              <a:t>Kruskal</a:t>
            </a:r>
            <a:r>
              <a:rPr lang="en-ID" dirty="0"/>
              <a:t> and Prim (p. 586–591)</a:t>
            </a:r>
          </a:p>
          <a:p>
            <a:r>
              <a:rPr lang="en-ID" dirty="0"/>
              <a:t>Ch. 22.3 — </a:t>
            </a:r>
            <a:r>
              <a:rPr lang="en-ID" dirty="0" err="1"/>
              <a:t>Dijkstra's</a:t>
            </a:r>
            <a:r>
              <a:rPr lang="en-ID" dirty="0"/>
              <a:t> Algorithm (p. 620)</a:t>
            </a:r>
          </a:p>
          <a:p>
            <a:pPr marL="0" indent="0">
              <a:buNone/>
            </a:pPr>
            <a:r>
              <a:rPr lang="en-ID" b="1" dirty="0"/>
              <a:t>Secondary (Required): </a:t>
            </a:r>
            <a:r>
              <a:rPr lang="en-ID" dirty="0" err="1"/>
              <a:t>Skiena</a:t>
            </a:r>
            <a:r>
              <a:rPr lang="en-ID" dirty="0"/>
              <a:t>, S.S. (2020). The Algorithm Design Manual, 3rd Edition. Springer.</a:t>
            </a:r>
          </a:p>
          <a:p>
            <a:r>
              <a:rPr lang="en-ID" dirty="0"/>
              <a:t>Ch. 8.1 — Minimum Spanning Trees (p. 244)</a:t>
            </a:r>
          </a:p>
          <a:p>
            <a:r>
              <a:rPr lang="en-ID" dirty="0"/>
              <a:t>Ch. 8.3.1 — </a:t>
            </a:r>
            <a:r>
              <a:rPr lang="en-ID" dirty="0" err="1"/>
              <a:t>Dijkstra's</a:t>
            </a:r>
            <a:r>
              <a:rPr lang="en-ID" dirty="0"/>
              <a:t> Algorithm (p. 258)</a:t>
            </a:r>
          </a:p>
          <a:p>
            <a:r>
              <a:rPr lang="en-ID" dirty="0"/>
              <a:t>Ch. 16.10 — Knapsack Problem (p. 497)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7025</TotalTime>
  <Words>3695</Words>
  <Application>Microsoft Macintosh PowerPoint</Application>
  <PresentationFormat>Custom</PresentationFormat>
  <Paragraphs>417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OCRB</vt:lpstr>
      <vt:lpstr>Wingdings</vt:lpstr>
      <vt:lpstr>Arial</vt:lpstr>
      <vt:lpstr>Cambria Math</vt:lpstr>
      <vt:lpstr>Courier New</vt:lpstr>
      <vt:lpstr>Open Sans ExtraBold</vt:lpstr>
      <vt:lpstr>Tahoma</vt:lpstr>
      <vt:lpstr>Helvetica Neue</vt:lpstr>
      <vt:lpstr>Open Sans</vt:lpstr>
      <vt:lpstr>Open Sans Light</vt:lpstr>
      <vt:lpstr>Open Sans Semibold</vt:lpstr>
      <vt:lpstr>21_BasicWhite</vt:lpstr>
      <vt:lpstr>Greedy: knapsack, disjoint sets, mst &amp; shortest path</vt:lpstr>
      <vt:lpstr>Learning Outcomes</vt:lpstr>
      <vt:lpstr>Learning Outcomes</vt:lpstr>
      <vt:lpstr>outline</vt:lpstr>
      <vt:lpstr>Greedy paradigm</vt:lpstr>
      <vt:lpstr>Greedy paradigm</vt:lpstr>
      <vt:lpstr>Greedy paradigm</vt:lpstr>
      <vt:lpstr>Greedy paradigm</vt:lpstr>
      <vt:lpstr>Greedy paradigm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Fractional knapsack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Dijkstra’s shortest path</vt:lpstr>
      <vt:lpstr>Dijkstra’s shortest path</vt:lpstr>
      <vt:lpstr>Dijkstra’s shortest path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91</cp:revision>
  <dcterms:created xsi:type="dcterms:W3CDTF">2023-11-17T02:51:40Z</dcterms:created>
  <dcterms:modified xsi:type="dcterms:W3CDTF">2026-10-11T17:53:22Z</dcterms:modified>
</cp:coreProperties>
</file>