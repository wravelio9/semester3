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36" r:id="rId4"/>
    <p:sldId id="258" r:id="rId5"/>
    <p:sldId id="259" r:id="rId6"/>
    <p:sldId id="339" r:id="rId7"/>
    <p:sldId id="341" r:id="rId8"/>
    <p:sldId id="340" r:id="rId9"/>
    <p:sldId id="309" r:id="rId10"/>
    <p:sldId id="342" r:id="rId11"/>
    <p:sldId id="344" r:id="rId12"/>
    <p:sldId id="345" r:id="rId13"/>
    <p:sldId id="346" r:id="rId14"/>
    <p:sldId id="347" r:id="rId15"/>
    <p:sldId id="348" r:id="rId16"/>
    <p:sldId id="349" r:id="rId17"/>
    <p:sldId id="310" r:id="rId18"/>
    <p:sldId id="355" r:id="rId19"/>
    <p:sldId id="350" r:id="rId20"/>
    <p:sldId id="351" r:id="rId21"/>
    <p:sldId id="352" r:id="rId22"/>
    <p:sldId id="353" r:id="rId23"/>
  </p:sldIdLst>
  <p:sldSz cx="24384000" cy="13716000"/>
  <p:notesSz cx="6858000" cy="9144000"/>
  <p:embeddedFontLst>
    <p:embeddedFont>
      <p:font typeface="OCRB" panose="020B0609020202020204" pitchFamily="49" charset="77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pen Sans ExtraBold" panose="020B0606030504020204" pitchFamily="34" charset="0"/>
      <p:bold r:id="rId30"/>
      <p:italic r:id="rId31"/>
      <p:boldItalic r:id="rId32"/>
    </p:embeddedFont>
    <p:embeddedFont>
      <p:font typeface="Open Sans Light" panose="020B0306030504020204" pitchFamily="34" charset="0"/>
      <p:regular r:id="rId33"/>
      <p:italic r:id="rId34"/>
    </p:embeddedFont>
    <p:embeddedFont>
      <p:font typeface="Open Sans Semibold" panose="020B0606030504020204" pitchFamily="34" charset="0"/>
      <p:regular r:id="rId35"/>
      <p:bold r:id="rId36"/>
      <p:italic r:id="rId37"/>
      <p:boldItalic r:id="rId3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FFF7D6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6" autoAdjust="0"/>
    <p:restoredTop sz="95584"/>
  </p:normalViewPr>
  <p:slideViewPr>
    <p:cSldViewPr snapToGrid="0" snapToObjects="1">
      <p:cViewPr varScale="1">
        <p:scale>
          <a:sx n="29" d="100"/>
          <a:sy n="29" d="100"/>
        </p:scale>
        <p:origin x="264" y="169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0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73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175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711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888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979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63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633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394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04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314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151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A42A-7B1A-DCB5-255F-6699F049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BDC0-57D6-36AA-F9C3-E95DD568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0308F-420D-C34D-FD9B-3705996B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646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B1D45-C72D-E98D-16A9-1A02E19A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D2E5D-B08C-7EA5-9886-1FBFEE680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8FD09-4826-4EE5-0D40-094534468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4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A42A-7B1A-DCB5-255F-6699F049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BDC0-57D6-36AA-F9C3-E95DD568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0308F-420D-C34D-FD9B-3705996B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438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A42A-7B1A-DCB5-255F-6699F049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BDC0-57D6-36AA-F9C3-E95DD568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0308F-420D-C34D-FD9B-3705996B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822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A42A-7B1A-DCB5-255F-6699F049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BDC0-57D6-36AA-F9C3-E95DD568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0308F-420D-C34D-FD9B-3705996B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66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A42A-7B1A-DCB5-255F-6699F049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BDC0-57D6-36AA-F9C3-E95DD568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0308F-420D-C34D-FD9B-3705996B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48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Review 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630176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ID" dirty="0"/>
              <a:t>This session addresses </a:t>
            </a:r>
            <a:r>
              <a:rPr lang="en-ID" b="1" dirty="0"/>
              <a:t>LO 1</a:t>
            </a:r>
            <a:r>
              <a:rPr lang="en-ID" dirty="0"/>
              <a:t>, </a:t>
            </a:r>
            <a:r>
              <a:rPr lang="en-ID" b="1" dirty="0"/>
              <a:t>LO 2</a:t>
            </a:r>
            <a:r>
              <a:rPr lang="en-ID" dirty="0"/>
              <a:t>, and </a:t>
            </a:r>
            <a:r>
              <a:rPr lang="en-ID" b="1" dirty="0"/>
              <a:t>LO 3</a:t>
            </a:r>
            <a:r>
              <a:rPr lang="en-ID" dirty="0"/>
              <a:t>.</a:t>
            </a:r>
          </a:p>
          <a:p>
            <a:pPr algn="just"/>
            <a:r>
              <a:rPr lang="en-ID" b="1" dirty="0"/>
              <a:t>LO 1:</a:t>
            </a:r>
            <a:r>
              <a:rPr lang="en-ID" dirty="0"/>
              <a:t> Evaluate the time and space complexity of algorithms using asymptotic notation and formal analysis methods, and prove algorithm correctness using loop invariants, induction, or exchange arguments.</a:t>
            </a:r>
          </a:p>
          <a:p>
            <a:pPr algn="just"/>
            <a:r>
              <a:rPr lang="en-ID" b="1" dirty="0"/>
              <a:t>LO 2:</a:t>
            </a:r>
            <a:r>
              <a:rPr lang="en-ID" dirty="0"/>
              <a:t> </a:t>
            </a:r>
            <a:r>
              <a:rPr lang="en-ID" dirty="0" err="1"/>
              <a:t>Analyze</a:t>
            </a:r>
            <a:r>
              <a:rPr lang="en-ID" dirty="0"/>
              <a:t>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pPr algn="just"/>
            <a:r>
              <a:rPr lang="en-ID" b="1" dirty="0"/>
              <a:t>LO 3:</a:t>
            </a:r>
            <a:r>
              <a:rPr lang="en-ID" dirty="0"/>
              <a:t> Design solutions to unfamiliar computational problems by selecting and applying appropriate strategies including Divide and Conquer, Greedy, Dynamic Programming, and Backtracking.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D" dirty="0"/>
              <a:t>At the end of this session, students will be able to:</a:t>
            </a:r>
          </a:p>
          <a:p>
            <a:pPr algn="just"/>
            <a:r>
              <a:rPr lang="en-ID" dirty="0"/>
              <a:t>[LO 1] Synthesize correctness and complexity analysis techniques across Sessions 1–13; apply loop invariants, exchange argument, and recurrence analysis to novel review problems.</a:t>
            </a:r>
          </a:p>
          <a:p>
            <a:pPr algn="just"/>
            <a:r>
              <a:rPr lang="en-ID" dirty="0"/>
              <a:t>[LO 2] Classify novel problems as D&amp;C, greedy, randomized, or string-matching; recommend a solution paradigm for unfamiliar problems using structural pattern recognition from the first half of the course.</a:t>
            </a:r>
          </a:p>
          <a:p>
            <a:pPr algn="just"/>
            <a:r>
              <a:rPr lang="en-ID" dirty="0"/>
              <a:t>[LO 3] Design solutions to review-level problems using D&amp;C, greedy, and string algorithms; select the most efficient strategy given constraints on n.</a:t>
            </a:r>
          </a:p>
        </p:txBody>
      </p:sp>
    </p:spTree>
    <p:extLst>
      <p:ext uri="{BB962C8B-B14F-4D97-AF65-F5344CB8AC3E}">
        <p14:creationId xmlns:p14="http://schemas.microsoft.com/office/powerpoint/2010/main" val="165720930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Correctness Proofs — Loop Invariant, Induction, Exchange Argument</a:t>
            </a:r>
          </a:p>
          <a:p>
            <a:r>
              <a:rPr lang="en-US" dirty="0"/>
              <a:t>Complexity Analysis — Asymptotic Notation, Recurrences</a:t>
            </a:r>
          </a:p>
          <a:p>
            <a:r>
              <a:rPr lang="en-US" dirty="0"/>
              <a:t>Divide-and-Conquer and Greedy Paradigms</a:t>
            </a:r>
          </a:p>
          <a:p>
            <a:r>
              <a:rPr lang="en-US" dirty="0"/>
              <a:t>Randomization, Hashing, and String Matching</a:t>
            </a:r>
          </a:p>
          <a:p>
            <a:r>
              <a:rPr lang="en-US" dirty="0" err="1"/>
              <a:t>Skiena</a:t>
            </a:r>
            <a:r>
              <a:rPr lang="en-US" dirty="0"/>
              <a:t> Catalog Problem Identification Practice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Correctness proofs —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Loop invariant (session 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Three conditions: initialization (true before loop starts), maintenance (preserved by each iteration), termination (yields correct answer when loop ends).</a:t>
            </a:r>
          </a:p>
          <a:p>
            <a:pPr marL="101600" indent="0" algn="just">
              <a:buNone/>
            </a:pPr>
            <a:r>
              <a:rPr lang="en-US" b="1" dirty="0"/>
              <a:t>Key examples:</a:t>
            </a:r>
          </a:p>
          <a:p>
            <a:pPr marL="1429100" lvl="1" indent="-571500" algn="just"/>
            <a:r>
              <a:rPr lang="en-US" dirty="0"/>
              <a:t>Insertion Sort: A[1..i-1] is sorted at start of iteration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pPr marL="1429100" lvl="1" indent="-571500" algn="just"/>
            <a:r>
              <a:rPr lang="en-US" dirty="0"/>
              <a:t>Linear Search: no element in A[1..i-1] equals v.</a:t>
            </a:r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Correctness proofs —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Mathematical Induction (Session 02)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US" dirty="0"/>
              <a:t>Simple induction: prove P(n₀), then P(k) → P(k+1).</a:t>
            </a:r>
          </a:p>
          <a:p>
            <a:pPr marL="673100" indent="-571500" algn="just"/>
            <a:r>
              <a:rPr lang="en-US" dirty="0"/>
              <a:t>Strong induction: P(n₀)…P(k) → P(k+1). Use for recurrences with multiple base cases.</a:t>
            </a:r>
          </a:p>
          <a:p>
            <a:pPr marL="101600" indent="0" algn="just">
              <a:buNone/>
            </a:pPr>
            <a:r>
              <a:rPr lang="en-US" b="1" dirty="0"/>
              <a:t>Key examples:</a:t>
            </a:r>
          </a:p>
          <a:p>
            <a:pPr marL="1429100" lvl="1" indent="-571500" algn="just">
              <a:buFont typeface="Courier New" panose="02070309020205020404" pitchFamily="49" charset="0"/>
              <a:buChar char="o"/>
            </a:pPr>
            <a:r>
              <a:rPr lang="en-US" dirty="0"/>
              <a:t>Sum formula: ∑</a:t>
            </a:r>
            <a:r>
              <a:rPr lang="en-US" dirty="0" err="1"/>
              <a:t>i</a:t>
            </a:r>
            <a:r>
              <a:rPr lang="en-US" dirty="0"/>
              <a:t> = n(n+1)/2.</a:t>
            </a:r>
          </a:p>
          <a:p>
            <a:pPr marL="1429100" lvl="1" indent="-571500" algn="just">
              <a:buFont typeface="Courier New" panose="02070309020205020404" pitchFamily="49" charset="0"/>
              <a:buChar char="o"/>
            </a:pPr>
            <a:r>
              <a:rPr lang="en-US" dirty="0"/>
              <a:t>Recursive factorial correctness.</a:t>
            </a:r>
          </a:p>
        </p:txBody>
      </p:sp>
    </p:spTree>
    <p:extLst>
      <p:ext uri="{BB962C8B-B14F-4D97-AF65-F5344CB8AC3E}">
        <p14:creationId xmlns:p14="http://schemas.microsoft.com/office/powerpoint/2010/main" val="239453775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Correctness proofs —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Proof by Contradiction (Session 02)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Assume ¬P, derive contradiction. Used for:</a:t>
            </a:r>
          </a:p>
          <a:p>
            <a:pPr marL="1429100" lvl="1" indent="-571500" algn="just"/>
            <a:r>
              <a:rPr lang="en-US" dirty="0"/>
              <a:t>Infinitely many primes.</a:t>
            </a:r>
          </a:p>
          <a:p>
            <a:pPr marL="1429100" lvl="1" indent="-571500" algn="just"/>
            <a:r>
              <a:rPr lang="en-US" dirty="0"/>
              <a:t>Sorting lower bound Ω(n log n).</a:t>
            </a:r>
          </a:p>
          <a:p>
            <a:pPr marL="1429100" lvl="1" indent="-571500" algn="just"/>
            <a:r>
              <a:rPr lang="en-US" dirty="0"/>
              <a:t>Irrationality of √2.</a:t>
            </a:r>
          </a:p>
        </p:txBody>
      </p:sp>
    </p:spTree>
    <p:extLst>
      <p:ext uri="{BB962C8B-B14F-4D97-AF65-F5344CB8AC3E}">
        <p14:creationId xmlns:p14="http://schemas.microsoft.com/office/powerpoint/2010/main" val="26762926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Correctness proofs —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Exchange Argument (Session 12)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Prove greedy optimality: any deviation from greedy solution can be corrected by a swap that does not worsen the objective.</a:t>
            </a:r>
          </a:p>
          <a:p>
            <a:pPr marL="101600" indent="0" algn="just">
              <a:buNone/>
            </a:pPr>
            <a:r>
              <a:rPr lang="en-US" b="1" dirty="0"/>
              <a:t>Key examples:</a:t>
            </a:r>
          </a:p>
          <a:p>
            <a:pPr marL="1429100" lvl="1" indent="-571500" algn="just"/>
            <a:r>
              <a:rPr lang="en-US" dirty="0"/>
              <a:t>Activity-selection: replacing any first-finish activity with a₁ (earliest finish) maintains feasibility and cardinality.</a:t>
            </a:r>
          </a:p>
          <a:p>
            <a:pPr marL="1429100" lvl="1" indent="-571500" algn="just"/>
            <a:r>
              <a:rPr lang="en-US" dirty="0"/>
              <a:t>Earliest-deadline-first for lateness minimization.</a:t>
            </a:r>
          </a:p>
        </p:txBody>
      </p:sp>
    </p:spTree>
    <p:extLst>
      <p:ext uri="{BB962C8B-B14F-4D97-AF65-F5344CB8AC3E}">
        <p14:creationId xmlns:p14="http://schemas.microsoft.com/office/powerpoint/2010/main" val="15906639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Complexity analysis —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Asymptotic notation (session 4)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Proof technique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 Definition method (exhibit c, n₀) or limit method (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L'Hôpital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/ ratio test).</a:t>
            </a: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Growth hierarchy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 1 ≺ log n ≺ n ≺ n log n ≺ n² ≺ n³ ≺ 2ⁿ ≺ n!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645404"/>
              </p:ext>
            </p:extLst>
          </p:nvPr>
        </p:nvGraphicFramePr>
        <p:xfrm>
          <a:off x="4373880" y="3853936"/>
          <a:ext cx="15636240" cy="2512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2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4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012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Notation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O(g)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f ≤ g asymptotically (upper bound)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Ω(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g)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f ≥ g asymptotically (lower bound)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g)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f = g asymptotically (tight bound)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7439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Complexity analysis —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Recurrences (Sessions 03, 09)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032265" cy="9591737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Master Theorem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 T(n) =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aT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(n/b) + f(n), c* =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log_b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(a):</a:t>
            </a:r>
          </a:p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Case 1: f = O(n^{c*−</a:t>
            </a:r>
            <a:r>
              <a:rPr lang="el-GR" dirty="0">
                <a:solidFill>
                  <a:schemeClr val="bg2">
                    <a:lumMod val="10000"/>
                  </a:schemeClr>
                </a:solidFill>
              </a:rPr>
              <a:t>ε}) →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 = </a:t>
            </a:r>
            <a:r>
              <a:rPr lang="el-GR" dirty="0">
                <a:solidFill>
                  <a:schemeClr val="bg2">
                    <a:lumMod val="10000"/>
                  </a:schemeClr>
                </a:solidFill>
              </a:rPr>
              <a:t>Θ(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n^{c*}).</a:t>
            </a:r>
          </a:p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Case 2: f = </a:t>
            </a:r>
            <a:r>
              <a:rPr lang="el-GR" dirty="0">
                <a:solidFill>
                  <a:schemeClr val="bg2">
                    <a:lumMod val="10000"/>
                  </a:schemeClr>
                </a:solidFill>
              </a:rPr>
              <a:t>Θ(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n^{c*}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log^k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n) → T = </a:t>
            </a:r>
            <a:r>
              <a:rPr lang="el-GR" dirty="0">
                <a:solidFill>
                  <a:schemeClr val="bg2">
                    <a:lumMod val="10000"/>
                  </a:schemeClr>
                </a:solidFill>
              </a:rPr>
              <a:t>Θ(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n^{c*} log^{k+1} n).</a:t>
            </a:r>
          </a:p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Case 3: f = </a:t>
            </a:r>
            <a:r>
              <a:rPr lang="el-GR" dirty="0">
                <a:solidFill>
                  <a:schemeClr val="bg2">
                    <a:lumMod val="10000"/>
                  </a:schemeClr>
                </a:solidFill>
              </a:rPr>
              <a:t>Ω(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n^{c*+</a:t>
            </a:r>
            <a:r>
              <a:rPr lang="el-GR" dirty="0">
                <a:solidFill>
                  <a:schemeClr val="bg2">
                    <a:lumMod val="10000"/>
                  </a:schemeClr>
                </a:solidFill>
              </a:rPr>
              <a:t>ε}),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regularity holds → T = </a:t>
            </a:r>
            <a:r>
              <a:rPr lang="el-GR" dirty="0">
                <a:solidFill>
                  <a:schemeClr val="bg2">
                    <a:lumMod val="10000"/>
                  </a:schemeClr>
                </a:solidFill>
              </a:rPr>
              <a:t>Θ(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f(n)).</a:t>
            </a: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Common recurrences: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9293B6-05CC-E7AA-A61E-4528C6ED3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053850"/>
              </p:ext>
            </p:extLst>
          </p:nvPr>
        </p:nvGraphicFramePr>
        <p:xfrm>
          <a:off x="2315498" y="8662741"/>
          <a:ext cx="14097982" cy="3768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0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012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Recurrence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T(n)=T(n-1)+1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T(n)=T(n-1)+n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O(n</a:t>
                      </a:r>
                      <a:r>
                        <a:rPr lang="en-US" sz="3200" baseline="30000" dirty="0">
                          <a:solidFill>
                            <a:srgbClr val="212121"/>
                          </a:solidFill>
                        </a:rPr>
                        <a:t>2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T(n)=2T(n/2)+n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O(n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T(n)=T(n/2)+1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T(n)=2T(n/2)+1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29390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Complexity analysis —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RAM Model (Session 03)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Each basic operation (arithmetic, memory access, branch) costs O(1). Running time = number of basic operations as a function of input size.</a:t>
            </a:r>
          </a:p>
        </p:txBody>
      </p:sp>
    </p:spTree>
    <p:extLst>
      <p:ext uri="{BB962C8B-B14F-4D97-AF65-F5344CB8AC3E}">
        <p14:creationId xmlns:p14="http://schemas.microsoft.com/office/powerpoint/2010/main" val="14006934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Algorithm paradigms —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Divide and Conquer (Sessions 08–09)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Pattern: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Split into 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subproblems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of size n/b each; combine in f(n) time.</a:t>
            </a: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Key property: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Subproblems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are independent (or nearly so); combine step is the bottleneck.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503790"/>
              </p:ext>
            </p:extLst>
          </p:nvPr>
        </p:nvGraphicFramePr>
        <p:xfrm>
          <a:off x="2361218" y="5192532"/>
          <a:ext cx="18838425" cy="314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012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Recurrence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Merge Sort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2T(n/2)+n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Θ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(n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Binary Search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T(n/2)+1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Θ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(log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 err="1">
                          <a:solidFill>
                            <a:srgbClr val="212121"/>
                          </a:solidFill>
                        </a:rPr>
                        <a:t>Strassen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7T(n/2)+n</a:t>
                      </a:r>
                      <a:r>
                        <a:rPr lang="en-US" sz="3200" baseline="30000" dirty="0">
                          <a:solidFill>
                            <a:srgbClr val="21212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Θ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(n</a:t>
                      </a:r>
                      <a:r>
                        <a:rPr lang="en-US" sz="3200" baseline="30000" dirty="0">
                          <a:solidFill>
                            <a:srgbClr val="212121"/>
                          </a:solidFill>
                        </a:rPr>
                        <a:t>2.81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Closest Pair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2T(n/2)+n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Θ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(n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83994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Algorithm paradigms —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Greedy (Sessions 11–12)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Pattern: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Make the locally optimal choice; never backtrack.</a:t>
            </a: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Requires: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Greedy-choice property + optimal substructure. Prove with exchange argument.</a:t>
            </a: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600640"/>
              </p:ext>
            </p:extLst>
          </p:nvPr>
        </p:nvGraphicFramePr>
        <p:xfrm>
          <a:off x="2361217" y="6802892"/>
          <a:ext cx="18838425" cy="43960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5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3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012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Greedy Rule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Fractional Knapsack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Highest value density first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O(n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Activity Selection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Earliest finish time first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O(n</a:t>
                      </a:r>
                      <a:r>
                        <a:rPr lang="en-US" sz="3200" baseline="0" dirty="0">
                          <a:solidFill>
                            <a:srgbClr val="212121"/>
                          </a:solidFill>
                        </a:rPr>
                        <a:t> log n)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Huffman</a:t>
                      </a:r>
                      <a:r>
                        <a:rPr lang="en-US" sz="3200" baseline="0" dirty="0">
                          <a:solidFill>
                            <a:srgbClr val="212121"/>
                          </a:solidFill>
                        </a:rPr>
                        <a:t> Coding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Merge lowest-frequency nodes</a:t>
                      </a:r>
                      <a:endParaRPr lang="en-US" sz="3200" baseline="30000" dirty="0">
                        <a:solidFill>
                          <a:srgbClr val="212121"/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O(n</a:t>
                      </a:r>
                      <a:r>
                        <a:rPr lang="en-US" sz="3200" baseline="0" dirty="0">
                          <a:solidFill>
                            <a:srgbClr val="212121"/>
                          </a:solidFill>
                        </a:rPr>
                        <a:t> log n)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>
                          <a:solidFill>
                            <a:srgbClr val="212121"/>
                          </a:solidFill>
                        </a:rPr>
                        <a:t>Kruskal’s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 MST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Add minimum-weight non-cycle edge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</a:t>
                      </a:r>
                      <a:r>
                        <a:rPr lang="en-US" sz="3200" baseline="0" dirty="0">
                          <a:solidFill>
                            <a:srgbClr val="212121"/>
                          </a:solidFill>
                        </a:rPr>
                        <a:t>E log V)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Prim’s MST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Add minimum-weight edge to tree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O(E log V)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>
                          <a:solidFill>
                            <a:srgbClr val="212121"/>
                          </a:solidFill>
                        </a:rPr>
                        <a:t>Dijkstra’s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 SSSP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Relax nearest unvisited vertex 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O(E log V)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69681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Randomization, Hashing, String Matching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Randomized Algorithms (Session 10)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Las Vegas: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always correct; random time. Monte Carlo: fixed time; probabilistic correctness.</a:t>
            </a: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121599"/>
              </p:ext>
            </p:extLst>
          </p:nvPr>
        </p:nvGraphicFramePr>
        <p:xfrm>
          <a:off x="2167377" y="4620090"/>
          <a:ext cx="18838425" cy="1884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012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Expected Time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Randomized Quicksort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Θ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(n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Miller-Rabin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Monte Carlo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O(k</a:t>
                      </a:r>
                      <a:r>
                        <a:rPr lang="en-US" sz="3200" baseline="0" dirty="0">
                          <a:solidFill>
                            <a:srgbClr val="212121"/>
                          </a:solidFill>
                        </a:rPr>
                        <a:t> log</a:t>
                      </a:r>
                      <a:r>
                        <a:rPr lang="en-US" sz="3200" baseline="30000" dirty="0">
                          <a:solidFill>
                            <a:srgbClr val="212121"/>
                          </a:solidFill>
                        </a:rPr>
                        <a:t>2</a:t>
                      </a:r>
                      <a:r>
                        <a:rPr lang="en-US" sz="3200" baseline="0" dirty="0">
                          <a:solidFill>
                            <a:srgbClr val="212121"/>
                          </a:solidFill>
                        </a:rPr>
                        <a:t> n)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3021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Randomization, Hashing, String Matching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Hashing (session 10)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640421"/>
              </p:ext>
            </p:extLst>
          </p:nvPr>
        </p:nvGraphicFramePr>
        <p:xfrm>
          <a:off x="2361217" y="4594690"/>
          <a:ext cx="18838425" cy="2512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012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Method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Space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Expected Search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Chaining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</a:t>
                      </a:r>
                      <a:r>
                        <a:rPr lang="en-US" sz="3200" dirty="0" err="1">
                          <a:solidFill>
                            <a:srgbClr val="212121"/>
                          </a:solidFill>
                        </a:rPr>
                        <a:t>n+m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O(1+</a:t>
                      </a:r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α)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Open addressing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O(m)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O(1/(1-</a:t>
                      </a:r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α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)</a:t>
                      </a:r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)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Universal hashing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</a:t>
                      </a:r>
                      <a:r>
                        <a:rPr lang="en-US" sz="3200" dirty="0" err="1">
                          <a:solidFill>
                            <a:srgbClr val="212121"/>
                          </a:solidFill>
                        </a:rPr>
                        <a:t>n+m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O(1) for any input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04458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Randomization, Hashing, String Matching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String matching (session 13)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543296"/>
              </p:ext>
            </p:extLst>
          </p:nvPr>
        </p:nvGraphicFramePr>
        <p:xfrm>
          <a:off x="2361217" y="4594690"/>
          <a:ext cx="18838424" cy="29508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09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012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Algorithm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Time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Space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12121"/>
                          </a:solidFill>
                        </a:rPr>
                        <a:t>Notes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Naive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O(nm)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O(1</a:t>
                      </a:r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)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Simple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KMP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</a:t>
                      </a:r>
                      <a:r>
                        <a:rPr lang="en-US" sz="3200" dirty="0" err="1">
                          <a:solidFill>
                            <a:srgbClr val="212121"/>
                          </a:solidFill>
                        </a:rPr>
                        <a:t>n+m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O(m</a:t>
                      </a:r>
                      <a:r>
                        <a:rPr lang="el-GR" sz="3200" dirty="0">
                          <a:solidFill>
                            <a:srgbClr val="212121"/>
                          </a:solidFill>
                        </a:rPr>
                        <a:t>)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Deterministic, optimal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012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Rabin-Karp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</a:t>
                      </a:r>
                      <a:r>
                        <a:rPr lang="en-US" sz="3200" dirty="0" err="1">
                          <a:solidFill>
                            <a:srgbClr val="212121"/>
                          </a:solidFill>
                        </a:rPr>
                        <a:t>n+m</a:t>
                      </a:r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) expected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O(1)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212121"/>
                          </a:solidFill>
                        </a:rPr>
                        <a:t>Randomized;</a:t>
                      </a:r>
                      <a:r>
                        <a:rPr lang="en-US" sz="3200" baseline="0" dirty="0">
                          <a:solidFill>
                            <a:srgbClr val="212121"/>
                          </a:solidFill>
                        </a:rPr>
                        <a:t> good for multiple patterns</a:t>
                      </a:r>
                      <a:endParaRPr lang="en-US" sz="3200" dirty="0">
                        <a:solidFill>
                          <a:srgbClr val="212121"/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20619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F59E-6C10-26BA-27A0-1423B4F1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98D-7EA0-5DC1-DF0F-6EB658CC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Problem Identification Practice (</a:t>
            </a:r>
            <a:r>
              <a:rPr lang="en-ID" dirty="0" err="1"/>
              <a:t>Skiena</a:t>
            </a:r>
            <a:r>
              <a:rPr lang="en-ID" dirty="0"/>
              <a:t> </a:t>
            </a:r>
            <a:r>
              <a:rPr lang="en-ID" dirty="0" err="1"/>
              <a:t>Catalog</a:t>
            </a:r>
            <a:r>
              <a:rPr lang="en-ID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1527-AD6A-0C83-6E71-49C94CE391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75000"/>
            <a:ext cx="19032265" cy="9448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D" dirty="0"/>
              <a:t>For each problem description, identify the algorithmic category and recommended approach:</a:t>
            </a:r>
          </a:p>
          <a:p>
            <a:pPr marL="0" indent="0" algn="just">
              <a:buNone/>
            </a:pPr>
            <a:r>
              <a:rPr lang="en-ID" b="1" dirty="0"/>
              <a:t>Problem A:</a:t>
            </a:r>
            <a:r>
              <a:rPr lang="en-ID" dirty="0"/>
              <a:t> Given a list of tasks with start and end times, find the largest number of non-overlapping tasks. → </a:t>
            </a:r>
            <a:r>
              <a:rPr lang="en-ID" b="1" dirty="0"/>
              <a:t>Activity-selection</a:t>
            </a:r>
            <a:r>
              <a:rPr lang="en-ID" dirty="0"/>
              <a:t> (interval scheduling). Algorithm: Greedy (EFT). O(n log n).</a:t>
            </a:r>
          </a:p>
          <a:p>
            <a:pPr marL="0" indent="0" algn="just">
              <a:buNone/>
            </a:pPr>
            <a:r>
              <a:rPr lang="en-ID" b="1" dirty="0"/>
              <a:t>Problem B:</a:t>
            </a:r>
            <a:r>
              <a:rPr lang="en-ID" dirty="0"/>
              <a:t> You have a network of computers; find the minimum-cost set of connections that keeps all computers connected. → </a:t>
            </a:r>
            <a:r>
              <a:rPr lang="en-ID" b="1" dirty="0"/>
              <a:t>Minimum Spanning Tree</a:t>
            </a:r>
            <a:r>
              <a:rPr lang="en-ID" dirty="0"/>
              <a:t>. Algorithm: Kruskal's or Prim's. O(E log V).</a:t>
            </a:r>
          </a:p>
          <a:p>
            <a:pPr marL="0" indent="0" algn="just">
              <a:buNone/>
            </a:pPr>
            <a:r>
              <a:rPr lang="en-ID" b="1" dirty="0"/>
              <a:t>Problem C:</a:t>
            </a:r>
            <a:r>
              <a:rPr lang="en-ID" dirty="0"/>
              <a:t> A router receives a DNA string of length n and must check whether a known virus sequence of length m appears in it. → </a:t>
            </a:r>
            <a:r>
              <a:rPr lang="en-ID" b="1" dirty="0"/>
              <a:t>String matching</a:t>
            </a:r>
            <a:r>
              <a:rPr lang="en-ID" dirty="0"/>
              <a:t>. Algorithm: KMP for guaranteed O(</a:t>
            </a:r>
            <a:r>
              <a:rPr lang="en-ID" dirty="0" err="1"/>
              <a:t>n+m</a:t>
            </a:r>
            <a:r>
              <a:rPr lang="en-ID" dirty="0"/>
              <a:t>); Rabin-Karp for multiple virus patterns.</a:t>
            </a:r>
          </a:p>
        </p:txBody>
      </p:sp>
    </p:spTree>
    <p:extLst>
      <p:ext uri="{BB962C8B-B14F-4D97-AF65-F5344CB8AC3E}">
        <p14:creationId xmlns:p14="http://schemas.microsoft.com/office/powerpoint/2010/main" val="59354031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84A5A-A76A-0EFD-E68A-319B6759B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7767A-7EBA-9E6C-DDBF-7EBAB99C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Problem Identification Practice (</a:t>
            </a:r>
            <a:r>
              <a:rPr lang="en-ID" dirty="0" err="1"/>
              <a:t>Skiena</a:t>
            </a:r>
            <a:r>
              <a:rPr lang="en-ID" dirty="0"/>
              <a:t> </a:t>
            </a:r>
            <a:r>
              <a:rPr lang="en-ID" dirty="0" err="1"/>
              <a:t>Catalog</a:t>
            </a:r>
            <a:r>
              <a:rPr lang="en-ID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14C4F-FAE1-54FE-450C-9BFF99A260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75000"/>
            <a:ext cx="19032265" cy="9448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/>
              <a:t>For each problem description, identify the algorithmic category and recommended approach:</a:t>
            </a:r>
          </a:p>
          <a:p>
            <a:pPr marL="0" indent="0" algn="just">
              <a:buNone/>
            </a:pPr>
            <a:r>
              <a:rPr lang="en-ID" b="1" dirty="0"/>
              <a:t>Problem D:</a:t>
            </a:r>
            <a:r>
              <a:rPr lang="en-ID" dirty="0"/>
              <a:t> A map shows n cities with road distances. Find the shortest route from city A to all other cities. → </a:t>
            </a:r>
            <a:r>
              <a:rPr lang="en-ID" b="1" dirty="0"/>
              <a:t>Single-source shortest path</a:t>
            </a:r>
            <a:r>
              <a:rPr lang="en-ID" dirty="0"/>
              <a:t> (non-negative weights). Algorithm: Dijkstra's. O(E log V).</a:t>
            </a:r>
          </a:p>
          <a:p>
            <a:pPr marL="0" indent="0" algn="just">
              <a:buNone/>
            </a:pPr>
            <a:r>
              <a:rPr lang="en-ID" b="1" dirty="0"/>
              <a:t>Problem E:</a:t>
            </a:r>
            <a:r>
              <a:rPr lang="en-ID" dirty="0"/>
              <a:t> Given a large array of n items, find the median as fast as possible. → </a:t>
            </a:r>
            <a:r>
              <a:rPr lang="en-ID" b="1" dirty="0"/>
              <a:t>Order statistics / selection</a:t>
            </a:r>
            <a:r>
              <a:rPr lang="en-ID" dirty="0"/>
              <a:t>. Algorithm: Randomized SELECT in O(n) expected.</a:t>
            </a:r>
          </a:p>
          <a:p>
            <a:pPr marL="0" indent="0" algn="just">
              <a:buNone/>
            </a:pPr>
            <a:r>
              <a:rPr lang="en-ID" b="1" dirty="0"/>
              <a:t>Problem F:</a:t>
            </a:r>
            <a:r>
              <a:rPr lang="en-ID" dirty="0"/>
              <a:t> You have a set of files; sort them by modification date. → </a:t>
            </a:r>
            <a:r>
              <a:rPr lang="en-ID" b="1" dirty="0"/>
              <a:t>Sorting</a:t>
            </a:r>
            <a:r>
              <a:rPr lang="en-ID" dirty="0"/>
              <a:t>. Algorithm: Merge Sort or Quicksort, O(n log n).</a:t>
            </a:r>
          </a:p>
        </p:txBody>
      </p:sp>
    </p:spTree>
    <p:extLst>
      <p:ext uri="{BB962C8B-B14F-4D97-AF65-F5344CB8AC3E}">
        <p14:creationId xmlns:p14="http://schemas.microsoft.com/office/powerpoint/2010/main" val="289649327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F59E-6C10-26BA-27A0-1423B4F1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98D-7EA0-5DC1-DF0F-6EB658CC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Mid-Term Exam Scope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1527-AD6A-0C83-6E71-49C94CE391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870200"/>
            <a:ext cx="19032265" cy="9448800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Topics guaranteed to appear:</a:t>
            </a:r>
          </a:p>
          <a:p>
            <a:pPr marL="673100" indent="-571500" algn="just"/>
            <a:r>
              <a:rPr lang="en-US" dirty="0"/>
              <a:t>Asymptotic notation: proof from definition, limit method, growth hierarchy.</a:t>
            </a:r>
          </a:p>
          <a:p>
            <a:pPr marL="673100" indent="-571500" algn="just"/>
            <a:r>
              <a:rPr lang="en-US" dirty="0"/>
              <a:t>Recurrences: Master Theorem application + substitution method.</a:t>
            </a:r>
          </a:p>
          <a:p>
            <a:pPr marL="673100" indent="-571500" algn="just"/>
            <a:r>
              <a:rPr lang="en-US" dirty="0"/>
              <a:t>Algorithm correctness: loop invariant proof.</a:t>
            </a:r>
          </a:p>
          <a:p>
            <a:pPr marL="673100" indent="-571500" algn="just"/>
            <a:r>
              <a:rPr lang="en-US" dirty="0"/>
              <a:t>Insertion Sort analysis (best/worst/average).</a:t>
            </a:r>
          </a:p>
          <a:p>
            <a:pPr marL="673100" indent="-571500" algn="just"/>
            <a:r>
              <a:rPr lang="en-US" dirty="0"/>
              <a:t>Divide-and-conquer: Merge Sort recurrence + trace.</a:t>
            </a:r>
          </a:p>
          <a:p>
            <a:pPr marL="673100" indent="-571500" algn="just"/>
            <a:r>
              <a:rPr lang="en-US" dirty="0"/>
              <a:t>Greedy correctness: exchange argument for activity-selection.</a:t>
            </a:r>
          </a:p>
          <a:p>
            <a:pPr marL="673100" indent="-571500" algn="just"/>
            <a:r>
              <a:rPr lang="en-US" dirty="0"/>
              <a:t>Amortized analysis: aggregate method.</a:t>
            </a:r>
          </a:p>
        </p:txBody>
      </p:sp>
    </p:spTree>
    <p:extLst>
      <p:ext uri="{BB962C8B-B14F-4D97-AF65-F5344CB8AC3E}">
        <p14:creationId xmlns:p14="http://schemas.microsoft.com/office/powerpoint/2010/main" val="182346672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F59E-6C10-26BA-27A0-1423B4F1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98D-7EA0-5DC1-DF0F-6EB658CC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Mid-Term Exam Scope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1527-AD6A-0C83-6E71-49C94CE391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870200"/>
            <a:ext cx="19032265" cy="9448800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Topics tested at application level:</a:t>
            </a:r>
          </a:p>
          <a:p>
            <a:pPr marL="673100" indent="-571500" algn="just"/>
            <a:r>
              <a:rPr lang="en-US" dirty="0"/>
              <a:t>Applying KMP failure function.</a:t>
            </a:r>
          </a:p>
          <a:p>
            <a:pPr marL="673100" indent="-571500" algn="just"/>
            <a:r>
              <a:rPr lang="en-US" dirty="0"/>
              <a:t>Running </a:t>
            </a:r>
            <a:r>
              <a:rPr lang="en-US" dirty="0" err="1"/>
              <a:t>Kruskal's</a:t>
            </a:r>
            <a:r>
              <a:rPr lang="en-US" dirty="0"/>
              <a:t> / Prim's / </a:t>
            </a:r>
            <a:r>
              <a:rPr lang="en-US" dirty="0" err="1"/>
              <a:t>Dijkstra's</a:t>
            </a:r>
            <a:r>
              <a:rPr lang="en-US" dirty="0"/>
              <a:t> on a given graph.</a:t>
            </a:r>
          </a:p>
          <a:p>
            <a:pPr marL="673100" indent="-571500" algn="just"/>
            <a:r>
              <a:rPr lang="en-US" dirty="0"/>
              <a:t>Identifying problem categories and recommending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282354993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F59E-6C10-26BA-27A0-1423B4F1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98D-7EA0-5DC1-DF0F-6EB658CC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1527-AD6A-0C83-6E71-49C94CE391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5800"/>
            <a:ext cx="19032265" cy="9093200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All references from Sessions 01–13 apply. Key chapters for review:</a:t>
            </a:r>
          </a:p>
          <a:p>
            <a:pPr marL="101600" indent="0" algn="just">
              <a:buNone/>
            </a:pPr>
            <a:r>
              <a:rPr lang="en-US" b="1" dirty="0"/>
              <a:t>CLRS 4th Ed.:</a:t>
            </a:r>
          </a:p>
          <a:p>
            <a:pPr marL="673100" indent="-571500" algn="just"/>
            <a:r>
              <a:rPr lang="en-US" dirty="0"/>
              <a:t>Ch. 1–4 (foundations, asymptotic notation, recurrences)</a:t>
            </a:r>
          </a:p>
          <a:p>
            <a:pPr marL="673100" indent="-571500" algn="just"/>
            <a:r>
              <a:rPr lang="en-US" dirty="0"/>
              <a:t>Ch. 2 (insertion sort, correctness, analysis)</a:t>
            </a:r>
          </a:p>
          <a:p>
            <a:pPr marL="673100" indent="-571500" algn="just"/>
            <a:r>
              <a:rPr lang="en-US" dirty="0"/>
              <a:t>Ch. 15 (greedy: activity selection, Huffman)</a:t>
            </a:r>
          </a:p>
          <a:p>
            <a:pPr marL="673100" indent="-571500" algn="just"/>
            <a:r>
              <a:rPr lang="en-US" dirty="0"/>
              <a:t>Ch. 21–22 (graph algorithms: MST, SSSP)</a:t>
            </a:r>
          </a:p>
          <a:p>
            <a:pPr marL="673100" indent="-571500" algn="just"/>
            <a:r>
              <a:rPr lang="en-US" dirty="0"/>
              <a:t>Ch. 32 (string matching)</a:t>
            </a:r>
          </a:p>
        </p:txBody>
      </p:sp>
    </p:spTree>
    <p:extLst>
      <p:ext uri="{BB962C8B-B14F-4D97-AF65-F5344CB8AC3E}">
        <p14:creationId xmlns:p14="http://schemas.microsoft.com/office/powerpoint/2010/main" val="308560607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F59E-6C10-26BA-27A0-1423B4F1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98D-7EA0-5DC1-DF0F-6EB658CC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1527-AD6A-0C83-6E71-49C94CE391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5800"/>
            <a:ext cx="19032265" cy="9093200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All references from Sessions 01–13 apply. Key chapters for review:</a:t>
            </a:r>
          </a:p>
          <a:p>
            <a:pPr marL="101600" indent="0" algn="just">
              <a:buNone/>
            </a:pPr>
            <a:r>
              <a:rPr lang="en-US" b="1" dirty="0" err="1"/>
              <a:t>Skiena</a:t>
            </a:r>
            <a:r>
              <a:rPr lang="en-US" b="1" dirty="0"/>
              <a:t> ADM 3rd Ed.:</a:t>
            </a:r>
          </a:p>
          <a:p>
            <a:pPr marL="673100" indent="-571500" algn="just"/>
            <a:r>
              <a:rPr lang="en-US" dirty="0"/>
              <a:t>Ch. 1–2 (algorithms, analysis)</a:t>
            </a:r>
          </a:p>
          <a:p>
            <a:pPr marL="673100" indent="-571500" algn="just"/>
            <a:r>
              <a:rPr lang="en-US" dirty="0"/>
              <a:t>Ch. 5 (D&amp;C and sorting)</a:t>
            </a:r>
          </a:p>
          <a:p>
            <a:pPr marL="673100" indent="-571500" algn="just"/>
            <a:r>
              <a:rPr lang="en-US" dirty="0"/>
              <a:t>Ch. 7–8 (graph algorithms)</a:t>
            </a:r>
          </a:p>
          <a:p>
            <a:pPr marL="673100" indent="-571500" algn="just"/>
            <a:r>
              <a:rPr lang="en-US" dirty="0"/>
              <a:t>Ch. 21 (string algorithms)</a:t>
            </a:r>
          </a:p>
        </p:txBody>
      </p:sp>
    </p:spTree>
    <p:extLst>
      <p:ext uri="{BB962C8B-B14F-4D97-AF65-F5344CB8AC3E}">
        <p14:creationId xmlns:p14="http://schemas.microsoft.com/office/powerpoint/2010/main" val="349496681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5215</TotalTime>
  <Words>1737</Words>
  <Application>Microsoft Macintosh PowerPoint</Application>
  <PresentationFormat>Custom</PresentationFormat>
  <Paragraphs>223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OCRB</vt:lpstr>
      <vt:lpstr>Open Sans Light</vt:lpstr>
      <vt:lpstr>Open Sans Semibold</vt:lpstr>
      <vt:lpstr>Open Sans</vt:lpstr>
      <vt:lpstr>Courier New</vt:lpstr>
      <vt:lpstr>Open Sans ExtraBold</vt:lpstr>
      <vt:lpstr>21_BasicWhite</vt:lpstr>
      <vt:lpstr>Review I</vt:lpstr>
      <vt:lpstr>Learning Outcomes</vt:lpstr>
      <vt:lpstr>Learning Outcomes</vt:lpstr>
      <vt:lpstr>Outline</vt:lpstr>
      <vt:lpstr>Correctness proofs — Summary</vt:lpstr>
      <vt:lpstr>Correctness proofs — Summary</vt:lpstr>
      <vt:lpstr>Correctness proofs — Summary</vt:lpstr>
      <vt:lpstr>Correctness proofs — Summary</vt:lpstr>
      <vt:lpstr>Complexity analysis — Summary</vt:lpstr>
      <vt:lpstr>Complexity analysis — Summary</vt:lpstr>
      <vt:lpstr>Complexity analysis — Summary</vt:lpstr>
      <vt:lpstr>Algorithm paradigms — Summary</vt:lpstr>
      <vt:lpstr>Algorithm paradigms — Summary</vt:lpstr>
      <vt:lpstr>Randomization, Hashing, String Matching</vt:lpstr>
      <vt:lpstr>Randomization, Hashing, String Matching</vt:lpstr>
      <vt:lpstr>Randomization, Hashing, String Matching</vt:lpstr>
      <vt:lpstr>Problem Identification Practice (Skiena Catalog)</vt:lpstr>
      <vt:lpstr>Problem Identification Practice (Skiena Catalog)</vt:lpstr>
      <vt:lpstr>Mid-Term Exam Scope Summary</vt:lpstr>
      <vt:lpstr>Mid-Term Exam Scope Summary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Nikita Ananda Putri Masaling</cp:lastModifiedBy>
  <cp:revision>106</cp:revision>
  <dcterms:created xsi:type="dcterms:W3CDTF">2023-11-17T02:51:40Z</dcterms:created>
  <dcterms:modified xsi:type="dcterms:W3CDTF">2026-06-22T15:29:10Z</dcterms:modified>
</cp:coreProperties>
</file>