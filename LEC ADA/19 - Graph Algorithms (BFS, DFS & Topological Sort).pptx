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A69E96-667A-0E43-ADDF-F46A7B34EC40}" v="5" dt="2026-06-29T07:34:20.86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95643"/>
  </p:normalViewPr>
  <p:slideViewPr>
    <p:cSldViewPr snapToGrid="0" snapToObjects="1">
      <p:cViewPr varScale="1">
        <p:scale>
          <a:sx n="55" d="100"/>
          <a:sy n="55" d="100"/>
        </p:scale>
        <p:origin x="280" y="2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pc:chgData name="HENRY LUCKY" userId="9f9f0d3b-fafb-4a1f-811e-e1ce60336648" providerId="ADAL" clId="{87B23BC5-493B-58B6-9C8D-8C75A953FAD3}" dt="2026-06-29T07:34:20.860" v="41"/>
      <pc:docMkLst>
        <pc:docMk/>
      </pc:docMkLst>
      <pc:sldChg chg="modSp mod">
        <pc:chgData name="HENRY LUCKY" userId="9f9f0d3b-fafb-4a1f-811e-e1ce60336648" providerId="ADAL" clId="{87B23BC5-493B-58B6-9C8D-8C75A953FAD3}" dt="2026-06-29T07:32:36.439" v="2" actId="20577"/>
        <pc:sldMkLst>
          <pc:docMk/>
          <pc:sldMk cId="3807564589" sldId="256"/>
        </pc:sldMkLst>
        <pc:spChg chg="mod">
          <ac:chgData name="HENRY LUCKY" userId="9f9f0d3b-fafb-4a1f-811e-e1ce60336648" providerId="ADAL" clId="{87B23BC5-493B-58B6-9C8D-8C75A953FAD3}" dt="2026-06-29T07:32:36.439" v="2" actId="20577"/>
          <ac:spMkLst>
            <pc:docMk/>
            <pc:sldMk cId="3807564589" sldId="256"/>
            <ac:spMk id="2" creationId="{50F9371B-F92F-AED8-457A-F4BAE6779B8C}"/>
          </ac:spMkLst>
        </pc:spChg>
        <pc:spChg chg="mod">
          <ac:chgData name="HENRY LUCKY" userId="9f9f0d3b-fafb-4a1f-811e-e1ce60336648" providerId="ADAL" clId="{87B23BC5-493B-58B6-9C8D-8C75A953FAD3}" dt="2026-06-29T07:32:31.897" v="0"/>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33:46.579" v="20" actId="20577"/>
        <pc:sldMkLst>
          <pc:docMk/>
          <pc:sldMk cId="2766454393" sldId="257"/>
        </pc:sldMkLst>
        <pc:spChg chg="mod">
          <ac:chgData name="HENRY LUCKY" userId="9f9f0d3b-fafb-4a1f-811e-e1ce60336648" providerId="ADAL" clId="{87B23BC5-493B-58B6-9C8D-8C75A953FAD3}" dt="2026-06-29T07:33:46.579" v="20" actId="20577"/>
          <ac:spMkLst>
            <pc:docMk/>
            <pc:sldMk cId="2766454393" sldId="257"/>
            <ac:spMk id="3" creationId="{0002D373-5BC5-C51D-92C2-C090C3857861}"/>
          </ac:spMkLst>
        </pc:spChg>
        <pc:spChg chg="mod">
          <ac:chgData name="HENRY LUCKY" userId="9f9f0d3b-fafb-4a1f-811e-e1ce60336648" providerId="ADAL" clId="{87B23BC5-493B-58B6-9C8D-8C75A953FAD3}" dt="2026-06-29T07:33:02.341" v="14" actId="14100"/>
          <ac:spMkLst>
            <pc:docMk/>
            <pc:sldMk cId="2766454393" sldId="257"/>
            <ac:spMk id="4" creationId="{72B426B6-A02E-F758-7A2B-554FFF354A1A}"/>
          </ac:spMkLst>
        </pc:spChg>
      </pc:sldChg>
      <pc:sldChg chg="modSp mod">
        <pc:chgData name="HENRY LUCKY" userId="9f9f0d3b-fafb-4a1f-811e-e1ce60336648" providerId="ADAL" clId="{87B23BC5-493B-58B6-9C8D-8C75A953FAD3}" dt="2026-06-29T07:34:20.860" v="41"/>
        <pc:sldMkLst>
          <pc:docMk/>
          <pc:sldMk cId="1889462471" sldId="258"/>
        </pc:sldMkLst>
        <pc:spChg chg="mod">
          <ac:chgData name="HENRY LUCKY" userId="9f9f0d3b-fafb-4a1f-811e-e1ce60336648" providerId="ADAL" clId="{87B23BC5-493B-58B6-9C8D-8C75A953FAD3}" dt="2026-06-29T07:34:13.761" v="40" actId="20577"/>
          <ac:spMkLst>
            <pc:docMk/>
            <pc:sldMk cId="1889462471" sldId="258"/>
            <ac:spMk id="3" creationId="{0002D373-5BC5-C51D-92C2-C090C3857861}"/>
          </ac:spMkLst>
        </pc:spChg>
        <pc:spChg chg="mod">
          <ac:chgData name="HENRY LUCKY" userId="9f9f0d3b-fafb-4a1f-811e-e1ce60336648" providerId="ADAL" clId="{87B23BC5-493B-58B6-9C8D-8C75A953FAD3}" dt="2026-06-29T07:34:20.860" v="41"/>
          <ac:spMkLst>
            <pc:docMk/>
            <pc:sldMk cId="1889462471" sldId="258"/>
            <ac:spMk id="4" creationId="{72B426B6-A02E-F758-7A2B-554FFF354A1A}"/>
          </ac:spMkLst>
        </pc:spChg>
      </pc:sldChg>
      <pc:sldChg chg="modSp add mod">
        <pc:chgData name="HENRY LUCKY" userId="9f9f0d3b-fafb-4a1f-811e-e1ce60336648" providerId="ADAL" clId="{87B23BC5-493B-58B6-9C8D-8C75A953FAD3}" dt="2026-06-29T07:34:04.320" v="37" actId="20577"/>
        <pc:sldMkLst>
          <pc:docMk/>
          <pc:sldMk cId="495832693" sldId="308"/>
        </pc:sldMkLst>
        <pc:spChg chg="mod">
          <ac:chgData name="HENRY LUCKY" userId="9f9f0d3b-fafb-4a1f-811e-e1ce60336648" providerId="ADAL" clId="{87B23BC5-493B-58B6-9C8D-8C75A953FAD3}" dt="2026-06-29T07:33:49.922" v="23" actId="20577"/>
          <ac:spMkLst>
            <pc:docMk/>
            <pc:sldMk cId="495832693" sldId="308"/>
            <ac:spMk id="3" creationId="{DD8FA49D-53B7-6726-6155-CBDB3AFA6111}"/>
          </ac:spMkLst>
        </pc:spChg>
        <pc:spChg chg="mod">
          <ac:chgData name="HENRY LUCKY" userId="9f9f0d3b-fafb-4a1f-811e-e1ce60336648" providerId="ADAL" clId="{87B23BC5-493B-58B6-9C8D-8C75A953FAD3}" dt="2026-06-29T07:34:04.320" v="37" actId="20577"/>
          <ac:spMkLst>
            <pc:docMk/>
            <pc:sldMk cId="495832693" sldId="308"/>
            <ac:spMk id="4" creationId="{8C304009-F150-EF1A-8770-F79958EE68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6182F-3CD9-947C-BAFC-CA9A2755A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94C93-FEC4-B5A3-61E1-77EBD25B65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02C3A22-B116-BB09-4211-3F964357C8F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1005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19</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ID" b="1" dirty="0"/>
              <a:t>Graph Algorithms: BFS, DFS &amp; Topological Sort</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19</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167376" y="3714223"/>
            <a:ext cx="20622285" cy="9509407"/>
          </a:xfrm>
        </p:spPr>
        <p:txBody>
          <a:bodyPr>
            <a:normAutofit/>
          </a:bodyPr>
          <a:lstStyle/>
          <a:p>
            <a:pPr marL="0" indent="0">
              <a:buNone/>
            </a:pPr>
            <a:r>
              <a:rPr lang="en-ID" dirty="0"/>
              <a:t>This session addresses </a:t>
            </a:r>
            <a:r>
              <a:rPr lang="en-ID" b="1" dirty="0"/>
              <a:t>LO 1</a:t>
            </a:r>
            <a:r>
              <a:rPr lang="en-ID" dirty="0"/>
              <a:t>, </a:t>
            </a:r>
            <a:r>
              <a:rPr lang="en-ID" b="1" dirty="0"/>
              <a:t>LO 2</a:t>
            </a:r>
            <a:r>
              <a:rPr lang="en-ID" dirty="0"/>
              <a:t>, and </a:t>
            </a:r>
            <a:r>
              <a:rPr lang="en-ID" b="1" dirty="0"/>
              <a:t>LO 3</a:t>
            </a:r>
            <a:r>
              <a:rPr lang="en-ID" dirty="0"/>
              <a:t>.</a:t>
            </a:r>
          </a:p>
          <a:p>
            <a:r>
              <a:rPr lang="en-ID" b="1" dirty="0"/>
              <a:t>LO 1:</a:t>
            </a:r>
            <a:r>
              <a:rPr lang="en-ID" dirty="0"/>
              <a:t> Evaluate the time and space complexity of algorithms using asymptotic notation and formal analysis methods, and prove algorithm correctness using loop invariants, induction, or exchange arguments.</a:t>
            </a:r>
          </a:p>
          <a:p>
            <a:r>
              <a:rPr lang="en-ID" b="1" dirty="0"/>
              <a:t>LO 2:</a:t>
            </a:r>
            <a:r>
              <a:rPr lang="en-ID" dirty="0"/>
              <a:t> </a:t>
            </a:r>
            <a:r>
              <a:rPr lang="en-ID" dirty="0" err="1"/>
              <a:t>Analyze</a:t>
            </a:r>
            <a:r>
              <a:rPr lang="en-ID" dirty="0"/>
              <a:t> unfamiliar computational problems by identifying their structural properties, classifying them into known algorithmic categories including graph, string, and combinatorial problems and recommending a solution strategy with justification.</a:t>
            </a:r>
          </a:p>
          <a:p>
            <a:r>
              <a:rPr lang="en-ID" b="1" dirty="0"/>
              <a:t>LO 3:</a:t>
            </a:r>
            <a:r>
              <a:rPr lang="en-ID" dirty="0"/>
              <a:t> Design solutions to unfamiliar computational problems by selecting and applying appropriate strategies including Divide and Conquer, Greedy, Dynamic Programming, and Backtracking.</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27321-AA1B-B752-2B49-66FF87E33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BA728-A139-904F-F6E4-15A360085D01}"/>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DD8FA49D-53B7-6726-6155-CBDB3AFA6111}"/>
              </a:ext>
            </a:extLst>
          </p:cNvPr>
          <p:cNvSpPr>
            <a:spLocks noGrp="1"/>
          </p:cNvSpPr>
          <p:nvPr>
            <p:ph type="body" sz="quarter" idx="10"/>
          </p:nvPr>
        </p:nvSpPr>
        <p:spPr/>
        <p:txBody>
          <a:bodyPr/>
          <a:lstStyle/>
          <a:p>
            <a:r>
              <a:rPr lang="en-ID" dirty="0"/>
              <a:t>Session 19</a:t>
            </a:r>
          </a:p>
        </p:txBody>
      </p:sp>
      <p:sp>
        <p:nvSpPr>
          <p:cNvPr id="4" name="Content Placeholder 3">
            <a:extLst>
              <a:ext uri="{FF2B5EF4-FFF2-40B4-BE49-F238E27FC236}">
                <a16:creationId xmlns:a16="http://schemas.microsoft.com/office/drawing/2014/main" id="{8C304009-F150-EF1A-8770-F79958EE68DF}"/>
              </a:ext>
            </a:extLst>
          </p:cNvPr>
          <p:cNvSpPr>
            <a:spLocks noGrp="1"/>
          </p:cNvSpPr>
          <p:nvPr>
            <p:ph sz="quarter" idx="11"/>
          </p:nvPr>
        </p:nvSpPr>
        <p:spPr>
          <a:xfrm>
            <a:off x="2167376" y="3714223"/>
            <a:ext cx="20622285" cy="9509407"/>
          </a:xfrm>
        </p:spPr>
        <p:txBody>
          <a:bodyPr>
            <a:normAutofit/>
          </a:bodyPr>
          <a:lstStyle/>
          <a:p>
            <a:pPr marL="0" indent="0">
              <a:buNone/>
            </a:pPr>
            <a:r>
              <a:rPr lang="en-ID" dirty="0"/>
              <a:t>By the end of this session, students will be able to:</a:t>
            </a:r>
          </a:p>
          <a:p>
            <a:r>
              <a:rPr lang="en-ID" dirty="0"/>
              <a:t>LO 1 - </a:t>
            </a:r>
            <a:r>
              <a:rPr lang="en-ID" dirty="0" err="1"/>
              <a:t>Analyze</a:t>
            </a:r>
            <a:r>
              <a:rPr lang="en-ID" dirty="0"/>
              <a:t> BFS and DFS at O(V+E); apply the Parenthesis Theorem to DFS discovery/finish intervals; evaluate edge classification (tree, back, forward, cross) and its implications for cycle detection.</a:t>
            </a:r>
          </a:p>
          <a:p>
            <a:r>
              <a:rPr lang="en-ID" dirty="0"/>
              <a:t>LO 2 - Classify graph problems (unweighted shortest path, topological ordering, SCC, cycle detection) and select among BFS, DFS, Kahn's, and Kosaraju's algorithms based on problem type and graph properties.</a:t>
            </a:r>
          </a:p>
          <a:p>
            <a:r>
              <a:rPr lang="en-ID" dirty="0"/>
              <a:t>LO 3 - Design BFS-based unweighted SSSP, DFS-based topological sort, DAG-SSSP with topological-order relaxation, and Kosaraju's SCC (two DFS passes on G and Gᵀ).</a:t>
            </a:r>
          </a:p>
        </p:txBody>
      </p:sp>
    </p:spTree>
    <p:extLst>
      <p:ext uri="{BB962C8B-B14F-4D97-AF65-F5344CB8AC3E}">
        <p14:creationId xmlns:p14="http://schemas.microsoft.com/office/powerpoint/2010/main" val="49583269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19</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BFS — Shortest Path in Unweighted Graphs, Layered Traversal</a:t>
            </a:r>
          </a:p>
          <a:p>
            <a:r>
              <a:rPr lang="en-ID" dirty="0"/>
              <a:t>DFS — Discovery/Finish Times, Edge Classification</a:t>
            </a:r>
          </a:p>
          <a:p>
            <a:r>
              <a:rPr lang="en-ID" dirty="0"/>
              <a:t>Topological Sort — DFS-Based</a:t>
            </a:r>
          </a:p>
          <a:p>
            <a:r>
              <a:rPr lang="en-ID" dirty="0"/>
              <a:t>DAG Applications — Scheduling, Dependency Resolution</a:t>
            </a:r>
          </a:p>
          <a:p>
            <a:r>
              <a:rPr lang="en-ID" dirty="0"/>
              <a:t>Connected Components</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4377</TotalTime>
  <Words>2499</Words>
  <Application>Microsoft Macintosh PowerPoint</Application>
  <PresentationFormat>Custom</PresentationFormat>
  <Paragraphs>213</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Graph Algorithms: BFS, DFS &amp; Topological Sort</vt:lpstr>
      <vt:lpstr>Learning Outcomes</vt:lpstr>
      <vt:lpstr>Learning Outcomes</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2026-06-29T07:34:24Z</dcterms:modified>
</cp:coreProperties>
</file>