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6"/>
  </p:notesMasterIdLst>
  <p:sldIdLst>
    <p:sldId id="256" r:id="rId2"/>
    <p:sldId id="257" r:id="rId3"/>
    <p:sldId id="308" r:id="rId4"/>
    <p:sldId id="258" r:id="rId5"/>
    <p:sldId id="259" r:id="rId6"/>
    <p:sldId id="279" r:id="rId7"/>
    <p:sldId id="280" r:id="rId8"/>
    <p:sldId id="281" r:id="rId9"/>
    <p:sldId id="282" r:id="rId10"/>
    <p:sldId id="283" r:id="rId11"/>
    <p:sldId id="298" r:id="rId12"/>
    <p:sldId id="299" r:id="rId13"/>
    <p:sldId id="300" r:id="rId14"/>
    <p:sldId id="301" r:id="rId15"/>
    <p:sldId id="284" r:id="rId16"/>
    <p:sldId id="286" r:id="rId17"/>
    <p:sldId id="287" r:id="rId18"/>
    <p:sldId id="288" r:id="rId19"/>
    <p:sldId id="289" r:id="rId20"/>
    <p:sldId id="290" r:id="rId21"/>
    <p:sldId id="291" r:id="rId22"/>
    <p:sldId id="292" r:id="rId23"/>
    <p:sldId id="293" r:id="rId24"/>
    <p:sldId id="294" r:id="rId25"/>
    <p:sldId id="295" r:id="rId26"/>
    <p:sldId id="296" r:id="rId27"/>
    <p:sldId id="303" r:id="rId28"/>
    <p:sldId id="297" r:id="rId29"/>
    <p:sldId id="304" r:id="rId30"/>
    <p:sldId id="305" r:id="rId31"/>
    <p:sldId id="307" r:id="rId32"/>
    <p:sldId id="302" r:id="rId33"/>
    <p:sldId id="306" r:id="rId34"/>
    <p:sldId id="278" r:id="rId35"/>
  </p:sldIdLst>
  <p:sldSz cx="24384000" cy="13716000"/>
  <p:notesSz cx="6858000" cy="9144000"/>
  <p:embeddedFontLst>
    <p:embeddedFont>
      <p:font typeface="OCRB" panose="020B0609020202020204" pitchFamily="49" charset="77"/>
      <p:regular r:id="rId37"/>
    </p:embeddedFont>
    <p:embeddedFont>
      <p:font typeface="Open Sans" panose="020B0606030504020204" pitchFamily="34" charset="0"/>
      <p:regular r:id="rId38"/>
      <p:bold r:id="rId39"/>
      <p:italic r:id="rId40"/>
      <p:boldItalic r:id="rId41"/>
    </p:embeddedFont>
    <p:embeddedFont>
      <p:font typeface="Open Sans ExtraBold" panose="020B0906030804020204" pitchFamily="34" charset="0"/>
      <p:bold r:id="rId42"/>
      <p:italic r:id="rId43"/>
      <p:boldItalic r:id="rId44"/>
    </p:embeddedFont>
    <p:embeddedFont>
      <p:font typeface="Open Sans Light" panose="020B0306030504020204" pitchFamily="34" charset="0"/>
      <p:regular r:id="rId45"/>
      <p:italic r:id="rId46"/>
    </p:embeddedFont>
    <p:embeddedFont>
      <p:font typeface="Open Sans Semibold" panose="020B0706030804020204" pitchFamily="34" charset="0"/>
      <p:regular r:id="rId47"/>
      <p:bold r:id="rId48"/>
      <p:italic r:id="rId49"/>
      <p:boldItalic r:id="rId50"/>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6228D5-79E6-5848-AF29-6E7AEA747D6D}" v="5" dt="2026-06-29T07:40:18.466"/>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214" autoAdjust="0"/>
    <p:restoredTop sz="95643"/>
  </p:normalViewPr>
  <p:slideViewPr>
    <p:cSldViewPr snapToGrid="0" snapToObjects="1">
      <p:cViewPr varScale="1">
        <p:scale>
          <a:sx n="40" d="100"/>
          <a:sy n="40" d="100"/>
        </p:scale>
        <p:origin x="248" y="904"/>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RY LUCKY" userId="9f9f0d3b-fafb-4a1f-811e-e1ce60336648" providerId="ADAL" clId="{87B23BC5-493B-58B6-9C8D-8C75A953FAD3}"/>
    <pc:docChg chg="custSel addSld modSld sldOrd">
      <pc:chgData name="HENRY LUCKY" userId="9f9f0d3b-fafb-4a1f-811e-e1ce60336648" providerId="ADAL" clId="{87B23BC5-493B-58B6-9C8D-8C75A953FAD3}" dt="2026-06-29T07:40:27.557" v="75" actId="20577"/>
      <pc:docMkLst>
        <pc:docMk/>
      </pc:docMkLst>
      <pc:sldChg chg="modSp mod">
        <pc:chgData name="HENRY LUCKY" userId="9f9f0d3b-fafb-4a1f-811e-e1ce60336648" providerId="ADAL" clId="{87B23BC5-493B-58B6-9C8D-8C75A953FAD3}" dt="2026-06-29T07:39:23.229" v="41" actId="20577"/>
        <pc:sldMkLst>
          <pc:docMk/>
          <pc:sldMk cId="3807564589" sldId="256"/>
        </pc:sldMkLst>
        <pc:spChg chg="mod">
          <ac:chgData name="HENRY LUCKY" userId="9f9f0d3b-fafb-4a1f-811e-e1ce60336648" providerId="ADAL" clId="{87B23BC5-493B-58B6-9C8D-8C75A953FAD3}" dt="2026-06-29T07:39:23.229" v="41" actId="20577"/>
          <ac:spMkLst>
            <pc:docMk/>
            <pc:sldMk cId="3807564589" sldId="256"/>
            <ac:spMk id="2" creationId="{50F9371B-F92F-AED8-457A-F4BAE6779B8C}"/>
          </ac:spMkLst>
        </pc:spChg>
        <pc:spChg chg="mod">
          <ac:chgData name="HENRY LUCKY" userId="9f9f0d3b-fafb-4a1f-811e-e1ce60336648" providerId="ADAL" clId="{87B23BC5-493B-58B6-9C8D-8C75A953FAD3}" dt="2026-06-29T07:39:20.479" v="39" actId="20577"/>
          <ac:spMkLst>
            <pc:docMk/>
            <pc:sldMk cId="3807564589" sldId="256"/>
            <ac:spMk id="3" creationId="{05C0E2BF-BBBC-BF27-4255-C5149D193112}"/>
          </ac:spMkLst>
        </pc:spChg>
      </pc:sldChg>
      <pc:sldChg chg="modSp mod">
        <pc:chgData name="HENRY LUCKY" userId="9f9f0d3b-fafb-4a1f-811e-e1ce60336648" providerId="ADAL" clId="{87B23BC5-493B-58B6-9C8D-8C75A953FAD3}" dt="2026-06-29T07:39:07.539" v="24" actId="20577"/>
        <pc:sldMkLst>
          <pc:docMk/>
          <pc:sldMk cId="2766454393" sldId="257"/>
        </pc:sldMkLst>
        <pc:spChg chg="mod">
          <ac:chgData name="HENRY LUCKY" userId="9f9f0d3b-fafb-4a1f-811e-e1ce60336648" providerId="ADAL" clId="{87B23BC5-493B-58B6-9C8D-8C75A953FAD3}" dt="2026-06-29T07:39:07.539" v="24" actId="20577"/>
          <ac:spMkLst>
            <pc:docMk/>
            <pc:sldMk cId="2766454393" sldId="257"/>
            <ac:spMk id="3" creationId="{0002D373-5BC5-C51D-92C2-C090C3857861}"/>
          </ac:spMkLst>
        </pc:spChg>
        <pc:spChg chg="mod">
          <ac:chgData name="HENRY LUCKY" userId="9f9f0d3b-fafb-4a1f-811e-e1ce60336648" providerId="ADAL" clId="{87B23BC5-493B-58B6-9C8D-8C75A953FAD3}" dt="2026-06-29T07:38:18.588" v="6" actId="14100"/>
          <ac:spMkLst>
            <pc:docMk/>
            <pc:sldMk cId="2766454393" sldId="257"/>
            <ac:spMk id="4" creationId="{72B426B6-A02E-F758-7A2B-554FFF354A1A}"/>
          </ac:spMkLst>
        </pc:spChg>
      </pc:sldChg>
      <pc:sldChg chg="modSp mod ord">
        <pc:chgData name="HENRY LUCKY" userId="9f9f0d3b-fafb-4a1f-811e-e1ce60336648" providerId="ADAL" clId="{87B23BC5-493B-58B6-9C8D-8C75A953FAD3}" dt="2026-06-29T07:40:27.557" v="75" actId="20577"/>
        <pc:sldMkLst>
          <pc:docMk/>
          <pc:sldMk cId="1889462471" sldId="258"/>
        </pc:sldMkLst>
        <pc:spChg chg="mod">
          <ac:chgData name="HENRY LUCKY" userId="9f9f0d3b-fafb-4a1f-811e-e1ce60336648" providerId="ADAL" clId="{87B23BC5-493B-58B6-9C8D-8C75A953FAD3}" dt="2026-06-29T07:40:27.557" v="75" actId="20577"/>
          <ac:spMkLst>
            <pc:docMk/>
            <pc:sldMk cId="1889462471" sldId="258"/>
            <ac:spMk id="2" creationId="{9D3EE913-EE39-C321-5882-05A506DB3444}"/>
          </ac:spMkLst>
        </pc:spChg>
        <pc:spChg chg="mod">
          <ac:chgData name="HENRY LUCKY" userId="9f9f0d3b-fafb-4a1f-811e-e1ce60336648" providerId="ADAL" clId="{87B23BC5-493B-58B6-9C8D-8C75A953FAD3}" dt="2026-06-29T07:39:10.365" v="27" actId="20577"/>
          <ac:spMkLst>
            <pc:docMk/>
            <pc:sldMk cId="1889462471" sldId="258"/>
            <ac:spMk id="3" creationId="{0002D373-5BC5-C51D-92C2-C090C3857861}"/>
          </ac:spMkLst>
        </pc:spChg>
        <pc:spChg chg="mod">
          <ac:chgData name="HENRY LUCKY" userId="9f9f0d3b-fafb-4a1f-811e-e1ce60336648" providerId="ADAL" clId="{87B23BC5-493B-58B6-9C8D-8C75A953FAD3}" dt="2026-06-29T07:39:44.981" v="58"/>
          <ac:spMkLst>
            <pc:docMk/>
            <pc:sldMk cId="1889462471" sldId="258"/>
            <ac:spMk id="4" creationId="{72B426B6-A02E-F758-7A2B-554FFF354A1A}"/>
          </ac:spMkLst>
        </pc:spChg>
      </pc:sldChg>
      <pc:sldChg chg="modSp add">
        <pc:chgData name="HENRY LUCKY" userId="9f9f0d3b-fafb-4a1f-811e-e1ce60336648" providerId="ADAL" clId="{87B23BC5-493B-58B6-9C8D-8C75A953FAD3}" dt="2026-06-29T07:40:18.466" v="61"/>
        <pc:sldMkLst>
          <pc:docMk/>
          <pc:sldMk cId="2397223159" sldId="308"/>
        </pc:sldMkLst>
        <pc:spChg chg="mod">
          <ac:chgData name="HENRY LUCKY" userId="9f9f0d3b-fafb-4a1f-811e-e1ce60336648" providerId="ADAL" clId="{87B23BC5-493B-58B6-9C8D-8C75A953FAD3}" dt="2026-06-29T07:40:18.466" v="61"/>
          <ac:spMkLst>
            <pc:docMk/>
            <pc:sldMk cId="2397223159" sldId="308"/>
            <ac:spMk id="2" creationId="{533351C6-A1C5-3D5C-446F-73540BB5979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67522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A2C44-92CD-10A9-20CA-9B63030C91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53909A-27A6-59FB-40D0-F0DAF52F017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1760AE2-CEBC-7E82-5014-5F297A67DBF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90320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0668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56095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siteefy.com</a:t>
            </a:r>
            <a:r>
              <a:rPr lang="en-US" dirty="0"/>
              <a:t>/how-many-websites-are-there/</a:t>
            </a:r>
          </a:p>
          <a:p>
            <a:r>
              <a:rPr lang="en-US" dirty="0"/>
              <a:t>https://</a:t>
            </a:r>
            <a:r>
              <a:rPr lang="en-US" dirty="0" err="1"/>
              <a:t>whatsthebigdata.com</a:t>
            </a:r>
            <a:r>
              <a:rPr lang="en-US" dirty="0"/>
              <a:t>/twitter-statistics/#</a:t>
            </a:r>
          </a:p>
        </p:txBody>
      </p:sp>
    </p:spTree>
    <p:extLst>
      <p:ext uri="{BB962C8B-B14F-4D97-AF65-F5344CB8AC3E}">
        <p14:creationId xmlns:p14="http://schemas.microsoft.com/office/powerpoint/2010/main" val="3793310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datareportal.com</a:t>
            </a:r>
            <a:r>
              <a:rPr lang="en-US" dirty="0"/>
              <a:t>/reports/digital-2024-global-overview-report</a:t>
            </a:r>
          </a:p>
        </p:txBody>
      </p:sp>
    </p:spTree>
    <p:extLst>
      <p:ext uri="{BB962C8B-B14F-4D97-AF65-F5344CB8AC3E}">
        <p14:creationId xmlns:p14="http://schemas.microsoft.com/office/powerpoint/2010/main" val="3711488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datareportal.com</a:t>
            </a:r>
            <a:r>
              <a:rPr lang="en-US" dirty="0"/>
              <a:t>/reports/digital-2024-global-overview-report</a:t>
            </a:r>
          </a:p>
          <a:p>
            <a:r>
              <a:rPr lang="en-US" dirty="0"/>
              <a:t>https://</a:t>
            </a:r>
            <a:r>
              <a:rPr lang="en-US" dirty="0" err="1"/>
              <a:t>explodingtopics.com</a:t>
            </a:r>
            <a:r>
              <a:rPr lang="en-US" dirty="0"/>
              <a:t>/blog/</a:t>
            </a:r>
            <a:r>
              <a:rPr lang="en-US" dirty="0" err="1"/>
              <a:t>chatgpt-users#top</a:t>
            </a:r>
            <a:endParaRPr lang="en-US" dirty="0"/>
          </a:p>
          <a:p>
            <a:r>
              <a:rPr lang="en-US" dirty="0"/>
              <a:t>https://</a:t>
            </a:r>
            <a:r>
              <a:rPr lang="en-US" dirty="0" err="1"/>
              <a:t>www.similarweb.com</a:t>
            </a:r>
            <a:r>
              <a:rPr lang="en-US" dirty="0"/>
              <a:t>/website/</a:t>
            </a:r>
            <a:r>
              <a:rPr lang="en-US" dirty="0" err="1"/>
              <a:t>translate.google.com</a:t>
            </a:r>
            <a:endParaRPr lang="en-US" dirty="0"/>
          </a:p>
        </p:txBody>
      </p:sp>
    </p:spTree>
    <p:extLst>
      <p:ext uri="{BB962C8B-B14F-4D97-AF65-F5344CB8AC3E}">
        <p14:creationId xmlns:p14="http://schemas.microsoft.com/office/powerpoint/2010/main" val="2962226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44301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49370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More examples in reference</a:t>
            </a:r>
          </a:p>
        </p:txBody>
      </p:sp>
    </p:spTree>
    <p:extLst>
      <p:ext uri="{BB962C8B-B14F-4D97-AF65-F5344CB8AC3E}">
        <p14:creationId xmlns:p14="http://schemas.microsoft.com/office/powerpoint/2010/main" val="23598456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image-to-caption.co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openai.com/blog/chatgpt" TargetMode="External"/><Relationship Id="rId2" Type="http://schemas.openxmlformats.org/officeDocument/2006/relationships/hyperlink" Target="https://image-to-caption.com/" TargetMode="External"/><Relationship Id="rId1" Type="http://schemas.openxmlformats.org/officeDocument/2006/relationships/slideLayout" Target="../slideLayouts/slideLayout2.xml"/><Relationship Id="rId6" Type="http://schemas.openxmlformats.org/officeDocument/2006/relationships/hyperlink" Target="https://services.google.com/fh/files/misc/workspace_with_gemini_prompting_guide.pdf" TargetMode="External"/><Relationship Id="rId5" Type="http://schemas.openxmlformats.org/officeDocument/2006/relationships/hyperlink" Target="https://translate.google.com/" TargetMode="External"/><Relationship Id="rId4" Type="http://schemas.openxmlformats.org/officeDocument/2006/relationships/hyperlink" Target="https://quillbot.com/summariz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21</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Backtracking</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Henry Lucky,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21</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a:xfrm>
            <a:off x="2167376" y="3714224"/>
            <a:ext cx="20387823" cy="8129718"/>
          </a:xfrm>
        </p:spPr>
        <p:txBody>
          <a:bodyPr>
            <a:normAutofit/>
          </a:bodyPr>
          <a:lstStyle/>
          <a:p>
            <a:pPr marL="0" indent="0">
              <a:buNone/>
            </a:pPr>
            <a:r>
              <a:rPr lang="en-ID" dirty="0"/>
              <a:t>This session addresses </a:t>
            </a:r>
            <a:r>
              <a:rPr lang="en-ID" b="1" dirty="0"/>
              <a:t>LO 2</a:t>
            </a:r>
            <a:r>
              <a:rPr lang="en-ID" dirty="0"/>
              <a:t> and </a:t>
            </a:r>
            <a:r>
              <a:rPr lang="en-ID" b="1" dirty="0"/>
              <a:t>LO 3</a:t>
            </a:r>
            <a:r>
              <a:rPr lang="en-ID" dirty="0"/>
              <a:t>.</a:t>
            </a:r>
          </a:p>
          <a:p>
            <a:r>
              <a:rPr lang="en-ID" b="1" dirty="0"/>
              <a:t>LO 2:</a:t>
            </a:r>
            <a:r>
              <a:rPr lang="en-ID" dirty="0"/>
              <a:t> </a:t>
            </a:r>
            <a:r>
              <a:rPr lang="en-ID" dirty="0" err="1"/>
              <a:t>Analyze</a:t>
            </a:r>
            <a:r>
              <a:rPr lang="en-ID" dirty="0"/>
              <a:t> unfamiliar computational problems by identifying their structural properties, classifying them into known algorithmic categories including graph, string, and combinatorial problems and recommending a solution strategy with justification.</a:t>
            </a:r>
          </a:p>
          <a:p>
            <a:r>
              <a:rPr lang="en-ID" b="1" dirty="0"/>
              <a:t>LO 3:</a:t>
            </a:r>
            <a:r>
              <a:rPr lang="en-ID" dirty="0"/>
              <a:t> Design solutions to unfamiliar computational problems by selecting and applying appropriate strategies including Divide and Conquer, Greedy, Dynamic Programming, and Backtracking.</a:t>
            </a:r>
            <a:br>
              <a:rPr lang="en-ID" dirty="0"/>
            </a:br>
            <a:endParaRPr lang="en-ID" dirty="0"/>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A7A8-4EB2-F881-BAB4-DE08C7B1B1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351C6-A1C5-3D5C-446F-73540BB59791}"/>
              </a:ext>
            </a:extLst>
          </p:cNvPr>
          <p:cNvSpPr>
            <a:spLocks noGrp="1"/>
          </p:cNvSpPr>
          <p:nvPr>
            <p:ph type="title"/>
          </p:nvPr>
        </p:nvSpPr>
        <p:spPr/>
        <p:txBody>
          <a:bodyPr>
            <a:normAutofit fontScale="90000"/>
          </a:bodyPr>
          <a:lstStyle/>
          <a:p>
            <a:r>
              <a:rPr lang="en-US" dirty="0"/>
              <a:t>Session outcome</a:t>
            </a:r>
            <a:endParaRPr lang="en-ID" dirty="0"/>
          </a:p>
        </p:txBody>
      </p:sp>
      <p:sp>
        <p:nvSpPr>
          <p:cNvPr id="3" name="Text Placeholder 2">
            <a:extLst>
              <a:ext uri="{FF2B5EF4-FFF2-40B4-BE49-F238E27FC236}">
                <a16:creationId xmlns:a16="http://schemas.microsoft.com/office/drawing/2014/main" id="{AF4DBF84-BA16-1FCE-ABB3-8903388986C8}"/>
              </a:ext>
            </a:extLst>
          </p:cNvPr>
          <p:cNvSpPr>
            <a:spLocks noGrp="1"/>
          </p:cNvSpPr>
          <p:nvPr>
            <p:ph type="body" sz="quarter" idx="10"/>
          </p:nvPr>
        </p:nvSpPr>
        <p:spPr/>
        <p:txBody>
          <a:bodyPr/>
          <a:lstStyle/>
          <a:p>
            <a:r>
              <a:rPr lang="en-ID" dirty="0"/>
              <a:t>Session 21</a:t>
            </a:r>
          </a:p>
        </p:txBody>
      </p:sp>
      <p:sp>
        <p:nvSpPr>
          <p:cNvPr id="4" name="Content Placeholder 3">
            <a:extLst>
              <a:ext uri="{FF2B5EF4-FFF2-40B4-BE49-F238E27FC236}">
                <a16:creationId xmlns:a16="http://schemas.microsoft.com/office/drawing/2014/main" id="{28B1E811-8499-794E-ADAF-113F2877DF50}"/>
              </a:ext>
            </a:extLst>
          </p:cNvPr>
          <p:cNvSpPr>
            <a:spLocks noGrp="1"/>
          </p:cNvSpPr>
          <p:nvPr>
            <p:ph sz="quarter" idx="11"/>
          </p:nvPr>
        </p:nvSpPr>
        <p:spPr/>
        <p:txBody>
          <a:bodyPr>
            <a:normAutofit/>
          </a:bodyPr>
          <a:lstStyle/>
          <a:p>
            <a:pPr marL="0" indent="0">
              <a:buNone/>
            </a:pPr>
            <a:r>
              <a:rPr lang="en-ID" dirty="0"/>
              <a:t>By the end of this session, students will be able to:</a:t>
            </a:r>
          </a:p>
          <a:p>
            <a:r>
              <a:rPr lang="en-ID" dirty="0"/>
              <a:t>LO 2 - Classify problems as requiring exhaustive backtracking (NP-hard: N-Queens, Sudoku, TSP exact) vs. solvable in polynomial time; identify structural features (combinatorial constraint satisfaction, need for all solutions) that necessitate state-space search.</a:t>
            </a:r>
          </a:p>
          <a:p>
            <a:r>
              <a:rPr lang="en-ID" dirty="0"/>
              <a:t>LO 3 - Design backtracking algorithms with a promising function for N-Queens, subset generation, permutations, and Sudoku; apply feasibility pruning, bounding (branch-and-bound), and constraint propagation (AC-3 arc consistency).</a:t>
            </a:r>
          </a:p>
        </p:txBody>
      </p:sp>
    </p:spTree>
    <p:extLst>
      <p:ext uri="{BB962C8B-B14F-4D97-AF65-F5344CB8AC3E}">
        <p14:creationId xmlns:p14="http://schemas.microsoft.com/office/powerpoint/2010/main" val="239722315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ID" dirty="0"/>
              <a:t>outline</a:t>
            </a:r>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21</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ID" dirty="0"/>
              <a:t>Backtracking Paradigm — Systematic Search with Pruning</a:t>
            </a:r>
          </a:p>
          <a:p>
            <a:r>
              <a:rPr lang="en-ID" dirty="0"/>
              <a:t>N-Queens Problem</a:t>
            </a:r>
          </a:p>
          <a:p>
            <a:r>
              <a:rPr lang="en-ID" dirty="0"/>
              <a:t>Subset Generation and Permutations</a:t>
            </a:r>
          </a:p>
          <a:p>
            <a:r>
              <a:rPr lang="en-ID" dirty="0"/>
              <a:t>Sudoku Solver</a:t>
            </a:r>
          </a:p>
          <a:p>
            <a:r>
              <a:rPr lang="en-ID" dirty="0"/>
              <a:t>Pruning Strategies — Bounding and Constraint Propagation</a:t>
            </a:r>
          </a:p>
          <a:p>
            <a:r>
              <a:rPr lang="en-ID" dirty="0"/>
              <a:t>Comparison with DP — When to Use Which</a:t>
            </a:r>
          </a:p>
        </p:txBody>
      </p:sp>
    </p:spTree>
    <p:extLst>
      <p:ext uri="{BB962C8B-B14F-4D97-AF65-F5344CB8AC3E}">
        <p14:creationId xmlns:p14="http://schemas.microsoft.com/office/powerpoint/2010/main" val="188946247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9138176"/>
          </a:xfrm>
        </p:spPr>
        <p:txBody>
          <a:bodyPr>
            <a:normAutofit fontScale="92500" lnSpcReduction="10000"/>
          </a:bodyPr>
          <a:lstStyle/>
          <a:p>
            <a:pPr marL="673100" indent="-571500" algn="just"/>
            <a:r>
              <a:rPr lang="en-US" dirty="0"/>
              <a:t>What do we use language for?</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communicate</a:t>
            </a:r>
            <a:r>
              <a:rPr lang="en-US" dirty="0">
                <a:solidFill>
                  <a:schemeClr val="bg2">
                    <a:lumMod val="10000"/>
                  </a:schemeClr>
                </a:solidFill>
              </a:rPr>
              <a:t> using language</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think</a:t>
            </a:r>
            <a:r>
              <a:rPr lang="en-US" dirty="0">
                <a:solidFill>
                  <a:schemeClr val="bg2">
                    <a:lumMod val="10000"/>
                  </a:schemeClr>
                </a:solidFill>
              </a:rPr>
              <a:t> (partly) with language</a:t>
            </a:r>
          </a:p>
          <a:p>
            <a:pPr marL="1429100" lvl="1" indent="-571500" algn="just">
              <a:buFont typeface="Wingdings" pitchFamily="2" charset="2"/>
              <a:buChar char="Ø"/>
            </a:pPr>
            <a:r>
              <a:rPr lang="en-US" dirty="0">
                <a:solidFill>
                  <a:schemeClr val="bg2">
                    <a:lumMod val="10000"/>
                  </a:schemeClr>
                </a:solidFill>
              </a:rPr>
              <a:t>We </a:t>
            </a:r>
            <a:r>
              <a:rPr lang="en-US" b="1" dirty="0">
                <a:solidFill>
                  <a:schemeClr val="bg2">
                    <a:lumMod val="10000"/>
                  </a:schemeClr>
                </a:solidFill>
              </a:rPr>
              <a:t>build</a:t>
            </a:r>
            <a:r>
              <a:rPr lang="en-US" dirty="0">
                <a:solidFill>
                  <a:schemeClr val="bg2">
                    <a:lumMod val="10000"/>
                  </a:schemeClr>
                </a:solidFill>
              </a:rPr>
              <a:t> scientific theories with language</a:t>
            </a:r>
          </a:p>
          <a:p>
            <a:pPr marL="1429100" lvl="1" indent="-571500" algn="just">
              <a:buFont typeface="Wingdings" pitchFamily="2" charset="2"/>
              <a:buChar char="Ø"/>
            </a:pPr>
            <a:r>
              <a:rPr lang="en-US" dirty="0">
                <a:solidFill>
                  <a:schemeClr val="bg2">
                    <a:lumMod val="10000"/>
                  </a:schemeClr>
                </a:solidFill>
              </a:rPr>
              <a:t>We make friends/build </a:t>
            </a:r>
            <a:r>
              <a:rPr lang="en-US" b="1" dirty="0">
                <a:solidFill>
                  <a:schemeClr val="bg2">
                    <a:lumMod val="10000"/>
                  </a:schemeClr>
                </a:solidFill>
              </a:rPr>
              <a:t>relationships</a:t>
            </a:r>
          </a:p>
          <a:p>
            <a:pPr marL="673100" indent="-571500" algn="just"/>
            <a:r>
              <a:rPr lang="en-US" dirty="0"/>
              <a:t>Why NLP?</a:t>
            </a:r>
          </a:p>
          <a:p>
            <a:pPr marL="1429100" lvl="1" indent="-571500" algn="just">
              <a:buFont typeface="Wingdings" pitchFamily="2" charset="2"/>
              <a:buChar char="Ø"/>
            </a:pPr>
            <a:r>
              <a:rPr lang="en-US" b="1" dirty="0">
                <a:solidFill>
                  <a:schemeClr val="accent1">
                    <a:lumMod val="75000"/>
                  </a:schemeClr>
                </a:solidFill>
              </a:rPr>
              <a:t>Access knowledge</a:t>
            </a:r>
            <a:r>
              <a:rPr lang="en-US" dirty="0">
                <a:solidFill>
                  <a:schemeClr val="accent1">
                    <a:lumMod val="75000"/>
                  </a:schemeClr>
                </a:solidFill>
              </a:rPr>
              <a:t> </a:t>
            </a:r>
            <a:r>
              <a:rPr lang="en-US" dirty="0">
                <a:solidFill>
                  <a:schemeClr val="bg2">
                    <a:lumMod val="10000"/>
                  </a:schemeClr>
                </a:solidFill>
              </a:rPr>
              <a:t>(search engine, recommender system…)</a:t>
            </a:r>
          </a:p>
          <a:p>
            <a:pPr marL="1429100" lvl="1" indent="-571500" algn="just">
              <a:buFont typeface="Wingdings" pitchFamily="2" charset="2"/>
              <a:buChar char="Ø"/>
            </a:pPr>
            <a:r>
              <a:rPr lang="en-US" b="1" dirty="0">
                <a:solidFill>
                  <a:schemeClr val="accent1">
                    <a:lumMod val="75000"/>
                  </a:schemeClr>
                </a:solidFill>
              </a:rPr>
              <a:t>Communicate</a:t>
            </a:r>
            <a:r>
              <a:rPr lang="en-US" dirty="0">
                <a:solidFill>
                  <a:schemeClr val="bg2">
                    <a:lumMod val="10000"/>
                  </a:schemeClr>
                </a:solidFill>
              </a:rPr>
              <a:t> (Translation)</a:t>
            </a:r>
          </a:p>
          <a:p>
            <a:pPr marL="1429100" lvl="1" indent="-571500" algn="just">
              <a:buFont typeface="Wingdings" pitchFamily="2" charset="2"/>
              <a:buChar char="Ø"/>
            </a:pPr>
            <a:r>
              <a:rPr lang="en-US" b="1" dirty="0">
                <a:solidFill>
                  <a:schemeClr val="accent1">
                    <a:lumMod val="75000"/>
                  </a:schemeClr>
                </a:solidFill>
              </a:rPr>
              <a:t>Linguistics and Cognitive sciences </a:t>
            </a:r>
            <a:r>
              <a:rPr lang="en-US" dirty="0">
                <a:solidFill>
                  <a:schemeClr val="bg2">
                    <a:lumMod val="10000"/>
                  </a:schemeClr>
                </a:solidFill>
              </a:rPr>
              <a:t>(Language analysis)</a:t>
            </a:r>
          </a:p>
        </p:txBody>
      </p:sp>
    </p:spTree>
    <p:extLst>
      <p:ext uri="{BB962C8B-B14F-4D97-AF65-F5344CB8AC3E}">
        <p14:creationId xmlns:p14="http://schemas.microsoft.com/office/powerpoint/2010/main" val="34055093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Amount of online textual data…</a:t>
            </a:r>
          </a:p>
          <a:p>
            <a:pPr marL="1429100" lvl="1" indent="-571500" algn="just">
              <a:buFont typeface="Wingdings" pitchFamily="2" charset="2"/>
              <a:buChar char="Ø"/>
            </a:pPr>
            <a:r>
              <a:rPr lang="en-US" dirty="0">
                <a:solidFill>
                  <a:schemeClr val="bg2">
                    <a:lumMod val="10000"/>
                  </a:schemeClr>
                </a:solidFill>
              </a:rPr>
              <a:t>30+ billions web-pages online (1+ billion websites).</a:t>
            </a:r>
          </a:p>
          <a:p>
            <a:pPr marL="1429100" lvl="1" indent="-571500" algn="just">
              <a:buFont typeface="Wingdings" pitchFamily="2" charset="2"/>
              <a:buChar char="Ø"/>
            </a:pPr>
            <a:r>
              <a:rPr lang="en-US" dirty="0">
                <a:solidFill>
                  <a:schemeClr val="bg2">
                    <a:lumMod val="10000"/>
                  </a:schemeClr>
                </a:solidFill>
              </a:rPr>
              <a:t>60 million pages of of Wikipedia articles containing over 4.5 billion words </a:t>
            </a:r>
          </a:p>
          <a:p>
            <a:pPr marL="673100" indent="-571500" algn="just"/>
            <a:r>
              <a:rPr lang="en-US" dirty="0">
                <a:solidFill>
                  <a:schemeClr val="bg2">
                    <a:lumMod val="10000"/>
                  </a:schemeClr>
                </a:solidFill>
              </a:rPr>
              <a:t>…Growing at a fast pace</a:t>
            </a:r>
          </a:p>
          <a:p>
            <a:pPr marL="1429100" lvl="1" indent="-571500" algn="just">
              <a:buFont typeface="Wingdings" pitchFamily="2" charset="2"/>
              <a:buChar char="Ø"/>
            </a:pPr>
            <a:r>
              <a:rPr lang="en-US" dirty="0">
                <a:solidFill>
                  <a:schemeClr val="bg2">
                    <a:lumMod val="10000"/>
                  </a:schemeClr>
                </a:solidFill>
              </a:rPr>
              <a:t>6000 tweets / second</a:t>
            </a:r>
          </a:p>
          <a:p>
            <a:pPr marL="1429100" lvl="1" indent="-571500" algn="just">
              <a:buFont typeface="Wingdings" pitchFamily="2" charset="2"/>
              <a:buChar char="Ø"/>
            </a:pPr>
            <a:r>
              <a:rPr lang="en-ID" dirty="0"/>
              <a:t>3 million mail / second (60% spam)</a:t>
            </a:r>
            <a:endParaRPr lang="en-US" dirty="0">
              <a:solidFill>
                <a:schemeClr val="bg2">
                  <a:lumMod val="10000"/>
                </a:schemeClr>
              </a:solidFill>
            </a:endParaRP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331398556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Potential users of NLP</a:t>
            </a:r>
          </a:p>
          <a:p>
            <a:pPr marL="1429100" lvl="1" indent="-571500" algn="just">
              <a:buFont typeface="Wingdings" pitchFamily="2" charset="2"/>
              <a:buChar char="Ø"/>
            </a:pPr>
            <a:r>
              <a:rPr lang="en-US" dirty="0">
                <a:solidFill>
                  <a:schemeClr val="bg2">
                    <a:lumMod val="10000"/>
                  </a:schemeClr>
                </a:solidFill>
              </a:rPr>
              <a:t>8.08 billion people use some sort of language (January 2024)</a:t>
            </a:r>
          </a:p>
          <a:p>
            <a:pPr marL="1429100" lvl="1" indent="-571500" algn="just">
              <a:buFont typeface="Wingdings" pitchFamily="2" charset="2"/>
              <a:buChar char="Ø"/>
            </a:pPr>
            <a:r>
              <a:rPr lang="en-US" dirty="0">
                <a:solidFill>
                  <a:schemeClr val="bg2">
                    <a:lumMod val="10000"/>
                  </a:schemeClr>
                </a:solidFill>
              </a:rPr>
              <a:t>5.35 billion internet users (January 2024)</a:t>
            </a:r>
          </a:p>
          <a:p>
            <a:pPr marL="1429100" lvl="1" indent="-571500" algn="just">
              <a:buFont typeface="Wingdings" pitchFamily="2" charset="2"/>
              <a:buChar char="Ø"/>
            </a:pPr>
            <a:r>
              <a:rPr lang="en-US" dirty="0">
                <a:solidFill>
                  <a:schemeClr val="bg2">
                    <a:lumMod val="10000"/>
                  </a:schemeClr>
                </a:solidFill>
              </a:rPr>
              <a:t>5.04 billion active social media users (January 2024)</a:t>
            </a: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85486960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Why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What Products?</a:t>
            </a:r>
          </a:p>
          <a:p>
            <a:pPr marL="1429100" lvl="1" indent="-571500" algn="just">
              <a:buFont typeface="Wingdings" pitchFamily="2" charset="2"/>
              <a:buChar char="Ø"/>
            </a:pPr>
            <a:r>
              <a:rPr lang="en-US" dirty="0">
                <a:solidFill>
                  <a:schemeClr val="bg2">
                    <a:lumMod val="10000"/>
                  </a:schemeClr>
                </a:solidFill>
              </a:rPr>
              <a:t>Search Engine: 2.4 billion Google users, 206 million Baidu users (January 2024)</a:t>
            </a:r>
          </a:p>
          <a:p>
            <a:pPr marL="1429100" lvl="1" indent="-571500" algn="just">
              <a:buFont typeface="Wingdings" pitchFamily="2" charset="2"/>
              <a:buChar char="Ø"/>
            </a:pPr>
            <a:r>
              <a:rPr lang="en-US" dirty="0">
                <a:solidFill>
                  <a:schemeClr val="bg2">
                    <a:lumMod val="10000"/>
                  </a:schemeClr>
                </a:solidFill>
              </a:rPr>
              <a:t>Social Media: +4 billion of Social Media users (Facebook, </a:t>
            </a:r>
            <a:r>
              <a:rPr lang="en-US" dirty="0" err="1">
                <a:solidFill>
                  <a:schemeClr val="bg2">
                    <a:lumMod val="10000"/>
                  </a:schemeClr>
                </a:solidFill>
              </a:rPr>
              <a:t>Youtube</a:t>
            </a:r>
            <a:r>
              <a:rPr lang="en-US" dirty="0">
                <a:solidFill>
                  <a:schemeClr val="bg2">
                    <a:lumMod val="10000"/>
                  </a:schemeClr>
                </a:solidFill>
              </a:rPr>
              <a:t>, Instagram, Twitter, </a:t>
            </a:r>
            <a:r>
              <a:rPr lang="en-US" dirty="0" err="1">
                <a:solidFill>
                  <a:schemeClr val="bg2">
                    <a:lumMod val="10000"/>
                  </a:schemeClr>
                </a:solidFill>
              </a:rPr>
              <a:t>Whatsapp</a:t>
            </a:r>
            <a:r>
              <a:rPr lang="en-US" dirty="0">
                <a:solidFill>
                  <a:schemeClr val="bg2">
                    <a:lumMod val="10000"/>
                  </a:schemeClr>
                </a:solidFill>
              </a:rPr>
              <a:t>) (January 2024)</a:t>
            </a:r>
          </a:p>
          <a:p>
            <a:pPr marL="1429100" lvl="1" indent="-571500" algn="just">
              <a:buFont typeface="Wingdings" pitchFamily="2" charset="2"/>
              <a:buChar char="Ø"/>
            </a:pPr>
            <a:r>
              <a:rPr lang="en-US" dirty="0">
                <a:solidFill>
                  <a:schemeClr val="bg2">
                    <a:lumMod val="10000"/>
                  </a:schemeClr>
                </a:solidFill>
              </a:rPr>
              <a:t>Chatbot: 180 million users of </a:t>
            </a:r>
            <a:r>
              <a:rPr lang="en-US" dirty="0" err="1">
                <a:solidFill>
                  <a:schemeClr val="bg2">
                    <a:lumMod val="10000"/>
                  </a:schemeClr>
                </a:solidFill>
              </a:rPr>
              <a:t>ChatGPT</a:t>
            </a:r>
            <a:r>
              <a:rPr lang="en-US" dirty="0">
                <a:solidFill>
                  <a:schemeClr val="bg2">
                    <a:lumMod val="10000"/>
                  </a:schemeClr>
                </a:solidFill>
              </a:rPr>
              <a:t> (February 2024)</a:t>
            </a:r>
          </a:p>
          <a:p>
            <a:pPr marL="1429100" lvl="1" indent="-571500" algn="just">
              <a:buFont typeface="Wingdings" pitchFamily="2" charset="2"/>
              <a:buChar char="Ø"/>
            </a:pPr>
            <a:r>
              <a:rPr lang="en-US" dirty="0">
                <a:solidFill>
                  <a:schemeClr val="bg2">
                    <a:lumMod val="10000"/>
                  </a:schemeClr>
                </a:solidFill>
              </a:rPr>
              <a:t>Machine Translation: 712M total visits for Google Translate (March 2024)</a:t>
            </a:r>
          </a:p>
          <a:p>
            <a:pPr marL="1429100" lvl="1" indent="-571500" algn="just">
              <a:buFont typeface="Wingdings" pitchFamily="2" charset="2"/>
              <a:buChar char="Ø"/>
            </a:pPr>
            <a:endParaRPr lang="en-US" dirty="0">
              <a:solidFill>
                <a:schemeClr val="bg2">
                  <a:lumMod val="10000"/>
                </a:schemeClr>
              </a:solidFill>
            </a:endParaRPr>
          </a:p>
        </p:txBody>
      </p:sp>
    </p:spTree>
    <p:extLst>
      <p:ext uri="{BB962C8B-B14F-4D97-AF65-F5344CB8AC3E}">
        <p14:creationId xmlns:p14="http://schemas.microsoft.com/office/powerpoint/2010/main" val="415038771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What is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8129718"/>
          </a:xfrm>
        </p:spPr>
        <p:txBody>
          <a:bodyPr>
            <a:normAutofit/>
          </a:bodyPr>
          <a:lstStyle/>
          <a:p>
            <a:pPr marL="673100" indent="-571500" algn="just"/>
            <a:r>
              <a:rPr lang="en-US" dirty="0"/>
              <a:t>NLP is about teaching computers to understand and interpret human language (natural language). </a:t>
            </a:r>
          </a:p>
          <a:p>
            <a:pPr marL="673100" indent="-571500" algn="just"/>
            <a:r>
              <a:rPr lang="en-US" dirty="0"/>
              <a:t>It allows us to interact and communicate with computers using natural language, like we would with another person.</a:t>
            </a:r>
          </a:p>
          <a:p>
            <a:pPr marL="673100" indent="-571500" algn="just"/>
            <a:r>
              <a:rPr lang="en-US" dirty="0"/>
              <a:t>NLP helps computers understand the meaning and context behind words and sentences. </a:t>
            </a:r>
          </a:p>
          <a:p>
            <a:pPr marL="1429100" lvl="1" indent="-571500" algn="just">
              <a:buFont typeface="Wingdings" pitchFamily="2" charset="2"/>
              <a:buChar char="Ø"/>
            </a:pPr>
            <a:r>
              <a:rPr lang="en-US" dirty="0"/>
              <a:t>This includes recognizing different languages, understanding slang or colloquial expressions, and even detecting emotions in text.</a:t>
            </a:r>
          </a:p>
        </p:txBody>
      </p:sp>
    </p:spTree>
    <p:extLst>
      <p:ext uri="{BB962C8B-B14F-4D97-AF65-F5344CB8AC3E}">
        <p14:creationId xmlns:p14="http://schemas.microsoft.com/office/powerpoint/2010/main" val="109362302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Natural Language Processing</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What is Natural Language Processing?</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8" y="3714224"/>
            <a:ext cx="11523222" cy="8129718"/>
          </a:xfrm>
        </p:spPr>
        <p:txBody>
          <a:bodyPr>
            <a:normAutofit/>
          </a:bodyPr>
          <a:lstStyle/>
          <a:p>
            <a:pPr marL="673100" indent="-571500"/>
            <a:r>
              <a:rPr lang="en-US" dirty="0"/>
              <a:t>Generally, there are 2 components of NLP:</a:t>
            </a:r>
          </a:p>
          <a:p>
            <a:pPr marL="1429100" lvl="1" indent="-571500">
              <a:buFont typeface="Wingdings" pitchFamily="2" charset="2"/>
              <a:buChar char="Ø"/>
            </a:pPr>
            <a:r>
              <a:rPr lang="en-US" b="1" dirty="0"/>
              <a:t>NLU</a:t>
            </a:r>
            <a:r>
              <a:rPr lang="en-US" dirty="0"/>
              <a:t>: involves breaking down human language into a machine-readable format, i.e. from text to meaning.</a:t>
            </a:r>
          </a:p>
          <a:p>
            <a:pPr marL="1429100" lvl="1" indent="-571500">
              <a:buFont typeface="Wingdings" pitchFamily="2" charset="2"/>
              <a:buChar char="Ø"/>
            </a:pPr>
            <a:r>
              <a:rPr lang="en-US" b="1" dirty="0"/>
              <a:t>NLG</a:t>
            </a:r>
            <a:r>
              <a:rPr lang="en-US" dirty="0"/>
              <a:t>: is the process of constructing output in the form of natural language from non-linguistic input, namely producing text from structured data.</a:t>
            </a:r>
          </a:p>
        </p:txBody>
      </p:sp>
      <p:pic>
        <p:nvPicPr>
          <p:cNvPr id="1026" name="Picture 2">
            <a:extLst>
              <a:ext uri="{FF2B5EF4-FFF2-40B4-BE49-F238E27FC236}">
                <a16:creationId xmlns:a16="http://schemas.microsoft.com/office/drawing/2014/main" id="{DD02EFA9-4805-AC09-836C-8FB4FF00ED5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9226" b="89881" l="4144" r="96409">
                        <a14:foregroundMark x1="9945" y1="48810" x2="10497" y2="64881"/>
                        <a14:foregroundMark x1="20994" y1="58929" x2="40608" y2="56845"/>
                        <a14:foregroundMark x1="27901" y1="26190" x2="27901" y2="26190"/>
                        <a14:foregroundMark x1="27901" y1="26190" x2="27901" y2="26190"/>
                        <a14:foregroundMark x1="30939" y1="26786" x2="40331" y2="26786"/>
                        <a14:foregroundMark x1="40331" y1="26786" x2="50276" y2="22917"/>
                        <a14:foregroundMark x1="44199" y1="21131" x2="48343" y2="21429"/>
                        <a14:foregroundMark x1="23757" y1="38690" x2="40331" y2="36607"/>
                        <a14:foregroundMark x1="40331" y1="36607" x2="45580" y2="31250"/>
                        <a14:foregroundMark x1="45580" y1="31250" x2="51934" y2="28869"/>
                        <a14:foregroundMark x1="51934" y1="28869" x2="57182" y2="29762"/>
                        <a14:foregroundMark x1="57182" y1="29762" x2="63260" y2="26190"/>
                        <a14:foregroundMark x1="19890" y1="55952" x2="42265" y2="56250"/>
                        <a14:foregroundMark x1="58564" y1="44345" x2="78177" y2="44643"/>
                        <a14:foregroundMark x1="78177" y1="44643" x2="78729" y2="44940"/>
                        <a14:foregroundMark x1="66851" y1="46726" x2="64088" y2="47024"/>
                        <a14:foregroundMark x1="70442" y1="47321" x2="77901" y2="47619"/>
                        <a14:foregroundMark x1="66851" y1="47024" x2="67680" y2="49702"/>
                        <a14:foregroundMark x1="66298" y1="45238" x2="70166" y2="50893"/>
                        <a14:foregroundMark x1="70166" y1="50893" x2="70718" y2="50893"/>
                        <a14:foregroundMark x1="86188" y1="29762" x2="92541" y2="47917"/>
                        <a14:foregroundMark x1="92541" y1="47917" x2="93094" y2="53869"/>
                        <a14:foregroundMark x1="93094" y1="53869" x2="88398" y2="66071"/>
                        <a14:foregroundMark x1="88398" y1="66071" x2="87569" y2="66071"/>
                        <a14:foregroundMark x1="7182" y1="43750" x2="4420" y2="49107"/>
                        <a14:foregroundMark x1="4420" y1="49107" x2="4144" y2="55357"/>
                        <a14:foregroundMark x1="4144" y1="55357" x2="7459" y2="65179"/>
                        <a14:foregroundMark x1="37845" y1="89583" x2="43646" y2="89881"/>
                        <a14:foregroundMark x1="43646" y1="89881" x2="46961" y2="89583"/>
                        <a14:foregroundMark x1="93923" y1="40179" x2="96409" y2="45238"/>
                        <a14:foregroundMark x1="96409" y1="45238" x2="96409" y2="46429"/>
                        <a14:foregroundMark x1="58011" y1="11012" x2="56906" y2="9226"/>
                      </a14:backgroundRemoval>
                    </a14:imgEffect>
                  </a14:imgLayer>
                </a14:imgProps>
              </a:ext>
              <a:ext uri="{28A0092B-C50C-407E-A947-70E740481C1C}">
                <a14:useLocalDpi xmlns:a14="http://schemas.microsoft.com/office/drawing/2010/main" val="0"/>
              </a:ext>
            </a:extLst>
          </a:blip>
          <a:srcRect/>
          <a:stretch>
            <a:fillRect/>
          </a:stretch>
        </p:blipFill>
        <p:spPr bwMode="auto">
          <a:xfrm>
            <a:off x="13372419" y="3195559"/>
            <a:ext cx="10020981" cy="93012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1352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Timeline of NLP developments</a:t>
            </a:r>
          </a:p>
        </p:txBody>
      </p:sp>
      <p:pic>
        <p:nvPicPr>
          <p:cNvPr id="7" name="Content Placeholder 6">
            <a:extLst>
              <a:ext uri="{FF2B5EF4-FFF2-40B4-BE49-F238E27FC236}">
                <a16:creationId xmlns:a16="http://schemas.microsoft.com/office/drawing/2014/main" id="{72AA002C-1ADB-C3EB-7AA4-4FFE4071EA2C}"/>
              </a:ext>
            </a:extLst>
          </p:cNvPr>
          <p:cNvPicPr>
            <a:picLocks noGrp="1" noChangeAspect="1"/>
          </p:cNvPicPr>
          <p:nvPr>
            <p:ph sz="quarter" idx="11"/>
          </p:nvPr>
        </p:nvPicPr>
        <p:blipFill>
          <a:blip r:embed="rId2"/>
          <a:stretch>
            <a:fillRect/>
          </a:stretch>
        </p:blipFill>
        <p:spPr>
          <a:xfrm>
            <a:off x="1001486" y="3223274"/>
            <a:ext cx="22381028" cy="10041621"/>
          </a:xfrm>
          <a:prstGeom prst="rect">
            <a:avLst/>
          </a:prstGeom>
        </p:spPr>
      </p:pic>
    </p:spTree>
    <p:extLst>
      <p:ext uri="{BB962C8B-B14F-4D97-AF65-F5344CB8AC3E}">
        <p14:creationId xmlns:p14="http://schemas.microsoft.com/office/powerpoint/2010/main" val="421114655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State of the art: LLM</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p:txBody>
          <a:bodyPr>
            <a:normAutofit lnSpcReduction="10000"/>
          </a:bodyPr>
          <a:lstStyle/>
          <a:p>
            <a:r>
              <a:rPr lang="en-US" dirty="0"/>
              <a:t>Large Language Model is Advanced NLP models with </a:t>
            </a:r>
            <a:r>
              <a:rPr lang="en-US" b="1" dirty="0"/>
              <a:t>billions of parameters</a:t>
            </a:r>
            <a:r>
              <a:rPr lang="en-US" dirty="0"/>
              <a:t>, trained on vast datasets to understand and generate human-like text (Ex: GPT-4, BERT, T5, </a:t>
            </a:r>
            <a:r>
              <a:rPr lang="en-US" dirty="0" err="1"/>
              <a:t>etc</a:t>
            </a:r>
            <a:r>
              <a:rPr lang="en-US" dirty="0"/>
              <a:t>).</a:t>
            </a:r>
          </a:p>
          <a:p>
            <a:r>
              <a:rPr lang="en-US" dirty="0"/>
              <a:t>Key features:</a:t>
            </a:r>
          </a:p>
          <a:p>
            <a:pPr lvl="1">
              <a:buFont typeface="Wingdings" pitchFamily="2" charset="2"/>
              <a:buChar char="Ø"/>
            </a:pPr>
            <a:r>
              <a:rPr lang="en-US" b="1" dirty="0"/>
              <a:t>Contextual Understanding</a:t>
            </a:r>
            <a:r>
              <a:rPr lang="en-US" dirty="0"/>
              <a:t>: Ability to understand and generate contextually relevant text.</a:t>
            </a:r>
          </a:p>
          <a:p>
            <a:pPr lvl="1">
              <a:buFont typeface="Wingdings" pitchFamily="2" charset="2"/>
              <a:buChar char="Ø"/>
            </a:pPr>
            <a:r>
              <a:rPr lang="en-US" b="1" dirty="0"/>
              <a:t>Transfer Learning</a:t>
            </a:r>
            <a:r>
              <a:rPr lang="en-US" dirty="0"/>
              <a:t>: Fine-tuning on specific tasks after pre-training on large datasets.</a:t>
            </a:r>
          </a:p>
          <a:p>
            <a:pPr lvl="1">
              <a:buFont typeface="Wingdings" pitchFamily="2" charset="2"/>
              <a:buChar char="Ø"/>
            </a:pPr>
            <a:r>
              <a:rPr lang="en-US" b="1" dirty="0"/>
              <a:t>Scalability</a:t>
            </a:r>
            <a:r>
              <a:rPr lang="en-US" dirty="0"/>
              <a:t>: Performance improves with more data and larger model sizes.</a:t>
            </a:r>
          </a:p>
        </p:txBody>
      </p:sp>
    </p:spTree>
    <p:extLst>
      <p:ext uri="{BB962C8B-B14F-4D97-AF65-F5344CB8AC3E}">
        <p14:creationId xmlns:p14="http://schemas.microsoft.com/office/powerpoint/2010/main" val="153959197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State of the art: LLM</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a:xfrm>
            <a:off x="2167376" y="3714224"/>
            <a:ext cx="20944871" cy="9245032"/>
          </a:xfrm>
        </p:spPr>
        <p:txBody>
          <a:bodyPr>
            <a:normAutofit/>
          </a:bodyPr>
          <a:lstStyle/>
          <a:p>
            <a:r>
              <a:rPr lang="en-US" dirty="0"/>
              <a:t>Recent Advancements:</a:t>
            </a:r>
          </a:p>
          <a:p>
            <a:pPr lvl="1">
              <a:buFont typeface="Wingdings" pitchFamily="2" charset="2"/>
              <a:buChar char="v"/>
            </a:pPr>
            <a:r>
              <a:rPr lang="en-ID" b="1" dirty="0"/>
              <a:t>DeepSeek R1:</a:t>
            </a:r>
            <a:r>
              <a:rPr lang="en-ID" dirty="0"/>
              <a:t> Introduced new way to train AI chatbot for “</a:t>
            </a:r>
            <a:r>
              <a:rPr lang="en-ID" b="1" dirty="0"/>
              <a:t>reasoning</a:t>
            </a:r>
            <a:r>
              <a:rPr lang="en-ID" dirty="0"/>
              <a:t>” and achieving comparable or better performance to other Chatbot at the time with much </a:t>
            </a:r>
            <a:r>
              <a:rPr lang="en-ID" b="1" dirty="0"/>
              <a:t>lower GPU training budget</a:t>
            </a:r>
            <a:r>
              <a:rPr lang="en-ID" dirty="0"/>
              <a:t>.</a:t>
            </a:r>
          </a:p>
          <a:p>
            <a:pPr lvl="1">
              <a:buFont typeface="Wingdings" pitchFamily="2" charset="2"/>
              <a:buChar char="v"/>
            </a:pPr>
            <a:r>
              <a:rPr lang="en-ID" b="1" dirty="0"/>
              <a:t>OpenAI’s </a:t>
            </a:r>
            <a:r>
              <a:rPr lang="en-ID" b="1" dirty="0" err="1"/>
              <a:t>gpt-oss</a:t>
            </a:r>
            <a:r>
              <a:rPr lang="en-ID" b="1" dirty="0"/>
              <a:t> models: </a:t>
            </a:r>
            <a:r>
              <a:rPr lang="en-ID" dirty="0"/>
              <a:t>among the earlier models released in 2025 that were specifically developed with </a:t>
            </a:r>
            <a:r>
              <a:rPr lang="en-ID" b="1" dirty="0"/>
              <a:t>tool use </a:t>
            </a:r>
            <a:r>
              <a:rPr lang="en-ID" dirty="0"/>
              <a:t>in mind.</a:t>
            </a:r>
          </a:p>
          <a:p>
            <a:pPr lvl="1">
              <a:buFont typeface="Wingdings" pitchFamily="2" charset="2"/>
              <a:buChar char="v"/>
            </a:pPr>
            <a:r>
              <a:rPr lang="en-ID" b="1" dirty="0"/>
              <a:t>Llama 4</a:t>
            </a:r>
            <a:r>
              <a:rPr lang="en-ID" dirty="0"/>
              <a:t>: scored extremely well across many established benchmarks. </a:t>
            </a:r>
          </a:p>
          <a:p>
            <a:pPr lvl="2">
              <a:buFont typeface="Wingdings" pitchFamily="2" charset="2"/>
              <a:buChar char="Ø"/>
            </a:pPr>
            <a:r>
              <a:rPr lang="en-ID" dirty="0"/>
              <a:t>However, once users and developers got their hands on it, they realized that these scores didn’t reflect the real-world capabilities and usefulness due to possible </a:t>
            </a:r>
            <a:r>
              <a:rPr lang="en-ID" b="1" u="sng" dirty="0" err="1"/>
              <a:t>benchmaxxing</a:t>
            </a:r>
            <a:r>
              <a:rPr lang="en-ID" b="1" u="sng" dirty="0"/>
              <a:t> </a:t>
            </a:r>
            <a:r>
              <a:rPr lang="en-ID" dirty="0"/>
              <a:t>(2025 tech trend)</a:t>
            </a:r>
            <a:endParaRPr lang="en-US" dirty="0"/>
          </a:p>
        </p:txBody>
      </p:sp>
    </p:spTree>
    <p:extLst>
      <p:ext uri="{BB962C8B-B14F-4D97-AF65-F5344CB8AC3E}">
        <p14:creationId xmlns:p14="http://schemas.microsoft.com/office/powerpoint/2010/main" val="357954877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C62B-10B0-C45C-2968-8B841604480E}"/>
              </a:ext>
            </a:extLst>
          </p:cNvPr>
          <p:cNvSpPr>
            <a:spLocks noGrp="1"/>
          </p:cNvSpPr>
          <p:nvPr>
            <p:ph type="title"/>
          </p:nvPr>
        </p:nvSpPr>
        <p:spPr/>
        <p:txBody>
          <a:bodyPr>
            <a:normAutofit fontScale="90000"/>
          </a:bodyPr>
          <a:lstStyle/>
          <a:p>
            <a:r>
              <a:rPr lang="en-US" dirty="0"/>
              <a:t>Introduction to natural language processing</a:t>
            </a:r>
          </a:p>
        </p:txBody>
      </p:sp>
      <p:sp>
        <p:nvSpPr>
          <p:cNvPr id="3" name="Text Placeholder 2">
            <a:extLst>
              <a:ext uri="{FF2B5EF4-FFF2-40B4-BE49-F238E27FC236}">
                <a16:creationId xmlns:a16="http://schemas.microsoft.com/office/drawing/2014/main" id="{F4B64D99-CA36-B4D8-0DFF-5D85C89F789D}"/>
              </a:ext>
            </a:extLst>
          </p:cNvPr>
          <p:cNvSpPr>
            <a:spLocks noGrp="1"/>
          </p:cNvSpPr>
          <p:nvPr>
            <p:ph type="body" sz="quarter" idx="10"/>
          </p:nvPr>
        </p:nvSpPr>
        <p:spPr/>
        <p:txBody>
          <a:bodyPr/>
          <a:lstStyle/>
          <a:p>
            <a:r>
              <a:rPr lang="en-US" dirty="0"/>
              <a:t>Applications</a:t>
            </a:r>
          </a:p>
        </p:txBody>
      </p:sp>
      <p:sp>
        <p:nvSpPr>
          <p:cNvPr id="5" name="Content Placeholder 4">
            <a:extLst>
              <a:ext uri="{FF2B5EF4-FFF2-40B4-BE49-F238E27FC236}">
                <a16:creationId xmlns:a16="http://schemas.microsoft.com/office/drawing/2014/main" id="{EF487673-6F6D-EADA-60ED-4489E2B6E343}"/>
              </a:ext>
            </a:extLst>
          </p:cNvPr>
          <p:cNvSpPr>
            <a:spLocks noGrp="1"/>
          </p:cNvSpPr>
          <p:nvPr>
            <p:ph sz="quarter" idx="11"/>
          </p:nvPr>
        </p:nvSpPr>
        <p:spPr/>
        <p:txBody>
          <a:bodyPr>
            <a:normAutofit/>
          </a:bodyPr>
          <a:lstStyle/>
          <a:p>
            <a:r>
              <a:rPr lang="en-US" dirty="0"/>
              <a:t>Some applications of NLP:</a:t>
            </a:r>
          </a:p>
          <a:p>
            <a:pPr lvl="1">
              <a:buFont typeface="Wingdings" pitchFamily="2" charset="2"/>
              <a:buChar char="Ø"/>
            </a:pPr>
            <a:r>
              <a:rPr lang="en-ID" dirty="0"/>
              <a:t>Text Classification (e.g., spam detection)</a:t>
            </a:r>
          </a:p>
          <a:p>
            <a:pPr lvl="1">
              <a:buFont typeface="Wingdings" pitchFamily="2" charset="2"/>
              <a:buChar char="Ø"/>
            </a:pPr>
            <a:r>
              <a:rPr lang="en-ID" dirty="0"/>
              <a:t>Machine Translation (e.g., Google Translate)</a:t>
            </a:r>
          </a:p>
          <a:p>
            <a:pPr lvl="1">
              <a:buFont typeface="Wingdings" pitchFamily="2" charset="2"/>
              <a:buChar char="Ø"/>
            </a:pPr>
            <a:r>
              <a:rPr lang="en-ID" dirty="0"/>
              <a:t>Sentiment Analysis (e.g., product reviews)</a:t>
            </a:r>
          </a:p>
          <a:p>
            <a:pPr lvl="1">
              <a:buFont typeface="Wingdings" pitchFamily="2" charset="2"/>
              <a:buChar char="Ø"/>
            </a:pPr>
            <a:r>
              <a:rPr lang="en-ID" dirty="0"/>
              <a:t>Speech Recognition (e.g., Siri, Alexa)</a:t>
            </a:r>
          </a:p>
          <a:p>
            <a:pPr lvl="1">
              <a:buFont typeface="Wingdings" pitchFamily="2" charset="2"/>
              <a:buChar char="Ø"/>
            </a:pPr>
            <a:r>
              <a:rPr lang="en-ID" dirty="0"/>
              <a:t>Chatbots and Conversational Agents</a:t>
            </a:r>
            <a:endParaRPr lang="en-US" dirty="0"/>
          </a:p>
        </p:txBody>
      </p:sp>
    </p:spTree>
    <p:extLst>
      <p:ext uri="{BB962C8B-B14F-4D97-AF65-F5344CB8AC3E}">
        <p14:creationId xmlns:p14="http://schemas.microsoft.com/office/powerpoint/2010/main" val="266784504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lstStyle/>
          <a:p>
            <a:r>
              <a:rPr lang="en-US" dirty="0"/>
              <a:t>Sentiment analysis is a branch of text analysis that focuses on understanding the emotions and opinions expressed in text data.</a:t>
            </a:r>
          </a:p>
          <a:p>
            <a:r>
              <a:rPr lang="en-US" dirty="0"/>
              <a:t>It involves automatically classifying text as positive, negative, or neutral based on the sentiment conveyed by the words and phrases used.</a:t>
            </a:r>
          </a:p>
          <a:p>
            <a:r>
              <a:rPr lang="en-US" dirty="0"/>
              <a:t>Sentiment analysis has various applications across industries. </a:t>
            </a:r>
          </a:p>
          <a:p>
            <a:r>
              <a:rPr lang="en-US" dirty="0"/>
              <a:t>It's used in social media monitoring to gauge public opinion, in customer service to analyze feedback, in market research to understand consumer sentiment, and in product reviews to assess customer satisfaction.</a:t>
            </a:r>
          </a:p>
        </p:txBody>
      </p:sp>
    </p:spTree>
    <p:extLst>
      <p:ext uri="{BB962C8B-B14F-4D97-AF65-F5344CB8AC3E}">
        <p14:creationId xmlns:p14="http://schemas.microsoft.com/office/powerpoint/2010/main" val="212846708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a:xfrm>
            <a:off x="2167377" y="3714224"/>
            <a:ext cx="19309300" cy="8858776"/>
          </a:xfrm>
        </p:spPr>
        <p:txBody>
          <a:bodyPr>
            <a:normAutofit/>
          </a:bodyPr>
          <a:lstStyle/>
          <a:p>
            <a:r>
              <a:rPr lang="en-US" dirty="0"/>
              <a:t>A simple implementation of sentiment analysis can be done using </a:t>
            </a:r>
            <a:r>
              <a:rPr lang="en-US" dirty="0" err="1"/>
              <a:t>ChatGPT</a:t>
            </a:r>
            <a:r>
              <a:rPr lang="en-US" dirty="0"/>
              <a:t> with the right prompt.</a:t>
            </a:r>
          </a:p>
        </p:txBody>
      </p:sp>
      <p:sp>
        <p:nvSpPr>
          <p:cNvPr id="5" name="Content Placeholder 3">
            <a:extLst>
              <a:ext uri="{FF2B5EF4-FFF2-40B4-BE49-F238E27FC236}">
                <a16:creationId xmlns:a16="http://schemas.microsoft.com/office/drawing/2014/main" id="{73AB3F8B-9DDE-B97C-CF4E-285392919237}"/>
              </a:ext>
            </a:extLst>
          </p:cNvPr>
          <p:cNvSpPr txBox="1">
            <a:spLocks/>
          </p:cNvSpPr>
          <p:nvPr/>
        </p:nvSpPr>
        <p:spPr>
          <a:xfrm>
            <a:off x="5842000" y="5435600"/>
            <a:ext cx="16374622" cy="77299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lnSpcReduction="20000"/>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dirty="0">
                <a:latin typeface="Courier New" panose="02070309020205020404" pitchFamily="49" charset="0"/>
                <a:cs typeface="Courier New" panose="02070309020205020404" pitchFamily="49" charset="0"/>
              </a:rPr>
              <a:t>From now on, you are going to classify the sentiment of the text given with one word into good, neutral or bad </a:t>
            </a:r>
          </a:p>
          <a:p>
            <a:pPr marL="0" indent="0">
              <a:buNone/>
            </a:pPr>
            <a:r>
              <a:rPr lang="en-US" dirty="0">
                <a:solidFill>
                  <a:schemeClr val="accent2">
                    <a:lumMod val="50000"/>
                  </a:schemeClr>
                </a:solidFill>
                <a:latin typeface="Courier New" panose="02070309020205020404" pitchFamily="49" charset="0"/>
                <a:cs typeface="Courier New" panose="02070309020205020404" pitchFamily="49" charset="0"/>
              </a:rPr>
              <a:t>Understood! I'll classify the sentiment of the text into "good", "neutral", or "bad" based on its overall sentiment. Let me know if you have any text you'd like me to analyze.</a:t>
            </a:r>
          </a:p>
          <a:p>
            <a:pPr marL="0" indent="0">
              <a:buNone/>
            </a:pPr>
            <a:r>
              <a:rPr lang="en-US" dirty="0">
                <a:latin typeface="Courier New" panose="02070309020205020404" pitchFamily="49" charset="0"/>
                <a:cs typeface="Courier New" panose="02070309020205020404" pitchFamily="49" charset="0"/>
              </a:rPr>
              <a:t>Overall, dining at this restaurant was a delight from start to finish. The delicious food, impeccable service, and charming ambiance made for a memorable experience.</a:t>
            </a:r>
          </a:p>
          <a:p>
            <a:pPr marL="0" indent="0">
              <a:buNone/>
            </a:pPr>
            <a:r>
              <a:rPr lang="en-US" dirty="0">
                <a:solidFill>
                  <a:schemeClr val="accent2">
                    <a:lumMod val="50000"/>
                  </a:schemeClr>
                </a:solidFill>
                <a:latin typeface="Courier New" panose="02070309020205020404" pitchFamily="49" charset="0"/>
                <a:cs typeface="Courier New" panose="02070309020205020404" pitchFamily="49" charset="0"/>
              </a:rPr>
              <a:t>The sentiment of the text is "good".</a:t>
            </a:r>
          </a:p>
        </p:txBody>
      </p:sp>
      <p:sp>
        <p:nvSpPr>
          <p:cNvPr id="11" name="Content Placeholder 3">
            <a:extLst>
              <a:ext uri="{FF2B5EF4-FFF2-40B4-BE49-F238E27FC236}">
                <a16:creationId xmlns:a16="http://schemas.microsoft.com/office/drawing/2014/main" id="{DB0773CF-CD5E-65F6-67BE-EAA4F75C401C}"/>
              </a:ext>
            </a:extLst>
          </p:cNvPr>
          <p:cNvSpPr txBox="1">
            <a:spLocks/>
          </p:cNvSpPr>
          <p:nvPr/>
        </p:nvSpPr>
        <p:spPr>
          <a:xfrm>
            <a:off x="2907323" y="73054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err="1">
                <a:solidFill>
                  <a:schemeClr val="accent2">
                    <a:lumMod val="50000"/>
                  </a:schemeClr>
                </a:solidFill>
                <a:latin typeface="Courier New" panose="02070309020205020404" pitchFamily="49" charset="0"/>
                <a:cs typeface="Courier New" panose="02070309020205020404" pitchFamily="49" charset="0"/>
              </a:rPr>
              <a:t>ChatGPT</a:t>
            </a:r>
            <a:r>
              <a:rPr lang="en-US" sz="4100" b="1" dirty="0">
                <a:solidFill>
                  <a:schemeClr val="accent2">
                    <a:lumMod val="50000"/>
                  </a:schemeClr>
                </a:solidFill>
                <a:latin typeface="Courier New" panose="02070309020205020404" pitchFamily="49" charset="0"/>
                <a:cs typeface="Courier New" panose="02070309020205020404" pitchFamily="49" charset="0"/>
              </a:rPr>
              <a:t>	:</a:t>
            </a:r>
          </a:p>
        </p:txBody>
      </p:sp>
      <p:sp>
        <p:nvSpPr>
          <p:cNvPr id="12" name="Content Placeholder 3">
            <a:extLst>
              <a:ext uri="{FF2B5EF4-FFF2-40B4-BE49-F238E27FC236}">
                <a16:creationId xmlns:a16="http://schemas.microsoft.com/office/drawing/2014/main" id="{87DE0462-7FE1-5114-4463-19F484268080}"/>
              </a:ext>
            </a:extLst>
          </p:cNvPr>
          <p:cNvSpPr txBox="1">
            <a:spLocks/>
          </p:cNvSpPr>
          <p:nvPr/>
        </p:nvSpPr>
        <p:spPr>
          <a:xfrm>
            <a:off x="2907323" y="97438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a:latin typeface="Courier New" panose="02070309020205020404" pitchFamily="49" charset="0"/>
                <a:cs typeface="Courier New" panose="02070309020205020404" pitchFamily="49" charset="0"/>
              </a:rPr>
              <a:t>User	:</a:t>
            </a:r>
          </a:p>
        </p:txBody>
      </p:sp>
      <p:sp>
        <p:nvSpPr>
          <p:cNvPr id="13" name="Content Placeholder 3">
            <a:extLst>
              <a:ext uri="{FF2B5EF4-FFF2-40B4-BE49-F238E27FC236}">
                <a16:creationId xmlns:a16="http://schemas.microsoft.com/office/drawing/2014/main" id="{07A3545C-CC48-EE1C-4509-0EDDC77DFB25}"/>
              </a:ext>
            </a:extLst>
          </p:cNvPr>
          <p:cNvSpPr txBox="1">
            <a:spLocks/>
          </p:cNvSpPr>
          <p:nvPr/>
        </p:nvSpPr>
        <p:spPr>
          <a:xfrm>
            <a:off x="2907323" y="53496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a:latin typeface="Courier New" panose="02070309020205020404" pitchFamily="49" charset="0"/>
                <a:cs typeface="Courier New" panose="02070309020205020404" pitchFamily="49" charset="0"/>
              </a:rPr>
              <a:t>User	:</a:t>
            </a:r>
          </a:p>
        </p:txBody>
      </p:sp>
      <p:sp>
        <p:nvSpPr>
          <p:cNvPr id="14" name="Content Placeholder 3">
            <a:extLst>
              <a:ext uri="{FF2B5EF4-FFF2-40B4-BE49-F238E27FC236}">
                <a16:creationId xmlns:a16="http://schemas.microsoft.com/office/drawing/2014/main" id="{43DFF408-AA08-2D2C-817C-4C8D373941F8}"/>
              </a:ext>
            </a:extLst>
          </p:cNvPr>
          <p:cNvSpPr txBox="1">
            <a:spLocks/>
          </p:cNvSpPr>
          <p:nvPr/>
        </p:nvSpPr>
        <p:spPr>
          <a:xfrm>
            <a:off x="2907323" y="12156812"/>
            <a:ext cx="3671278" cy="889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buNone/>
            </a:pPr>
            <a:r>
              <a:rPr lang="en-US" sz="4100" b="1" dirty="0" err="1">
                <a:solidFill>
                  <a:schemeClr val="accent2">
                    <a:lumMod val="50000"/>
                  </a:schemeClr>
                </a:solidFill>
                <a:latin typeface="Courier New" panose="02070309020205020404" pitchFamily="49" charset="0"/>
                <a:cs typeface="Courier New" panose="02070309020205020404" pitchFamily="49" charset="0"/>
              </a:rPr>
              <a:t>ChatGPT</a:t>
            </a:r>
            <a:r>
              <a:rPr lang="en-US" sz="4100" b="1" dirty="0">
                <a:solidFill>
                  <a:schemeClr val="accent2">
                    <a:lumMod val="50000"/>
                  </a:schemeClr>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148837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analysis</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Sentiment analysis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a:xfrm>
            <a:off x="2167377" y="3714224"/>
            <a:ext cx="6011423" cy="8858776"/>
          </a:xfrm>
        </p:spPr>
        <p:txBody>
          <a:bodyPr>
            <a:normAutofit/>
          </a:bodyPr>
          <a:lstStyle/>
          <a:p>
            <a:r>
              <a:rPr lang="en-US" dirty="0"/>
              <a:t>A more applicative use of sentiment analysis is </a:t>
            </a:r>
            <a:r>
              <a:rPr lang="en-US" b="1" dirty="0">
                <a:solidFill>
                  <a:srgbClr val="0070C0"/>
                </a:solidFill>
              </a:rPr>
              <a:t>Social Media Listening tools</a:t>
            </a:r>
            <a:r>
              <a:rPr lang="en-US" dirty="0"/>
              <a:t>.</a:t>
            </a:r>
          </a:p>
          <a:p>
            <a:r>
              <a:rPr lang="en-US" dirty="0"/>
              <a:t>Some of the tools are Hootsuite, Sprout, Brand24, </a:t>
            </a:r>
            <a:r>
              <a:rPr lang="en-US" dirty="0" err="1"/>
              <a:t>Brandwatch</a:t>
            </a:r>
            <a:r>
              <a:rPr lang="en-US" dirty="0"/>
              <a:t>, </a:t>
            </a:r>
            <a:r>
              <a:rPr lang="en-US" dirty="0" err="1"/>
              <a:t>Awario</a:t>
            </a:r>
            <a:endParaRPr lang="en-US" dirty="0"/>
          </a:p>
        </p:txBody>
      </p:sp>
      <p:pic>
        <p:nvPicPr>
          <p:cNvPr id="2050" name="Picture 2" descr="15 Social Media Monitoring Tools for Creators and Businesses">
            <a:extLst>
              <a:ext uri="{FF2B5EF4-FFF2-40B4-BE49-F238E27FC236}">
                <a16:creationId xmlns:a16="http://schemas.microsoft.com/office/drawing/2014/main" id="{2F0F17FC-5EF8-1015-0B57-235DC5C84C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36146" y="3553538"/>
            <a:ext cx="14810082" cy="9019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8800201"/>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Chatbots</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Text generation is a subset of NLP that focuses on producing human-like text.</a:t>
            </a:r>
          </a:p>
          <a:p>
            <a:r>
              <a:rPr lang="en-US" dirty="0"/>
              <a:t>Chatbots are computer programs designed to simulate human conversation. </a:t>
            </a:r>
          </a:p>
          <a:p>
            <a:r>
              <a:rPr lang="en-US" dirty="0"/>
              <a:t>They interact with users through text or speech, responding to queries and providing assistance.</a:t>
            </a:r>
          </a:p>
          <a:p>
            <a:r>
              <a:rPr lang="en-US" dirty="0"/>
              <a:t>Chatbots are commonly used in personal assistants like Siri, Google Assistant, and Alexa, as well as in customer service applications on websites and messaging platforms. (Also, </a:t>
            </a:r>
            <a:r>
              <a:rPr lang="en-US" dirty="0" err="1"/>
              <a:t>ChatGPT</a:t>
            </a:r>
            <a:r>
              <a:rPr lang="en-US" dirty="0"/>
              <a:t>)</a:t>
            </a:r>
          </a:p>
        </p:txBody>
      </p:sp>
    </p:spTree>
    <p:extLst>
      <p:ext uri="{BB962C8B-B14F-4D97-AF65-F5344CB8AC3E}">
        <p14:creationId xmlns:p14="http://schemas.microsoft.com/office/powerpoint/2010/main" val="2628690687"/>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Image/video captioning</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lnSpcReduction="10000"/>
          </a:bodyPr>
          <a:lstStyle/>
          <a:p>
            <a:r>
              <a:rPr lang="en-US" dirty="0"/>
              <a:t>Text generation is used to automatically create captions for images, videos, or other media content. </a:t>
            </a:r>
          </a:p>
          <a:p>
            <a:r>
              <a:rPr lang="en-US" dirty="0"/>
              <a:t>This helps in making content more accessible and engaging, especially for visually impaired individuals or those who prefer text-based content.</a:t>
            </a:r>
          </a:p>
          <a:p>
            <a:r>
              <a:rPr lang="en-US" dirty="0"/>
              <a:t>Advanced text generation models can understand the context of the image or video and generate </a:t>
            </a:r>
            <a:r>
              <a:rPr lang="en-US" b="1" dirty="0"/>
              <a:t>captions</a:t>
            </a:r>
            <a:r>
              <a:rPr lang="en-US" dirty="0"/>
              <a:t> that accurately </a:t>
            </a:r>
            <a:r>
              <a:rPr lang="en-US" b="1" dirty="0">
                <a:solidFill>
                  <a:schemeClr val="accent1">
                    <a:lumMod val="75000"/>
                  </a:schemeClr>
                </a:solidFill>
              </a:rPr>
              <a:t>describe the scene </a:t>
            </a:r>
            <a:r>
              <a:rPr lang="en-US" dirty="0">
                <a:solidFill>
                  <a:schemeClr val="bg2">
                    <a:lumMod val="10000"/>
                  </a:schemeClr>
                </a:solidFill>
              </a:rPr>
              <a:t>(not a speech-to-text technology)</a:t>
            </a:r>
            <a:r>
              <a:rPr lang="en-US" b="1" dirty="0">
                <a:solidFill>
                  <a:schemeClr val="bg2">
                    <a:lumMod val="10000"/>
                  </a:schemeClr>
                </a:solidFill>
              </a:rPr>
              <a:t>.</a:t>
            </a:r>
            <a:endParaRPr lang="en-US" b="1" dirty="0"/>
          </a:p>
          <a:p>
            <a:pPr lvl="1">
              <a:buFont typeface="Wingdings" pitchFamily="2" charset="2"/>
              <a:buChar char="Ø"/>
            </a:pPr>
            <a:r>
              <a:rPr lang="en-US" dirty="0"/>
              <a:t>This includes </a:t>
            </a:r>
            <a:r>
              <a:rPr lang="en-US" b="1" dirty="0">
                <a:solidFill>
                  <a:srgbClr val="0070C0"/>
                </a:solidFill>
              </a:rPr>
              <a:t>identifying</a:t>
            </a:r>
            <a:r>
              <a:rPr lang="en-US" dirty="0"/>
              <a:t> objects, actions, emotions, and other elements within the content.</a:t>
            </a:r>
          </a:p>
        </p:txBody>
      </p:sp>
    </p:spTree>
    <p:extLst>
      <p:ext uri="{BB962C8B-B14F-4D97-AF65-F5344CB8AC3E}">
        <p14:creationId xmlns:p14="http://schemas.microsoft.com/office/powerpoint/2010/main" val="347339320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 captioning</a:t>
            </a:r>
          </a:p>
        </p:txBody>
      </p:sp>
      <p:pic>
        <p:nvPicPr>
          <p:cNvPr id="3074" name="Picture 2" descr="GitHub - danieljl/keras-image-captioning: An implementation of image  captioning in Keras">
            <a:extLst>
              <a:ext uri="{FF2B5EF4-FFF2-40B4-BE49-F238E27FC236}">
                <a16:creationId xmlns:a16="http://schemas.microsoft.com/office/drawing/2014/main" id="{9EAD38AB-AB4F-66B0-2410-AEB2F3788DD4}"/>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167377" y="3260663"/>
            <a:ext cx="20042699" cy="97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14646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video captioning</a:t>
            </a:r>
          </a:p>
        </p:txBody>
      </p:sp>
      <p:pic>
        <p:nvPicPr>
          <p:cNvPr id="4098" name="Picture 2" descr="Exploring Video Captioning Techniques: A Comprehensive Survey on Deep  Learning Methods | SN Computer Science">
            <a:extLst>
              <a:ext uri="{FF2B5EF4-FFF2-40B4-BE49-F238E27FC236}">
                <a16:creationId xmlns:a16="http://schemas.microsoft.com/office/drawing/2014/main" id="{0CBF6678-AABD-6C65-61F6-E05F45F71819}"/>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382252" y="3280429"/>
            <a:ext cx="19563347" cy="9324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57403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Image/video captioning</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Automated captioning has various applications across industries, including social media, e-commerce, education, and entertainment. </a:t>
            </a:r>
          </a:p>
          <a:p>
            <a:r>
              <a:rPr lang="en-US" dirty="0"/>
              <a:t>It can enhance user engagement, improve accessibility, and streamline content creation processes.</a:t>
            </a:r>
          </a:p>
          <a:p>
            <a:r>
              <a:rPr lang="en-US" dirty="0"/>
              <a:t>One example tool to make caption for social media is: </a:t>
            </a:r>
            <a:r>
              <a:rPr lang="en-US" dirty="0">
                <a:hlinkClick r:id="rId2"/>
              </a:rPr>
              <a:t>https://image-to-caption.com/</a:t>
            </a:r>
            <a:r>
              <a:rPr lang="en-US" dirty="0"/>
              <a:t> </a:t>
            </a:r>
          </a:p>
        </p:txBody>
      </p:sp>
    </p:spTree>
    <p:extLst>
      <p:ext uri="{BB962C8B-B14F-4D97-AF65-F5344CB8AC3E}">
        <p14:creationId xmlns:p14="http://schemas.microsoft.com/office/powerpoint/2010/main" val="317143977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Machine translation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Machine translation is the process of automatically translating text from one language to another using computer algorithms. </a:t>
            </a:r>
          </a:p>
          <a:p>
            <a:r>
              <a:rPr lang="en-US" dirty="0"/>
              <a:t>It aims to bridge language barriers and facilitate communication between people who speak different languages.</a:t>
            </a:r>
          </a:p>
          <a:p>
            <a:r>
              <a:rPr lang="en-US" dirty="0"/>
              <a:t>Over time, machine translation has become more accurate thanks to advancements in artificial intelligence and large datasets.</a:t>
            </a:r>
          </a:p>
          <a:p>
            <a:r>
              <a:rPr lang="en-US" dirty="0"/>
              <a:t>Machine translation works best for widely spoken languages like English, Spanish, French, and Chinese, where there is ample training data available.</a:t>
            </a:r>
          </a:p>
        </p:txBody>
      </p:sp>
    </p:spTree>
    <p:extLst>
      <p:ext uri="{BB962C8B-B14F-4D97-AF65-F5344CB8AC3E}">
        <p14:creationId xmlns:p14="http://schemas.microsoft.com/office/powerpoint/2010/main" val="2258913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a:bodyPr>
          <a:lstStyle/>
          <a:p>
            <a:r>
              <a:rPr lang="en-US" dirty="0"/>
              <a:t>Text summarization takes a large amount of information and condenses it into a shorter, more manageable form.</a:t>
            </a:r>
          </a:p>
          <a:p>
            <a:r>
              <a:rPr lang="en-US" dirty="0"/>
              <a:t>Instead of reading through long articles or documents, text summarization helps people quickly grasp the main points and key ideas. </a:t>
            </a:r>
          </a:p>
          <a:p>
            <a:r>
              <a:rPr lang="en-US" dirty="0"/>
              <a:t>Text summarization algorithms are designed to understand the main themes and important information in a piece of text. </a:t>
            </a:r>
          </a:p>
          <a:p>
            <a:pPr lvl="1">
              <a:buFont typeface="Wingdings" pitchFamily="2" charset="2"/>
              <a:buChar char="Ø"/>
            </a:pPr>
            <a:r>
              <a:rPr lang="en-US" dirty="0"/>
              <a:t>They can identify key sentences and phrases that capture the essence of the content.</a:t>
            </a:r>
          </a:p>
        </p:txBody>
      </p:sp>
    </p:spTree>
    <p:extLst>
      <p:ext uri="{BB962C8B-B14F-4D97-AF65-F5344CB8AC3E}">
        <p14:creationId xmlns:p14="http://schemas.microsoft.com/office/powerpoint/2010/main" val="320642498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sp>
        <p:nvSpPr>
          <p:cNvPr id="4" name="Content Placeholder 3">
            <a:extLst>
              <a:ext uri="{FF2B5EF4-FFF2-40B4-BE49-F238E27FC236}">
                <a16:creationId xmlns:a16="http://schemas.microsoft.com/office/drawing/2014/main" id="{33BBCA00-1678-FF03-1DC6-95BFF587523F}"/>
              </a:ext>
            </a:extLst>
          </p:cNvPr>
          <p:cNvSpPr>
            <a:spLocks noGrp="1"/>
          </p:cNvSpPr>
          <p:nvPr>
            <p:ph sz="quarter" idx="11"/>
          </p:nvPr>
        </p:nvSpPr>
        <p:spPr/>
        <p:txBody>
          <a:bodyPr>
            <a:normAutofit fontScale="92500" lnSpcReduction="10000"/>
          </a:bodyPr>
          <a:lstStyle/>
          <a:p>
            <a:r>
              <a:rPr lang="en-US" dirty="0"/>
              <a:t>Text summarization is used in various applications, such as:</a:t>
            </a:r>
          </a:p>
          <a:p>
            <a:pPr lvl="1">
              <a:buFont typeface="Wingdings" pitchFamily="2" charset="2"/>
              <a:buChar char="Ø"/>
            </a:pPr>
            <a:r>
              <a:rPr lang="en-US" dirty="0"/>
              <a:t>News aggregation websites, where headlines and summaries provide a quick overview of the day's events. </a:t>
            </a:r>
          </a:p>
          <a:p>
            <a:pPr lvl="1">
              <a:buFont typeface="Wingdings" pitchFamily="2" charset="2"/>
              <a:buChar char="Ø"/>
            </a:pPr>
            <a:r>
              <a:rPr lang="en-US" dirty="0"/>
              <a:t>Research, helping scientists quickly review relevant literature.</a:t>
            </a:r>
          </a:p>
          <a:p>
            <a:r>
              <a:rPr lang="en-US" dirty="0"/>
              <a:t>There are different approaches to text summarization, including extractive and abstractive methods. </a:t>
            </a:r>
          </a:p>
          <a:p>
            <a:pPr lvl="1">
              <a:buFont typeface="Wingdings" pitchFamily="2" charset="2"/>
              <a:buChar char="Ø"/>
            </a:pPr>
            <a:r>
              <a:rPr lang="en-US" dirty="0"/>
              <a:t>Extractive summarization selects and combines existing sentences from the original text,</a:t>
            </a:r>
          </a:p>
          <a:p>
            <a:pPr lvl="1">
              <a:buFont typeface="Wingdings" pitchFamily="2" charset="2"/>
              <a:buChar char="Ø"/>
            </a:pPr>
            <a:r>
              <a:rPr lang="en-US" dirty="0"/>
              <a:t>Abstractive summarization generates new sentences to convey the main ideas.</a:t>
            </a:r>
          </a:p>
        </p:txBody>
      </p:sp>
    </p:spTree>
    <p:extLst>
      <p:ext uri="{BB962C8B-B14F-4D97-AF65-F5344CB8AC3E}">
        <p14:creationId xmlns:p14="http://schemas.microsoft.com/office/powerpoint/2010/main" val="3006288675"/>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95979-71A3-6C24-1F50-DFF1D7D4B98B}"/>
              </a:ext>
            </a:extLst>
          </p:cNvPr>
          <p:cNvSpPr>
            <a:spLocks noGrp="1"/>
          </p:cNvSpPr>
          <p:nvPr>
            <p:ph type="title"/>
          </p:nvPr>
        </p:nvSpPr>
        <p:spPr/>
        <p:txBody>
          <a:bodyPr>
            <a:normAutofit fontScale="90000"/>
          </a:bodyPr>
          <a:lstStyle/>
          <a:p>
            <a:r>
              <a:rPr lang="en-US" dirty="0"/>
              <a:t>Text Generation</a:t>
            </a:r>
          </a:p>
        </p:txBody>
      </p:sp>
      <p:sp>
        <p:nvSpPr>
          <p:cNvPr id="3" name="Text Placeholder 2">
            <a:extLst>
              <a:ext uri="{FF2B5EF4-FFF2-40B4-BE49-F238E27FC236}">
                <a16:creationId xmlns:a16="http://schemas.microsoft.com/office/drawing/2014/main" id="{C75FD1A7-DA4F-7041-92E8-8FBBA8F6655E}"/>
              </a:ext>
            </a:extLst>
          </p:cNvPr>
          <p:cNvSpPr>
            <a:spLocks noGrp="1"/>
          </p:cNvSpPr>
          <p:nvPr>
            <p:ph type="body" sz="quarter" idx="10"/>
          </p:nvPr>
        </p:nvSpPr>
        <p:spPr/>
        <p:txBody>
          <a:bodyPr/>
          <a:lstStyle/>
          <a:p>
            <a:r>
              <a:rPr lang="en-US" dirty="0"/>
              <a:t>Summarization</a:t>
            </a:r>
          </a:p>
        </p:txBody>
      </p:sp>
      <p:pic>
        <p:nvPicPr>
          <p:cNvPr id="5" name="Picture 2" descr="Bootstrap Your Text Summarization Solution with the Latest Release from  NLP-Recipes - Microsoft Community Hub">
            <a:extLst>
              <a:ext uri="{FF2B5EF4-FFF2-40B4-BE49-F238E27FC236}">
                <a16:creationId xmlns:a16="http://schemas.microsoft.com/office/drawing/2014/main" id="{44DDA81E-674F-03D8-1D2E-539B41F96DFD}"/>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2074722" y="3753853"/>
            <a:ext cx="20231825" cy="8355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84112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6276E-50E4-031C-8A97-7D189FE28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FB2B3-1E25-2C41-8ECD-1E860169A288}"/>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4B80A662-10E2-FA58-8AF7-1A1A76236538}"/>
              </a:ext>
            </a:extLst>
          </p:cNvPr>
          <p:cNvSpPr>
            <a:spLocks noGrp="1"/>
          </p:cNvSpPr>
          <p:nvPr>
            <p:ph type="body" sz="quarter" idx="10"/>
          </p:nvPr>
        </p:nvSpPr>
        <p:spPr/>
        <p:txBody>
          <a:bodyPr/>
          <a:lstStyle/>
          <a:p>
            <a:r>
              <a:rPr lang="en-US" dirty="0"/>
              <a:t>Prompting Basic</a:t>
            </a:r>
          </a:p>
        </p:txBody>
      </p:sp>
      <p:sp>
        <p:nvSpPr>
          <p:cNvPr id="4" name="Content Placeholder 3">
            <a:extLst>
              <a:ext uri="{FF2B5EF4-FFF2-40B4-BE49-F238E27FC236}">
                <a16:creationId xmlns:a16="http://schemas.microsoft.com/office/drawing/2014/main" id="{333817D8-C6AC-0BC6-4B60-476726E7F12D}"/>
              </a:ext>
            </a:extLst>
          </p:cNvPr>
          <p:cNvSpPr>
            <a:spLocks noGrp="1"/>
          </p:cNvSpPr>
          <p:nvPr>
            <p:ph sz="quarter" idx="11"/>
          </p:nvPr>
        </p:nvSpPr>
        <p:spPr/>
        <p:txBody>
          <a:bodyPr>
            <a:normAutofit/>
          </a:bodyPr>
          <a:lstStyle/>
          <a:p>
            <a:r>
              <a:rPr lang="en-ID" dirty="0"/>
              <a:t>Prompts are your input into the AI system to obtain specific results. </a:t>
            </a:r>
          </a:p>
          <a:p>
            <a:r>
              <a:rPr lang="en-ID" dirty="0"/>
              <a:t>In other words, prompts are conversation starters: what and how you tell something to the AI for it to respond in a way that generates useful responses for you. </a:t>
            </a:r>
          </a:p>
          <a:p>
            <a:r>
              <a:rPr lang="en-ID" dirty="0"/>
              <a:t>Understanding what makes an effective prompt and learning to craft prompts on the fly can boost your productivity and creativity when using AI.</a:t>
            </a:r>
          </a:p>
        </p:txBody>
      </p:sp>
    </p:spTree>
    <p:extLst>
      <p:ext uri="{BB962C8B-B14F-4D97-AF65-F5344CB8AC3E}">
        <p14:creationId xmlns:p14="http://schemas.microsoft.com/office/powerpoint/2010/main" val="4259956279"/>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CDC37-2439-F829-5F6F-45F9121B17C3}"/>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E9CB05EE-0B41-9651-D122-E93FBB8E3D2B}"/>
              </a:ext>
            </a:extLst>
          </p:cNvPr>
          <p:cNvSpPr>
            <a:spLocks noGrp="1"/>
          </p:cNvSpPr>
          <p:nvPr>
            <p:ph type="body" sz="quarter" idx="10"/>
          </p:nvPr>
        </p:nvSpPr>
        <p:spPr/>
        <p:txBody>
          <a:bodyPr/>
          <a:lstStyle/>
          <a:p>
            <a:r>
              <a:rPr lang="en-US" dirty="0"/>
              <a:t>Components of effective prompt</a:t>
            </a:r>
          </a:p>
        </p:txBody>
      </p:sp>
      <p:sp>
        <p:nvSpPr>
          <p:cNvPr id="4" name="Content Placeholder 3">
            <a:extLst>
              <a:ext uri="{FF2B5EF4-FFF2-40B4-BE49-F238E27FC236}">
                <a16:creationId xmlns:a16="http://schemas.microsoft.com/office/drawing/2014/main" id="{600FC387-B134-E93D-EF48-7FDEA22FF989}"/>
              </a:ext>
            </a:extLst>
          </p:cNvPr>
          <p:cNvSpPr>
            <a:spLocks noGrp="1"/>
          </p:cNvSpPr>
          <p:nvPr>
            <p:ph sz="quarter" idx="11"/>
          </p:nvPr>
        </p:nvSpPr>
        <p:spPr/>
        <p:txBody>
          <a:bodyPr>
            <a:normAutofit/>
          </a:bodyPr>
          <a:lstStyle/>
          <a:p>
            <a:r>
              <a:rPr lang="en-ID" dirty="0"/>
              <a:t>There are 4 components to consider in writing effective prompts:</a:t>
            </a:r>
          </a:p>
          <a:p>
            <a:pPr lvl="1">
              <a:buFont typeface="Wingdings" pitchFamily="2" charset="2"/>
              <a:buChar char="Ø"/>
            </a:pPr>
            <a:r>
              <a:rPr lang="en-ID" dirty="0">
                <a:solidFill>
                  <a:schemeClr val="accent5"/>
                </a:solidFill>
              </a:rPr>
              <a:t>Persona</a:t>
            </a:r>
            <a:r>
              <a:rPr lang="en-ID" dirty="0"/>
              <a:t>: specific character or identity for the language model to adopt. This helps the model generate responses that are consistent with the assigned role and its associated knowledge and behaviour.</a:t>
            </a:r>
          </a:p>
          <a:p>
            <a:pPr lvl="1">
              <a:buFont typeface="Wingdings" pitchFamily="2" charset="2"/>
              <a:buChar char="Ø"/>
            </a:pPr>
            <a:r>
              <a:rPr lang="en-ID" dirty="0">
                <a:solidFill>
                  <a:schemeClr val="accent4"/>
                </a:solidFill>
              </a:rPr>
              <a:t>Task</a:t>
            </a:r>
            <a:r>
              <a:rPr lang="en-ID" dirty="0"/>
              <a:t>: What things do you want the AI to do?</a:t>
            </a:r>
          </a:p>
          <a:p>
            <a:pPr lvl="1">
              <a:buFont typeface="Wingdings" pitchFamily="2" charset="2"/>
              <a:buChar char="Ø"/>
            </a:pPr>
            <a:r>
              <a:rPr lang="en-ID" dirty="0">
                <a:solidFill>
                  <a:schemeClr val="accent3"/>
                </a:solidFill>
              </a:rPr>
              <a:t>Context</a:t>
            </a:r>
            <a:r>
              <a:rPr lang="en-ID" dirty="0"/>
              <a:t>: specific details or background information relevant to the current conversation or task. It helps the model to understand the nuances of what’s being asked and tailor the response accordingly.</a:t>
            </a:r>
          </a:p>
          <a:p>
            <a:pPr lvl="1">
              <a:buFont typeface="Wingdings" pitchFamily="2" charset="2"/>
              <a:buChar char="Ø"/>
            </a:pPr>
            <a:r>
              <a:rPr lang="en-ID" dirty="0">
                <a:solidFill>
                  <a:schemeClr val="accent1"/>
                </a:solidFill>
              </a:rPr>
              <a:t>Output Format</a:t>
            </a:r>
            <a:r>
              <a:rPr lang="en-ID" dirty="0"/>
              <a:t>: How do you want to format the output of the AI?</a:t>
            </a:r>
          </a:p>
          <a:p>
            <a:pPr>
              <a:buFont typeface="Wingdings" pitchFamily="2" charset="2"/>
              <a:buChar char="Ø"/>
            </a:pPr>
            <a:endParaRPr lang="en-ID" dirty="0"/>
          </a:p>
        </p:txBody>
      </p:sp>
    </p:spTree>
    <p:extLst>
      <p:ext uri="{BB962C8B-B14F-4D97-AF65-F5344CB8AC3E}">
        <p14:creationId xmlns:p14="http://schemas.microsoft.com/office/powerpoint/2010/main" val="186560432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55A19-DBE2-84D0-06C5-4E0D2CDD3CB9}"/>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F3419EBE-BE55-77F2-C96D-B886B07D121D}"/>
              </a:ext>
            </a:extLst>
          </p:cNvPr>
          <p:cNvSpPr/>
          <p:nvPr/>
        </p:nvSpPr>
        <p:spPr>
          <a:xfrm>
            <a:off x="1885950" y="4555158"/>
            <a:ext cx="19973926" cy="3012105"/>
          </a:xfrm>
          <a:prstGeom prst="round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4" name="Content Placeholder 3">
            <a:extLst>
              <a:ext uri="{FF2B5EF4-FFF2-40B4-BE49-F238E27FC236}">
                <a16:creationId xmlns:a16="http://schemas.microsoft.com/office/drawing/2014/main" id="{292BA08A-7922-64A4-506E-13788A13D000}"/>
              </a:ext>
            </a:extLst>
          </p:cNvPr>
          <p:cNvSpPr>
            <a:spLocks noGrp="1"/>
          </p:cNvSpPr>
          <p:nvPr>
            <p:ph sz="quarter" idx="11"/>
          </p:nvPr>
        </p:nvSpPr>
        <p:spPr>
          <a:xfrm>
            <a:off x="2167377" y="3714223"/>
            <a:ext cx="19309300" cy="9458851"/>
          </a:xfrm>
        </p:spPr>
        <p:txBody>
          <a:bodyPr>
            <a:normAutofit/>
          </a:bodyPr>
          <a:lstStyle/>
          <a:p>
            <a:r>
              <a:rPr lang="en-ID" dirty="0"/>
              <a:t>Example of prompt:</a:t>
            </a:r>
          </a:p>
          <a:p>
            <a:pPr marL="0" indent="0" algn="just">
              <a:buNone/>
            </a:pPr>
            <a:r>
              <a:rPr lang="en-ID" dirty="0">
                <a:solidFill>
                  <a:schemeClr val="accent5"/>
                </a:solidFill>
              </a:rPr>
              <a:t>You are a program manager in [industry].</a:t>
            </a:r>
            <a:r>
              <a:rPr lang="en-ID" dirty="0"/>
              <a:t> </a:t>
            </a:r>
            <a:r>
              <a:rPr lang="en-ID" dirty="0">
                <a:solidFill>
                  <a:schemeClr val="accent4"/>
                </a:solidFill>
              </a:rPr>
              <a:t>Draft an executive summary email to</a:t>
            </a:r>
            <a:r>
              <a:rPr lang="en-ID" dirty="0"/>
              <a:t> </a:t>
            </a:r>
            <a:r>
              <a:rPr lang="en-ID" dirty="0">
                <a:solidFill>
                  <a:schemeClr val="accent3"/>
                </a:solidFill>
              </a:rPr>
              <a:t>[persona] based on [details about relevant program docs].</a:t>
            </a:r>
            <a:r>
              <a:rPr lang="en-ID" dirty="0"/>
              <a:t> </a:t>
            </a:r>
            <a:r>
              <a:rPr lang="en-ID" dirty="0">
                <a:solidFill>
                  <a:schemeClr val="accent1"/>
                </a:solidFill>
              </a:rPr>
              <a:t>Limit to bullet points.</a:t>
            </a:r>
          </a:p>
          <a:p>
            <a:pPr>
              <a:buFont typeface="Wingdings" pitchFamily="2" charset="2"/>
              <a:buChar char="Ø"/>
            </a:pPr>
            <a:endParaRPr lang="en-ID" dirty="0"/>
          </a:p>
          <a:p>
            <a:pPr>
              <a:buFont typeface="Wingdings" pitchFamily="2" charset="2"/>
              <a:buChar char="Ø"/>
            </a:pPr>
            <a:endParaRPr lang="en-ID" dirty="0"/>
          </a:p>
          <a:p>
            <a:pPr>
              <a:buFont typeface="Wingdings" pitchFamily="2" charset="2"/>
              <a:buChar char="Ø"/>
            </a:pPr>
            <a:r>
              <a:rPr lang="en-ID" dirty="0"/>
              <a:t>You don’t need to use all four components in every prompt, but using a few will help! </a:t>
            </a:r>
          </a:p>
          <a:p>
            <a:pPr>
              <a:buFont typeface="Wingdings" pitchFamily="2" charset="2"/>
              <a:buChar char="Ø"/>
            </a:pPr>
            <a:r>
              <a:rPr lang="en-ID" dirty="0"/>
              <a:t>Always remember to include a verb or command as part of your task; this is the most important part of a prompt.</a:t>
            </a:r>
          </a:p>
        </p:txBody>
      </p:sp>
      <p:sp>
        <p:nvSpPr>
          <p:cNvPr id="2" name="Title 1">
            <a:extLst>
              <a:ext uri="{FF2B5EF4-FFF2-40B4-BE49-F238E27FC236}">
                <a16:creationId xmlns:a16="http://schemas.microsoft.com/office/drawing/2014/main" id="{65DD7B2D-6C64-15F4-C0CE-938F0D35031C}"/>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C57F84C0-3944-17F9-4E97-F1A6E3ACE224}"/>
              </a:ext>
            </a:extLst>
          </p:cNvPr>
          <p:cNvSpPr>
            <a:spLocks noGrp="1"/>
          </p:cNvSpPr>
          <p:nvPr>
            <p:ph type="body" sz="quarter" idx="10"/>
          </p:nvPr>
        </p:nvSpPr>
        <p:spPr/>
        <p:txBody>
          <a:bodyPr/>
          <a:lstStyle/>
          <a:p>
            <a:r>
              <a:rPr lang="en-US" dirty="0"/>
              <a:t>Components of effective prompt</a:t>
            </a:r>
          </a:p>
        </p:txBody>
      </p:sp>
      <p:grpSp>
        <p:nvGrpSpPr>
          <p:cNvPr id="10" name="Group 9">
            <a:extLst>
              <a:ext uri="{FF2B5EF4-FFF2-40B4-BE49-F238E27FC236}">
                <a16:creationId xmlns:a16="http://schemas.microsoft.com/office/drawing/2014/main" id="{9E032C07-C563-CAFE-7BDD-EB712D3C7A54}"/>
              </a:ext>
            </a:extLst>
          </p:cNvPr>
          <p:cNvGrpSpPr/>
          <p:nvPr/>
        </p:nvGrpSpPr>
        <p:grpSpPr>
          <a:xfrm>
            <a:off x="6848475" y="7835251"/>
            <a:ext cx="10687049" cy="666893"/>
            <a:chOff x="5314951" y="7691850"/>
            <a:chExt cx="10687049" cy="666893"/>
          </a:xfrm>
        </p:grpSpPr>
        <p:sp>
          <p:nvSpPr>
            <p:cNvPr id="7" name="Rounded Rectangle 6">
              <a:extLst>
                <a:ext uri="{FF2B5EF4-FFF2-40B4-BE49-F238E27FC236}">
                  <a16:creationId xmlns:a16="http://schemas.microsoft.com/office/drawing/2014/main" id="{0F4FAA4B-F6CF-4D0B-0308-F1842395D2CD}"/>
                </a:ext>
              </a:extLst>
            </p:cNvPr>
            <p:cNvSpPr/>
            <p:nvPr/>
          </p:nvSpPr>
          <p:spPr>
            <a:xfrm>
              <a:off x="5314951" y="7700407"/>
              <a:ext cx="10687049" cy="658336"/>
            </a:xfrm>
            <a:prstGeom prst="round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panose="020B0606030504020204" pitchFamily="34" charset="0"/>
                <a:ea typeface="Open Sans" panose="020B0606030504020204" pitchFamily="34" charset="0"/>
                <a:cs typeface="Open Sans" panose="020B0606030504020204" pitchFamily="34" charset="0"/>
                <a:sym typeface="Helvetica Neue Medium"/>
              </a:endParaRPr>
            </a:p>
          </p:txBody>
        </p:sp>
        <p:sp>
          <p:nvSpPr>
            <p:cNvPr id="9" name="TextBox 8">
              <a:extLst>
                <a:ext uri="{FF2B5EF4-FFF2-40B4-BE49-F238E27FC236}">
                  <a16:creationId xmlns:a16="http://schemas.microsoft.com/office/drawing/2014/main" id="{73A1507B-F8BD-B1E0-C621-73BB443DE267}"/>
                </a:ext>
              </a:extLst>
            </p:cNvPr>
            <p:cNvSpPr txBox="1"/>
            <p:nvPr/>
          </p:nvSpPr>
          <p:spPr>
            <a:xfrm>
              <a:off x="6149488" y="7691850"/>
              <a:ext cx="9338162"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indent="0" algn="just">
                <a:buNone/>
              </a:pPr>
              <a:r>
                <a:rPr lang="en-ID" sz="3600" dirty="0">
                  <a:solidFill>
                    <a:schemeClr val="accent5"/>
                  </a:solidFill>
                  <a:latin typeface="Open Sans" panose="020B0606030504020204" pitchFamily="34" charset="0"/>
                  <a:ea typeface="Open Sans" panose="020B0606030504020204" pitchFamily="34" charset="0"/>
                  <a:cs typeface="Open Sans" panose="020B0606030504020204" pitchFamily="34" charset="0"/>
                </a:rPr>
                <a:t>Persona    </a:t>
              </a:r>
              <a:r>
                <a:rPr lang="en-ID" sz="3600" dirty="0">
                  <a:solidFill>
                    <a:schemeClr val="accent4"/>
                  </a:solidFill>
                  <a:latin typeface="Open Sans" panose="020B0606030504020204" pitchFamily="34" charset="0"/>
                  <a:ea typeface="Open Sans" panose="020B0606030504020204" pitchFamily="34" charset="0"/>
                  <a:cs typeface="Open Sans" panose="020B0606030504020204" pitchFamily="34" charset="0"/>
                </a:rPr>
                <a:t>Task    </a:t>
              </a:r>
              <a:r>
                <a:rPr lang="en-ID" sz="3600" dirty="0">
                  <a:solidFill>
                    <a:schemeClr val="accent3"/>
                  </a:solidFill>
                  <a:latin typeface="Open Sans" panose="020B0606030504020204" pitchFamily="34" charset="0"/>
                  <a:ea typeface="Open Sans" panose="020B0606030504020204" pitchFamily="34" charset="0"/>
                  <a:cs typeface="Open Sans" panose="020B0606030504020204" pitchFamily="34" charset="0"/>
                </a:rPr>
                <a:t>Context    </a:t>
              </a:r>
              <a:r>
                <a:rPr lang="en-ID" sz="3600" dirty="0">
                  <a:solidFill>
                    <a:schemeClr val="accent1"/>
                  </a:solidFill>
                  <a:latin typeface="Open Sans" panose="020B0606030504020204" pitchFamily="34" charset="0"/>
                  <a:ea typeface="Open Sans" panose="020B0606030504020204" pitchFamily="34" charset="0"/>
                  <a:cs typeface="Open Sans" panose="020B0606030504020204" pitchFamily="34" charset="0"/>
                </a:rPr>
                <a:t>Output Format</a:t>
              </a:r>
            </a:p>
          </p:txBody>
        </p:sp>
      </p:grpSp>
    </p:spTree>
    <p:extLst>
      <p:ext uri="{BB962C8B-B14F-4D97-AF65-F5344CB8AC3E}">
        <p14:creationId xmlns:p14="http://schemas.microsoft.com/office/powerpoint/2010/main" val="193760609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E79BE-7E10-792F-71CB-6A65DD7C2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58C46-9D04-BB07-0416-739D3A2B96BA}"/>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E30DBB68-6D52-1FE4-A98A-411062A31085}"/>
              </a:ext>
            </a:extLst>
          </p:cNvPr>
          <p:cNvSpPr>
            <a:spLocks noGrp="1"/>
          </p:cNvSpPr>
          <p:nvPr>
            <p:ph type="body" sz="quarter" idx="10"/>
          </p:nvPr>
        </p:nvSpPr>
        <p:spPr/>
        <p:txBody>
          <a:bodyPr/>
          <a:lstStyle/>
          <a:p>
            <a:r>
              <a:rPr lang="en-US" dirty="0"/>
              <a:t>Five Tips on Prompting</a:t>
            </a:r>
          </a:p>
        </p:txBody>
      </p:sp>
      <p:sp>
        <p:nvSpPr>
          <p:cNvPr id="9" name="Content Placeholder 8">
            <a:extLst>
              <a:ext uri="{FF2B5EF4-FFF2-40B4-BE49-F238E27FC236}">
                <a16:creationId xmlns:a16="http://schemas.microsoft.com/office/drawing/2014/main" id="{E37EB171-CD50-5C75-C88A-5872A1F1AFDD}"/>
              </a:ext>
            </a:extLst>
          </p:cNvPr>
          <p:cNvSpPr>
            <a:spLocks noGrp="1"/>
          </p:cNvSpPr>
          <p:nvPr>
            <p:ph sz="quarter" idx="11"/>
          </p:nvPr>
        </p:nvSpPr>
        <p:spPr>
          <a:xfrm>
            <a:off x="2167377" y="3714223"/>
            <a:ext cx="10024623" cy="9344552"/>
          </a:xfrm>
        </p:spPr>
        <p:txBody>
          <a:bodyPr>
            <a:normAutofit/>
          </a:bodyPr>
          <a:lstStyle/>
          <a:p>
            <a:r>
              <a:rPr lang="en-ID" sz="4300" b="1" dirty="0"/>
              <a:t>Use natural language</a:t>
            </a:r>
            <a:r>
              <a:rPr lang="en-ID" sz="4300" dirty="0"/>
              <a:t>. </a:t>
            </a:r>
            <a:r>
              <a:rPr lang="en-ID" sz="3500" dirty="0"/>
              <a:t>Write as if you’re speaking to another person. Express complete thoughts in full sentences. </a:t>
            </a:r>
          </a:p>
          <a:p>
            <a:r>
              <a:rPr lang="en-ID" sz="4300" b="1" dirty="0"/>
              <a:t>Be specific and iterate. </a:t>
            </a:r>
            <a:r>
              <a:rPr lang="en-ID" sz="3500" dirty="0"/>
              <a:t>Tell AI what you need it to do (summarize, write, change the tone, create). Use both instructions (language that guides the model on what it should do or produce) and constraints (a set of limitations or boundaries on the response; it limits what the model should avoid) to help guide the output.</a:t>
            </a:r>
          </a:p>
          <a:p>
            <a:r>
              <a:rPr lang="en-ID" sz="4300" b="1" dirty="0"/>
              <a:t>Be concise and avoid complexity. </a:t>
            </a:r>
            <a:r>
              <a:rPr lang="en-ID" sz="3500" dirty="0"/>
              <a:t>State your request in brief — but specific — language. Avoid jargon.</a:t>
            </a:r>
            <a:endParaRPr lang="en-US" sz="3500" dirty="0"/>
          </a:p>
        </p:txBody>
      </p:sp>
      <p:sp>
        <p:nvSpPr>
          <p:cNvPr id="10" name="Content Placeholder 8">
            <a:extLst>
              <a:ext uri="{FF2B5EF4-FFF2-40B4-BE49-F238E27FC236}">
                <a16:creationId xmlns:a16="http://schemas.microsoft.com/office/drawing/2014/main" id="{25F6F8A5-5A42-D1F0-0C23-D4682FBBE94A}"/>
              </a:ext>
            </a:extLst>
          </p:cNvPr>
          <p:cNvSpPr txBox="1">
            <a:spLocks/>
          </p:cNvSpPr>
          <p:nvPr/>
        </p:nvSpPr>
        <p:spPr>
          <a:xfrm>
            <a:off x="12692502" y="3714224"/>
            <a:ext cx="10024623" cy="81297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742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marR="0" indent="-742950" algn="l" defTabSz="2438338" rtl="0" eaLnBrk="1" latinLnBrk="0" hangingPunct="1">
              <a:lnSpc>
                <a:spcPct val="100000"/>
              </a:lnSpc>
              <a:spcBef>
                <a:spcPts val="3500"/>
              </a:spcBef>
              <a:spcAft>
                <a:spcPts val="0"/>
              </a:spcAft>
              <a:buClrTx/>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365760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ID" sz="4000" b="1" dirty="0"/>
              <a:t>Make it a conversation</a:t>
            </a:r>
            <a:r>
              <a:rPr lang="en-ID" dirty="0"/>
              <a:t>. </a:t>
            </a:r>
            <a:r>
              <a:rPr lang="en-ID" sz="3500" dirty="0"/>
              <a:t>Fine-tune your prompts if the results don’t meet your expectations or if you believe there’s room for improvement. Use follow up prompts and an iterative process of review and refinement to yield better results. </a:t>
            </a:r>
          </a:p>
          <a:p>
            <a:r>
              <a:rPr lang="en-ID" sz="4000" b="1" dirty="0"/>
              <a:t>Use your documents</a:t>
            </a:r>
            <a:r>
              <a:rPr lang="en-ID" dirty="0"/>
              <a:t>. </a:t>
            </a:r>
            <a:r>
              <a:rPr lang="en-ID" sz="3500" dirty="0"/>
              <a:t>Personalize AI’s output with information from your own files.</a:t>
            </a:r>
          </a:p>
        </p:txBody>
      </p:sp>
    </p:spTree>
    <p:extLst>
      <p:ext uri="{BB962C8B-B14F-4D97-AF65-F5344CB8AC3E}">
        <p14:creationId xmlns:p14="http://schemas.microsoft.com/office/powerpoint/2010/main" val="2234406861"/>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3B758-B0A0-D379-0ED5-987B1CA84D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C0302-8D5D-FAC0-5F52-F0038E660619}"/>
              </a:ext>
            </a:extLst>
          </p:cNvPr>
          <p:cNvSpPr>
            <a:spLocks noGrp="1"/>
          </p:cNvSpPr>
          <p:nvPr>
            <p:ph type="title"/>
          </p:nvPr>
        </p:nvSpPr>
        <p:spPr/>
        <p:txBody>
          <a:bodyPr>
            <a:normAutofit fontScale="90000"/>
          </a:bodyPr>
          <a:lstStyle/>
          <a:p>
            <a:r>
              <a:rPr lang="en-US" dirty="0"/>
              <a:t>Prompt Engineering</a:t>
            </a:r>
          </a:p>
        </p:txBody>
      </p:sp>
      <p:sp>
        <p:nvSpPr>
          <p:cNvPr id="3" name="Text Placeholder 2">
            <a:extLst>
              <a:ext uri="{FF2B5EF4-FFF2-40B4-BE49-F238E27FC236}">
                <a16:creationId xmlns:a16="http://schemas.microsoft.com/office/drawing/2014/main" id="{CB9CB2FA-6407-43B0-8994-64D9D9D53ACC}"/>
              </a:ext>
            </a:extLst>
          </p:cNvPr>
          <p:cNvSpPr>
            <a:spLocks noGrp="1"/>
          </p:cNvSpPr>
          <p:nvPr>
            <p:ph type="body" sz="quarter" idx="10"/>
          </p:nvPr>
        </p:nvSpPr>
        <p:spPr/>
        <p:txBody>
          <a:bodyPr/>
          <a:lstStyle/>
          <a:p>
            <a:r>
              <a:rPr lang="en-US" dirty="0"/>
              <a:t>Generative AI Awareness</a:t>
            </a:r>
          </a:p>
        </p:txBody>
      </p:sp>
      <p:sp>
        <p:nvSpPr>
          <p:cNvPr id="9" name="Content Placeholder 8">
            <a:extLst>
              <a:ext uri="{FF2B5EF4-FFF2-40B4-BE49-F238E27FC236}">
                <a16:creationId xmlns:a16="http://schemas.microsoft.com/office/drawing/2014/main" id="{6F54A558-829D-D4D1-FEDE-3603DAB4D63B}"/>
              </a:ext>
            </a:extLst>
          </p:cNvPr>
          <p:cNvSpPr>
            <a:spLocks noGrp="1"/>
          </p:cNvSpPr>
          <p:nvPr>
            <p:ph sz="quarter" idx="11"/>
          </p:nvPr>
        </p:nvSpPr>
        <p:spPr>
          <a:xfrm>
            <a:off x="2167377" y="3714223"/>
            <a:ext cx="20030471" cy="9344552"/>
          </a:xfrm>
        </p:spPr>
        <p:txBody>
          <a:bodyPr>
            <a:normAutofit/>
          </a:bodyPr>
          <a:lstStyle/>
          <a:p>
            <a:r>
              <a:rPr lang="en-ID" dirty="0"/>
              <a:t>Generative AI and all of its possibilities are exciting, but it’s still new. </a:t>
            </a:r>
          </a:p>
          <a:p>
            <a:r>
              <a:rPr lang="en-ID" dirty="0"/>
              <a:t>Even though the models are getting better every day, prompts can sometimes have unpredictable responses. </a:t>
            </a:r>
          </a:p>
          <a:p>
            <a:r>
              <a:rPr lang="en-ID" dirty="0"/>
              <a:t>Before putting an output from AI into action, review it to ensure clarity, relevance, and accuracy. </a:t>
            </a:r>
          </a:p>
          <a:p>
            <a:r>
              <a:rPr lang="en-ID" dirty="0"/>
              <a:t>And of course, keep the most important thing in mind</a:t>
            </a:r>
            <a:r>
              <a:rPr lang="en-ID" b="1" dirty="0"/>
              <a:t>: Generative AI is meant to help humans but the final output is yours.</a:t>
            </a:r>
            <a:endParaRPr lang="en-US" sz="3600" b="1" dirty="0"/>
          </a:p>
        </p:txBody>
      </p:sp>
    </p:spTree>
    <p:extLst>
      <p:ext uri="{BB962C8B-B14F-4D97-AF65-F5344CB8AC3E}">
        <p14:creationId xmlns:p14="http://schemas.microsoft.com/office/powerpoint/2010/main" val="1047143983"/>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49EB3-F9B6-707C-9796-DF4A8307D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64458-D103-D5FD-B7B7-C344172AB4AB}"/>
              </a:ext>
            </a:extLst>
          </p:cNvPr>
          <p:cNvSpPr>
            <a:spLocks noGrp="1"/>
          </p:cNvSpPr>
          <p:nvPr>
            <p:ph type="title"/>
          </p:nvPr>
        </p:nvSpPr>
        <p:spPr/>
        <p:txBody>
          <a:bodyPr>
            <a:normAutofit fontScale="90000"/>
          </a:bodyPr>
          <a:lstStyle/>
          <a:p>
            <a:r>
              <a:rPr lang="en-US" dirty="0"/>
              <a:t>Case study</a:t>
            </a:r>
          </a:p>
        </p:txBody>
      </p:sp>
      <p:sp>
        <p:nvSpPr>
          <p:cNvPr id="3" name="Text Placeholder 2">
            <a:extLst>
              <a:ext uri="{FF2B5EF4-FFF2-40B4-BE49-F238E27FC236}">
                <a16:creationId xmlns:a16="http://schemas.microsoft.com/office/drawing/2014/main" id="{4D968348-9BEE-53B2-6244-AA69EE066B33}"/>
              </a:ext>
            </a:extLst>
          </p:cNvPr>
          <p:cNvSpPr>
            <a:spLocks noGrp="1"/>
          </p:cNvSpPr>
          <p:nvPr>
            <p:ph type="body" sz="quarter" idx="10"/>
          </p:nvPr>
        </p:nvSpPr>
        <p:spPr/>
        <p:txBody>
          <a:bodyPr/>
          <a:lstStyle/>
          <a:p>
            <a:r>
              <a:rPr lang="en-US" dirty="0"/>
              <a:t>Language learning robots</a:t>
            </a:r>
          </a:p>
        </p:txBody>
      </p:sp>
      <p:sp>
        <p:nvSpPr>
          <p:cNvPr id="4" name="Content Placeholder 3">
            <a:extLst>
              <a:ext uri="{FF2B5EF4-FFF2-40B4-BE49-F238E27FC236}">
                <a16:creationId xmlns:a16="http://schemas.microsoft.com/office/drawing/2014/main" id="{48FE3BF0-3CA5-1EB1-F99A-97C9C6E06557}"/>
              </a:ext>
            </a:extLst>
          </p:cNvPr>
          <p:cNvSpPr>
            <a:spLocks noGrp="1"/>
          </p:cNvSpPr>
          <p:nvPr>
            <p:ph sz="quarter" idx="11"/>
          </p:nvPr>
        </p:nvSpPr>
        <p:spPr/>
        <p:txBody>
          <a:bodyPr/>
          <a:lstStyle/>
          <a:p>
            <a:r>
              <a:rPr lang="en-US" dirty="0"/>
              <a:t>With the advanced AI, computing, and robotic technology, nowadays companion robots are capable to provide dynamic services, such as foreign </a:t>
            </a:r>
            <a:r>
              <a:rPr lang="en-US" b="1" dirty="0"/>
              <a:t>Language Learning Robots </a:t>
            </a:r>
            <a:r>
              <a:rPr lang="en-US" dirty="0"/>
              <a:t>(LLR) to teach students how to speak foreign languages, i.e. English LLR teach Asian students to learn English, or Spanish LLR teach English-language-oriented students to learn Spanish in their daily activities.</a:t>
            </a:r>
          </a:p>
          <a:p>
            <a:r>
              <a:rPr lang="en-US" dirty="0"/>
              <a:t>Discuss in a group and explain how machine learning techniques can be applied to English Learning for Indonesian students?</a:t>
            </a:r>
          </a:p>
          <a:p>
            <a:r>
              <a:rPr lang="en-US" dirty="0"/>
              <a:t>How is the implementation of English Learning Robot? </a:t>
            </a:r>
          </a:p>
        </p:txBody>
      </p:sp>
    </p:spTree>
    <p:extLst>
      <p:ext uri="{BB962C8B-B14F-4D97-AF65-F5344CB8AC3E}">
        <p14:creationId xmlns:p14="http://schemas.microsoft.com/office/powerpoint/2010/main" val="3223313578"/>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311A8-D707-1764-F641-D2F424B55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88510-7F87-096B-B1B6-66729A647770}"/>
              </a:ext>
            </a:extLst>
          </p:cNvPr>
          <p:cNvSpPr>
            <a:spLocks noGrp="1"/>
          </p:cNvSpPr>
          <p:nvPr>
            <p:ph type="title"/>
          </p:nvPr>
        </p:nvSpPr>
        <p:spPr/>
        <p:txBody>
          <a:bodyPr>
            <a:normAutofit fontScale="90000"/>
          </a:bodyPr>
          <a:lstStyle/>
          <a:p>
            <a:r>
              <a:rPr lang="en-US" dirty="0"/>
              <a:t>Case study</a:t>
            </a:r>
          </a:p>
        </p:txBody>
      </p:sp>
      <p:sp>
        <p:nvSpPr>
          <p:cNvPr id="3" name="Text Placeholder 2">
            <a:extLst>
              <a:ext uri="{FF2B5EF4-FFF2-40B4-BE49-F238E27FC236}">
                <a16:creationId xmlns:a16="http://schemas.microsoft.com/office/drawing/2014/main" id="{A84FB7EF-EC20-05A6-9354-4F14D09A67BD}"/>
              </a:ext>
            </a:extLst>
          </p:cNvPr>
          <p:cNvSpPr>
            <a:spLocks noGrp="1"/>
          </p:cNvSpPr>
          <p:nvPr>
            <p:ph type="body" sz="quarter" idx="10"/>
          </p:nvPr>
        </p:nvSpPr>
        <p:spPr/>
        <p:txBody>
          <a:bodyPr/>
          <a:lstStyle/>
          <a:p>
            <a:r>
              <a:rPr lang="en-US" dirty="0"/>
              <a:t>AI Chatbots</a:t>
            </a:r>
          </a:p>
        </p:txBody>
      </p:sp>
      <p:sp>
        <p:nvSpPr>
          <p:cNvPr id="4" name="Content Placeholder 3">
            <a:extLst>
              <a:ext uri="{FF2B5EF4-FFF2-40B4-BE49-F238E27FC236}">
                <a16:creationId xmlns:a16="http://schemas.microsoft.com/office/drawing/2014/main" id="{A0FD3DC6-4F0A-AD41-1B1B-3B4B9C64C4E3}"/>
              </a:ext>
            </a:extLst>
          </p:cNvPr>
          <p:cNvSpPr>
            <a:spLocks noGrp="1"/>
          </p:cNvSpPr>
          <p:nvPr>
            <p:ph sz="quarter" idx="11"/>
          </p:nvPr>
        </p:nvSpPr>
        <p:spPr/>
        <p:txBody>
          <a:bodyPr/>
          <a:lstStyle/>
          <a:p>
            <a:r>
              <a:rPr lang="en-US" dirty="0"/>
              <a:t>What are the limitations of an AI Chatbot?</a:t>
            </a:r>
          </a:p>
          <a:p>
            <a:pPr lvl="1"/>
            <a:r>
              <a:rPr lang="en-US" dirty="0"/>
              <a:t>Is it flawless? To what extent should you believe it?</a:t>
            </a:r>
          </a:p>
          <a:p>
            <a:pPr lvl="1"/>
            <a:r>
              <a:rPr lang="en-US" dirty="0"/>
              <a:t>How do you actively learning when using it?</a:t>
            </a:r>
          </a:p>
          <a:p>
            <a:pPr lvl="1"/>
            <a:r>
              <a:rPr lang="en-US" dirty="0"/>
              <a:t>Are there any (potential) harm in using it?</a:t>
            </a:r>
          </a:p>
        </p:txBody>
      </p:sp>
    </p:spTree>
    <p:extLst>
      <p:ext uri="{BB962C8B-B14F-4D97-AF65-F5344CB8AC3E}">
        <p14:creationId xmlns:p14="http://schemas.microsoft.com/office/powerpoint/2010/main" val="110743237"/>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4</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p:txBody>
          <a:bodyPr>
            <a:normAutofit lnSpcReduction="10000"/>
          </a:bodyPr>
          <a:lstStyle/>
          <a:p>
            <a:r>
              <a:rPr lang="en-US" dirty="0"/>
              <a:t>Raymond S. T. Lee. 2020. Artificial Intelligence in Daily Life. Springer. China. ISBN 9789811576959</a:t>
            </a:r>
          </a:p>
          <a:p>
            <a:r>
              <a:rPr lang="en-US" dirty="0">
                <a:hlinkClick r:id="rId2"/>
              </a:rPr>
              <a:t>https://image-to-caption.com/</a:t>
            </a:r>
            <a:r>
              <a:rPr lang="en-US" dirty="0"/>
              <a:t> </a:t>
            </a:r>
          </a:p>
          <a:p>
            <a:r>
              <a:rPr lang="en-US" dirty="0" err="1"/>
              <a:t>ChatGPT</a:t>
            </a:r>
            <a:r>
              <a:rPr lang="en-US" dirty="0"/>
              <a:t> </a:t>
            </a:r>
            <a:r>
              <a:rPr lang="en-US" dirty="0">
                <a:hlinkClick r:id="rId3"/>
              </a:rPr>
              <a:t>https://openai.com/blog/chatgpt</a:t>
            </a:r>
            <a:r>
              <a:rPr lang="en-US" dirty="0"/>
              <a:t> </a:t>
            </a:r>
          </a:p>
          <a:p>
            <a:r>
              <a:rPr lang="en-US" dirty="0" err="1"/>
              <a:t>Quillbot</a:t>
            </a:r>
            <a:r>
              <a:rPr lang="en-US" dirty="0"/>
              <a:t> </a:t>
            </a:r>
            <a:r>
              <a:rPr lang="en-US" dirty="0">
                <a:hlinkClick r:id="rId4"/>
              </a:rPr>
              <a:t>https://quillbot.com/summarize</a:t>
            </a:r>
            <a:r>
              <a:rPr lang="en-US" dirty="0"/>
              <a:t> </a:t>
            </a:r>
          </a:p>
          <a:p>
            <a:r>
              <a:rPr lang="en-US" dirty="0"/>
              <a:t>Google translate </a:t>
            </a:r>
            <a:r>
              <a:rPr lang="en-US" dirty="0">
                <a:hlinkClick r:id="rId5"/>
              </a:rPr>
              <a:t>https://translate.google.com</a:t>
            </a:r>
            <a:r>
              <a:rPr lang="en-US" dirty="0"/>
              <a:t> </a:t>
            </a:r>
          </a:p>
          <a:p>
            <a:r>
              <a:rPr lang="en-US" dirty="0"/>
              <a:t>Prompting Guide 101: </a:t>
            </a:r>
            <a:r>
              <a:rPr lang="en-US" dirty="0">
                <a:hlinkClick r:id="rId6"/>
              </a:rPr>
              <a:t>https://services.google.com/fh/files/misc/workspace_with_gemini_prompting_guide.pdf</a:t>
            </a:r>
            <a:r>
              <a:rPr lang="en-US" dirty="0"/>
              <a:t> </a:t>
            </a:r>
          </a:p>
        </p:txBody>
      </p:sp>
    </p:spTree>
    <p:extLst>
      <p:ext uri="{BB962C8B-B14F-4D97-AF65-F5344CB8AC3E}">
        <p14:creationId xmlns:p14="http://schemas.microsoft.com/office/powerpoint/2010/main" val="377477195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21_BasicWhite</Template>
  <TotalTime>4369</TotalTime>
  <Words>2422</Words>
  <Application>Microsoft Macintosh PowerPoint</Application>
  <PresentationFormat>Custom</PresentationFormat>
  <Paragraphs>212</Paragraphs>
  <Slides>34</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Open Sans ExtraBold</vt:lpstr>
      <vt:lpstr>Wingdings</vt:lpstr>
      <vt:lpstr>Arial</vt:lpstr>
      <vt:lpstr>Open Sans</vt:lpstr>
      <vt:lpstr>Courier New</vt:lpstr>
      <vt:lpstr>Open Sans Semibold</vt:lpstr>
      <vt:lpstr>Open Sans Light</vt:lpstr>
      <vt:lpstr>OCRB</vt:lpstr>
      <vt:lpstr>21_BasicWhite</vt:lpstr>
      <vt:lpstr>Backtracking</vt:lpstr>
      <vt:lpstr>Learning Outcomes</vt:lpstr>
      <vt:lpstr>Session outcome</vt:lpstr>
      <vt:lpstr>outline</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Introduction to natural language processing</vt:lpstr>
      <vt:lpstr>Text analysis</vt:lpstr>
      <vt:lpstr>Text analysis</vt:lpstr>
      <vt:lpstr>Text analysis</vt:lpstr>
      <vt:lpstr>Text Generation</vt:lpstr>
      <vt:lpstr>Text Generation</vt:lpstr>
      <vt:lpstr>Text Generation</vt:lpstr>
      <vt:lpstr>Text Generation</vt:lpstr>
      <vt:lpstr>Text Generation</vt:lpstr>
      <vt:lpstr>Text Generation</vt:lpstr>
      <vt:lpstr>Text Generation</vt:lpstr>
      <vt:lpstr>Text Generation</vt:lpstr>
      <vt:lpstr>Text Generation</vt:lpstr>
      <vt:lpstr>Prompt Engineering</vt:lpstr>
      <vt:lpstr>Prompt Engineering</vt:lpstr>
      <vt:lpstr>Prompt Engineering</vt:lpstr>
      <vt:lpstr>Prompt Engineering</vt:lpstr>
      <vt:lpstr>Prompt Engineering</vt:lpstr>
      <vt:lpstr>Case study</vt:lpstr>
      <vt:lpstr>Case study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HENRY LUCKY</cp:lastModifiedBy>
  <cp:revision>40</cp:revision>
  <dcterms:created xsi:type="dcterms:W3CDTF">2023-11-17T02:51:40Z</dcterms:created>
  <dcterms:modified xsi:type="dcterms:W3CDTF">2026-06-29T07:40:31Z</dcterms:modified>
</cp:coreProperties>
</file>