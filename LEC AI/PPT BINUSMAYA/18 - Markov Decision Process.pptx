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sldIdLst>
    <p:sldId id="290" r:id="rId2"/>
    <p:sldId id="257" r:id="rId3"/>
    <p:sldId id="258" r:id="rId4"/>
    <p:sldId id="25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278" r:id="rId34"/>
  </p:sldIdLst>
  <p:sldSz cx="24384000" cy="13716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OCRB" panose="020B0609020202020204" pitchFamily="49" charset="0"/>
      <p:regular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ExtraBold" panose="020B09060308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Open Sans Semibold" panose="020B0706030804020204" pitchFamily="34" charset="0"/>
      <p:regular r:id="rId47"/>
      <p:bold r:id="rId48"/>
      <p:italic r:id="rId49"/>
      <p:boldItalic r:id="rId5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1042"/>
  </p:normalViewPr>
  <p:slideViewPr>
    <p:cSldViewPr snapToGrid="0" snapToObjects="1">
      <p:cViewPr varScale="1">
        <p:scale>
          <a:sx n="31" d="100"/>
          <a:sy n="31" d="100"/>
        </p:scale>
        <p:origin x="108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0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BE16-28EE-8EBE-D1CE-4FC6643E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355D9-6368-6A51-D1FF-869751A0B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59728-878D-FAE0-1F97-B72C90442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19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142A-0599-2FD5-2072-C9756CE4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C9601-D18E-DE77-C6B9-963A003DE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B0A39-507B-0F71-D98D-CA08D6A8D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041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E85C-4D58-1BB7-E407-2D5112FF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01BE9-9222-8F11-31AB-D8A1A04F0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BFB57-DA9E-4EF6-567A-E05BBCB5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2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7D0A-1A6A-DEBB-ED4F-267D3D07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7E82A-077D-3328-8530-F7BBE0F2D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5C120-8208-7E2A-A16D-148C12A58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2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2F38-608F-952A-C788-0580C5BC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F07BD-5760-DCE9-4E2E-1095EAECD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27655-397E-8294-5AA0-4ED8BDE65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13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A4D9-C199-A2F0-C72E-18C9BB10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729B7-4DAC-3B49-3FDE-DB6191CAB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E6FD2-626C-DE7B-608E-FB67945F9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854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A8C3-B684-6174-5D56-16C1F748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276F0-D865-0D30-731F-BB597EF77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6C370-A9B9-71BC-09BD-0B241562B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744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B6427-BA89-32D8-B3E7-D1FA5DF7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0BA10-4768-90BB-76E5-EF7CC2647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7B508-273E-7795-5E83-55C03D0C1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0B93-12F2-948E-0B05-F587186B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9395A-815C-6423-7071-813465EC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8931A-368A-AE79-144E-F4407B67D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04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9244-A498-EF03-FDA8-87711707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B3F97-D1DE-65A2-F7C3-48AD1306C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77E52-B8CA-7449-BB70-A8D9471E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665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8F45-E2EC-9FD5-AB86-A34A8B05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0DC07-CEEA-E63B-4B37-76DB0390A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F5204-E948-C040-7499-296C12A6D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939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593C-B9D9-C010-6EDE-99CC24D5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5593E-0A24-82AF-A928-0F504FB7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C0CA3-AE23-687E-834E-71A7F3865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91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E789-8CD6-BB45-23B2-BF4C85AD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501D2-3389-6951-AA60-F7AF23062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21512-F782-440B-C2E7-0201BA940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0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DB76-0D8B-3CE3-A64A-C31F0584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2F06D-FC66-48B6-CBCD-8C8DF03EC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72627-CEA9-26B2-6A7D-181907087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1342" y="7701901"/>
            <a:ext cx="21971001" cy="1905001"/>
          </a:xfrm>
        </p:spPr>
        <p:txBody>
          <a:bodyPr/>
          <a:lstStyle/>
          <a:p>
            <a:r>
              <a:rPr lang="en-US" dirty="0"/>
              <a:t>Session 18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3522044"/>
            <a:ext cx="21971004" cy="3917819"/>
          </a:xfrm>
        </p:spPr>
        <p:txBody>
          <a:bodyPr/>
          <a:lstStyle/>
          <a:p>
            <a:r>
              <a:rPr lang="en-US" dirty="0"/>
              <a:t>Markov Decision processes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certainty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Markov Decision Processes</a:t>
            </a:r>
          </a:p>
          <a:p>
            <a:r>
              <a:rPr lang="en-ID" dirty="0"/>
              <a:t>Utility</a:t>
            </a:r>
          </a:p>
          <a:p>
            <a:r>
              <a:rPr lang="en-ID" dirty="0"/>
              <a:t>The discount factor</a:t>
            </a:r>
          </a:p>
          <a:p>
            <a:r>
              <a:rPr lang="en-ID" dirty="0"/>
              <a:t>Value Iteration</a:t>
            </a:r>
          </a:p>
          <a:p>
            <a:r>
              <a:rPr lang="en-ID" dirty="0"/>
              <a:t>Policy Iteration</a:t>
            </a:r>
          </a:p>
          <a:p>
            <a:r>
              <a:rPr lang="en-ID" dirty="0"/>
              <a:t>Comparison of value and policy iteration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Intelligent agent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8129718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dirty="0"/>
              <a:t>How does an intelligent agent plan its actions?</a:t>
            </a:r>
          </a:p>
          <a:p>
            <a:pPr marL="1429100" lvl="1" indent="-571500" algn="just">
              <a:buFont typeface="Wingdings" panose="05000000000000000000" pitchFamily="2" charset="2"/>
              <a:buChar char="Ø"/>
            </a:pPr>
            <a:r>
              <a:rPr lang="en-US" dirty="0"/>
              <a:t>If there is no randomness: Use A* search to plan the best path</a:t>
            </a:r>
          </a:p>
          <a:p>
            <a:pPr marL="1429100" lvl="1" indent="-571500" algn="just"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What if our movements are affected by randomness?</a:t>
            </a:r>
          </a:p>
        </p:txBody>
      </p:sp>
    </p:spTree>
    <p:extLst>
      <p:ext uri="{BB962C8B-B14F-4D97-AF65-F5344CB8AC3E}">
        <p14:creationId xmlns:p14="http://schemas.microsoft.com/office/powerpoint/2010/main" val="24312159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C38D-3840-A09B-4E2F-014BFC07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1925-D531-29C4-2816-CBD4421D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998BB-0764-8D6B-3196-31CD5C9692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Grid world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C7FFB-C507-7859-49E3-17B8716239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0949533" cy="8129718"/>
          </a:xfrm>
        </p:spPr>
        <p:txBody>
          <a:bodyPr>
            <a:normAutofit lnSpcReduction="10000"/>
          </a:bodyPr>
          <a:lstStyle/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Maze solving problem: state is s=(I, j), where 0&lt;=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&lt;=2 is the row and 0&lt;=j&lt;=3 is the column.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The robot is trying to find its way to the diamond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If it reaches the diamond, it gets a reward of r((0,3))= +1 and the game ends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If it falls in the fire, it gets a reward of r((1, 3)) = -1 and the game ends.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DBC8F7-A17D-6FD4-DFAC-42242E2E9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042" y="3714224"/>
            <a:ext cx="9586440" cy="71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175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1AFA-1D06-B0A4-646D-4C5EAC43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BF97312-66A2-13E1-3436-9F7DEC095E5A}"/>
              </a:ext>
            </a:extLst>
          </p:cNvPr>
          <p:cNvGrpSpPr/>
          <p:nvPr/>
        </p:nvGrpSpPr>
        <p:grpSpPr>
          <a:xfrm>
            <a:off x="10846676" y="2929735"/>
            <a:ext cx="12605474" cy="9698696"/>
            <a:chOff x="13116910" y="4254024"/>
            <a:chExt cx="10590990" cy="758991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55A010-A55C-9B3D-1872-3ED75A9E5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16910" y="4254024"/>
              <a:ext cx="10590990" cy="758991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E30156-0E4C-F200-AA1C-375F22AB509C}"/>
                </a:ext>
              </a:extLst>
            </p:cNvPr>
            <p:cNvSpPr/>
            <p:nvPr/>
          </p:nvSpPr>
          <p:spPr>
            <a:xfrm>
              <a:off x="13116910" y="4508938"/>
              <a:ext cx="441435" cy="479271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1D2713-64C7-33DC-8D71-4CA9148B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71C7F-7B72-52A5-212F-BD0ED7AE5C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Grid world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2AE7D-76FD-FBCF-8787-FEDCB47CC5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0949533" cy="8129718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Randomness: the robot has shaky actuators. If it tries to move forward,</a:t>
            </a:r>
          </a:p>
          <a:p>
            <a:pPr marL="1429100" lvl="1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With probability 0.8, it succeeds.</a:t>
            </a:r>
          </a:p>
          <a:p>
            <a:pPr marL="1429100" lvl="1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With probability 0.1, it falls left.</a:t>
            </a:r>
          </a:p>
          <a:p>
            <a:pPr marL="1429100" lvl="1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With probability 0.1, it falls right.</a:t>
            </a:r>
          </a:p>
        </p:txBody>
      </p:sp>
    </p:spTree>
    <p:extLst>
      <p:ext uri="{BB962C8B-B14F-4D97-AF65-F5344CB8AC3E}">
        <p14:creationId xmlns:p14="http://schemas.microsoft.com/office/powerpoint/2010/main" val="2844861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4D39-96C5-4BE2-D0A0-DB0CA7F8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21C4-2A00-6D4C-E733-776B1B21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F381C-7EBC-DDDA-5BA0-3670FF1ABB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C2AF8F-8581-0C7F-5BAD-918FDA70EB2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pPr marL="673100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A Markov decision process (MDP) is defined by:</a:t>
                </a:r>
              </a:p>
              <a:p>
                <a:pPr marL="1429100" lvl="1" indent="-571500" algn="just"/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A set of states,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429100" lvl="1" indent="-571500" algn="just"/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A set of actions,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429100" lvl="1" indent="-571500" algn="just"/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A transition model,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2185100" lvl="2" indent="-571500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 is the state at time t</a:t>
                </a:r>
              </a:p>
              <a:p>
                <a:pPr marL="2185100" lvl="2" indent="-571500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 is the action taken at time t (not random)</a:t>
                </a:r>
              </a:p>
              <a:p>
                <a:pPr marL="1429100" lvl="1" indent="-571500" algn="just"/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</a:rPr>
                  <a:t>A reward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C2AF8F-8581-0C7F-5BAD-918FDA70E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865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3182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34B3-23D7-708F-82E6-330D3701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8117-D522-F391-0145-5A8D29BC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A28C6-7E98-D23E-BB6A-8A1D8D170B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Solving an MDP: the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AED51-5DDD-5AB0-CB4A-C60D106C85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8129718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The solution to a maze is a path: the shortest path from start to goal</a:t>
            </a:r>
          </a:p>
          <a:p>
            <a:pPr marL="673100" indent="-571500" algn="just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 MDP, finding 1 path is not enough: randomness might cause us to accidentally deviate from optimal path.</a:t>
            </a:r>
          </a:p>
        </p:txBody>
      </p:sp>
    </p:spTree>
    <p:extLst>
      <p:ext uri="{BB962C8B-B14F-4D97-AF65-F5344CB8AC3E}">
        <p14:creationId xmlns:p14="http://schemas.microsoft.com/office/powerpoint/2010/main" val="141904288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243D-3E90-C3F7-23FB-47F1E56A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8F1C-A45C-E4AD-4C96-050C07A0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Markov Decision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E1D6-1DCD-72A0-CE72-66CC133936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Solving an MDP: the policy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30DCB53-1A47-476C-E3C6-D07CA06A934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3"/>
                <a:ext cx="10024623" cy="9245031"/>
              </a:xfrm>
            </p:spPr>
            <p:txBody>
              <a:bodyPr>
                <a:normAutofit/>
              </a:bodyPr>
              <a:lstStyle/>
              <a:p>
                <a:pPr marL="673100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 depend only on the state (the model is Markov), a complete solution can be expressed as follows:</a:t>
                </a:r>
              </a:p>
              <a:p>
                <a:pPr marL="1429100" lvl="1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What is the best action to take in any given state?</a:t>
                </a:r>
              </a:p>
              <a:p>
                <a:pPr marL="1429100" lvl="1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A policy,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, is a function telling you, for any state s, what is the best action to take in that state.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30DCB53-1A47-476C-E3C6-D07CA06A9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3"/>
                <a:ext cx="10024623" cy="9245031"/>
              </a:xfrm>
              <a:blipFill>
                <a:blip r:embed="rId3"/>
                <a:stretch>
                  <a:fillRect l="-1642" t="-1187" r="-2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AFE6ED2-A21B-DFF0-B2F7-9C73BA755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2000" y="3714223"/>
            <a:ext cx="11089773" cy="653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857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C19C-7FC7-BB43-615A-23835AD5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3206-D9A8-59A9-B8DB-0AC726CA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A3EEA-7A3E-5369-2079-A6E75FD54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2F06AE-5596-1651-89A6-C6C57A1B9C9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pPr marL="673100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The utility of a state,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, is defined to be:</a:t>
                </a:r>
              </a:p>
              <a:p>
                <a:pPr marL="1429100" lvl="1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The sum of all current and future rewards that can be achieved if we start in state s,</a:t>
                </a:r>
              </a:p>
              <a:p>
                <a:pPr marL="1429100" lvl="1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If we choose the best possible sequence of actions,</a:t>
                </a:r>
              </a:p>
              <a:p>
                <a:pPr marL="1429100" lvl="1" indent="-571500" algn="just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And if we average over all possible results of those actions.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2F06AE-5596-1651-89A6-C6C57A1B9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865" t="-1349" r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10945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5E3C-99F7-7400-F02A-8FF74C9F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0206-0654-3802-6F0B-133497A2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57994-63E0-018C-6804-3E911EE305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479D8-5755-D6D0-0C64-58F7EAD3CA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8129718"/>
          </a:xfrm>
        </p:spPr>
        <p:txBody>
          <a:bodyPr>
            <a:normAutofit/>
          </a:bodyPr>
          <a:lstStyle/>
          <a:p>
            <a:r>
              <a:rPr lang="en-US" dirty="0"/>
              <a:t>You’ve been offered a spot as a contestant in a game show.</a:t>
            </a:r>
          </a:p>
          <a:p>
            <a:pPr lvl="1"/>
            <a:r>
              <a:rPr lang="en-US" dirty="0"/>
              <a:t>Reward: you receive successively larger prizes for each question you answer correctly, but if you answer any question incorrectly, you lose it all.</a:t>
            </a:r>
          </a:p>
          <a:p>
            <a:pPr lvl="1"/>
            <a:r>
              <a:rPr lang="en-US" dirty="0"/>
              <a:t>Transition: the questions become harder and harder to answer.</a:t>
            </a:r>
          </a:p>
          <a:p>
            <a:pPr lvl="1"/>
            <a:r>
              <a:rPr lang="en-US" dirty="0"/>
              <a:t>Actions: after each question, you can decide whether to take another question, or stop.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29706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2573-C618-03C3-3B70-F547924E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5A22-2F8F-2CD8-4097-FE6FA7B8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C9C2-25F3-66C4-435D-52059DAD7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AD4DC-F154-292E-9EB5-B1B3484FC3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8129718"/>
          </a:xfrm>
        </p:spPr>
        <p:txBody>
          <a:bodyPr>
            <a:normAutofit/>
          </a:bodyPr>
          <a:lstStyle/>
          <a:p>
            <a:r>
              <a:rPr lang="en-US" dirty="0"/>
              <a:t>Policy: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If you have correctly answered N-1 questions, should you attempt question QN or stop?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A711D-D347-0FD6-4516-F078EF594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385" y="6505770"/>
            <a:ext cx="18769230" cy="66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2381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E6BE-DDAB-810C-E185-0F9229AD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3A7C-7BB9-77B3-CE69-88943237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31F0-2873-0515-02B8-0C39FFE128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D20B45F-CC04-327C-3708-98B96051FD3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: If you have correctly answered 3 questions, should you attempt questions Q4 or stop?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stop: total reward is $11,100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attempt Q4: expected total reward is 1/10 * 61100 + 9/10*0 = $6110</a:t>
                </a:r>
              </a:p>
              <a:p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Policy: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 = stop.			Utility: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3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sz="3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D20B45F-CC04-327C-3708-98B96051F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1121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FDD927-0A5B-6E6F-4A85-8281CEF82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7819203"/>
            <a:ext cx="16593312" cy="58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4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6117-3259-74BC-091B-82CF11DD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F810-3535-BF03-B137-D6F05676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9A70-3B5C-9B3E-CBDF-B89E741B6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6B4AC7-EE13-51DD-8E4C-71DB31FB48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: If you have correctly answered 2 questions, should you attempt questions Q3 or stop?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stop: total reward is $1,100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attempt Q3: expected total reward is 1/2 * 11100 + 1/2*0 = $5550</a:t>
                </a:r>
              </a:p>
              <a:p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Policy: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 = continue.			Utility: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𝟓𝟓𝟓𝟎</m:t>
                    </m:r>
                  </m:oMath>
                </a14:m>
                <a:endParaRPr lang="en-US" sz="3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6B4AC7-EE13-51DD-8E4C-71DB31FB4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1121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F3CCDB-913B-9580-64E9-58EA6D917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7819203"/>
            <a:ext cx="16593312" cy="58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031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5CAC-BA50-EDEA-819B-7FDC2927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DA7B-A68F-DA9F-02FC-9F609475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C849E-0CAF-FE25-8FA2-EC0F0A225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A4D070-5A70-8A8C-75CA-F096A3DBDD6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: If you have correctly answered 1 questions, should you attempt questions Q2 or stop?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stop: total reward is $100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attempt Q2: expected total reward is 3/4 * 5550 + 1/4 * 0 = $4162.5</a:t>
                </a:r>
              </a:p>
              <a:p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Policy: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 = continue.			Utility: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𝟒𝟏𝟔𝟐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3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A4D070-5A70-8A8C-75CA-F096A3DBD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1121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040AD9A-671C-2643-BA1F-468454AE6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7819203"/>
            <a:ext cx="16593312" cy="58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565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5682-487E-CB63-EA5B-B657B115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4F9E-6BFE-879C-7ACF-704117F0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AB05A-F658-3A45-DE39-57E46D5BA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game show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5616DB-920F-8D28-CC8A-454FAC9B3F7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: If you have correctly answered no questions, then you have nothing to lose, so even though the success is very small, you might as well try it!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stop: total reward is $0</a:t>
                </a:r>
              </a:p>
              <a:p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If you attempt Q1: expected total reward is 1/100 * 4162.5 + 99/100*0 = $41.63</a:t>
                </a:r>
              </a:p>
              <a:p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Policy: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 = continue.			Utility: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3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𝟒𝟏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𝟔𝟑</m:t>
                    </m:r>
                  </m:oMath>
                </a14:m>
                <a:endParaRPr lang="en-US" sz="3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5616DB-920F-8D28-CC8A-454FAC9B3F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1121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6BF57EF-24CD-B84F-2F85-AF71AF933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7819203"/>
            <a:ext cx="16593312" cy="58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4081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4C48-B316-A71F-8410-116249B4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134C-8BBC-5614-3CE4-E15EA407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BD39-E02B-2860-DDA6-00422CC9A9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90CEB0-99BC-4C6B-5257-1F12BF02806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2765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utility of a state u(s), is 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The maximum, over all possible sequences of actions, of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…the expected value, over all possible results of those actions, of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…the total of all future rewards.</a:t>
                </a:r>
              </a:p>
              <a:p>
                <a:pPr marL="756000" lvl="1" indent="0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+…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d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90CEB0-99BC-4C6B-5257-1F12BF028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276562"/>
              </a:xfrm>
              <a:blipFill>
                <a:blip r:embed="rId3"/>
                <a:stretch>
                  <a:fillRect l="-1409" t="-1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71028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9224-C2DC-4B79-725E-3F4CC4DA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D9FB-5F57-B464-D097-862C8330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Utility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65A2E-B37D-8673-B5E2-AA291369F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814F96-A2F0-5244-3967-0E828FCC035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utility of a state u(s), is 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The maximum, over all possible sequences of actions, of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…the expected value, over all possible results of those actions, of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…the utility of the resulting state.</a:t>
                </a:r>
              </a:p>
              <a:p>
                <a:pPr lvl="1"/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814F96-A2F0-5244-3967-0E828FCC0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8129718"/>
              </a:xfrm>
              <a:blipFill>
                <a:blip r:embed="rId3"/>
                <a:stretch>
                  <a:fillRect l="-1409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5799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C08DC-72D9-F279-F1CE-F61C1664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discount 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550A6-798E-407B-A327-B1D8C245B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110C5-CA7C-9DDD-0C4A-B22E394C2A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You have just won a contest sponsored by the Galaxia Foundation.</a:t>
            </a:r>
          </a:p>
          <a:p>
            <a:r>
              <a:rPr lang="en-US" dirty="0"/>
              <a:t>They offer you the choice of two options:</a:t>
            </a:r>
          </a:p>
          <a:p>
            <a:r>
              <a:rPr lang="en-US" dirty="0"/>
              <a:t>$60,000 right now or…</a:t>
            </a:r>
          </a:p>
          <a:p>
            <a:r>
              <a:rPr lang="en-US" dirty="0"/>
              <a:t>$1000 per year, paid to you and your heirs annually forever.</a:t>
            </a:r>
          </a:p>
          <a:p>
            <a:endParaRPr lang="en-US" dirty="0"/>
          </a:p>
          <a:p>
            <a:r>
              <a:rPr lang="en-US" dirty="0"/>
              <a:t>Which option is better?</a:t>
            </a:r>
          </a:p>
        </p:txBody>
      </p:sp>
    </p:spTree>
    <p:extLst>
      <p:ext uri="{BB962C8B-B14F-4D97-AF65-F5344CB8AC3E}">
        <p14:creationId xmlns:p14="http://schemas.microsoft.com/office/powerpoint/2010/main" val="1502348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1E31-C70C-8CEC-1252-FF1D0498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C3FB-5EF0-0F67-C2E2-1CF7EAC9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discount 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6E44-4768-2FAE-DE97-DA6EABB3F3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31E3D1-D41F-FC29-DBAA-63894887042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Inflation has averaged 5.5% annually from 2003 to 2024 (based on Bank Indonesia).</a:t>
                </a:r>
              </a:p>
              <a:p>
                <a:r>
                  <a:rPr lang="en-US" dirty="0"/>
                  <a:t>Equivalently, $1000 received one year from now is worth approximately $945 today.</a:t>
                </a:r>
              </a:p>
              <a:p>
                <a:r>
                  <a:rPr lang="en-US" dirty="0"/>
                  <a:t>A reward of $1000 annually forever (starting today, t=0) is equivalent to an immediate reward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0.945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1−0.945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=$18,182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call the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=0.945</m:t>
                    </m:r>
                  </m:oMath>
                </a14:m>
                <a:r>
                  <a:rPr lang="en-US" dirty="0"/>
                  <a:t> the discount factor.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31E3D1-D41F-FC29-DBAA-638948870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429" t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95447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3BFC-F152-B94C-14BF-B97E4630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7CFE-6046-64CC-75A9-21A4847A0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discount 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A100A-C39B-8D67-7403-4F8E9817E3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45EB5-7B81-87DA-9A9C-E2580B71409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Why is a dollar tomorrow worth less than a dollar today?</a:t>
            </a:r>
          </a:p>
          <a:p>
            <a:pPr lvl="1"/>
            <a:r>
              <a:rPr lang="en-US" dirty="0"/>
              <a:t>A dollar will buy less tomorrow</a:t>
            </a:r>
          </a:p>
          <a:p>
            <a:pPr lvl="1"/>
            <a:r>
              <a:rPr lang="en-US" dirty="0"/>
              <a:t>The person paying you might go out of business</a:t>
            </a:r>
          </a:p>
          <a:p>
            <a:pPr lvl="1"/>
            <a:r>
              <a:rPr lang="en-US" dirty="0"/>
              <a:t>You might have to go into hiding and become unable to collect</a:t>
            </a:r>
          </a:p>
          <a:p>
            <a:r>
              <a:rPr lang="en-US" dirty="0"/>
              <a:t>The discount factor is our model of the unknowable uncertainty of promised future rewards</a:t>
            </a:r>
          </a:p>
        </p:txBody>
      </p:sp>
    </p:spTree>
    <p:extLst>
      <p:ext uri="{BB962C8B-B14F-4D97-AF65-F5344CB8AC3E}">
        <p14:creationId xmlns:p14="http://schemas.microsoft.com/office/powerpoint/2010/main" val="29462757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7D3F-A67C-7955-7737-F54865F5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6D93-FC61-6E52-A0D6-DFB7368F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discount 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39FEB-25FF-E82D-2D3B-72A34A2DC6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bellman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56A900-3BB9-C1E7-3EA1-24C8F06F5ED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bellman equation specifies the utility of the current state.</a:t>
                </a:r>
              </a:p>
              <a:p>
                <a:r>
                  <a:rPr lang="en-US" dirty="0"/>
                  <a:t>In solving the bellman equation, we also find the optimum action, which is the policy.</a:t>
                </a:r>
              </a:p>
              <a:p>
                <a:r>
                  <a:rPr lang="en-US" dirty="0"/>
                  <a:t>However…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56A900-3BB9-C1E7-3EA1-24C8F06F5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34463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EC4B-92D6-F446-331D-3C55B2BD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C668-FEEB-C487-9173-50BE7271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discount 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AE57A-DE3B-AC16-F02B-DF4245BDD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bellman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EBCA17-75B0-529F-1E3C-B81C824F3EC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(1|1,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(1|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|1,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there are n states, then the bellman equation is n nonlinear equations in n unknowns.</a:t>
                </a:r>
              </a:p>
              <a:p>
                <a:r>
                  <a:rPr lang="en-US" dirty="0"/>
                  <a:t>There is no closed-form solution; we must use an iterative solution.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EBCA17-75B0-529F-1E3C-B81C824F3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4696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EC79-33A0-FAFC-B73C-790B3A22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20AD-F838-5155-A326-272EF26D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9F47-308A-EE52-D4A4-BC3818AF88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bellman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E66B16-E27C-F3F6-B6F4-A16A3C282B3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Value iteration solves the Bellman equation iteratively. In iteration number I, for </a:t>
                </a:r>
                <a:r>
                  <a:rPr lang="en-US" dirty="0" err="1"/>
                  <a:t>i</a:t>
                </a:r>
                <a:r>
                  <a:rPr lang="en-US" dirty="0"/>
                  <a:t>=0,1,…,</a:t>
                </a:r>
              </a:p>
              <a:p>
                <a:r>
                  <a:rPr lang="en-US" dirty="0"/>
                  <a:t>For all states s, Ui(s) is an estimate of u(s)</a:t>
                </a:r>
              </a:p>
              <a:p>
                <a:r>
                  <a:rPr lang="en-US" dirty="0"/>
                  <a:t>Start out with u0(s) = 0 for all states</a:t>
                </a:r>
              </a:p>
              <a:p>
                <a:r>
                  <a:rPr lang="en-US" dirty="0"/>
                  <a:t>In the </a:t>
                </a:r>
                <a:r>
                  <a:rPr lang="en-US" dirty="0" err="1"/>
                  <a:t>ith</a:t>
                </a:r>
                <a:r>
                  <a:rPr lang="en-US" dirty="0"/>
                  <a:t> iteration,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E66B16-E27C-F3F6-B6F4-A16A3C282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04246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66CC-F983-F74F-77A7-C4840753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4B0E-1524-7344-1CB5-67F3EB65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06083-C109-634D-29C6-2621DD83BE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bellman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634370-CE3D-8BB1-D469-0A564DE012E9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that:</a:t>
                </a:r>
              </a:p>
              <a:p>
                <a:r>
                  <a:rPr lang="en-US" dirty="0"/>
                  <a:t>After I iterations, </a:t>
                </a:r>
                <a:r>
                  <a:rPr lang="en-US" dirty="0" err="1"/>
                  <a:t>ui</a:t>
                </a:r>
                <a:r>
                  <a:rPr lang="en-US" dirty="0"/>
                  <a:t>(s) has information about the rewards earned in the first I steps after the agents starts the maze</a:t>
                </a:r>
              </a:p>
              <a:p>
                <a:r>
                  <a:rPr lang="en-US" dirty="0"/>
                  <a:t>A policy designed based on </a:t>
                </a:r>
                <a:r>
                  <a:rPr lang="en-US" dirty="0" err="1"/>
                  <a:t>ui</a:t>
                </a:r>
                <a:r>
                  <a:rPr lang="en-US" dirty="0"/>
                  <a:t>(s) will act in order to maximize the reward in the first I steps of the maze</a:t>
                </a:r>
              </a:p>
              <a:p>
                <a:r>
                  <a:rPr lang="en-US" dirty="0"/>
                  <a:t>In this sense, it is kind of like BFS: each iteration explores farther and farther away from the starting state.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634370-CE3D-8BB1-D469-0A564DE01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29114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BE55-219C-2318-FAEE-7D5DBB83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55A9-C29F-75AA-82B5-7AB86A49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99F29-1668-2365-B956-1449DD8B4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the grid world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61C8A-F1F6-AC1F-8AFB-87BDD847CB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Assume a “loitering penalty” of r(s) = -0.04 for all non-terminal states.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3F3DB-B67D-F29B-698D-52B177DD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655" y="3360301"/>
            <a:ext cx="15607862" cy="731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4144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709A6-D9F8-DC89-A9A6-63AE109D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75EB-5E42-F8DC-8208-F2FC08ED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616C-4D5A-E859-7682-B747D37CD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the grid world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EC123-79A2-5603-6E2D-97455B60A95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Value iteration: Iteration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2C7D2-C9EF-DCCB-5257-146AAC75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846" y="4890812"/>
            <a:ext cx="20057623" cy="755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5274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682E-C3B2-A1D0-67AD-11F99B1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8B15DD0-E6E5-4C63-6998-BFBE2BCB7BDE}"/>
              </a:ext>
            </a:extLst>
          </p:cNvPr>
          <p:cNvGrpSpPr/>
          <p:nvPr/>
        </p:nvGrpSpPr>
        <p:grpSpPr>
          <a:xfrm>
            <a:off x="2621037" y="2954269"/>
            <a:ext cx="18630430" cy="10383360"/>
            <a:chOff x="2621037" y="2954269"/>
            <a:chExt cx="18630430" cy="1038336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E18956E-8EF9-A3BD-F0A9-43B8E1AA6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1037" y="2954269"/>
              <a:ext cx="18630430" cy="1038336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2B600E-C40F-02A7-A7DC-199E8451C393}"/>
                </a:ext>
              </a:extLst>
            </p:cNvPr>
            <p:cNvSpPr/>
            <p:nvPr/>
          </p:nvSpPr>
          <p:spPr>
            <a:xfrm>
              <a:off x="2621037" y="3223274"/>
              <a:ext cx="9570963" cy="1222602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F5C8E5-08EC-1F5C-503E-E678C3DF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9484A-6257-150F-C6E9-B1C1B8A96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the grid world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4C727-71C0-5219-ECDE-4964A4731F2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Value iteration: Iteration 2</a:t>
            </a:r>
          </a:p>
        </p:txBody>
      </p:sp>
    </p:spTree>
    <p:extLst>
      <p:ext uri="{BB962C8B-B14F-4D97-AF65-F5344CB8AC3E}">
        <p14:creationId xmlns:p14="http://schemas.microsoft.com/office/powerpoint/2010/main" val="148520229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56A4-0337-788C-5026-0602B268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EA-96A5-6F08-587D-D46FF8F7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E693C-CF48-2686-E597-6EB67F52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719322-4976-6AED-2443-63E1C9F02D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Policy Evaluation: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Given a fixed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Calculate the resulting utility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Policy Improvement: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nary>
                      </m:e>
                    </m:func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Given a fixed utility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 an improved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Unlike value iteration, this is guaranteed to converge in a finite number of steps (less than or equal to the number of distinct policies)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719322-4976-6AED-2443-63E1C9F02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 t="-1349" r="-1033" b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00903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1CBA-5885-5324-A231-7F937DF3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5352-A947-FC87-64B2-32ED236F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FFA5-1A01-D47C-FB4D-5D6E1446C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129672-FBFA-1BC4-5761-8CC94FCC7B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Bellman equation: n nonlinear equations in n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(1|1,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(1|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|1,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Policy evaluation: n linear equations in n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(1|1,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(1))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(1|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|1,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(1))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difference is that the policy evaluation is linear, so it can be solved by inverting a matrix: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129672-FBFA-1BC4-5761-8CC94FCC7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 t="-1420" r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66954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FB7D-C6B6-7018-783F-14D5761D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CC97-E349-A482-2AC3-8A2A5BC2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20FC-D46E-19C9-60F1-559F90FEF1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 grid world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B26FBD-A64C-EDB8-F1F0-D43253F0E58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057887" y="3223274"/>
            <a:ext cx="20268225" cy="9725846"/>
          </a:xfrm>
        </p:spPr>
      </p:pic>
    </p:spTree>
    <p:extLst>
      <p:ext uri="{BB962C8B-B14F-4D97-AF65-F5344CB8AC3E}">
        <p14:creationId xmlns:p14="http://schemas.microsoft.com/office/powerpoint/2010/main" val="305584953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FC9C-A6F7-D700-E758-F19A57BC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9690-8AAC-E887-793C-5FC4EA23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9F29F-C865-6DE1-DE95-CD9090B2A5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 grid world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C74853-3D8A-9DE0-414A-4FC798F581F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671145" y="3302456"/>
            <a:ext cx="20545478" cy="10208592"/>
          </a:xfrm>
        </p:spPr>
      </p:pic>
    </p:spTree>
    <p:extLst>
      <p:ext uri="{BB962C8B-B14F-4D97-AF65-F5344CB8AC3E}">
        <p14:creationId xmlns:p14="http://schemas.microsoft.com/office/powerpoint/2010/main" val="155792581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Peter Norvig, Stuart Russel. (2021). Artificial Intelligence: A Modern Approach. Pearson. London. ISBN: 978-1292401133. Ch. 19-20.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CS440 Artificial Intelligence, Mark Hasegawa-Johnson</a:t>
            </a: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4504</TotalTime>
  <Words>1718</Words>
  <Application>Microsoft Office PowerPoint</Application>
  <PresentationFormat>Custom</PresentationFormat>
  <Paragraphs>198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Helvetica Neue Medium</vt:lpstr>
      <vt:lpstr>Open Sans Semibold</vt:lpstr>
      <vt:lpstr>Open Sans Light</vt:lpstr>
      <vt:lpstr>Cambria Math</vt:lpstr>
      <vt:lpstr>Open Sans ExtraBold</vt:lpstr>
      <vt:lpstr>Open Sans</vt:lpstr>
      <vt:lpstr>Arial</vt:lpstr>
      <vt:lpstr>OCRB</vt:lpstr>
      <vt:lpstr>Wingdings</vt:lpstr>
      <vt:lpstr>21_BasicWhite</vt:lpstr>
      <vt:lpstr>Markov Decision processes</vt:lpstr>
      <vt:lpstr>Learning Outcomes</vt:lpstr>
      <vt:lpstr>outline</vt:lpstr>
      <vt:lpstr>Markov Decision Processes</vt:lpstr>
      <vt:lpstr>Markov Decision Processes</vt:lpstr>
      <vt:lpstr>Markov Decision Processes</vt:lpstr>
      <vt:lpstr>Markov Decision Processes</vt:lpstr>
      <vt:lpstr>Markov Decision Processes</vt:lpstr>
      <vt:lpstr>Markov Decision Processes</vt:lpstr>
      <vt:lpstr>Utility</vt:lpstr>
      <vt:lpstr>Utility</vt:lpstr>
      <vt:lpstr>Utility</vt:lpstr>
      <vt:lpstr>Utility</vt:lpstr>
      <vt:lpstr>Utility</vt:lpstr>
      <vt:lpstr>Utility</vt:lpstr>
      <vt:lpstr>Utility</vt:lpstr>
      <vt:lpstr>Utility</vt:lpstr>
      <vt:lpstr>Utility</vt:lpstr>
      <vt:lpstr>The discount factor</vt:lpstr>
      <vt:lpstr>The discount factor</vt:lpstr>
      <vt:lpstr>The discount factor</vt:lpstr>
      <vt:lpstr>The discount factor</vt:lpstr>
      <vt:lpstr>The discount factor</vt:lpstr>
      <vt:lpstr>Value iteration</vt:lpstr>
      <vt:lpstr>Value iteration</vt:lpstr>
      <vt:lpstr>Value iteration</vt:lpstr>
      <vt:lpstr>Value iteration</vt:lpstr>
      <vt:lpstr>Value iteration</vt:lpstr>
      <vt:lpstr>Policy iteration</vt:lpstr>
      <vt:lpstr>Policy iteration</vt:lpstr>
      <vt:lpstr>Policy iteration</vt:lpstr>
      <vt:lpstr>Policy iteration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60</cp:revision>
  <dcterms:created xsi:type="dcterms:W3CDTF">2023-11-17T02:51:40Z</dcterms:created>
  <dcterms:modified xsi:type="dcterms:W3CDTF">2025-01-02T04:37:37Z</dcterms:modified>
</cp:coreProperties>
</file>