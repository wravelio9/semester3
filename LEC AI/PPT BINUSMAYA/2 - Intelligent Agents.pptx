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1"/>
  </p:notesMasterIdLst>
  <p:sldIdLst>
    <p:sldId id="290" r:id="rId2"/>
    <p:sldId id="257" r:id="rId3"/>
    <p:sldId id="258" r:id="rId4"/>
    <p:sldId id="263" r:id="rId5"/>
    <p:sldId id="297" r:id="rId6"/>
    <p:sldId id="265" r:id="rId7"/>
    <p:sldId id="298" r:id="rId8"/>
    <p:sldId id="299" r:id="rId9"/>
    <p:sldId id="300" r:id="rId10"/>
    <p:sldId id="301" r:id="rId11"/>
    <p:sldId id="302" r:id="rId12"/>
    <p:sldId id="303" r:id="rId13"/>
    <p:sldId id="304" r:id="rId14"/>
    <p:sldId id="306" r:id="rId15"/>
    <p:sldId id="308" r:id="rId16"/>
    <p:sldId id="307" r:id="rId17"/>
    <p:sldId id="309" r:id="rId18"/>
    <p:sldId id="311" r:id="rId19"/>
    <p:sldId id="312" r:id="rId20"/>
    <p:sldId id="313" r:id="rId21"/>
    <p:sldId id="314" r:id="rId22"/>
    <p:sldId id="315" r:id="rId23"/>
    <p:sldId id="316" r:id="rId24"/>
    <p:sldId id="317" r:id="rId25"/>
    <p:sldId id="318" r:id="rId26"/>
    <p:sldId id="319" r:id="rId27"/>
    <p:sldId id="320" r:id="rId28"/>
    <p:sldId id="310" r:id="rId29"/>
    <p:sldId id="278" r:id="rId30"/>
  </p:sldIdLst>
  <p:sldSz cx="24384000" cy="13716000"/>
  <p:notesSz cx="6858000" cy="9144000"/>
  <p:embeddedFontLst>
    <p:embeddedFont>
      <p:font typeface="OCRB" panose="020B0609020202020204" pitchFamily="49" charset="0"/>
      <p:regular r:id="rId32"/>
    </p:embeddedFont>
    <p:embeddedFont>
      <p:font typeface="Open Sans" panose="020B0606030504020204" pitchFamily="34" charset="0"/>
      <p:regular r:id="rId33"/>
      <p:bold r:id="rId34"/>
      <p:italic r:id="rId35"/>
      <p:boldItalic r:id="rId36"/>
    </p:embeddedFont>
    <p:embeddedFont>
      <p:font typeface="Open Sans ExtraBold" panose="020B0906030804020204" pitchFamily="34" charset="0"/>
      <p:bold r:id="rId37"/>
      <p:italic r:id="rId38"/>
      <p:boldItalic r:id="rId39"/>
    </p:embeddedFont>
    <p:embeddedFont>
      <p:font typeface="Open Sans Light" panose="020B0306030504020204" pitchFamily="34" charset="0"/>
      <p:regular r:id="rId40"/>
      <p:italic r:id="rId41"/>
    </p:embeddedFont>
    <p:embeddedFont>
      <p:font typeface="Open Sans Semibold" panose="020B0706030804020204" pitchFamily="34" charset="0"/>
      <p:regular r:id="rId42"/>
      <p:bold r:id="rId43"/>
      <p:italic r:id="rId44"/>
      <p:boldItalic r:id="rId45"/>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73" autoAdjust="0"/>
    <p:restoredTop sz="91003"/>
  </p:normalViewPr>
  <p:slideViewPr>
    <p:cSldViewPr snapToGrid="0" snapToObjects="1">
      <p:cViewPr varScale="1">
        <p:scale>
          <a:sx n="35" d="100"/>
          <a:sy n="35" d="100"/>
        </p:scale>
        <p:origin x="460" y="52"/>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3188" y="3260663"/>
            <a:ext cx="20057623" cy="8583279"/>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02</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Intelligent Agents</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9543550" y="11538583"/>
            <a:ext cx="5286583" cy="745888"/>
          </a:xfrm>
        </p:spPr>
        <p:txBody>
          <a:bodyPr/>
          <a:lstStyle/>
          <a:p>
            <a:r>
              <a:rPr lang="en-US" dirty="0"/>
              <a:t>Henry Lucky,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420577925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lstStyle/>
          <a:p>
            <a:pPr marL="0" indent="0">
              <a:buNone/>
            </a:pPr>
            <a:r>
              <a:rPr lang="en-ID" dirty="0"/>
              <a:t>At the end of this session, students will be able to:</a:t>
            </a:r>
          </a:p>
          <a:p>
            <a:r>
              <a:rPr lang="en-ID" dirty="0"/>
              <a:t>LO 1: Describe the concept of the intelligent agent and Artificial Intelligence </a:t>
            </a:r>
          </a:p>
          <a:p>
            <a:endParaRPr lang="en-ID" dirty="0"/>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Agent</a:t>
            </a:r>
          </a:p>
          <a:p>
            <a:r>
              <a:rPr lang="en-ID" dirty="0"/>
              <a:t>Agent Type</a:t>
            </a:r>
          </a:p>
          <a:p>
            <a:r>
              <a:rPr lang="en-ID" dirty="0"/>
              <a:t>Evaluating Agents</a:t>
            </a:r>
          </a:p>
          <a:p>
            <a:r>
              <a:rPr lang="en-ID" dirty="0"/>
              <a:t>Environment Types</a:t>
            </a:r>
          </a:p>
          <a:p>
            <a:r>
              <a:rPr lang="en-ID" dirty="0"/>
              <a:t>Exercise</a:t>
            </a:r>
          </a:p>
          <a:p>
            <a:endParaRPr lang="en-ID" dirty="0"/>
          </a:p>
          <a:p>
            <a:endParaRPr lang="en-ID" dirty="0"/>
          </a:p>
          <a:p>
            <a:endParaRPr lang="en-ID" dirty="0"/>
          </a:p>
        </p:txBody>
      </p:sp>
    </p:spTree>
    <p:extLst>
      <p:ext uri="{BB962C8B-B14F-4D97-AF65-F5344CB8AC3E}">
        <p14:creationId xmlns:p14="http://schemas.microsoft.com/office/powerpoint/2010/main" val="18894624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Vacuum world</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9486900"/>
            <a:ext cx="19309300" cy="3157142"/>
          </a:xfrm>
        </p:spPr>
        <p:txBody>
          <a:bodyPr/>
          <a:lstStyle/>
          <a:p>
            <a:pPr marL="0" indent="0">
              <a:buNone/>
            </a:pPr>
            <a:r>
              <a:rPr lang="en-US" b="1" dirty="0">
                <a:solidFill>
                  <a:schemeClr val="bg2">
                    <a:lumMod val="10000"/>
                  </a:schemeClr>
                </a:solidFill>
              </a:rPr>
              <a:t>The environment</a:t>
            </a:r>
            <a:r>
              <a:rPr lang="en-US" dirty="0">
                <a:solidFill>
                  <a:schemeClr val="bg2">
                    <a:lumMod val="10000"/>
                  </a:schemeClr>
                </a:solidFill>
              </a:rPr>
              <a:t>	: Location A and Location B; Either can be clean or dirty</a:t>
            </a:r>
          </a:p>
          <a:p>
            <a:pPr marL="0" indent="0">
              <a:buNone/>
            </a:pPr>
            <a:r>
              <a:rPr lang="en-US" b="1" dirty="0">
                <a:solidFill>
                  <a:schemeClr val="bg2">
                    <a:lumMod val="10000"/>
                  </a:schemeClr>
                </a:solidFill>
              </a:rPr>
              <a:t>The Agent</a:t>
            </a:r>
            <a:r>
              <a:rPr lang="en-US" dirty="0">
                <a:solidFill>
                  <a:schemeClr val="bg2">
                    <a:lumMod val="10000"/>
                  </a:schemeClr>
                </a:solidFill>
              </a:rPr>
              <a:t>	: Vacuum Cleaner</a:t>
            </a:r>
          </a:p>
          <a:p>
            <a:pPr marL="0" indent="0">
              <a:buNone/>
            </a:pPr>
            <a:r>
              <a:rPr lang="en-US" b="1" dirty="0">
                <a:solidFill>
                  <a:schemeClr val="bg2">
                    <a:lumMod val="10000"/>
                  </a:schemeClr>
                </a:solidFill>
              </a:rPr>
              <a:t>The Task</a:t>
            </a:r>
            <a:r>
              <a:rPr lang="en-US" dirty="0">
                <a:solidFill>
                  <a:schemeClr val="bg2">
                    <a:lumMod val="10000"/>
                  </a:schemeClr>
                </a:solidFill>
              </a:rPr>
              <a:t>	: Clean both A and B</a:t>
            </a:r>
          </a:p>
          <a:p>
            <a:pPr marL="0" indent="0">
              <a:buNone/>
            </a:pPr>
            <a:endParaRPr lang="en-US" dirty="0">
              <a:solidFill>
                <a:schemeClr val="bg2">
                  <a:lumMod val="10000"/>
                </a:schemeClr>
              </a:solidFill>
            </a:endParaRPr>
          </a:p>
        </p:txBody>
      </p:sp>
      <p:pic>
        <p:nvPicPr>
          <p:cNvPr id="5" name="Gambar 4">
            <a:extLst>
              <a:ext uri="{FF2B5EF4-FFF2-40B4-BE49-F238E27FC236}">
                <a16:creationId xmlns:a16="http://schemas.microsoft.com/office/drawing/2014/main" id="{EFBC311E-E0B7-EF57-B567-C8BE242E4080}"/>
              </a:ext>
            </a:extLst>
          </p:cNvPr>
          <p:cNvPicPr>
            <a:picLocks noChangeAspect="1"/>
          </p:cNvPicPr>
          <p:nvPr/>
        </p:nvPicPr>
        <p:blipFill>
          <a:blip r:embed="rId2"/>
          <a:stretch>
            <a:fillRect/>
          </a:stretch>
        </p:blipFill>
        <p:spPr>
          <a:xfrm>
            <a:off x="6656079" y="3411279"/>
            <a:ext cx="11071842" cy="5887615"/>
          </a:xfrm>
          <a:prstGeom prst="rect">
            <a:avLst/>
          </a:prstGeom>
        </p:spPr>
      </p:pic>
    </p:spTree>
    <p:extLst>
      <p:ext uri="{BB962C8B-B14F-4D97-AF65-F5344CB8AC3E}">
        <p14:creationId xmlns:p14="http://schemas.microsoft.com/office/powerpoint/2010/main" val="160471994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Vacuum world</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9486900"/>
            <a:ext cx="20321148" cy="3157142"/>
          </a:xfrm>
        </p:spPr>
        <p:txBody>
          <a:bodyPr/>
          <a:lstStyle/>
          <a:p>
            <a:pPr marL="0" indent="0">
              <a:buNone/>
            </a:pPr>
            <a:r>
              <a:rPr lang="en-US" b="1" dirty="0">
                <a:solidFill>
                  <a:schemeClr val="bg2">
                    <a:lumMod val="10000"/>
                  </a:schemeClr>
                </a:solidFill>
              </a:rPr>
              <a:t>The environment</a:t>
            </a:r>
            <a:r>
              <a:rPr lang="en-US" dirty="0">
                <a:solidFill>
                  <a:schemeClr val="bg2">
                    <a:lumMod val="10000"/>
                  </a:schemeClr>
                </a:solidFill>
              </a:rPr>
              <a:t>	: A photograph</a:t>
            </a:r>
          </a:p>
          <a:p>
            <a:pPr marL="0" indent="0">
              <a:buNone/>
            </a:pPr>
            <a:r>
              <a:rPr lang="en-US" b="1" dirty="0">
                <a:solidFill>
                  <a:schemeClr val="bg2">
                    <a:lumMod val="10000"/>
                  </a:schemeClr>
                </a:solidFill>
              </a:rPr>
              <a:t>The Agent</a:t>
            </a:r>
            <a:r>
              <a:rPr lang="en-US" dirty="0">
                <a:solidFill>
                  <a:schemeClr val="bg2">
                    <a:lumMod val="10000"/>
                  </a:schemeClr>
                </a:solidFill>
              </a:rPr>
              <a:t>	: Program</a:t>
            </a:r>
          </a:p>
          <a:p>
            <a:pPr marL="0" indent="0">
              <a:buNone/>
            </a:pPr>
            <a:r>
              <a:rPr lang="en-US" b="1" dirty="0">
                <a:solidFill>
                  <a:schemeClr val="bg2">
                    <a:lumMod val="10000"/>
                  </a:schemeClr>
                </a:solidFill>
              </a:rPr>
              <a:t>The Task</a:t>
            </a:r>
            <a:r>
              <a:rPr lang="en-US" dirty="0">
                <a:solidFill>
                  <a:schemeClr val="bg2">
                    <a:lumMod val="10000"/>
                  </a:schemeClr>
                </a:solidFill>
              </a:rPr>
              <a:t>	: Find Face, Identify them</a:t>
            </a:r>
          </a:p>
          <a:p>
            <a:pPr marL="0" indent="0">
              <a:buNone/>
            </a:pPr>
            <a:endParaRPr lang="en-US" dirty="0">
              <a:solidFill>
                <a:schemeClr val="bg2">
                  <a:lumMod val="10000"/>
                </a:schemeClr>
              </a:solidFill>
            </a:endParaRPr>
          </a:p>
        </p:txBody>
      </p:sp>
      <p:pic>
        <p:nvPicPr>
          <p:cNvPr id="6" name="Picture 4">
            <a:extLst>
              <a:ext uri="{FF2B5EF4-FFF2-40B4-BE49-F238E27FC236}">
                <a16:creationId xmlns:a16="http://schemas.microsoft.com/office/drawing/2014/main" id="{C19254CE-63C9-D110-2805-6927CA8284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7020" y="3223274"/>
            <a:ext cx="8738463" cy="583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833510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Agent</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US" dirty="0"/>
              <a:t>Definition</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223274"/>
            <a:ext cx="6690873" cy="8583279"/>
          </a:xfrm>
        </p:spPr>
        <p:txBody>
          <a:bodyPr>
            <a:normAutofit/>
          </a:bodyPr>
          <a:lstStyle/>
          <a:p>
            <a:pPr>
              <a:lnSpc>
                <a:spcPct val="150000"/>
              </a:lnSpc>
              <a:spcBef>
                <a:spcPts val="0"/>
              </a:spcBef>
            </a:pPr>
            <a:r>
              <a:rPr lang="en-US" sz="4400" i="0" u="none" strike="noStrike" cap="none" dirty="0">
                <a:solidFill>
                  <a:schemeClr val="bg2">
                    <a:lumMod val="10000"/>
                  </a:schemeClr>
                </a:solidFill>
                <a:latin typeface="Open Sans"/>
                <a:ea typeface="Open Sans"/>
                <a:cs typeface="Open Sans"/>
                <a:sym typeface="Open Sans"/>
              </a:rPr>
              <a:t>An </a:t>
            </a:r>
            <a:r>
              <a:rPr lang="en-US" sz="4400" b="1" i="0" u="none" strike="noStrike" cap="none" dirty="0">
                <a:solidFill>
                  <a:schemeClr val="bg2">
                    <a:lumMod val="10000"/>
                  </a:schemeClr>
                </a:solidFill>
                <a:latin typeface="Open Sans"/>
                <a:ea typeface="Open Sans"/>
                <a:cs typeface="Open Sans"/>
                <a:sym typeface="Open Sans"/>
              </a:rPr>
              <a:t>agent</a:t>
            </a:r>
            <a:r>
              <a:rPr lang="en-US" sz="4400" i="0" u="none" strike="noStrike" cap="none" dirty="0">
                <a:solidFill>
                  <a:schemeClr val="bg2">
                    <a:lumMod val="10000"/>
                  </a:schemeClr>
                </a:solidFill>
                <a:latin typeface="Open Sans"/>
                <a:ea typeface="Open Sans"/>
                <a:cs typeface="Open Sans"/>
                <a:sym typeface="Open Sans"/>
              </a:rPr>
              <a:t> is a system that perceives its </a:t>
            </a:r>
            <a:r>
              <a:rPr lang="en-US" sz="4400" b="1" i="0" u="none" strike="noStrike" cap="none" dirty="0">
                <a:solidFill>
                  <a:schemeClr val="bg2">
                    <a:lumMod val="10000"/>
                  </a:schemeClr>
                </a:solidFill>
                <a:latin typeface="Open Sans"/>
                <a:ea typeface="Open Sans"/>
                <a:cs typeface="Open Sans"/>
                <a:sym typeface="Open Sans"/>
              </a:rPr>
              <a:t>environment</a:t>
            </a:r>
            <a:r>
              <a:rPr lang="en-US" sz="4400" i="0" u="none" strike="noStrike" cap="none" dirty="0">
                <a:solidFill>
                  <a:schemeClr val="bg2">
                    <a:lumMod val="10000"/>
                  </a:schemeClr>
                </a:solidFill>
                <a:latin typeface="Open Sans"/>
                <a:ea typeface="Open Sans"/>
                <a:cs typeface="Open Sans"/>
                <a:sym typeface="Open Sans"/>
              </a:rPr>
              <a:t> through </a:t>
            </a:r>
            <a:r>
              <a:rPr lang="en-US" sz="4400" b="1" i="0" u="none" strike="noStrike" cap="none" dirty="0">
                <a:solidFill>
                  <a:schemeClr val="bg2">
                    <a:lumMod val="10000"/>
                  </a:schemeClr>
                </a:solidFill>
                <a:latin typeface="Open Sans"/>
                <a:ea typeface="Open Sans"/>
                <a:cs typeface="Open Sans"/>
                <a:sym typeface="Open Sans"/>
              </a:rPr>
              <a:t>sensors</a:t>
            </a:r>
            <a:r>
              <a:rPr lang="en-US" sz="4400" i="0" u="none" strike="noStrike" cap="none" dirty="0">
                <a:solidFill>
                  <a:schemeClr val="bg2">
                    <a:lumMod val="10000"/>
                  </a:schemeClr>
                </a:solidFill>
                <a:latin typeface="Open Sans"/>
                <a:ea typeface="Open Sans"/>
                <a:cs typeface="Open Sans"/>
                <a:sym typeface="Open Sans"/>
              </a:rPr>
              <a:t> and acts upon the environment through </a:t>
            </a:r>
            <a:r>
              <a:rPr lang="en-US" sz="4400" b="1" i="0" u="none" strike="noStrike" cap="none" dirty="0">
                <a:solidFill>
                  <a:schemeClr val="bg2">
                    <a:lumMod val="10000"/>
                  </a:schemeClr>
                </a:solidFill>
                <a:latin typeface="Open Sans"/>
                <a:ea typeface="Open Sans"/>
                <a:cs typeface="Open Sans"/>
                <a:sym typeface="Open Sans"/>
              </a:rPr>
              <a:t>actuators</a:t>
            </a:r>
          </a:p>
          <a:p>
            <a:pPr>
              <a:lnSpc>
                <a:spcPct val="150000"/>
              </a:lnSpc>
              <a:spcBef>
                <a:spcPts val="0"/>
              </a:spcBef>
            </a:pPr>
            <a:endParaRPr lang="en-US" sz="4400" i="0" u="none" strike="noStrike" cap="none" dirty="0">
              <a:solidFill>
                <a:schemeClr val="bg2">
                  <a:lumMod val="10000"/>
                </a:schemeClr>
              </a:solidFill>
              <a:latin typeface="Open Sans"/>
              <a:ea typeface="Open Sans"/>
              <a:cs typeface="Open Sans"/>
              <a:sym typeface="Open Sans"/>
            </a:endParaRPr>
          </a:p>
          <a:p>
            <a:pPr>
              <a:lnSpc>
                <a:spcPct val="150000"/>
              </a:lnSpc>
              <a:spcBef>
                <a:spcPts val="0"/>
              </a:spcBef>
            </a:pPr>
            <a:endParaRPr lang="en-US" sz="4400" i="0" u="none" strike="noStrike" cap="none" dirty="0">
              <a:solidFill>
                <a:schemeClr val="bg2">
                  <a:lumMod val="10000"/>
                </a:schemeClr>
              </a:solidFill>
              <a:latin typeface="Open Sans"/>
              <a:ea typeface="Open Sans"/>
              <a:cs typeface="Open Sans"/>
              <a:sym typeface="Open Sans"/>
            </a:endParaRPr>
          </a:p>
          <a:p>
            <a:pPr>
              <a:lnSpc>
                <a:spcPct val="150000"/>
              </a:lnSpc>
              <a:spcBef>
                <a:spcPts val="0"/>
              </a:spcBef>
            </a:pPr>
            <a:endParaRPr lang="en-US" i="0" u="none" strike="noStrike" cap="none" dirty="0">
              <a:solidFill>
                <a:schemeClr val="bg2">
                  <a:lumMod val="10000"/>
                </a:schemeClr>
              </a:solidFill>
              <a:latin typeface="Open Sans"/>
              <a:ea typeface="Open Sans"/>
              <a:cs typeface="Open Sans"/>
              <a:sym typeface="Open Sans"/>
            </a:endParaRPr>
          </a:p>
        </p:txBody>
      </p:sp>
      <p:pic>
        <p:nvPicPr>
          <p:cNvPr id="5" name="Gambar 2">
            <a:extLst>
              <a:ext uri="{FF2B5EF4-FFF2-40B4-BE49-F238E27FC236}">
                <a16:creationId xmlns:a16="http://schemas.microsoft.com/office/drawing/2014/main" id="{B3166B90-25A6-2E1C-FA7A-F5F42A192E51}"/>
              </a:ext>
            </a:extLst>
          </p:cNvPr>
          <p:cNvPicPr>
            <a:picLocks noChangeAspect="1"/>
          </p:cNvPicPr>
          <p:nvPr/>
        </p:nvPicPr>
        <p:blipFill>
          <a:blip r:embed="rId2"/>
          <a:stretch>
            <a:fillRect/>
          </a:stretch>
        </p:blipFill>
        <p:spPr>
          <a:xfrm>
            <a:off x="9561594" y="3317813"/>
            <a:ext cx="12942449" cy="6940612"/>
          </a:xfrm>
          <a:prstGeom prst="rect">
            <a:avLst/>
          </a:prstGeom>
        </p:spPr>
      </p:pic>
    </p:spTree>
    <p:extLst>
      <p:ext uri="{BB962C8B-B14F-4D97-AF65-F5344CB8AC3E}">
        <p14:creationId xmlns:p14="http://schemas.microsoft.com/office/powerpoint/2010/main" val="125490141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FB2D0-A502-25DC-43C6-3AAE3B82CFE0}"/>
              </a:ext>
            </a:extLst>
          </p:cNvPr>
          <p:cNvSpPr>
            <a:spLocks noGrp="1"/>
          </p:cNvSpPr>
          <p:nvPr>
            <p:ph type="title"/>
          </p:nvPr>
        </p:nvSpPr>
        <p:spPr/>
        <p:txBody>
          <a:bodyPr>
            <a:normAutofit fontScale="90000"/>
          </a:bodyPr>
          <a:lstStyle/>
          <a:p>
            <a:r>
              <a:rPr lang="en-US" dirty="0"/>
              <a:t>Agent</a:t>
            </a:r>
          </a:p>
        </p:txBody>
      </p:sp>
      <p:sp>
        <p:nvSpPr>
          <p:cNvPr id="3" name="Text Placeholder 2">
            <a:extLst>
              <a:ext uri="{FF2B5EF4-FFF2-40B4-BE49-F238E27FC236}">
                <a16:creationId xmlns:a16="http://schemas.microsoft.com/office/drawing/2014/main" id="{48128653-74A2-18A3-6DE3-CFFC50358543}"/>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0BABC58F-6D42-1721-F9AA-169D2FB16F2D}"/>
              </a:ext>
            </a:extLst>
          </p:cNvPr>
          <p:cNvSpPr>
            <a:spLocks noGrp="1"/>
          </p:cNvSpPr>
          <p:nvPr>
            <p:ph sz="quarter" idx="11"/>
          </p:nvPr>
        </p:nvSpPr>
        <p:spPr>
          <a:xfrm>
            <a:off x="2163188" y="3260663"/>
            <a:ext cx="20057623" cy="8329279"/>
          </a:xfrm>
        </p:spPr>
        <p:txBody>
          <a:bodyPr/>
          <a:lstStyle/>
          <a:p>
            <a:r>
              <a:rPr lang="en-US" b="1" dirty="0"/>
              <a:t>Sensor: </a:t>
            </a:r>
            <a:r>
              <a:rPr lang="en-US" dirty="0"/>
              <a:t>eyes, ears, nose (human); camera, microphone (robot)</a:t>
            </a:r>
          </a:p>
          <a:p>
            <a:r>
              <a:rPr lang="en-US" b="1" dirty="0"/>
              <a:t>Percept</a:t>
            </a:r>
            <a:r>
              <a:rPr lang="en-US" dirty="0"/>
              <a:t>: the perceptual input at any instant</a:t>
            </a:r>
          </a:p>
          <a:p>
            <a:r>
              <a:rPr lang="en-US" b="1" dirty="0"/>
              <a:t>Percept Sequence:  </a:t>
            </a:r>
            <a:r>
              <a:rPr lang="en-US" dirty="0"/>
              <a:t>the complete history of what the agent has perceived</a:t>
            </a:r>
          </a:p>
          <a:p>
            <a:r>
              <a:rPr lang="en-US" b="1" dirty="0"/>
              <a:t>Actuator</a:t>
            </a:r>
            <a:r>
              <a:rPr lang="en-US" dirty="0"/>
              <a:t>: arms, legs (human, robot), hose (vacuum)</a:t>
            </a:r>
          </a:p>
          <a:p>
            <a:endParaRPr lang="en-US" dirty="0"/>
          </a:p>
          <a:p>
            <a:endParaRPr lang="en-US" dirty="0"/>
          </a:p>
        </p:txBody>
      </p:sp>
    </p:spTree>
    <p:extLst>
      <p:ext uri="{BB962C8B-B14F-4D97-AF65-F5344CB8AC3E}">
        <p14:creationId xmlns:p14="http://schemas.microsoft.com/office/powerpoint/2010/main" val="147175936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Agent</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 vacuum cleaner</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9486900"/>
            <a:ext cx="19309300" cy="3157142"/>
          </a:xfrm>
        </p:spPr>
        <p:txBody>
          <a:bodyPr/>
          <a:lstStyle/>
          <a:p>
            <a:pPr marL="0" indent="0">
              <a:buNone/>
            </a:pPr>
            <a:r>
              <a:rPr lang="en-US" b="1" dirty="0">
                <a:solidFill>
                  <a:schemeClr val="bg2">
                    <a:lumMod val="10000"/>
                  </a:schemeClr>
                </a:solidFill>
              </a:rPr>
              <a:t>Sensor</a:t>
            </a:r>
            <a:r>
              <a:rPr lang="en-US" dirty="0">
                <a:solidFill>
                  <a:schemeClr val="bg2">
                    <a:lumMod val="10000"/>
                  </a:schemeClr>
                </a:solidFill>
              </a:rPr>
              <a:t>	: Camera</a:t>
            </a:r>
          </a:p>
          <a:p>
            <a:pPr marL="0" indent="0">
              <a:buNone/>
            </a:pPr>
            <a:r>
              <a:rPr lang="en-US" b="1" dirty="0">
                <a:solidFill>
                  <a:schemeClr val="bg2">
                    <a:lumMod val="10000"/>
                  </a:schemeClr>
                </a:solidFill>
              </a:rPr>
              <a:t>Percept</a:t>
            </a:r>
            <a:r>
              <a:rPr lang="en-US" dirty="0">
                <a:solidFill>
                  <a:schemeClr val="bg2">
                    <a:lumMod val="10000"/>
                  </a:schemeClr>
                </a:solidFill>
              </a:rPr>
              <a:t>	: Current Location is clean or dirty</a:t>
            </a:r>
          </a:p>
          <a:p>
            <a:pPr marL="0" indent="0">
              <a:buNone/>
            </a:pPr>
            <a:r>
              <a:rPr lang="en-US" b="1" dirty="0">
                <a:solidFill>
                  <a:schemeClr val="bg2">
                    <a:lumMod val="10000"/>
                  </a:schemeClr>
                </a:solidFill>
              </a:rPr>
              <a:t>Actions</a:t>
            </a:r>
            <a:r>
              <a:rPr lang="en-US" dirty="0">
                <a:solidFill>
                  <a:schemeClr val="bg2">
                    <a:lumMod val="10000"/>
                  </a:schemeClr>
                </a:solidFill>
              </a:rPr>
              <a:t>	: Move left, move right, suck</a:t>
            </a:r>
          </a:p>
          <a:p>
            <a:pPr marL="0" indent="0">
              <a:buNone/>
            </a:pPr>
            <a:endParaRPr lang="en-US" dirty="0">
              <a:solidFill>
                <a:schemeClr val="bg2">
                  <a:lumMod val="10000"/>
                </a:schemeClr>
              </a:solidFill>
            </a:endParaRPr>
          </a:p>
        </p:txBody>
      </p:sp>
      <p:pic>
        <p:nvPicPr>
          <p:cNvPr id="5" name="Gambar 4">
            <a:extLst>
              <a:ext uri="{FF2B5EF4-FFF2-40B4-BE49-F238E27FC236}">
                <a16:creationId xmlns:a16="http://schemas.microsoft.com/office/drawing/2014/main" id="{EFBC311E-E0B7-EF57-B567-C8BE242E4080}"/>
              </a:ext>
            </a:extLst>
          </p:cNvPr>
          <p:cNvPicPr>
            <a:picLocks noChangeAspect="1"/>
          </p:cNvPicPr>
          <p:nvPr/>
        </p:nvPicPr>
        <p:blipFill>
          <a:blip r:embed="rId2"/>
          <a:stretch>
            <a:fillRect/>
          </a:stretch>
        </p:blipFill>
        <p:spPr>
          <a:xfrm>
            <a:off x="6656079" y="3411279"/>
            <a:ext cx="11071842" cy="5887615"/>
          </a:xfrm>
          <a:prstGeom prst="rect">
            <a:avLst/>
          </a:prstGeom>
        </p:spPr>
      </p:pic>
    </p:spTree>
    <p:extLst>
      <p:ext uri="{BB962C8B-B14F-4D97-AF65-F5344CB8AC3E}">
        <p14:creationId xmlns:p14="http://schemas.microsoft.com/office/powerpoint/2010/main" val="21202029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BFF8C-A2D2-47CE-43C9-DDB673EA07CB}"/>
              </a:ext>
            </a:extLst>
          </p:cNvPr>
          <p:cNvSpPr>
            <a:spLocks noGrp="1"/>
          </p:cNvSpPr>
          <p:nvPr>
            <p:ph type="title"/>
          </p:nvPr>
        </p:nvSpPr>
        <p:spPr/>
        <p:txBody>
          <a:bodyPr>
            <a:normAutofit fontScale="90000"/>
          </a:bodyPr>
          <a:lstStyle/>
          <a:p>
            <a:r>
              <a:rPr lang="en-US" dirty="0"/>
              <a:t>Agent</a:t>
            </a:r>
          </a:p>
        </p:txBody>
      </p:sp>
      <p:sp>
        <p:nvSpPr>
          <p:cNvPr id="3" name="Text Placeholder 2">
            <a:extLst>
              <a:ext uri="{FF2B5EF4-FFF2-40B4-BE49-F238E27FC236}">
                <a16:creationId xmlns:a16="http://schemas.microsoft.com/office/drawing/2014/main" id="{C08D1564-E01A-C9C9-4180-B30E24C94C1B}"/>
              </a:ext>
            </a:extLst>
          </p:cNvPr>
          <p:cNvSpPr>
            <a:spLocks noGrp="1"/>
          </p:cNvSpPr>
          <p:nvPr>
            <p:ph type="body" sz="quarter" idx="10"/>
          </p:nvPr>
        </p:nvSpPr>
        <p:spPr/>
        <p:txBody>
          <a:bodyPr/>
          <a:lstStyle/>
          <a:p>
            <a:r>
              <a:rPr lang="en-US" dirty="0"/>
              <a:t>The agent program “The brain”</a:t>
            </a:r>
          </a:p>
        </p:txBody>
      </p:sp>
      <p:sp>
        <p:nvSpPr>
          <p:cNvPr id="4" name="Content Placeholder 3">
            <a:extLst>
              <a:ext uri="{FF2B5EF4-FFF2-40B4-BE49-F238E27FC236}">
                <a16:creationId xmlns:a16="http://schemas.microsoft.com/office/drawing/2014/main" id="{8BF7C5FE-B42F-F37E-64C0-7FEEE690458B}"/>
              </a:ext>
            </a:extLst>
          </p:cNvPr>
          <p:cNvSpPr>
            <a:spLocks noGrp="1"/>
          </p:cNvSpPr>
          <p:nvPr>
            <p:ph sz="quarter" idx="11"/>
          </p:nvPr>
        </p:nvSpPr>
        <p:spPr/>
        <p:txBody>
          <a:bodyPr/>
          <a:lstStyle/>
          <a:p>
            <a:r>
              <a:rPr lang="en-US" dirty="0"/>
              <a:t>The agent program decides what action to take in each situation</a:t>
            </a:r>
          </a:p>
          <a:p>
            <a:pPr lvl="1"/>
            <a:r>
              <a:rPr lang="en-US" dirty="0"/>
              <a:t>Situation = the current percept sequence</a:t>
            </a:r>
          </a:p>
          <a:p>
            <a:pPr lvl="1"/>
            <a:r>
              <a:rPr lang="en-US" dirty="0"/>
              <a:t>It implements a mapping from percept sequences to actions (the agent function)</a:t>
            </a:r>
          </a:p>
          <a:p>
            <a:endParaRPr lang="en-US" dirty="0"/>
          </a:p>
        </p:txBody>
      </p:sp>
      <p:graphicFrame>
        <p:nvGraphicFramePr>
          <p:cNvPr id="10" name="Tabel 2">
            <a:extLst>
              <a:ext uri="{FF2B5EF4-FFF2-40B4-BE49-F238E27FC236}">
                <a16:creationId xmlns:a16="http://schemas.microsoft.com/office/drawing/2014/main" id="{85AA8D7A-B0D7-943B-D0CF-C9935F31A997}"/>
              </a:ext>
            </a:extLst>
          </p:cNvPr>
          <p:cNvGraphicFramePr>
            <a:graphicFrameLocks noGrp="1"/>
          </p:cNvGraphicFramePr>
          <p:nvPr>
            <p:extLst>
              <p:ext uri="{D42A27DB-BD31-4B8C-83A1-F6EECF244321}">
                <p14:modId xmlns:p14="http://schemas.microsoft.com/office/powerpoint/2010/main" val="2525515357"/>
              </p:ext>
            </p:extLst>
          </p:nvPr>
        </p:nvGraphicFramePr>
        <p:xfrm>
          <a:off x="2914650" y="7758231"/>
          <a:ext cx="18059400" cy="3048000"/>
        </p:xfrm>
        <a:graphic>
          <a:graphicData uri="http://schemas.openxmlformats.org/drawingml/2006/table">
            <a:tbl>
              <a:tblPr firstRow="1" bandRow="1">
                <a:tableStyleId>{3B4B98B0-60AC-42C2-AFA5-B58CD77FA1E5}</a:tableStyleId>
              </a:tblPr>
              <a:tblGrid>
                <a:gridCol w="12830175">
                  <a:extLst>
                    <a:ext uri="{9D8B030D-6E8A-4147-A177-3AD203B41FA5}">
                      <a16:colId xmlns:a16="http://schemas.microsoft.com/office/drawing/2014/main" val="1736015344"/>
                    </a:ext>
                  </a:extLst>
                </a:gridCol>
                <a:gridCol w="5229225">
                  <a:extLst>
                    <a:ext uri="{9D8B030D-6E8A-4147-A177-3AD203B41FA5}">
                      <a16:colId xmlns:a16="http://schemas.microsoft.com/office/drawing/2014/main" val="1333990049"/>
                    </a:ext>
                  </a:extLst>
                </a:gridCol>
              </a:tblGrid>
              <a:tr h="0">
                <a:tc>
                  <a:txBody>
                    <a:bodyPr/>
                    <a:lstStyle/>
                    <a:p>
                      <a:r>
                        <a:rPr lang="en-US" sz="4400" dirty="0"/>
                        <a:t>Percept Sequence</a:t>
                      </a:r>
                    </a:p>
                  </a:txBody>
                  <a:tcPr/>
                </a:tc>
                <a:tc>
                  <a:txBody>
                    <a:bodyPr/>
                    <a:lstStyle/>
                    <a:p>
                      <a:r>
                        <a:rPr lang="en-US" sz="4400" dirty="0"/>
                        <a:t>Action</a:t>
                      </a:r>
                    </a:p>
                  </a:txBody>
                  <a:tcPr/>
                </a:tc>
                <a:extLst>
                  <a:ext uri="{0D108BD9-81ED-4DB2-BD59-A6C34878D82A}">
                    <a16:rowId xmlns:a16="http://schemas.microsoft.com/office/drawing/2014/main" val="3003010562"/>
                  </a:ext>
                </a:extLst>
              </a:tr>
              <a:tr h="370840">
                <a:tc>
                  <a:txBody>
                    <a:bodyPr/>
                    <a:lstStyle/>
                    <a:p>
                      <a:r>
                        <a:rPr lang="en-US" sz="4400" dirty="0"/>
                        <a:t>[A, Clean]</a:t>
                      </a:r>
                    </a:p>
                  </a:txBody>
                  <a:tcPr/>
                </a:tc>
                <a:tc>
                  <a:txBody>
                    <a:bodyPr/>
                    <a:lstStyle/>
                    <a:p>
                      <a:r>
                        <a:rPr lang="en-US" sz="4400" dirty="0"/>
                        <a:t>Move Right</a:t>
                      </a:r>
                    </a:p>
                  </a:txBody>
                  <a:tcPr/>
                </a:tc>
                <a:extLst>
                  <a:ext uri="{0D108BD9-81ED-4DB2-BD59-A6C34878D82A}">
                    <a16:rowId xmlns:a16="http://schemas.microsoft.com/office/drawing/2014/main" val="571705719"/>
                  </a:ext>
                </a:extLst>
              </a:tr>
              <a:tr h="370840">
                <a:tc>
                  <a:txBody>
                    <a:bodyPr/>
                    <a:lstStyle/>
                    <a:p>
                      <a:r>
                        <a:rPr lang="en-US" sz="4400" dirty="0"/>
                        <a:t>[A, Dirty]</a:t>
                      </a:r>
                    </a:p>
                  </a:txBody>
                  <a:tcPr/>
                </a:tc>
                <a:tc>
                  <a:txBody>
                    <a:bodyPr/>
                    <a:lstStyle/>
                    <a:p>
                      <a:r>
                        <a:rPr lang="en-US" sz="4400" dirty="0"/>
                        <a:t>Suck</a:t>
                      </a:r>
                    </a:p>
                  </a:txBody>
                  <a:tcPr/>
                </a:tc>
                <a:extLst>
                  <a:ext uri="{0D108BD9-81ED-4DB2-BD59-A6C34878D82A}">
                    <a16:rowId xmlns:a16="http://schemas.microsoft.com/office/drawing/2014/main" val="2594491429"/>
                  </a:ext>
                </a:extLst>
              </a:tr>
              <a:tr h="370840">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lang="en-US" sz="4400" dirty="0"/>
                        <a:t>[A, Clean] , [A, Dirty]</a:t>
                      </a:r>
                    </a:p>
                  </a:txBody>
                  <a:tcPr/>
                </a:tc>
                <a:tc>
                  <a:txBody>
                    <a:bodyPr/>
                    <a:lstStyle/>
                    <a:p>
                      <a:r>
                        <a:rPr lang="en-US" sz="4400" dirty="0"/>
                        <a:t>Suck</a:t>
                      </a:r>
                    </a:p>
                  </a:txBody>
                  <a:tcPr/>
                </a:tc>
                <a:extLst>
                  <a:ext uri="{0D108BD9-81ED-4DB2-BD59-A6C34878D82A}">
                    <a16:rowId xmlns:a16="http://schemas.microsoft.com/office/drawing/2014/main" val="2560959325"/>
                  </a:ext>
                </a:extLst>
              </a:tr>
            </a:tbl>
          </a:graphicData>
        </a:graphic>
      </p:graphicFrame>
    </p:spTree>
    <p:extLst>
      <p:ext uri="{BB962C8B-B14F-4D97-AF65-F5344CB8AC3E}">
        <p14:creationId xmlns:p14="http://schemas.microsoft.com/office/powerpoint/2010/main" val="117444672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BFF8C-A2D2-47CE-43C9-DDB673EA07CB}"/>
              </a:ext>
            </a:extLst>
          </p:cNvPr>
          <p:cNvSpPr>
            <a:spLocks noGrp="1"/>
          </p:cNvSpPr>
          <p:nvPr>
            <p:ph type="title"/>
          </p:nvPr>
        </p:nvSpPr>
        <p:spPr/>
        <p:txBody>
          <a:bodyPr>
            <a:normAutofit fontScale="90000"/>
          </a:bodyPr>
          <a:lstStyle/>
          <a:p>
            <a:r>
              <a:rPr lang="en-US" dirty="0"/>
              <a:t>Agent</a:t>
            </a:r>
          </a:p>
        </p:txBody>
      </p:sp>
      <p:sp>
        <p:nvSpPr>
          <p:cNvPr id="3" name="Text Placeholder 2">
            <a:extLst>
              <a:ext uri="{FF2B5EF4-FFF2-40B4-BE49-F238E27FC236}">
                <a16:creationId xmlns:a16="http://schemas.microsoft.com/office/drawing/2014/main" id="{C08D1564-E01A-C9C9-4180-B30E24C94C1B}"/>
              </a:ext>
            </a:extLst>
          </p:cNvPr>
          <p:cNvSpPr>
            <a:spLocks noGrp="1"/>
          </p:cNvSpPr>
          <p:nvPr>
            <p:ph type="body" sz="quarter" idx="10"/>
          </p:nvPr>
        </p:nvSpPr>
        <p:spPr/>
        <p:txBody>
          <a:bodyPr/>
          <a:lstStyle/>
          <a:p>
            <a:r>
              <a:rPr lang="en-US" dirty="0"/>
              <a:t>Agent function vs agent program</a:t>
            </a:r>
          </a:p>
        </p:txBody>
      </p:sp>
      <p:sp>
        <p:nvSpPr>
          <p:cNvPr id="4" name="Content Placeholder 3">
            <a:extLst>
              <a:ext uri="{FF2B5EF4-FFF2-40B4-BE49-F238E27FC236}">
                <a16:creationId xmlns:a16="http://schemas.microsoft.com/office/drawing/2014/main" id="{8BF7C5FE-B42F-F37E-64C0-7FEEE690458B}"/>
              </a:ext>
            </a:extLst>
          </p:cNvPr>
          <p:cNvSpPr>
            <a:spLocks noGrp="1"/>
          </p:cNvSpPr>
          <p:nvPr>
            <p:ph sz="quarter" idx="11"/>
          </p:nvPr>
        </p:nvSpPr>
        <p:spPr/>
        <p:txBody>
          <a:bodyPr/>
          <a:lstStyle/>
          <a:p>
            <a:r>
              <a:rPr lang="en-US" dirty="0"/>
              <a:t>Agent Function: </a:t>
            </a:r>
          </a:p>
          <a:p>
            <a:pPr lvl="1">
              <a:buFont typeface="Wingdings" pitchFamily="2" charset="2"/>
              <a:buChar char="Ø"/>
            </a:pPr>
            <a:r>
              <a:rPr lang="en-US" dirty="0"/>
              <a:t>A (complete) mapping from sequences of percepts to actions</a:t>
            </a:r>
          </a:p>
          <a:p>
            <a:r>
              <a:rPr lang="en-US" dirty="0"/>
              <a:t>Agent Program:</a:t>
            </a:r>
          </a:p>
          <a:p>
            <a:pPr lvl="1">
              <a:buFont typeface="Wingdings" pitchFamily="2" charset="2"/>
              <a:buChar char="Ø"/>
            </a:pPr>
            <a:r>
              <a:rPr lang="en-US" dirty="0"/>
              <a:t>What is actually implemented in the agent.</a:t>
            </a:r>
          </a:p>
          <a:p>
            <a:endParaRPr lang="en-US" dirty="0"/>
          </a:p>
        </p:txBody>
      </p:sp>
    </p:spTree>
    <p:extLst>
      <p:ext uri="{BB962C8B-B14F-4D97-AF65-F5344CB8AC3E}">
        <p14:creationId xmlns:p14="http://schemas.microsoft.com/office/powerpoint/2010/main" val="290571708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BFF8C-A2D2-47CE-43C9-DDB673EA07CB}"/>
              </a:ext>
            </a:extLst>
          </p:cNvPr>
          <p:cNvSpPr>
            <a:spLocks noGrp="1"/>
          </p:cNvSpPr>
          <p:nvPr>
            <p:ph type="title"/>
          </p:nvPr>
        </p:nvSpPr>
        <p:spPr/>
        <p:txBody>
          <a:bodyPr>
            <a:normAutofit fontScale="90000"/>
          </a:bodyPr>
          <a:lstStyle/>
          <a:p>
            <a:r>
              <a:rPr lang="en-US" dirty="0"/>
              <a:t>Agent type</a:t>
            </a:r>
          </a:p>
        </p:txBody>
      </p:sp>
      <p:sp>
        <p:nvSpPr>
          <p:cNvPr id="3" name="Text Placeholder 2">
            <a:extLst>
              <a:ext uri="{FF2B5EF4-FFF2-40B4-BE49-F238E27FC236}">
                <a16:creationId xmlns:a16="http://schemas.microsoft.com/office/drawing/2014/main" id="{C08D1564-E01A-C9C9-4180-B30E24C94C1B}"/>
              </a:ext>
            </a:extLst>
          </p:cNvPr>
          <p:cNvSpPr>
            <a:spLocks noGrp="1"/>
          </p:cNvSpPr>
          <p:nvPr>
            <p:ph type="body" sz="quarter" idx="10"/>
          </p:nvPr>
        </p:nvSpPr>
        <p:spPr/>
        <p:txBody>
          <a:bodyPr/>
          <a:lstStyle/>
          <a:p>
            <a:r>
              <a:rPr lang="en-US" dirty="0"/>
              <a:t>5 basic agent types</a:t>
            </a:r>
          </a:p>
        </p:txBody>
      </p:sp>
      <p:sp>
        <p:nvSpPr>
          <p:cNvPr id="4" name="Content Placeholder 3">
            <a:extLst>
              <a:ext uri="{FF2B5EF4-FFF2-40B4-BE49-F238E27FC236}">
                <a16:creationId xmlns:a16="http://schemas.microsoft.com/office/drawing/2014/main" id="{8BF7C5FE-B42F-F37E-64C0-7FEEE690458B}"/>
              </a:ext>
            </a:extLst>
          </p:cNvPr>
          <p:cNvSpPr>
            <a:spLocks noGrp="1"/>
          </p:cNvSpPr>
          <p:nvPr>
            <p:ph sz="quarter" idx="11"/>
          </p:nvPr>
        </p:nvSpPr>
        <p:spPr/>
        <p:txBody>
          <a:bodyPr>
            <a:normAutofit/>
          </a:bodyPr>
          <a:lstStyle/>
          <a:p>
            <a:r>
              <a:rPr lang="en-US" dirty="0"/>
              <a:t>Five basic type of agents:</a:t>
            </a:r>
          </a:p>
          <a:p>
            <a:pPr lvl="1">
              <a:buFont typeface="Wingdings" pitchFamily="2" charset="2"/>
              <a:buChar char="q"/>
            </a:pPr>
            <a:r>
              <a:rPr lang="en-US" dirty="0"/>
              <a:t>Simple reflex agents</a:t>
            </a:r>
          </a:p>
          <a:p>
            <a:pPr lvl="1">
              <a:buFont typeface="Wingdings" pitchFamily="2" charset="2"/>
              <a:buChar char="q"/>
            </a:pPr>
            <a:r>
              <a:rPr lang="en-US" dirty="0"/>
              <a:t>Model-based reflex agents</a:t>
            </a:r>
          </a:p>
          <a:p>
            <a:pPr lvl="1">
              <a:buFont typeface="Wingdings" pitchFamily="2" charset="2"/>
              <a:buChar char="q"/>
            </a:pPr>
            <a:r>
              <a:rPr lang="en-US" dirty="0"/>
              <a:t>Goal-based agents</a:t>
            </a:r>
          </a:p>
          <a:p>
            <a:pPr lvl="1">
              <a:buFont typeface="Wingdings" pitchFamily="2" charset="2"/>
              <a:buChar char="q"/>
            </a:pPr>
            <a:r>
              <a:rPr lang="en-US" dirty="0"/>
              <a:t>Utility-based agents</a:t>
            </a:r>
          </a:p>
          <a:p>
            <a:pPr lvl="1">
              <a:buFont typeface="Wingdings" pitchFamily="2" charset="2"/>
              <a:buChar char="q"/>
            </a:pPr>
            <a:r>
              <a:rPr lang="en-US" dirty="0"/>
              <a:t>Learning-based agents</a:t>
            </a:r>
          </a:p>
          <a:p>
            <a:pPr marL="756000" lvl="1" indent="0">
              <a:buNone/>
            </a:pPr>
            <a:endParaRPr lang="en-US" dirty="0"/>
          </a:p>
          <a:p>
            <a:endParaRPr lang="en-US" dirty="0"/>
          </a:p>
        </p:txBody>
      </p:sp>
    </p:spTree>
    <p:extLst>
      <p:ext uri="{BB962C8B-B14F-4D97-AF65-F5344CB8AC3E}">
        <p14:creationId xmlns:p14="http://schemas.microsoft.com/office/powerpoint/2010/main" val="411225966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BFF8C-A2D2-47CE-43C9-DDB673EA07CB}"/>
              </a:ext>
            </a:extLst>
          </p:cNvPr>
          <p:cNvSpPr>
            <a:spLocks noGrp="1"/>
          </p:cNvSpPr>
          <p:nvPr>
            <p:ph type="title"/>
          </p:nvPr>
        </p:nvSpPr>
        <p:spPr/>
        <p:txBody>
          <a:bodyPr>
            <a:normAutofit fontScale="90000"/>
          </a:bodyPr>
          <a:lstStyle/>
          <a:p>
            <a:r>
              <a:rPr lang="en-US" dirty="0"/>
              <a:t>Agent type</a:t>
            </a:r>
          </a:p>
        </p:txBody>
      </p:sp>
      <p:sp>
        <p:nvSpPr>
          <p:cNvPr id="3" name="Text Placeholder 2">
            <a:extLst>
              <a:ext uri="{FF2B5EF4-FFF2-40B4-BE49-F238E27FC236}">
                <a16:creationId xmlns:a16="http://schemas.microsoft.com/office/drawing/2014/main" id="{C08D1564-E01A-C9C9-4180-B30E24C94C1B}"/>
              </a:ext>
            </a:extLst>
          </p:cNvPr>
          <p:cNvSpPr>
            <a:spLocks noGrp="1"/>
          </p:cNvSpPr>
          <p:nvPr>
            <p:ph type="body" sz="quarter" idx="10"/>
          </p:nvPr>
        </p:nvSpPr>
        <p:spPr/>
        <p:txBody>
          <a:bodyPr/>
          <a:lstStyle/>
          <a:p>
            <a:r>
              <a:rPr lang="en-US" dirty="0"/>
              <a:t>Simple reflex agent</a:t>
            </a:r>
          </a:p>
        </p:txBody>
      </p:sp>
      <p:sp>
        <p:nvSpPr>
          <p:cNvPr id="4" name="Content Placeholder 3">
            <a:extLst>
              <a:ext uri="{FF2B5EF4-FFF2-40B4-BE49-F238E27FC236}">
                <a16:creationId xmlns:a16="http://schemas.microsoft.com/office/drawing/2014/main" id="{8BF7C5FE-B42F-F37E-64C0-7FEEE690458B}"/>
              </a:ext>
            </a:extLst>
          </p:cNvPr>
          <p:cNvSpPr>
            <a:spLocks noGrp="1"/>
          </p:cNvSpPr>
          <p:nvPr>
            <p:ph sz="quarter" idx="11"/>
          </p:nvPr>
        </p:nvSpPr>
        <p:spPr>
          <a:xfrm>
            <a:off x="2163188" y="3260663"/>
            <a:ext cx="7780405" cy="8583279"/>
          </a:xfrm>
        </p:spPr>
        <p:txBody>
          <a:bodyPr>
            <a:normAutofit/>
          </a:bodyPr>
          <a:lstStyle/>
          <a:p>
            <a:r>
              <a:rPr lang="en-US" dirty="0"/>
              <a:t>Action depends only on current state only.</a:t>
            </a:r>
          </a:p>
          <a:p>
            <a:r>
              <a:rPr lang="en-US" dirty="0"/>
              <a:t>Agent has no memory</a:t>
            </a:r>
          </a:p>
          <a:p>
            <a:r>
              <a:rPr lang="en-US" dirty="0"/>
              <a:t>Ignore the sensors history.</a:t>
            </a:r>
          </a:p>
          <a:p>
            <a:endParaRPr lang="en-US" dirty="0"/>
          </a:p>
          <a:p>
            <a:pPr marL="756000" lvl="1" indent="0">
              <a:buNone/>
            </a:pPr>
            <a:endParaRPr lang="en-US" dirty="0"/>
          </a:p>
          <a:p>
            <a:endParaRPr lang="en-US" dirty="0"/>
          </a:p>
        </p:txBody>
      </p:sp>
      <p:pic>
        <p:nvPicPr>
          <p:cNvPr id="5" name="Content Placeholder 6">
            <a:extLst>
              <a:ext uri="{FF2B5EF4-FFF2-40B4-BE49-F238E27FC236}">
                <a16:creationId xmlns:a16="http://schemas.microsoft.com/office/drawing/2014/main" id="{A1785D8F-9735-17EF-CC0B-A3FA568AF38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9493645" y="3260663"/>
            <a:ext cx="13584813" cy="8583279"/>
          </a:xfrm>
          <a:prstGeom prst="rect">
            <a:avLst/>
          </a:prstGeom>
        </p:spPr>
      </p:pic>
    </p:spTree>
    <p:extLst>
      <p:ext uri="{BB962C8B-B14F-4D97-AF65-F5344CB8AC3E}">
        <p14:creationId xmlns:p14="http://schemas.microsoft.com/office/powerpoint/2010/main" val="424835248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BFF8C-A2D2-47CE-43C9-DDB673EA07CB}"/>
              </a:ext>
            </a:extLst>
          </p:cNvPr>
          <p:cNvSpPr>
            <a:spLocks noGrp="1"/>
          </p:cNvSpPr>
          <p:nvPr>
            <p:ph type="title"/>
          </p:nvPr>
        </p:nvSpPr>
        <p:spPr/>
        <p:txBody>
          <a:bodyPr>
            <a:normAutofit fontScale="90000"/>
          </a:bodyPr>
          <a:lstStyle/>
          <a:p>
            <a:r>
              <a:rPr lang="en-US" dirty="0"/>
              <a:t>Agent type</a:t>
            </a:r>
          </a:p>
        </p:txBody>
      </p:sp>
      <p:sp>
        <p:nvSpPr>
          <p:cNvPr id="3" name="Text Placeholder 2">
            <a:extLst>
              <a:ext uri="{FF2B5EF4-FFF2-40B4-BE49-F238E27FC236}">
                <a16:creationId xmlns:a16="http://schemas.microsoft.com/office/drawing/2014/main" id="{C08D1564-E01A-C9C9-4180-B30E24C94C1B}"/>
              </a:ext>
            </a:extLst>
          </p:cNvPr>
          <p:cNvSpPr>
            <a:spLocks noGrp="1"/>
          </p:cNvSpPr>
          <p:nvPr>
            <p:ph type="body" sz="quarter" idx="10"/>
          </p:nvPr>
        </p:nvSpPr>
        <p:spPr/>
        <p:txBody>
          <a:bodyPr/>
          <a:lstStyle/>
          <a:p>
            <a:r>
              <a:rPr lang="en-US" dirty="0"/>
              <a:t>Model-based reflex agent</a:t>
            </a:r>
          </a:p>
        </p:txBody>
      </p:sp>
      <p:sp>
        <p:nvSpPr>
          <p:cNvPr id="4" name="Content Placeholder 3">
            <a:extLst>
              <a:ext uri="{FF2B5EF4-FFF2-40B4-BE49-F238E27FC236}">
                <a16:creationId xmlns:a16="http://schemas.microsoft.com/office/drawing/2014/main" id="{8BF7C5FE-B42F-F37E-64C0-7FEEE690458B}"/>
              </a:ext>
            </a:extLst>
          </p:cNvPr>
          <p:cNvSpPr>
            <a:spLocks noGrp="1"/>
          </p:cNvSpPr>
          <p:nvPr>
            <p:ph sz="quarter" idx="11"/>
          </p:nvPr>
        </p:nvSpPr>
        <p:spPr>
          <a:xfrm>
            <a:off x="2163189" y="3260663"/>
            <a:ext cx="7330456" cy="8583279"/>
          </a:xfrm>
        </p:spPr>
        <p:txBody>
          <a:bodyPr>
            <a:normAutofit/>
          </a:bodyPr>
          <a:lstStyle/>
          <a:p>
            <a:r>
              <a:rPr lang="en-US" dirty="0"/>
              <a:t>Agent has an internal model of the current state of the world</a:t>
            </a:r>
          </a:p>
          <a:p>
            <a:pPr lvl="1">
              <a:buFont typeface="Wingdings" pitchFamily="2" charset="2"/>
              <a:buChar char="Ø"/>
            </a:pPr>
            <a:r>
              <a:rPr lang="en-US" dirty="0">
                <a:latin typeface="+mj-lt"/>
              </a:rPr>
              <a:t>Example: the </a:t>
            </a:r>
            <a:r>
              <a:rPr lang="en-US" dirty="0" err="1">
                <a:latin typeface="+mj-lt"/>
              </a:rPr>
              <a:t>agentʼs</a:t>
            </a:r>
            <a:r>
              <a:rPr lang="en-US" dirty="0">
                <a:latin typeface="+mj-lt"/>
              </a:rPr>
              <a:t> previous location; current locations of all objects it has seen;</a:t>
            </a:r>
            <a:endParaRPr lang="en-US" dirty="0"/>
          </a:p>
          <a:p>
            <a:endParaRPr lang="en-US" dirty="0"/>
          </a:p>
          <a:p>
            <a:pPr marL="756000" lvl="1" indent="0">
              <a:buNone/>
            </a:pPr>
            <a:endParaRPr lang="en-US" dirty="0"/>
          </a:p>
          <a:p>
            <a:endParaRPr lang="en-US" dirty="0"/>
          </a:p>
        </p:txBody>
      </p:sp>
      <p:pic>
        <p:nvPicPr>
          <p:cNvPr id="6" name="Content Placeholder 6">
            <a:extLst>
              <a:ext uri="{FF2B5EF4-FFF2-40B4-BE49-F238E27FC236}">
                <a16:creationId xmlns:a16="http://schemas.microsoft.com/office/drawing/2014/main" id="{E2A2019A-F21A-28D7-6487-17386EAC522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0858345" y="3223274"/>
            <a:ext cx="12220112" cy="7883943"/>
          </a:xfrm>
          <a:prstGeom prst="rect">
            <a:avLst/>
          </a:prstGeom>
        </p:spPr>
      </p:pic>
      <p:pic>
        <p:nvPicPr>
          <p:cNvPr id="7" name="Gambar 3">
            <a:extLst>
              <a:ext uri="{FF2B5EF4-FFF2-40B4-BE49-F238E27FC236}">
                <a16:creationId xmlns:a16="http://schemas.microsoft.com/office/drawing/2014/main" id="{354CC986-DD18-9DA0-D872-5391D06E1249}"/>
              </a:ext>
            </a:extLst>
          </p:cNvPr>
          <p:cNvPicPr>
            <a:picLocks noChangeAspect="1"/>
          </p:cNvPicPr>
          <p:nvPr/>
        </p:nvPicPr>
        <p:blipFill>
          <a:blip r:embed="rId3"/>
          <a:stretch>
            <a:fillRect/>
          </a:stretch>
        </p:blipFill>
        <p:spPr>
          <a:xfrm>
            <a:off x="2163189" y="9029871"/>
            <a:ext cx="8695156" cy="1742904"/>
          </a:xfrm>
          <a:prstGeom prst="rect">
            <a:avLst/>
          </a:prstGeom>
        </p:spPr>
      </p:pic>
    </p:spTree>
    <p:extLst>
      <p:ext uri="{BB962C8B-B14F-4D97-AF65-F5344CB8AC3E}">
        <p14:creationId xmlns:p14="http://schemas.microsoft.com/office/powerpoint/2010/main" val="390750466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BFF8C-A2D2-47CE-43C9-DDB673EA07CB}"/>
              </a:ext>
            </a:extLst>
          </p:cNvPr>
          <p:cNvSpPr>
            <a:spLocks noGrp="1"/>
          </p:cNvSpPr>
          <p:nvPr>
            <p:ph type="title"/>
          </p:nvPr>
        </p:nvSpPr>
        <p:spPr/>
        <p:txBody>
          <a:bodyPr>
            <a:normAutofit fontScale="90000"/>
          </a:bodyPr>
          <a:lstStyle/>
          <a:p>
            <a:r>
              <a:rPr lang="en-US" dirty="0"/>
              <a:t>Agent type</a:t>
            </a:r>
          </a:p>
        </p:txBody>
      </p:sp>
      <p:sp>
        <p:nvSpPr>
          <p:cNvPr id="3" name="Text Placeholder 2">
            <a:extLst>
              <a:ext uri="{FF2B5EF4-FFF2-40B4-BE49-F238E27FC236}">
                <a16:creationId xmlns:a16="http://schemas.microsoft.com/office/drawing/2014/main" id="{C08D1564-E01A-C9C9-4180-B30E24C94C1B}"/>
              </a:ext>
            </a:extLst>
          </p:cNvPr>
          <p:cNvSpPr>
            <a:spLocks noGrp="1"/>
          </p:cNvSpPr>
          <p:nvPr>
            <p:ph type="body" sz="quarter" idx="10"/>
          </p:nvPr>
        </p:nvSpPr>
        <p:spPr/>
        <p:txBody>
          <a:bodyPr/>
          <a:lstStyle/>
          <a:p>
            <a:r>
              <a:rPr lang="en-US" dirty="0"/>
              <a:t>Model-based reflex agent</a:t>
            </a:r>
          </a:p>
        </p:txBody>
      </p:sp>
      <p:sp>
        <p:nvSpPr>
          <p:cNvPr id="4" name="Content Placeholder 3">
            <a:extLst>
              <a:ext uri="{FF2B5EF4-FFF2-40B4-BE49-F238E27FC236}">
                <a16:creationId xmlns:a16="http://schemas.microsoft.com/office/drawing/2014/main" id="{8BF7C5FE-B42F-F37E-64C0-7FEEE690458B}"/>
              </a:ext>
            </a:extLst>
          </p:cNvPr>
          <p:cNvSpPr>
            <a:spLocks noGrp="1"/>
          </p:cNvSpPr>
          <p:nvPr>
            <p:ph sz="quarter" idx="11"/>
          </p:nvPr>
        </p:nvSpPr>
        <p:spPr>
          <a:xfrm>
            <a:off x="2163189" y="3260663"/>
            <a:ext cx="7330456" cy="8583279"/>
          </a:xfrm>
        </p:spPr>
        <p:txBody>
          <a:bodyPr>
            <a:normAutofit/>
          </a:bodyPr>
          <a:lstStyle/>
          <a:p>
            <a:r>
              <a:rPr lang="en-US" dirty="0"/>
              <a:t>Agent may also have (generic) </a:t>
            </a:r>
            <a:r>
              <a:rPr lang="en-US" b="1" dirty="0"/>
              <a:t>domain knowledge </a:t>
            </a:r>
            <a:r>
              <a:rPr lang="en-US" dirty="0"/>
              <a:t>of the world</a:t>
            </a:r>
          </a:p>
          <a:p>
            <a:pPr lvl="1">
              <a:buFont typeface="Wingdings" pitchFamily="2" charset="2"/>
              <a:buChar char="Ø"/>
            </a:pPr>
            <a:r>
              <a:rPr lang="en-US" dirty="0"/>
              <a:t>Example: Effects of </a:t>
            </a:r>
            <a:r>
              <a:rPr lang="en-US" dirty="0" err="1"/>
              <a:t>agentʼs</a:t>
            </a:r>
            <a:r>
              <a:rPr lang="en-US" dirty="0"/>
              <a:t> actions, behavior of entities in the environment</a:t>
            </a:r>
          </a:p>
          <a:p>
            <a:endParaRPr lang="en-US" dirty="0"/>
          </a:p>
          <a:p>
            <a:pPr marL="756000" lvl="1" indent="0">
              <a:buNone/>
            </a:pPr>
            <a:endParaRPr lang="en-US" dirty="0"/>
          </a:p>
          <a:p>
            <a:endParaRPr lang="en-US" dirty="0"/>
          </a:p>
        </p:txBody>
      </p:sp>
      <p:pic>
        <p:nvPicPr>
          <p:cNvPr id="6" name="Content Placeholder 6">
            <a:extLst>
              <a:ext uri="{FF2B5EF4-FFF2-40B4-BE49-F238E27FC236}">
                <a16:creationId xmlns:a16="http://schemas.microsoft.com/office/drawing/2014/main" id="{E2A2019A-F21A-28D7-6487-17386EAC522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0858345" y="3223274"/>
            <a:ext cx="12220112" cy="7883943"/>
          </a:xfrm>
          <a:prstGeom prst="rect">
            <a:avLst/>
          </a:prstGeom>
        </p:spPr>
      </p:pic>
      <p:pic>
        <p:nvPicPr>
          <p:cNvPr id="5" name="Gambar 5">
            <a:extLst>
              <a:ext uri="{FF2B5EF4-FFF2-40B4-BE49-F238E27FC236}">
                <a16:creationId xmlns:a16="http://schemas.microsoft.com/office/drawing/2014/main" id="{7B18C201-A31E-9F39-7B86-6753337808B7}"/>
              </a:ext>
            </a:extLst>
          </p:cNvPr>
          <p:cNvPicPr>
            <a:picLocks noChangeAspect="1"/>
          </p:cNvPicPr>
          <p:nvPr/>
        </p:nvPicPr>
        <p:blipFill>
          <a:blip r:embed="rId3"/>
          <a:stretch>
            <a:fillRect/>
          </a:stretch>
        </p:blipFill>
        <p:spPr>
          <a:xfrm>
            <a:off x="2163189" y="9086704"/>
            <a:ext cx="8695156" cy="1766052"/>
          </a:xfrm>
          <a:prstGeom prst="rect">
            <a:avLst/>
          </a:prstGeom>
        </p:spPr>
      </p:pic>
    </p:spTree>
    <p:extLst>
      <p:ext uri="{BB962C8B-B14F-4D97-AF65-F5344CB8AC3E}">
        <p14:creationId xmlns:p14="http://schemas.microsoft.com/office/powerpoint/2010/main" val="276456175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6">
            <a:extLst>
              <a:ext uri="{FF2B5EF4-FFF2-40B4-BE49-F238E27FC236}">
                <a16:creationId xmlns:a16="http://schemas.microsoft.com/office/drawing/2014/main" id="{3D1100FE-456E-ECFB-1937-82C7AFF4F120}"/>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0952059" y="3185885"/>
            <a:ext cx="12126398" cy="7759148"/>
          </a:xfrm>
          <a:prstGeom prst="rect">
            <a:avLst/>
          </a:prstGeom>
        </p:spPr>
      </p:pic>
      <p:sp>
        <p:nvSpPr>
          <p:cNvPr id="2" name="Title 1">
            <a:extLst>
              <a:ext uri="{FF2B5EF4-FFF2-40B4-BE49-F238E27FC236}">
                <a16:creationId xmlns:a16="http://schemas.microsoft.com/office/drawing/2014/main" id="{791BFF8C-A2D2-47CE-43C9-DDB673EA07CB}"/>
              </a:ext>
            </a:extLst>
          </p:cNvPr>
          <p:cNvSpPr>
            <a:spLocks noGrp="1"/>
          </p:cNvSpPr>
          <p:nvPr>
            <p:ph type="title"/>
          </p:nvPr>
        </p:nvSpPr>
        <p:spPr/>
        <p:txBody>
          <a:bodyPr>
            <a:normAutofit fontScale="90000"/>
          </a:bodyPr>
          <a:lstStyle/>
          <a:p>
            <a:r>
              <a:rPr lang="en-US" dirty="0"/>
              <a:t>Agent type</a:t>
            </a:r>
          </a:p>
        </p:txBody>
      </p:sp>
      <p:sp>
        <p:nvSpPr>
          <p:cNvPr id="3" name="Text Placeholder 2">
            <a:extLst>
              <a:ext uri="{FF2B5EF4-FFF2-40B4-BE49-F238E27FC236}">
                <a16:creationId xmlns:a16="http://schemas.microsoft.com/office/drawing/2014/main" id="{C08D1564-E01A-C9C9-4180-B30E24C94C1B}"/>
              </a:ext>
            </a:extLst>
          </p:cNvPr>
          <p:cNvSpPr>
            <a:spLocks noGrp="1"/>
          </p:cNvSpPr>
          <p:nvPr>
            <p:ph type="body" sz="quarter" idx="10"/>
          </p:nvPr>
        </p:nvSpPr>
        <p:spPr/>
        <p:txBody>
          <a:bodyPr/>
          <a:lstStyle/>
          <a:p>
            <a:r>
              <a:rPr lang="en-US" dirty="0"/>
              <a:t>Goal-based agent</a:t>
            </a:r>
          </a:p>
        </p:txBody>
      </p:sp>
      <p:sp>
        <p:nvSpPr>
          <p:cNvPr id="4" name="Content Placeholder 3">
            <a:extLst>
              <a:ext uri="{FF2B5EF4-FFF2-40B4-BE49-F238E27FC236}">
                <a16:creationId xmlns:a16="http://schemas.microsoft.com/office/drawing/2014/main" id="{8BF7C5FE-B42F-F37E-64C0-7FEEE690458B}"/>
              </a:ext>
            </a:extLst>
          </p:cNvPr>
          <p:cNvSpPr>
            <a:spLocks noGrp="1"/>
          </p:cNvSpPr>
          <p:nvPr>
            <p:ph sz="quarter" idx="11"/>
          </p:nvPr>
        </p:nvSpPr>
        <p:spPr>
          <a:xfrm>
            <a:off x="2163189" y="3260663"/>
            <a:ext cx="7330456" cy="8583279"/>
          </a:xfrm>
        </p:spPr>
        <p:txBody>
          <a:bodyPr>
            <a:normAutofit/>
          </a:bodyPr>
          <a:lstStyle/>
          <a:p>
            <a:r>
              <a:rPr lang="en-US" dirty="0"/>
              <a:t>Agent has a goal, which may require a sequence of actions. (This requires </a:t>
            </a:r>
            <a:r>
              <a:rPr lang="en-US" b="1" dirty="0"/>
              <a:t>searching</a:t>
            </a:r>
            <a:r>
              <a:rPr lang="en-US" dirty="0"/>
              <a:t> or </a:t>
            </a:r>
            <a:r>
              <a:rPr lang="en-US" b="1" dirty="0"/>
              <a:t>planning</a:t>
            </a:r>
            <a:r>
              <a:rPr lang="en-US" dirty="0"/>
              <a:t>)</a:t>
            </a:r>
          </a:p>
          <a:p>
            <a:pPr marL="756000" lvl="1" indent="0">
              <a:buNone/>
            </a:pPr>
            <a:endParaRPr lang="en-US" dirty="0"/>
          </a:p>
          <a:p>
            <a:endParaRPr lang="en-US" dirty="0"/>
          </a:p>
        </p:txBody>
      </p:sp>
      <p:pic>
        <p:nvPicPr>
          <p:cNvPr id="7" name="Gambar 2">
            <a:extLst>
              <a:ext uri="{FF2B5EF4-FFF2-40B4-BE49-F238E27FC236}">
                <a16:creationId xmlns:a16="http://schemas.microsoft.com/office/drawing/2014/main" id="{48915693-38C9-FB86-AB2D-B4E580441589}"/>
              </a:ext>
            </a:extLst>
          </p:cNvPr>
          <p:cNvPicPr>
            <a:picLocks noChangeAspect="1"/>
          </p:cNvPicPr>
          <p:nvPr/>
        </p:nvPicPr>
        <p:blipFill>
          <a:blip r:embed="rId3"/>
          <a:stretch>
            <a:fillRect/>
          </a:stretch>
        </p:blipFill>
        <p:spPr>
          <a:xfrm>
            <a:off x="2163190" y="6434849"/>
            <a:ext cx="8695156" cy="1124125"/>
          </a:xfrm>
          <a:prstGeom prst="rect">
            <a:avLst/>
          </a:prstGeom>
        </p:spPr>
      </p:pic>
    </p:spTree>
    <p:extLst>
      <p:ext uri="{BB962C8B-B14F-4D97-AF65-F5344CB8AC3E}">
        <p14:creationId xmlns:p14="http://schemas.microsoft.com/office/powerpoint/2010/main" val="382273323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6">
            <a:extLst>
              <a:ext uri="{FF2B5EF4-FFF2-40B4-BE49-F238E27FC236}">
                <a16:creationId xmlns:a16="http://schemas.microsoft.com/office/drawing/2014/main" id="{F45F13D7-B36A-9779-3F8B-8849666A9CC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9525161" y="3223275"/>
            <a:ext cx="13406347" cy="8620668"/>
          </a:xfrm>
          <a:prstGeom prst="rect">
            <a:avLst/>
          </a:prstGeom>
        </p:spPr>
      </p:pic>
      <p:sp>
        <p:nvSpPr>
          <p:cNvPr id="2" name="Title 1">
            <a:extLst>
              <a:ext uri="{FF2B5EF4-FFF2-40B4-BE49-F238E27FC236}">
                <a16:creationId xmlns:a16="http://schemas.microsoft.com/office/drawing/2014/main" id="{791BFF8C-A2D2-47CE-43C9-DDB673EA07CB}"/>
              </a:ext>
            </a:extLst>
          </p:cNvPr>
          <p:cNvSpPr>
            <a:spLocks noGrp="1"/>
          </p:cNvSpPr>
          <p:nvPr>
            <p:ph type="title"/>
          </p:nvPr>
        </p:nvSpPr>
        <p:spPr/>
        <p:txBody>
          <a:bodyPr>
            <a:normAutofit fontScale="90000"/>
          </a:bodyPr>
          <a:lstStyle/>
          <a:p>
            <a:r>
              <a:rPr lang="en-US" dirty="0"/>
              <a:t>Agent type</a:t>
            </a:r>
          </a:p>
        </p:txBody>
      </p:sp>
      <p:sp>
        <p:nvSpPr>
          <p:cNvPr id="3" name="Text Placeholder 2">
            <a:extLst>
              <a:ext uri="{FF2B5EF4-FFF2-40B4-BE49-F238E27FC236}">
                <a16:creationId xmlns:a16="http://schemas.microsoft.com/office/drawing/2014/main" id="{C08D1564-E01A-C9C9-4180-B30E24C94C1B}"/>
              </a:ext>
            </a:extLst>
          </p:cNvPr>
          <p:cNvSpPr>
            <a:spLocks noGrp="1"/>
          </p:cNvSpPr>
          <p:nvPr>
            <p:ph type="body" sz="quarter" idx="10"/>
          </p:nvPr>
        </p:nvSpPr>
        <p:spPr/>
        <p:txBody>
          <a:bodyPr/>
          <a:lstStyle/>
          <a:p>
            <a:r>
              <a:rPr lang="en-US" dirty="0"/>
              <a:t>Utility-based agent</a:t>
            </a:r>
          </a:p>
        </p:txBody>
      </p:sp>
      <p:sp>
        <p:nvSpPr>
          <p:cNvPr id="4" name="Content Placeholder 3">
            <a:extLst>
              <a:ext uri="{FF2B5EF4-FFF2-40B4-BE49-F238E27FC236}">
                <a16:creationId xmlns:a16="http://schemas.microsoft.com/office/drawing/2014/main" id="{8BF7C5FE-B42F-F37E-64C0-7FEEE690458B}"/>
              </a:ext>
            </a:extLst>
          </p:cNvPr>
          <p:cNvSpPr>
            <a:spLocks noGrp="1"/>
          </p:cNvSpPr>
          <p:nvPr>
            <p:ph sz="quarter" idx="11"/>
          </p:nvPr>
        </p:nvSpPr>
        <p:spPr>
          <a:xfrm>
            <a:off x="2163188" y="3260663"/>
            <a:ext cx="7330457" cy="8583279"/>
          </a:xfrm>
        </p:spPr>
        <p:txBody>
          <a:bodyPr>
            <a:normAutofit lnSpcReduction="10000"/>
          </a:bodyPr>
          <a:lstStyle/>
          <a:p>
            <a:r>
              <a:rPr lang="en-US" dirty="0"/>
              <a:t>Agent can choose between </a:t>
            </a:r>
            <a:r>
              <a:rPr lang="en-US" b="1" dirty="0">
                <a:solidFill>
                  <a:srgbClr val="0070C0"/>
                </a:solidFill>
              </a:rPr>
              <a:t>multiple actions </a:t>
            </a:r>
            <a:r>
              <a:rPr lang="en-US" dirty="0"/>
              <a:t>to achieve its goal. Which is best?</a:t>
            </a:r>
          </a:p>
          <a:p>
            <a:r>
              <a:rPr lang="en-US" dirty="0"/>
              <a:t>Agent may have </a:t>
            </a:r>
            <a:r>
              <a:rPr lang="en-US" b="1" dirty="0">
                <a:solidFill>
                  <a:srgbClr val="0070C0"/>
                </a:solidFill>
              </a:rPr>
              <a:t>conflicting goals</a:t>
            </a:r>
            <a:r>
              <a:rPr lang="en-US" dirty="0"/>
              <a:t>. Which one to pursue first? </a:t>
            </a:r>
          </a:p>
          <a:p>
            <a:r>
              <a:rPr lang="en-US" dirty="0"/>
              <a:t>Agents may have a </a:t>
            </a:r>
            <a:r>
              <a:rPr lang="en-US" b="1" dirty="0">
                <a:solidFill>
                  <a:srgbClr val="0070C0"/>
                </a:solidFill>
              </a:rPr>
              <a:t>utility function</a:t>
            </a:r>
            <a:r>
              <a:rPr lang="en-US" dirty="0"/>
              <a:t>, which (ideally) approximates the external performance measure</a:t>
            </a:r>
          </a:p>
          <a:p>
            <a:endParaRPr lang="en-US" dirty="0"/>
          </a:p>
          <a:p>
            <a:endParaRPr lang="en-US" dirty="0"/>
          </a:p>
          <a:p>
            <a:pPr marL="756000" lvl="1" indent="0">
              <a:buNone/>
            </a:pPr>
            <a:endParaRPr lang="en-US" dirty="0"/>
          </a:p>
          <a:p>
            <a:endParaRPr lang="en-US" dirty="0"/>
          </a:p>
        </p:txBody>
      </p:sp>
    </p:spTree>
    <p:extLst>
      <p:ext uri="{BB962C8B-B14F-4D97-AF65-F5344CB8AC3E}">
        <p14:creationId xmlns:p14="http://schemas.microsoft.com/office/powerpoint/2010/main" val="383858591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6">
            <a:extLst>
              <a:ext uri="{FF2B5EF4-FFF2-40B4-BE49-F238E27FC236}">
                <a16:creationId xmlns:a16="http://schemas.microsoft.com/office/drawing/2014/main" id="{11C0D15E-F188-10A2-FD30-85D3B58115C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9273940" y="2362576"/>
            <a:ext cx="13600417" cy="9620199"/>
          </a:xfrm>
          <a:prstGeom prst="rect">
            <a:avLst/>
          </a:prstGeom>
        </p:spPr>
      </p:pic>
      <p:sp>
        <p:nvSpPr>
          <p:cNvPr id="2" name="Title 1">
            <a:extLst>
              <a:ext uri="{FF2B5EF4-FFF2-40B4-BE49-F238E27FC236}">
                <a16:creationId xmlns:a16="http://schemas.microsoft.com/office/drawing/2014/main" id="{791BFF8C-A2D2-47CE-43C9-DDB673EA07CB}"/>
              </a:ext>
            </a:extLst>
          </p:cNvPr>
          <p:cNvSpPr>
            <a:spLocks noGrp="1"/>
          </p:cNvSpPr>
          <p:nvPr>
            <p:ph type="title"/>
          </p:nvPr>
        </p:nvSpPr>
        <p:spPr/>
        <p:txBody>
          <a:bodyPr>
            <a:normAutofit fontScale="90000"/>
          </a:bodyPr>
          <a:lstStyle/>
          <a:p>
            <a:r>
              <a:rPr lang="en-US" dirty="0"/>
              <a:t>Agent type</a:t>
            </a:r>
          </a:p>
        </p:txBody>
      </p:sp>
      <p:sp>
        <p:nvSpPr>
          <p:cNvPr id="3" name="Text Placeholder 2">
            <a:extLst>
              <a:ext uri="{FF2B5EF4-FFF2-40B4-BE49-F238E27FC236}">
                <a16:creationId xmlns:a16="http://schemas.microsoft.com/office/drawing/2014/main" id="{C08D1564-E01A-C9C9-4180-B30E24C94C1B}"/>
              </a:ext>
            </a:extLst>
          </p:cNvPr>
          <p:cNvSpPr>
            <a:spLocks noGrp="1"/>
          </p:cNvSpPr>
          <p:nvPr>
            <p:ph type="body" sz="quarter" idx="10"/>
          </p:nvPr>
        </p:nvSpPr>
        <p:spPr/>
        <p:txBody>
          <a:bodyPr/>
          <a:lstStyle/>
          <a:p>
            <a:r>
              <a:rPr lang="en-US" dirty="0"/>
              <a:t>Learning-based agent</a:t>
            </a:r>
          </a:p>
        </p:txBody>
      </p:sp>
      <p:sp>
        <p:nvSpPr>
          <p:cNvPr id="4" name="Content Placeholder 3">
            <a:extLst>
              <a:ext uri="{FF2B5EF4-FFF2-40B4-BE49-F238E27FC236}">
                <a16:creationId xmlns:a16="http://schemas.microsoft.com/office/drawing/2014/main" id="{8BF7C5FE-B42F-F37E-64C0-7FEEE690458B}"/>
              </a:ext>
            </a:extLst>
          </p:cNvPr>
          <p:cNvSpPr>
            <a:spLocks noGrp="1"/>
          </p:cNvSpPr>
          <p:nvPr>
            <p:ph sz="quarter" idx="11"/>
          </p:nvPr>
        </p:nvSpPr>
        <p:spPr>
          <a:xfrm>
            <a:off x="2163189" y="3260663"/>
            <a:ext cx="7110752" cy="8583279"/>
          </a:xfrm>
        </p:spPr>
        <p:txBody>
          <a:bodyPr>
            <a:normAutofit/>
          </a:bodyPr>
          <a:lstStyle/>
          <a:p>
            <a:r>
              <a:rPr lang="en-US" dirty="0"/>
              <a:t>We cannot foresee every eventuality. Agents need to </a:t>
            </a:r>
            <a:r>
              <a:rPr lang="en-US" b="1" dirty="0">
                <a:solidFill>
                  <a:srgbClr val="0070C0"/>
                </a:solidFill>
              </a:rPr>
              <a:t>change their behavior </a:t>
            </a:r>
            <a:r>
              <a:rPr lang="en-US" dirty="0"/>
              <a:t>to adapt to their environment.</a:t>
            </a:r>
          </a:p>
          <a:p>
            <a:r>
              <a:rPr lang="en-US" dirty="0"/>
              <a:t>This requires an (external) </a:t>
            </a:r>
            <a:r>
              <a:rPr lang="en-US" b="1" dirty="0">
                <a:solidFill>
                  <a:srgbClr val="0070C0"/>
                </a:solidFill>
              </a:rPr>
              <a:t>teacher</a:t>
            </a:r>
            <a:r>
              <a:rPr lang="en-US" dirty="0"/>
              <a:t> or </a:t>
            </a:r>
            <a:r>
              <a:rPr lang="en-US" b="1" dirty="0">
                <a:solidFill>
                  <a:srgbClr val="0070C0"/>
                </a:solidFill>
              </a:rPr>
              <a:t>reward</a:t>
            </a:r>
            <a:r>
              <a:rPr lang="en-US" dirty="0"/>
              <a:t> which tell the agent how well it is currently doing.</a:t>
            </a:r>
          </a:p>
          <a:p>
            <a:endParaRPr lang="en-US" dirty="0"/>
          </a:p>
          <a:p>
            <a:endParaRPr lang="en-US" dirty="0"/>
          </a:p>
          <a:p>
            <a:pPr marL="756000" lvl="1" indent="0">
              <a:buNone/>
            </a:pPr>
            <a:endParaRPr lang="en-US" dirty="0"/>
          </a:p>
          <a:p>
            <a:endParaRPr lang="en-US" dirty="0"/>
          </a:p>
        </p:txBody>
      </p:sp>
    </p:spTree>
    <p:extLst>
      <p:ext uri="{BB962C8B-B14F-4D97-AF65-F5344CB8AC3E}">
        <p14:creationId xmlns:p14="http://schemas.microsoft.com/office/powerpoint/2010/main" val="225558825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7135E-67A9-0A25-C845-28B3637EF0CC}"/>
              </a:ext>
            </a:extLst>
          </p:cNvPr>
          <p:cNvSpPr>
            <a:spLocks noGrp="1"/>
          </p:cNvSpPr>
          <p:nvPr>
            <p:ph type="title"/>
          </p:nvPr>
        </p:nvSpPr>
        <p:spPr/>
        <p:txBody>
          <a:bodyPr>
            <a:normAutofit fontScale="90000"/>
          </a:bodyPr>
          <a:lstStyle/>
          <a:p>
            <a:r>
              <a:rPr lang="en-US" dirty="0"/>
              <a:t>Evaluating agent</a:t>
            </a:r>
          </a:p>
        </p:txBody>
      </p:sp>
      <p:sp>
        <p:nvSpPr>
          <p:cNvPr id="3" name="Text Placeholder 2">
            <a:extLst>
              <a:ext uri="{FF2B5EF4-FFF2-40B4-BE49-F238E27FC236}">
                <a16:creationId xmlns:a16="http://schemas.microsoft.com/office/drawing/2014/main" id="{2A76BC75-7DDC-8C78-530B-C744443191DE}"/>
              </a:ext>
            </a:extLst>
          </p:cNvPr>
          <p:cNvSpPr>
            <a:spLocks noGrp="1"/>
          </p:cNvSpPr>
          <p:nvPr>
            <p:ph type="body" sz="quarter" idx="10"/>
          </p:nvPr>
        </p:nvSpPr>
        <p:spPr/>
        <p:txBody>
          <a:bodyPr/>
          <a:lstStyle/>
          <a:p>
            <a:r>
              <a:rPr lang="en-US" dirty="0"/>
              <a:t>How well does the agent perform</a:t>
            </a:r>
          </a:p>
        </p:txBody>
      </p:sp>
      <p:sp>
        <p:nvSpPr>
          <p:cNvPr id="4" name="Content Placeholder 3">
            <a:extLst>
              <a:ext uri="{FF2B5EF4-FFF2-40B4-BE49-F238E27FC236}">
                <a16:creationId xmlns:a16="http://schemas.microsoft.com/office/drawing/2014/main" id="{BCBFCD60-C86B-6B34-D219-8BB4BAB4DC4D}"/>
              </a:ext>
            </a:extLst>
          </p:cNvPr>
          <p:cNvSpPr>
            <a:spLocks noGrp="1"/>
          </p:cNvSpPr>
          <p:nvPr>
            <p:ph sz="quarter" idx="11"/>
          </p:nvPr>
        </p:nvSpPr>
        <p:spPr/>
        <p:txBody>
          <a:bodyPr/>
          <a:lstStyle/>
          <a:p>
            <a:r>
              <a:rPr lang="en-US" b="1" dirty="0"/>
              <a:t>Objective evaluation: </a:t>
            </a:r>
          </a:p>
          <a:p>
            <a:pPr lvl="1">
              <a:buFont typeface="Wingdings" pitchFamily="2" charset="2"/>
              <a:buChar char="Ø"/>
            </a:pPr>
            <a:r>
              <a:rPr lang="en-US" dirty="0"/>
              <a:t>What are the consequences of its actions on the environment?</a:t>
            </a:r>
          </a:p>
          <a:p>
            <a:r>
              <a:rPr lang="en-US" b="1" dirty="0"/>
              <a:t>Performance measure:</a:t>
            </a:r>
          </a:p>
          <a:p>
            <a:pPr lvl="1">
              <a:buFont typeface="Wingdings" pitchFamily="2" charset="2"/>
              <a:buChar char="Ø"/>
            </a:pPr>
            <a:r>
              <a:rPr lang="en-US" dirty="0"/>
              <a:t>Do the </a:t>
            </a:r>
            <a:r>
              <a:rPr lang="en-US" dirty="0" err="1"/>
              <a:t>agentʼs</a:t>
            </a:r>
            <a:r>
              <a:rPr lang="en-US" dirty="0"/>
              <a:t> actions reach the desired state of the environment ?</a:t>
            </a:r>
          </a:p>
          <a:p>
            <a:pPr lvl="2">
              <a:buFont typeface="Courier New" panose="02070309020205020404" pitchFamily="49" charset="0"/>
              <a:buChar char="o"/>
            </a:pPr>
            <a:r>
              <a:rPr lang="en-US" dirty="0"/>
              <a:t>We </a:t>
            </a:r>
            <a:r>
              <a:rPr lang="en-US" dirty="0" err="1"/>
              <a:t>donʼt</a:t>
            </a:r>
            <a:r>
              <a:rPr lang="en-US" dirty="0"/>
              <a:t> care about the state of the agent</a:t>
            </a:r>
          </a:p>
          <a:p>
            <a:pPr lvl="2">
              <a:buFont typeface="Courier New" panose="02070309020205020404" pitchFamily="49" charset="0"/>
              <a:buChar char="o"/>
            </a:pPr>
            <a:r>
              <a:rPr lang="en-US" dirty="0"/>
              <a:t>We usually </a:t>
            </a:r>
            <a:r>
              <a:rPr lang="en-US" dirty="0" err="1"/>
              <a:t>donʼt</a:t>
            </a:r>
            <a:r>
              <a:rPr lang="en-US" dirty="0"/>
              <a:t> care how the agent behaves to reach its goal</a:t>
            </a:r>
          </a:p>
          <a:p>
            <a:endParaRPr lang="en-US" dirty="0"/>
          </a:p>
        </p:txBody>
      </p:sp>
    </p:spTree>
    <p:extLst>
      <p:ext uri="{BB962C8B-B14F-4D97-AF65-F5344CB8AC3E}">
        <p14:creationId xmlns:p14="http://schemas.microsoft.com/office/powerpoint/2010/main" val="292948947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7135E-67A9-0A25-C845-28B3637EF0CC}"/>
              </a:ext>
            </a:extLst>
          </p:cNvPr>
          <p:cNvSpPr>
            <a:spLocks noGrp="1"/>
          </p:cNvSpPr>
          <p:nvPr>
            <p:ph type="title"/>
          </p:nvPr>
        </p:nvSpPr>
        <p:spPr/>
        <p:txBody>
          <a:bodyPr>
            <a:normAutofit fontScale="90000"/>
          </a:bodyPr>
          <a:lstStyle/>
          <a:p>
            <a:r>
              <a:rPr lang="en-US" dirty="0"/>
              <a:t>Evaluating agent</a:t>
            </a:r>
          </a:p>
        </p:txBody>
      </p:sp>
      <p:sp>
        <p:nvSpPr>
          <p:cNvPr id="3" name="Text Placeholder 2">
            <a:extLst>
              <a:ext uri="{FF2B5EF4-FFF2-40B4-BE49-F238E27FC236}">
                <a16:creationId xmlns:a16="http://schemas.microsoft.com/office/drawing/2014/main" id="{2A76BC75-7DDC-8C78-530B-C744443191DE}"/>
              </a:ext>
            </a:extLst>
          </p:cNvPr>
          <p:cNvSpPr>
            <a:spLocks noGrp="1"/>
          </p:cNvSpPr>
          <p:nvPr>
            <p:ph type="body" sz="quarter" idx="10"/>
          </p:nvPr>
        </p:nvSpPr>
        <p:spPr/>
        <p:txBody>
          <a:bodyPr/>
          <a:lstStyle/>
          <a:p>
            <a:r>
              <a:rPr lang="en-US" dirty="0"/>
              <a:t>Rationality</a:t>
            </a:r>
          </a:p>
        </p:txBody>
      </p:sp>
      <p:sp>
        <p:nvSpPr>
          <p:cNvPr id="4" name="Content Placeholder 3">
            <a:extLst>
              <a:ext uri="{FF2B5EF4-FFF2-40B4-BE49-F238E27FC236}">
                <a16:creationId xmlns:a16="http://schemas.microsoft.com/office/drawing/2014/main" id="{BCBFCD60-C86B-6B34-D219-8BB4BAB4DC4D}"/>
              </a:ext>
            </a:extLst>
          </p:cNvPr>
          <p:cNvSpPr>
            <a:spLocks noGrp="1"/>
          </p:cNvSpPr>
          <p:nvPr>
            <p:ph sz="quarter" idx="11"/>
          </p:nvPr>
        </p:nvSpPr>
        <p:spPr/>
        <p:txBody>
          <a:bodyPr>
            <a:normAutofit/>
          </a:bodyPr>
          <a:lstStyle/>
          <a:p>
            <a:r>
              <a:rPr lang="en-US" dirty="0"/>
              <a:t>The rationality of an agent depends on</a:t>
            </a:r>
          </a:p>
          <a:p>
            <a:pPr lvl="1">
              <a:buFont typeface="Wingdings" pitchFamily="2" charset="2"/>
              <a:buChar char="Ø"/>
            </a:pPr>
            <a:r>
              <a:rPr lang="en-US" dirty="0"/>
              <a:t>the performance measure defining the agent’s degree of success</a:t>
            </a:r>
          </a:p>
          <a:p>
            <a:pPr lvl="1">
              <a:buFont typeface="Wingdings" pitchFamily="2" charset="2"/>
              <a:buChar char="Ø"/>
            </a:pPr>
            <a:r>
              <a:rPr lang="en-US" dirty="0"/>
              <a:t>the percept sequence, the sequence of all the things perceived by the agent</a:t>
            </a:r>
          </a:p>
          <a:p>
            <a:pPr lvl="1">
              <a:buFont typeface="Wingdings" pitchFamily="2" charset="2"/>
              <a:buChar char="Ø"/>
            </a:pPr>
            <a:r>
              <a:rPr lang="en-US" dirty="0"/>
              <a:t>the agent’s knowledge of the environment</a:t>
            </a:r>
          </a:p>
          <a:p>
            <a:pPr lvl="1">
              <a:buFont typeface="Wingdings" pitchFamily="2" charset="2"/>
              <a:buChar char="Ø"/>
            </a:pPr>
            <a:r>
              <a:rPr lang="en-US" dirty="0"/>
              <a:t>the actions that the agent can perform</a:t>
            </a:r>
          </a:p>
          <a:p>
            <a:r>
              <a:rPr lang="en-US" dirty="0"/>
              <a:t>A rational agent should always choose the action that maximizes its expected performance, given the current situation</a:t>
            </a:r>
          </a:p>
        </p:txBody>
      </p:sp>
    </p:spTree>
    <p:extLst>
      <p:ext uri="{BB962C8B-B14F-4D97-AF65-F5344CB8AC3E}">
        <p14:creationId xmlns:p14="http://schemas.microsoft.com/office/powerpoint/2010/main" val="385320705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7135E-67A9-0A25-C845-28B3637EF0CC}"/>
              </a:ext>
            </a:extLst>
          </p:cNvPr>
          <p:cNvSpPr>
            <a:spLocks noGrp="1"/>
          </p:cNvSpPr>
          <p:nvPr>
            <p:ph type="title"/>
          </p:nvPr>
        </p:nvSpPr>
        <p:spPr/>
        <p:txBody>
          <a:bodyPr>
            <a:normAutofit fontScale="90000"/>
          </a:bodyPr>
          <a:lstStyle/>
          <a:p>
            <a:r>
              <a:rPr lang="en-US" dirty="0"/>
              <a:t>Evaluating agent</a:t>
            </a:r>
          </a:p>
        </p:txBody>
      </p:sp>
      <p:sp>
        <p:nvSpPr>
          <p:cNvPr id="3" name="Text Placeholder 2">
            <a:extLst>
              <a:ext uri="{FF2B5EF4-FFF2-40B4-BE49-F238E27FC236}">
                <a16:creationId xmlns:a16="http://schemas.microsoft.com/office/drawing/2014/main" id="{2A76BC75-7DDC-8C78-530B-C744443191DE}"/>
              </a:ext>
            </a:extLst>
          </p:cNvPr>
          <p:cNvSpPr>
            <a:spLocks noGrp="1"/>
          </p:cNvSpPr>
          <p:nvPr>
            <p:ph type="body" sz="quarter" idx="10"/>
          </p:nvPr>
        </p:nvSpPr>
        <p:spPr/>
        <p:txBody>
          <a:bodyPr/>
          <a:lstStyle/>
          <a:p>
            <a:r>
              <a:rPr lang="en-US" dirty="0"/>
              <a:t>Rationality</a:t>
            </a:r>
          </a:p>
        </p:txBody>
      </p:sp>
      <p:sp>
        <p:nvSpPr>
          <p:cNvPr id="4" name="Content Placeholder 3">
            <a:extLst>
              <a:ext uri="{FF2B5EF4-FFF2-40B4-BE49-F238E27FC236}">
                <a16:creationId xmlns:a16="http://schemas.microsoft.com/office/drawing/2014/main" id="{BCBFCD60-C86B-6B34-D219-8BB4BAB4DC4D}"/>
              </a:ext>
            </a:extLst>
          </p:cNvPr>
          <p:cNvSpPr>
            <a:spLocks noGrp="1"/>
          </p:cNvSpPr>
          <p:nvPr>
            <p:ph sz="quarter" idx="11"/>
          </p:nvPr>
        </p:nvSpPr>
        <p:spPr/>
        <p:txBody>
          <a:bodyPr>
            <a:normAutofit/>
          </a:bodyPr>
          <a:lstStyle/>
          <a:p>
            <a:r>
              <a:rPr lang="en-US" dirty="0"/>
              <a:t>Rational ≠ omniscient</a:t>
            </a:r>
          </a:p>
          <a:p>
            <a:r>
              <a:rPr lang="en-US" dirty="0"/>
              <a:t>Rational ≠ clairvoyant</a:t>
            </a:r>
          </a:p>
          <a:p>
            <a:r>
              <a:rPr lang="en-US" dirty="0"/>
              <a:t>Rational ≠ successful</a:t>
            </a:r>
          </a:p>
          <a:p>
            <a:r>
              <a:rPr lang="en-US" dirty="0"/>
              <a:t>Rational ⇒  exploration, learning, autonomy</a:t>
            </a:r>
          </a:p>
          <a:p>
            <a:endParaRPr lang="en-US" dirty="0"/>
          </a:p>
        </p:txBody>
      </p:sp>
    </p:spTree>
    <p:extLst>
      <p:ext uri="{BB962C8B-B14F-4D97-AF65-F5344CB8AC3E}">
        <p14:creationId xmlns:p14="http://schemas.microsoft.com/office/powerpoint/2010/main" val="164903882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7135E-67A9-0A25-C845-28B3637EF0CC}"/>
              </a:ext>
            </a:extLst>
          </p:cNvPr>
          <p:cNvSpPr>
            <a:spLocks noGrp="1"/>
          </p:cNvSpPr>
          <p:nvPr>
            <p:ph type="title"/>
          </p:nvPr>
        </p:nvSpPr>
        <p:spPr/>
        <p:txBody>
          <a:bodyPr>
            <a:normAutofit fontScale="90000"/>
          </a:bodyPr>
          <a:lstStyle/>
          <a:p>
            <a:r>
              <a:rPr lang="en-US" dirty="0"/>
              <a:t>Evaluating agent</a:t>
            </a:r>
          </a:p>
        </p:txBody>
      </p:sp>
      <p:sp>
        <p:nvSpPr>
          <p:cNvPr id="3" name="Text Placeholder 2">
            <a:extLst>
              <a:ext uri="{FF2B5EF4-FFF2-40B4-BE49-F238E27FC236}">
                <a16:creationId xmlns:a16="http://schemas.microsoft.com/office/drawing/2014/main" id="{2A76BC75-7DDC-8C78-530B-C744443191DE}"/>
              </a:ext>
            </a:extLst>
          </p:cNvPr>
          <p:cNvSpPr>
            <a:spLocks noGrp="1"/>
          </p:cNvSpPr>
          <p:nvPr>
            <p:ph type="body" sz="quarter" idx="10"/>
          </p:nvPr>
        </p:nvSpPr>
        <p:spPr>
          <a:xfrm>
            <a:off x="2167377" y="2419728"/>
            <a:ext cx="14715569" cy="803546"/>
          </a:xfrm>
        </p:spPr>
        <p:txBody>
          <a:bodyPr>
            <a:normAutofit/>
          </a:bodyPr>
          <a:lstStyle/>
          <a:p>
            <a:r>
              <a:rPr lang="en-ID" dirty="0"/>
              <a:t>Strategies for maximizing Expected performance</a:t>
            </a:r>
          </a:p>
        </p:txBody>
      </p:sp>
      <p:sp>
        <p:nvSpPr>
          <p:cNvPr id="4" name="Content Placeholder 3">
            <a:extLst>
              <a:ext uri="{FF2B5EF4-FFF2-40B4-BE49-F238E27FC236}">
                <a16:creationId xmlns:a16="http://schemas.microsoft.com/office/drawing/2014/main" id="{BCBFCD60-C86B-6B34-D219-8BB4BAB4DC4D}"/>
              </a:ext>
            </a:extLst>
          </p:cNvPr>
          <p:cNvSpPr>
            <a:spLocks noGrp="1"/>
          </p:cNvSpPr>
          <p:nvPr>
            <p:ph sz="quarter" idx="11"/>
          </p:nvPr>
        </p:nvSpPr>
        <p:spPr/>
        <p:txBody>
          <a:bodyPr>
            <a:normAutofit/>
          </a:bodyPr>
          <a:lstStyle/>
          <a:p>
            <a:r>
              <a:rPr lang="en-US" dirty="0"/>
              <a:t>Information gathering (first look, then act): </a:t>
            </a:r>
          </a:p>
          <a:p>
            <a:pPr lvl="1">
              <a:buFont typeface="Wingdings" pitchFamily="2" charset="2"/>
              <a:buChar char="Ø"/>
            </a:pPr>
            <a:r>
              <a:rPr lang="en-US" dirty="0"/>
              <a:t>Choose an action that yields a more informative percepts for the following action</a:t>
            </a:r>
          </a:p>
          <a:p>
            <a:r>
              <a:rPr lang="en-US" dirty="0"/>
              <a:t>Learning (act according to prior experience) </a:t>
            </a:r>
          </a:p>
          <a:p>
            <a:pPr lvl="1">
              <a:buFont typeface="Wingdings" pitchFamily="2" charset="2"/>
              <a:buChar char="Ø"/>
            </a:pPr>
            <a:r>
              <a:rPr lang="en-US" dirty="0"/>
              <a:t>Augment or modify knowledge of the task or the environment according to experience.</a:t>
            </a:r>
          </a:p>
          <a:p>
            <a:endParaRPr lang="en-US" dirty="0"/>
          </a:p>
        </p:txBody>
      </p:sp>
    </p:spTree>
    <p:extLst>
      <p:ext uri="{BB962C8B-B14F-4D97-AF65-F5344CB8AC3E}">
        <p14:creationId xmlns:p14="http://schemas.microsoft.com/office/powerpoint/2010/main" val="152480503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7135E-67A9-0A25-C845-28B3637EF0CC}"/>
              </a:ext>
            </a:extLst>
          </p:cNvPr>
          <p:cNvSpPr>
            <a:spLocks noGrp="1"/>
          </p:cNvSpPr>
          <p:nvPr>
            <p:ph type="title"/>
          </p:nvPr>
        </p:nvSpPr>
        <p:spPr/>
        <p:txBody>
          <a:bodyPr>
            <a:normAutofit fontScale="90000"/>
          </a:bodyPr>
          <a:lstStyle/>
          <a:p>
            <a:r>
              <a:rPr lang="en-US" dirty="0"/>
              <a:t>Evaluating agent</a:t>
            </a:r>
          </a:p>
        </p:txBody>
      </p:sp>
      <p:sp>
        <p:nvSpPr>
          <p:cNvPr id="3" name="Text Placeholder 2">
            <a:extLst>
              <a:ext uri="{FF2B5EF4-FFF2-40B4-BE49-F238E27FC236}">
                <a16:creationId xmlns:a16="http://schemas.microsoft.com/office/drawing/2014/main" id="{2A76BC75-7DDC-8C78-530B-C744443191DE}"/>
              </a:ext>
            </a:extLst>
          </p:cNvPr>
          <p:cNvSpPr>
            <a:spLocks noGrp="1"/>
          </p:cNvSpPr>
          <p:nvPr>
            <p:ph type="body" sz="quarter" idx="10"/>
          </p:nvPr>
        </p:nvSpPr>
        <p:spPr/>
        <p:txBody>
          <a:bodyPr/>
          <a:lstStyle/>
          <a:p>
            <a:r>
              <a:rPr lang="en-ID" dirty="0"/>
              <a:t>Comparing agents and Tasks</a:t>
            </a:r>
          </a:p>
        </p:txBody>
      </p:sp>
      <p:sp>
        <p:nvSpPr>
          <p:cNvPr id="4" name="Content Placeholder 3">
            <a:extLst>
              <a:ext uri="{FF2B5EF4-FFF2-40B4-BE49-F238E27FC236}">
                <a16:creationId xmlns:a16="http://schemas.microsoft.com/office/drawing/2014/main" id="{BCBFCD60-C86B-6B34-D219-8BB4BAB4DC4D}"/>
              </a:ext>
            </a:extLst>
          </p:cNvPr>
          <p:cNvSpPr>
            <a:spLocks noGrp="1"/>
          </p:cNvSpPr>
          <p:nvPr>
            <p:ph sz="quarter" idx="11"/>
          </p:nvPr>
        </p:nvSpPr>
        <p:spPr/>
        <p:txBody>
          <a:bodyPr>
            <a:normAutofit/>
          </a:bodyPr>
          <a:lstStyle/>
          <a:p>
            <a:r>
              <a:rPr lang="en-US" dirty="0"/>
              <a:t>The </a:t>
            </a:r>
            <a:r>
              <a:rPr lang="en-US" b="1" dirty="0"/>
              <a:t>task environment </a:t>
            </a:r>
            <a:r>
              <a:rPr lang="en-US" dirty="0"/>
              <a:t>specifies the problem that the agent has to solve. </a:t>
            </a:r>
          </a:p>
          <a:p>
            <a:r>
              <a:rPr lang="en-US" dirty="0"/>
              <a:t>It is defined by: </a:t>
            </a:r>
          </a:p>
          <a:p>
            <a:pPr lvl="1">
              <a:buFont typeface="Wingdings" pitchFamily="2" charset="2"/>
              <a:buChar char="Ø"/>
            </a:pPr>
            <a:r>
              <a:rPr lang="en-US" dirty="0"/>
              <a:t>the objective Performance measure (P)</a:t>
            </a:r>
          </a:p>
          <a:p>
            <a:pPr lvl="1">
              <a:buFont typeface="Wingdings" pitchFamily="2" charset="2"/>
              <a:buChar char="Ø"/>
            </a:pPr>
            <a:r>
              <a:rPr lang="en-US" dirty="0"/>
              <a:t>the external Environment (E)</a:t>
            </a:r>
          </a:p>
          <a:p>
            <a:pPr lvl="1">
              <a:buFont typeface="Wingdings" pitchFamily="2" charset="2"/>
              <a:buChar char="Ø"/>
            </a:pPr>
            <a:r>
              <a:rPr lang="en-US" dirty="0"/>
              <a:t>the </a:t>
            </a:r>
            <a:r>
              <a:rPr lang="en-US" dirty="0" err="1"/>
              <a:t>agentʼs</a:t>
            </a:r>
            <a:r>
              <a:rPr lang="en-US" dirty="0"/>
              <a:t> Actuators (A)</a:t>
            </a:r>
          </a:p>
          <a:p>
            <a:pPr lvl="1">
              <a:buFont typeface="Wingdings" pitchFamily="2" charset="2"/>
              <a:buChar char="Ø"/>
            </a:pPr>
            <a:r>
              <a:rPr lang="en-US" dirty="0"/>
              <a:t>the </a:t>
            </a:r>
            <a:r>
              <a:rPr lang="en-US" dirty="0" err="1"/>
              <a:t>agentʼs</a:t>
            </a:r>
            <a:r>
              <a:rPr lang="en-US" dirty="0"/>
              <a:t> Sensors (S)</a:t>
            </a:r>
          </a:p>
          <a:p>
            <a:endParaRPr lang="en-US" dirty="0"/>
          </a:p>
        </p:txBody>
      </p:sp>
    </p:spTree>
    <p:extLst>
      <p:ext uri="{BB962C8B-B14F-4D97-AF65-F5344CB8AC3E}">
        <p14:creationId xmlns:p14="http://schemas.microsoft.com/office/powerpoint/2010/main" val="4108356084"/>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7135E-67A9-0A25-C845-28B3637EF0CC}"/>
              </a:ext>
            </a:extLst>
          </p:cNvPr>
          <p:cNvSpPr>
            <a:spLocks noGrp="1"/>
          </p:cNvSpPr>
          <p:nvPr>
            <p:ph type="title"/>
          </p:nvPr>
        </p:nvSpPr>
        <p:spPr/>
        <p:txBody>
          <a:bodyPr>
            <a:normAutofit fontScale="90000"/>
          </a:bodyPr>
          <a:lstStyle/>
          <a:p>
            <a:r>
              <a:rPr lang="en-US" dirty="0"/>
              <a:t>Evaluating agent</a:t>
            </a:r>
          </a:p>
        </p:txBody>
      </p:sp>
      <p:sp>
        <p:nvSpPr>
          <p:cNvPr id="3" name="Text Placeholder 2">
            <a:extLst>
              <a:ext uri="{FF2B5EF4-FFF2-40B4-BE49-F238E27FC236}">
                <a16:creationId xmlns:a16="http://schemas.microsoft.com/office/drawing/2014/main" id="{2A76BC75-7DDC-8C78-530B-C744443191DE}"/>
              </a:ext>
            </a:extLst>
          </p:cNvPr>
          <p:cNvSpPr>
            <a:spLocks noGrp="1"/>
          </p:cNvSpPr>
          <p:nvPr>
            <p:ph type="body" sz="quarter" idx="10"/>
          </p:nvPr>
        </p:nvSpPr>
        <p:spPr/>
        <p:txBody>
          <a:bodyPr/>
          <a:lstStyle/>
          <a:p>
            <a:r>
              <a:rPr lang="en-US" dirty="0"/>
              <a:t>PEAS Example</a:t>
            </a:r>
          </a:p>
        </p:txBody>
      </p:sp>
      <p:sp>
        <p:nvSpPr>
          <p:cNvPr id="4" name="Content Placeholder 3">
            <a:extLst>
              <a:ext uri="{FF2B5EF4-FFF2-40B4-BE49-F238E27FC236}">
                <a16:creationId xmlns:a16="http://schemas.microsoft.com/office/drawing/2014/main" id="{BCBFCD60-C86B-6B34-D219-8BB4BAB4DC4D}"/>
              </a:ext>
            </a:extLst>
          </p:cNvPr>
          <p:cNvSpPr>
            <a:spLocks noGrp="1"/>
          </p:cNvSpPr>
          <p:nvPr>
            <p:ph sz="quarter" idx="11"/>
          </p:nvPr>
        </p:nvSpPr>
        <p:spPr/>
        <p:txBody>
          <a:bodyPr>
            <a:normAutofit fontScale="92500" lnSpcReduction="20000"/>
          </a:bodyPr>
          <a:lstStyle/>
          <a:p>
            <a:r>
              <a:rPr lang="en-US" dirty="0"/>
              <a:t>The task of designing an automated taxi:</a:t>
            </a:r>
          </a:p>
          <a:p>
            <a:pPr lvl="1">
              <a:buFont typeface="Wingdings" pitchFamily="2" charset="2"/>
              <a:buChar char="Ø"/>
            </a:pPr>
            <a:r>
              <a:rPr lang="en-US" dirty="0"/>
              <a:t>Performance measure:</a:t>
            </a:r>
          </a:p>
          <a:p>
            <a:pPr lvl="2">
              <a:buFont typeface="Courier New" panose="02070309020205020404" pitchFamily="49" charset="0"/>
              <a:buChar char="o"/>
            </a:pPr>
            <a:r>
              <a:rPr lang="en-US" dirty="0"/>
              <a:t>Safety, destination, profits, legality, comfort</a:t>
            </a:r>
          </a:p>
          <a:p>
            <a:pPr lvl="1">
              <a:buFont typeface="Wingdings" pitchFamily="2" charset="2"/>
              <a:buChar char="Ø"/>
            </a:pPr>
            <a:r>
              <a:rPr lang="en-US" dirty="0"/>
              <a:t>Environment:</a:t>
            </a:r>
          </a:p>
          <a:p>
            <a:pPr lvl="2">
              <a:buFont typeface="Courier New" panose="02070309020205020404" pitchFamily="49" charset="0"/>
              <a:buChar char="o"/>
            </a:pPr>
            <a:r>
              <a:rPr lang="en-US" dirty="0"/>
              <a:t>Streets/freeways, traffic, pedestrians, weather</a:t>
            </a:r>
          </a:p>
          <a:p>
            <a:pPr lvl="1">
              <a:buFont typeface="Wingdings" pitchFamily="2" charset="2"/>
              <a:buChar char="Ø"/>
            </a:pPr>
            <a:r>
              <a:rPr lang="en-US" dirty="0"/>
              <a:t> Actuators:</a:t>
            </a:r>
          </a:p>
          <a:p>
            <a:pPr lvl="2">
              <a:buFont typeface="Courier New" panose="02070309020205020404" pitchFamily="49" charset="0"/>
              <a:buChar char="o"/>
            </a:pPr>
            <a:r>
              <a:rPr lang="en-US" dirty="0"/>
              <a:t>Steering, accelerator, brake, horn, speaker/display</a:t>
            </a:r>
          </a:p>
          <a:p>
            <a:pPr lvl="1">
              <a:buFont typeface="Wingdings" pitchFamily="2" charset="2"/>
              <a:buChar char="Ø"/>
            </a:pPr>
            <a:r>
              <a:rPr lang="en-US" dirty="0"/>
              <a:t>Sensors:</a:t>
            </a:r>
          </a:p>
          <a:p>
            <a:pPr lvl="2">
              <a:buFont typeface="Courier New" panose="02070309020205020404" pitchFamily="49" charset="0"/>
              <a:buChar char="o"/>
            </a:pPr>
            <a:r>
              <a:rPr lang="en-US" dirty="0"/>
              <a:t>Cameras, accelerometers, gauges, engine sensors, keyboard, GPS</a:t>
            </a:r>
          </a:p>
        </p:txBody>
      </p:sp>
    </p:spTree>
    <p:extLst>
      <p:ext uri="{BB962C8B-B14F-4D97-AF65-F5344CB8AC3E}">
        <p14:creationId xmlns:p14="http://schemas.microsoft.com/office/powerpoint/2010/main" val="322992559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7135E-67A9-0A25-C845-28B3637EF0CC}"/>
              </a:ext>
            </a:extLst>
          </p:cNvPr>
          <p:cNvSpPr>
            <a:spLocks noGrp="1"/>
          </p:cNvSpPr>
          <p:nvPr>
            <p:ph type="title"/>
          </p:nvPr>
        </p:nvSpPr>
        <p:spPr/>
        <p:txBody>
          <a:bodyPr>
            <a:normAutofit fontScale="90000"/>
          </a:bodyPr>
          <a:lstStyle/>
          <a:p>
            <a:r>
              <a:rPr lang="en-US" dirty="0"/>
              <a:t>Environment types</a:t>
            </a:r>
          </a:p>
        </p:txBody>
      </p:sp>
      <p:sp>
        <p:nvSpPr>
          <p:cNvPr id="3" name="Text Placeholder 2">
            <a:extLst>
              <a:ext uri="{FF2B5EF4-FFF2-40B4-BE49-F238E27FC236}">
                <a16:creationId xmlns:a16="http://schemas.microsoft.com/office/drawing/2014/main" id="{2A76BC75-7DDC-8C78-530B-C744443191DE}"/>
              </a:ext>
            </a:extLst>
          </p:cNvPr>
          <p:cNvSpPr>
            <a:spLocks noGrp="1"/>
          </p:cNvSpPr>
          <p:nvPr>
            <p:ph type="body" sz="quarter" idx="10"/>
          </p:nvPr>
        </p:nvSpPr>
        <p:spPr/>
        <p:txBody>
          <a:bodyPr/>
          <a:lstStyle/>
          <a:p>
            <a:r>
              <a:rPr lang="en-ID" dirty="0"/>
              <a:t>Comparing Task Environments</a:t>
            </a:r>
          </a:p>
        </p:txBody>
      </p:sp>
      <p:sp>
        <p:nvSpPr>
          <p:cNvPr id="4" name="Content Placeholder 3">
            <a:extLst>
              <a:ext uri="{FF2B5EF4-FFF2-40B4-BE49-F238E27FC236}">
                <a16:creationId xmlns:a16="http://schemas.microsoft.com/office/drawing/2014/main" id="{BCBFCD60-C86B-6B34-D219-8BB4BAB4DC4D}"/>
              </a:ext>
            </a:extLst>
          </p:cNvPr>
          <p:cNvSpPr>
            <a:spLocks noGrp="1"/>
          </p:cNvSpPr>
          <p:nvPr>
            <p:ph sz="quarter" idx="11"/>
          </p:nvPr>
        </p:nvSpPr>
        <p:spPr/>
        <p:txBody>
          <a:bodyPr>
            <a:normAutofit lnSpcReduction="10000"/>
          </a:bodyPr>
          <a:lstStyle/>
          <a:p>
            <a:r>
              <a:rPr lang="en-US" dirty="0"/>
              <a:t>Sensors:</a:t>
            </a:r>
          </a:p>
          <a:p>
            <a:pPr lvl="1">
              <a:buFont typeface="Wingdings" pitchFamily="2" charset="2"/>
              <a:buChar char="Ø"/>
            </a:pPr>
            <a:r>
              <a:rPr lang="en-US" dirty="0"/>
              <a:t>Fully observable: The percepts contain all relevant properties of the environment </a:t>
            </a:r>
          </a:p>
          <a:p>
            <a:pPr lvl="1">
              <a:buFont typeface="Wingdings" pitchFamily="2" charset="2"/>
              <a:buChar char="Ø"/>
            </a:pPr>
            <a:r>
              <a:rPr lang="en-US" dirty="0"/>
              <a:t>Partially observable: The percepts contain only some relevant properties of the environment</a:t>
            </a:r>
          </a:p>
          <a:p>
            <a:r>
              <a:rPr lang="en-US" dirty="0"/>
              <a:t>Knowledge:</a:t>
            </a:r>
          </a:p>
          <a:p>
            <a:pPr lvl="1">
              <a:buFont typeface="Wingdings" pitchFamily="2" charset="2"/>
              <a:buChar char="Ø"/>
            </a:pPr>
            <a:r>
              <a:rPr lang="en-US" dirty="0"/>
              <a:t>Known: Agent knows all the rules that hold in the environment. Can predict outcomes from complete observations</a:t>
            </a:r>
          </a:p>
          <a:p>
            <a:pPr lvl="1">
              <a:buFont typeface="Wingdings" pitchFamily="2" charset="2"/>
              <a:buChar char="Ø"/>
            </a:pPr>
            <a:r>
              <a:rPr lang="en-US" dirty="0"/>
              <a:t>Unknown: Agent </a:t>
            </a:r>
            <a:r>
              <a:rPr lang="en-US" dirty="0" err="1"/>
              <a:t>doesnʼt</a:t>
            </a:r>
            <a:r>
              <a:rPr lang="en-US" dirty="0"/>
              <a:t> know the rules of the environment. </a:t>
            </a:r>
            <a:r>
              <a:rPr lang="en-US" dirty="0" err="1"/>
              <a:t>Canʼt</a:t>
            </a:r>
            <a:r>
              <a:rPr lang="en-US" dirty="0"/>
              <a:t> predict outcomes.</a:t>
            </a:r>
          </a:p>
          <a:p>
            <a:endParaRPr lang="en-US" dirty="0"/>
          </a:p>
          <a:p>
            <a:endParaRPr lang="en-US" dirty="0"/>
          </a:p>
        </p:txBody>
      </p:sp>
    </p:spTree>
    <p:extLst>
      <p:ext uri="{BB962C8B-B14F-4D97-AF65-F5344CB8AC3E}">
        <p14:creationId xmlns:p14="http://schemas.microsoft.com/office/powerpoint/2010/main" val="1718345510"/>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7135E-67A9-0A25-C845-28B3637EF0CC}"/>
              </a:ext>
            </a:extLst>
          </p:cNvPr>
          <p:cNvSpPr>
            <a:spLocks noGrp="1"/>
          </p:cNvSpPr>
          <p:nvPr>
            <p:ph type="title"/>
          </p:nvPr>
        </p:nvSpPr>
        <p:spPr/>
        <p:txBody>
          <a:bodyPr>
            <a:normAutofit fontScale="90000"/>
          </a:bodyPr>
          <a:lstStyle/>
          <a:p>
            <a:r>
              <a:rPr lang="en-US" dirty="0"/>
              <a:t>Environment types</a:t>
            </a:r>
          </a:p>
        </p:txBody>
      </p:sp>
      <p:sp>
        <p:nvSpPr>
          <p:cNvPr id="3" name="Text Placeholder 2">
            <a:extLst>
              <a:ext uri="{FF2B5EF4-FFF2-40B4-BE49-F238E27FC236}">
                <a16:creationId xmlns:a16="http://schemas.microsoft.com/office/drawing/2014/main" id="{2A76BC75-7DDC-8C78-530B-C744443191DE}"/>
              </a:ext>
            </a:extLst>
          </p:cNvPr>
          <p:cNvSpPr>
            <a:spLocks noGrp="1"/>
          </p:cNvSpPr>
          <p:nvPr>
            <p:ph type="body" sz="quarter" idx="10"/>
          </p:nvPr>
        </p:nvSpPr>
        <p:spPr/>
        <p:txBody>
          <a:bodyPr/>
          <a:lstStyle/>
          <a:p>
            <a:r>
              <a:rPr lang="en-ID" dirty="0"/>
              <a:t>Comparing Task Environments</a:t>
            </a:r>
          </a:p>
        </p:txBody>
      </p:sp>
      <p:sp>
        <p:nvSpPr>
          <p:cNvPr id="4" name="Content Placeholder 3">
            <a:extLst>
              <a:ext uri="{FF2B5EF4-FFF2-40B4-BE49-F238E27FC236}">
                <a16:creationId xmlns:a16="http://schemas.microsoft.com/office/drawing/2014/main" id="{BCBFCD60-C86B-6B34-D219-8BB4BAB4DC4D}"/>
              </a:ext>
            </a:extLst>
          </p:cNvPr>
          <p:cNvSpPr>
            <a:spLocks noGrp="1"/>
          </p:cNvSpPr>
          <p:nvPr>
            <p:ph sz="quarter" idx="11"/>
          </p:nvPr>
        </p:nvSpPr>
        <p:spPr/>
        <p:txBody>
          <a:bodyPr>
            <a:normAutofit fontScale="92500" lnSpcReduction="10000"/>
          </a:bodyPr>
          <a:lstStyle/>
          <a:p>
            <a:r>
              <a:rPr lang="en-US" dirty="0"/>
              <a:t>Actions:</a:t>
            </a:r>
          </a:p>
          <a:p>
            <a:pPr lvl="1">
              <a:buFont typeface="Wingdings" pitchFamily="2" charset="2"/>
              <a:buChar char="Ø"/>
            </a:pPr>
            <a:r>
              <a:rPr lang="en-US" dirty="0"/>
              <a:t>Deterministic: Outcome of actions (next state of the environment) is fully determined by the current state. </a:t>
            </a:r>
          </a:p>
          <a:p>
            <a:pPr lvl="1">
              <a:buFont typeface="Wingdings" pitchFamily="2" charset="2"/>
              <a:buChar char="Ø"/>
            </a:pPr>
            <a:r>
              <a:rPr lang="en-US" dirty="0"/>
              <a:t>Non-Deterministic : Each action has a set of possible outcomes.</a:t>
            </a:r>
          </a:p>
          <a:p>
            <a:pPr lvl="1">
              <a:buFont typeface="Wingdings" pitchFamily="2" charset="2"/>
              <a:buChar char="Ø"/>
            </a:pPr>
            <a:r>
              <a:rPr lang="en-US" dirty="0"/>
              <a:t>Stochastic: There is a probability distribution over possible outcomes.</a:t>
            </a:r>
          </a:p>
          <a:p>
            <a:r>
              <a:rPr lang="en-US" dirty="0"/>
              <a:t>Percept:</a:t>
            </a:r>
          </a:p>
          <a:p>
            <a:pPr lvl="1">
              <a:buFont typeface="Wingdings" pitchFamily="2" charset="2"/>
              <a:buChar char="Ø"/>
            </a:pPr>
            <a:r>
              <a:rPr lang="en-US" dirty="0"/>
              <a:t>Episodic: Agent receives a single percept per episode. Its action in this episode does not affect future percepts (e.g. classification)</a:t>
            </a:r>
          </a:p>
          <a:p>
            <a:pPr lvl="1">
              <a:buFont typeface="Wingdings" pitchFamily="2" charset="2"/>
              <a:buChar char="Ø"/>
            </a:pPr>
            <a:r>
              <a:rPr lang="en-US" dirty="0"/>
              <a:t>Sequential: Agent receives a sequence of percepts. The current action affects future percepts. (e.g. navigation, game playing)</a:t>
            </a:r>
          </a:p>
          <a:p>
            <a:endParaRPr lang="en-US" dirty="0"/>
          </a:p>
          <a:p>
            <a:endParaRPr lang="en-US" dirty="0"/>
          </a:p>
          <a:p>
            <a:endParaRPr lang="en-US" dirty="0"/>
          </a:p>
        </p:txBody>
      </p:sp>
    </p:spTree>
    <p:extLst>
      <p:ext uri="{BB962C8B-B14F-4D97-AF65-F5344CB8AC3E}">
        <p14:creationId xmlns:p14="http://schemas.microsoft.com/office/powerpoint/2010/main" val="241693237"/>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7135E-67A9-0A25-C845-28B3637EF0CC}"/>
              </a:ext>
            </a:extLst>
          </p:cNvPr>
          <p:cNvSpPr>
            <a:spLocks noGrp="1"/>
          </p:cNvSpPr>
          <p:nvPr>
            <p:ph type="title"/>
          </p:nvPr>
        </p:nvSpPr>
        <p:spPr/>
        <p:txBody>
          <a:bodyPr>
            <a:normAutofit fontScale="90000"/>
          </a:bodyPr>
          <a:lstStyle/>
          <a:p>
            <a:r>
              <a:rPr lang="en-US" dirty="0"/>
              <a:t>Environment types</a:t>
            </a:r>
          </a:p>
        </p:txBody>
      </p:sp>
      <p:sp>
        <p:nvSpPr>
          <p:cNvPr id="3" name="Text Placeholder 2">
            <a:extLst>
              <a:ext uri="{FF2B5EF4-FFF2-40B4-BE49-F238E27FC236}">
                <a16:creationId xmlns:a16="http://schemas.microsoft.com/office/drawing/2014/main" id="{2A76BC75-7DDC-8C78-530B-C744443191DE}"/>
              </a:ext>
            </a:extLst>
          </p:cNvPr>
          <p:cNvSpPr>
            <a:spLocks noGrp="1"/>
          </p:cNvSpPr>
          <p:nvPr>
            <p:ph type="body" sz="quarter" idx="10"/>
          </p:nvPr>
        </p:nvSpPr>
        <p:spPr/>
        <p:txBody>
          <a:bodyPr/>
          <a:lstStyle/>
          <a:p>
            <a:r>
              <a:rPr lang="en-ID" dirty="0"/>
              <a:t>Comparing Task Environments</a:t>
            </a:r>
          </a:p>
        </p:txBody>
      </p:sp>
      <p:sp>
        <p:nvSpPr>
          <p:cNvPr id="4" name="Content Placeholder 3">
            <a:extLst>
              <a:ext uri="{FF2B5EF4-FFF2-40B4-BE49-F238E27FC236}">
                <a16:creationId xmlns:a16="http://schemas.microsoft.com/office/drawing/2014/main" id="{BCBFCD60-C86B-6B34-D219-8BB4BAB4DC4D}"/>
              </a:ext>
            </a:extLst>
          </p:cNvPr>
          <p:cNvSpPr>
            <a:spLocks noGrp="1"/>
          </p:cNvSpPr>
          <p:nvPr>
            <p:ph sz="quarter" idx="11"/>
          </p:nvPr>
        </p:nvSpPr>
        <p:spPr>
          <a:xfrm>
            <a:off x="2163188" y="3260663"/>
            <a:ext cx="20057623" cy="9683812"/>
          </a:xfrm>
        </p:spPr>
        <p:txBody>
          <a:bodyPr>
            <a:normAutofit fontScale="92500" lnSpcReduction="10000"/>
          </a:bodyPr>
          <a:lstStyle/>
          <a:p>
            <a:r>
              <a:rPr lang="en-US" dirty="0"/>
              <a:t>Environment:</a:t>
            </a:r>
          </a:p>
          <a:p>
            <a:pPr lvl="1">
              <a:buFont typeface="Wingdings" pitchFamily="2" charset="2"/>
              <a:buChar char="Ø"/>
            </a:pPr>
            <a:r>
              <a:rPr lang="en-US" dirty="0"/>
              <a:t>Static: Environment </a:t>
            </a:r>
            <a:r>
              <a:rPr lang="en-US" dirty="0" err="1"/>
              <a:t>doesnʼt</a:t>
            </a:r>
            <a:r>
              <a:rPr lang="en-US" dirty="0"/>
              <a:t> change unless agent performs an action. (e.g. crossword puzzles)</a:t>
            </a:r>
          </a:p>
          <a:p>
            <a:pPr lvl="1">
              <a:buFont typeface="Wingdings" pitchFamily="2" charset="2"/>
              <a:buChar char="Ø"/>
            </a:pPr>
            <a:r>
              <a:rPr lang="en-US" dirty="0"/>
              <a:t>Dynamic : Environment changes even when the agent </a:t>
            </a:r>
            <a:r>
              <a:rPr lang="en-US" dirty="0" err="1"/>
              <a:t>doesnʼt</a:t>
            </a:r>
            <a:r>
              <a:rPr lang="en-US" dirty="0"/>
              <a:t> do anything. (e.g. traffic).</a:t>
            </a:r>
          </a:p>
          <a:p>
            <a:pPr lvl="1">
              <a:buFont typeface="Wingdings" pitchFamily="2" charset="2"/>
              <a:buChar char="Ø"/>
            </a:pPr>
            <a:r>
              <a:rPr lang="en-US" dirty="0"/>
              <a:t>Semi-Dynamic: Environment is static, but </a:t>
            </a:r>
            <a:r>
              <a:rPr lang="en-US" dirty="0" err="1"/>
              <a:t>agentʼs</a:t>
            </a:r>
            <a:r>
              <a:rPr lang="en-US" dirty="0"/>
              <a:t> performance score changes over time. (e.g. chess against a clock).</a:t>
            </a:r>
          </a:p>
          <a:p>
            <a:r>
              <a:rPr lang="en-US" dirty="0"/>
              <a:t>Discrete or Continuous :</a:t>
            </a:r>
          </a:p>
          <a:p>
            <a:pPr lvl="1">
              <a:buFont typeface="Wingdings" pitchFamily="2" charset="2"/>
              <a:buChar char="Ø"/>
            </a:pPr>
            <a:r>
              <a:rPr lang="en-US" dirty="0"/>
              <a:t>Discrete: Time, percepts and actions are discrete. Example: playing a board game.</a:t>
            </a:r>
          </a:p>
          <a:p>
            <a:pPr lvl="1">
              <a:buFont typeface="Wingdings" pitchFamily="2" charset="2"/>
              <a:buChar char="Ø"/>
            </a:pPr>
            <a:r>
              <a:rPr lang="en-US" dirty="0"/>
              <a:t>Continuous: Time, percepts and actions are continuous. Example: driving a car.</a:t>
            </a:r>
          </a:p>
          <a:p>
            <a:endParaRPr lang="en-US" dirty="0"/>
          </a:p>
          <a:p>
            <a:endParaRPr lang="en-US" dirty="0"/>
          </a:p>
          <a:p>
            <a:endParaRPr lang="en-US" dirty="0"/>
          </a:p>
        </p:txBody>
      </p:sp>
    </p:spTree>
    <p:extLst>
      <p:ext uri="{BB962C8B-B14F-4D97-AF65-F5344CB8AC3E}">
        <p14:creationId xmlns:p14="http://schemas.microsoft.com/office/powerpoint/2010/main" val="3938848596"/>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7135E-67A9-0A25-C845-28B3637EF0CC}"/>
              </a:ext>
            </a:extLst>
          </p:cNvPr>
          <p:cNvSpPr>
            <a:spLocks noGrp="1"/>
          </p:cNvSpPr>
          <p:nvPr>
            <p:ph type="title"/>
          </p:nvPr>
        </p:nvSpPr>
        <p:spPr/>
        <p:txBody>
          <a:bodyPr>
            <a:normAutofit fontScale="90000"/>
          </a:bodyPr>
          <a:lstStyle/>
          <a:p>
            <a:r>
              <a:rPr lang="en-US" dirty="0"/>
              <a:t>Environment types</a:t>
            </a:r>
          </a:p>
        </p:txBody>
      </p:sp>
      <p:sp>
        <p:nvSpPr>
          <p:cNvPr id="3" name="Text Placeholder 2">
            <a:extLst>
              <a:ext uri="{FF2B5EF4-FFF2-40B4-BE49-F238E27FC236}">
                <a16:creationId xmlns:a16="http://schemas.microsoft.com/office/drawing/2014/main" id="{2A76BC75-7DDC-8C78-530B-C744443191DE}"/>
              </a:ext>
            </a:extLst>
          </p:cNvPr>
          <p:cNvSpPr>
            <a:spLocks noGrp="1"/>
          </p:cNvSpPr>
          <p:nvPr>
            <p:ph type="body" sz="quarter" idx="10"/>
          </p:nvPr>
        </p:nvSpPr>
        <p:spPr/>
        <p:txBody>
          <a:bodyPr/>
          <a:lstStyle/>
          <a:p>
            <a:r>
              <a:rPr lang="en-ID" dirty="0"/>
              <a:t>Comparing Task Environments</a:t>
            </a:r>
          </a:p>
        </p:txBody>
      </p:sp>
      <p:sp>
        <p:nvSpPr>
          <p:cNvPr id="4" name="Content Placeholder 3">
            <a:extLst>
              <a:ext uri="{FF2B5EF4-FFF2-40B4-BE49-F238E27FC236}">
                <a16:creationId xmlns:a16="http://schemas.microsoft.com/office/drawing/2014/main" id="{BCBFCD60-C86B-6B34-D219-8BB4BAB4DC4D}"/>
              </a:ext>
            </a:extLst>
          </p:cNvPr>
          <p:cNvSpPr>
            <a:spLocks noGrp="1"/>
          </p:cNvSpPr>
          <p:nvPr>
            <p:ph sz="quarter" idx="11"/>
          </p:nvPr>
        </p:nvSpPr>
        <p:spPr/>
        <p:txBody>
          <a:bodyPr>
            <a:normAutofit/>
          </a:bodyPr>
          <a:lstStyle/>
          <a:p>
            <a:r>
              <a:rPr lang="en-US" dirty="0"/>
              <a:t>Agents:</a:t>
            </a:r>
          </a:p>
          <a:p>
            <a:pPr lvl="1">
              <a:buFont typeface="Wingdings" pitchFamily="2" charset="2"/>
              <a:buChar char="Ø"/>
            </a:pPr>
            <a:r>
              <a:rPr lang="en-US" dirty="0"/>
              <a:t>Single-agent environment: Performance of agent A does not depend on any other agents.</a:t>
            </a:r>
          </a:p>
          <a:p>
            <a:pPr lvl="1">
              <a:buFont typeface="Wingdings" pitchFamily="2" charset="2"/>
              <a:buChar char="Ø"/>
            </a:pPr>
            <a:r>
              <a:rPr lang="en-US" dirty="0"/>
              <a:t>Competitive multi-agent environment: Maximizing performance of agent A minimizes performance of agent B. (competitive games)</a:t>
            </a:r>
          </a:p>
          <a:p>
            <a:pPr lvl="1">
              <a:buFont typeface="Wingdings" pitchFamily="2" charset="2"/>
              <a:buChar char="Ø"/>
            </a:pPr>
            <a:r>
              <a:rPr lang="en-US" dirty="0"/>
              <a:t>Cooperative multi-agent environment: Maximizing performance of agent A maximizes performance of agent B. (avoiding traffic accidents)</a:t>
            </a:r>
          </a:p>
          <a:p>
            <a:pPr lvl="1">
              <a:buFont typeface="Wingdings" pitchFamily="2" charset="2"/>
              <a:buChar char="Ø"/>
            </a:pPr>
            <a:endParaRPr lang="en-US" dirty="0"/>
          </a:p>
          <a:p>
            <a:endParaRPr lang="en-US" dirty="0"/>
          </a:p>
          <a:p>
            <a:endParaRPr lang="en-US" dirty="0"/>
          </a:p>
        </p:txBody>
      </p:sp>
    </p:spTree>
    <p:extLst>
      <p:ext uri="{BB962C8B-B14F-4D97-AF65-F5344CB8AC3E}">
        <p14:creationId xmlns:p14="http://schemas.microsoft.com/office/powerpoint/2010/main" val="3736133738"/>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Case study</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Developing PEAS</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p:txBody>
          <a:bodyPr>
            <a:normAutofit/>
          </a:bodyPr>
          <a:lstStyle/>
          <a:p>
            <a:r>
              <a:rPr lang="en-US" dirty="0"/>
              <a:t>Imagine a company wants to build an intelligent system to automate the process of sorting packages based on their weights and destinations in their warehouse. The aim is to enhance efficiency, speed, and accuracy in the sorting process, ensuring that packages are sorted and dispatched correctly to save both time and resources. </a:t>
            </a:r>
          </a:p>
          <a:p>
            <a:r>
              <a:rPr lang="en-US" dirty="0"/>
              <a:t>Your task is to develop the PEAS (Performance measure, Environment, Actuators, and Sensors) for this intelligent package sorting system.</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670236476"/>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2</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a:xfrm>
            <a:off x="2167377" y="3260663"/>
            <a:ext cx="20149698" cy="9798111"/>
          </a:xfrm>
        </p:spPr>
        <p:txBody>
          <a:bodyPr>
            <a:normAutofit/>
          </a:bodyPr>
          <a:lstStyle/>
          <a:p>
            <a:pPr>
              <a:spcBef>
                <a:spcPts val="600"/>
              </a:spcBef>
            </a:pPr>
            <a:r>
              <a:rPr lang="en-US" sz="3200" dirty="0" err="1"/>
              <a:t>Hockenmaier</a:t>
            </a:r>
            <a:r>
              <a:rPr lang="en-US" sz="3200" dirty="0"/>
              <a:t>, J. (n.d.). Lecture 2: Intelligent Agents. CS440/ECE448: Intro to Artificial Intelligence. Retrieved October 18, 2023, from https://</a:t>
            </a:r>
            <a:r>
              <a:rPr lang="en-US" sz="3200" dirty="0" err="1"/>
              <a:t>courses.engr.illinois.edu</a:t>
            </a:r>
            <a:r>
              <a:rPr lang="en-US" sz="3200" dirty="0"/>
              <a:t>/cs440/sp2011/slides/lecture02.pdf</a:t>
            </a:r>
          </a:p>
          <a:p>
            <a:pPr>
              <a:spcBef>
                <a:spcPts val="600"/>
              </a:spcBef>
            </a:pPr>
            <a:r>
              <a:rPr lang="en-US" sz="3200" dirty="0"/>
              <a:t>Russell, S. J., Norvig, P., Chang, M., Devlin, J., Dragan, A., Forsyth, D., Goodfellow, I., Malik, J., </a:t>
            </a:r>
            <a:r>
              <a:rPr lang="en-US" sz="3200" dirty="0" err="1"/>
              <a:t>Mansinghka</a:t>
            </a:r>
            <a:r>
              <a:rPr lang="en-US" sz="3200" dirty="0"/>
              <a:t>, V., Pearl, J., &amp; Wooldridge, M. J. (2022). Artificial intelligence: A modern approach (Fourth edition, global edition). Pearson.</a:t>
            </a:r>
          </a:p>
          <a:p>
            <a:pPr>
              <a:spcBef>
                <a:spcPts val="600"/>
              </a:spcBef>
            </a:pPr>
            <a:r>
              <a:rPr lang="en-US" sz="3200" dirty="0" err="1"/>
              <a:t>Tinelli</a:t>
            </a:r>
            <a:r>
              <a:rPr lang="en-US" sz="3200" dirty="0"/>
              <a:t>, C. (2017). Intelligent Agents. CS:4420 Artificial Intelligence. https://</a:t>
            </a:r>
            <a:r>
              <a:rPr lang="en-US" sz="3200" dirty="0" err="1"/>
              <a:t>homepage.cs.uiowa.edu</a:t>
            </a:r>
            <a:r>
              <a:rPr lang="en-US" sz="3200" dirty="0"/>
              <a:t>/~</a:t>
            </a:r>
            <a:r>
              <a:rPr lang="en-US" sz="3200" dirty="0" err="1"/>
              <a:t>tinelli</a:t>
            </a:r>
            <a:r>
              <a:rPr lang="en-US" sz="3200" dirty="0"/>
              <a:t>/classes/4420/Spring17/notes/2-agents.pdf</a:t>
            </a:r>
          </a:p>
          <a:p>
            <a:pPr>
              <a:spcBef>
                <a:spcPts val="600"/>
              </a:spcBef>
            </a:pPr>
            <a:endParaRPr lang="en-US" sz="3200" dirty="0"/>
          </a:p>
          <a:p>
            <a:pPr>
              <a:spcBef>
                <a:spcPts val="600"/>
              </a:spcBef>
            </a:pPr>
            <a:endParaRPr lang="en-US" sz="3200" dirty="0"/>
          </a:p>
          <a:p>
            <a:pPr>
              <a:spcBef>
                <a:spcPts val="600"/>
              </a:spcBef>
            </a:pPr>
            <a:endParaRPr lang="en-US" sz="3200" dirty="0"/>
          </a:p>
          <a:p>
            <a:pPr>
              <a:spcBef>
                <a:spcPts val="600"/>
              </a:spcBef>
            </a:pPr>
            <a:endParaRPr lang="en-US" sz="3200" dirty="0"/>
          </a:p>
          <a:p>
            <a:pPr>
              <a:spcBef>
                <a:spcPts val="600"/>
              </a:spcBef>
            </a:pPr>
            <a:endParaRPr lang="en-US" sz="3200" dirty="0"/>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328</TotalTime>
  <Words>1421</Words>
  <Application>Microsoft Office PowerPoint</Application>
  <PresentationFormat>Custom</PresentationFormat>
  <Paragraphs>195</Paragraphs>
  <Slides>29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Open Sans</vt:lpstr>
      <vt:lpstr>Courier New</vt:lpstr>
      <vt:lpstr>Open Sans Semibold</vt:lpstr>
      <vt:lpstr>Open Sans Light</vt:lpstr>
      <vt:lpstr>Arial</vt:lpstr>
      <vt:lpstr>Open Sans ExtraBold</vt:lpstr>
      <vt:lpstr>OCRB</vt:lpstr>
      <vt:lpstr>Wingdings</vt:lpstr>
      <vt:lpstr>21_BasicWhite</vt:lpstr>
      <vt:lpstr>Intelligent Agents</vt:lpstr>
      <vt:lpstr>Learning Outcomes</vt:lpstr>
      <vt:lpstr>outline</vt:lpstr>
      <vt:lpstr>Introduction</vt:lpstr>
      <vt:lpstr>Introduction</vt:lpstr>
      <vt:lpstr>Agent</vt:lpstr>
      <vt:lpstr>Agent</vt:lpstr>
      <vt:lpstr>Agent</vt:lpstr>
      <vt:lpstr>Agent</vt:lpstr>
      <vt:lpstr>Agent</vt:lpstr>
      <vt:lpstr>Agent type</vt:lpstr>
      <vt:lpstr>Agent type</vt:lpstr>
      <vt:lpstr>Agent type</vt:lpstr>
      <vt:lpstr>Agent type</vt:lpstr>
      <vt:lpstr>Agent type</vt:lpstr>
      <vt:lpstr>Agent type</vt:lpstr>
      <vt:lpstr>Agent type</vt:lpstr>
      <vt:lpstr>Evaluating agent</vt:lpstr>
      <vt:lpstr>Evaluating agent</vt:lpstr>
      <vt:lpstr>Evaluating agent</vt:lpstr>
      <vt:lpstr>Evaluating agent</vt:lpstr>
      <vt:lpstr>Evaluating agent</vt:lpstr>
      <vt:lpstr>Evaluating agent</vt:lpstr>
      <vt:lpstr>Environment types</vt:lpstr>
      <vt:lpstr>Environment types</vt:lpstr>
      <vt:lpstr>Environment types</vt:lpstr>
      <vt:lpstr>Environment types</vt:lpstr>
      <vt:lpstr>Case study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36</cp:revision>
  <dcterms:created xsi:type="dcterms:W3CDTF">2023-11-17T02:51:40Z</dcterms:created>
  <dcterms:modified xsi:type="dcterms:W3CDTF">2024-12-26T16:07:22Z</dcterms:modified>
</cp:coreProperties>
</file>