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4"/>
  </p:notesMasterIdLst>
  <p:sldIdLst>
    <p:sldId id="290" r:id="rId2"/>
    <p:sldId id="257" r:id="rId3"/>
    <p:sldId id="258" r:id="rId4"/>
    <p:sldId id="308" r:id="rId5"/>
    <p:sldId id="309" r:id="rId6"/>
    <p:sldId id="297" r:id="rId7"/>
    <p:sldId id="298" r:id="rId8"/>
    <p:sldId id="310" r:id="rId9"/>
    <p:sldId id="311" r:id="rId10"/>
    <p:sldId id="312" r:id="rId11"/>
    <p:sldId id="313" r:id="rId12"/>
    <p:sldId id="314" r:id="rId13"/>
    <p:sldId id="315" r:id="rId14"/>
    <p:sldId id="318" r:id="rId15"/>
    <p:sldId id="316" r:id="rId16"/>
    <p:sldId id="317" r:id="rId17"/>
    <p:sldId id="319" r:id="rId18"/>
    <p:sldId id="320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278" r:id="rId43"/>
  </p:sldIdLst>
  <p:sldSz cx="24384000" cy="13716000"/>
  <p:notesSz cx="6858000" cy="9144000"/>
  <p:embeddedFontLst>
    <p:embeddedFont>
      <p:font typeface="Cambria Math" panose="02040503050406030204" pitchFamily="18" charset="0"/>
      <p:regular r:id="rId45"/>
    </p:embeddedFont>
    <p:embeddedFont>
      <p:font typeface="OCRB" panose="020B0609020202020204" pitchFamily="49" charset="0"/>
      <p:regular r:id="rId46"/>
    </p:embeddedFont>
    <p:embeddedFont>
      <p:font typeface="Open Sans" panose="020B0606030504020204" pitchFamily="34" charset="0"/>
      <p:regular r:id="rId47"/>
      <p:bold r:id="rId48"/>
      <p:italic r:id="rId49"/>
      <p:boldItalic r:id="rId50"/>
    </p:embeddedFont>
    <p:embeddedFont>
      <p:font typeface="Open Sans ExtraBold" panose="020B0906030804020204" pitchFamily="34" charset="0"/>
      <p:bold r:id="rId51"/>
      <p:italic r:id="rId52"/>
      <p:boldItalic r:id="rId53"/>
    </p:embeddedFont>
    <p:embeddedFont>
      <p:font typeface="Open Sans Light" panose="020B0306030504020204" pitchFamily="34" charset="0"/>
      <p:regular r:id="rId54"/>
      <p:italic r:id="rId55"/>
    </p:embeddedFont>
    <p:embeddedFont>
      <p:font typeface="Open Sans Semibold" panose="020B0706030804020204" pitchFamily="34" charset="0"/>
      <p:regular r:id="rId56"/>
      <p:bold r:id="rId57"/>
      <p:italic r:id="rId58"/>
      <p:boldItalic r:id="rId59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6" autoAdjust="0"/>
    <p:restoredTop sz="90938"/>
  </p:normalViewPr>
  <p:slideViewPr>
    <p:cSldViewPr snapToGrid="0" snapToObjects="1">
      <p:cViewPr varScale="1">
        <p:scale>
          <a:sx n="31" d="100"/>
          <a:sy n="31" d="100"/>
        </p:scale>
        <p:origin x="1080" y="9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21ECC-01DB-4CAC-82E5-9580980DEFCC}" type="doc">
      <dgm:prSet loTypeId="urn:microsoft.com/office/officeart/2005/8/layout/chevron1" loCatId="process" qsTypeId="urn:microsoft.com/office/officeart/2005/8/quickstyle/simple1" qsCatId="simple" csTypeId="urn:microsoft.com/office/officeart/2005/8/colors/accent1_4" csCatId="accent1" phldr="1"/>
      <dgm:spPr/>
    </dgm:pt>
    <dgm:pt modelId="{EDE855DC-500A-4D72-A6D6-0AA74349014E}">
      <dgm:prSet phldrT="[Text]"/>
      <dgm:spPr/>
      <dgm:t>
        <a:bodyPr/>
        <a:lstStyle/>
        <a:p>
          <a:r>
            <a:rPr lang="en-ID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Receive signals </a:t>
          </a:r>
          <a:r>
            <a: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from other neurons via dendrites, </a:t>
          </a:r>
        </a:p>
      </dgm:t>
    </dgm:pt>
    <dgm:pt modelId="{0DB855CF-107D-4C1F-A65D-CB9B2EAE4518}" type="parTrans" cxnId="{6340519D-1273-4908-A3D8-D7491CE04632}">
      <dgm:prSet/>
      <dgm:spPr/>
      <dgm:t>
        <a:bodyPr/>
        <a:lstStyle/>
        <a:p>
          <a:endParaRPr lang="en-ID"/>
        </a:p>
      </dgm:t>
    </dgm:pt>
    <dgm:pt modelId="{752F1ACF-21C5-432C-A583-053F0223AD56}" type="sibTrans" cxnId="{6340519D-1273-4908-A3D8-D7491CE04632}">
      <dgm:prSet/>
      <dgm:spPr/>
      <dgm:t>
        <a:bodyPr/>
        <a:lstStyle/>
        <a:p>
          <a:endParaRPr lang="en-ID"/>
        </a:p>
      </dgm:t>
    </dgm:pt>
    <dgm:pt modelId="{38F812EB-97E5-49F0-95B7-CA387E785705}">
      <dgm:prSet/>
      <dgm:spPr/>
      <dgm:t>
        <a:bodyPr/>
        <a:lstStyle/>
        <a:p>
          <a:r>
            <a:rPr lang="en-ID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Tweak the signals </a:t>
          </a:r>
          <a:r>
            <a: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in its cell body, </a:t>
          </a:r>
        </a:p>
      </dgm:t>
    </dgm:pt>
    <dgm:pt modelId="{4C61E37F-DA74-4548-8479-6415B020B590}" type="parTrans" cxnId="{6F854089-03D3-4E93-86F9-D93B52F985D7}">
      <dgm:prSet/>
      <dgm:spPr/>
      <dgm:t>
        <a:bodyPr/>
        <a:lstStyle/>
        <a:p>
          <a:endParaRPr lang="en-ID"/>
        </a:p>
      </dgm:t>
    </dgm:pt>
    <dgm:pt modelId="{42B31DB6-5108-45E0-BFD9-0EDC5161A764}" type="sibTrans" cxnId="{6F854089-03D3-4E93-86F9-D93B52F985D7}">
      <dgm:prSet/>
      <dgm:spPr/>
      <dgm:t>
        <a:bodyPr/>
        <a:lstStyle/>
        <a:p>
          <a:endParaRPr lang="en-ID"/>
        </a:p>
      </dgm:t>
    </dgm:pt>
    <dgm:pt modelId="{FEE0A754-0821-4551-8443-18290919507C}">
      <dgm:prSet/>
      <dgm:spPr/>
      <dgm:t>
        <a:bodyPr/>
        <a:lstStyle/>
        <a:p>
          <a:r>
            <a:rPr lang="en-ID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Send new signals </a:t>
          </a:r>
          <a:r>
            <a: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to other neurons via synaptic terminals</a:t>
          </a:r>
        </a:p>
      </dgm:t>
    </dgm:pt>
    <dgm:pt modelId="{0BC21709-43FE-4F6E-9189-DFD55C68D3F1}" type="parTrans" cxnId="{EF357C57-C190-45B6-898F-1FB68485025C}">
      <dgm:prSet/>
      <dgm:spPr/>
      <dgm:t>
        <a:bodyPr/>
        <a:lstStyle/>
        <a:p>
          <a:endParaRPr lang="en-ID"/>
        </a:p>
      </dgm:t>
    </dgm:pt>
    <dgm:pt modelId="{90BB9442-55CC-4552-BD13-A4C24A6D899D}" type="sibTrans" cxnId="{EF357C57-C190-45B6-898F-1FB68485025C}">
      <dgm:prSet/>
      <dgm:spPr/>
      <dgm:t>
        <a:bodyPr/>
        <a:lstStyle/>
        <a:p>
          <a:endParaRPr lang="en-ID"/>
        </a:p>
      </dgm:t>
    </dgm:pt>
    <dgm:pt modelId="{DFBDB159-BC19-4053-AF74-6EAEC3D3175E}" type="pres">
      <dgm:prSet presAssocID="{AC721ECC-01DB-4CAC-82E5-9580980DEFCC}" presName="Name0" presStyleCnt="0">
        <dgm:presLayoutVars>
          <dgm:dir/>
          <dgm:animLvl val="lvl"/>
          <dgm:resizeHandles val="exact"/>
        </dgm:presLayoutVars>
      </dgm:prSet>
      <dgm:spPr/>
    </dgm:pt>
    <dgm:pt modelId="{C74C6FB0-ACEF-4EEA-AA2A-03CF94492A8A}" type="pres">
      <dgm:prSet presAssocID="{EDE855DC-500A-4D72-A6D6-0AA74349014E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2EF9B7A-C99D-4197-92AF-EE26B0EC36CC}" type="pres">
      <dgm:prSet presAssocID="{752F1ACF-21C5-432C-A583-053F0223AD56}" presName="parTxOnlySpace" presStyleCnt="0"/>
      <dgm:spPr/>
    </dgm:pt>
    <dgm:pt modelId="{E98D9B2B-4AAB-48E3-84F1-ADFF1D2C55B9}" type="pres">
      <dgm:prSet presAssocID="{38F812EB-97E5-49F0-95B7-CA387E785705}" presName="parTxOnly" presStyleLbl="node1" presStyleIdx="1" presStyleCnt="3" custLinFactNeighborX="-3686" custLinFactNeighborY="-4138">
        <dgm:presLayoutVars>
          <dgm:chMax val="0"/>
          <dgm:chPref val="0"/>
          <dgm:bulletEnabled val="1"/>
        </dgm:presLayoutVars>
      </dgm:prSet>
      <dgm:spPr/>
    </dgm:pt>
    <dgm:pt modelId="{92A1BC5F-7337-46F7-8ACA-40A80EF825F3}" type="pres">
      <dgm:prSet presAssocID="{42B31DB6-5108-45E0-BFD9-0EDC5161A764}" presName="parTxOnlySpace" presStyleCnt="0"/>
      <dgm:spPr/>
    </dgm:pt>
    <dgm:pt modelId="{B095A72F-1515-4B11-B683-37C19D997C9C}" type="pres">
      <dgm:prSet presAssocID="{FEE0A754-0821-4551-8443-18290919507C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4163576-2F09-41E5-B805-9B1696EA0B6B}" type="presOf" srcId="{FEE0A754-0821-4551-8443-18290919507C}" destId="{B095A72F-1515-4B11-B683-37C19D997C9C}" srcOrd="0" destOrd="0" presId="urn:microsoft.com/office/officeart/2005/8/layout/chevron1"/>
    <dgm:cxn modelId="{EF357C57-C190-45B6-898F-1FB68485025C}" srcId="{AC721ECC-01DB-4CAC-82E5-9580980DEFCC}" destId="{FEE0A754-0821-4551-8443-18290919507C}" srcOrd="2" destOrd="0" parTransId="{0BC21709-43FE-4F6E-9189-DFD55C68D3F1}" sibTransId="{90BB9442-55CC-4552-BD13-A4C24A6D899D}"/>
    <dgm:cxn modelId="{AE106979-0A55-4883-9177-054CFDD56560}" type="presOf" srcId="{EDE855DC-500A-4D72-A6D6-0AA74349014E}" destId="{C74C6FB0-ACEF-4EEA-AA2A-03CF94492A8A}" srcOrd="0" destOrd="0" presId="urn:microsoft.com/office/officeart/2005/8/layout/chevron1"/>
    <dgm:cxn modelId="{6F854089-03D3-4E93-86F9-D93B52F985D7}" srcId="{AC721ECC-01DB-4CAC-82E5-9580980DEFCC}" destId="{38F812EB-97E5-49F0-95B7-CA387E785705}" srcOrd="1" destOrd="0" parTransId="{4C61E37F-DA74-4548-8479-6415B020B590}" sibTransId="{42B31DB6-5108-45E0-BFD9-0EDC5161A764}"/>
    <dgm:cxn modelId="{6340519D-1273-4908-A3D8-D7491CE04632}" srcId="{AC721ECC-01DB-4CAC-82E5-9580980DEFCC}" destId="{EDE855DC-500A-4D72-A6D6-0AA74349014E}" srcOrd="0" destOrd="0" parTransId="{0DB855CF-107D-4C1F-A65D-CB9B2EAE4518}" sibTransId="{752F1ACF-21C5-432C-A583-053F0223AD56}"/>
    <dgm:cxn modelId="{AA2C93AE-4534-4727-A9AC-309750D803CC}" type="presOf" srcId="{38F812EB-97E5-49F0-95B7-CA387E785705}" destId="{E98D9B2B-4AAB-48E3-84F1-ADFF1D2C55B9}" srcOrd="0" destOrd="0" presId="urn:microsoft.com/office/officeart/2005/8/layout/chevron1"/>
    <dgm:cxn modelId="{DDECC8BC-6E29-48AC-A16C-DC214B2974BA}" type="presOf" srcId="{AC721ECC-01DB-4CAC-82E5-9580980DEFCC}" destId="{DFBDB159-BC19-4053-AF74-6EAEC3D3175E}" srcOrd="0" destOrd="0" presId="urn:microsoft.com/office/officeart/2005/8/layout/chevron1"/>
    <dgm:cxn modelId="{47C7DA03-8CDF-4C60-924D-EFF63E9AB2A1}" type="presParOf" srcId="{DFBDB159-BC19-4053-AF74-6EAEC3D3175E}" destId="{C74C6FB0-ACEF-4EEA-AA2A-03CF94492A8A}" srcOrd="0" destOrd="0" presId="urn:microsoft.com/office/officeart/2005/8/layout/chevron1"/>
    <dgm:cxn modelId="{1E5C214F-CCBA-4EBA-917E-B8001CA29C82}" type="presParOf" srcId="{DFBDB159-BC19-4053-AF74-6EAEC3D3175E}" destId="{A2EF9B7A-C99D-4197-92AF-EE26B0EC36CC}" srcOrd="1" destOrd="0" presId="urn:microsoft.com/office/officeart/2005/8/layout/chevron1"/>
    <dgm:cxn modelId="{EF3D9BA6-8348-4EAB-97FC-8164F9C73687}" type="presParOf" srcId="{DFBDB159-BC19-4053-AF74-6EAEC3D3175E}" destId="{E98D9B2B-4AAB-48E3-84F1-ADFF1D2C55B9}" srcOrd="2" destOrd="0" presId="urn:microsoft.com/office/officeart/2005/8/layout/chevron1"/>
    <dgm:cxn modelId="{B69FF7E0-4F70-4327-98A5-15B60A4BB43C}" type="presParOf" srcId="{DFBDB159-BC19-4053-AF74-6EAEC3D3175E}" destId="{92A1BC5F-7337-46F7-8ACA-40A80EF825F3}" srcOrd="3" destOrd="0" presId="urn:microsoft.com/office/officeart/2005/8/layout/chevron1"/>
    <dgm:cxn modelId="{C0EF423D-8B64-4916-839B-1C827008E8BA}" type="presParOf" srcId="{DFBDB159-BC19-4053-AF74-6EAEC3D3175E}" destId="{B095A72F-1515-4B11-B683-37C19D997C9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C6FB0-ACEF-4EEA-AA2A-03CF94492A8A}">
      <dsp:nvSpPr>
        <dsp:cNvPr id="0" name=""/>
        <dsp:cNvSpPr/>
      </dsp:nvSpPr>
      <dsp:spPr>
        <a:xfrm>
          <a:off x="4141" y="437142"/>
          <a:ext cx="5045403" cy="2018161"/>
        </a:xfrm>
        <a:prstGeom prst="chevron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Receive signals </a:t>
          </a:r>
          <a:r>
            <a:rPr lang="en-ID" sz="26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from other neurons via dendrites, </a:t>
          </a:r>
        </a:p>
      </dsp:txBody>
      <dsp:txXfrm>
        <a:off x="1013222" y="437142"/>
        <a:ext cx="3027242" cy="2018161"/>
      </dsp:txXfrm>
    </dsp:sp>
    <dsp:sp modelId="{E98D9B2B-4AAB-48E3-84F1-ADFF1D2C55B9}">
      <dsp:nvSpPr>
        <dsp:cNvPr id="0" name=""/>
        <dsp:cNvSpPr/>
      </dsp:nvSpPr>
      <dsp:spPr>
        <a:xfrm>
          <a:off x="4526407" y="353631"/>
          <a:ext cx="5045403" cy="2018161"/>
        </a:xfrm>
        <a:prstGeom prst="chevron">
          <a:avLst/>
        </a:prstGeom>
        <a:solidFill>
          <a:schemeClr val="accent1">
            <a:shade val="50000"/>
            <a:hueOff val="507423"/>
            <a:satOff val="0"/>
            <a:lumOff val="322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Tweak the signals </a:t>
          </a:r>
          <a:r>
            <a:rPr lang="en-ID" sz="26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in its cell body, </a:t>
          </a:r>
        </a:p>
      </dsp:txBody>
      <dsp:txXfrm>
        <a:off x="5535488" y="353631"/>
        <a:ext cx="3027242" cy="2018161"/>
      </dsp:txXfrm>
    </dsp:sp>
    <dsp:sp modelId="{B095A72F-1515-4B11-B683-37C19D997C9C}">
      <dsp:nvSpPr>
        <dsp:cNvPr id="0" name=""/>
        <dsp:cNvSpPr/>
      </dsp:nvSpPr>
      <dsp:spPr>
        <a:xfrm>
          <a:off x="9085868" y="437142"/>
          <a:ext cx="5045403" cy="2018161"/>
        </a:xfrm>
        <a:prstGeom prst="chevron">
          <a:avLst/>
        </a:prstGeom>
        <a:solidFill>
          <a:schemeClr val="accent1">
            <a:shade val="50000"/>
            <a:hueOff val="507423"/>
            <a:satOff val="0"/>
            <a:lumOff val="322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6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Send new signals </a:t>
          </a:r>
          <a:r>
            <a:rPr lang="en-ID" sz="26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to other neurons via synaptic terminals</a:t>
          </a:r>
        </a:p>
      </dsp:txBody>
      <dsp:txXfrm>
        <a:off x="10094949" y="437142"/>
        <a:ext cx="3027242" cy="20181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53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572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916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021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24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5: Apply various learning algorithms for agents to solve problems  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Perceptron</a:t>
            </a:r>
          </a:p>
          <a:p>
            <a:r>
              <a:rPr lang="en-ID" dirty="0"/>
              <a:t>Multilayer Perceptron</a:t>
            </a:r>
          </a:p>
          <a:p>
            <a:r>
              <a:rPr lang="en-ID" dirty="0"/>
              <a:t>Artificial Neural Network</a:t>
            </a:r>
          </a:p>
          <a:p>
            <a:r>
              <a:rPr lang="en-ID" dirty="0"/>
              <a:t>Backpropagation Neural Network (BPNN)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Artificial Neural network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Neuron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3018E3-423B-2B4C-0FD2-F03DED7410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0995170" cy="8129718"/>
          </a:xfrm>
        </p:spPr>
        <p:txBody>
          <a:bodyPr/>
          <a:lstStyle/>
          <a:p>
            <a:r>
              <a:rPr lang="en-ID" sz="4400" dirty="0"/>
              <a:t>A human brain is a complex organization of a cell called as </a:t>
            </a:r>
            <a:r>
              <a:rPr lang="en-ID" sz="4400" b="1" dirty="0"/>
              <a:t>neuron.</a:t>
            </a:r>
          </a:p>
          <a:p>
            <a:endParaRPr lang="en-ID" sz="4400" dirty="0"/>
          </a:p>
          <a:p>
            <a:r>
              <a:rPr lang="en-ID" sz="4400" dirty="0"/>
              <a:t>A neuron can process information by running this process:</a:t>
            </a:r>
          </a:p>
          <a:p>
            <a:endParaRPr lang="en-US" dirty="0"/>
          </a:p>
        </p:txBody>
      </p:sp>
      <p:pic>
        <p:nvPicPr>
          <p:cNvPr id="8" name="Picture 7" descr="A close-up of a hand holding a device&#10;&#10;Description automatically generated">
            <a:extLst>
              <a:ext uri="{FF2B5EF4-FFF2-40B4-BE49-F238E27FC236}">
                <a16:creationId xmlns:a16="http://schemas.microsoft.com/office/drawing/2014/main" id="{31DE3F30-36CB-C81F-CD82-F6AE3C845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2547" y="3714224"/>
            <a:ext cx="11016302" cy="7402955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A99E07B-2982-BA73-13B5-3D56F0D19621}"/>
              </a:ext>
            </a:extLst>
          </p:cNvPr>
          <p:cNvGraphicFramePr/>
          <p:nvPr/>
        </p:nvGraphicFramePr>
        <p:xfrm>
          <a:off x="2457454" y="8224732"/>
          <a:ext cx="14135413" cy="2892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7844194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Artificial Neural network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3018E3-423B-2B4C-0FD2-F03DED7410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714224"/>
            <a:ext cx="20283549" cy="8129718"/>
          </a:xfrm>
        </p:spPr>
        <p:txBody>
          <a:bodyPr/>
          <a:lstStyle/>
          <a:p>
            <a:r>
              <a:rPr lang="en-ID" sz="4400" dirty="0"/>
              <a:t>ANNs are a computational model inspired by the structure and function of biological neural networks in the human brain.</a:t>
            </a:r>
          </a:p>
          <a:p>
            <a:r>
              <a:rPr lang="en-ID" sz="4400" dirty="0"/>
              <a:t>Here is the comparation between biological neuron and artificial neuron:</a:t>
            </a:r>
          </a:p>
          <a:p>
            <a:endParaRPr lang="en-ID" sz="4400" dirty="0"/>
          </a:p>
        </p:txBody>
      </p:sp>
      <p:pic>
        <p:nvPicPr>
          <p:cNvPr id="5126" name="Picture 6" descr="The Concept of Artificial Neurons (Perceptrons) in Neural Networks | by  Rukshan Pramoditha | Towards Data Science">
            <a:extLst>
              <a:ext uri="{FF2B5EF4-FFF2-40B4-BE49-F238E27FC236}">
                <a16:creationId xmlns:a16="http://schemas.microsoft.com/office/drawing/2014/main" id="{672DAE92-6C8A-91C8-2425-31F5DE75CF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8" b="8490"/>
          <a:stretch/>
        </p:blipFill>
        <p:spPr bwMode="auto">
          <a:xfrm>
            <a:off x="3721768" y="6653336"/>
            <a:ext cx="16940463" cy="608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67289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Artificial Neural network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3018E3-423B-2B4C-0FD2-F03DED7410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8685107" cy="8129718"/>
          </a:xfrm>
        </p:spPr>
        <p:txBody>
          <a:bodyPr>
            <a:normAutofit/>
          </a:bodyPr>
          <a:lstStyle/>
          <a:p>
            <a:r>
              <a:rPr lang="en-ID" sz="4400" dirty="0"/>
              <a:t>In ANN, the neurons are interconnected and organized in </a:t>
            </a:r>
            <a:r>
              <a:rPr lang="en-ID" sz="4400" b="1" dirty="0">
                <a:solidFill>
                  <a:schemeClr val="accent1">
                    <a:lumMod val="75000"/>
                  </a:schemeClr>
                </a:solidFill>
              </a:rPr>
              <a:t>layers</a:t>
            </a:r>
            <a:r>
              <a:rPr lang="en-ID" sz="4400" dirty="0"/>
              <a:t>. </a:t>
            </a:r>
          </a:p>
          <a:p>
            <a:r>
              <a:rPr lang="en-ID" sz="4400" dirty="0"/>
              <a:t>Information flows through the network from </a:t>
            </a:r>
            <a:r>
              <a:rPr lang="en-ID" sz="4400" b="1" dirty="0"/>
              <a:t>input layers </a:t>
            </a:r>
            <a:r>
              <a:rPr lang="en-ID" sz="4400" dirty="0"/>
              <a:t>to </a:t>
            </a:r>
            <a:r>
              <a:rPr lang="en-ID" sz="4400" b="1" dirty="0"/>
              <a:t>output layers</a:t>
            </a:r>
            <a:r>
              <a:rPr lang="en-ID" sz="4400" dirty="0"/>
              <a:t>.</a:t>
            </a:r>
          </a:p>
          <a:p>
            <a:r>
              <a:rPr lang="en-ID" dirty="0"/>
              <a:t>Typical ANN has 3 layers: Input, Hidden and Output layers.</a:t>
            </a:r>
          </a:p>
          <a:p>
            <a:endParaRPr lang="en-ID" sz="4400" dirty="0"/>
          </a:p>
        </p:txBody>
      </p:sp>
      <p:pic>
        <p:nvPicPr>
          <p:cNvPr id="7" name="Picture 6" descr="A blue and green arrows&#10;&#10;Description automatically generated">
            <a:extLst>
              <a:ext uri="{FF2B5EF4-FFF2-40B4-BE49-F238E27FC236}">
                <a16:creationId xmlns:a16="http://schemas.microsoft.com/office/drawing/2014/main" id="{7CEBB2DC-F1BC-3B91-F19D-F051C6DF3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6549" y="3714225"/>
            <a:ext cx="10871080" cy="71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151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Artificial Neural network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3018E3-423B-2B4C-0FD2-F03DED7410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8685107" cy="9117856"/>
          </a:xfrm>
        </p:spPr>
        <p:txBody>
          <a:bodyPr>
            <a:normAutofit/>
          </a:bodyPr>
          <a:lstStyle/>
          <a:p>
            <a:r>
              <a:rPr lang="en-ID" sz="4400" dirty="0"/>
              <a:t>Deep learning revolves around ANN with multiple hidden layers (hence "</a:t>
            </a:r>
            <a:r>
              <a:rPr lang="en-ID" sz="4400" b="1" dirty="0"/>
              <a:t>deep</a:t>
            </a:r>
            <a:r>
              <a:rPr lang="en-ID" sz="4400" dirty="0"/>
              <a:t>"), </a:t>
            </a:r>
          </a:p>
          <a:p>
            <a:r>
              <a:rPr lang="en-ID" dirty="0"/>
              <a:t>It </a:t>
            </a:r>
            <a:r>
              <a:rPr lang="en-ID" sz="4400" dirty="0"/>
              <a:t>can learn complex patterns in data.</a:t>
            </a:r>
          </a:p>
          <a:p>
            <a:r>
              <a:rPr lang="en-ID" sz="4400" dirty="0"/>
              <a:t>It can automatically learn features from raw data, eliminating the need for manual feature extraction.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19AE9262-3A43-546D-7073-47E7CB9A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145" y="4051108"/>
            <a:ext cx="13265117" cy="6608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54700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D146-D9D9-72A3-B676-BF571C40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6C547-D57F-E13E-5DC2-0E09AD1DD3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98415-0209-5577-7388-57B49E18D0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the early attempts to build an artificial neuron is that of Frank Rosenblatt. </a:t>
            </a:r>
          </a:p>
          <a:p>
            <a:r>
              <a:rPr lang="en-US" dirty="0"/>
              <a:t>Rosenblatt proposed a method called the perceptron, which became known as the first artificial neuron.</a:t>
            </a:r>
          </a:p>
          <a:p>
            <a:r>
              <a:rPr lang="en-US" dirty="0"/>
              <a:t>The algorithm is a type of linear classifier that learns a decision boundary for binary classification tasks</a:t>
            </a:r>
          </a:p>
          <a:p>
            <a:r>
              <a:rPr lang="en-US" dirty="0"/>
              <a:t>Its architecture is composed of an augmentation of two functions:</a:t>
            </a:r>
          </a:p>
          <a:p>
            <a:pPr marL="1613250" lvl="1" indent="-857250">
              <a:buFont typeface="+mj-lt"/>
              <a:buAutoNum type="romanUcPeriod"/>
            </a:pPr>
            <a:r>
              <a:rPr lang="en-US" dirty="0"/>
              <a:t>A linear transformation</a:t>
            </a:r>
          </a:p>
          <a:p>
            <a:pPr marL="1613250" lvl="1" indent="-857250">
              <a:buFont typeface="+mj-lt"/>
              <a:buAutoNum type="romanUcPeriod"/>
            </a:pPr>
            <a:r>
              <a:rPr lang="en-US" dirty="0"/>
              <a:t>A thresholding Function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33298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8E73-1316-0ED5-2CB4-4ABE9C77D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B685B-8E61-1AE7-CB8B-C9C3F9148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Rosenblatt’s perceptron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384728F-F8E4-DD32-ACCE-423E2F7B582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325902" y="3564392"/>
            <a:ext cx="13220700" cy="920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03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ACF4-BDF8-8574-46DC-5EA79B91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AA51E-925A-B2D1-3548-F6DC9F9B0B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58333A-BBBE-54B7-A9AC-CBFB4B3FCD3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spcAft>
                    <a:spcPts val="2400"/>
                  </a:spcAft>
                  <a:buNone/>
                </a:pPr>
                <a:r>
                  <a:rPr lang="en-US" sz="4400" b="0" dirty="0"/>
                  <a:t>Mathematically, the perceptron function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4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58333A-BBBE-54B7-A9AC-CBFB4B3FCD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456" t="-13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BFC41D07-63AE-5E65-2041-820F06ED1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401" y="8534400"/>
            <a:ext cx="8599702" cy="165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87389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E979-6CDD-6D53-D3B4-EE854C98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10EB7-7F83-1AC6-E66B-61CEAC1BE0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and limitation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7A052-B8C1-1BE5-D4AF-8BE00B81E7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8711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perceptron algorithm, and architecture, has a major limitation, its inability to deal with </a:t>
            </a:r>
            <a:r>
              <a:rPr lang="en-US" b="1" dirty="0"/>
              <a:t>non-linearly separable pattern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This drawback restricts the use of Rosenblatt’s perceptron to simple tasks</a:t>
            </a:r>
          </a:p>
          <a:p>
            <a:endParaRPr lang="en-US" dirty="0"/>
          </a:p>
        </p:txBody>
      </p:sp>
      <p:pic>
        <p:nvPicPr>
          <p:cNvPr id="1026" name="Picture 2" descr="Structure of Measured Data">
            <a:extLst>
              <a:ext uri="{FF2B5EF4-FFF2-40B4-BE49-F238E27FC236}">
                <a16:creationId xmlns:a16="http://schemas.microsoft.com/office/drawing/2014/main" id="{F0BEFB3B-97D2-FC22-403F-8CB6E1681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070" y="5016327"/>
            <a:ext cx="17563859" cy="576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39727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E979-6CDD-6D53-D3B4-EE854C98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10EB7-7F83-1AC6-E66B-61CEAC1BE0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Activation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7A052-B8C1-1BE5-D4AF-8BE00B81E7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871137"/>
          </a:xfrm>
        </p:spPr>
        <p:txBody>
          <a:bodyPr>
            <a:normAutofit/>
          </a:bodyPr>
          <a:lstStyle/>
          <a:p>
            <a:r>
              <a:rPr lang="en-US" dirty="0"/>
              <a:t>To deal with such issue (non-linear pattern), artificial neurons tweak the perceptron architecture to include </a:t>
            </a:r>
            <a:r>
              <a:rPr lang="en-US" b="1" dirty="0">
                <a:solidFill>
                  <a:srgbClr val="0070C0"/>
                </a:solidFill>
              </a:rPr>
              <a:t>a differentiable activation function </a:t>
            </a:r>
            <a:r>
              <a:rPr lang="en-US" dirty="0"/>
              <a:t>that replaces the thresholding function </a:t>
            </a:r>
            <a:r>
              <a:rPr lang="en-US" b="1" dirty="0"/>
              <a:t>to add non-linearity</a:t>
            </a:r>
            <a:r>
              <a:rPr lang="en-US" dirty="0"/>
              <a:t>.</a:t>
            </a:r>
          </a:p>
          <a:p>
            <a:r>
              <a:rPr lang="en-US" dirty="0"/>
              <a:t>Activation function is a non-linear operation applied on the output of the combiner.</a:t>
            </a:r>
          </a:p>
          <a:p>
            <a:r>
              <a:rPr lang="en-US" dirty="0"/>
              <a:t> It serves two objectives: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Provides control over the range of the output (activation range)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It helps expand the representational ability of neural networks beyond linearly-separable patterns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5192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E979-6CDD-6D53-D3B4-EE854C98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10EB7-7F83-1AC6-E66B-61CEAC1BE0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Activation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7A052-B8C1-1BE5-D4AF-8BE00B81E7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871137"/>
          </a:xfrm>
        </p:spPr>
        <p:txBody>
          <a:bodyPr>
            <a:normAutofit/>
          </a:bodyPr>
          <a:lstStyle/>
          <a:p>
            <a:r>
              <a:rPr lang="en-US" dirty="0"/>
              <a:t>Three of the most popular activations:</a:t>
            </a:r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r>
              <a:rPr lang="en-US" dirty="0"/>
              <a:t>Sigmoid function:</a:t>
            </a:r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endParaRPr lang="en-US" dirty="0"/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r>
              <a:rPr lang="en-US" dirty="0"/>
              <a:t>Hyperbolic tangent function (tanh):</a:t>
            </a:r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endParaRPr lang="en-US" dirty="0"/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r>
              <a:rPr lang="en-US" dirty="0"/>
              <a:t>Rectified Linear Unit (</a:t>
            </a:r>
            <a:r>
              <a:rPr lang="en-US" dirty="0" err="1"/>
              <a:t>ReLU</a:t>
            </a:r>
            <a:r>
              <a:rPr lang="en-US" dirty="0"/>
              <a:t>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3D060F1-38BB-759A-AF89-8C11CD55F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0780" y="5330251"/>
            <a:ext cx="4262437" cy="137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4813722-A852-636E-F721-7B56580B6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033" y="8340423"/>
            <a:ext cx="4231744" cy="1379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123A1-BA90-5675-45F3-91DC110F0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033" y="11350596"/>
            <a:ext cx="4262437" cy="592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87204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41CB-CF21-81D9-4977-ACBECE2B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Multilayer perceptron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A3C56-17D7-0BE7-49E5-FE7FE4C26E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1AFBD-7219-2034-5035-F6771055428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7158612" cy="9413937"/>
          </a:xfrm>
        </p:spPr>
        <p:txBody>
          <a:bodyPr>
            <a:normAutofit/>
          </a:bodyPr>
          <a:lstStyle/>
          <a:p>
            <a:r>
              <a:rPr lang="en-US" dirty="0"/>
              <a:t>The Multilayer Perceptron is a neural network where the mapping between inputs and output is non-linear.</a:t>
            </a:r>
          </a:p>
          <a:p>
            <a:r>
              <a:rPr lang="en-US" dirty="0"/>
              <a:t>A Multilayer Perceptron has input and output layers, and </a:t>
            </a:r>
            <a:r>
              <a:rPr lang="en-US" b="1" dirty="0"/>
              <a:t>one or more hidden layers</a:t>
            </a:r>
            <a:r>
              <a:rPr lang="en-US" dirty="0"/>
              <a:t> with many neurons stacked together. </a:t>
            </a:r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98A14F3-ADE1-138A-2BC9-4C6E14D78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029" y="3260663"/>
            <a:ext cx="12270782" cy="8035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59801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41CB-CF21-81D9-4977-ACBECE2B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Multilayer perceptron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A3C56-17D7-0BE7-49E5-FE7FE4C26E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1AFBD-7219-2034-5035-F677105542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Multilayer Perceptron is classified as a </a:t>
            </a:r>
            <a:r>
              <a:rPr lang="en-US" b="1" dirty="0"/>
              <a:t>feedforward algorithm </a:t>
            </a:r>
            <a:r>
              <a:rPr lang="en-US" dirty="0"/>
              <a:t>due to its characteristic of combining inputs with initial </a:t>
            </a:r>
            <a:r>
              <a:rPr lang="en-US" b="1" dirty="0"/>
              <a:t>weights</a:t>
            </a:r>
            <a:r>
              <a:rPr lang="en-US" dirty="0"/>
              <a:t> in a weighted sum and subsequently applying an activation function, similar to the Perceptron.</a:t>
            </a:r>
          </a:p>
          <a:p>
            <a:r>
              <a:rPr lang="en-US" dirty="0"/>
              <a:t>Nevertheless, if the algorithm solely performed calculations of weighted sums within each neuron, transmitted the outcomes to the output layer, and terminated the process, it would be unable of acquiring </a:t>
            </a:r>
            <a:r>
              <a:rPr lang="en-US" b="1" dirty="0"/>
              <a:t>the weights that effectively minimize </a:t>
            </a:r>
            <a:r>
              <a:rPr lang="en-US" dirty="0"/>
              <a:t>the cost function.</a:t>
            </a:r>
          </a:p>
          <a:p>
            <a:r>
              <a:rPr lang="en-US" dirty="0"/>
              <a:t>The above problem could be solved by </a:t>
            </a:r>
            <a:r>
              <a:rPr lang="en-US" b="1" dirty="0">
                <a:solidFill>
                  <a:srgbClr val="0070C0"/>
                </a:solidFill>
              </a:rPr>
              <a:t>backpropagation algorithm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which updates the weights to minimize a cost function/error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87006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41CB-CF21-81D9-4977-ACBECE2B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A3C56-17D7-0BE7-49E5-FE7FE4C26E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1AFBD-7219-2034-5035-F6771055428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8047611" cy="9689341"/>
          </a:xfrm>
        </p:spPr>
        <p:txBody>
          <a:bodyPr>
            <a:normAutofit/>
          </a:bodyPr>
          <a:lstStyle/>
          <a:p>
            <a:r>
              <a:rPr lang="en-US" dirty="0"/>
              <a:t>Backpropagation is the learning mechanism that allows the Multilayer Perceptron to iteratively adjust the weights in the network, with the </a:t>
            </a:r>
            <a:r>
              <a:rPr lang="en-US" b="1" dirty="0">
                <a:solidFill>
                  <a:srgbClr val="0070C0"/>
                </a:solidFill>
              </a:rPr>
              <a:t>goal of minimizing the cost function</a:t>
            </a:r>
            <a:r>
              <a:rPr lang="en-US" dirty="0"/>
              <a:t>.</a:t>
            </a:r>
          </a:p>
          <a:p>
            <a:r>
              <a:rPr lang="en-US" dirty="0"/>
              <a:t>It is done in 2 steps: </a:t>
            </a:r>
            <a:r>
              <a:rPr lang="en-US" b="1" dirty="0">
                <a:solidFill>
                  <a:srgbClr val="0070C0"/>
                </a:solidFill>
              </a:rPr>
              <a:t>Forward Propagation</a:t>
            </a:r>
            <a:r>
              <a:rPr lang="en-US" b="1" dirty="0"/>
              <a:t> </a:t>
            </a:r>
            <a:r>
              <a:rPr lang="en-US" dirty="0"/>
              <a:t>(Feed Forward) &amp; </a:t>
            </a:r>
            <a:r>
              <a:rPr lang="en-US" b="1" dirty="0">
                <a:solidFill>
                  <a:srgbClr val="0070C0"/>
                </a:solidFill>
              </a:rPr>
              <a:t>Backpropagation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BE19F9C-92F2-B8FF-B1C7-8FD184223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3417" y="3260663"/>
            <a:ext cx="10897394" cy="9689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09938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127F-7BAE-8D6D-6ABF-3135A7DA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65031-EAC4-6675-E6A2-C94D6BA8E4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26D289-A799-708D-FE1D-9CDE92A03CC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</p:spPr>
            <p:txBody>
              <a:bodyPr>
                <a:normAutofit lnSpcReduction="10000"/>
              </a:bodyPr>
              <a:lstStyle/>
              <a:p>
                <a:pPr marL="739775" indent="-739775" algn="just">
                  <a:spcBef>
                    <a:spcPts val="600"/>
                  </a:spcBef>
                </a:pPr>
                <a:endParaRPr lang="en-US" sz="4400" dirty="0">
                  <a:latin typeface="+mj-lt"/>
                </a:endParaRPr>
              </a:p>
              <a:p>
                <a:pPr marL="739775" indent="-739775" algn="just">
                  <a:spcBef>
                    <a:spcPts val="600"/>
                  </a:spcBef>
                </a:pPr>
                <a:endParaRPr lang="en-US" dirty="0">
                  <a:latin typeface="+mj-lt"/>
                </a:endParaRPr>
              </a:p>
              <a:p>
                <a:pPr marL="739775" indent="-739775" algn="just">
                  <a:spcBef>
                    <a:spcPts val="600"/>
                  </a:spcBef>
                </a:pPr>
                <a:endParaRPr lang="en-US" dirty="0">
                  <a:latin typeface="+mj-lt"/>
                </a:endParaRPr>
              </a:p>
              <a:p>
                <a:pPr marL="739775" indent="-739775" algn="just">
                  <a:spcBef>
                    <a:spcPts val="600"/>
                  </a:spcBef>
                </a:pPr>
                <a:endParaRPr lang="en-US" dirty="0">
                  <a:latin typeface="+mj-lt"/>
                </a:endParaRPr>
              </a:p>
              <a:p>
                <a:pPr marL="739775" indent="-739775" algn="just">
                  <a:spcBef>
                    <a:spcPts val="600"/>
                  </a:spcBef>
                </a:pPr>
                <a:endParaRPr lang="en-US" dirty="0">
                  <a:latin typeface="+mj-lt"/>
                </a:endParaRPr>
              </a:p>
              <a:p>
                <a:pPr marL="739775" indent="-739775" algn="just">
                  <a:spcBef>
                    <a:spcPts val="600"/>
                  </a:spcBef>
                </a:pPr>
                <a:r>
                  <a:rPr lang="en-US" sz="4400" dirty="0">
                    <a:latin typeface="+mj-lt"/>
                  </a:rPr>
                  <a:t>Receive a new observation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400" dirty="0">
                    <a:latin typeface="+mj-lt"/>
                  </a:rPr>
                  <a:t> and target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4400" dirty="0">
                  <a:latin typeface="+mj-lt"/>
                </a:endParaRPr>
              </a:p>
              <a:p>
                <a:pPr marL="739775" indent="-739775" algn="just">
                  <a:spcBef>
                    <a:spcPts val="600"/>
                  </a:spcBef>
                </a:pPr>
                <a:r>
                  <a:rPr lang="en-US" sz="4400" b="1" dirty="0">
                    <a:latin typeface="+mj-lt"/>
                  </a:rPr>
                  <a:t>Feed Forward</a:t>
                </a:r>
                <a:r>
                  <a:rPr lang="en-US" sz="4400" dirty="0">
                    <a:latin typeface="+mj-lt"/>
                  </a:rPr>
                  <a:t>: for each unit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4400" dirty="0">
                    <a:latin typeface="+mj-lt"/>
                  </a:rPr>
                  <a:t> in each layer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1…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4400" dirty="0">
                    <a:latin typeface="+mj-lt"/>
                  </a:rPr>
                  <a:t> </a:t>
                </a:r>
                <a:br>
                  <a:rPr lang="en-US" sz="4400" dirty="0">
                    <a:latin typeface="+mj-lt"/>
                  </a:rPr>
                </a:br>
                <a:r>
                  <a:rPr lang="en-US" sz="4400" dirty="0">
                    <a:latin typeface="+mj-lt"/>
                  </a:rPr>
                  <a:t>Compute </a:t>
                </a: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4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400" dirty="0">
                    <a:latin typeface="+mj-lt"/>
                  </a:rPr>
                  <a:t> based on units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4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4400" dirty="0">
                    <a:latin typeface="+mj-lt"/>
                  </a:rPr>
                  <a:t> from previous 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400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44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sz="4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sz="4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4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4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4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4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4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4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US" sz="4400" dirty="0">
                    <a:latin typeface="+mj-lt"/>
                  </a:rPr>
                  <a:t> </a:t>
                </a:r>
              </a:p>
              <a:p>
                <a:pPr marL="739775" indent="-739775" algn="just">
                  <a:spcBef>
                    <a:spcPts val="600"/>
                  </a:spcBef>
                </a:pPr>
                <a:r>
                  <a:rPr lang="en-US" sz="4400" dirty="0">
                    <a:latin typeface="+mj-lt"/>
                  </a:rPr>
                  <a:t>Get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4400" dirty="0">
                    <a:latin typeface="+mj-lt"/>
                  </a:rPr>
                  <a:t> and error (y-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4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400" dirty="0">
                  <a:latin typeface="+mj-lt"/>
                </a:endParaRPr>
              </a:p>
              <a:p>
                <a:pPr marL="739775" indent="-739775" algn="just">
                  <a:spcBef>
                    <a:spcPts val="600"/>
                  </a:spcBef>
                </a:pPr>
                <a:r>
                  <a:rPr lang="en-US" sz="4400" b="1" dirty="0">
                    <a:latin typeface="+mj-lt"/>
                  </a:rPr>
                  <a:t>Back-propagate</a:t>
                </a:r>
                <a:r>
                  <a:rPr lang="en-US" sz="4400" dirty="0">
                    <a:latin typeface="+mj-lt"/>
                  </a:rPr>
                  <a:t> error: for each unit in each layer L … 1</a:t>
                </a:r>
              </a:p>
              <a:p>
                <a:pPr marL="739775" lvl="1" indent="-739775" algn="just">
                  <a:spcBef>
                    <a:spcPts val="600"/>
                  </a:spcBef>
                </a:pPr>
                <a:r>
                  <a:rPr lang="en-US" sz="4400" dirty="0">
                    <a:latin typeface="+mj-lt"/>
                  </a:rPr>
                  <a:t>Calculate Error (</a:t>
                </a:r>
                <a:r>
                  <a:rPr lang="en-US" sz="4400" b="1" dirty="0">
                    <a:solidFill>
                      <a:srgbClr val="0070C0"/>
                    </a:solidFill>
                    <a:latin typeface="+mj-lt"/>
                  </a:rPr>
                  <a:t>for regression</a:t>
                </a:r>
                <a:r>
                  <a:rPr lang="en-US" sz="4400" dirty="0">
                    <a:latin typeface="+mj-lt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𝑂𝑢𝑡𝑝𝑢𝑡</m:t>
                            </m:r>
                          </m:e>
                        </m:d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4400" dirty="0">
                  <a:latin typeface="+mj-lt"/>
                </a:endParaRPr>
              </a:p>
              <a:p>
                <a:pPr marL="1495775" lvl="2" indent="-739775" algn="just">
                  <a:spcBef>
                    <a:spcPts val="600"/>
                  </a:spcBef>
                </a:pPr>
                <a:r>
                  <a:rPr lang="en-US" b="1" dirty="0">
                    <a:latin typeface="+mj-lt"/>
                  </a:rPr>
                  <a:t>Update Weight</a:t>
                </a:r>
                <a:r>
                  <a:rPr lang="en-US" dirty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+mj-lt"/>
                </a:endParaRPr>
              </a:p>
              <a:p>
                <a:pPr marL="1495775" lvl="2" indent="-739775" algn="just">
                  <a:spcBef>
                    <a:spcPts val="600"/>
                  </a:spcBef>
                </a:pPr>
                <a:r>
                  <a:rPr lang="en-US" b="1" dirty="0">
                    <a:latin typeface="+mj-lt"/>
                  </a:rPr>
                  <a:t>Update bias</a:t>
                </a:r>
                <a:r>
                  <a:rPr lang="en-US" dirty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26D289-A799-708D-FE1D-9CDE92A03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  <a:blipFill>
                <a:blip r:embed="rId2"/>
                <a:stretch>
                  <a:fillRect l="-1329" r="-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complex function&#10;&#10;Description automatically generated with medium confidence">
            <a:extLst>
              <a:ext uri="{FF2B5EF4-FFF2-40B4-BE49-F238E27FC236}">
                <a16:creationId xmlns:a16="http://schemas.microsoft.com/office/drawing/2014/main" id="{14DB55BF-708E-53A0-2577-7D0ED8C6D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136" y="2821501"/>
            <a:ext cx="11632232" cy="361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5875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A3E9-7AD7-5577-9C90-E35EE462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B08CC-B588-D8A4-13B1-D6DB502047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1700"/>
                  </a:spcBef>
                </a:pPr>
                <a:r>
                  <a:rPr lang="en-US" dirty="0"/>
                  <a:t>We’ll try to simulate ANN algorithm in a </a:t>
                </a:r>
                <a:r>
                  <a:rPr lang="en-US" b="1" dirty="0"/>
                  <a:t>regression</a:t>
                </a:r>
                <a:r>
                  <a:rPr lang="en-US" dirty="0"/>
                  <a:t> task.</a:t>
                </a:r>
              </a:p>
              <a:p>
                <a:pPr>
                  <a:spcBef>
                    <a:spcPts val="1700"/>
                  </a:spcBef>
                </a:pPr>
                <a:r>
                  <a:rPr lang="en-US" dirty="0"/>
                  <a:t>A multilayer perceptron network has the following configuration:</a:t>
                </a:r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= 0.5 (Learning rate)</a:t>
                </a:r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Ø"/>
                </a:pPr>
                <a:r>
                  <a:rPr lang="en-US" dirty="0"/>
                  <a:t>Activation function:</a:t>
                </a:r>
              </a:p>
              <a:p>
                <a:pPr lvl="2">
                  <a:spcBef>
                    <a:spcPts val="1700"/>
                  </a:spcBef>
                  <a:buFont typeface="Wingdings" pitchFamily="2" charset="2"/>
                  <a:buChar char="v"/>
                </a:pPr>
                <a:r>
                  <a:rPr lang="en-US" dirty="0"/>
                  <a:t>Hidden Layer: </a:t>
                </a:r>
                <a:r>
                  <a:rPr lang="en-US" b="1" dirty="0"/>
                  <a:t>Sigmoid</a:t>
                </a:r>
              </a:p>
              <a:p>
                <a:pPr lvl="2">
                  <a:spcBef>
                    <a:spcPts val="1700"/>
                  </a:spcBef>
                  <a:buFont typeface="Wingdings" pitchFamily="2" charset="2"/>
                  <a:buChar char="v"/>
                </a:pPr>
                <a:r>
                  <a:rPr lang="en-US" dirty="0"/>
                  <a:t>Output Layer:</a:t>
                </a:r>
                <a:r>
                  <a:rPr lang="en-US" b="1" dirty="0"/>
                  <a:t> Linear</a:t>
                </a:r>
              </a:p>
              <a:p>
                <a:pPr>
                  <a:spcBef>
                    <a:spcPts val="1700"/>
                  </a:spcBef>
                </a:pPr>
                <a:r>
                  <a:rPr lang="en-US" dirty="0"/>
                  <a:t>We have data:</a:t>
                </a:r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Ø"/>
                </a:pPr>
                <a:r>
                  <a:rPr lang="en-US" dirty="0">
                    <a:latin typeface="+mj-lt"/>
                  </a:rPr>
                  <a:t>Input: x1 = 0.5, x2 = 0.6</a:t>
                </a:r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Ø"/>
                </a:pPr>
                <a:r>
                  <a:rPr lang="en-US" dirty="0">
                    <a:latin typeface="+mj-lt"/>
                  </a:rPr>
                  <a:t>Expected Output: y = 0.5</a:t>
                </a:r>
              </a:p>
              <a:p>
                <a:pPr>
                  <a:spcBef>
                    <a:spcPts val="1700"/>
                  </a:spcBef>
                </a:pPr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CAD7E99-02BA-B525-E4E4-682D2DEE6772}"/>
              </a:ext>
            </a:extLst>
          </p:cNvPr>
          <p:cNvGrpSpPr/>
          <p:nvPr/>
        </p:nvGrpSpPr>
        <p:grpSpPr>
          <a:xfrm>
            <a:off x="11991910" y="5855962"/>
            <a:ext cx="9782072" cy="6855956"/>
            <a:chOff x="7226777" y="4958666"/>
            <a:chExt cx="9782072" cy="685595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6794C81-E839-0048-BEB1-902FA9E6D655}"/>
                </a:ext>
              </a:extLst>
            </p:cNvPr>
            <p:cNvSpPr/>
            <p:nvPr/>
          </p:nvSpPr>
          <p:spPr>
            <a:xfrm>
              <a:off x="7226777" y="7478235"/>
              <a:ext cx="1333500" cy="1312803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ED4BB19-BD66-17EE-970F-3B12663B5DD9}"/>
                </a:ext>
              </a:extLst>
            </p:cNvPr>
            <p:cNvSpPr/>
            <p:nvPr/>
          </p:nvSpPr>
          <p:spPr>
            <a:xfrm>
              <a:off x="7375147" y="10501819"/>
              <a:ext cx="1333500" cy="1312803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295B02-FA11-3112-C634-4FF057D720B3}"/>
                </a:ext>
              </a:extLst>
            </p:cNvPr>
            <p:cNvSpPr txBox="1"/>
            <p:nvPr/>
          </p:nvSpPr>
          <p:spPr>
            <a:xfrm>
              <a:off x="7607779" y="7806342"/>
              <a:ext cx="633187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X</a:t>
              </a:r>
              <a:r>
                <a: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"/>
                </a:rPr>
                <a:t>1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6A664B-E865-7A3A-D4B7-B6D8B53BAD88}"/>
                </a:ext>
              </a:extLst>
            </p:cNvPr>
            <p:cNvSpPr txBox="1"/>
            <p:nvPr/>
          </p:nvSpPr>
          <p:spPr>
            <a:xfrm>
              <a:off x="7725304" y="10866577"/>
              <a:ext cx="633187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"/>
                </a:rPr>
                <a:t>X2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C111368-E4B5-9C04-DCDF-EBB5C1DBC33A}"/>
                </a:ext>
              </a:extLst>
            </p:cNvPr>
            <p:cNvSpPr/>
            <p:nvPr/>
          </p:nvSpPr>
          <p:spPr>
            <a:xfrm>
              <a:off x="11699497" y="7187119"/>
              <a:ext cx="1333500" cy="1312803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3E47F1-F451-E1F4-6046-D9D06AF55DB9}"/>
                </a:ext>
              </a:extLst>
            </p:cNvPr>
            <p:cNvSpPr/>
            <p:nvPr/>
          </p:nvSpPr>
          <p:spPr>
            <a:xfrm>
              <a:off x="11699497" y="9015919"/>
              <a:ext cx="1333500" cy="1312803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2A0A7A7-290E-7A81-6DDD-286EDBBCE2C0}"/>
                </a:ext>
              </a:extLst>
            </p:cNvPr>
            <p:cNvSpPr txBox="1"/>
            <p:nvPr/>
          </p:nvSpPr>
          <p:spPr>
            <a:xfrm>
              <a:off x="12043628" y="7515226"/>
              <a:ext cx="706924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H1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BB53BC-F2AD-DFA0-EC46-EBFE9CDB57CA}"/>
                </a:ext>
              </a:extLst>
            </p:cNvPr>
            <p:cNvSpPr txBox="1"/>
            <p:nvPr/>
          </p:nvSpPr>
          <p:spPr>
            <a:xfrm>
              <a:off x="12012784" y="9371422"/>
              <a:ext cx="706924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"/>
                </a:rPr>
                <a:t>H2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0DDD5E4-D427-298F-351F-68DE4551E6FA}"/>
                </a:ext>
              </a:extLst>
            </p:cNvPr>
            <p:cNvSpPr/>
            <p:nvPr/>
          </p:nvSpPr>
          <p:spPr>
            <a:xfrm>
              <a:off x="15675349" y="8006269"/>
              <a:ext cx="1333500" cy="1312803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0C1DDE-2FA2-72A7-F540-6296E82F5ADB}"/>
                </a:ext>
              </a:extLst>
            </p:cNvPr>
            <p:cNvSpPr txBox="1"/>
            <p:nvPr/>
          </p:nvSpPr>
          <p:spPr>
            <a:xfrm>
              <a:off x="16111267" y="8324216"/>
              <a:ext cx="461665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FEC92E8-15F2-4383-6FD3-20BF9ABACD4C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 flipV="1">
              <a:off x="8560277" y="7843521"/>
              <a:ext cx="3139220" cy="291116"/>
            </a:xfrm>
            <a:prstGeom prst="straightConnector1">
              <a:avLst/>
            </a:prstGeom>
            <a:noFill/>
            <a:ln w="57150" cap="flat">
              <a:solidFill>
                <a:srgbClr val="00B05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813D178-656D-EE4B-328A-12FEF8DEF7E0}"/>
                </a:ext>
              </a:extLst>
            </p:cNvPr>
            <p:cNvCxnSpPr>
              <a:cxnSpLocks/>
              <a:stCxn id="7" idx="6"/>
              <a:endCxn id="11" idx="2"/>
            </p:cNvCxnSpPr>
            <p:nvPr/>
          </p:nvCxnSpPr>
          <p:spPr>
            <a:xfrm flipV="1">
              <a:off x="8708647" y="9672321"/>
              <a:ext cx="2990850" cy="1485900"/>
            </a:xfrm>
            <a:prstGeom prst="straightConnector1">
              <a:avLst/>
            </a:prstGeom>
            <a:noFill/>
            <a:ln w="57150" cap="flat">
              <a:solidFill>
                <a:srgbClr val="0070C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B1E6B42-765F-CE30-1716-91E89D03EAD2}"/>
                </a:ext>
              </a:extLst>
            </p:cNvPr>
            <p:cNvCxnSpPr>
              <a:cxnSpLocks/>
              <a:stCxn id="7" idx="6"/>
              <a:endCxn id="10" idx="3"/>
            </p:cNvCxnSpPr>
            <p:nvPr/>
          </p:nvCxnSpPr>
          <p:spPr>
            <a:xfrm flipV="1">
              <a:off x="8708647" y="8307666"/>
              <a:ext cx="3186137" cy="2850555"/>
            </a:xfrm>
            <a:prstGeom prst="straightConnector1">
              <a:avLst/>
            </a:prstGeom>
            <a:noFill/>
            <a:ln w="57150" cap="flat">
              <a:solidFill>
                <a:srgbClr val="0070C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A9413BA-A412-9792-D635-E501B43A9F4A}"/>
                </a:ext>
              </a:extLst>
            </p:cNvPr>
            <p:cNvCxnSpPr>
              <a:cxnSpLocks/>
              <a:stCxn id="6" idx="6"/>
              <a:endCxn id="11" idx="1"/>
            </p:cNvCxnSpPr>
            <p:nvPr/>
          </p:nvCxnSpPr>
          <p:spPr>
            <a:xfrm>
              <a:off x="8560277" y="8134637"/>
              <a:ext cx="3334507" cy="1073538"/>
            </a:xfrm>
            <a:prstGeom prst="straightConnector1">
              <a:avLst/>
            </a:prstGeom>
            <a:noFill/>
            <a:ln w="57150" cap="flat">
              <a:solidFill>
                <a:srgbClr val="00B05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D016556-5131-2A55-68EC-2614A88971E0}"/>
                </a:ext>
              </a:extLst>
            </p:cNvPr>
            <p:cNvCxnSpPr>
              <a:cxnSpLocks/>
            </p:cNvCxnSpPr>
            <p:nvPr/>
          </p:nvCxnSpPr>
          <p:spPr>
            <a:xfrm>
              <a:off x="13032997" y="7790815"/>
              <a:ext cx="2642352" cy="81915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8129958-1EB8-B126-C2C9-053730FDDF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2997" y="8776970"/>
              <a:ext cx="2642351" cy="842645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ADFE01A-4703-51DB-57A7-45CC5E4D63C0}"/>
                    </a:ext>
                  </a:extLst>
                </p:cNvPr>
                <p:cNvSpPr txBox="1"/>
                <p:nvPr/>
              </p:nvSpPr>
              <p:spPr>
                <a:xfrm>
                  <a:off x="9332378" y="7371962"/>
                  <a:ext cx="2004780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=0.5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ADFE01A-4703-51DB-57A7-45CC5E4D6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2378" y="7371962"/>
                  <a:ext cx="2004780" cy="564450"/>
                </a:xfrm>
                <a:prstGeom prst="rect">
                  <a:avLst/>
                </a:prstGeom>
                <a:blipFill>
                  <a:blip r:embed="rId3"/>
                  <a:stretch>
                    <a:fillRect l="-379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F043248-2C4F-D5E6-7FA9-9B68027A964F}"/>
                    </a:ext>
                  </a:extLst>
                </p:cNvPr>
                <p:cNvSpPr txBox="1"/>
                <p:nvPr/>
              </p:nvSpPr>
              <p:spPr>
                <a:xfrm>
                  <a:off x="9198527" y="10927793"/>
                  <a:ext cx="2272481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2,2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=−0.6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F043248-2C4F-D5E6-7FA9-9B68027A9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8527" y="10927793"/>
                  <a:ext cx="2272481" cy="564450"/>
                </a:xfrm>
                <a:prstGeom prst="rect">
                  <a:avLst/>
                </a:prstGeom>
                <a:blipFill>
                  <a:blip r:embed="rId4"/>
                  <a:stretch>
                    <a:fillRect l="-277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B96DFC-89D6-8881-987F-86CAE56DAE74}"/>
                    </a:ext>
                  </a:extLst>
                </p:cNvPr>
                <p:cNvSpPr txBox="1"/>
                <p:nvPr/>
              </p:nvSpPr>
              <p:spPr>
                <a:xfrm>
                  <a:off x="8532343" y="8658998"/>
                  <a:ext cx="1918217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2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dPr>
                            <m:e>
                              <m:r>
                                <a:rPr kumimoji="0" lang="en-US" sz="2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1,2</m:t>
                              </m:r>
                            </m:e>
                          </m:d>
                        </m:sub>
                      </m:sSub>
                      <m:r>
                        <a:rPr kumimoji="0" lang="en-US" sz="2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=0.</m:t>
                      </m:r>
                    </m:oMath>
                  </a14:m>
                  <a:r>
                    <a:rPr kumimoji="0" lang="en-ID" sz="2800" b="0" i="0" u="none" strike="noStrike" cap="none" spc="0" normalizeH="0" baseline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FillTx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  <a:sym typeface="Helvetica Neue"/>
                    </a:rPr>
                    <a:t>4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B96DFC-89D6-8881-987F-86CAE56DAE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2343" y="8658998"/>
                  <a:ext cx="1918217" cy="564450"/>
                </a:xfrm>
                <a:prstGeom prst="rect">
                  <a:avLst/>
                </a:prstGeom>
                <a:blipFill>
                  <a:blip r:embed="rId5"/>
                  <a:stretch>
                    <a:fillRect l="-2614" t="-8889" r="-7843" b="-2444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43C8F4E-4DB9-7D88-8858-3053CB82E877}"/>
                    </a:ext>
                  </a:extLst>
                </p:cNvPr>
                <p:cNvSpPr txBox="1"/>
                <p:nvPr/>
              </p:nvSpPr>
              <p:spPr>
                <a:xfrm>
                  <a:off x="7607778" y="9864590"/>
                  <a:ext cx="2004780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2,1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</m:t>
                        </m:r>
                        <m:r>
                          <a:rPr kumimoji="0" lang="en-US" sz="2800" b="0" i="0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43C8F4E-4DB9-7D88-8858-3053CB82E8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7778" y="9864590"/>
                  <a:ext cx="2004780" cy="564450"/>
                </a:xfrm>
                <a:prstGeom prst="rect">
                  <a:avLst/>
                </a:prstGeom>
                <a:blipFill>
                  <a:blip r:embed="rId6"/>
                  <a:stretch>
                    <a:fillRect l="-314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FBAEE0F-B996-0798-E8E7-1F189EE3664F}"/>
                    </a:ext>
                  </a:extLst>
                </p:cNvPr>
                <p:cNvSpPr txBox="1"/>
                <p:nvPr/>
              </p:nvSpPr>
              <p:spPr>
                <a:xfrm>
                  <a:off x="13559045" y="7434737"/>
                  <a:ext cx="2041648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F5AF3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F5AF3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5AF36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5AF36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1,</m:t>
                                </m:r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5AF36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F5AF3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=0.3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F5AF36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FBAEE0F-B996-0798-E8E7-1F189EE36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9045" y="7434737"/>
                  <a:ext cx="2041648" cy="564450"/>
                </a:xfrm>
                <a:prstGeom prst="rect">
                  <a:avLst/>
                </a:prstGeom>
                <a:blipFill>
                  <a:blip r:embed="rId7"/>
                  <a:stretch>
                    <a:fillRect l="-2469" b="-222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857247E-CAAC-2D47-AB12-C3CEB5F975D6}"/>
                    </a:ext>
                  </a:extLst>
                </p:cNvPr>
                <p:cNvSpPr txBox="1"/>
                <p:nvPr/>
              </p:nvSpPr>
              <p:spPr>
                <a:xfrm>
                  <a:off x="13535673" y="9463562"/>
                  <a:ext cx="2309350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2,</m:t>
                                </m:r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=−0.5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857247E-CAAC-2D47-AB12-C3CEB5F975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35673" y="9463562"/>
                  <a:ext cx="2309350" cy="564450"/>
                </a:xfrm>
                <a:prstGeom prst="rect">
                  <a:avLst/>
                </a:prstGeom>
                <a:blipFill>
                  <a:blip r:embed="rId8"/>
                  <a:stretch>
                    <a:fillRect l="-2186" b="-222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7B1A651-6483-1AEF-133F-C3CF2D8FAD65}"/>
                </a:ext>
              </a:extLst>
            </p:cNvPr>
            <p:cNvSpPr/>
            <p:nvPr/>
          </p:nvSpPr>
          <p:spPr>
            <a:xfrm>
              <a:off x="7317216" y="4958666"/>
              <a:ext cx="1333500" cy="1312803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00F2FCF-8008-3D2C-C67E-8C348AE52A3D}"/>
                </a:ext>
              </a:extLst>
            </p:cNvPr>
            <p:cNvSpPr txBox="1"/>
            <p:nvPr/>
          </p:nvSpPr>
          <p:spPr>
            <a:xfrm>
              <a:off x="7822448" y="5286773"/>
              <a:ext cx="384721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8C326F9-53B9-48D1-D3C9-925E2B9C23E9}"/>
                </a:ext>
              </a:extLst>
            </p:cNvPr>
            <p:cNvSpPr/>
            <p:nvPr/>
          </p:nvSpPr>
          <p:spPr>
            <a:xfrm>
              <a:off x="11699497" y="5182186"/>
              <a:ext cx="1333500" cy="1312803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725AB4C-5EBC-EE3A-739B-A376C51E26A8}"/>
                </a:ext>
              </a:extLst>
            </p:cNvPr>
            <p:cNvCxnSpPr>
              <a:stCxn id="28" idx="6"/>
              <a:endCxn id="10" idx="2"/>
            </p:cNvCxnSpPr>
            <p:nvPr/>
          </p:nvCxnSpPr>
          <p:spPr>
            <a:xfrm>
              <a:off x="8650716" y="5615068"/>
              <a:ext cx="3048781" cy="2228453"/>
            </a:xfrm>
            <a:prstGeom prst="straightConnector1">
              <a:avLst/>
            </a:prstGeom>
            <a:noFill/>
            <a:ln w="57150" cap="flat">
              <a:solidFill>
                <a:schemeClr val="accent6">
                  <a:lumMod val="75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E2C0D10-834A-3DA4-4D4F-06CF812EDEE7}"/>
                </a:ext>
              </a:extLst>
            </p:cNvPr>
            <p:cNvSpPr txBox="1"/>
            <p:nvPr/>
          </p:nvSpPr>
          <p:spPr>
            <a:xfrm>
              <a:off x="12200998" y="5524486"/>
              <a:ext cx="384721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"/>
                </a:rPr>
                <a:t>b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C844335-E790-95CA-EB3E-F1E1DCAB2D61}"/>
                </a:ext>
              </a:extLst>
            </p:cNvPr>
            <p:cNvCxnSpPr>
              <a:cxnSpLocks/>
              <a:stCxn id="28" idx="6"/>
              <a:endCxn id="11" idx="1"/>
            </p:cNvCxnSpPr>
            <p:nvPr/>
          </p:nvCxnSpPr>
          <p:spPr>
            <a:xfrm>
              <a:off x="8650716" y="5615068"/>
              <a:ext cx="3244068" cy="3593107"/>
            </a:xfrm>
            <a:prstGeom prst="straightConnector1">
              <a:avLst/>
            </a:prstGeom>
            <a:noFill/>
            <a:ln w="57150" cap="flat">
              <a:solidFill>
                <a:schemeClr val="accent6">
                  <a:lumMod val="75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C2E668D-3C57-CB59-09A9-ABBD878F338B}"/>
                    </a:ext>
                  </a:extLst>
                </p:cNvPr>
                <p:cNvSpPr txBox="1"/>
                <p:nvPr/>
              </p:nvSpPr>
              <p:spPr>
                <a:xfrm>
                  <a:off x="10036034" y="5960170"/>
                  <a:ext cx="1698221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𝑏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=0.1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C2E668D-3C57-CB59-09A9-ABBD878F3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6034" y="5960170"/>
                  <a:ext cx="1698221" cy="564450"/>
                </a:xfrm>
                <a:prstGeom prst="rect">
                  <a:avLst/>
                </a:prstGeom>
                <a:blipFill>
                  <a:blip r:embed="rId9"/>
                  <a:stretch>
                    <a:fillRect l="-444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5951FE0-895E-F82C-C517-74A6DDF8E8DD}"/>
                    </a:ext>
                  </a:extLst>
                </p:cNvPr>
                <p:cNvSpPr txBox="1"/>
                <p:nvPr/>
              </p:nvSpPr>
              <p:spPr>
                <a:xfrm>
                  <a:off x="7983967" y="6549387"/>
                  <a:ext cx="1698221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𝑏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=0.2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5951FE0-895E-F82C-C517-74A6DDF8E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3967" y="6549387"/>
                  <a:ext cx="1698221" cy="564450"/>
                </a:xfrm>
                <a:prstGeom prst="rect">
                  <a:avLst/>
                </a:prstGeom>
                <a:blipFill>
                  <a:blip r:embed="rId10"/>
                  <a:stretch>
                    <a:fillRect l="-370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C3F8375-F375-12E0-7D40-81D1DE9A0FCD}"/>
                </a:ext>
              </a:extLst>
            </p:cNvPr>
            <p:cNvCxnSpPr>
              <a:endCxn id="14" idx="0"/>
            </p:cNvCxnSpPr>
            <p:nvPr/>
          </p:nvCxnSpPr>
          <p:spPr>
            <a:xfrm>
              <a:off x="13032997" y="5838587"/>
              <a:ext cx="3309102" cy="2167682"/>
            </a:xfrm>
            <a:prstGeom prst="straightConnector1">
              <a:avLst/>
            </a:prstGeom>
            <a:noFill/>
            <a:ln w="57150" cap="flat">
              <a:solidFill>
                <a:srgbClr val="00B0F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469E9E0-601D-97B7-33EF-B31E81CA8E23}"/>
                    </a:ext>
                  </a:extLst>
                </p:cNvPr>
                <p:cNvSpPr txBox="1"/>
                <p:nvPr/>
              </p:nvSpPr>
              <p:spPr>
                <a:xfrm>
                  <a:off x="14469363" y="6323175"/>
                  <a:ext cx="1896994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𝑏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F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F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3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=0.05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469E9E0-601D-97B7-33EF-B31E81CA8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9363" y="6323175"/>
                  <a:ext cx="1896994" cy="564450"/>
                </a:xfrm>
                <a:prstGeom prst="rect">
                  <a:avLst/>
                </a:prstGeom>
                <a:blipFill>
                  <a:blip r:embed="rId11"/>
                  <a:stretch>
                    <a:fillRect l="-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1914517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A3E9-7AD7-5577-9C90-E35EE462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B08CC-B588-D8A4-13B1-D6DB502047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1700"/>
                  </a:spcBef>
                </a:pPr>
                <a:r>
                  <a:rPr lang="en-US" b="1" dirty="0"/>
                  <a:t>Forward pass: Input to Hidden layer: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=0.5∙0.5+0.1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0.6+0.1</m:t>
                    </m:r>
                  </m:oMath>
                </a14:m>
                <a:endParaRPr lang="en-US" b="0" i="0" dirty="0">
                  <a:ea typeface="Cambria Math" panose="02040503050406030204" pitchFamily="18" charset="0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=0.25+0.06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+0.1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=0.41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  <m:sSub>
                      <m:sSub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e>
                      <m:sub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𝑜𝑢𝑡</m:t>
                        </m:r>
                      </m:sub>
                    </m:sSub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0.41</m:t>
                        </m:r>
                      </m:e>
                    </m:d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  <m:sSub>
                      <m:sSub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e>
                      <m:sub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𝑜𝑢𝑡</m:t>
                        </m:r>
                      </m:sub>
                    </m:sSub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1+</m:t>
                        </m:r>
                        <m:sSup>
                          <m:sSupPr>
                            <m:ctrlP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0.41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=0.6011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>
                  <a:spcBef>
                    <a:spcPts val="170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203" t="-1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458156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A3E9-7AD7-5577-9C90-E35EE462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B08CC-B588-D8A4-13B1-D6DB502047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1700"/>
                  </a:spcBef>
                </a:pPr>
                <a:r>
                  <a:rPr lang="en-US" b="1" dirty="0"/>
                  <a:t>Forward pass: Input to Hidden layer: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1,2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=0.4∙0.5+(−0.6)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0.6+0.2</m:t>
                    </m:r>
                  </m:oMath>
                </a14:m>
                <a:endParaRPr lang="en-US" b="0" i="0" dirty="0">
                  <a:ea typeface="Cambria Math" panose="02040503050406030204" pitchFamily="18" charset="0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=0.2+(−0.36)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+0.2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=0.04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  <m:sSub>
                      <m:sSub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e>
                      <m:sub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𝑜𝑢𝑡</m:t>
                        </m:r>
                      </m:sub>
                    </m:sSub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0.04</m:t>
                        </m:r>
                      </m:e>
                    </m:d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  <m:sSub>
                      <m:sSub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e>
                      <m:sub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𝑜𝑢𝑡</m:t>
                        </m:r>
                      </m:sub>
                    </m:sSub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1+</m:t>
                        </m:r>
                        <m:sSup>
                          <m:sSupPr>
                            <m:ctrlP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0.04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=0.51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>
                  <a:spcBef>
                    <a:spcPts val="170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203" t="-1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637175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A3E9-7AD7-5577-9C90-E35EE462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B08CC-B588-D8A4-13B1-D6DB502047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1700"/>
                  </a:spcBef>
                </a:pPr>
                <a:r>
                  <a:rPr lang="en-US" b="1" dirty="0"/>
                  <a:t>Forward pass: Hidden to Output layer: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=0.3∙(0.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6011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)+(−0.5)∙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05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907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+(−0.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1360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+0.05</m:t>
                    </m:r>
                  </m:oMath>
                </a14:m>
                <a:endParaRPr lang="en-ID" dirty="0">
                  <a:solidFill>
                    <a:srgbClr val="5E5E5E"/>
                  </a:solidFill>
                </a:endParaRP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−0.0247</m:t>
                    </m:r>
                  </m:oMath>
                </a14:m>
                <a:endParaRPr lang="en-ID" dirty="0">
                  <a:solidFill>
                    <a:srgbClr val="5E5E5E"/>
                  </a:solidFill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𝑂</m:t>
                        </m:r>
                      </m:e>
                      <m:sub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𝑜𝑢𝑡</m:t>
                        </m:r>
                      </m:sub>
                    </m:sSub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−0.0247</m:t>
                        </m:r>
                      </m:e>
                    </m:d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0.0247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>
                  <a:spcBef>
                    <a:spcPts val="170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984021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0923-014A-332A-2A84-5D8B799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E62-A06F-736C-B73C-B892D9A80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b="1" dirty="0"/>
                  <a:t>Calculate Loss/Error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𝐿𝑜𝑠𝑠</m:t>
                    </m:r>
                    <m:r>
                      <a:rPr kumimoji="0" lang="en-US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𝑦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accPr>
                          <m:e>
                            <m: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kumimoji="0" lang="en-US" b="0" i="1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Cambria Math" panose="02040503050406030204" pitchFamily="18" charset="0"/>
                  <a:sym typeface="Helvetica Neue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kumimoji="0" lang="en-US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𝑦</m:t>
                            </m:r>
                            <m: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kumimoji="0" lang="en-US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kumimoji="0" lang="en-US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𝑜𝑢𝑡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b="0" i="1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Cambria Math" panose="02040503050406030204" pitchFamily="18" charset="0"/>
                  <a:sym typeface="Helvetica Neue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0.5−(−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0.0247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b="0" i="1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Cambria Math" panose="02040503050406030204" pitchFamily="18" charset="0"/>
                  <a:sym typeface="Helvetica Neue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kumimoji="0" lang="en-US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=0.1377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00758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0923-014A-332A-2A84-5D8B799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E62-A06F-736C-B73C-B892D9A80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Chain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dirty="0"/>
                  <a:t>To calculate the gradient backward, we use chain rule.</a:t>
                </a:r>
              </a:p>
              <a:p>
                <a:r>
                  <a:rPr lang="en-US" dirty="0"/>
                  <a:t>For example, to update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dirty="0"/>
                  <a:t> we will use:</a:t>
                </a: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D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5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5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𝜕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5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accent5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accent5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To update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dirty="0"/>
                  <a:t> we will use:</a:t>
                </a:r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D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𝜕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accent5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accent5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88787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0923-014A-332A-2A84-5D8B799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E62-A06F-736C-B73C-B892D9A80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Now, we update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dirty="0"/>
                  <a:t> we will use:</a:t>
                </a: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D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𝜕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ID" b="0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sym typeface="Helvetica Neue"/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2 × 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0.0247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−0.5=−0.5247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42146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0923-014A-332A-2A84-5D8B799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E62-A06F-736C-B73C-B892D9A80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Now, we update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dirty="0"/>
                  <a:t> we will use:</a:t>
                </a: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D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𝜕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ID" b="0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sym typeface="Helvetica Neue"/>
                  </a:rPr>
                  <a:t> : 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ID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(We use linear activation function in this layer)</a:t>
                </a:r>
                <a:endParaRPr lang="en-ID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ID" b="0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sym typeface="Helvetica Neue"/>
                  </a:rPr>
                  <a:t> </a:t>
                </a:r>
                <a:endParaRPr lang="en-US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98374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0923-014A-332A-2A84-5D8B799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E62-A06F-736C-B73C-B892D9A80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22673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Now, we update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dirty="0"/>
                  <a:t> we will use:</a:t>
                </a: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D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𝜕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ID" b="0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sym typeface="Helvetica Neue"/>
                  </a:rPr>
                  <a:t>: 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D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=0.6011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r>
                  <a:rPr kumimoji="0" lang="en-ID" b="0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sym typeface="Helvetica Neue"/>
                  </a:rPr>
                  <a:t>We could calculate the gradient for other nodes in this layer:</a:t>
                </a: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=0.51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226737"/>
              </a:xfrm>
              <a:blipFill>
                <a:blip r:embed="rId2"/>
                <a:stretch>
                  <a:fillRect l="-1203" t="-1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19918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0923-014A-332A-2A84-5D8B799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E62-A06F-736C-B73C-B892D9A80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803560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After that, we calculate the gradient loss to the weight and bias in hidden layer:</a:t>
                </a: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D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𝜕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 × 0.6011=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𝟑𝟏𝟓𝟒</m:t>
                    </m:r>
                  </m:oMath>
                </a14:m>
                <a:endParaRPr kumimoji="0" lang="en-ID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D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𝜕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 ×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0.51=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𝟐𝟔𝟕𝟔</m:t>
                    </m:r>
                  </m:oMath>
                </a14:m>
                <a:endParaRPr lang="en-ID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D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𝜕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 ×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1=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𝟓𝟐𝟒𝟕</m:t>
                    </m:r>
                  </m:oMath>
                </a14:m>
                <a:endParaRPr kumimoji="0" lang="en-ID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8035609"/>
              </a:xfrm>
              <a:blipFill>
                <a:blip r:embed="rId2"/>
                <a:stretch>
                  <a:fillRect l="-1329" t="-1420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85103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54E2-8D97-5F84-A054-2A98FB04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AC058-C0B9-50DB-90D6-4B80B650C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SGD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FD2958-2842-5559-4449-29B32329FBF4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dirty="0"/>
                  <a:t>Next, we update the weight using Stochastic Gradient Descent: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sub>
                      <m: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D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</m:d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=0.3−0.5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−0.3154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=0.4577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sub>
                      <m: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D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</m:d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=−0.5−0.5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−0.2676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=−0.3662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D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=0.05−0.5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−0.5247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=0.3124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FD2958-2842-5559-4449-29B32329F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94085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0923-014A-332A-2A84-5D8B799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E62-A06F-736C-B73C-B892D9A80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2775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Now, we update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dirty="0"/>
                  <a:t> we will use:</a:t>
                </a: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accent5">
                            <a:lumMod val="5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We have calculated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and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 before, and we can just 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ID" b="0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sym typeface="Helvetica Neue"/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D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b="0" i="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just"/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We may 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=−0.5</m:t>
                    </m:r>
                  </m:oMath>
                </a14:m>
                <a:endParaRPr lang="en-US" b="0" i="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lvl="1" algn="just"/>
                <a:endParaRPr lang="en-US" b="0" i="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just"/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277537"/>
              </a:xfrm>
              <a:blipFill>
                <a:blip r:embed="rId2"/>
                <a:stretch>
                  <a:fillRect l="-1329" t="-986" r="-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073987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0923-014A-332A-2A84-5D8B799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E62-A06F-736C-B73C-B892D9A80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27753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Now, we update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dirty="0"/>
                  <a:t> we will use:</a:t>
                </a: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ID" b="0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sym typeface="Helvetica Neue"/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ID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bg2">
                                                <a:lumMod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bg2">
                                                <a:lumMod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bg2">
                                                <a:lumMod val="1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𝑖𝑛</m:t>
                                        </m:r>
                                      </m:sub>
                                    </m:sSub>
                                  </m:sup>
                                </m:sSup>
                              </m:den>
                            </m:f>
                          </m:e>
                        </m:d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sup>
                        </m:sSup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b="0" i="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0.41</m:t>
                            </m:r>
                          </m:sup>
                        </m:sSup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0.41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=0.2398</m:t>
                    </m:r>
                  </m:oMath>
                </a14:m>
                <a:endParaRPr lang="en-US" b="0" i="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just"/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We can 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=0.2499</m:t>
                    </m:r>
                  </m:oMath>
                </a14:m>
                <a:endParaRPr lang="en-US" b="0" i="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lvl="1" algn="just"/>
                <a:endParaRPr lang="en-US" b="0" i="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algn="just"/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277537"/>
              </a:xfrm>
              <a:blipFill>
                <a:blip r:embed="rId2"/>
                <a:stretch>
                  <a:fillRect l="-1329" t="-1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099F12-E14D-D98B-1B98-986C22F1E167}"/>
                  </a:ext>
                </a:extLst>
              </p:cNvPr>
              <p:cNvSpPr txBox="1"/>
              <p:nvPr/>
            </p:nvSpPr>
            <p:spPr>
              <a:xfrm>
                <a:off x="16882946" y="6199422"/>
                <a:ext cx="5791039" cy="1317155"/>
              </a:xfrm>
              <a:prstGeom prst="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chemeClr val="bg2">
                        <a:lumMod val="10000"/>
                      </a:schemeClr>
                    </a:solidFill>
                  </a:rPr>
                  <a:t>Derivation of Sigmoid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b="0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099F12-E14D-D98B-1B98-986C22F1E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2946" y="6199422"/>
                <a:ext cx="5791039" cy="1317155"/>
              </a:xfrm>
              <a:prstGeom prst="rect">
                <a:avLst/>
              </a:prstGeom>
              <a:blipFill>
                <a:blip r:embed="rId3"/>
                <a:stretch>
                  <a:fillRect b="-283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75620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1AABC-635B-AFBC-8F43-603C83C0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1645B-210A-45CF-5B3E-CD4839F30A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1C8DB69-1741-6687-1DB9-408B8E3CFF7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Now, we update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dirty="0"/>
                  <a:t> we will use:</a:t>
                </a: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 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0.2398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r>
                  <a:rPr kumimoji="0" lang="en-ID" b="0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sym typeface="Helvetica Neue"/>
                  </a:rPr>
                  <a:t> 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2,1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e>
                                    </m:d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2,1</m:t>
                                        </m:r>
                                      </m:e>
                                    </m:d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r>
                  <a:rPr lang="en-ID" dirty="0">
                    <a:solidFill>
                      <a:schemeClr val="bg2">
                        <a:lumMod val="10000"/>
                      </a:schemeClr>
                    </a:solidFill>
                  </a:rPr>
                  <a:t>Therefore,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e>
                                    </m:d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2,1</m:t>
                                        </m:r>
                                      </m:e>
                                    </m:d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=0.6=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1C8DB69-1741-6687-1DB9-408B8E3CF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16684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2C8C-8A85-40E8-767E-01560A51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D7B18-CA58-3535-C184-2D7680033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9BDD224-70E1-B865-1467-1953128A2FF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dirty="0"/>
                  <a:t>After that, we calculate the gradient loss to the weight and bias in hidden layer: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accent5">
                            <a:lumMod val="5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accent5">
                            <a:lumMod val="5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accent5">
                            <a:lumMod val="5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accent5">
                            <a:lumMod val="5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9BDD224-70E1-B865-1467-1953128A2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680797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2C8C-8A85-40E8-767E-01560A51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D7B18-CA58-3535-C184-2D7680033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9BDD224-70E1-B865-1467-1953128A2FF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dirty="0"/>
                  <a:t>After that, we calculate the gradient loss to the weight and bias in hidden layer: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0.3 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0.2398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0.5=−0.0189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0.2398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0.6=−0.0226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−0.5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0.2499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0.5=0.0328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−0.5 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0.2499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0.6=0.0393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9BDD224-70E1-B865-1467-1953128A2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2981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2C8C-8A85-40E8-767E-01560A51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D7B18-CA58-3535-C184-2D7680033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9BDD224-70E1-B865-1467-1953128A2FF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dirty="0"/>
                  <a:t>After that, we calculate the gradient loss to the weight and bias in hidden layer: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accent5">
                            <a:lumMod val="5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 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0.3 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0.2398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1=−0.0377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accent5">
                            <a:lumMod val="5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𝐿𝑜𝑠𝑠</m:t>
                        </m:r>
                      </m:num>
                      <m:den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−0.5247 × 1 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−0.5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2">
                            <a:lumMod val="10000"/>
                          </a:schemeClr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D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0.2499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1=0.0656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9BDD224-70E1-B865-1467-1953128A2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04415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54E2-8D97-5F84-A054-2A98FB04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AC058-C0B9-50DB-90D6-4B80B650C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SGD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FD2958-2842-5559-4449-29B32329FBF4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1700"/>
                  </a:spcBef>
                </a:pPr>
                <a:r>
                  <a:rPr lang="en-US" dirty="0"/>
                  <a:t>Next, we update the weight using Stochastic Gradient Descent:</a:t>
                </a:r>
              </a:p>
              <a:p>
                <a:pPr lvl="1">
                  <a:spcBef>
                    <a:spcPts val="17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sub>
                      <m: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D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=0.5−0.5(−0.0189)=0.5095</m:t>
                    </m:r>
                  </m:oMath>
                </a14:m>
                <a:endParaRPr lang="en-US" dirty="0"/>
              </a:p>
              <a:p>
                <a:pPr lvl="1">
                  <a:spcBef>
                    <a:spcPts val="17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e>
                        </m:d>
                      </m:sub>
                      <m: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D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=0.1−0.5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−0.0226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=0.1113</m:t>
                    </m:r>
                  </m:oMath>
                </a14:m>
                <a:endParaRPr lang="en-US" b="0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17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</m:sub>
                      <m: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D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=0.4−0.5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−0.0328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=0.4164</m:t>
                    </m:r>
                  </m:oMath>
                </a14:m>
                <a:endParaRPr lang="en-US" dirty="0"/>
              </a:p>
              <a:p>
                <a:pPr lvl="1">
                  <a:spcBef>
                    <a:spcPts val="17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e>
                        </m:d>
                      </m:sub>
                      <m: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D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=−0.6−0.5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−0.0393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=−0.5804</m:t>
                    </m:r>
                  </m:oMath>
                </a14:m>
                <a:endParaRPr lang="en-US" dirty="0"/>
              </a:p>
              <a:p>
                <a:pPr lvl="1">
                  <a:spcBef>
                    <a:spcPts val="17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D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=0.1−0.5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−0.0377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=0.1189</m:t>
                    </m:r>
                  </m:oMath>
                </a14:m>
                <a:endParaRPr lang="en-US" b="0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17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D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=0.2−0.5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0.0656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=0.1672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FD2958-2842-5559-4449-29B32329F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203" t="-1920" b="-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762310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B620-E908-3D72-2E6E-AEE24449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41B56-1873-1609-47D8-CE4746939E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E60A2-5B46-2A35-48FC-41A573A1552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 updated weight and bias: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do a forward pass once more and check the loss/error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F0028D-3712-0706-BE1F-85411033CAF1}"/>
              </a:ext>
            </a:extLst>
          </p:cNvPr>
          <p:cNvGrpSpPr/>
          <p:nvPr/>
        </p:nvGrpSpPr>
        <p:grpSpPr>
          <a:xfrm>
            <a:off x="7300963" y="4113975"/>
            <a:ext cx="9782072" cy="6876653"/>
            <a:chOff x="7226777" y="4948317"/>
            <a:chExt cx="9782072" cy="687665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A5E23AA-4207-0E2D-800B-57ACAD81EE16}"/>
                </a:ext>
              </a:extLst>
            </p:cNvPr>
            <p:cNvSpPr/>
            <p:nvPr/>
          </p:nvSpPr>
          <p:spPr>
            <a:xfrm>
              <a:off x="7226777" y="7467886"/>
              <a:ext cx="1333500" cy="1333500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CA46C9-6E87-232C-D922-7E631A529F39}"/>
                </a:ext>
              </a:extLst>
            </p:cNvPr>
            <p:cNvSpPr/>
            <p:nvPr/>
          </p:nvSpPr>
          <p:spPr>
            <a:xfrm>
              <a:off x="7375147" y="10491470"/>
              <a:ext cx="1333500" cy="1333500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1AEC9F2-E9B1-50F0-14AB-A794357F4607}"/>
                </a:ext>
              </a:extLst>
            </p:cNvPr>
            <p:cNvSpPr txBox="1"/>
            <p:nvPr/>
          </p:nvSpPr>
          <p:spPr>
            <a:xfrm>
              <a:off x="7607777" y="7806341"/>
              <a:ext cx="633186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X</a:t>
              </a:r>
              <a:r>
                <a: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"/>
                </a:rPr>
                <a:t>1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5F0DA9-DF40-E41E-21B8-2B3C9F5DF254}"/>
                </a:ext>
              </a:extLst>
            </p:cNvPr>
            <p:cNvSpPr txBox="1"/>
            <p:nvPr/>
          </p:nvSpPr>
          <p:spPr>
            <a:xfrm>
              <a:off x="7729903" y="10840557"/>
              <a:ext cx="633186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"/>
                </a:rPr>
                <a:t>X2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4E0667-9181-3297-2B5D-A8F0194A4098}"/>
                </a:ext>
              </a:extLst>
            </p:cNvPr>
            <p:cNvSpPr/>
            <p:nvPr/>
          </p:nvSpPr>
          <p:spPr>
            <a:xfrm>
              <a:off x="11699497" y="7176770"/>
              <a:ext cx="1333500" cy="1333500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6824430-4F4B-DF5B-818A-604B425E9820}"/>
                </a:ext>
              </a:extLst>
            </p:cNvPr>
            <p:cNvSpPr/>
            <p:nvPr/>
          </p:nvSpPr>
          <p:spPr>
            <a:xfrm>
              <a:off x="11699497" y="9005570"/>
              <a:ext cx="1333500" cy="1333500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16D842-BB9E-2F14-25B5-7C88623C2359}"/>
                </a:ext>
              </a:extLst>
            </p:cNvPr>
            <p:cNvSpPr txBox="1"/>
            <p:nvPr/>
          </p:nvSpPr>
          <p:spPr>
            <a:xfrm>
              <a:off x="12044414" y="7515225"/>
              <a:ext cx="706924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H1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C8E5B8-1E47-8EE0-CD81-5861A0EBDFA5}"/>
                </a:ext>
              </a:extLst>
            </p:cNvPr>
            <p:cNvSpPr txBox="1"/>
            <p:nvPr/>
          </p:nvSpPr>
          <p:spPr>
            <a:xfrm>
              <a:off x="12012784" y="9344025"/>
              <a:ext cx="706924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"/>
                </a:rPr>
                <a:t>H2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A685035-9615-11EB-BF31-066930156A3A}"/>
                </a:ext>
              </a:extLst>
            </p:cNvPr>
            <p:cNvSpPr/>
            <p:nvPr/>
          </p:nvSpPr>
          <p:spPr>
            <a:xfrm>
              <a:off x="15675349" y="7995920"/>
              <a:ext cx="1333500" cy="1333500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95CCC5-B92B-5BA2-51C3-A8812D9070C5}"/>
                </a:ext>
              </a:extLst>
            </p:cNvPr>
            <p:cNvSpPr txBox="1"/>
            <p:nvPr/>
          </p:nvSpPr>
          <p:spPr>
            <a:xfrm>
              <a:off x="16111266" y="8324215"/>
              <a:ext cx="461665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D16162B-8141-2F23-4AD0-F769DD908410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 flipV="1">
              <a:off x="8560277" y="7843520"/>
              <a:ext cx="3139220" cy="291116"/>
            </a:xfrm>
            <a:prstGeom prst="straightConnector1">
              <a:avLst/>
            </a:prstGeom>
            <a:noFill/>
            <a:ln w="57150" cap="flat">
              <a:solidFill>
                <a:srgbClr val="00B05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2731A08-C41D-B57D-E393-F2DB8AEB5B89}"/>
                </a:ext>
              </a:extLst>
            </p:cNvPr>
            <p:cNvCxnSpPr>
              <a:cxnSpLocks/>
              <a:stCxn id="7" idx="6"/>
              <a:endCxn id="11" idx="2"/>
            </p:cNvCxnSpPr>
            <p:nvPr/>
          </p:nvCxnSpPr>
          <p:spPr>
            <a:xfrm flipV="1">
              <a:off x="8708647" y="9672320"/>
              <a:ext cx="2990850" cy="1485900"/>
            </a:xfrm>
            <a:prstGeom prst="straightConnector1">
              <a:avLst/>
            </a:prstGeom>
            <a:noFill/>
            <a:ln w="57150" cap="flat">
              <a:solidFill>
                <a:srgbClr val="0070C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3988C08-E6C1-B00E-1880-95527522B5B2}"/>
                </a:ext>
              </a:extLst>
            </p:cNvPr>
            <p:cNvCxnSpPr>
              <a:cxnSpLocks/>
              <a:stCxn id="7" idx="6"/>
              <a:endCxn id="10" idx="3"/>
            </p:cNvCxnSpPr>
            <p:nvPr/>
          </p:nvCxnSpPr>
          <p:spPr>
            <a:xfrm flipV="1">
              <a:off x="8708647" y="8314983"/>
              <a:ext cx="3186137" cy="2843237"/>
            </a:xfrm>
            <a:prstGeom prst="straightConnector1">
              <a:avLst/>
            </a:prstGeom>
            <a:noFill/>
            <a:ln w="57150" cap="flat">
              <a:solidFill>
                <a:srgbClr val="0070C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DA10C73-CAD8-C270-741F-52EEAB0DF998}"/>
                </a:ext>
              </a:extLst>
            </p:cNvPr>
            <p:cNvCxnSpPr>
              <a:cxnSpLocks/>
              <a:stCxn id="6" idx="6"/>
              <a:endCxn id="11" idx="1"/>
            </p:cNvCxnSpPr>
            <p:nvPr/>
          </p:nvCxnSpPr>
          <p:spPr>
            <a:xfrm>
              <a:off x="8560277" y="8134636"/>
              <a:ext cx="3334507" cy="1066221"/>
            </a:xfrm>
            <a:prstGeom prst="straightConnector1">
              <a:avLst/>
            </a:prstGeom>
            <a:noFill/>
            <a:ln w="57150" cap="flat">
              <a:solidFill>
                <a:srgbClr val="00B05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F989F5E-D2A1-B357-0003-AD06CD928650}"/>
                </a:ext>
              </a:extLst>
            </p:cNvPr>
            <p:cNvCxnSpPr>
              <a:cxnSpLocks/>
            </p:cNvCxnSpPr>
            <p:nvPr/>
          </p:nvCxnSpPr>
          <p:spPr>
            <a:xfrm>
              <a:off x="13032997" y="7790815"/>
              <a:ext cx="2642352" cy="81915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09FC391-41A9-453F-FB0C-7384D5B691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2997" y="8776970"/>
              <a:ext cx="2642351" cy="842645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C685FB-3CF6-7F2B-39CA-268F34C0F7A0}"/>
                    </a:ext>
                  </a:extLst>
                </p:cNvPr>
                <p:cNvSpPr txBox="1"/>
                <p:nvPr/>
              </p:nvSpPr>
              <p:spPr>
                <a:xfrm>
                  <a:off x="8625380" y="7398179"/>
                  <a:ext cx="2601097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=0.5095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C685FB-3CF6-7F2B-39CA-268F34C0F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380" y="7398179"/>
                  <a:ext cx="2601097" cy="564450"/>
                </a:xfrm>
                <a:prstGeom prst="rect">
                  <a:avLst/>
                </a:prstGeom>
                <a:blipFill>
                  <a:blip r:embed="rId2"/>
                  <a:stretch>
                    <a:fillRect l="-194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207C391-C601-912D-D47D-714EBFB0FF6F}"/>
                    </a:ext>
                  </a:extLst>
                </p:cNvPr>
                <p:cNvSpPr txBox="1"/>
                <p:nvPr/>
              </p:nvSpPr>
              <p:spPr>
                <a:xfrm>
                  <a:off x="8900368" y="10927792"/>
                  <a:ext cx="2868798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2,2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=−0.5804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207C391-C601-912D-D47D-714EBFB0F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0368" y="10927792"/>
                  <a:ext cx="2868798" cy="564450"/>
                </a:xfrm>
                <a:prstGeom prst="rect">
                  <a:avLst/>
                </a:prstGeom>
                <a:blipFill>
                  <a:blip r:embed="rId3"/>
                  <a:stretch>
                    <a:fillRect l="-176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FF0D093-1417-58BC-86A9-09AC881AAD35}"/>
                    </a:ext>
                  </a:extLst>
                </p:cNvPr>
                <p:cNvSpPr txBox="1"/>
                <p:nvPr/>
              </p:nvSpPr>
              <p:spPr>
                <a:xfrm>
                  <a:off x="8224566" y="8658997"/>
                  <a:ext cx="2533771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2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dPr>
                            <m:e>
                              <m:r>
                                <a:rPr kumimoji="0" lang="en-US" sz="2800" b="0" i="1" u="none" strike="noStrike" cap="none" spc="0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1,2</m:t>
                              </m:r>
                            </m:e>
                          </m:d>
                        </m:sub>
                      </m:sSub>
                      <m:r>
                        <a:rPr kumimoji="0" lang="en-US" sz="28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=0.</m:t>
                      </m:r>
                    </m:oMath>
                  </a14:m>
                  <a:r>
                    <a:rPr kumimoji="0" lang="en-ID" sz="2800" b="0" i="0" u="none" strike="noStrike" cap="none" spc="0" normalizeH="0" baseline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FillTx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  <a:sym typeface="Helvetica Neue"/>
                    </a:rPr>
                    <a:t>4164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FF0D093-1417-58BC-86A9-09AC881AAD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566" y="8658997"/>
                  <a:ext cx="2533771" cy="564450"/>
                </a:xfrm>
                <a:prstGeom prst="rect">
                  <a:avLst/>
                </a:prstGeom>
                <a:blipFill>
                  <a:blip r:embed="rId4"/>
                  <a:stretch>
                    <a:fillRect l="-2500" t="-8889" r="-6500" b="-2444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F754951-FF87-37CD-8C67-6B3EEF139B0B}"/>
                    </a:ext>
                  </a:extLst>
                </p:cNvPr>
                <p:cNvSpPr txBox="1"/>
                <p:nvPr/>
              </p:nvSpPr>
              <p:spPr>
                <a:xfrm>
                  <a:off x="7309619" y="9864589"/>
                  <a:ext cx="2601097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2,1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</m:t>
                        </m:r>
                        <m:r>
                          <a:rPr kumimoji="0" lang="en-US" sz="2800" b="0" i="0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1113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F754951-FF87-37CD-8C67-6B3EEF139B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9619" y="9864589"/>
                  <a:ext cx="2601097" cy="564450"/>
                </a:xfrm>
                <a:prstGeom prst="rect">
                  <a:avLst/>
                </a:prstGeom>
                <a:blipFill>
                  <a:blip r:embed="rId5"/>
                  <a:stretch>
                    <a:fillRect l="-242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C8DFC-4A0E-064D-3564-7FD20587E20B}"/>
                    </a:ext>
                  </a:extLst>
                </p:cNvPr>
                <p:cNvSpPr txBox="1"/>
                <p:nvPr/>
              </p:nvSpPr>
              <p:spPr>
                <a:xfrm>
                  <a:off x="13260887" y="7434736"/>
                  <a:ext cx="2637965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F5AF3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F5AF3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5AF36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5AF36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1,</m:t>
                                </m:r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5AF36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F5AF3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=0.4577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F5AF36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C8DFC-4A0E-064D-3564-7FD20587E2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60887" y="7434736"/>
                  <a:ext cx="2637965" cy="564450"/>
                </a:xfrm>
                <a:prstGeom prst="rect">
                  <a:avLst/>
                </a:prstGeom>
                <a:blipFill>
                  <a:blip r:embed="rId6"/>
                  <a:stretch>
                    <a:fillRect l="-2404" b="-222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F3D1521-B383-6A68-2887-A592C4B2836E}"/>
                    </a:ext>
                  </a:extLst>
                </p:cNvPr>
                <p:cNvSpPr txBox="1"/>
                <p:nvPr/>
              </p:nvSpPr>
              <p:spPr>
                <a:xfrm>
                  <a:off x="13237514" y="9463561"/>
                  <a:ext cx="2905667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𝑊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2,</m:t>
                                </m:r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=−0.3662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F3D1521-B383-6A68-2887-A592C4B28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7514" y="9463561"/>
                  <a:ext cx="2905667" cy="564450"/>
                </a:xfrm>
                <a:prstGeom prst="rect">
                  <a:avLst/>
                </a:prstGeom>
                <a:blipFill>
                  <a:blip r:embed="rId7"/>
                  <a:stretch>
                    <a:fillRect l="-2183" b="-222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9DB77FC-CF30-683E-DA02-5A5B56549588}"/>
                </a:ext>
              </a:extLst>
            </p:cNvPr>
            <p:cNvSpPr/>
            <p:nvPr/>
          </p:nvSpPr>
          <p:spPr>
            <a:xfrm>
              <a:off x="7317216" y="4948317"/>
              <a:ext cx="1333500" cy="1333500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5A5E01-E10C-538A-E63D-FF0DE2C0C6B8}"/>
                </a:ext>
              </a:extLst>
            </p:cNvPr>
            <p:cNvSpPr txBox="1"/>
            <p:nvPr/>
          </p:nvSpPr>
          <p:spPr>
            <a:xfrm>
              <a:off x="7822448" y="5286772"/>
              <a:ext cx="384721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5835DD0-94FF-6B76-A716-992C71684E4D}"/>
                </a:ext>
              </a:extLst>
            </p:cNvPr>
            <p:cNvSpPr/>
            <p:nvPr/>
          </p:nvSpPr>
          <p:spPr>
            <a:xfrm>
              <a:off x="11699497" y="5171837"/>
              <a:ext cx="1333500" cy="1333500"/>
            </a:xfrm>
            <a:prstGeom prst="ellipse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D" sz="5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22F1A32-E4C4-F4AE-4F02-36C1C5719841}"/>
                </a:ext>
              </a:extLst>
            </p:cNvPr>
            <p:cNvCxnSpPr>
              <a:stCxn id="28" idx="6"/>
              <a:endCxn id="10" idx="2"/>
            </p:cNvCxnSpPr>
            <p:nvPr/>
          </p:nvCxnSpPr>
          <p:spPr>
            <a:xfrm>
              <a:off x="8650716" y="5615067"/>
              <a:ext cx="3048781" cy="2228453"/>
            </a:xfrm>
            <a:prstGeom prst="straightConnector1">
              <a:avLst/>
            </a:prstGeom>
            <a:noFill/>
            <a:ln w="57150" cap="flat">
              <a:solidFill>
                <a:schemeClr val="accent6">
                  <a:lumMod val="75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12090B7-9B1B-FA8C-6F45-3A20F60C0678}"/>
                </a:ext>
              </a:extLst>
            </p:cNvPr>
            <p:cNvSpPr txBox="1"/>
            <p:nvPr/>
          </p:nvSpPr>
          <p:spPr>
            <a:xfrm>
              <a:off x="12173886" y="5510292"/>
              <a:ext cx="384721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"/>
                </a:rPr>
                <a:t>b</a:t>
              </a:r>
              <a:endParaRPr kumimoji="0" lang="en-ID" sz="3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AEDAC85-2FF1-5C4E-BD26-DA65818E91B3}"/>
                </a:ext>
              </a:extLst>
            </p:cNvPr>
            <p:cNvCxnSpPr>
              <a:cxnSpLocks/>
              <a:stCxn id="28" idx="6"/>
              <a:endCxn id="11" idx="1"/>
            </p:cNvCxnSpPr>
            <p:nvPr/>
          </p:nvCxnSpPr>
          <p:spPr>
            <a:xfrm>
              <a:off x="8650716" y="5615067"/>
              <a:ext cx="3244068" cy="3585790"/>
            </a:xfrm>
            <a:prstGeom prst="straightConnector1">
              <a:avLst/>
            </a:prstGeom>
            <a:noFill/>
            <a:ln w="57150" cap="flat">
              <a:solidFill>
                <a:schemeClr val="accent6">
                  <a:lumMod val="75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0528720-2AEC-3B1D-23D4-E2AC4BC83D2A}"/>
                    </a:ext>
                  </a:extLst>
                </p:cNvPr>
                <p:cNvSpPr txBox="1"/>
                <p:nvPr/>
              </p:nvSpPr>
              <p:spPr>
                <a:xfrm>
                  <a:off x="9737875" y="5960169"/>
                  <a:ext cx="2294538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𝑏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=0.1189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0528720-2AEC-3B1D-23D4-E2AC4BC83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7875" y="5960169"/>
                  <a:ext cx="2294538" cy="564450"/>
                </a:xfrm>
                <a:prstGeom prst="rect">
                  <a:avLst/>
                </a:prstGeom>
                <a:blipFill>
                  <a:blip r:embed="rId8"/>
                  <a:stretch>
                    <a:fillRect l="-274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7117A34-AC1C-E0AC-F71B-758B8FBA2B01}"/>
                    </a:ext>
                  </a:extLst>
                </p:cNvPr>
                <p:cNvSpPr txBox="1"/>
                <p:nvPr/>
              </p:nvSpPr>
              <p:spPr>
                <a:xfrm>
                  <a:off x="7685808" y="6549386"/>
                  <a:ext cx="2294538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𝑏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=0.1672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7117A34-AC1C-E0AC-F71B-758B8FBA2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5808" y="6549386"/>
                  <a:ext cx="2294538" cy="564450"/>
                </a:xfrm>
                <a:prstGeom prst="rect">
                  <a:avLst/>
                </a:prstGeom>
                <a:blipFill>
                  <a:blip r:embed="rId9"/>
                  <a:stretch>
                    <a:fillRect l="-331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AE4F6DB-6A2A-6986-9F48-8425E905E4E1}"/>
                </a:ext>
              </a:extLst>
            </p:cNvPr>
            <p:cNvCxnSpPr>
              <a:endCxn id="14" idx="0"/>
            </p:cNvCxnSpPr>
            <p:nvPr/>
          </p:nvCxnSpPr>
          <p:spPr>
            <a:xfrm>
              <a:off x="13032997" y="5838587"/>
              <a:ext cx="3309102" cy="2157333"/>
            </a:xfrm>
            <a:prstGeom prst="straightConnector1">
              <a:avLst/>
            </a:prstGeom>
            <a:noFill/>
            <a:ln w="57150" cap="flat">
              <a:solidFill>
                <a:srgbClr val="00B0F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8F9FEDA-A468-DBBA-FF89-9E0EA054EC22}"/>
                    </a:ext>
                  </a:extLst>
                </p:cNvPr>
                <p:cNvSpPr txBox="1"/>
                <p:nvPr/>
              </p:nvSpPr>
              <p:spPr>
                <a:xfrm>
                  <a:off x="14270591" y="6323174"/>
                  <a:ext cx="2294538" cy="564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𝑏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F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cap="none" spc="0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F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3</m:t>
                                </m:r>
                              </m:e>
                            </m:d>
                          </m:sub>
                        </m:sSub>
                        <m:r>
                          <a:rPr kumimoji="0" lang="en-US" sz="2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=0.3124</m:t>
                        </m:r>
                      </m:oMath>
                    </m:oMathPara>
                  </a14:m>
                  <a:endParaRPr kumimoji="0" lang="en-ID" sz="2800" b="0" i="0" u="none" strike="noStrike" cap="none" spc="0" normalizeH="0" baseline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8F9FEDA-A468-DBBA-FF89-9E0EA054E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0591" y="6323174"/>
                  <a:ext cx="2294538" cy="564450"/>
                </a:xfrm>
                <a:prstGeom prst="rect">
                  <a:avLst/>
                </a:prstGeom>
                <a:blipFill>
                  <a:blip r:embed="rId10"/>
                  <a:stretch>
                    <a:fillRect l="-274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2096542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A3E9-7AD7-5577-9C90-E35EE462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B08CC-B588-D8A4-13B1-D6DB502047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1700"/>
                  </a:spcBef>
                </a:pPr>
                <a:r>
                  <a:rPr lang="en-US" b="1" dirty="0"/>
                  <a:t>Forward pass: Input to Hidden layer: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=0.5095∙0.5+0.1113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0.6+0.1189</m:t>
                    </m:r>
                  </m:oMath>
                </a14:m>
                <a:endParaRPr lang="en-US" b="0" i="0" dirty="0">
                  <a:ea typeface="Cambria Math" panose="02040503050406030204" pitchFamily="18" charset="0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=0.4404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  <m:sSub>
                      <m:sSub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e>
                      <m:sub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𝑜𝑢𝑡</m:t>
                        </m:r>
                      </m:sub>
                    </m:sSub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1+</m:t>
                        </m:r>
                        <m:sSup>
                          <m:sSupPr>
                            <m:ctrlP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0.4404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=0.6084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>
                  <a:spcBef>
                    <a:spcPts val="170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54100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A3E9-7AD7-5577-9C90-E35EE462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B08CC-B588-D8A4-13B1-D6DB502047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1700"/>
                  </a:spcBef>
                </a:pPr>
                <a:r>
                  <a:rPr lang="en-US" b="1" dirty="0"/>
                  <a:t>Forward pass: Input to Hidden layer: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1,2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=0.4164∙0.5+(−0.5804)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0.6+0.1672</m:t>
                    </m:r>
                  </m:oMath>
                </a14:m>
                <a:endParaRPr lang="en-US" b="0" i="0" dirty="0">
                  <a:ea typeface="Cambria Math" panose="02040503050406030204" pitchFamily="18" charset="0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=0.0272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𝐻</m:t>
                    </m:r>
                    <m:sSub>
                      <m:sSub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bPr>
                      <m:e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e>
                      <m:sub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𝑜𝑢𝑡</m:t>
                        </m:r>
                      </m:sub>
                    </m:sSub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1+</m:t>
                        </m:r>
                        <m:sSup>
                          <m:sSupPr>
                            <m:ctrlP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r>
                              <a:rPr kumimoji="0" lang="en-US" b="0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0.0272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=0.5068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>
                  <a:spcBef>
                    <a:spcPts val="170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92365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A3E9-7AD7-5577-9C90-E35EE462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B08CC-B588-D8A4-13B1-D6DB502047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1700"/>
                  </a:spcBef>
                </a:pPr>
                <a:r>
                  <a:rPr lang="en-US" b="1" dirty="0"/>
                  <a:t>Forward pass: Hidden to Output layer: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d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4577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6084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)+(−0.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3662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0.5068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3124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0.4053</m:t>
                    </m:r>
                  </m:oMath>
                </a14:m>
                <a:endParaRPr kumimoji="0" lang="en-ID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=0.4053</m:t>
                    </m:r>
                  </m:oMath>
                </a14:m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 algn="just"/>
                <a:endParaRPr kumimoji="0" lang="en-ID" sz="4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  <a:p>
                <a:pPr>
                  <a:spcBef>
                    <a:spcPts val="170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396DC0-94FD-4E49-278E-6EA4F370C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00541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0923-014A-332A-2A84-5D8B799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6E62-A06F-736C-B73C-B892D9A80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515537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Calculate Loss/Error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𝐿𝑜𝑠𝑠</m:t>
                    </m:r>
                    <m:r>
                      <a:rPr kumimoji="0" lang="en-US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𝑦</m:t>
                        </m:r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accPr>
                          <m:e>
                            <m: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kumimoji="0" lang="en-US" b="0" i="1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Cambria Math" panose="02040503050406030204" pitchFamily="18" charset="0"/>
                  <a:sym typeface="Helvetica Neue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kumimoji="0" lang="en-US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𝑦</m:t>
                            </m:r>
                            <m: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kumimoji="0" lang="en-US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kumimoji="0" lang="en-US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𝑜𝑢𝑡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b="0" i="1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Cambria Math" panose="02040503050406030204" pitchFamily="18" charset="0"/>
                  <a:sym typeface="Helvetica Neue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1</m:t>
                        </m:r>
                      </m:num>
                      <m:den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kumimoji="0" lang="en-US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0.5−(0.4053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kumimoji="0" lang="en-US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b="0" i="1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Cambria Math" panose="02040503050406030204" pitchFamily="18" charset="0"/>
                  <a:sym typeface="Helvetica Neue"/>
                </a:endParaRPr>
              </a:p>
              <a:p>
                <a:pPr lvl="1">
                  <a:buFont typeface="Wingdings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𝑳𝒐𝒔𝒔</m:t>
                    </m:r>
                    <m:r>
                      <a:rPr kumimoji="0" lang="en-US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=</m:t>
                    </m:r>
                    <m:r>
                      <a:rPr kumimoji="0" lang="en-US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𝟎</m:t>
                    </m:r>
                    <m:r>
                      <a:rPr kumimoji="0" lang="en-US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.</m:t>
                    </m:r>
                    <m:r>
                      <a:rPr kumimoji="0" lang="en-US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𝟎𝟎𝟒𝟓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The loss has been decreased (from 0.1377 before)!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Which means the ANN is </a:t>
                </a:r>
                <a:r>
                  <a:rPr lang="en-US" b="1" dirty="0"/>
                  <a:t>learning</a:t>
                </a:r>
                <a:r>
                  <a:rPr lang="en-US" dirty="0"/>
                  <a:t> (successfully)</a:t>
                </a:r>
              </a:p>
              <a:p>
                <a:r>
                  <a:rPr lang="en-US" dirty="0"/>
                  <a:t>The loss </a:t>
                </a:r>
                <a:r>
                  <a:rPr lang="en-US" b="1" dirty="0"/>
                  <a:t>could be</a:t>
                </a:r>
                <a:r>
                  <a:rPr lang="en-US" dirty="0"/>
                  <a:t> better if we iterate once more! Now, try it yourself!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7B5CBD-4814-2107-E8C7-A756EE024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515537"/>
              </a:xfrm>
              <a:blipFill>
                <a:blip r:embed="rId2"/>
                <a:stretch>
                  <a:fillRect l="-1329" t="-1198" b="-1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39364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C4A1-3669-5589-9BB7-6D3839225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401B-51B4-9BD1-2BD2-F30D5C4D3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0A808-7111-3EC5-98AD-868A7CC3C4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9219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we increase/decrease the learning rate, it could affect the learning progression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Increasing will fasten the learning progression but make the the learning more chaotic (could be trapped in local optima);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Decreasing will give a more stable learning but slow down the learning progression.</a:t>
            </a:r>
          </a:p>
          <a:p>
            <a:r>
              <a:rPr lang="en-US" dirty="0"/>
              <a:t>The one we used in example is SGD, where weight is updated (backward pass is done) for a single data, there are other variation: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Batch gradient descent = only do backward pass once all the data has been passed forwardly using the mean error.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Mini-batch gradient descent = Between SGD and BGD, do backward pass for every mini-batch of data, for example for every 8 or 16 data, using the mean error of that mini-batch.</a:t>
            </a:r>
          </a:p>
        </p:txBody>
      </p:sp>
    </p:spTree>
    <p:extLst>
      <p:ext uri="{BB962C8B-B14F-4D97-AF65-F5344CB8AC3E}">
        <p14:creationId xmlns:p14="http://schemas.microsoft.com/office/powerpoint/2010/main" val="325068091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24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Peter Norvig, Stuart Russel. (2021). Artificial Intelligence: A Modern Approach. Pearson. London. ISBN: 978-1292401133. Ch. 19-20.</a:t>
            </a:r>
          </a:p>
          <a:p>
            <a:pPr>
              <a:spcBef>
                <a:spcPts val="600"/>
              </a:spcBef>
            </a:pPr>
            <a:r>
              <a:rPr lang="en-US" sz="4000" dirty="0" err="1">
                <a:latin typeface="+mj-lt"/>
              </a:rPr>
              <a:t>Alrabeiah</a:t>
            </a:r>
            <a:r>
              <a:rPr lang="en-US" sz="4000" dirty="0">
                <a:latin typeface="+mj-lt"/>
              </a:rPr>
              <a:t>, M. (2022). Neural Networks: From The Ground up. https://</a:t>
            </a:r>
            <a:r>
              <a:rPr lang="en-US" sz="4000" dirty="0" err="1">
                <a:latin typeface="+mj-lt"/>
              </a:rPr>
              <a:t>faculty.ksu.edu.sa</a:t>
            </a:r>
            <a:r>
              <a:rPr lang="en-US" sz="4000" dirty="0">
                <a:latin typeface="+mj-lt"/>
              </a:rPr>
              <a:t>/sites/default/files/L3_1.pdf</a:t>
            </a:r>
          </a:p>
          <a:p>
            <a:pPr>
              <a:spcBef>
                <a:spcPts val="600"/>
              </a:spcBef>
            </a:pPr>
            <a:r>
              <a:rPr lang="en-US" sz="4000" dirty="0" err="1">
                <a:latin typeface="+mj-lt"/>
              </a:rPr>
              <a:t>Sena</a:t>
            </a:r>
            <a:r>
              <a:rPr lang="en-US" sz="4000" dirty="0">
                <a:latin typeface="+mj-lt"/>
              </a:rPr>
              <a:t>, S. (2017, November 3). </a:t>
            </a:r>
            <a:r>
              <a:rPr lang="en-US" sz="4000" dirty="0" err="1">
                <a:latin typeface="+mj-lt"/>
              </a:rPr>
              <a:t>Pengenalan</a:t>
            </a:r>
            <a:r>
              <a:rPr lang="en-US" sz="4000" dirty="0">
                <a:latin typeface="+mj-lt"/>
              </a:rPr>
              <a:t> Deep Learning Part 3: </a:t>
            </a:r>
            <a:r>
              <a:rPr lang="en-US" sz="4000" dirty="0" err="1">
                <a:latin typeface="+mj-lt"/>
              </a:rPr>
              <a:t>BackPropagation</a:t>
            </a:r>
            <a:r>
              <a:rPr lang="en-US" sz="4000" dirty="0">
                <a:latin typeface="+mj-lt"/>
              </a:rPr>
              <a:t> Algorithm. Medium. https://</a:t>
            </a:r>
            <a:r>
              <a:rPr lang="en-US" sz="4000" dirty="0" err="1">
                <a:latin typeface="+mj-lt"/>
              </a:rPr>
              <a:t>medium.com</a:t>
            </a:r>
            <a:r>
              <a:rPr lang="en-US" sz="4000" dirty="0">
                <a:latin typeface="+mj-lt"/>
              </a:rPr>
              <a:t>/@</a:t>
            </a:r>
            <a:r>
              <a:rPr lang="en-US" sz="4000" dirty="0" err="1">
                <a:latin typeface="+mj-lt"/>
              </a:rPr>
              <a:t>samuelsena</a:t>
            </a:r>
            <a:r>
              <a:rPr lang="en-US" sz="4000" dirty="0">
                <a:latin typeface="+mj-lt"/>
              </a:rPr>
              <a:t>/pengenalan-deep-learning-part-3-backpropagation-algorithm-720be9a5fbb8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Michael A Nielsen. 2015. “Neural Networks and Deep Learning”, Determination Press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Victor </a:t>
            </a:r>
            <a:r>
              <a:rPr lang="en-US" sz="4000" dirty="0" err="1">
                <a:latin typeface="+mj-lt"/>
              </a:rPr>
              <a:t>Lavrenko</a:t>
            </a:r>
            <a:r>
              <a:rPr lang="en-US" sz="4000" dirty="0">
                <a:latin typeface="+mj-lt"/>
              </a:rPr>
              <a:t>. (n.d.). Backpropagation: how it works [Video]. YouTube. https://</a:t>
            </a:r>
            <a:r>
              <a:rPr lang="en-US" sz="4000" dirty="0" err="1">
                <a:latin typeface="+mj-lt"/>
              </a:rPr>
              <a:t>www.youtube.com</a:t>
            </a:r>
            <a:r>
              <a:rPr lang="en-US" sz="4000" dirty="0">
                <a:latin typeface="+mj-lt"/>
              </a:rPr>
              <a:t>/</a:t>
            </a:r>
            <a:r>
              <a:rPr lang="en-US" sz="4000" dirty="0" err="1">
                <a:latin typeface="+mj-lt"/>
              </a:rPr>
              <a:t>watch?v</a:t>
            </a:r>
            <a:r>
              <a:rPr lang="en-US" sz="4000" dirty="0">
                <a:latin typeface="+mj-lt"/>
              </a:rPr>
              <a:t>=An5z8lR8asY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5689</TotalTime>
  <Words>2389</Words>
  <Application>Microsoft Office PowerPoint</Application>
  <PresentationFormat>Custom</PresentationFormat>
  <Paragraphs>349</Paragraphs>
  <Slides>42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Helvetica Neue</vt:lpstr>
      <vt:lpstr>Open Sans ExtraBold</vt:lpstr>
      <vt:lpstr>Wingdings</vt:lpstr>
      <vt:lpstr>OCRB</vt:lpstr>
      <vt:lpstr>Cambria Math</vt:lpstr>
      <vt:lpstr>Courier New</vt:lpstr>
      <vt:lpstr>Open Sans Light</vt:lpstr>
      <vt:lpstr>Open Sans Semibold</vt:lpstr>
      <vt:lpstr>Open Sans</vt:lpstr>
      <vt:lpstr>Arial</vt:lpstr>
      <vt:lpstr>21_BasicWhite</vt:lpstr>
      <vt:lpstr>Neural Networks</vt:lpstr>
      <vt:lpstr>Learning Outcomes</vt:lpstr>
      <vt:lpstr>outline</vt:lpstr>
      <vt:lpstr>Artificial Neural network</vt:lpstr>
      <vt:lpstr>Artificial Neural network</vt:lpstr>
      <vt:lpstr>Artificial Neural network</vt:lpstr>
      <vt:lpstr>Artificial Neural network</vt:lpstr>
      <vt:lpstr>Perceptron</vt:lpstr>
      <vt:lpstr>Perceptron</vt:lpstr>
      <vt:lpstr>Perceptron</vt:lpstr>
      <vt:lpstr>Perceptron</vt:lpstr>
      <vt:lpstr>Perceptron</vt:lpstr>
      <vt:lpstr>Perceptron</vt:lpstr>
      <vt:lpstr>Multilayer perceptron</vt:lpstr>
      <vt:lpstr>Multilayer perceptron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67</cp:revision>
  <dcterms:created xsi:type="dcterms:W3CDTF">2023-11-17T02:51:40Z</dcterms:created>
  <dcterms:modified xsi:type="dcterms:W3CDTF">2024-12-27T07:59:56Z</dcterms:modified>
</cp:coreProperties>
</file>