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1"/>
  </p:notesMasterIdLst>
  <p:sldIdLst>
    <p:sldId id="290" r:id="rId2"/>
    <p:sldId id="257" r:id="rId3"/>
    <p:sldId id="258" r:id="rId4"/>
    <p:sldId id="354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351" r:id="rId27"/>
    <p:sldId id="400" r:id="rId28"/>
    <p:sldId id="401" r:id="rId29"/>
    <p:sldId id="278" r:id="rId30"/>
  </p:sldIdLst>
  <p:sldSz cx="24384000" cy="13716000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OCRB" panose="020B0609020202020204" pitchFamily="49" charset="0"/>
      <p:regular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Open Sans ExtraBold" panose="020B0906030804020204" pitchFamily="34" charset="0"/>
      <p:bold r:id="rId38"/>
      <p:italic r:id="rId39"/>
      <p:boldItalic r:id="rId40"/>
    </p:embeddedFont>
    <p:embeddedFont>
      <p:font typeface="Open Sans Light" panose="020B0306030504020204" pitchFamily="34" charset="0"/>
      <p:regular r:id="rId41"/>
      <p:italic r:id="rId42"/>
    </p:embeddedFont>
    <p:embeddedFont>
      <p:font typeface="Open Sans Semibold" panose="020B0706030804020204" pitchFamily="34" charset="0"/>
      <p:regular r:id="rId43"/>
      <p:bold r:id="rId44"/>
      <p:italic r:id="rId45"/>
      <p:boldItalic r:id="rId46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9" autoAdjust="0"/>
    <p:restoredTop sz="95781"/>
  </p:normalViewPr>
  <p:slideViewPr>
    <p:cSldViewPr snapToGrid="0" snapToObjects="1">
      <p:cViewPr varScale="1">
        <p:scale>
          <a:sx n="32" d="100"/>
          <a:sy n="32" d="100"/>
        </p:scale>
        <p:origin x="776" y="2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logic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4: Apply various techniques to an agent when acting under certainty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Fuzzy Expert System</a:t>
            </a:r>
          </a:p>
          <a:p>
            <a:r>
              <a:rPr lang="en-ID" dirty="0"/>
              <a:t>Fuzzy Inference System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expert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There are four basic operations</a:t>
            </a:r>
          </a:p>
          <a:p>
            <a:pPr lvl="1"/>
            <a:r>
              <a:rPr lang="en-US" dirty="0"/>
              <a:t>Fuzzification : Membership function assignment</a:t>
            </a:r>
          </a:p>
          <a:p>
            <a:pPr lvl="1"/>
            <a:r>
              <a:rPr lang="en-US" dirty="0"/>
              <a:t>Inference : Fuzzy rule definition</a:t>
            </a:r>
          </a:p>
          <a:p>
            <a:pPr lvl="1"/>
            <a:r>
              <a:rPr lang="en-US" dirty="0"/>
              <a:t>Composition : Combination of the rule outputs</a:t>
            </a:r>
          </a:p>
          <a:p>
            <a:pPr lvl="1"/>
            <a:r>
              <a:rPr lang="en-US" dirty="0"/>
              <a:t>Defuzzification : Crisp output calculation</a:t>
            </a:r>
          </a:p>
        </p:txBody>
      </p:sp>
    </p:spTree>
    <p:extLst>
      <p:ext uri="{BB962C8B-B14F-4D97-AF65-F5344CB8AC3E}">
        <p14:creationId xmlns:p14="http://schemas.microsoft.com/office/powerpoint/2010/main" val="252473723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There are three popular fuzzy inference system</a:t>
            </a:r>
          </a:p>
          <a:p>
            <a:pPr lvl="1"/>
            <a:r>
              <a:rPr lang="en-US" dirty="0"/>
              <a:t>Mamdani (Mamdani and </a:t>
            </a:r>
            <a:r>
              <a:rPr lang="en-US" dirty="0" err="1"/>
              <a:t>Assilian</a:t>
            </a:r>
            <a:r>
              <a:rPr lang="en-US" dirty="0"/>
              <a:t> produced the first fuzzy controller)</a:t>
            </a:r>
          </a:p>
          <a:p>
            <a:pPr lvl="1"/>
            <a:r>
              <a:rPr lang="en-US" dirty="0"/>
              <a:t>Takagi-</a:t>
            </a:r>
            <a:r>
              <a:rPr lang="en-US" dirty="0" err="1"/>
              <a:t>Sugeno</a:t>
            </a:r>
            <a:endParaRPr lang="en-US" dirty="0"/>
          </a:p>
          <a:p>
            <a:pPr lvl="1"/>
            <a:r>
              <a:rPr lang="en-US" dirty="0"/>
              <a:t>Tsukamoto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860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mamdani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Let’s say we have a simple following case with two inputs, one output, and three rules (</a:t>
            </a:r>
            <a:r>
              <a:rPr lang="en-US" dirty="0">
                <a:solidFill>
                  <a:srgbClr val="B807FF"/>
                </a:solidFill>
              </a:rPr>
              <a:t>with its simplified translation</a:t>
            </a:r>
            <a:r>
              <a:rPr lang="en-US" dirty="0"/>
              <a:t>)</a:t>
            </a:r>
          </a:p>
          <a:p>
            <a:pPr lvl="1">
              <a:buFont typeface="Wingdings" pitchFamily="2" charset="2"/>
              <a:buChar char="v"/>
            </a:pPr>
            <a:r>
              <a:rPr lang="en-US" dirty="0"/>
              <a:t>Rules: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If fund is adequate OR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n_staff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is small, then risk is low</a:t>
            </a:r>
          </a:p>
          <a:p>
            <a:pPr lvl="2">
              <a:buFont typeface="Wingdings" pitchFamily="2" charset="2"/>
              <a:buChar char="Ø"/>
            </a:pPr>
            <a:r>
              <a:rPr lang="en-US" i="1" dirty="0">
                <a:solidFill>
                  <a:srgbClr val="B807FF"/>
                </a:solidFill>
              </a:rPr>
              <a:t>If x is A3 OR y is B1, then z is C1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If fund is marginal AND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n_staff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is large, then risk is normal</a:t>
            </a:r>
          </a:p>
          <a:p>
            <a:pPr lvl="2">
              <a:buFont typeface="Wingdings" pitchFamily="2" charset="2"/>
              <a:buChar char="Ø"/>
            </a:pPr>
            <a:r>
              <a:rPr lang="en-US" i="1" dirty="0">
                <a:solidFill>
                  <a:srgbClr val="B807FF"/>
                </a:solidFill>
              </a:rPr>
              <a:t>If x is A2 AND y is B2, then z is C2</a:t>
            </a:r>
          </a:p>
          <a:p>
            <a:pPr lvl="2">
              <a:buFont typeface="Wingdings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If fund is inadequate, then risk is high</a:t>
            </a:r>
          </a:p>
          <a:p>
            <a:pPr lvl="2">
              <a:buFont typeface="Wingdings" pitchFamily="2" charset="2"/>
              <a:buChar char="Ø"/>
            </a:pPr>
            <a:r>
              <a:rPr lang="en-US" i="1" dirty="0">
                <a:solidFill>
                  <a:srgbClr val="B807FF"/>
                </a:solidFill>
              </a:rPr>
              <a:t>If x is A1, then z is C3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57199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mamdani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DD77F1-7E70-A804-4AE1-DF92B7A53DE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To make it simple, let’s assume that we already know the membership function, we want to check a custom input (x1 and y1) membership degree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1)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DD77F1-7E70-A804-4AE1-DF92B7A53D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60E98DC-D1CD-02A9-9616-71BBB8100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490" y="5202264"/>
            <a:ext cx="14505222" cy="546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7600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mamdani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Now, we want match the (assumed) information with the rules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0E23CB-A3E4-1FF9-B38F-3E83F9D8C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975" y="4143923"/>
            <a:ext cx="13190050" cy="854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0337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mamdani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Now, we can aggregate the obtained rule outputs into a single fuzzy set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B73D7-1F22-8191-3827-3666F9A9E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379" y="4445815"/>
            <a:ext cx="18574294" cy="736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1943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mamdani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Lastly, to determine the value of z we can use center of gravity method (among many others ofc)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84E050-FB30-C649-242A-CD3661835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160" y="5002354"/>
            <a:ext cx="15966184" cy="771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5678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Mamdani discussion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Mamdani controllers, the output sets are singletons (i.e. a single set), or combinations of singletons where the combinations are achieved through application of the fuzzy set operators. </a:t>
            </a:r>
          </a:p>
          <a:p>
            <a:r>
              <a:rPr lang="en-US" dirty="0"/>
              <a:t>Output sets can, however, also be linear combinations of the inputs. </a:t>
            </a:r>
          </a:p>
          <a:p>
            <a:r>
              <a:rPr lang="en-US" dirty="0"/>
              <a:t>Takagi and </a:t>
            </a:r>
            <a:r>
              <a:rPr lang="en-US" dirty="0" err="1"/>
              <a:t>Sugeno</a:t>
            </a:r>
            <a:r>
              <a:rPr lang="en-US" dirty="0"/>
              <a:t> suggested an approach to allow for such complex output sets, referred to as Takagi-</a:t>
            </a:r>
            <a:r>
              <a:rPr lang="en-US" dirty="0" err="1"/>
              <a:t>Sugeno</a:t>
            </a:r>
            <a:r>
              <a:rPr lang="en-US" dirty="0"/>
              <a:t> fuzzy controllers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02289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Takagi-</a:t>
            </a:r>
            <a:r>
              <a:rPr lang="en-US" dirty="0" err="1"/>
              <a:t>sugeno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say we want to determine the health of a person based on the height and the weight</a:t>
            </a:r>
          </a:p>
          <a:p>
            <a:r>
              <a:rPr lang="en-US" dirty="0"/>
              <a:t>Input: Height and Weight</a:t>
            </a:r>
          </a:p>
          <a:p>
            <a:r>
              <a:rPr lang="en-US" dirty="0"/>
              <a:t>Output : Health level (and its degree)</a:t>
            </a:r>
          </a:p>
          <a:p>
            <a:pPr lvl="1"/>
            <a:r>
              <a:rPr lang="en-US" dirty="0"/>
              <a:t>Very healthy (0.8)</a:t>
            </a:r>
          </a:p>
          <a:p>
            <a:pPr lvl="1"/>
            <a:r>
              <a:rPr lang="en-US" dirty="0"/>
              <a:t>Healthy (0.6)</a:t>
            </a:r>
          </a:p>
          <a:p>
            <a:pPr lvl="1"/>
            <a:r>
              <a:rPr lang="en-US" dirty="0"/>
              <a:t>Somewhat healthy (0.4)</a:t>
            </a:r>
          </a:p>
          <a:p>
            <a:pPr lvl="1"/>
            <a:r>
              <a:rPr lang="en-US" dirty="0"/>
              <a:t>Not healthy (0.2)</a:t>
            </a:r>
          </a:p>
        </p:txBody>
      </p:sp>
    </p:spTree>
    <p:extLst>
      <p:ext uri="{BB962C8B-B14F-4D97-AF65-F5344CB8AC3E}">
        <p14:creationId xmlns:p14="http://schemas.microsoft.com/office/powerpoint/2010/main" val="28504348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Takagi-</a:t>
            </a:r>
            <a:r>
              <a:rPr lang="en-US" dirty="0" err="1"/>
              <a:t>sugeno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us determine the membership function for height and weight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79B672-0F65-CD93-EDCF-ACEFDC7C4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490" y="4272276"/>
            <a:ext cx="9489363" cy="4013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6048F2-022D-EAE0-FFB5-9C9F61AB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490" y="8762371"/>
            <a:ext cx="9945456" cy="40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7255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Takagi-</a:t>
            </a:r>
            <a:r>
              <a:rPr lang="en-US" dirty="0" err="1"/>
              <a:t>sugeno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Then we would set the rules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F219E3-C15A-107C-5FF7-00E9F4641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562831"/>
              </p:ext>
            </p:extLst>
          </p:nvPr>
        </p:nvGraphicFramePr>
        <p:xfrm>
          <a:off x="2979902" y="4682836"/>
          <a:ext cx="17164607" cy="7426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415">
                  <a:extLst>
                    <a:ext uri="{9D8B030D-6E8A-4147-A177-3AD203B41FA5}">
                      <a16:colId xmlns:a16="http://schemas.microsoft.com/office/drawing/2014/main" val="1783175369"/>
                    </a:ext>
                  </a:extLst>
                </a:gridCol>
                <a:gridCol w="3109795">
                  <a:extLst>
                    <a:ext uri="{9D8B030D-6E8A-4147-A177-3AD203B41FA5}">
                      <a16:colId xmlns:a16="http://schemas.microsoft.com/office/drawing/2014/main" val="3735692077"/>
                    </a:ext>
                  </a:extLst>
                </a:gridCol>
                <a:gridCol w="2635609">
                  <a:extLst>
                    <a:ext uri="{9D8B030D-6E8A-4147-A177-3AD203B41FA5}">
                      <a16:colId xmlns:a16="http://schemas.microsoft.com/office/drawing/2014/main" val="115592373"/>
                    </a:ext>
                  </a:extLst>
                </a:gridCol>
                <a:gridCol w="1964275">
                  <a:extLst>
                    <a:ext uri="{9D8B030D-6E8A-4147-A177-3AD203B41FA5}">
                      <a16:colId xmlns:a16="http://schemas.microsoft.com/office/drawing/2014/main" val="2593586580"/>
                    </a:ext>
                  </a:extLst>
                </a:gridCol>
                <a:gridCol w="2735063">
                  <a:extLst>
                    <a:ext uri="{9D8B030D-6E8A-4147-A177-3AD203B41FA5}">
                      <a16:colId xmlns:a16="http://schemas.microsoft.com/office/drawing/2014/main" val="2310678684"/>
                    </a:ext>
                  </a:extLst>
                </a:gridCol>
                <a:gridCol w="2312374">
                  <a:extLst>
                    <a:ext uri="{9D8B030D-6E8A-4147-A177-3AD203B41FA5}">
                      <a16:colId xmlns:a16="http://schemas.microsoft.com/office/drawing/2014/main" val="3198278801"/>
                    </a:ext>
                  </a:extLst>
                </a:gridCol>
                <a:gridCol w="3282076">
                  <a:extLst>
                    <a:ext uri="{9D8B030D-6E8A-4147-A177-3AD203B41FA5}">
                      <a16:colId xmlns:a16="http://schemas.microsoft.com/office/drawing/2014/main" val="3922712595"/>
                    </a:ext>
                  </a:extLst>
                </a:gridCol>
              </a:tblGrid>
              <a:tr h="878607">
                <a:tc>
                  <a:txBody>
                    <a:bodyPr/>
                    <a:lstStyle/>
                    <a:p>
                      <a:endParaRPr lang="en-US" sz="40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Weight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442350"/>
                  </a:ext>
                </a:extLst>
              </a:tr>
              <a:tr h="1516500">
                <a:tc rowSpan="6"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Height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V. 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V. Heavy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283729"/>
                  </a:ext>
                </a:extLst>
              </a:tr>
              <a:tr h="87860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V.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VH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784551"/>
                  </a:ext>
                </a:extLst>
              </a:tr>
              <a:tr h="87860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VH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65179"/>
                  </a:ext>
                </a:extLst>
              </a:tr>
              <a:tr h="15165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VH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VH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751922"/>
                  </a:ext>
                </a:extLst>
              </a:tr>
              <a:tr h="87860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4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NH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VH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706395"/>
                  </a:ext>
                </a:extLst>
              </a:tr>
              <a:tr h="878607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V. 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NH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VH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892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63468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Takagi-</a:t>
            </a:r>
            <a:r>
              <a:rPr lang="en-US" dirty="0" err="1"/>
              <a:t>sugeno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Determine the membership value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F07BE-C44A-C8D8-5412-D2CBB5DE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412" y="4101598"/>
            <a:ext cx="12743680" cy="54285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E291B-C1FE-30C0-46DA-E080ECCC1235}"/>
                  </a:ext>
                </a:extLst>
              </p:cNvPr>
              <p:cNvSpPr txBox="1"/>
              <p:nvPr/>
            </p:nvSpPr>
            <p:spPr>
              <a:xfrm>
                <a:off x="6984776" y="9911001"/>
                <a:ext cx="8696483" cy="1281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𝑚𝑒𝑑𝑖𝑢𝑚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161.5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FE57F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(165−161.5)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(165−160)</m:t>
                          </m:r>
                        </m:den>
                      </m:f>
                      <m:r>
                        <a:rPr lang="en-US" sz="4000" b="0" i="1" smtClean="0">
                          <a:solidFill>
                            <a:srgbClr val="FE57FD"/>
                          </a:solidFill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en-US" sz="4000" dirty="0">
                  <a:solidFill>
                    <a:srgbClr val="FE57FD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0E291B-C1FE-30C0-46DA-E080ECCC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776" y="9911001"/>
                <a:ext cx="8696483" cy="1281698"/>
              </a:xfrm>
              <a:prstGeom prst="rect">
                <a:avLst/>
              </a:prstGeom>
              <a:blipFill>
                <a:blip r:embed="rId3"/>
                <a:stretch>
                  <a:fillRect l="-1606"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92132A-34A6-826B-ABF4-745D24EF97F2}"/>
                  </a:ext>
                </a:extLst>
              </p:cNvPr>
              <p:cNvSpPr txBox="1"/>
              <p:nvPr/>
            </p:nvSpPr>
            <p:spPr>
              <a:xfrm>
                <a:off x="7408771" y="11573526"/>
                <a:ext cx="7848495" cy="1281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𝑡𝑎𝑙𝑙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161.5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0014F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(161.5−160)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(165−160)</m:t>
                          </m:r>
                        </m:den>
                      </m:f>
                      <m:r>
                        <a:rPr lang="en-US" sz="4000" b="0" i="1" smtClean="0">
                          <a:solidFill>
                            <a:srgbClr val="0014FC"/>
                          </a:solidFill>
                          <a:latin typeface="Cambria Math" panose="02040503050406030204" pitchFamily="18" charset="0"/>
                        </a:rPr>
                        <m:t>=0.3</m:t>
                      </m:r>
                    </m:oMath>
                  </m:oMathPara>
                </a14:m>
                <a:endParaRPr lang="en-US" sz="4000" dirty="0">
                  <a:solidFill>
                    <a:srgbClr val="0014FC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B92132A-34A6-826B-ABF4-745D24EF9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771" y="11573526"/>
                <a:ext cx="7848495" cy="1281698"/>
              </a:xfrm>
              <a:prstGeom prst="rect">
                <a:avLst/>
              </a:prstGeom>
              <a:blipFill>
                <a:blip r:embed="rId4"/>
                <a:stretch>
                  <a:fillRect l="-1777" t="-392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58681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Takagi-</a:t>
            </a:r>
            <a:r>
              <a:rPr lang="en-US" dirty="0" err="1"/>
              <a:t>sugeno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Determine the membership value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D98BD-6B9E-A4B7-2428-61348F47AF65}"/>
                  </a:ext>
                </a:extLst>
              </p:cNvPr>
              <p:cNvSpPr txBox="1"/>
              <p:nvPr/>
            </p:nvSpPr>
            <p:spPr>
              <a:xfrm>
                <a:off x="8866274" y="9350648"/>
                <a:ext cx="6651452" cy="12816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41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FE57F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(45−41)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(45−40)</m:t>
                          </m:r>
                        </m:den>
                      </m:f>
                      <m:r>
                        <a:rPr lang="en-US" sz="4000" b="0" i="1" smtClean="0">
                          <a:solidFill>
                            <a:srgbClr val="FE57FD"/>
                          </a:solidFill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sz="4000" dirty="0">
                  <a:solidFill>
                    <a:srgbClr val="FE57FD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D98BD-6B9E-A4B7-2428-61348F47A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274" y="9350648"/>
                <a:ext cx="6651452" cy="1281698"/>
              </a:xfrm>
              <a:prstGeom prst="rect">
                <a:avLst/>
              </a:prstGeom>
              <a:blipFill>
                <a:blip r:embed="rId2"/>
                <a:stretch>
                  <a:fillRect l="-2852" t="-3922" r="-76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3ADFF-F6CB-CF82-7960-07EA79C9E7AB}"/>
                  </a:ext>
                </a:extLst>
              </p:cNvPr>
              <p:cNvSpPr txBox="1"/>
              <p:nvPr/>
            </p:nvSpPr>
            <p:spPr>
              <a:xfrm>
                <a:off x="9012960" y="11240482"/>
                <a:ext cx="6358080" cy="12816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𝑙𝑖𝑔h𝑡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41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0014F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(41−40)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(45−40)</m:t>
                          </m:r>
                        </m:den>
                      </m:f>
                      <m:r>
                        <a:rPr lang="en-US" sz="4000" b="0" i="1" smtClean="0">
                          <a:solidFill>
                            <a:srgbClr val="0014FC"/>
                          </a:solidFill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sz="4000" dirty="0">
                  <a:solidFill>
                    <a:srgbClr val="0014FC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83ADFF-F6CB-CF82-7960-07EA79C9E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960" y="11240482"/>
                <a:ext cx="6358080" cy="1281698"/>
              </a:xfrm>
              <a:prstGeom prst="rect">
                <a:avLst/>
              </a:prstGeom>
              <a:blipFill>
                <a:blip r:embed="rId3"/>
                <a:stretch>
                  <a:fillRect l="-2988" t="-3960" r="-996" b="-17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1FCC133-3C57-382A-F911-1CA4010E1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281" y="4338924"/>
            <a:ext cx="12359437" cy="497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7515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Takagi-</a:t>
            </a:r>
            <a:r>
              <a:rPr lang="en-US" dirty="0" err="1"/>
              <a:t>sugeno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 to the rules first. Pick the lowest score (because the relation is AND)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2719E9-C565-C612-1E26-A75F42DEC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677" y="4101598"/>
            <a:ext cx="18091150" cy="822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4168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Takagi-</a:t>
            </a:r>
            <a:r>
              <a:rPr lang="en-US" dirty="0" err="1"/>
              <a:t>sugeno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DD77F1-7E70-A804-4AE1-DF92B7A53DE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We know that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={0.3, 0.7, 0.2, 0.2}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Final decision can be made using two methods</a:t>
                </a:r>
              </a:p>
              <a:p>
                <a:pPr lvl="1"/>
                <a:r>
                  <a:rPr lang="en-US" dirty="0"/>
                  <a:t>Max method: Just pick the highest value</a:t>
                </a:r>
              </a:p>
              <a:p>
                <a:pPr lvl="2"/>
                <a:r>
                  <a:rPr lang="en-US" dirty="0"/>
                  <a:t>0.7 -&gt; SH</a:t>
                </a:r>
              </a:p>
              <a:p>
                <a:pPr lvl="1"/>
                <a:r>
                  <a:rPr lang="en-US" dirty="0"/>
                  <a:t>Weighted average method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𝐷𝑒𝑐𝑖𝑠𝑖𝑜𝑛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𝑖𝑛𝑑𝑒𝑥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0.3∗0.2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0.7∗0.4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0.2∗0.6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+(0.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∗0.8)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(0.3+0.7+0.2+0.2)</m:t>
                        </m:r>
                      </m:den>
                    </m:f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get 0.4429 -&gt; close to SH (which is 0.4)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DD77F1-7E70-A804-4AE1-DF92B7A53D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216" t="-1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703462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Tsukamoto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36137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en-US" dirty="0"/>
              <a:t>Case:</a:t>
            </a:r>
          </a:p>
          <a:p>
            <a:pPr lvl="1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A factory has the following records:</a:t>
            </a:r>
          </a:p>
          <a:p>
            <a:pPr lvl="2">
              <a:spcBef>
                <a:spcPts val="0"/>
              </a:spcBef>
            </a:pPr>
            <a:r>
              <a:rPr lang="en-US" dirty="0"/>
              <a:t>Max recorded demand 5k items a day and min 1k items a day</a:t>
            </a:r>
          </a:p>
          <a:p>
            <a:pPr lvl="2">
              <a:spcBef>
                <a:spcPts val="0"/>
              </a:spcBef>
            </a:pPr>
            <a:r>
              <a:rPr lang="en-US" dirty="0"/>
              <a:t>Stock items has a record max of 600 items and min 100 items</a:t>
            </a:r>
          </a:p>
          <a:p>
            <a:pPr lvl="2">
              <a:spcBef>
                <a:spcPts val="0"/>
              </a:spcBef>
            </a:pPr>
            <a:r>
              <a:rPr lang="en-US" dirty="0"/>
              <a:t>Max producing capability is 7k items a day and min 2k items a day</a:t>
            </a:r>
          </a:p>
          <a:p>
            <a:pPr lvl="1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Fuzzy rule:</a:t>
            </a:r>
          </a:p>
          <a:p>
            <a:pPr lvl="2">
              <a:spcBef>
                <a:spcPts val="0"/>
              </a:spcBef>
            </a:pPr>
            <a:r>
              <a:rPr lang="en-US" dirty="0"/>
              <a:t>If demand is high and stock is high, then increase production</a:t>
            </a:r>
          </a:p>
          <a:p>
            <a:pPr lvl="2">
              <a:spcBef>
                <a:spcPts val="0"/>
              </a:spcBef>
            </a:pPr>
            <a:r>
              <a:rPr lang="en-US" dirty="0"/>
              <a:t>If demand is low and stock is low, then decrease production</a:t>
            </a:r>
          </a:p>
          <a:p>
            <a:pPr lvl="2">
              <a:spcBef>
                <a:spcPts val="0"/>
              </a:spcBef>
            </a:pPr>
            <a:r>
              <a:rPr lang="en-US" dirty="0"/>
              <a:t>If demand is low and stock is high, then decrease production</a:t>
            </a:r>
          </a:p>
          <a:p>
            <a:pPr lvl="2">
              <a:spcBef>
                <a:spcPts val="0"/>
              </a:spcBef>
            </a:pPr>
            <a:r>
              <a:rPr lang="en-US" dirty="0"/>
              <a:t>If demand is high and stock is low, then increase production</a:t>
            </a:r>
          </a:p>
          <a:p>
            <a:pPr lvl="1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dirty="0"/>
              <a:t>Question:</a:t>
            </a:r>
          </a:p>
          <a:p>
            <a:pPr lvl="2">
              <a:spcBef>
                <a:spcPts val="0"/>
              </a:spcBef>
            </a:pPr>
            <a:r>
              <a:rPr lang="en-US" dirty="0"/>
              <a:t>How many items should be produced given the demand is 4k and there are 300 items in stock?</a:t>
            </a:r>
          </a:p>
        </p:txBody>
      </p:sp>
    </p:spTree>
    <p:extLst>
      <p:ext uri="{BB962C8B-B14F-4D97-AF65-F5344CB8AC3E}">
        <p14:creationId xmlns:p14="http://schemas.microsoft.com/office/powerpoint/2010/main" val="305210229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Tsukamoto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36137"/>
          </a:xfrm>
        </p:spPr>
        <p:txBody>
          <a:bodyPr>
            <a:normAutofit/>
          </a:bodyPr>
          <a:lstStyle/>
          <a:p>
            <a:r>
              <a:rPr lang="en-US" dirty="0"/>
              <a:t>Make the membership function for both demand and stock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59A86-CD83-3241-ACDF-87C8DF37F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17" y="4303712"/>
            <a:ext cx="8382166" cy="58015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B82C32-2B3C-A336-2CFD-AE3DF87C83BC}"/>
                  </a:ext>
                </a:extLst>
              </p:cNvPr>
              <p:cNvSpPr txBox="1"/>
              <p:nvPr/>
            </p:nvSpPr>
            <p:spPr>
              <a:xfrm>
                <a:off x="8093088" y="10342734"/>
                <a:ext cx="8197822" cy="1281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4000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FE57F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(5000−4000)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(5000−1000)</m:t>
                          </m:r>
                        </m:den>
                      </m:f>
                      <m:r>
                        <a:rPr lang="en-US" sz="4000" b="0" i="1" smtClean="0">
                          <a:solidFill>
                            <a:srgbClr val="FE57FD"/>
                          </a:solidFill>
                          <a:latin typeface="Cambria Math" panose="02040503050406030204" pitchFamily="18" charset="0"/>
                        </a:rPr>
                        <m:t>=0.25</m:t>
                      </m:r>
                    </m:oMath>
                  </m:oMathPara>
                </a14:m>
                <a:endParaRPr lang="en-US" sz="4000" dirty="0">
                  <a:solidFill>
                    <a:srgbClr val="FE57FD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B82C32-2B3C-A336-2CFD-AE3DF87C8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088" y="10342734"/>
                <a:ext cx="8197822" cy="1281698"/>
              </a:xfrm>
              <a:prstGeom prst="rect">
                <a:avLst/>
              </a:prstGeom>
              <a:blipFill>
                <a:blip r:embed="rId3"/>
                <a:stretch>
                  <a:fillRect l="-1703" t="-3922" r="-155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D0F3CF-C959-DCE4-EB83-85C2EA473AFD}"/>
                  </a:ext>
                </a:extLst>
              </p:cNvPr>
              <p:cNvSpPr txBox="1"/>
              <p:nvPr/>
            </p:nvSpPr>
            <p:spPr>
              <a:xfrm>
                <a:off x="8000917" y="11861907"/>
                <a:ext cx="8382166" cy="1281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4000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0014F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(4000−1000)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(5000−1000)</m:t>
                          </m:r>
                        </m:den>
                      </m:f>
                      <m:r>
                        <a:rPr lang="en-US" sz="4000" b="0" i="1" smtClean="0">
                          <a:solidFill>
                            <a:srgbClr val="0014FC"/>
                          </a:solidFill>
                          <a:latin typeface="Cambria Math" panose="02040503050406030204" pitchFamily="18" charset="0"/>
                        </a:rPr>
                        <m:t>=0.75</m:t>
                      </m:r>
                    </m:oMath>
                  </m:oMathPara>
                </a14:m>
                <a:endParaRPr lang="en-US" sz="4000" dirty="0">
                  <a:solidFill>
                    <a:srgbClr val="0014FC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D0F3CF-C959-DCE4-EB83-85C2EA473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917" y="11861907"/>
                <a:ext cx="8382166" cy="1281698"/>
              </a:xfrm>
              <a:prstGeom prst="rect">
                <a:avLst/>
              </a:prstGeom>
              <a:blipFill>
                <a:blip r:embed="rId4"/>
                <a:stretch>
                  <a:fillRect l="-1511" t="-3960" b="-17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828004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Tsukamoto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36137"/>
          </a:xfrm>
        </p:spPr>
        <p:txBody>
          <a:bodyPr>
            <a:normAutofit/>
          </a:bodyPr>
          <a:lstStyle/>
          <a:p>
            <a:r>
              <a:rPr lang="en-US" dirty="0"/>
              <a:t>Make the membership function for both demand and stock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6AB0B0-4291-AA41-C708-9F38A8487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541" y="4380224"/>
            <a:ext cx="7950917" cy="5523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9D4404-1942-16EC-F830-11F7F63873FD}"/>
                  </a:ext>
                </a:extLst>
              </p:cNvPr>
              <p:cNvSpPr txBox="1"/>
              <p:nvPr/>
            </p:nvSpPr>
            <p:spPr>
              <a:xfrm>
                <a:off x="8660552" y="10382360"/>
                <a:ext cx="7062896" cy="1281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300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FE57F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(600−300)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rgbClr val="FE57FD"/>
                              </a:solidFill>
                              <a:latin typeface="Cambria Math" panose="02040503050406030204" pitchFamily="18" charset="0"/>
                            </a:rPr>
                            <m:t>(600−100)</m:t>
                          </m:r>
                        </m:den>
                      </m:f>
                      <m:r>
                        <a:rPr lang="en-US" sz="4000" b="0" i="1" smtClean="0">
                          <a:solidFill>
                            <a:srgbClr val="FE57FD"/>
                          </a:solidFill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sz="4000" dirty="0">
                  <a:solidFill>
                    <a:srgbClr val="FE57FD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9D4404-1942-16EC-F830-11F7F6387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552" y="10382360"/>
                <a:ext cx="7062896" cy="1281698"/>
              </a:xfrm>
              <a:prstGeom prst="rect">
                <a:avLst/>
              </a:prstGeom>
              <a:blipFill>
                <a:blip r:embed="rId3"/>
                <a:stretch>
                  <a:fillRect l="-1978" t="-3922" r="-180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F0497B-770B-53DC-3113-56EA125F5D6E}"/>
                  </a:ext>
                </a:extLst>
              </p:cNvPr>
              <p:cNvSpPr txBox="1"/>
              <p:nvPr/>
            </p:nvSpPr>
            <p:spPr>
              <a:xfrm>
                <a:off x="8568380" y="11932966"/>
                <a:ext cx="7247240" cy="1281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300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rgbClr val="0014F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(300−100)</m:t>
                          </m:r>
                        </m:num>
                        <m:den>
                          <m:r>
                            <a:rPr lang="en-US" sz="4000" b="0" i="1" smtClean="0">
                              <a:solidFill>
                                <a:srgbClr val="0014FC"/>
                              </a:solidFill>
                              <a:latin typeface="Cambria Math" panose="02040503050406030204" pitchFamily="18" charset="0"/>
                            </a:rPr>
                            <m:t>(600−100)</m:t>
                          </m:r>
                        </m:den>
                      </m:f>
                      <m:r>
                        <a:rPr lang="en-US" sz="4000" b="0" i="1" smtClean="0">
                          <a:solidFill>
                            <a:srgbClr val="0014FC"/>
                          </a:solidFill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US" sz="4000" dirty="0">
                  <a:solidFill>
                    <a:srgbClr val="0014FC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F0497B-770B-53DC-3113-56EA125F5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8380" y="11932966"/>
                <a:ext cx="7247240" cy="1281698"/>
              </a:xfrm>
              <a:prstGeom prst="rect">
                <a:avLst/>
              </a:prstGeom>
              <a:blipFill>
                <a:blip r:embed="rId4"/>
                <a:stretch>
                  <a:fillRect l="-1923" t="-2941" r="-17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45628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Tsukamoto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36137"/>
          </a:xfrm>
        </p:spPr>
        <p:txBody>
          <a:bodyPr>
            <a:normAutofit/>
          </a:bodyPr>
          <a:lstStyle/>
          <a:p>
            <a:r>
              <a:rPr lang="en-US" dirty="0"/>
              <a:t>Make the membership function for production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74010-50F4-52A8-BE7E-80DA7142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66" y="4101598"/>
            <a:ext cx="11703349" cy="83952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9560EA-A4B3-2FE3-0176-65C12AE9C868}"/>
                  </a:ext>
                </a:extLst>
              </p:cNvPr>
              <p:cNvSpPr txBox="1"/>
              <p:nvPr/>
            </p:nvSpPr>
            <p:spPr>
              <a:xfrm>
                <a:off x="12192000" y="4681213"/>
                <a:ext cx="12413673" cy="27747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000" b="0" i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4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⁡_</m:t>
                          </m:r>
                          <m:r>
                            <a:rPr lang="en-US" sz="4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𝑑𝑒𝑐𝑟𝑒𝑎𝑠𝑒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40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00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≤2000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400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7000−</m:t>
                                    </m:r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7000−2000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2000&lt;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&lt;7000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≥7000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9560EA-A4B3-2FE3-0176-65C12AE9C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4681213"/>
                <a:ext cx="12413673" cy="27747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8AB931-AA8B-B29C-AC5F-F820BAC35321}"/>
                  </a:ext>
                </a:extLst>
              </p:cNvPr>
              <p:cNvSpPr txBox="1"/>
              <p:nvPr/>
            </p:nvSpPr>
            <p:spPr>
              <a:xfrm>
                <a:off x="11637818" y="8935718"/>
                <a:ext cx="13882255" cy="27747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000" b="0" i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4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⁡_</m:t>
                          </m:r>
                          <m:r>
                            <a:rPr lang="en-US" sz="4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𝑖𝑛𝑐𝑟𝑒𝑎𝑠𝑒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4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400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00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≤2000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400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−2000</m:t>
                                    </m:r>
                                  </m:num>
                                  <m:den>
                                    <m:r>
                                      <a:rPr lang="en-US" sz="4000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7000−2000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2000&lt;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&lt;7000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≥7000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8AB931-AA8B-B29C-AC5F-F820BAC35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7818" y="8935718"/>
                <a:ext cx="13882255" cy="2774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847078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Tsukamoto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D77F1-7E70-A804-4AE1-DF92B7A53D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36137"/>
          </a:xfrm>
        </p:spPr>
        <p:txBody>
          <a:bodyPr>
            <a:normAutofit/>
          </a:bodyPr>
          <a:lstStyle/>
          <a:p>
            <a:r>
              <a:rPr lang="en-US" dirty="0"/>
              <a:t>Now let’s make the truth table that show the relation between stock, demand, and production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we can set the membership degree values</a:t>
            </a:r>
          </a:p>
          <a:p>
            <a:r>
              <a:rPr lang="en-US" dirty="0"/>
              <a:t>Since the logic is set to “IF x </a:t>
            </a:r>
            <a:r>
              <a:rPr lang="en-US" b="1" dirty="0"/>
              <a:t>AND</a:t>
            </a:r>
            <a:r>
              <a:rPr lang="en-US" dirty="0"/>
              <a:t> y THEN z”, pick the minimum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5EC1B4-F8A0-4FCD-5B1A-8C3781FCA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353" y="4776930"/>
            <a:ext cx="8701904" cy="34972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5678FC0-DD96-6A4B-7BCF-0EE2E3DDA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042" y="10501984"/>
            <a:ext cx="8701904" cy="315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948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Tsukamoto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DD77F1-7E70-A804-4AE1-DF92B7A53DE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361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know that: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Now we want to find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that fulfills the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in the production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DD77F1-7E70-A804-4AE1-DF92B7A53D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36137"/>
              </a:xfrm>
              <a:blipFill>
                <a:blip r:embed="rId2"/>
                <a:stretch>
                  <a:fillRect l="-1329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584A81E-40D2-4BD0-31EB-8D6C156EB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732" y="3630543"/>
            <a:ext cx="13457039" cy="38756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4AB284-C5B0-8FD2-1CD0-CC6E3DD3B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875" y="8991053"/>
            <a:ext cx="11052250" cy="401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8504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8282-4102-050A-A33B-316D5D31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Fuzzy inference system</a:t>
            </a:r>
            <a:br>
              <a:rPr lang="en-ID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A240E-B25C-16FA-062C-8867D6DFD5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Tsukamoto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DD77F1-7E70-A804-4AE1-DF92B7A53DE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3613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Finally, we can find the final number of the items that should be produced by: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.4∗4000 + .6∗5000 + .25∗5750 + .25∗5750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.4+.25+.25+.6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≈4983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7DD77F1-7E70-A804-4AE1-DF92B7A53D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3188" y="3260663"/>
                <a:ext cx="20057623" cy="9236137"/>
              </a:xfrm>
              <a:blipFill>
                <a:blip r:embed="rId2"/>
                <a:stretch>
                  <a:fillRect l="-1329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BD18A5F-8764-5A5C-9E13-C9239483E5AE}"/>
              </a:ext>
            </a:extLst>
          </p:cNvPr>
          <p:cNvSpPr txBox="1"/>
          <p:nvPr/>
        </p:nvSpPr>
        <p:spPr>
          <a:xfrm>
            <a:off x="19151072" y="650729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29DA93-B5F6-02FF-BBD1-CA03FD846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897" y="5601337"/>
            <a:ext cx="15903139" cy="145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6280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A025-CC9A-D1DF-E9E4-EA69902C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A1C33-CF96-4A61-15C5-531151FDFF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539D1-2361-1CBB-9434-A7622F0F84C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500"/>
              </a:spcBef>
            </a:pPr>
            <a:r>
              <a:rPr lang="en-US" sz="4400" dirty="0">
                <a:latin typeface="+mj-lt"/>
              </a:rPr>
              <a:t>Assume you will develop a fuzzy system on a coffee maker. Where the input will consist of the amount of water and the amount of coffee used, while the output is the level of coffee consistency. If known:</a:t>
            </a:r>
          </a:p>
          <a:p>
            <a:pPr lvl="1">
              <a:spcBef>
                <a:spcPts val="5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+mj-lt"/>
              </a:rPr>
              <a:t>The amount of water is divided into 3 classes namely: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Little, with </a:t>
            </a:r>
            <a:r>
              <a:rPr lang="en-US" dirty="0" err="1">
                <a:latin typeface="+mj-lt"/>
              </a:rPr>
              <a:t>alpha_min</a:t>
            </a:r>
            <a:r>
              <a:rPr lang="en-US" dirty="0">
                <a:latin typeface="+mj-lt"/>
              </a:rPr>
              <a:t> = 10ml, beta = 50ml and </a:t>
            </a:r>
            <a:r>
              <a:rPr lang="en-US" dirty="0" err="1">
                <a:latin typeface="+mj-lt"/>
              </a:rPr>
              <a:t>alpha_max</a:t>
            </a:r>
            <a:r>
              <a:rPr lang="en-US" dirty="0">
                <a:latin typeface="+mj-lt"/>
              </a:rPr>
              <a:t> = 150ml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Medium, with </a:t>
            </a:r>
            <a:r>
              <a:rPr lang="en-US" dirty="0" err="1">
                <a:latin typeface="+mj-lt"/>
              </a:rPr>
              <a:t>alpha_min</a:t>
            </a:r>
            <a:r>
              <a:rPr lang="en-US" dirty="0">
                <a:latin typeface="+mj-lt"/>
              </a:rPr>
              <a:t>=100ml, beta=275ml and </a:t>
            </a:r>
            <a:r>
              <a:rPr lang="en-US" dirty="0" err="1">
                <a:latin typeface="+mj-lt"/>
              </a:rPr>
              <a:t>alpha_max</a:t>
            </a:r>
            <a:r>
              <a:rPr lang="en-US" dirty="0">
                <a:latin typeface="+mj-lt"/>
              </a:rPr>
              <a:t>= 350ml  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Many, with </a:t>
            </a:r>
            <a:r>
              <a:rPr lang="en-US" dirty="0" err="1">
                <a:latin typeface="+mj-lt"/>
              </a:rPr>
              <a:t>alpha_min</a:t>
            </a:r>
            <a:r>
              <a:rPr lang="en-US" dirty="0">
                <a:latin typeface="+mj-lt"/>
              </a:rPr>
              <a:t>=300ml, beta=400ml and </a:t>
            </a:r>
            <a:r>
              <a:rPr lang="en-US" dirty="0" err="1">
                <a:latin typeface="+mj-lt"/>
              </a:rPr>
              <a:t>alpha_max</a:t>
            </a:r>
            <a:r>
              <a:rPr lang="en-US" dirty="0">
                <a:latin typeface="+mj-lt"/>
              </a:rPr>
              <a:t>=500ml </a:t>
            </a:r>
          </a:p>
          <a:p>
            <a:pPr lvl="1">
              <a:spcBef>
                <a:spcPts val="5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+mj-lt"/>
              </a:rPr>
              <a:t>The amount of coffee is divided into classes:-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Little, with </a:t>
            </a:r>
            <a:r>
              <a:rPr lang="en-US" dirty="0" err="1">
                <a:latin typeface="+mj-lt"/>
              </a:rPr>
              <a:t>alpha_min</a:t>
            </a:r>
            <a:r>
              <a:rPr lang="en-US" dirty="0">
                <a:latin typeface="+mj-lt"/>
              </a:rPr>
              <a:t>=10gr, beta=25gr and </a:t>
            </a:r>
            <a:r>
              <a:rPr lang="en-US" dirty="0" err="1">
                <a:latin typeface="+mj-lt"/>
              </a:rPr>
              <a:t>alpha_max</a:t>
            </a:r>
            <a:r>
              <a:rPr lang="en-US" dirty="0">
                <a:latin typeface="+mj-lt"/>
              </a:rPr>
              <a:t>=35gr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Medium, with </a:t>
            </a:r>
            <a:r>
              <a:rPr lang="en-US" dirty="0" err="1">
                <a:latin typeface="+mj-lt"/>
              </a:rPr>
              <a:t>alpha_min</a:t>
            </a:r>
            <a:r>
              <a:rPr lang="en-US" dirty="0">
                <a:latin typeface="+mj-lt"/>
              </a:rPr>
              <a:t>=30gr, beta=45gr and </a:t>
            </a:r>
            <a:r>
              <a:rPr lang="en-US" dirty="0" err="1">
                <a:latin typeface="+mj-lt"/>
              </a:rPr>
              <a:t>alpha_max</a:t>
            </a:r>
            <a:r>
              <a:rPr lang="en-US" dirty="0">
                <a:latin typeface="+mj-lt"/>
              </a:rPr>
              <a:t>=55gr  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Large, with </a:t>
            </a:r>
            <a:r>
              <a:rPr lang="en-US" dirty="0" err="1">
                <a:latin typeface="+mj-lt"/>
              </a:rPr>
              <a:t>alpha_min</a:t>
            </a:r>
            <a:r>
              <a:rPr lang="en-US" dirty="0">
                <a:latin typeface="+mj-lt"/>
              </a:rPr>
              <a:t>=50gr, beta=65gr and </a:t>
            </a:r>
            <a:r>
              <a:rPr lang="en-US" dirty="0" err="1">
                <a:latin typeface="+mj-lt"/>
              </a:rPr>
              <a:t>alpha_max</a:t>
            </a:r>
            <a:r>
              <a:rPr lang="en-US" dirty="0">
                <a:latin typeface="+mj-lt"/>
              </a:rPr>
              <a:t>=75gr</a:t>
            </a:r>
          </a:p>
        </p:txBody>
      </p:sp>
    </p:spTree>
    <p:extLst>
      <p:ext uri="{BB962C8B-B14F-4D97-AF65-F5344CB8AC3E}">
        <p14:creationId xmlns:p14="http://schemas.microsoft.com/office/powerpoint/2010/main" val="199733265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A025-CC9A-D1DF-E9E4-EA69902C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A1C33-CF96-4A61-15C5-531151FDFF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539D1-2361-1CBB-9434-A7622F0F84C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790319"/>
          </a:xfrm>
        </p:spPr>
        <p:txBody>
          <a:bodyPr>
            <a:normAutofit lnSpcReduction="10000"/>
          </a:bodyPr>
          <a:lstStyle/>
          <a:p>
            <a:pPr lvl="1">
              <a:spcBef>
                <a:spcPts val="5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+mj-lt"/>
              </a:rPr>
              <a:t>Coffee viscosity levels are divided into 2 classes: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thin, with </a:t>
            </a:r>
            <a:r>
              <a:rPr lang="en-US" dirty="0" err="1">
                <a:latin typeface="+mj-lt"/>
              </a:rPr>
              <a:t>alpha_min</a:t>
            </a:r>
            <a:r>
              <a:rPr lang="en-US" dirty="0">
                <a:latin typeface="+mj-lt"/>
              </a:rPr>
              <a:t>=0, beta=3 and </a:t>
            </a:r>
            <a:r>
              <a:rPr lang="en-US" dirty="0" err="1">
                <a:latin typeface="+mj-lt"/>
              </a:rPr>
              <a:t>alpha_max</a:t>
            </a:r>
            <a:r>
              <a:rPr lang="en-US" dirty="0">
                <a:latin typeface="+mj-lt"/>
              </a:rPr>
              <a:t>=5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thick, with </a:t>
            </a:r>
            <a:r>
              <a:rPr lang="en-US" dirty="0" err="1">
                <a:latin typeface="+mj-lt"/>
              </a:rPr>
              <a:t>alpha_min</a:t>
            </a:r>
            <a:r>
              <a:rPr lang="en-US" dirty="0">
                <a:latin typeface="+mj-lt"/>
              </a:rPr>
              <a:t>=4, beta=7 and </a:t>
            </a:r>
            <a:r>
              <a:rPr lang="en-US" dirty="0" err="1">
                <a:latin typeface="+mj-lt"/>
              </a:rPr>
              <a:t>alpha_max</a:t>
            </a:r>
            <a:r>
              <a:rPr lang="en-US" dirty="0">
                <a:latin typeface="+mj-lt"/>
              </a:rPr>
              <a:t>=101. </a:t>
            </a:r>
          </a:p>
          <a:p>
            <a:pPr lvl="1">
              <a:spcBef>
                <a:spcPts val="5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+mj-lt"/>
              </a:rPr>
              <a:t>Draw the membership function of each variable on input and output. </a:t>
            </a:r>
          </a:p>
          <a:p>
            <a:pPr lvl="1">
              <a:spcBef>
                <a:spcPts val="50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+mj-lt"/>
              </a:rPr>
              <a:t>Given the following rule: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R1: If the amount of water is small and the coffee is medium then the coffee is thick.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R2: If the amount of water is small and coffee is large then the coffee is thick.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R3: If the amount of water is medium and the coffee is little then the coffee is thin</a:t>
            </a:r>
          </a:p>
          <a:p>
            <a:pPr lvl="2">
              <a:spcBef>
                <a:spcPts val="500"/>
              </a:spcBef>
            </a:pPr>
            <a:r>
              <a:rPr lang="en-US" dirty="0">
                <a:latin typeface="+mj-lt"/>
              </a:rPr>
              <a:t>R4: If the amount of water is medium and the coffee is medium then the coffee is thin</a:t>
            </a:r>
          </a:p>
          <a:p>
            <a:pPr>
              <a:spcBef>
                <a:spcPts val="500"/>
              </a:spcBef>
            </a:pPr>
            <a:r>
              <a:rPr lang="en-US" sz="4400" dirty="0">
                <a:latin typeface="+mj-lt"/>
              </a:rPr>
              <a:t>If given the amount of water = 115ml and the amount of coffee = 32 gr, then determine the output of coffee viscosity using </a:t>
            </a:r>
            <a:r>
              <a:rPr lang="en-US" sz="4400" b="1" dirty="0">
                <a:latin typeface="+mj-lt"/>
              </a:rPr>
              <a:t>Tsukamoto</a:t>
            </a:r>
            <a:r>
              <a:rPr lang="en-US" sz="4400" dirty="0">
                <a:latin typeface="+mj-lt"/>
              </a:rPr>
              <a:t> Method!</a:t>
            </a:r>
          </a:p>
          <a:p>
            <a:pPr lvl="1">
              <a:spcBef>
                <a:spcPts val="500"/>
              </a:spcBef>
              <a:buFont typeface="Courier New" panose="02070309020205020404" pitchFamily="49" charset="0"/>
              <a:buChar char="o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468450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8026-943D-306B-4A01-F1FA3871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31D7-3886-A869-06DF-2E2B5AD0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7C0C2-3697-F073-54F3-FEE4D2C0F6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66CB0-3983-7505-756C-D8B623CBE0F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790319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</a:pPr>
            <a:r>
              <a:rPr lang="en-US" dirty="0">
                <a:latin typeface="+mj-lt"/>
              </a:rPr>
              <a:t>What are </a:t>
            </a:r>
            <a:r>
              <a:rPr lang="en-US" b="1" dirty="0">
                <a:latin typeface="+mj-lt"/>
              </a:rPr>
              <a:t>the other information needed to add </a:t>
            </a:r>
            <a:r>
              <a:rPr lang="en-US" dirty="0">
                <a:latin typeface="+mj-lt"/>
              </a:rPr>
              <a:t>to the problem if we want to use </a:t>
            </a:r>
            <a:r>
              <a:rPr lang="en-US" b="1" dirty="0">
                <a:latin typeface="+mj-lt"/>
              </a:rPr>
              <a:t>Mamdani</a:t>
            </a:r>
            <a:r>
              <a:rPr lang="en-US" dirty="0">
                <a:latin typeface="+mj-lt"/>
              </a:rPr>
              <a:t> and </a:t>
            </a:r>
            <a:r>
              <a:rPr lang="en-US" b="1" dirty="0">
                <a:latin typeface="+mj-lt"/>
              </a:rPr>
              <a:t>Takagi-</a:t>
            </a:r>
            <a:r>
              <a:rPr lang="en-US" b="1" dirty="0" err="1">
                <a:latin typeface="+mj-lt"/>
              </a:rPr>
              <a:t>Sugeno</a:t>
            </a:r>
            <a:r>
              <a:rPr lang="en-US" dirty="0">
                <a:latin typeface="+mj-lt"/>
              </a:rPr>
              <a:t> methods? Explain!</a:t>
            </a: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293496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Engelbrecht, A. P. (2023). Computational intelligence: an introduction 3</a:t>
            </a:r>
            <a:r>
              <a:rPr lang="en-US" sz="4000" baseline="30000" dirty="0">
                <a:latin typeface="+mj-lt"/>
              </a:rPr>
              <a:t>rd</a:t>
            </a:r>
            <a:r>
              <a:rPr lang="en-US" sz="4000" dirty="0">
                <a:latin typeface="+mj-lt"/>
              </a:rPr>
              <a:t> edition. Wiley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Lee, K. H. (2004). First course on Fuzzy Theory and Applications. Springer Science &amp; Business Media.</a:t>
            </a:r>
          </a:p>
          <a:p>
            <a:pPr>
              <a:spcBef>
                <a:spcPts val="6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4461</TotalTime>
  <Words>1351</Words>
  <Application>Microsoft Office PowerPoint</Application>
  <PresentationFormat>Custom</PresentationFormat>
  <Paragraphs>215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Cambria Math</vt:lpstr>
      <vt:lpstr>Open Sans</vt:lpstr>
      <vt:lpstr>Courier New</vt:lpstr>
      <vt:lpstr>Open Sans Light</vt:lpstr>
      <vt:lpstr>Open Sans Semibold</vt:lpstr>
      <vt:lpstr>OCRB</vt:lpstr>
      <vt:lpstr>Calibri</vt:lpstr>
      <vt:lpstr>Arial</vt:lpstr>
      <vt:lpstr>Open Sans ExtraBold</vt:lpstr>
      <vt:lpstr>Wingdings</vt:lpstr>
      <vt:lpstr>21_BasicWhite</vt:lpstr>
      <vt:lpstr>Fuzzy logic</vt:lpstr>
      <vt:lpstr>Learning Outcomes</vt:lpstr>
      <vt:lpstr>outline</vt:lpstr>
      <vt:lpstr>Fuzzy expert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Fuzzy inference system </vt:lpstr>
      <vt:lpstr>Exercise</vt:lpstr>
      <vt:lpstr>Exercise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61</cp:revision>
  <dcterms:created xsi:type="dcterms:W3CDTF">2023-11-17T02:51:40Z</dcterms:created>
  <dcterms:modified xsi:type="dcterms:W3CDTF">2024-12-27T11:31:25Z</dcterms:modified>
</cp:coreProperties>
</file>