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2"/>
  </p:notesMasterIdLst>
  <p:sldIdLst>
    <p:sldId id="290" r:id="rId2"/>
    <p:sldId id="257" r:id="rId3"/>
    <p:sldId id="258" r:id="rId4"/>
    <p:sldId id="354" r:id="rId5"/>
    <p:sldId id="355" r:id="rId6"/>
    <p:sldId id="356" r:id="rId7"/>
    <p:sldId id="357" r:id="rId8"/>
    <p:sldId id="358" r:id="rId9"/>
    <p:sldId id="359" r:id="rId10"/>
    <p:sldId id="360" r:id="rId11"/>
    <p:sldId id="361" r:id="rId12"/>
    <p:sldId id="362" r:id="rId13"/>
    <p:sldId id="364" r:id="rId14"/>
    <p:sldId id="363" r:id="rId15"/>
    <p:sldId id="365" r:id="rId16"/>
    <p:sldId id="366" r:id="rId17"/>
    <p:sldId id="367" r:id="rId18"/>
    <p:sldId id="368" r:id="rId19"/>
    <p:sldId id="369" r:id="rId20"/>
    <p:sldId id="374" r:id="rId21"/>
    <p:sldId id="370" r:id="rId22"/>
    <p:sldId id="371" r:id="rId23"/>
    <p:sldId id="375" r:id="rId24"/>
    <p:sldId id="372" r:id="rId25"/>
    <p:sldId id="373" r:id="rId26"/>
    <p:sldId id="376" r:id="rId27"/>
    <p:sldId id="377" r:id="rId28"/>
    <p:sldId id="378" r:id="rId29"/>
    <p:sldId id="351" r:id="rId30"/>
    <p:sldId id="278" r:id="rId31"/>
  </p:sldIdLst>
  <p:sldSz cx="24384000" cy="13716000"/>
  <p:notesSz cx="6858000" cy="9144000"/>
  <p:embeddedFontLst>
    <p:embeddedFont>
      <p:font typeface="Cambria Math" panose="02040503050406030204" pitchFamily="18" charset="0"/>
      <p:regular r:id="rId33"/>
    </p:embeddedFont>
    <p:embeddedFont>
      <p:font typeface="OCRB" panose="020B0609020202020204" pitchFamily="49" charset="77"/>
      <p:regular r:id="rId34"/>
    </p:embeddedFont>
    <p:embeddedFont>
      <p:font typeface="Open Sans" panose="020B0606030504020204" pitchFamily="34" charset="0"/>
      <p:regular r:id="rId35"/>
      <p:bold r:id="rId36"/>
      <p:italic r:id="rId37"/>
      <p:boldItalic r:id="rId38"/>
    </p:embeddedFont>
    <p:embeddedFont>
      <p:font typeface="Open Sans ExtraBold" panose="020B0606030504020204" pitchFamily="34" charset="0"/>
      <p:bold r:id="rId39"/>
      <p:italic r:id="rId40"/>
      <p:boldItalic r:id="rId41"/>
    </p:embeddedFont>
    <p:embeddedFont>
      <p:font typeface="Open Sans Light" panose="020B0306030504020204" pitchFamily="34" charset="0"/>
      <p:regular r:id="rId42"/>
      <p:italic r:id="rId43"/>
    </p:embeddedFont>
    <p:embeddedFont>
      <p:font typeface="Open Sans Semibold" panose="020B0606030504020204" pitchFamily="34" charset="0"/>
      <p:regular r:id="rId44"/>
      <p:bold r:id="rId45"/>
      <p:italic r:id="rId46"/>
      <p:boldItalic r:id="rId47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B5FF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799" autoAdjust="0"/>
    <p:restoredTop sz="95781"/>
  </p:normalViewPr>
  <p:slideViewPr>
    <p:cSldViewPr snapToGrid="0" snapToObjects="1">
      <p:cViewPr varScale="1">
        <p:scale>
          <a:sx n="49" d="100"/>
          <a:sy n="49" d="100"/>
        </p:scale>
        <p:origin x="208" y="464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8583279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3987A6D-AD04-0FF1-0C66-3D62A8BBD9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f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f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15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Fuzzy set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43550" y="11538583"/>
            <a:ext cx="5286583" cy="745888"/>
          </a:xfrm>
        </p:spPr>
        <p:txBody>
          <a:bodyPr/>
          <a:lstStyle/>
          <a:p>
            <a:r>
              <a:rPr lang="en-US" dirty="0"/>
              <a:t>Felix Indra </a:t>
            </a:r>
            <a:r>
              <a:rPr lang="en-US" dirty="0" err="1"/>
              <a:t>Kurniadi</a:t>
            </a:r>
            <a:r>
              <a:rPr lang="en-US" dirty="0"/>
              <a:t>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577925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15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At the end of this session, students will be able to:</a:t>
            </a:r>
          </a:p>
          <a:p>
            <a:r>
              <a:rPr lang="en-ID" dirty="0"/>
              <a:t>LO 4: Apply various techniques to an agent when acting under certainty</a:t>
            </a:r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15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ID" dirty="0"/>
              <a:t>Fuzzy Logic</a:t>
            </a:r>
          </a:p>
          <a:p>
            <a:r>
              <a:rPr lang="en-ID" dirty="0"/>
              <a:t>Crisp Set vs Fuzzy Set</a:t>
            </a:r>
          </a:p>
          <a:p>
            <a:r>
              <a:rPr lang="en-ID" dirty="0"/>
              <a:t>Membership Function</a:t>
            </a:r>
          </a:p>
          <a:p>
            <a:r>
              <a:rPr lang="en-ID" dirty="0"/>
              <a:t>Standard Operation of Fuzzy Set</a:t>
            </a:r>
          </a:p>
        </p:txBody>
      </p:sp>
    </p:spTree>
    <p:extLst>
      <p:ext uri="{BB962C8B-B14F-4D97-AF65-F5344CB8AC3E}">
        <p14:creationId xmlns:p14="http://schemas.microsoft.com/office/powerpoint/2010/main" val="188946247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18282-4102-050A-A33B-316D5D31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Fuzzy Logic</a:t>
            </a:r>
            <a:br>
              <a:rPr lang="en-ID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A240E-B25C-16FA-062C-8867D6DFD5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DD77F1-7E70-A804-4AE1-DF92B7A53DE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Fuzzy logic is one of the foundations of modern computer development.</a:t>
            </a:r>
          </a:p>
          <a:p>
            <a:r>
              <a:rPr lang="en-US" dirty="0"/>
              <a:t>Fuzzy logic is a logic that represents vague values, uncertainty, partial truth or "</a:t>
            </a:r>
            <a:r>
              <a:rPr lang="en-US" b="1" dirty="0">
                <a:solidFill>
                  <a:srgbClr val="0070C0"/>
                </a:solidFill>
              </a:rPr>
              <a:t>degree of truth</a:t>
            </a:r>
            <a:r>
              <a:rPr lang="en-US" dirty="0"/>
              <a:t>".</a:t>
            </a:r>
          </a:p>
          <a:p>
            <a:r>
              <a:rPr lang="en-US" dirty="0"/>
              <a:t>Fuzzy logic is a development of Boolean logic which is only worth 0 and 1. </a:t>
            </a:r>
          </a:p>
          <a:p>
            <a:r>
              <a:rPr lang="en-US" sz="4400" dirty="0">
                <a:latin typeface="+mj-lt"/>
              </a:rPr>
              <a:t>Fuzzy logic was first developed by </a:t>
            </a:r>
            <a:r>
              <a:rPr lang="en-US" sz="4400" b="1" dirty="0">
                <a:solidFill>
                  <a:srgbClr val="00B0F0"/>
                </a:solidFill>
                <a:latin typeface="+mj-lt"/>
              </a:rPr>
              <a:t>Prof </a:t>
            </a:r>
            <a:r>
              <a:rPr lang="en-US" sz="4400" b="1" dirty="0" err="1">
                <a:solidFill>
                  <a:srgbClr val="00B0F0"/>
                </a:solidFill>
                <a:latin typeface="+mj-lt"/>
              </a:rPr>
              <a:t>Lotfi</a:t>
            </a:r>
            <a:r>
              <a:rPr lang="en-US" sz="4400" b="1" dirty="0">
                <a:solidFill>
                  <a:srgbClr val="00B0F0"/>
                </a:solidFill>
                <a:latin typeface="+mj-lt"/>
              </a:rPr>
              <a:t> </a:t>
            </a:r>
            <a:r>
              <a:rPr lang="en-US" sz="4400" b="1" dirty="0" err="1">
                <a:solidFill>
                  <a:srgbClr val="00B0F0"/>
                </a:solidFill>
                <a:latin typeface="+mj-lt"/>
              </a:rPr>
              <a:t>Aliasker</a:t>
            </a:r>
            <a:r>
              <a:rPr lang="en-US" sz="4400" b="1" dirty="0">
                <a:solidFill>
                  <a:srgbClr val="00B0F0"/>
                </a:solidFill>
                <a:latin typeface="+mj-lt"/>
              </a:rPr>
              <a:t> Zadeh </a:t>
            </a:r>
            <a:r>
              <a:rPr lang="en-US" sz="4400" dirty="0">
                <a:latin typeface="+mj-lt"/>
              </a:rPr>
              <a:t>through his paper on Fuzzy Set Theory.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73723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10" descr="A collage of a person&#10;&#10;Description automatically generated">
            <a:extLst>
              <a:ext uri="{FF2B5EF4-FFF2-40B4-BE49-F238E27FC236}">
                <a16:creationId xmlns:a16="http://schemas.microsoft.com/office/drawing/2014/main" id="{4F214D77-B87D-AC98-F2D6-365E4D702E7E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27" t="29679" r="28604" b="18597"/>
          <a:stretch/>
        </p:blipFill>
        <p:spPr>
          <a:xfrm>
            <a:off x="3030583" y="2798912"/>
            <a:ext cx="16877211" cy="770708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318282-4102-050A-A33B-316D5D31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Fuzzy Logic</a:t>
            </a:r>
            <a:br>
              <a:rPr lang="en-ID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A240E-B25C-16FA-062C-8867D6DFD5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Fuzzy logic vs Boolean logic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100B2E-D1A4-1B3B-1E6B-7144AE5ED8BB}"/>
              </a:ext>
            </a:extLst>
          </p:cNvPr>
          <p:cNvSpPr txBox="1"/>
          <p:nvPr/>
        </p:nvSpPr>
        <p:spPr>
          <a:xfrm>
            <a:off x="4602908" y="10699152"/>
            <a:ext cx="3993081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Boolean Logic</a:t>
            </a:r>
            <a:endParaRPr kumimoji="0" lang="en-ID" sz="4400" b="1" i="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0E4B98-2D9E-2DFC-5D2B-707A3B539F4D}"/>
              </a:ext>
            </a:extLst>
          </p:cNvPr>
          <p:cNvSpPr txBox="1"/>
          <p:nvPr/>
        </p:nvSpPr>
        <p:spPr>
          <a:xfrm>
            <a:off x="15044635" y="10699152"/>
            <a:ext cx="3249286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Fuzzy Logic</a:t>
            </a:r>
            <a:endParaRPr kumimoji="0" lang="en-ID" sz="4400" b="1" i="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756CF4-08E1-759A-0361-AD25B420A17F}"/>
              </a:ext>
            </a:extLst>
          </p:cNvPr>
          <p:cNvSpPr txBox="1"/>
          <p:nvPr/>
        </p:nvSpPr>
        <p:spPr>
          <a:xfrm>
            <a:off x="-579834" y="11672008"/>
            <a:ext cx="14530073" cy="1333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The value only 0 and 1, </a:t>
            </a:r>
            <a:b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</a:b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( black and white)</a:t>
            </a:r>
            <a:endParaRPr kumimoji="0" lang="en-ID" sz="4000" b="0" i="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F95A02-CAD2-9B1F-8FEB-CE990D485951}"/>
              </a:ext>
            </a:extLst>
          </p:cNvPr>
          <p:cNvSpPr txBox="1"/>
          <p:nvPr/>
        </p:nvSpPr>
        <p:spPr>
          <a:xfrm>
            <a:off x="9693268" y="11672008"/>
            <a:ext cx="14530073" cy="1333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The value between 0 and 1, </a:t>
            </a:r>
            <a:b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</a:b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( Grayscale)</a:t>
            </a:r>
            <a:endParaRPr kumimoji="0" lang="en-ID" sz="4000" b="0" i="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62757158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18282-4102-050A-A33B-316D5D31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Fuzzy Logic</a:t>
            </a:r>
            <a:br>
              <a:rPr lang="en-ID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A240E-B25C-16FA-062C-8867D6DFD5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Fuzzy logic fundamentals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2C3E1F2-99ED-B52F-6F17-47DE32486FB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Fuzzy Variable:</a:t>
            </a:r>
          </a:p>
          <a:p>
            <a:pPr lvl="1"/>
            <a:r>
              <a:rPr lang="en-US" dirty="0"/>
              <a:t>variables that will be discussed in a fuzzy system</a:t>
            </a:r>
          </a:p>
          <a:p>
            <a:pPr lvl="1"/>
            <a:r>
              <a:rPr lang="en-US" dirty="0"/>
              <a:t>Example: age, temperature, etc.</a:t>
            </a:r>
          </a:p>
          <a:p>
            <a:r>
              <a:rPr lang="en-US" dirty="0"/>
              <a:t>Fuzzy Set:</a:t>
            </a:r>
          </a:p>
          <a:p>
            <a:pPr lvl="1"/>
            <a:r>
              <a:rPr lang="en-US" dirty="0"/>
              <a:t>a group that represents a certain state in a fuzzy variable</a:t>
            </a:r>
          </a:p>
          <a:p>
            <a:pPr lvl="1"/>
            <a:r>
              <a:rPr lang="en-US" dirty="0"/>
              <a:t>Attribute Fuzzy Set:</a:t>
            </a:r>
          </a:p>
          <a:p>
            <a:pPr lvl="2"/>
            <a:r>
              <a:rPr lang="en-US" dirty="0"/>
              <a:t>Linguistic:  the name of a group that represents a certain situation using natural language</a:t>
            </a:r>
          </a:p>
          <a:p>
            <a:pPr lvl="2"/>
            <a:r>
              <a:rPr lang="en-US" dirty="0"/>
              <a:t>Numeric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70978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18282-4102-050A-A33B-316D5D31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Fuzzy Logic</a:t>
            </a:r>
            <a:br>
              <a:rPr lang="en-ID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A240E-B25C-16FA-062C-8867D6DFD5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Fuzzy logic fundamentals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2C3E1F2-99ED-B52F-6F17-47DE32486FB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Fuzzy Universe:</a:t>
            </a:r>
          </a:p>
          <a:p>
            <a:pPr lvl="1"/>
            <a:r>
              <a:rPr lang="en-US" dirty="0"/>
              <a:t>The overall value allowed to operate with fuzzy variables</a:t>
            </a:r>
          </a:p>
          <a:p>
            <a:pPr lvl="1"/>
            <a:r>
              <a:rPr lang="en-US" dirty="0"/>
              <a:t>Example: Fuzzy Variable: age variable is [0, ∞]</a:t>
            </a:r>
          </a:p>
          <a:p>
            <a:endParaRPr lang="en-US" dirty="0"/>
          </a:p>
          <a:p>
            <a:r>
              <a:rPr lang="en-US" dirty="0"/>
              <a:t>The domain of a fuzzy set is all the values allowed in the universe of speech and can be operated on in a fuzzy set.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900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18282-4102-050A-A33B-316D5D31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Fuzzy Logic</a:t>
            </a:r>
            <a:br>
              <a:rPr lang="en-ID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A240E-B25C-16FA-062C-8867D6DFD5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Fuzzy logic applications</a:t>
            </a:r>
          </a:p>
        </p:txBody>
      </p:sp>
      <p:pic>
        <p:nvPicPr>
          <p:cNvPr id="4" name="Content Placeholder 5" descr="A collage of different types of objects&#10;&#10;Description automatically generated">
            <a:extLst>
              <a:ext uri="{FF2B5EF4-FFF2-40B4-BE49-F238E27FC236}">
                <a16:creationId xmlns:a16="http://schemas.microsoft.com/office/drawing/2014/main" id="{B65A0C90-A671-F214-455A-D6D8BD277769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50" t="27817" r="23691" b="9614"/>
          <a:stretch/>
        </p:blipFill>
        <p:spPr>
          <a:xfrm>
            <a:off x="2167377" y="3840480"/>
            <a:ext cx="19882725" cy="8448999"/>
          </a:xfrm>
        </p:spPr>
      </p:pic>
    </p:spTree>
    <p:extLst>
      <p:ext uri="{BB962C8B-B14F-4D97-AF65-F5344CB8AC3E}">
        <p14:creationId xmlns:p14="http://schemas.microsoft.com/office/powerpoint/2010/main" val="424327930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18282-4102-050A-A33B-316D5D31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Fuzzy Logic</a:t>
            </a:r>
            <a:br>
              <a:rPr lang="en-ID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A240E-B25C-16FA-062C-8867D6DFD5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Fuzzy logic vs probability theory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FA1456-301E-E796-52A3-8E2CA3D3E18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5">
                <a:extLst>
                  <a:ext uri="{FF2B5EF4-FFF2-40B4-BE49-F238E27FC236}">
                    <a16:creationId xmlns:a16="http://schemas.microsoft.com/office/drawing/2014/main" id="{5A9A51CC-2DCB-E29D-EA6A-87ECE8A9465E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753892414"/>
                  </p:ext>
                </p:extLst>
              </p:nvPr>
            </p:nvGraphicFramePr>
            <p:xfrm>
              <a:off x="1431470" y="4101598"/>
              <a:ext cx="21521058" cy="497046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60529">
                      <a:extLst>
                        <a:ext uri="{9D8B030D-6E8A-4147-A177-3AD203B41FA5}">
                          <a16:colId xmlns:a16="http://schemas.microsoft.com/office/drawing/2014/main" val="2595951501"/>
                        </a:ext>
                      </a:extLst>
                    </a:gridCol>
                    <a:gridCol w="10760529">
                      <a:extLst>
                        <a:ext uri="{9D8B030D-6E8A-4147-A177-3AD203B41FA5}">
                          <a16:colId xmlns:a16="http://schemas.microsoft.com/office/drawing/2014/main" val="33577185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4400" dirty="0"/>
                            <a:t>Probability Theory P(A)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400" dirty="0"/>
                            <a:t>Fuzzy Logic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4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400" b="1" i="1" smtClean="0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4400" b="1" i="1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4400" dirty="0"/>
                            <a:t>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720095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4400" dirty="0"/>
                            <a:t>Probability that an </a:t>
                          </a:r>
                          <a:r>
                            <a:rPr lang="en-US" sz="4400" dirty="0">
                              <a:solidFill>
                                <a:srgbClr val="FF0000"/>
                              </a:solidFill>
                            </a:rPr>
                            <a:t>ill-known</a:t>
                          </a:r>
                          <a:r>
                            <a:rPr lang="en-US" sz="4400" dirty="0"/>
                            <a:t> variable x ranging on sample space (S) hits the </a:t>
                          </a:r>
                          <a:r>
                            <a:rPr lang="en-US" sz="4400" dirty="0">
                              <a:solidFill>
                                <a:srgbClr val="FF0000"/>
                              </a:solidFill>
                            </a:rPr>
                            <a:t>well-known</a:t>
                          </a:r>
                          <a:r>
                            <a:rPr lang="en-US" sz="4400" dirty="0"/>
                            <a:t> Event space (E)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4400" dirty="0"/>
                            <a:t>Membership that a </a:t>
                          </a:r>
                          <a:r>
                            <a:rPr lang="en-US" sz="4400" dirty="0">
                              <a:solidFill>
                                <a:srgbClr val="FF0000"/>
                              </a:solidFill>
                            </a:rPr>
                            <a:t>well-known </a:t>
                          </a:r>
                          <a:r>
                            <a:rPr lang="en-US" sz="4400" dirty="0"/>
                            <a:t>variable x ranging on sample space (S) hits the </a:t>
                          </a:r>
                          <a:r>
                            <a:rPr lang="en-US" sz="4400" dirty="0">
                              <a:solidFill>
                                <a:srgbClr val="FF0000"/>
                              </a:solidFill>
                            </a:rPr>
                            <a:t>ill-known</a:t>
                          </a:r>
                          <a:r>
                            <a:rPr lang="en-US" sz="4400" dirty="0"/>
                            <a:t> Event space (E)</a:t>
                          </a:r>
                        </a:p>
                        <a:p>
                          <a:pPr algn="just"/>
                          <a:endParaRPr lang="en-US" sz="4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849192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4400" dirty="0"/>
                            <a:t>Measure Theory Domain is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4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4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44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p>
                            </m:oMath>
                          </a14:m>
                          <a:endParaRPr lang="en-US" sz="4400" dirty="0"/>
                        </a:p>
                        <a:p>
                          <a:pPr algn="just"/>
                          <a:r>
                            <a:rPr lang="en-US" sz="4400" b="1" dirty="0"/>
                            <a:t>Boolean Theory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4400" dirty="0"/>
                            <a:t>Set Theory Domain is [0,1]</a:t>
                          </a:r>
                          <a:r>
                            <a:rPr lang="en-US" sz="4400" baseline="30000" dirty="0"/>
                            <a:t>S</a:t>
                          </a:r>
                        </a:p>
                        <a:p>
                          <a:pPr algn="just"/>
                          <a:r>
                            <a:rPr lang="en-US" sz="4400" b="1" baseline="0" dirty="0"/>
                            <a:t>Cannot be a Boolean Algebra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584404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5">
                <a:extLst>
                  <a:ext uri="{FF2B5EF4-FFF2-40B4-BE49-F238E27FC236}">
                    <a16:creationId xmlns:a16="http://schemas.microsoft.com/office/drawing/2014/main" id="{5A9A51CC-2DCB-E29D-EA6A-87ECE8A9465E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753892414"/>
                  </p:ext>
                </p:extLst>
              </p:nvPr>
            </p:nvGraphicFramePr>
            <p:xfrm>
              <a:off x="1431470" y="4101598"/>
              <a:ext cx="21521058" cy="497046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60529">
                      <a:extLst>
                        <a:ext uri="{9D8B030D-6E8A-4147-A177-3AD203B41FA5}">
                          <a16:colId xmlns:a16="http://schemas.microsoft.com/office/drawing/2014/main" val="2595951501"/>
                        </a:ext>
                      </a:extLst>
                    </a:gridCol>
                    <a:gridCol w="10760529">
                      <a:extLst>
                        <a:ext uri="{9D8B030D-6E8A-4147-A177-3AD203B41FA5}">
                          <a16:colId xmlns:a16="http://schemas.microsoft.com/office/drawing/2014/main" val="3357718537"/>
                        </a:ext>
                      </a:extLst>
                    </a:gridCol>
                  </a:tblGrid>
                  <a:tr h="762000">
                    <a:tc>
                      <a:txBody>
                        <a:bodyPr/>
                        <a:lstStyle/>
                        <a:p>
                          <a:r>
                            <a:rPr lang="en-US" sz="4400" dirty="0"/>
                            <a:t>Probability Theory P(A)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118" t="-16667" r="-236" b="-59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2009578"/>
                      </a:ext>
                    </a:extLst>
                  </a:tr>
                  <a:tr h="277368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4400" dirty="0"/>
                            <a:t>Probability that an </a:t>
                          </a:r>
                          <a:r>
                            <a:rPr lang="en-US" sz="4400" dirty="0">
                              <a:solidFill>
                                <a:srgbClr val="FF0000"/>
                              </a:solidFill>
                            </a:rPr>
                            <a:t>ill-known</a:t>
                          </a:r>
                          <a:r>
                            <a:rPr lang="en-US" sz="4400" dirty="0"/>
                            <a:t> variable x ranging on sample space (S) hits the </a:t>
                          </a:r>
                          <a:r>
                            <a:rPr lang="en-US" sz="4400" dirty="0">
                              <a:solidFill>
                                <a:srgbClr val="FF0000"/>
                              </a:solidFill>
                            </a:rPr>
                            <a:t>well-known</a:t>
                          </a:r>
                          <a:r>
                            <a:rPr lang="en-US" sz="4400" dirty="0"/>
                            <a:t> Event space (E)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4400" dirty="0"/>
                            <a:t>Membership that a </a:t>
                          </a:r>
                          <a:r>
                            <a:rPr lang="en-US" sz="4400" dirty="0">
                              <a:solidFill>
                                <a:srgbClr val="FF0000"/>
                              </a:solidFill>
                            </a:rPr>
                            <a:t>well-known </a:t>
                          </a:r>
                          <a:r>
                            <a:rPr lang="en-US" sz="4400" dirty="0"/>
                            <a:t>variable x ranging on sample space (S) hits the </a:t>
                          </a:r>
                          <a:r>
                            <a:rPr lang="en-US" sz="4400" dirty="0">
                              <a:solidFill>
                                <a:srgbClr val="FF0000"/>
                              </a:solidFill>
                            </a:rPr>
                            <a:t>ill-known</a:t>
                          </a:r>
                          <a:r>
                            <a:rPr lang="en-US" sz="4400" dirty="0"/>
                            <a:t> Event space (E)</a:t>
                          </a:r>
                        </a:p>
                        <a:p>
                          <a:pPr algn="just"/>
                          <a:endParaRPr lang="en-US" sz="4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84919215"/>
                      </a:ext>
                    </a:extLst>
                  </a:tr>
                  <a:tr h="14347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18" t="-256637" r="-100236" b="-19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4400" dirty="0"/>
                            <a:t>Set Theory Domain is [0,1]</a:t>
                          </a:r>
                          <a:r>
                            <a:rPr lang="en-US" sz="4400" baseline="30000" dirty="0"/>
                            <a:t>S</a:t>
                          </a:r>
                        </a:p>
                        <a:p>
                          <a:pPr algn="just"/>
                          <a:r>
                            <a:rPr lang="en-US" sz="4400" b="1" baseline="0" dirty="0"/>
                            <a:t>Cannot be a Boolean Algebra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58440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3739159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1D6FB-821E-1740-A606-94BF9F308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Crisp set vs fuzzy 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31867-658D-258C-7767-6839138271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Crisp set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873199-C77A-7A74-F669-8BF670179ED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Crisp Set is another way to say a set</a:t>
            </a:r>
          </a:p>
          <a:p>
            <a:r>
              <a:rPr lang="en-US" dirty="0"/>
              <a:t>In Crisp Set, the element of the set is 1 (element of the set) and 0 (not the element of the set)</a:t>
            </a:r>
          </a:p>
          <a:p>
            <a:r>
              <a:rPr lang="en-US" dirty="0"/>
              <a:t>However, the condition in the real world is not crisp. Most of the time, we defined the condition in ambiguous statement. </a:t>
            </a:r>
          </a:p>
          <a:p>
            <a:pPr lvl="1"/>
            <a:r>
              <a:rPr lang="en-US" dirty="0"/>
              <a:t>For Example: enough sugar, cheap and etc.</a:t>
            </a:r>
          </a:p>
          <a:p>
            <a:r>
              <a:rPr lang="en-US" dirty="0"/>
              <a:t>Handling the ambiguous statement, we need to apply a threshold in pre-processing  or post-processing step.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33544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1D6FB-821E-1740-A606-94BF9F308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Crisp set vs fuzzy 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31867-658D-258C-7767-6839138271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fuzzy set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A873199-C77A-7A74-F669-8BF670179EDD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Membership function 𝜇_𝐴 in crisp set maps whole members in universal set X to set {0,1}.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→{0,1}</m:t>
                      </m:r>
                    </m:oMath>
                  </m:oMathPara>
                </a14:m>
                <a:endParaRPr lang="en-US" dirty="0"/>
              </a:p>
              <a:p>
                <a:pPr>
                  <a:spcAft>
                    <a:spcPts val="2400"/>
                  </a:spcAft>
                </a:pPr>
                <a:r>
                  <a:rPr lang="en-US" dirty="0"/>
                  <a:t>In fuzzy sets, each elements is mapped to [0,1] by membership function.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sz="4400" dirty="0">
                  <a:latin typeface="+mj-lt"/>
                </a:endParaRPr>
              </a:p>
              <a:p>
                <a:r>
                  <a:rPr lang="en-US" dirty="0"/>
                  <a:t>where [0,1] means real numbers between 0 and 1 (including 0,1).</a:t>
                </a:r>
              </a:p>
              <a:p>
                <a:r>
                  <a:rPr lang="en-US" dirty="0"/>
                  <a:t>If there is a statement:</a:t>
                </a:r>
              </a:p>
              <a:p>
                <a:pPr marL="0" indent="0" algn="ctr">
                  <a:buNone/>
                </a:pPr>
                <a:r>
                  <a:rPr lang="en-US" i="1" u="sng" dirty="0"/>
                  <a:t>“Budi is young”.</a:t>
                </a:r>
              </a:p>
              <a:p>
                <a:r>
                  <a:rPr lang="en-US" dirty="0"/>
                  <a:t>Is this statement true or false?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A873199-C77A-7A74-F669-8BF670179E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29" t="-20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870210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1D6FB-821E-1740-A606-94BF9F308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Crisp set vs fuzzy 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31867-658D-258C-7767-6839138271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fuzzy set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873199-C77A-7A74-F669-8BF670179ED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11761818" cy="8583279"/>
          </a:xfrm>
        </p:spPr>
        <p:txBody>
          <a:bodyPr>
            <a:normAutofit/>
          </a:bodyPr>
          <a:lstStyle/>
          <a:p>
            <a:r>
              <a:rPr lang="en-US" dirty="0"/>
              <a:t>Based on the previous example, the term "young" is ambiguous.</a:t>
            </a:r>
          </a:p>
          <a:p>
            <a:r>
              <a:rPr lang="en-US" dirty="0"/>
              <a:t>To represent the meaning of "ambiguous" accurately, it is necessary to define its membership function. </a:t>
            </a:r>
          </a:p>
          <a:p>
            <a:r>
              <a:rPr lang="en-US" dirty="0"/>
              <a:t>When we refer to "young," the age might lie in the range of [0,60]. We can consider these ages within this scope as a continuous set.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D3E6D9-8B07-AB28-B9FA-74FC226A7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965" y="2821501"/>
            <a:ext cx="9234739" cy="982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77346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1D6FB-821E-1740-A606-94BF9F308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Crisp set vs fuzzy 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31867-658D-258C-7767-6839138271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fuzzy set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873199-C77A-7A74-F669-8BF670179ED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11761818" cy="858327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If we follow the definition of "young" as shown in Figure 1, a ten-year-old boy may indeed be considered young</a:t>
            </a:r>
          </a:p>
          <a:p>
            <a:pPr lvl="1">
              <a:buFont typeface="Wingdings" pitchFamily="2" charset="2"/>
              <a:buChar char="v"/>
            </a:pPr>
            <a:r>
              <a:rPr lang="en-US" dirty="0"/>
              <a:t>The possibility for the "age of ten" to be included in the fuzzy set of "young" is 1. </a:t>
            </a:r>
          </a:p>
          <a:p>
            <a:pPr lvl="1">
              <a:buFont typeface="Wingdings" pitchFamily="2" charset="2"/>
              <a:buChar char="v"/>
            </a:pPr>
            <a:r>
              <a:rPr lang="en-US" dirty="0"/>
              <a:t>The likelihood for "age twenty-seven" is 0.9. </a:t>
            </a:r>
          </a:p>
          <a:p>
            <a:pPr lvl="1">
              <a:buFont typeface="Wingdings" pitchFamily="2" charset="2"/>
              <a:buChar char="v"/>
            </a:pPr>
            <a:r>
              <a:rPr lang="en-US" dirty="0"/>
              <a:t> However, we might not refer to a person who is over sixty as young, and the possibility in this case is 0.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D3E6D9-8B07-AB28-B9FA-74FC226A7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965" y="2821501"/>
            <a:ext cx="9234739" cy="982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200517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1D6FB-821E-1740-A606-94BF9F308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Crisp set vs fuzzy 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31867-658D-258C-7767-6839138271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fuzzy set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A873199-C77A-7A74-F669-8BF670179EDD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9" y="3260663"/>
                <a:ext cx="11761818" cy="858327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We can modify our last sentence to “Budi is very young." We define the fuzzy set in such a way that only persons under forty years old can be included in the set of "very young.“</a:t>
                </a:r>
              </a:p>
              <a:p>
                <a:pPr>
                  <a:spcAft>
                    <a:spcPts val="2400"/>
                  </a:spcAft>
                </a:pPr>
                <a:r>
                  <a:rPr lang="en-US" dirty="0"/>
                  <a:t>Budi is 27 years old. According Figure 1. </a:t>
                </a:r>
              </a:p>
              <a:p>
                <a:pPr marL="1482726" lvl="1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𝑦𝑜𝑢𝑛𝑔</m:t>
                          </m:r>
                        </m:sub>
                      </m:sSub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=0.9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𝑣𝑒𝑟𝑦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𝑦𝑜𝑢𝑛𝑔</m:t>
                          </m:r>
                        </m:sub>
                      </m:sSub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sz="4400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A873199-C77A-7A74-F669-8BF670179E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9" y="3260663"/>
                <a:ext cx="11761818" cy="8583279"/>
              </a:xfrm>
              <a:blipFill>
                <a:blip r:embed="rId2"/>
                <a:stretch>
                  <a:fillRect l="-2265" t="-1329" r="-1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ED3E6D9-8B07-AB28-B9FA-74FC226A7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5965" y="2821501"/>
            <a:ext cx="9234739" cy="982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58626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1D6FB-821E-1740-A606-94BF9F308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Crisp set vs fuzzy 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31867-658D-258C-7767-6839138271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fuzzy set advantages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873199-C77A-7A74-F669-8BF670179ED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742950" lvl="1"/>
            <a:r>
              <a:rPr lang="en-US" dirty="0"/>
              <a:t>Store and Process the hidden information</a:t>
            </a:r>
          </a:p>
          <a:p>
            <a:pPr marL="1498950" lvl="2"/>
            <a:r>
              <a:rPr lang="en-US" dirty="0"/>
              <a:t>Assume we have two mathematician</a:t>
            </a:r>
          </a:p>
          <a:p>
            <a:pPr marL="1498950" lvl="2"/>
            <a:r>
              <a:rPr lang="en-US" dirty="0"/>
              <a:t>In Crisp set, both have same ability</a:t>
            </a:r>
          </a:p>
          <a:p>
            <a:pPr marL="1498950" lvl="2"/>
            <a:r>
              <a:rPr lang="en-US" dirty="0"/>
              <a:t>In Fuzzy set, each of them have different ability</a:t>
            </a:r>
          </a:p>
          <a:p>
            <a:pPr marL="742950" lvl="1"/>
            <a:r>
              <a:rPr lang="en-US" dirty="0"/>
              <a:t>Useful for soft-clustering and soft classification</a:t>
            </a:r>
          </a:p>
          <a:p>
            <a:pPr marL="742950" lvl="1"/>
            <a:endParaRPr lang="en-US" dirty="0"/>
          </a:p>
          <a:p>
            <a:pPr marL="742950"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95283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79044-FB74-86D7-36D0-4B0400DCE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Membership function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220FD-81CA-8450-1113-33B6B3E28A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0DFCEF2-1A02-33F9-4100-3B5DCE242E87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/>
              <a:lstStyle/>
              <a:p>
                <a:pPr>
                  <a:spcAft>
                    <a:spcPts val="2400"/>
                  </a:spcAft>
                </a:pPr>
                <a:r>
                  <a:rPr lang="en-US" sz="4400" dirty="0">
                    <a:latin typeface="+mj-lt"/>
                  </a:rPr>
                  <a:t>For Set A, we defined membership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44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4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4400" dirty="0">
                    <a:latin typeface="+mj-lt"/>
                  </a:rPr>
                  <a:t>such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1 , </m:t>
                            </m:r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𝑎𝑛𝑑</m:t>
                            </m:r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𝑜𝑛𝑙𝑦</m:t>
                            </m:r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4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4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mr>
                        <m:mr>
                          <m:e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𝑎𝑛𝑑</m:t>
                            </m:r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𝑜𝑛𝑙𝑦</m:t>
                            </m:r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4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∉</m:t>
                            </m:r>
                            <m:r>
                              <a:rPr lang="en-US" sz="4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mr>
                      </m:m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There are 4 types of membership functions:</a:t>
                </a:r>
              </a:p>
              <a:p>
                <a:pPr marL="1544638" indent="-685800" algn="just">
                  <a:buFont typeface="Wingdings" pitchFamily="2" charset="2"/>
                  <a:buChar char="Ø"/>
                </a:pPr>
                <a:r>
                  <a:rPr lang="en-US" sz="4400" dirty="0">
                    <a:latin typeface="+mj-lt"/>
                  </a:rPr>
                  <a:t>Upper Linear function</a:t>
                </a:r>
              </a:p>
              <a:p>
                <a:pPr marL="1544638" indent="-685800" algn="just">
                  <a:buFont typeface="Wingdings" pitchFamily="2" charset="2"/>
                  <a:buChar char="Ø"/>
                </a:pPr>
                <a:r>
                  <a:rPr lang="en-US" sz="4400" dirty="0">
                    <a:latin typeface="+mj-lt"/>
                  </a:rPr>
                  <a:t>Lower Linear Function</a:t>
                </a:r>
              </a:p>
              <a:p>
                <a:pPr marL="1544638" indent="-685800" algn="just">
                  <a:buFont typeface="Wingdings" pitchFamily="2" charset="2"/>
                  <a:buChar char="Ø"/>
                </a:pPr>
                <a:r>
                  <a:rPr lang="en-US" sz="4400" dirty="0">
                    <a:latin typeface="+mj-lt"/>
                  </a:rPr>
                  <a:t>Triangular function</a:t>
                </a:r>
              </a:p>
              <a:p>
                <a:pPr marL="1544638" indent="-685800" algn="just">
                  <a:buFont typeface="Wingdings" pitchFamily="2" charset="2"/>
                  <a:buChar char="Ø"/>
                </a:pPr>
                <a:r>
                  <a:rPr lang="en-US" sz="4400" dirty="0">
                    <a:latin typeface="+mj-lt"/>
                  </a:rPr>
                  <a:t>Trapezoidal function</a:t>
                </a:r>
              </a:p>
              <a:p>
                <a:pPr marL="1544638" indent="-685800" algn="just"/>
                <a:endParaRPr lang="en-US" sz="4400" dirty="0">
                  <a:latin typeface="+mj-lt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0DFCEF2-1A02-33F9-4100-3B5DCE242E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29" t="-1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370061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79044-FB74-86D7-36D0-4B0400DCE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Membership function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220FD-81CA-8450-1113-33B6B3E28A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Upper linear membership function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4E7B262-5772-4C29-3702-AFCDD4BAB075}"/>
              </a:ext>
            </a:extLst>
          </p:cNvPr>
          <p:cNvGrpSpPr/>
          <p:nvPr/>
        </p:nvGrpSpPr>
        <p:grpSpPr>
          <a:xfrm>
            <a:off x="6757850" y="3260663"/>
            <a:ext cx="10868299" cy="7452561"/>
            <a:chOff x="5088132" y="2923797"/>
            <a:chExt cx="8695601" cy="6192189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FAA48C30-F5F2-7FD7-8EED-F434E8C8BD43}"/>
                </a:ext>
              </a:extLst>
            </p:cNvPr>
            <p:cNvCxnSpPr/>
            <p:nvPr/>
          </p:nvCxnSpPr>
          <p:spPr>
            <a:xfrm flipV="1">
              <a:off x="6299200" y="2923797"/>
              <a:ext cx="0" cy="5350933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E7E1074-288E-03B4-4206-0F8EB21F4212}"/>
                </a:ext>
              </a:extLst>
            </p:cNvPr>
            <p:cNvCxnSpPr/>
            <p:nvPr/>
          </p:nvCxnSpPr>
          <p:spPr>
            <a:xfrm>
              <a:off x="6299200" y="8274730"/>
              <a:ext cx="7484533" cy="0"/>
            </a:xfrm>
            <a:prstGeom prst="straightConnector1">
              <a:avLst/>
            </a:prstGeom>
            <a:noFill/>
            <a:ln w="76200" cap="flat">
              <a:solidFill>
                <a:schemeClr val="accent1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4C70B79-7EE6-02F4-F54D-533601616794}"/>
                </a:ext>
              </a:extLst>
            </p:cNvPr>
            <p:cNvSpPr txBox="1"/>
            <p:nvPr/>
          </p:nvSpPr>
          <p:spPr>
            <a:xfrm>
              <a:off x="7538985" y="8274730"/>
              <a:ext cx="445636" cy="8412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a</a:t>
              </a:r>
              <a:endParaRPr kumimoji="0" lang="en-ID" sz="48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3BE6DBE-1230-5117-EED4-E9E431B69958}"/>
                </a:ext>
              </a:extLst>
            </p:cNvPr>
            <p:cNvSpPr txBox="1"/>
            <p:nvPr/>
          </p:nvSpPr>
          <p:spPr>
            <a:xfrm>
              <a:off x="11135334" y="8274730"/>
              <a:ext cx="479298" cy="8412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b</a:t>
              </a:r>
              <a:endParaRPr kumimoji="0" lang="en-ID" sz="48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18C897C-A506-D6EE-0840-F273B535EED9}"/>
                </a:ext>
              </a:extLst>
            </p:cNvPr>
            <p:cNvCxnSpPr>
              <a:cxnSpLocks/>
            </p:cNvCxnSpPr>
            <p:nvPr/>
          </p:nvCxnSpPr>
          <p:spPr>
            <a:xfrm>
              <a:off x="6299200" y="4334933"/>
              <a:ext cx="5075783" cy="0"/>
            </a:xfrm>
            <a:prstGeom prst="line">
              <a:avLst/>
            </a:prstGeom>
            <a:noFill/>
            <a:ln w="76200" cap="flat">
              <a:solidFill>
                <a:srgbClr val="000000"/>
              </a:solidFill>
              <a:prstDash val="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43F0FBA-C853-4B29-458D-30073ECA1CAF}"/>
                </a:ext>
              </a:extLst>
            </p:cNvPr>
            <p:cNvCxnSpPr>
              <a:stCxn id="9" idx="0"/>
            </p:cNvCxnSpPr>
            <p:nvPr/>
          </p:nvCxnSpPr>
          <p:spPr>
            <a:xfrm flipV="1">
              <a:off x="11374983" y="4334933"/>
              <a:ext cx="0" cy="3939797"/>
            </a:xfrm>
            <a:prstGeom prst="line">
              <a:avLst/>
            </a:prstGeom>
            <a:noFill/>
            <a:ln w="76200" cap="flat">
              <a:solidFill>
                <a:srgbClr val="000000"/>
              </a:solidFill>
              <a:prstDash val="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0FB75FC-087F-1267-158B-B5721664E891}"/>
                </a:ext>
              </a:extLst>
            </p:cNvPr>
            <p:cNvCxnSpPr>
              <a:stCxn id="8" idx="0"/>
            </p:cNvCxnSpPr>
            <p:nvPr/>
          </p:nvCxnSpPr>
          <p:spPr>
            <a:xfrm flipV="1">
              <a:off x="7761803" y="4334933"/>
              <a:ext cx="0" cy="3939797"/>
            </a:xfrm>
            <a:prstGeom prst="line">
              <a:avLst/>
            </a:prstGeom>
            <a:noFill/>
            <a:ln w="76200" cap="flat">
              <a:solidFill>
                <a:srgbClr val="000000"/>
              </a:solidFill>
              <a:prstDash val="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DA401A9-BE32-E32D-4562-8E29FF3691B0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V="1">
              <a:off x="7761803" y="4334933"/>
              <a:ext cx="3613180" cy="3939797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7B92DF6-CF6E-3F0B-C07D-578B77C3E6C9}"/>
                </a:ext>
              </a:extLst>
            </p:cNvPr>
            <p:cNvSpPr txBox="1"/>
            <p:nvPr/>
          </p:nvSpPr>
          <p:spPr>
            <a:xfrm>
              <a:off x="5088132" y="3928478"/>
              <a:ext cx="971420" cy="8412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4800" dirty="0"/>
                <a:t>1.0</a:t>
              </a:r>
              <a:endParaRPr kumimoji="0" lang="en-ID" sz="48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pic>
        <p:nvPicPr>
          <p:cNvPr id="15" name="Picture 2">
            <a:extLst>
              <a:ext uri="{FF2B5EF4-FFF2-40B4-BE49-F238E27FC236}">
                <a16:creationId xmlns:a16="http://schemas.microsoft.com/office/drawing/2014/main" id="{E11B3709-8EBA-CE18-362B-B8071822BA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4521" y="10713224"/>
            <a:ext cx="7174957" cy="2480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677673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79044-FB74-86D7-36D0-4B0400DCE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Membership function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220FD-81CA-8450-1113-33B6B3E28A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lower linear membership function 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D3FEB83-33C7-4A60-A37F-E819600ABEB9}"/>
              </a:ext>
            </a:extLst>
          </p:cNvPr>
          <p:cNvGrpSpPr/>
          <p:nvPr/>
        </p:nvGrpSpPr>
        <p:grpSpPr>
          <a:xfrm>
            <a:off x="6757850" y="3260662"/>
            <a:ext cx="10868299" cy="7478688"/>
            <a:chOff x="5088132" y="2923797"/>
            <a:chExt cx="8695601" cy="6192189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3CDDA4C-978C-DE1A-0F6C-C717466AEFC4}"/>
                </a:ext>
              </a:extLst>
            </p:cNvPr>
            <p:cNvCxnSpPr/>
            <p:nvPr/>
          </p:nvCxnSpPr>
          <p:spPr>
            <a:xfrm flipV="1">
              <a:off x="6299200" y="2923797"/>
              <a:ext cx="0" cy="5350933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721FCCB8-A952-54FC-17F2-93DC648C98AD}"/>
                </a:ext>
              </a:extLst>
            </p:cNvPr>
            <p:cNvCxnSpPr/>
            <p:nvPr/>
          </p:nvCxnSpPr>
          <p:spPr>
            <a:xfrm>
              <a:off x="6299200" y="8274730"/>
              <a:ext cx="7484533" cy="0"/>
            </a:xfrm>
            <a:prstGeom prst="straightConnector1">
              <a:avLst/>
            </a:prstGeom>
            <a:noFill/>
            <a:ln w="76200" cap="flat">
              <a:solidFill>
                <a:schemeClr val="accent1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79E3C1A-3ABD-778B-E6C0-1623EEC1979F}"/>
                </a:ext>
              </a:extLst>
            </p:cNvPr>
            <p:cNvSpPr txBox="1"/>
            <p:nvPr/>
          </p:nvSpPr>
          <p:spPr>
            <a:xfrm>
              <a:off x="7538985" y="8274730"/>
              <a:ext cx="445636" cy="8412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a</a:t>
              </a:r>
              <a:endParaRPr kumimoji="0" lang="en-ID" sz="48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6868AB9-6C2E-310F-BC19-4B6C60A1BBCD}"/>
                </a:ext>
              </a:extLst>
            </p:cNvPr>
            <p:cNvSpPr txBox="1"/>
            <p:nvPr/>
          </p:nvSpPr>
          <p:spPr>
            <a:xfrm>
              <a:off x="11135334" y="8274730"/>
              <a:ext cx="479298" cy="8412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b</a:t>
              </a:r>
              <a:endParaRPr kumimoji="0" lang="en-ID" sz="48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AC4CD3C-C8DF-2A11-944F-D453A0E1D388}"/>
                </a:ext>
              </a:extLst>
            </p:cNvPr>
            <p:cNvCxnSpPr>
              <a:cxnSpLocks/>
            </p:cNvCxnSpPr>
            <p:nvPr/>
          </p:nvCxnSpPr>
          <p:spPr>
            <a:xfrm>
              <a:off x="6299200" y="4334933"/>
              <a:ext cx="5075783" cy="0"/>
            </a:xfrm>
            <a:prstGeom prst="line">
              <a:avLst/>
            </a:prstGeom>
            <a:noFill/>
            <a:ln w="76200" cap="flat">
              <a:solidFill>
                <a:srgbClr val="000000"/>
              </a:solidFill>
              <a:prstDash val="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436339-4424-8DCD-6E2A-E51BD99BB207}"/>
                </a:ext>
              </a:extLst>
            </p:cNvPr>
            <p:cNvCxnSpPr>
              <a:stCxn id="29" idx="0"/>
            </p:cNvCxnSpPr>
            <p:nvPr/>
          </p:nvCxnSpPr>
          <p:spPr>
            <a:xfrm flipV="1">
              <a:off x="11374983" y="4334933"/>
              <a:ext cx="0" cy="3939797"/>
            </a:xfrm>
            <a:prstGeom prst="line">
              <a:avLst/>
            </a:prstGeom>
            <a:noFill/>
            <a:ln w="76200" cap="flat">
              <a:solidFill>
                <a:srgbClr val="000000"/>
              </a:solidFill>
              <a:prstDash val="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9E97098-9DE8-42A0-1CB3-35E09211DE45}"/>
                </a:ext>
              </a:extLst>
            </p:cNvPr>
            <p:cNvCxnSpPr>
              <a:stCxn id="28" idx="0"/>
            </p:cNvCxnSpPr>
            <p:nvPr/>
          </p:nvCxnSpPr>
          <p:spPr>
            <a:xfrm flipV="1">
              <a:off x="7761803" y="4334933"/>
              <a:ext cx="0" cy="3939797"/>
            </a:xfrm>
            <a:prstGeom prst="line">
              <a:avLst/>
            </a:prstGeom>
            <a:noFill/>
            <a:ln w="76200" cap="flat">
              <a:solidFill>
                <a:srgbClr val="000000"/>
              </a:solidFill>
              <a:prstDash val="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DD4B06C-BC4D-B8C8-7065-03A7E5EFAC67}"/>
                </a:ext>
              </a:extLst>
            </p:cNvPr>
            <p:cNvCxnSpPr>
              <a:cxnSpLocks/>
              <a:endCxn id="29" idx="0"/>
            </p:cNvCxnSpPr>
            <p:nvPr/>
          </p:nvCxnSpPr>
          <p:spPr>
            <a:xfrm>
              <a:off x="7761803" y="4334933"/>
              <a:ext cx="3613180" cy="3939797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CB6F431-89F8-7EC7-80F7-547D189C41FC}"/>
                </a:ext>
              </a:extLst>
            </p:cNvPr>
            <p:cNvSpPr txBox="1"/>
            <p:nvPr/>
          </p:nvSpPr>
          <p:spPr>
            <a:xfrm>
              <a:off x="5088132" y="3928478"/>
              <a:ext cx="971420" cy="8412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4800" dirty="0"/>
                <a:t>1.0</a:t>
              </a:r>
              <a:endParaRPr kumimoji="0" lang="en-ID" sz="48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pic>
        <p:nvPicPr>
          <p:cNvPr id="36" name="Picture 6">
            <a:extLst>
              <a:ext uri="{FF2B5EF4-FFF2-40B4-BE49-F238E27FC236}">
                <a16:creationId xmlns:a16="http://schemas.microsoft.com/office/drawing/2014/main" id="{6C043884-EB7F-FE77-F7EA-E35994A74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4521" y="10739350"/>
            <a:ext cx="7145416" cy="2480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8774103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79044-FB74-86D7-36D0-4B0400DCE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Membership function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220FD-81CA-8450-1113-33B6B3E28A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Example: linear membership function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0DFCEF2-1A02-33F9-4100-3B5DCE242E87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/>
              <a:lstStyle/>
              <a:p>
                <a:r>
                  <a:rPr lang="en-US" sz="4400" dirty="0">
                    <a:latin typeface="+mj-lt"/>
                  </a:rPr>
                  <a:t>According to the WHO, the ideal room temperature for human occupancy is 18-25⁰C. If you enter a room with a temperature of 20⁰C, what is the degree of comfort in this room?</a:t>
                </a:r>
              </a:p>
              <a:p>
                <a:endParaRPr lang="en-US" sz="4400" dirty="0">
                  <a:latin typeface="+mj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𝑖𝑑𝑒𝑎𝑙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US" sz="5400" dirty="0">
                  <a:latin typeface="+mj-lt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0DFCEF2-1A02-33F9-4100-3B5DCE242E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29" t="-1329" r="-1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ED5BD7-47F8-7A6F-ECCF-3781F2D0337D}"/>
                  </a:ext>
                </a:extLst>
              </p:cNvPr>
              <p:cNvSpPr txBox="1"/>
              <p:nvPr/>
            </p:nvSpPr>
            <p:spPr>
              <a:xfrm>
                <a:off x="6074395" y="8729107"/>
                <a:ext cx="1436135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600" dirty="0">
                    <a:solidFill>
                      <a:schemeClr val="bg2">
                        <a:lumMod val="10000"/>
                      </a:schemeClr>
                    </a:solidFill>
                  </a:rPr>
                  <a:t> is the temperature room when you are entering the room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3600" dirty="0">
                    <a:solidFill>
                      <a:schemeClr val="bg2">
                        <a:lumMod val="10000"/>
                      </a:schemeClr>
                    </a:solidFill>
                  </a:rPr>
                  <a:t> is the lowest ideal temperature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3600" dirty="0">
                    <a:solidFill>
                      <a:schemeClr val="bg2">
                        <a:lumMod val="10000"/>
                      </a:schemeClr>
                    </a:solidFill>
                  </a:rPr>
                  <a:t> is the largest ideal temperature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ED5BD7-47F8-7A6F-ECCF-3781F2D03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4395" y="8729107"/>
                <a:ext cx="14361355" cy="1754326"/>
              </a:xfrm>
              <a:prstGeom prst="rect">
                <a:avLst/>
              </a:prstGeom>
              <a:blipFill>
                <a:blip r:embed="rId3"/>
                <a:stretch>
                  <a:fillRect l="-531" t="-5036" b="-11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9804154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79044-FB74-86D7-36D0-4B0400DCE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Membership function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220FD-81CA-8450-1113-33B6B3E28A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Example: linear membership function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0DFCEF2-1A02-33F9-4100-3B5DCE242E87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/>
              <a:lstStyle/>
              <a:p>
                <a:r>
                  <a:rPr lang="en-US" sz="4400" dirty="0">
                    <a:latin typeface="+mj-lt"/>
                  </a:rPr>
                  <a:t>According to the WHO, the ideal room temperature for human occupancy is 18-25⁰C. If you enter a room with a temperature of 20⁰C, what is the degree of comfort in this room?</a:t>
                </a:r>
              </a:p>
              <a:p>
                <a:endParaRPr lang="en-US" sz="4400" dirty="0">
                  <a:latin typeface="+mj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𝑖𝑑𝑒𝑎𝑙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=0.2857</m:t>
                      </m:r>
                    </m:oMath>
                  </m:oMathPara>
                </a14:m>
                <a:endParaRPr lang="en-US" sz="5400" dirty="0">
                  <a:latin typeface="+mj-lt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0DFCEF2-1A02-33F9-4100-3B5DCE242E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29" t="-1329" r="-1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ED5BD7-47F8-7A6F-ECCF-3781F2D0337D}"/>
                  </a:ext>
                </a:extLst>
              </p:cNvPr>
              <p:cNvSpPr txBox="1"/>
              <p:nvPr/>
            </p:nvSpPr>
            <p:spPr>
              <a:xfrm>
                <a:off x="6074395" y="8729107"/>
                <a:ext cx="1436135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600" dirty="0">
                    <a:solidFill>
                      <a:schemeClr val="bg2">
                        <a:lumMod val="10000"/>
                      </a:schemeClr>
                    </a:solidFill>
                  </a:rPr>
                  <a:t> is the temperature room when you are entering the room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3600" dirty="0">
                    <a:solidFill>
                      <a:schemeClr val="bg2">
                        <a:lumMod val="10000"/>
                      </a:schemeClr>
                    </a:solidFill>
                  </a:rPr>
                  <a:t> is the lowest ideal temperature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3600" dirty="0">
                    <a:solidFill>
                      <a:schemeClr val="bg2">
                        <a:lumMod val="10000"/>
                      </a:schemeClr>
                    </a:solidFill>
                  </a:rPr>
                  <a:t> is the largest ideal temperature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ED5BD7-47F8-7A6F-ECCF-3781F2D03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4395" y="8729107"/>
                <a:ext cx="14361355" cy="1754326"/>
              </a:xfrm>
              <a:prstGeom prst="rect">
                <a:avLst/>
              </a:prstGeom>
              <a:blipFill>
                <a:blip r:embed="rId3"/>
                <a:stretch>
                  <a:fillRect l="-531" t="-5036" b="-11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2163889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79044-FB74-86D7-36D0-4B0400DCE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Membership function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220FD-81CA-8450-1113-33B6B3E28A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Triangular membership function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B9A0D1-C8F4-D802-E2AB-0AD697725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090" y="3223274"/>
            <a:ext cx="12446676" cy="9252395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BB1BD417-53E0-6099-B671-FB90AF5008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25595" y="6347719"/>
            <a:ext cx="6747032" cy="2556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1210786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79044-FB74-86D7-36D0-4B0400DCE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Membership function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220FD-81CA-8450-1113-33B6B3E28A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Example: triangular membership function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FCEF2-1A02-33F9-4100-3B5DCE242E8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4400" dirty="0">
                <a:latin typeface="+mj-lt"/>
              </a:rPr>
              <a:t>According to the WHO, the ideal room temperature for human occupancy is 18-25⁰C, with 20⁰C being the most ideal for </a:t>
            </a:r>
            <a:r>
              <a:rPr lang="en-US" sz="4400" b="1" dirty="0">
                <a:latin typeface="+mj-lt"/>
              </a:rPr>
              <a:t>older</a:t>
            </a:r>
            <a:r>
              <a:rPr lang="en-US" sz="4400" dirty="0">
                <a:latin typeface="+mj-lt"/>
              </a:rPr>
              <a:t> people. An old woman enters a room with a temperature of 22⁰C. What is the degree of comfort in this room for the old woman?</a:t>
            </a:r>
          </a:p>
          <a:p>
            <a:endParaRPr lang="en-US" sz="4400" dirty="0">
              <a:latin typeface="+mj-lt"/>
            </a:endParaRPr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ED5BD7-47F8-7A6F-ECCF-3781F2D0337D}"/>
                  </a:ext>
                </a:extLst>
              </p:cNvPr>
              <p:cNvSpPr txBox="1"/>
              <p:nvPr/>
            </p:nvSpPr>
            <p:spPr>
              <a:xfrm>
                <a:off x="5969892" y="9608300"/>
                <a:ext cx="14361355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600" dirty="0">
                    <a:solidFill>
                      <a:schemeClr val="bg2">
                        <a:lumMod val="10000"/>
                      </a:schemeClr>
                    </a:solidFill>
                  </a:rPr>
                  <a:t> is the temperature room when you are entering the room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3600" dirty="0">
                    <a:solidFill>
                      <a:schemeClr val="bg2">
                        <a:lumMod val="10000"/>
                      </a:schemeClr>
                    </a:solidFill>
                  </a:rPr>
                  <a:t> is the minimum ideal temperature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3600" dirty="0">
                    <a:solidFill>
                      <a:schemeClr val="bg2">
                        <a:lumMod val="10000"/>
                      </a:schemeClr>
                    </a:solidFill>
                  </a:rPr>
                  <a:t> is the optimal temperature for old people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3600" dirty="0">
                    <a:solidFill>
                      <a:schemeClr val="bg2">
                        <a:lumMod val="10000"/>
                      </a:schemeClr>
                    </a:solidFill>
                  </a:rPr>
                  <a:t> is the maximum ideal temperature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ED5BD7-47F8-7A6F-ECCF-3781F2D03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892" y="9608300"/>
                <a:ext cx="14361355" cy="2308324"/>
              </a:xfrm>
              <a:prstGeom prst="rect">
                <a:avLst/>
              </a:prstGeom>
              <a:blipFill>
                <a:blip r:embed="rId2"/>
                <a:stretch>
                  <a:fillRect l="-442" t="-3825" b="-8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>
            <a:extLst>
              <a:ext uri="{FF2B5EF4-FFF2-40B4-BE49-F238E27FC236}">
                <a16:creationId xmlns:a16="http://schemas.microsoft.com/office/drawing/2014/main" id="{EBAA5EB6-84B8-2E77-0F89-B6DF81919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1901" y="6570215"/>
            <a:ext cx="6747032" cy="2556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8355415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79044-FB74-86D7-36D0-4B0400DCE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Membership function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220FD-81CA-8450-1113-33B6B3E28A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Example: triangular membership function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0DFCEF2-1A02-33F9-4100-3B5DCE242E87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/>
              <a:lstStyle/>
              <a:p>
                <a:r>
                  <a:rPr lang="en-US" sz="4400" dirty="0">
                    <a:latin typeface="+mj-lt"/>
                  </a:rPr>
                  <a:t>According to the WHO, the ideal room temperature for human occupancy is 18-25⁰C, with 20⁰C being the most ideal for </a:t>
                </a:r>
                <a:r>
                  <a:rPr lang="en-US" sz="4400" b="1" dirty="0">
                    <a:latin typeface="+mj-lt"/>
                  </a:rPr>
                  <a:t>older</a:t>
                </a:r>
                <a:r>
                  <a:rPr lang="en-US" sz="4400" dirty="0">
                    <a:latin typeface="+mj-lt"/>
                  </a:rPr>
                  <a:t> people. An old woman enters a room with a temperature of 22⁰C. What is the degree of comfort in this room for the old woman?</a:t>
                </a:r>
              </a:p>
              <a:p>
                <a:endParaRPr lang="en-US" sz="4400" dirty="0">
                  <a:latin typeface="+mj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𝑖𝑑𝑒𝑎𝑙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25−22</m:t>
                          </m:r>
                        </m:num>
                        <m:den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25−20</m:t>
                          </m:r>
                        </m:den>
                      </m:f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=0.6</m:t>
                      </m:r>
                    </m:oMath>
                  </m:oMathPara>
                </a14:m>
                <a:endParaRPr lang="en-US" sz="5400" dirty="0">
                  <a:latin typeface="+mj-lt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0DFCEF2-1A02-33F9-4100-3B5DCE242E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29" t="-1329" r="-2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ED5BD7-47F8-7A6F-ECCF-3781F2D0337D}"/>
                  </a:ext>
                </a:extLst>
              </p:cNvPr>
              <p:cNvSpPr txBox="1"/>
              <p:nvPr/>
            </p:nvSpPr>
            <p:spPr>
              <a:xfrm>
                <a:off x="5969892" y="9608300"/>
                <a:ext cx="14361355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600" dirty="0">
                    <a:solidFill>
                      <a:schemeClr val="bg2">
                        <a:lumMod val="10000"/>
                      </a:schemeClr>
                    </a:solidFill>
                  </a:rPr>
                  <a:t> is the temperature room when you are entering the room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3600" dirty="0">
                    <a:solidFill>
                      <a:schemeClr val="bg2">
                        <a:lumMod val="10000"/>
                      </a:schemeClr>
                    </a:solidFill>
                  </a:rPr>
                  <a:t> is the minimum ideal temperature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3600" dirty="0">
                    <a:solidFill>
                      <a:schemeClr val="bg2">
                        <a:lumMod val="10000"/>
                      </a:schemeClr>
                    </a:solidFill>
                  </a:rPr>
                  <a:t> is the optimal temperature for old people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3600" dirty="0">
                    <a:solidFill>
                      <a:schemeClr val="bg2">
                        <a:lumMod val="10000"/>
                      </a:schemeClr>
                    </a:solidFill>
                  </a:rPr>
                  <a:t> is the maximum ideal temperature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ED5BD7-47F8-7A6F-ECCF-3781F2D03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892" y="9608300"/>
                <a:ext cx="14361355" cy="2308324"/>
              </a:xfrm>
              <a:prstGeom prst="rect">
                <a:avLst/>
              </a:prstGeom>
              <a:blipFill>
                <a:blip r:embed="rId3"/>
                <a:stretch>
                  <a:fillRect l="-442" t="-3825" b="-8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0755360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79044-FB74-86D7-36D0-4B0400DCE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Membership function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220FD-81CA-8450-1113-33B6B3E28A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Trapezoid membership function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EE59A1-40DC-D808-C516-5D70963FE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091" y="3323704"/>
            <a:ext cx="12446676" cy="9252398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E1D6A351-B568-B7F6-462E-398C8B527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12553" y="5686754"/>
            <a:ext cx="7738452" cy="3640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0786036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79044-FB74-86D7-36D0-4B0400DCE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Membership function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220FD-81CA-8450-1113-33B6B3E28A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Example: triangular membership function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FCEF2-1A02-33F9-4100-3B5DCE242E8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4400" dirty="0">
                <a:latin typeface="+mj-lt"/>
              </a:rPr>
              <a:t>According to the WHO, the ideal room temperature for human occupancy is 18-25⁰C. The ideal temperature for </a:t>
            </a:r>
            <a:r>
              <a:rPr lang="en-US" sz="4400" b="1" dirty="0">
                <a:latin typeface="+mj-lt"/>
              </a:rPr>
              <a:t>an infant </a:t>
            </a:r>
            <a:r>
              <a:rPr lang="en-US" sz="4400" dirty="0">
                <a:latin typeface="+mj-lt"/>
              </a:rPr>
              <a:t>is 20-21⁰C. An infant sleeps in a room with a temperature of 22⁰C. What is the degree of comfort for this infant in this room?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ED5BD7-47F8-7A6F-ECCF-3781F2D0337D}"/>
                  </a:ext>
                </a:extLst>
              </p:cNvPr>
              <p:cNvSpPr txBox="1"/>
              <p:nvPr/>
            </p:nvSpPr>
            <p:spPr>
              <a:xfrm>
                <a:off x="6022144" y="10410536"/>
                <a:ext cx="14361355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600" dirty="0">
                    <a:solidFill>
                      <a:schemeClr val="bg2">
                        <a:lumMod val="10000"/>
                      </a:schemeClr>
                    </a:solidFill>
                  </a:rPr>
                  <a:t> is the temperature room when you are entering the room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3600" dirty="0">
                    <a:solidFill>
                      <a:schemeClr val="bg2">
                        <a:lumMod val="10000"/>
                      </a:schemeClr>
                    </a:solidFill>
                  </a:rPr>
                  <a:t> is the minimum ideal temperature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36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6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3600" dirty="0">
                    <a:solidFill>
                      <a:schemeClr val="bg2">
                        <a:lumMod val="10000"/>
                      </a:schemeClr>
                    </a:solidFill>
                  </a:rPr>
                  <a:t> is the optimal temperature for old people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3600" dirty="0">
                    <a:solidFill>
                      <a:schemeClr val="bg2">
                        <a:lumMod val="10000"/>
                      </a:schemeClr>
                    </a:solidFill>
                  </a:rPr>
                  <a:t> is the maximum ideal temperature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ED5BD7-47F8-7A6F-ECCF-3781F2D03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2144" y="10410536"/>
                <a:ext cx="14361355" cy="2308324"/>
              </a:xfrm>
              <a:prstGeom prst="rect">
                <a:avLst/>
              </a:prstGeom>
              <a:blipFill>
                <a:blip r:embed="rId2"/>
                <a:stretch>
                  <a:fillRect l="-530" t="-3825" b="-9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>
            <a:extLst>
              <a:ext uri="{FF2B5EF4-FFF2-40B4-BE49-F238E27FC236}">
                <a16:creationId xmlns:a16="http://schemas.microsoft.com/office/drawing/2014/main" id="{5B1305D9-A543-8F5D-26D0-9C2247B1A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093" y="6469820"/>
            <a:ext cx="7760318" cy="3650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1012365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79044-FB74-86D7-36D0-4B0400DCE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Membership function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220FD-81CA-8450-1113-33B6B3E28A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Example: triangular membership function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0DFCEF2-1A02-33F9-4100-3B5DCE242E87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/>
              <a:lstStyle/>
              <a:p>
                <a:r>
                  <a:rPr lang="en-US" sz="4400" dirty="0">
                    <a:latin typeface="+mj-lt"/>
                  </a:rPr>
                  <a:t>According to the WHO, the ideal room temperature for human occupancy is 18-25⁰C. The ideal temperature for </a:t>
                </a:r>
                <a:r>
                  <a:rPr lang="en-US" sz="4400" b="1" dirty="0">
                    <a:latin typeface="+mj-lt"/>
                  </a:rPr>
                  <a:t>an infant </a:t>
                </a:r>
                <a:r>
                  <a:rPr lang="en-US" sz="4400" dirty="0">
                    <a:latin typeface="+mj-lt"/>
                  </a:rPr>
                  <a:t>is </a:t>
                </a:r>
                <a:r>
                  <a:rPr lang="en-US" sz="4400" b="1" dirty="0">
                    <a:latin typeface="+mj-lt"/>
                  </a:rPr>
                  <a:t>20-21⁰C</a:t>
                </a:r>
                <a:r>
                  <a:rPr lang="en-US" sz="4400" dirty="0">
                    <a:latin typeface="+mj-lt"/>
                  </a:rPr>
                  <a:t>. An infant sleeps in a room with a temperature of 22⁰C. What is the degree of comfort for this infant in this room?</a:t>
                </a:r>
              </a:p>
              <a:p>
                <a:endParaRPr lang="en-US" sz="4400" dirty="0">
                  <a:latin typeface="+mj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𝑖𝑑𝑒𝑎𝑙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25−22</m:t>
                          </m:r>
                        </m:num>
                        <m:den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25−21</m:t>
                          </m:r>
                        </m:den>
                      </m:f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=0.75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0DFCEF2-1A02-33F9-4100-3B5DCE242E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29" t="-1329" r="-1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ED5BD7-47F8-7A6F-ECCF-3781F2D0337D}"/>
                  </a:ext>
                </a:extLst>
              </p:cNvPr>
              <p:cNvSpPr txBox="1"/>
              <p:nvPr/>
            </p:nvSpPr>
            <p:spPr>
              <a:xfrm>
                <a:off x="6022144" y="10410536"/>
                <a:ext cx="14361355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600" dirty="0">
                    <a:solidFill>
                      <a:schemeClr val="bg2">
                        <a:lumMod val="10000"/>
                      </a:schemeClr>
                    </a:solidFill>
                  </a:rPr>
                  <a:t> is the temperature room when you are entering the room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3600" dirty="0">
                    <a:solidFill>
                      <a:schemeClr val="bg2">
                        <a:lumMod val="10000"/>
                      </a:schemeClr>
                    </a:solidFill>
                  </a:rPr>
                  <a:t> is the minimum ideal temperature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36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6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3600" dirty="0">
                    <a:solidFill>
                      <a:schemeClr val="bg2">
                        <a:lumMod val="10000"/>
                      </a:schemeClr>
                    </a:solidFill>
                  </a:rPr>
                  <a:t> is the optimal temperature for old people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3600" dirty="0">
                    <a:solidFill>
                      <a:schemeClr val="bg2">
                        <a:lumMod val="10000"/>
                      </a:schemeClr>
                    </a:solidFill>
                  </a:rPr>
                  <a:t> is the maximum ideal temperature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ED5BD7-47F8-7A6F-ECCF-3781F2D03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2144" y="10410536"/>
                <a:ext cx="14361355" cy="2308324"/>
              </a:xfrm>
              <a:prstGeom prst="rect">
                <a:avLst/>
              </a:prstGeom>
              <a:blipFill>
                <a:blip r:embed="rId3"/>
                <a:stretch>
                  <a:fillRect l="-530" t="-3825" b="-9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2069965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79044-FB74-86D7-36D0-4B0400DCE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Membership function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220FD-81CA-8450-1113-33B6B3E28A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to make a membership function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FCEF2-1A02-33F9-4100-3B5DCE242E8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4400" dirty="0">
                <a:latin typeface="+mj-lt"/>
              </a:rPr>
              <a:t>Interview those who are familiar with the underlying concept and later adjust it based on a tuning strategy</a:t>
            </a:r>
          </a:p>
          <a:p>
            <a:r>
              <a:rPr lang="en-US" sz="4400" dirty="0">
                <a:latin typeface="+mj-lt"/>
              </a:rPr>
              <a:t>Construct it automatically from data.</a:t>
            </a:r>
          </a:p>
          <a:p>
            <a:r>
              <a:rPr lang="en-US" sz="4400" dirty="0">
                <a:latin typeface="+mj-lt"/>
              </a:rPr>
              <a:t>Learn it based on feedback from the system performance</a:t>
            </a:r>
          </a:p>
          <a:p>
            <a:endParaRPr lang="en-US" sz="4400" dirty="0">
              <a:latin typeface="+mj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794035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A7833-2DAD-A588-A4A1-76077BCCF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Standard operation of fuzzy 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31624-C9EF-9007-822A-61807979B0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Type of operation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FDE941A-3935-FD32-54DF-1DCFC1F115A0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/>
              <a:lstStyle/>
              <a:p>
                <a:r>
                  <a:rPr lang="en-US" sz="4400" dirty="0"/>
                  <a:t>Complement</a:t>
                </a:r>
              </a:p>
              <a:p>
                <a:pPr marL="0" indent="0"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acc>
                            <m:accPr>
                              <m:chr m:val="̅"/>
                              <m:ctrlPr>
                                <a:rPr lang="en-US" sz="4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sub>
                      </m:sSub>
                      <m:r>
                        <a:rPr lang="en-US" sz="4400" i="1" smtClean="0">
                          <a:latin typeface="Cambria Math" panose="02040503050406030204" pitchFamily="18" charset="0"/>
                        </a:rPr>
                        <m:t>=1−</m:t>
                      </m:r>
                      <m:sSub>
                        <m:sSubPr>
                          <m:ctrlPr>
                            <a:rPr lang="en-US" sz="4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440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4400" dirty="0"/>
              </a:p>
              <a:p>
                <a:endParaRPr lang="en-US" sz="4400" dirty="0"/>
              </a:p>
              <a:p>
                <a:r>
                  <a:rPr lang="en-US" sz="4400" dirty="0"/>
                  <a:t>Union (</a:t>
                </a:r>
                <a:r>
                  <a:rPr lang="en-US" b="1" dirty="0">
                    <a:solidFill>
                      <a:srgbClr val="0070C0"/>
                    </a:solidFill>
                  </a:rPr>
                  <a:t>o</a:t>
                </a:r>
                <a:r>
                  <a:rPr lang="en-US" sz="4400" b="1" dirty="0">
                    <a:solidFill>
                      <a:srgbClr val="0070C0"/>
                    </a:solidFill>
                  </a:rPr>
                  <a:t>r</a:t>
                </a:r>
                <a:r>
                  <a:rPr lang="en-US" sz="4400" dirty="0"/>
                  <a:t>)</a:t>
                </a:r>
              </a:p>
              <a:p>
                <a:pPr marL="0" indent="0"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440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4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⋃</m:t>
                          </m:r>
                          <m:r>
                            <a:rPr lang="en-US" sz="4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4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i="1" smtClean="0">
                          <a:latin typeface="Cambria Math" panose="02040503050406030204" pitchFamily="18" charset="0"/>
                        </a:rPr>
                        <m:t>𝑀𝐴𝑋</m:t>
                      </m:r>
                      <m:r>
                        <a:rPr lang="en-US" sz="4400" i="1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4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440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4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440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440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440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4400" dirty="0"/>
              </a:p>
              <a:p>
                <a:pPr marL="0" indent="0">
                  <a:buFontTx/>
                  <a:buNone/>
                </a:pPr>
                <a:endParaRPr lang="en-US" sz="4400" dirty="0"/>
              </a:p>
              <a:p>
                <a:r>
                  <a:rPr lang="en-US" sz="4400" dirty="0"/>
                  <a:t>Intersection (</a:t>
                </a:r>
                <a:r>
                  <a:rPr lang="en-US" b="1" dirty="0">
                    <a:solidFill>
                      <a:srgbClr val="0070C0"/>
                    </a:solidFill>
                  </a:rPr>
                  <a:t>a</a:t>
                </a:r>
                <a:r>
                  <a:rPr lang="en-US" sz="4400" b="1" dirty="0">
                    <a:solidFill>
                      <a:srgbClr val="0070C0"/>
                    </a:solidFill>
                  </a:rPr>
                  <a:t>nd</a:t>
                </a:r>
                <a:r>
                  <a:rPr lang="en-US" sz="4400" dirty="0"/>
                  <a:t>)</a:t>
                </a:r>
              </a:p>
              <a:p>
                <a:pPr marL="0" indent="0"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440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US" sz="4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4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i="1" smtClean="0">
                          <a:latin typeface="Cambria Math" panose="02040503050406030204" pitchFamily="18" charset="0"/>
                        </a:rPr>
                        <m:t>𝑀𝐼𝑁</m:t>
                      </m:r>
                      <m:r>
                        <a:rPr lang="en-US" sz="4400" i="1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4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440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4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440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440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440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4400" dirty="0"/>
              </a:p>
              <a:p>
                <a:pPr marL="0" indent="0">
                  <a:buFontTx/>
                  <a:buNone/>
                </a:pPr>
                <a:endParaRPr lang="en-US" sz="4400" dirty="0"/>
              </a:p>
              <a:p>
                <a:pPr marL="0" indent="0">
                  <a:buFontTx/>
                  <a:buNone/>
                </a:pPr>
                <a:endParaRPr lang="en-US" sz="4400" dirty="0"/>
              </a:p>
              <a:p>
                <a:endParaRPr lang="en-US" sz="440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FDE941A-3935-FD32-54DF-1DCFC1F115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29" t="-1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5719007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AA025-CC9A-D1DF-E9E4-EA69902C8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EA1C33-CF96-4A61-15C5-531151FDFF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A539D1-2361-1CBB-9434-A7622F0F84C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4400" dirty="0">
                <a:latin typeface="+mj-lt"/>
              </a:rPr>
              <a:t>According to some research, the normal temperature for place X ranges from 24°C to 27°C. Temperatures lower than 15°C are considered cold, while those higher than 32°C are considered hot.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latin typeface="+mj-lt"/>
              </a:rPr>
              <a:t>Draw the membership function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latin typeface="+mj-lt"/>
              </a:rPr>
              <a:t>One day, the temperature of that area are 23 C. Calculate the degree of comfortability according to the previous membership function.</a:t>
            </a:r>
          </a:p>
          <a:p>
            <a:endParaRPr lang="en-US" sz="4400" dirty="0">
              <a:latin typeface="+mj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332651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15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03F54-B3BC-80AB-98AC-C3ABDC8D86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149698" cy="9798111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4000" dirty="0">
                <a:latin typeface="+mj-lt"/>
              </a:rPr>
              <a:t>Engelbrecht, A. P. (2023). Computational intelligence: an introduction 3</a:t>
            </a:r>
            <a:r>
              <a:rPr lang="en-US" sz="4000" baseline="30000" dirty="0">
                <a:latin typeface="+mj-lt"/>
              </a:rPr>
              <a:t>rd</a:t>
            </a:r>
            <a:r>
              <a:rPr lang="en-US" sz="4000" dirty="0">
                <a:latin typeface="+mj-lt"/>
              </a:rPr>
              <a:t> edition. Wiley</a:t>
            </a:r>
          </a:p>
          <a:p>
            <a:pPr>
              <a:spcBef>
                <a:spcPts val="600"/>
              </a:spcBef>
            </a:pPr>
            <a:r>
              <a:rPr lang="en-US" sz="4000" dirty="0">
                <a:latin typeface="+mj-lt"/>
              </a:rPr>
              <a:t>Lee, K. H. (2004). First course on Fuzzy Theory and Applications. Springer Science &amp; Business Media.</a:t>
            </a:r>
          </a:p>
          <a:p>
            <a:pPr>
              <a:spcBef>
                <a:spcPts val="600"/>
              </a:spcBef>
            </a:pPr>
            <a:endParaRPr lang="en-US" sz="4000" dirty="0">
              <a:latin typeface="+mj-lt"/>
            </a:endParaRPr>
          </a:p>
          <a:p>
            <a:pPr>
              <a:spcBef>
                <a:spcPts val="600"/>
              </a:spcBef>
            </a:pPr>
            <a:endParaRPr lang="en-US" sz="4000" dirty="0">
              <a:latin typeface="+mj-lt"/>
            </a:endParaRPr>
          </a:p>
          <a:p>
            <a:pPr>
              <a:spcBef>
                <a:spcPts val="600"/>
              </a:spcBef>
            </a:pPr>
            <a:endParaRPr lang="en-US" sz="4000" dirty="0"/>
          </a:p>
          <a:p>
            <a:pPr>
              <a:spcBef>
                <a:spcPts val="600"/>
              </a:spcBef>
            </a:pPr>
            <a:endParaRPr lang="en-US" sz="4000" dirty="0"/>
          </a:p>
          <a:p>
            <a:pPr>
              <a:spcBef>
                <a:spcPts val="600"/>
              </a:spcBef>
            </a:pPr>
            <a:endParaRPr lang="en-US" sz="4000" dirty="0"/>
          </a:p>
          <a:p>
            <a:pPr>
              <a:spcBef>
                <a:spcPts val="600"/>
              </a:spcBef>
            </a:pPr>
            <a:endParaRPr lang="en-US" sz="4000" dirty="0"/>
          </a:p>
          <a:p>
            <a:pPr>
              <a:spcBef>
                <a:spcPts val="600"/>
              </a:spcBef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7747719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4410</TotalTime>
  <Words>1631</Words>
  <Application>Microsoft Macintosh PowerPoint</Application>
  <PresentationFormat>Custom</PresentationFormat>
  <Paragraphs>195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Wingdings</vt:lpstr>
      <vt:lpstr>OCRB</vt:lpstr>
      <vt:lpstr>Open Sans Semibold</vt:lpstr>
      <vt:lpstr>Open Sans Light</vt:lpstr>
      <vt:lpstr>Arial</vt:lpstr>
      <vt:lpstr>Open Sans</vt:lpstr>
      <vt:lpstr>Open Sans ExtraBold</vt:lpstr>
      <vt:lpstr>Cambria Math</vt:lpstr>
      <vt:lpstr>21_BasicWhite</vt:lpstr>
      <vt:lpstr>Fuzzy set</vt:lpstr>
      <vt:lpstr>Learning Outcomes</vt:lpstr>
      <vt:lpstr>outline</vt:lpstr>
      <vt:lpstr>Fuzzy Logic </vt:lpstr>
      <vt:lpstr>Fuzzy Logic </vt:lpstr>
      <vt:lpstr>Fuzzy Logic </vt:lpstr>
      <vt:lpstr>Fuzzy Logic </vt:lpstr>
      <vt:lpstr>Fuzzy Logic </vt:lpstr>
      <vt:lpstr>Fuzzy Logic </vt:lpstr>
      <vt:lpstr>Crisp set vs fuzzy set</vt:lpstr>
      <vt:lpstr>Crisp set vs fuzzy set</vt:lpstr>
      <vt:lpstr>Crisp set vs fuzzy set</vt:lpstr>
      <vt:lpstr>Crisp set vs fuzzy set</vt:lpstr>
      <vt:lpstr>Crisp set vs fuzzy set</vt:lpstr>
      <vt:lpstr>Crisp set vs fuzzy set</vt:lpstr>
      <vt:lpstr>Membership function</vt:lpstr>
      <vt:lpstr>Membership function</vt:lpstr>
      <vt:lpstr>Membership function</vt:lpstr>
      <vt:lpstr>Membership function</vt:lpstr>
      <vt:lpstr>Membership function</vt:lpstr>
      <vt:lpstr>Membership function</vt:lpstr>
      <vt:lpstr>Membership function</vt:lpstr>
      <vt:lpstr>Membership function</vt:lpstr>
      <vt:lpstr>Membership function</vt:lpstr>
      <vt:lpstr>Membership function</vt:lpstr>
      <vt:lpstr>Membership function</vt:lpstr>
      <vt:lpstr>Membership function</vt:lpstr>
      <vt:lpstr>Standard operation of fuzzy set</vt:lpstr>
      <vt:lpstr>Exercise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 LUCKY</dc:creator>
  <cp:lastModifiedBy>HENRY LUCKY</cp:lastModifiedBy>
  <cp:revision>55</cp:revision>
  <dcterms:created xsi:type="dcterms:W3CDTF">2023-11-17T02:51:40Z</dcterms:created>
  <dcterms:modified xsi:type="dcterms:W3CDTF">2024-07-28T12:37:09Z</dcterms:modified>
</cp:coreProperties>
</file>