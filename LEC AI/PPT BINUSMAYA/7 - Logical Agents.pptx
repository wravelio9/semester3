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8"/>
  </p:notesMasterIdLst>
  <p:sldIdLst>
    <p:sldId id="290" r:id="rId2"/>
    <p:sldId id="257" r:id="rId3"/>
    <p:sldId id="258" r:id="rId4"/>
    <p:sldId id="353" r:id="rId5"/>
    <p:sldId id="354" r:id="rId6"/>
    <p:sldId id="355" r:id="rId7"/>
    <p:sldId id="356" r:id="rId8"/>
    <p:sldId id="357" r:id="rId9"/>
    <p:sldId id="358" r:id="rId10"/>
    <p:sldId id="359" r:id="rId11"/>
    <p:sldId id="360" r:id="rId12"/>
    <p:sldId id="361" r:id="rId13"/>
    <p:sldId id="363" r:id="rId14"/>
    <p:sldId id="364" r:id="rId15"/>
    <p:sldId id="362" r:id="rId16"/>
    <p:sldId id="365" r:id="rId17"/>
    <p:sldId id="366" r:id="rId18"/>
    <p:sldId id="367" r:id="rId19"/>
    <p:sldId id="368" r:id="rId20"/>
    <p:sldId id="369" r:id="rId21"/>
    <p:sldId id="370" r:id="rId22"/>
    <p:sldId id="371" r:id="rId23"/>
    <p:sldId id="372" r:id="rId24"/>
    <p:sldId id="373" r:id="rId25"/>
    <p:sldId id="374" r:id="rId26"/>
    <p:sldId id="375" r:id="rId27"/>
    <p:sldId id="376" r:id="rId28"/>
    <p:sldId id="377" r:id="rId29"/>
    <p:sldId id="378" r:id="rId30"/>
    <p:sldId id="379" r:id="rId31"/>
    <p:sldId id="380" r:id="rId32"/>
    <p:sldId id="381" r:id="rId33"/>
    <p:sldId id="382" r:id="rId34"/>
    <p:sldId id="384" r:id="rId35"/>
    <p:sldId id="352" r:id="rId36"/>
    <p:sldId id="278" r:id="rId37"/>
  </p:sldIdLst>
  <p:sldSz cx="24384000" cy="13716000"/>
  <p:notesSz cx="6858000" cy="9144000"/>
  <p:embeddedFontLst>
    <p:embeddedFont>
      <p:font typeface="Cambria Math" panose="02040503050406030204" pitchFamily="18" charset="0"/>
      <p:regular r:id="rId39"/>
    </p:embeddedFont>
    <p:embeddedFont>
      <p:font typeface="OCRB" panose="020B0609020202020204" pitchFamily="49" charset="0"/>
      <p:regular r:id="rId40"/>
    </p:embeddedFont>
    <p:embeddedFont>
      <p:font typeface="Open Sans" panose="020B0606030504020204" pitchFamily="34" charset="0"/>
      <p:regular r:id="rId41"/>
      <p:bold r:id="rId42"/>
      <p:italic r:id="rId43"/>
      <p:boldItalic r:id="rId44"/>
    </p:embeddedFont>
    <p:embeddedFont>
      <p:font typeface="Open Sans ExtraBold" panose="020B0906030804020204" pitchFamily="34" charset="0"/>
      <p:bold r:id="rId45"/>
      <p:italic r:id="rId46"/>
      <p:boldItalic r:id="rId47"/>
    </p:embeddedFont>
    <p:embeddedFont>
      <p:font typeface="Open Sans Light" panose="020B0306030504020204" pitchFamily="34" charset="0"/>
      <p:regular r:id="rId48"/>
      <p:italic r:id="rId49"/>
    </p:embeddedFont>
    <p:embeddedFont>
      <p:font typeface="Open Sans Semibold" panose="020B0706030804020204" pitchFamily="34" charset="0"/>
      <p:regular r:id="rId50"/>
      <p:bold r:id="rId51"/>
      <p:italic r:id="rId52"/>
      <p:boldItalic r:id="rId53"/>
    </p:embeddedFont>
    <p:embeddedFont>
      <p:font typeface="Roboto" panose="02000000000000000000" pitchFamily="2" charset="0"/>
      <p:regular r:id="rId54"/>
      <p:bold r:id="rId55"/>
      <p:italic r:id="rId56"/>
      <p:boldItalic r:id="rId57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12" autoAdjust="0"/>
    <p:restoredTop sz="91017"/>
  </p:normalViewPr>
  <p:slideViewPr>
    <p:cSldViewPr snapToGrid="0" snapToObjects="1">
      <p:cViewPr varScale="1">
        <p:scale>
          <a:sx n="29" d="100"/>
          <a:sy n="29" d="100"/>
        </p:scale>
        <p:origin x="1140" y="4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font" Target="fonts/font1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font" Target="fonts/font15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font" Target="fonts/font18.fntdata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Relationship Id="rId57" Type="http://schemas.openxmlformats.org/officeDocument/2006/relationships/font" Target="fonts/font1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font" Target="fonts/font14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583279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07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Agent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43550" y="11538583"/>
            <a:ext cx="5286583" cy="745888"/>
          </a:xfrm>
        </p:spPr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7792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7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r>
              <a:rPr lang="en-US" dirty="0"/>
              <a:t>LO 3: Apply various knowledge representations for reasoning purpose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7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Logic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Agents that thinking rationally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Fundamental Concept of Logic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Inference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Propositional Logic: Syntax and Semantics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Limitation of Propositional Logic</a:t>
            </a:r>
          </a:p>
          <a:p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C80-18A9-CC4F-A09E-B498BA31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5F5E-42E1-592E-CC7E-265976A13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Big Ideas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F03C2-AB0D-6794-B60F-46FAB7775C8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53554"/>
          </a:xfrm>
        </p:spPr>
        <p:txBody>
          <a:bodyPr>
            <a:normAutofit/>
          </a:bodyPr>
          <a:lstStyle/>
          <a:p>
            <a:r>
              <a:rPr lang="en-US" dirty="0"/>
              <a:t>Logic: great knowledge representation (KR) language for many Artificial Intelligence (AI) problems</a:t>
            </a:r>
          </a:p>
          <a:p>
            <a:r>
              <a:rPr lang="en-US" dirty="0"/>
              <a:t>Propositional Logic: simple foundation and fine for many AI problems</a:t>
            </a:r>
          </a:p>
          <a:p>
            <a:r>
              <a:rPr lang="en-US" dirty="0"/>
              <a:t>First Order Logic : More expressive as a KR language; needed for many AI problems</a:t>
            </a:r>
          </a:p>
        </p:txBody>
      </p:sp>
    </p:spTree>
    <p:extLst>
      <p:ext uri="{BB962C8B-B14F-4D97-AF65-F5344CB8AC3E}">
        <p14:creationId xmlns:p14="http://schemas.microsoft.com/office/powerpoint/2010/main" val="6083393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D9512-9B98-B218-05A9-3F70A0926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5A82-48DF-FD20-ECBB-53113AA39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D06E4-80E3-0EDF-7CC1-4F948C96C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47346-66AC-8580-B03F-D0DE9F20BFB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53554"/>
          </a:xfrm>
        </p:spPr>
        <p:txBody>
          <a:bodyPr>
            <a:normAutofit/>
          </a:bodyPr>
          <a:lstStyle/>
          <a:p>
            <a:r>
              <a:rPr lang="en-US" dirty="0"/>
              <a:t>Logic has many use cases even in a time dominated by learning algorithm, including these examples:</a:t>
            </a:r>
          </a:p>
          <a:p>
            <a:pPr lvl="1"/>
            <a:r>
              <a:rPr lang="en-US" dirty="0"/>
              <a:t>Modeling and using knowledge</a:t>
            </a:r>
          </a:p>
          <a:p>
            <a:pPr lvl="1"/>
            <a:r>
              <a:rPr lang="en-US" dirty="0"/>
              <a:t>Allowing agents to develop complex plans to achieve a goal and create optimal plans</a:t>
            </a:r>
          </a:p>
          <a:p>
            <a:pPr lvl="1"/>
            <a:r>
              <a:rPr lang="en-US" dirty="0"/>
              <a:t>Defining and using semantic knowledge graphs</a:t>
            </a:r>
          </a:p>
          <a:p>
            <a:pPr lvl="1"/>
            <a:r>
              <a:rPr lang="en-US" dirty="0"/>
              <a:t>Adding features to neural network systems</a:t>
            </a:r>
          </a:p>
        </p:txBody>
      </p:sp>
    </p:spTree>
    <p:extLst>
      <p:ext uri="{BB962C8B-B14F-4D97-AF65-F5344CB8AC3E}">
        <p14:creationId xmlns:p14="http://schemas.microsoft.com/office/powerpoint/2010/main" val="213393763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68678-2410-0177-F774-3FCE47662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EA401-CAAD-E038-71AD-79FC45E5B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FF4D5-CBC5-8987-5472-06AECAA0F1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Knowledge and reasoning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464FC-11B1-F834-791B-D5AF227734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5355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 want to get powerful method for:</a:t>
            </a:r>
          </a:p>
          <a:p>
            <a:pPr lvl="1"/>
            <a:r>
              <a:rPr lang="en-US" dirty="0"/>
              <a:t>Representing knowledge: General methods for representing facts about the world and how to act in world</a:t>
            </a:r>
          </a:p>
          <a:p>
            <a:pPr lvl="1"/>
            <a:r>
              <a:rPr lang="en-US" dirty="0"/>
              <a:t>Carrying out Reasoning: General methods for deducing additional information and a course of action to achieve goals</a:t>
            </a:r>
          </a:p>
          <a:p>
            <a:pPr lvl="1"/>
            <a:r>
              <a:rPr lang="en-US" dirty="0"/>
              <a:t>Focus on knowledge and reasoning rather than states and search</a:t>
            </a:r>
          </a:p>
          <a:p>
            <a:r>
              <a:rPr lang="en-US" dirty="0"/>
              <a:t>This brings us to the idea of logic, but:</a:t>
            </a:r>
          </a:p>
          <a:p>
            <a:pPr lvl="1"/>
            <a:r>
              <a:rPr lang="en-US" dirty="0"/>
              <a:t>How to define logic formally?</a:t>
            </a:r>
          </a:p>
          <a:p>
            <a:pPr lvl="1"/>
            <a:r>
              <a:rPr lang="en-US" dirty="0"/>
              <a:t>How to represent / manipulate knowledge / inference at scale?</a:t>
            </a:r>
          </a:p>
          <a:p>
            <a:pPr lvl="1"/>
            <a:r>
              <a:rPr lang="en-US" dirty="0"/>
              <a:t>How to systematically use knowledge / inference by an agent?</a:t>
            </a:r>
          </a:p>
          <a:p>
            <a:pPr lvl="1"/>
            <a:r>
              <a:rPr lang="en-US" dirty="0"/>
              <a:t>What are the strengths and limitations of logical agents?</a:t>
            </a:r>
          </a:p>
        </p:txBody>
      </p:sp>
    </p:spTree>
    <p:extLst>
      <p:ext uri="{BB962C8B-B14F-4D97-AF65-F5344CB8AC3E}">
        <p14:creationId xmlns:p14="http://schemas.microsoft.com/office/powerpoint/2010/main" val="168949955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7806E-8F00-259D-187D-6FFAE2246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16084-805D-10E8-AA72-B325BE74D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Agent that think rationally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3B175-E0F7-7B1F-918C-36B09BA8A7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Rational agent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30668-4A9E-B1E4-0DDA-AE8A6CA655D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53554"/>
          </a:xfrm>
        </p:spPr>
        <p:txBody>
          <a:bodyPr>
            <a:normAutofit/>
          </a:bodyPr>
          <a:lstStyle/>
          <a:p>
            <a:r>
              <a:rPr lang="en-US" dirty="0"/>
              <a:t>Rational action requires rational (logical) thought on the agent’s part.</a:t>
            </a:r>
          </a:p>
          <a:p>
            <a:r>
              <a:rPr lang="en-US" dirty="0"/>
              <a:t>To that purpose, portions of the world must be represented in a knowledge base, or KB:</a:t>
            </a:r>
          </a:p>
          <a:p>
            <a:pPr lvl="1"/>
            <a:r>
              <a:rPr lang="en-US" dirty="0"/>
              <a:t>A KB is composed of sentences in a language with a truth theory (logic), i.e., we (being external) can interpret sentences as statements about the world. (</a:t>
            </a:r>
            <a:r>
              <a:rPr lang="en-US" b="1" dirty="0"/>
              <a:t>semantics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Through their form, the sentences themselves have a causal influence on the agent’s behavior in a way that is correlated with the contents of the sentences. (</a:t>
            </a:r>
            <a:r>
              <a:rPr lang="en-US" b="1" dirty="0"/>
              <a:t>syntax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28535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41CE2-4C62-451B-93FF-DFF9A769A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EE463-0482-825E-7D61-F39C878B6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Agent that think rationally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8386F-BF1A-B131-5F15-7D0A0CF314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Knowledge based agent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893A9-8EDB-7308-2B0F-30C5A3DFF83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5355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knowledge-based agent uses reasoning based on prior and acquired knowledge in order to achieve its goals</a:t>
            </a:r>
          </a:p>
          <a:p>
            <a:r>
              <a:rPr lang="en-US" dirty="0"/>
              <a:t>Two important components:</a:t>
            </a:r>
          </a:p>
          <a:p>
            <a:pPr lvl="1"/>
            <a:r>
              <a:rPr lang="en-US" b="1" dirty="0"/>
              <a:t>Knowledge Base (KB): </a:t>
            </a:r>
            <a:r>
              <a:rPr lang="en-US" dirty="0"/>
              <a:t>Represents facts about the world (the agent’s environment)</a:t>
            </a:r>
          </a:p>
          <a:p>
            <a:pPr lvl="2"/>
            <a:r>
              <a:rPr lang="en-US" dirty="0"/>
              <a:t>Fact = “sentence” in a particular knowledge representation language (KRL)</a:t>
            </a:r>
          </a:p>
          <a:p>
            <a:pPr lvl="2"/>
            <a:r>
              <a:rPr lang="en-US" dirty="0"/>
              <a:t>KB: set of sentences in the KRL</a:t>
            </a:r>
          </a:p>
          <a:p>
            <a:pPr lvl="1"/>
            <a:r>
              <a:rPr lang="en-US" b="1" dirty="0"/>
              <a:t>Inference Engine </a:t>
            </a:r>
            <a:r>
              <a:rPr lang="en-US" dirty="0"/>
              <a:t>– determines what follows from the knowledge base (what the knowledge base entails)</a:t>
            </a:r>
          </a:p>
          <a:p>
            <a:pPr lvl="2"/>
            <a:r>
              <a:rPr lang="en-US" dirty="0"/>
              <a:t>Inference / deduction</a:t>
            </a:r>
          </a:p>
          <a:p>
            <a:pPr lvl="2"/>
            <a:r>
              <a:rPr lang="en-US" dirty="0"/>
              <a:t>Process for deriving new sentences from old ones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57526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C926-A54B-87A9-64A6-CA6812276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9C32F-F208-17E2-0D49-7BA2E0734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Agent that think rationally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D53BF-D5D7-3B3B-7E08-6E5FEB0E78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Knowledge based agent</a:t>
            </a:r>
          </a:p>
        </p:txBody>
      </p:sp>
      <p:pic>
        <p:nvPicPr>
          <p:cNvPr id="6" name="Gambar 4">
            <a:extLst>
              <a:ext uri="{FF2B5EF4-FFF2-40B4-BE49-F238E27FC236}">
                <a16:creationId xmlns:a16="http://schemas.microsoft.com/office/drawing/2014/main" id="{79838A19-31A8-30C4-4990-8161A172702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4299906" y="4447309"/>
            <a:ext cx="15272692" cy="498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22912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FEBA3-A0F5-C1AB-40E0-3F4B4A8E4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6089-8835-4C0D-21F9-D9EB49C77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Agent that think rationally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77B53-BF34-E741-8004-138F6CCE19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Architecture of Knowledge based agent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8E1A3-F0CA-AFFA-CDC3-EA2D1DF96BC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5355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Knowledge level:</a:t>
            </a:r>
          </a:p>
          <a:p>
            <a:pPr lvl="1"/>
            <a:r>
              <a:rPr lang="en-US" dirty="0"/>
              <a:t>Most abstract: describe agent by what it knows</a:t>
            </a:r>
          </a:p>
          <a:p>
            <a:pPr lvl="1"/>
            <a:r>
              <a:rPr lang="en-US" dirty="0"/>
              <a:t>Ex: Autonomous vehicle knows Golden Gate Bridge connects San Francisco with the Marin County</a:t>
            </a:r>
          </a:p>
          <a:p>
            <a:r>
              <a:rPr lang="en-US" b="1" dirty="0"/>
              <a:t>Logical Level:</a:t>
            </a:r>
          </a:p>
          <a:p>
            <a:pPr lvl="1"/>
            <a:r>
              <a:rPr lang="en-US" dirty="0"/>
              <a:t>Encoding of knowledge in a formal language.</a:t>
            </a:r>
          </a:p>
          <a:p>
            <a:pPr lvl="1"/>
            <a:r>
              <a:rPr lang="en-US" dirty="0"/>
              <a:t>Ex: links(</a:t>
            </a:r>
            <a:r>
              <a:rPr lang="en-US" dirty="0" err="1"/>
              <a:t>GoldenGateBridge</a:t>
            </a:r>
            <a:r>
              <a:rPr lang="en-US" dirty="0"/>
              <a:t>, </a:t>
            </a:r>
            <a:r>
              <a:rPr lang="en-US" dirty="0" err="1"/>
              <a:t>SanFran</a:t>
            </a:r>
            <a:r>
              <a:rPr lang="en-US" dirty="0"/>
              <a:t>, </a:t>
            </a:r>
            <a:r>
              <a:rPr lang="en-US" dirty="0" err="1"/>
              <a:t>MarinCounty</a:t>
            </a:r>
            <a:r>
              <a:rPr lang="en-US" dirty="0"/>
              <a:t>)</a:t>
            </a:r>
          </a:p>
          <a:p>
            <a:r>
              <a:rPr lang="en-US" b="1" dirty="0"/>
              <a:t>Implementation Level:</a:t>
            </a:r>
          </a:p>
          <a:p>
            <a:pPr lvl="1"/>
            <a:r>
              <a:rPr lang="en-US" dirty="0"/>
              <a:t>The internal representation of the sentences e.g.</a:t>
            </a:r>
            <a:br>
              <a:rPr lang="en-US" dirty="0"/>
            </a:br>
            <a:r>
              <a:rPr lang="en-US" dirty="0"/>
              <a:t>(links </a:t>
            </a:r>
            <a:r>
              <a:rPr lang="en-US" dirty="0" err="1"/>
              <a:t>goldengatebridge</a:t>
            </a:r>
            <a:r>
              <a:rPr lang="en-US" dirty="0"/>
              <a:t> </a:t>
            </a:r>
            <a:r>
              <a:rPr lang="en-US" dirty="0" err="1"/>
              <a:t>sanfran</a:t>
            </a:r>
            <a:r>
              <a:rPr lang="en-US" dirty="0"/>
              <a:t> </a:t>
            </a:r>
            <a:r>
              <a:rPr lang="en-US" dirty="0" err="1"/>
              <a:t>marincounty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468777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FCE68-9607-4DA2-7F99-06944F0BF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53A8E-8253-3210-F7BB-B5907347A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Fundamental concept of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FA943-5468-31DA-C5A7-8F5DBE3417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concepts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80EBF-599A-2507-B631-27C991363A2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53554"/>
          </a:xfrm>
        </p:spPr>
        <p:txBody>
          <a:bodyPr>
            <a:normAutofit/>
          </a:bodyPr>
          <a:lstStyle/>
          <a:p>
            <a:r>
              <a:rPr lang="en-US" b="1" dirty="0"/>
              <a:t>Syntax</a:t>
            </a:r>
          </a:p>
          <a:p>
            <a:pPr lvl="1"/>
            <a:r>
              <a:rPr lang="en-US" dirty="0"/>
              <a:t>Grammar / rules to follow for form a well-defined sentence</a:t>
            </a:r>
          </a:p>
          <a:p>
            <a:pPr lvl="1"/>
            <a:r>
              <a:rPr lang="en-US" dirty="0"/>
              <a:t>X + Y = 4 is a valid sentence in “</a:t>
            </a:r>
            <a:r>
              <a:rPr lang="en-US" dirty="0" err="1"/>
              <a:t>arithmetics</a:t>
            </a:r>
            <a:r>
              <a:rPr lang="en-US" dirty="0"/>
              <a:t>”, x4y+= is not.</a:t>
            </a:r>
          </a:p>
          <a:p>
            <a:r>
              <a:rPr lang="en-US" b="1" dirty="0"/>
              <a:t>Semantics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meaning of sentences. Truth of each sentence </a:t>
            </a:r>
            <a:r>
              <a:rPr lang="en-US" dirty="0" err="1"/>
              <a:t>w.r.t.</a:t>
            </a:r>
            <a:r>
              <a:rPr lang="en-US" dirty="0"/>
              <a:t> each possible world.</a:t>
            </a:r>
          </a:p>
          <a:p>
            <a:pPr lvl="1"/>
            <a:r>
              <a:rPr lang="en-US" dirty="0"/>
              <a:t>Possible World 1: x=3, y=1. Possible World 2: x=1, y=1.</a:t>
            </a:r>
          </a:p>
        </p:txBody>
      </p:sp>
    </p:spTree>
    <p:extLst>
      <p:ext uri="{BB962C8B-B14F-4D97-AF65-F5344CB8AC3E}">
        <p14:creationId xmlns:p14="http://schemas.microsoft.com/office/powerpoint/2010/main" val="330652281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8C738-C7EA-EE4E-E068-645660BE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A16C7-7BF3-707B-CE32-F9543544C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Fundamental concept of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AB650-8B05-A92B-064A-5081F5D8B1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concepts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A01E9-6990-B6B0-AF22-24EFE2E8C6F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53554"/>
          </a:xfrm>
        </p:spPr>
        <p:txBody>
          <a:bodyPr>
            <a:normAutofit/>
          </a:bodyPr>
          <a:lstStyle/>
          <a:p>
            <a:r>
              <a:rPr lang="en-US" b="1" dirty="0"/>
              <a:t>Model </a:t>
            </a:r>
            <a:r>
              <a:rPr lang="en-US" dirty="0"/>
              <a:t>(Possible world, a.k.a. “interpretations” in some text)</a:t>
            </a:r>
          </a:p>
          <a:p>
            <a:pPr lvl="1"/>
            <a:r>
              <a:rPr lang="en-US" dirty="0"/>
              <a:t>Each model is an assignment of values to variables.</a:t>
            </a:r>
          </a:p>
          <a:p>
            <a:pPr lvl="1"/>
            <a:r>
              <a:rPr lang="en-US" dirty="0"/>
              <a:t>Each model fixes the truth value of all sentences</a:t>
            </a:r>
          </a:p>
          <a:p>
            <a:pPr lvl="1"/>
            <a:r>
              <a:rPr lang="en-US" dirty="0"/>
              <a:t>If sentence 𝛼 is true in Model 𝑚, we say: Model 𝑚 satisfies sentence 𝛼, or 𝑚 is a model of 𝛼, or 𝑚 ∈ 𝑀(𝛼),</a:t>
            </a:r>
          </a:p>
        </p:txBody>
      </p:sp>
    </p:spTree>
    <p:extLst>
      <p:ext uri="{BB962C8B-B14F-4D97-AF65-F5344CB8AC3E}">
        <p14:creationId xmlns:p14="http://schemas.microsoft.com/office/powerpoint/2010/main" val="315023463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4A0DD-C6CC-298B-0168-E96C92F50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0929-3138-3B64-8DDD-BFE6079C0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Fundamental concept of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0937B-F013-B9E2-215F-B41268F21E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concepts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D351BB-118E-4B73-91B4-A543299B1A6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53554"/>
          </a:xfrm>
        </p:spPr>
        <p:txBody>
          <a:bodyPr>
            <a:normAutofit/>
          </a:bodyPr>
          <a:lstStyle/>
          <a:p>
            <a:r>
              <a:rPr lang="en-US" b="1" dirty="0"/>
              <a:t>Entailment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Sentence 𝛽 logically follows from Sentence 𝛼</a:t>
            </a:r>
          </a:p>
          <a:p>
            <a:pPr lvl="1"/>
            <a:r>
              <a:rPr lang="en-US" dirty="0"/>
              <a:t>Denoted by 𝛼 </a:t>
            </a:r>
            <a:r>
              <a:rPr 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⊨</a:t>
            </a:r>
            <a:r>
              <a:rPr lang="en-US" dirty="0"/>
              <a:t> 𝛽</a:t>
            </a:r>
          </a:p>
          <a:p>
            <a:pPr lvl="1"/>
            <a:r>
              <a:rPr lang="en-US" dirty="0"/>
              <a:t>𝛼 entails 𝛽 if an only if 𝑀(𝛼) ⊆ 𝑀(𝛽)</a:t>
            </a:r>
          </a:p>
          <a:p>
            <a:pPr lvl="1"/>
            <a:r>
              <a:rPr lang="en-US" dirty="0"/>
              <a:t>If all models of 𝛼 are also models of 𝛽</a:t>
            </a:r>
          </a:p>
          <a:p>
            <a:r>
              <a:rPr lang="en-US" b="1" dirty="0"/>
              <a:t>Logical Inferences:</a:t>
            </a:r>
          </a:p>
          <a:p>
            <a:pPr lvl="1"/>
            <a:r>
              <a:rPr lang="en-US" dirty="0"/>
              <a:t>The procedure of checking whether a sentence is entailed by a given a knowledge base</a:t>
            </a:r>
          </a:p>
          <a:p>
            <a:pPr lvl="1"/>
            <a:r>
              <a:rPr lang="en-US" dirty="0"/>
              <a:t>Simplest algorithm for logical inference: </a:t>
            </a:r>
            <a:r>
              <a:rPr lang="en-US" b="1" dirty="0"/>
              <a:t>Model checking</a:t>
            </a:r>
          </a:p>
        </p:txBody>
      </p:sp>
    </p:spTree>
    <p:extLst>
      <p:ext uri="{BB962C8B-B14F-4D97-AF65-F5344CB8AC3E}">
        <p14:creationId xmlns:p14="http://schemas.microsoft.com/office/powerpoint/2010/main" val="309789951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66B3E-BCEB-21D6-09C4-4D91AE2B4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EF4F9-A189-E0C6-0580-8E7AF2290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Fundamental concept of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7EF5D-15D1-C6DD-077D-CEE68B5C2F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concepts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2793BB-8B07-6575-0F85-3027D92CD74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53554"/>
          </a:xfrm>
        </p:spPr>
        <p:txBody>
          <a:bodyPr>
            <a:normAutofit/>
          </a:bodyPr>
          <a:lstStyle/>
          <a:p>
            <a:r>
              <a:rPr lang="en-US" b="1" dirty="0"/>
              <a:t>Model </a:t>
            </a:r>
            <a:r>
              <a:rPr lang="en-US" dirty="0"/>
              <a:t>(Possible world, a.k.a. “interpretations” in some text)</a:t>
            </a:r>
          </a:p>
          <a:p>
            <a:pPr lvl="1"/>
            <a:r>
              <a:rPr lang="en-US" dirty="0"/>
              <a:t>Each model is an assignment of values to variables.</a:t>
            </a:r>
          </a:p>
          <a:p>
            <a:pPr lvl="1"/>
            <a:r>
              <a:rPr lang="en-US" dirty="0"/>
              <a:t>Each model fixes the truth value of all sentences</a:t>
            </a:r>
          </a:p>
          <a:p>
            <a:pPr lvl="1"/>
            <a:r>
              <a:rPr lang="en-US" dirty="0"/>
              <a:t>If sentence 𝛼 is true in Model 𝑚, we say: Model 𝑚 satisfies sentence 𝛼, or 𝑚 is a model of 𝛼, or 𝑚 ∈ 𝑀(𝛼),</a:t>
            </a:r>
          </a:p>
        </p:txBody>
      </p:sp>
    </p:spTree>
    <p:extLst>
      <p:ext uri="{BB962C8B-B14F-4D97-AF65-F5344CB8AC3E}">
        <p14:creationId xmlns:p14="http://schemas.microsoft.com/office/powerpoint/2010/main" val="292924673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0C736-89C9-6928-E5FF-902FF99AD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F25AC-AF6C-A61F-4177-D92BD5DB7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Fundamental concept of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F71BD-2667-3604-887E-A81276A5F5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Concepts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50E522-0A78-8F41-AA27-521A1517438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53554"/>
          </a:xfrm>
        </p:spPr>
        <p:txBody>
          <a:bodyPr>
            <a:normAutofit/>
          </a:bodyPr>
          <a:lstStyle/>
          <a:p>
            <a:r>
              <a:rPr lang="en-US" dirty="0"/>
              <a:t>Given a set of (true) sentences, logical inference generates new sentences:</a:t>
            </a:r>
          </a:p>
          <a:p>
            <a:pPr lvl="1"/>
            <a:r>
              <a:rPr lang="en-US" dirty="0"/>
              <a:t>Sentences 𝛼 follow from 𝛽𝑖</a:t>
            </a:r>
          </a:p>
          <a:p>
            <a:pPr lvl="1"/>
            <a:r>
              <a:rPr lang="en-US" dirty="0"/>
              <a:t>Sentences {𝛽𝑖 } entail sentence 𝛼</a:t>
            </a:r>
          </a:p>
          <a:p>
            <a:pPr lvl="1"/>
            <a:r>
              <a:rPr lang="en-US" dirty="0"/>
              <a:t>A knowledge base (KB) entails sentence 𝛼  (KB </a:t>
            </a:r>
            <a:r>
              <a:rPr 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⊨ </a:t>
            </a:r>
            <a:r>
              <a:rPr lang="en-US" dirty="0"/>
              <a:t>𝛼)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04945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188BA-1AFB-667B-8CFE-5F5288DF6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CEEB9-9B33-B6BB-06B0-A1F47E66C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Fundamental concept of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196F8-EDEF-0009-19FA-90CA71DA70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Concepts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0BC274-02F5-09A0-7E95-B00D0383780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53554"/>
          </a:xfrm>
        </p:spPr>
        <p:txBody>
          <a:bodyPr>
            <a:normAutofit/>
          </a:bodyPr>
          <a:lstStyle/>
          <a:p>
            <a:r>
              <a:rPr lang="en-US" dirty="0"/>
              <a:t>Inference:</a:t>
            </a:r>
          </a:p>
          <a:p>
            <a:pPr lvl="1"/>
            <a:r>
              <a:rPr lang="en-US" dirty="0"/>
              <a:t>The act or process of deriving logical conclusions from premises known or assumed to be true.</a:t>
            </a:r>
          </a:p>
          <a:p>
            <a:pPr lvl="1"/>
            <a:r>
              <a:rPr lang="en-US" dirty="0"/>
              <a:t>The act of reasoning from factual knowledge or evidence</a:t>
            </a:r>
          </a:p>
        </p:txBody>
      </p:sp>
      <p:pic>
        <p:nvPicPr>
          <p:cNvPr id="5" name="Gambar 3">
            <a:extLst>
              <a:ext uri="{FF2B5EF4-FFF2-40B4-BE49-F238E27FC236}">
                <a16:creationId xmlns:a16="http://schemas.microsoft.com/office/drawing/2014/main" id="{C41806C8-A5E9-A27C-C129-9C3B54203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465" y="6858000"/>
            <a:ext cx="12730082" cy="635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40150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EB05F-83EF-762B-6B1A-C86BE2716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0F7C-C551-E691-CBD5-5BA6F3612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51905-ABE6-5FEA-756D-0DAB25EB6A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Inference engine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94A0A-F99A-3F9E-C15C-57C4415B28B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53554"/>
          </a:xfrm>
        </p:spPr>
        <p:txBody>
          <a:bodyPr>
            <a:normAutofit/>
          </a:bodyPr>
          <a:lstStyle/>
          <a:p>
            <a:r>
              <a:rPr lang="en-US" dirty="0"/>
              <a:t>An inference engine is a program that applies inference rules to knowledge</a:t>
            </a:r>
          </a:p>
          <a:p>
            <a:pPr lvl="1"/>
            <a:r>
              <a:rPr lang="en-US" dirty="0"/>
              <a:t>Goal: To infer new (and useful) knowledge</a:t>
            </a:r>
          </a:p>
          <a:p>
            <a:r>
              <a:rPr lang="en-US" dirty="0"/>
              <a:t>Separation of</a:t>
            </a:r>
          </a:p>
          <a:p>
            <a:pPr lvl="1"/>
            <a:r>
              <a:rPr lang="en-US" dirty="0"/>
              <a:t>Knowledge</a:t>
            </a:r>
          </a:p>
          <a:p>
            <a:pPr lvl="1"/>
            <a:r>
              <a:rPr lang="en-US" dirty="0"/>
              <a:t>Rules</a:t>
            </a:r>
          </a:p>
          <a:p>
            <a:pPr lvl="1"/>
            <a:r>
              <a:rPr lang="en-US" dirty="0"/>
              <a:t>Control</a:t>
            </a:r>
          </a:p>
        </p:txBody>
      </p:sp>
      <p:sp>
        <p:nvSpPr>
          <p:cNvPr id="6" name="Kurung Kurawal Tutup 1">
            <a:extLst>
              <a:ext uri="{FF2B5EF4-FFF2-40B4-BE49-F238E27FC236}">
                <a16:creationId xmlns:a16="http://schemas.microsoft.com/office/drawing/2014/main" id="{528B5308-EDA5-8E1F-5A25-1A9757B66604}"/>
              </a:ext>
            </a:extLst>
          </p:cNvPr>
          <p:cNvSpPr/>
          <p:nvPr/>
        </p:nvSpPr>
        <p:spPr>
          <a:xfrm>
            <a:off x="6218784" y="8613056"/>
            <a:ext cx="2389238" cy="1474839"/>
          </a:xfrm>
          <a:prstGeom prst="rightBrace">
            <a:avLst/>
          </a:prstGeom>
          <a:noFill/>
          <a:ln w="57150" cap="flat">
            <a:solidFill>
              <a:srgbClr val="0000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7" name="Kotak Teks 2">
            <a:extLst>
              <a:ext uri="{FF2B5EF4-FFF2-40B4-BE49-F238E27FC236}">
                <a16:creationId xmlns:a16="http://schemas.microsoft.com/office/drawing/2014/main" id="{EFDD06D0-CA26-7249-AF71-C1C53E616DB6}"/>
              </a:ext>
            </a:extLst>
          </p:cNvPr>
          <p:cNvSpPr txBox="1"/>
          <p:nvPr/>
        </p:nvSpPr>
        <p:spPr>
          <a:xfrm>
            <a:off x="8142862" y="8991404"/>
            <a:ext cx="5486400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Inference Engine</a:t>
            </a:r>
          </a:p>
        </p:txBody>
      </p:sp>
      <p:cxnSp>
        <p:nvCxnSpPr>
          <p:cNvPr id="8" name="Konektor: Siku 4">
            <a:extLst>
              <a:ext uri="{FF2B5EF4-FFF2-40B4-BE49-F238E27FC236}">
                <a16:creationId xmlns:a16="http://schemas.microsoft.com/office/drawing/2014/main" id="{FF3C3212-7156-2339-FE26-37CE476A9882}"/>
              </a:ext>
            </a:extLst>
          </p:cNvPr>
          <p:cNvCxnSpPr>
            <a:stCxn id="7" idx="3"/>
          </p:cNvCxnSpPr>
          <p:nvPr/>
        </p:nvCxnSpPr>
        <p:spPr>
          <a:xfrm flipH="1" flipV="1">
            <a:off x="7413403" y="7551173"/>
            <a:ext cx="6215859" cy="1799304"/>
          </a:xfrm>
          <a:prstGeom prst="bentConnector3">
            <a:avLst>
              <a:gd name="adj1" fmla="val -3678"/>
            </a:avLst>
          </a:prstGeom>
          <a:noFill/>
          <a:ln w="762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90443931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8DE97-F3DD-1111-0E23-33ECB34FC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B8A6-A3A2-0DC2-41B8-66CB9D8DD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67004-431A-4EE6-C381-7F8B7E2C56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Inference procedure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B61108-3D8C-2182-2E52-5E50264EA39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5355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 inference procedure</a:t>
            </a:r>
          </a:p>
          <a:p>
            <a:pPr lvl="1"/>
            <a:r>
              <a:rPr lang="en-US" dirty="0"/>
              <a:t>Generates new sentences a that significance to be entailed by the knowledge base </a:t>
            </a:r>
          </a:p>
          <a:p>
            <a:pPr marL="756000" lvl="1" indent="0">
              <a:buNone/>
            </a:pPr>
            <a:r>
              <a:rPr lang="en-US" dirty="0"/>
              <a:t>			Or</a:t>
            </a:r>
          </a:p>
          <a:p>
            <a:pPr lvl="1"/>
            <a:r>
              <a:rPr lang="en-US" dirty="0"/>
              <a:t>Reports whether or not a sentence a is entailed by the knowledge base </a:t>
            </a:r>
          </a:p>
          <a:p>
            <a:r>
              <a:rPr lang="en-US" dirty="0"/>
              <a:t>Not every inference procedure can derive all sentences that are entailed by the KB</a:t>
            </a:r>
          </a:p>
          <a:p>
            <a:r>
              <a:rPr lang="en-US" dirty="0"/>
              <a:t>A sound or truth-preserving inference procedure generates only entailed sentences</a:t>
            </a:r>
          </a:p>
          <a:p>
            <a:r>
              <a:rPr lang="en-US" dirty="0"/>
              <a:t>Inference derives valid conclusions independent of the semantics (i.e., independent of the models)</a:t>
            </a:r>
          </a:p>
        </p:txBody>
      </p:sp>
    </p:spTree>
    <p:extLst>
      <p:ext uri="{BB962C8B-B14F-4D97-AF65-F5344CB8AC3E}">
        <p14:creationId xmlns:p14="http://schemas.microsoft.com/office/powerpoint/2010/main" val="288870616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5DFE3-C0CA-D786-FE37-B47404552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56D0-BE13-AB9A-BD26-7974DD05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5977D-625D-FBCC-7EEA-9CA9D9BAD1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Inference procedure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BC88CBE-9D43-5602-5F40-F0D5EA362A8D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53554"/>
              </a:xfrm>
            </p:spPr>
            <p:txBody>
              <a:bodyPr>
                <a:normAutofit fontScale="92500" lnSpcReduction="20000"/>
              </a:bodyPr>
              <a:lstStyle/>
              <a:p>
                <a:pPr marL="2300288" indent="-811213">
                  <a:spcBef>
                    <a:spcPts val="2400"/>
                  </a:spcBef>
                </a:pPr>
                <a:r>
                  <a:rPr lang="en-US" sz="4400" dirty="0">
                    <a:latin typeface="+mj-lt"/>
                  </a:rPr>
                  <a:t>Soundness of an inference procedure</a:t>
                </a:r>
              </a:p>
              <a:p>
                <a:pPr marL="2879725" lvl="2" indent="-811213">
                  <a:spcBef>
                    <a:spcPts val="2400"/>
                  </a:spcBef>
                </a:pPr>
                <a14:m>
                  <m:oMath xmlns:m="http://schemas.openxmlformats.org/officeDocument/2006/math">
                    <m:r>
                      <a:rPr lang="en-US" sz="4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4400" dirty="0">
                    <a:latin typeface="+mj-lt"/>
                  </a:rPr>
                  <a:t> is sound if whenever KB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⊢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4400" dirty="0">
                    <a:latin typeface="+mj-lt"/>
                  </a:rPr>
                  <a:t> a, it is also true that KB  </a:t>
                </a:r>
                <a14:m>
                  <m:oMath xmlns:m="http://schemas.openxmlformats.org/officeDocument/2006/math">
                    <m:r>
                      <a:rPr lang="en-US" sz="4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</m:oMath>
                </a14:m>
                <a:r>
                  <a:rPr lang="en-US" sz="4400" dirty="0">
                    <a:latin typeface="+mj-lt"/>
                  </a:rPr>
                  <a:t> a</a:t>
                </a:r>
              </a:p>
              <a:p>
                <a:pPr marL="2879725" lvl="2" indent="-811213">
                  <a:spcBef>
                    <a:spcPts val="2400"/>
                  </a:spcBef>
                </a:pPr>
                <a:r>
                  <a:rPr lang="en-US" sz="4400" dirty="0">
                    <a:latin typeface="+mj-lt"/>
                  </a:rPr>
                  <a:t>i.e., the procedure only generates entailed sentences </a:t>
                </a:r>
              </a:p>
              <a:p>
                <a:pPr marL="2182813" indent="-738188">
                  <a:spcBef>
                    <a:spcPts val="2400"/>
                  </a:spcBef>
                </a:pPr>
                <a:endParaRPr lang="en-US" sz="4400" b="1" dirty="0">
                  <a:latin typeface="+mj-lt"/>
                </a:endParaRPr>
              </a:p>
              <a:p>
                <a:pPr marL="2182813" indent="-738188">
                  <a:spcBef>
                    <a:spcPts val="2400"/>
                  </a:spcBef>
                </a:pPr>
                <a:r>
                  <a:rPr lang="en-US" sz="4400" dirty="0">
                    <a:latin typeface="+mj-lt"/>
                  </a:rPr>
                  <a:t>Completeness of an inference procedure</a:t>
                </a:r>
              </a:p>
              <a:p>
                <a:pPr marL="2806701" lvl="1" indent="-738188">
                  <a:spcBef>
                    <a:spcPts val="2400"/>
                  </a:spcBef>
                </a:pPr>
                <a14:m>
                  <m:oMath xmlns:m="http://schemas.openxmlformats.org/officeDocument/2006/math">
                    <m:r>
                      <a:rPr lang="en-US" sz="4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4400" dirty="0">
                    <a:latin typeface="+mj-lt"/>
                  </a:rPr>
                  <a:t> complete if whenever KB  </a:t>
                </a:r>
                <a14:m>
                  <m:oMath xmlns:m="http://schemas.openxmlformats.org/officeDocument/2006/math">
                    <m:r>
                      <a:rPr lang="en-US" sz="4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</m:oMath>
                </a14:m>
                <a:r>
                  <a:rPr lang="en-US" sz="4400" dirty="0">
                    <a:latin typeface="+mj-lt"/>
                  </a:rPr>
                  <a:t> a, it is also true that KB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⊢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4400" dirty="0">
                    <a:latin typeface="+mj-lt"/>
                  </a:rPr>
                  <a:t> </a:t>
                </a:r>
              </a:p>
              <a:p>
                <a:pPr marL="2806701" lvl="1" indent="-738188">
                  <a:spcBef>
                    <a:spcPts val="2400"/>
                  </a:spcBef>
                </a:pPr>
                <a:r>
                  <a:rPr lang="en-US" sz="4400" dirty="0">
                    <a:latin typeface="+mj-lt"/>
                  </a:rPr>
                  <a:t>i.e., the procedure can find a proof for any sentence that is entailed</a:t>
                </a:r>
              </a:p>
              <a:p>
                <a:pPr marL="2806701" lvl="1" indent="-738188">
                  <a:spcBef>
                    <a:spcPts val="2400"/>
                  </a:spcBef>
                </a:pPr>
                <a:endParaRPr lang="en-US" sz="4400" dirty="0">
                  <a:latin typeface="+mj-lt"/>
                </a:endParaRPr>
              </a:p>
              <a:p>
                <a:pPr marL="2182813" indent="-738188">
                  <a:spcBef>
                    <a:spcPts val="2400"/>
                  </a:spcBef>
                </a:pPr>
                <a:r>
                  <a:rPr lang="en-US" sz="4400" dirty="0">
                    <a:latin typeface="+mj-lt"/>
                  </a:rPr>
                  <a:t>The derivation of a sentence by a sound inference procedure is called a proof</a:t>
                </a:r>
              </a:p>
              <a:p>
                <a:pPr marL="2806701" lvl="1" indent="-738188">
                  <a:spcBef>
                    <a:spcPts val="2400"/>
                  </a:spcBef>
                </a:pPr>
                <a:r>
                  <a:rPr lang="en-US" sz="4400" dirty="0">
                    <a:latin typeface="+mj-lt"/>
                  </a:rPr>
                  <a:t>Hence, the </a:t>
                </a:r>
                <a:r>
                  <a:rPr lang="en-US" sz="4400" b="1" i="1" dirty="0">
                    <a:latin typeface="+mj-lt"/>
                  </a:rPr>
                  <a:t>proof theory </a:t>
                </a:r>
                <a:r>
                  <a:rPr lang="en-US" sz="4400" dirty="0">
                    <a:latin typeface="+mj-lt"/>
                  </a:rPr>
                  <a:t>of a logical language specifies the reasoning steps that are sound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BC88CBE-9D43-5602-5F40-F0D5EA362A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53554"/>
              </a:xfrm>
              <a:blipFill>
                <a:blip r:embed="rId2"/>
                <a:stretch>
                  <a:fillRect t="-2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08877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3A9D5-B205-040A-D1BD-FDF36C7ED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D89E6-D5EB-B4FE-9DFB-45FAAE2607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Intuition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1DE8C-A45C-5BB2-AE5B-7ECFE06B363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Propositional logic is the logic of </a:t>
            </a:r>
            <a:r>
              <a:rPr lang="en-US" b="1" dirty="0"/>
              <a:t>propositions</a:t>
            </a:r>
          </a:p>
          <a:p>
            <a:r>
              <a:rPr lang="en-US" dirty="0"/>
              <a:t>a proposition can be </a:t>
            </a:r>
            <a:r>
              <a:rPr lang="en-US" b="1" dirty="0"/>
              <a:t>true</a:t>
            </a:r>
            <a:r>
              <a:rPr lang="en-US" dirty="0"/>
              <a:t> or </a:t>
            </a:r>
            <a:r>
              <a:rPr lang="en-US" b="1" dirty="0"/>
              <a:t>false</a:t>
            </a:r>
            <a:r>
              <a:rPr lang="en-US" dirty="0"/>
              <a:t> in the state of the world.</a:t>
            </a:r>
          </a:p>
          <a:p>
            <a:r>
              <a:rPr lang="en-US" dirty="0"/>
              <a:t>The same proposition can be expressed in different ways </a:t>
            </a:r>
            <a:r>
              <a:rPr lang="en-US" dirty="0" err="1"/>
              <a:t>e.g</a:t>
            </a:r>
            <a:endParaRPr lang="en-US" dirty="0"/>
          </a:p>
          <a:p>
            <a:pPr lvl="1"/>
            <a:r>
              <a:rPr lang="en-US" dirty="0"/>
              <a:t>“Taylor swift is writing a song”</a:t>
            </a:r>
          </a:p>
          <a:p>
            <a:pPr lvl="1"/>
            <a:r>
              <a:rPr lang="en-US" dirty="0"/>
              <a:t>“the female singer is writing a song”</a:t>
            </a:r>
          </a:p>
          <a:p>
            <a:r>
              <a:rPr lang="en-US" dirty="0"/>
              <a:t>The language of propositional logic allows us to express propositions.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91990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58249-E898-28AF-8F96-E02803B4C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291A7-6FD5-BC25-CA62-2E799502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84ECA-CB28-59FE-F840-F78295C039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propositions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4A1C8-3AE9-7E75-E56F-7302AAA9F1C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Example (Propositions):</a:t>
            </a:r>
          </a:p>
          <a:p>
            <a:pPr lvl="1"/>
            <a:r>
              <a:rPr lang="en-US" dirty="0"/>
              <a:t>Today is Monday.</a:t>
            </a:r>
          </a:p>
          <a:p>
            <a:pPr lvl="1"/>
            <a:r>
              <a:rPr lang="en-US" dirty="0"/>
              <a:t>Every even number has at least two factors.</a:t>
            </a:r>
          </a:p>
          <a:p>
            <a:r>
              <a:rPr lang="en-US" dirty="0"/>
              <a:t>Example (Not Propositions):</a:t>
            </a:r>
          </a:p>
          <a:p>
            <a:pPr lvl="1"/>
            <a:r>
              <a:rPr lang="en-US" dirty="0"/>
              <a:t>Do your homework!</a:t>
            </a:r>
          </a:p>
          <a:p>
            <a:pPr lvl="1"/>
            <a:r>
              <a:rPr lang="en-US" dirty="0"/>
              <a:t>When is the pretest?</a:t>
            </a:r>
          </a:p>
        </p:txBody>
      </p:sp>
    </p:spTree>
    <p:extLst>
      <p:ext uri="{BB962C8B-B14F-4D97-AF65-F5344CB8AC3E}">
        <p14:creationId xmlns:p14="http://schemas.microsoft.com/office/powerpoint/2010/main" val="201284353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D5153-0DB4-57B4-D6CE-AFD2AA68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84D9D-23D7-FFBD-FD49-65421B8C7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88C71-A0F2-CB4C-FC27-9042945C45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Propositional logic languages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6C4E8-1B98-1794-A157-B3593906E75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10009288"/>
          </a:xfrm>
        </p:spPr>
        <p:txBody>
          <a:bodyPr>
            <a:normAutofit/>
          </a:bodyPr>
          <a:lstStyle/>
          <a:p>
            <a:r>
              <a:rPr lang="en-US" dirty="0"/>
              <a:t>Definition (Propositional alphabet):</a:t>
            </a:r>
          </a:p>
          <a:p>
            <a:pPr lvl="1"/>
            <a:r>
              <a:rPr lang="en-US" dirty="0"/>
              <a:t>Logical symbols: ¬, ∧, ∨,→, ↔,≡</a:t>
            </a:r>
          </a:p>
          <a:p>
            <a:pPr lvl="1"/>
            <a:r>
              <a:rPr lang="en-US" dirty="0"/>
              <a:t>Non-Logical Symbol: A set 𝑃 of symbols called propositional variables </a:t>
            </a:r>
          </a:p>
          <a:p>
            <a:pPr lvl="1"/>
            <a:r>
              <a:rPr lang="en-US" dirty="0"/>
              <a:t>Separator symbols “(” and “)”</a:t>
            </a:r>
          </a:p>
          <a:p>
            <a:r>
              <a:rPr lang="en-US" dirty="0"/>
              <a:t>Definition (Well formed formulas):</a:t>
            </a:r>
          </a:p>
          <a:p>
            <a:pPr lvl="1"/>
            <a:r>
              <a:rPr lang="en-US" dirty="0"/>
              <a:t>Every 𝑃∈𝑃 is an atomic formula</a:t>
            </a:r>
          </a:p>
          <a:p>
            <a:pPr lvl="1"/>
            <a:r>
              <a:rPr lang="en-US" dirty="0"/>
              <a:t>Every atomic formula is a formula</a:t>
            </a:r>
          </a:p>
          <a:p>
            <a:pPr lvl="1"/>
            <a:r>
              <a:rPr lang="en-US" dirty="0"/>
              <a:t>If A and B are formulas then ¬𝐴, 𝐴∧𝐵, 𝐴∨𝐵, 𝐴→𝐵,𝐴↔𝐵, 𝑒𝐴 ≡𝐵 are formulas</a:t>
            </a:r>
          </a:p>
        </p:txBody>
      </p:sp>
    </p:spTree>
    <p:extLst>
      <p:ext uri="{BB962C8B-B14F-4D97-AF65-F5344CB8AC3E}">
        <p14:creationId xmlns:p14="http://schemas.microsoft.com/office/powerpoint/2010/main" val="413778520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9E71D-CDD1-9ED9-5D56-C583B7260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F317D-CE79-42CE-202A-0CAE4372C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F7A04-E6E9-BC35-07A5-F7B8EF327D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Reading formula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B7823-3232-21A6-5A90-57CF6E611CC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How do we read the formula 𝑃 ∧ 𝑄 → 𝑅?</a:t>
            </a:r>
            <a:br>
              <a:rPr lang="en-US" dirty="0"/>
            </a:br>
            <a:r>
              <a:rPr lang="en-US" dirty="0"/>
              <a:t>The Formula 𝑃 ∧ 𝑄 → 𝑅 can be read in two ways:</a:t>
            </a:r>
          </a:p>
          <a:p>
            <a:pPr marL="0" indent="0">
              <a:buNone/>
            </a:pPr>
            <a:r>
              <a:rPr lang="en-US" dirty="0"/>
              <a:t>	(𝑃 ∧ 𝑄) → 𝑅			 𝑃 ∧ (𝑄 → 𝑅)</a:t>
            </a:r>
          </a:p>
          <a:p>
            <a:endParaRPr lang="en-US" dirty="0"/>
          </a:p>
          <a:p>
            <a:r>
              <a:rPr lang="en-US" dirty="0"/>
              <a:t>Symbol priority: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el 1">
                <a:extLst>
                  <a:ext uri="{FF2B5EF4-FFF2-40B4-BE49-F238E27FC236}">
                    <a16:creationId xmlns:a16="http://schemas.microsoft.com/office/drawing/2014/main" id="{1B25631B-2A16-4C02-C72B-7348805245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0598713"/>
                  </p:ext>
                </p:extLst>
              </p:nvPr>
            </p:nvGraphicFramePr>
            <p:xfrm>
              <a:off x="4289763" y="8352217"/>
              <a:ext cx="16256000" cy="420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1556827400"/>
                        </a:ext>
                      </a:extLst>
                    </a:gridCol>
                    <a:gridCol w="8128000">
                      <a:extLst>
                        <a:ext uri="{9D8B030D-6E8A-4147-A177-3AD203B41FA5}">
                          <a16:colId xmlns:a16="http://schemas.microsoft.com/office/drawing/2014/main" val="38488902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4000" dirty="0"/>
                            <a:t>Symbol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/>
                            <a:t>Priority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87653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32599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40460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9202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9138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576805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el 1">
                <a:extLst>
                  <a:ext uri="{FF2B5EF4-FFF2-40B4-BE49-F238E27FC236}">
                    <a16:creationId xmlns:a16="http://schemas.microsoft.com/office/drawing/2014/main" id="{1B25631B-2A16-4C02-C72B-7348805245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0598713"/>
                  </p:ext>
                </p:extLst>
              </p:nvPr>
            </p:nvGraphicFramePr>
            <p:xfrm>
              <a:off x="4289763" y="8352217"/>
              <a:ext cx="16256000" cy="420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1556827400"/>
                        </a:ext>
                      </a:extLst>
                    </a:gridCol>
                    <a:gridCol w="8128000">
                      <a:extLst>
                        <a:ext uri="{9D8B030D-6E8A-4147-A177-3AD203B41FA5}">
                          <a16:colId xmlns:a16="http://schemas.microsoft.com/office/drawing/2014/main" val="3848890221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r>
                            <a:rPr lang="en-US" sz="4000" dirty="0"/>
                            <a:t>Symbol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/>
                            <a:t>Priority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8765399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5" t="-116522" r="-100150" b="-43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3259967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5" t="-214655" r="-100150" b="-3327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404601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5" t="-317391" r="-100150" b="-2356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920208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5" t="-417391" r="-100150" b="-1356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9138668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5" t="-517391" r="-100150" b="-356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57680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3462877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61AA6-B6A4-5128-BB02-2F45C102E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9CD24-18D5-07AF-C2C2-F86AF0CE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A2076-FC6F-3108-3E6F-A67CA368F8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Reading formula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62CF9-0DA2-A0A6-9A8F-7ACBCC69AA8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Furthermore, binary connectives are right associative, e.g.:</a:t>
            </a:r>
          </a:p>
          <a:p>
            <a:pPr marL="0" indent="0" algn="ctr">
              <a:buNone/>
            </a:pPr>
            <a:r>
              <a:rPr lang="en-US" dirty="0"/>
              <a:t>𝑎 → 𝑏 → 𝑐 read as 𝑎 → (𝑏 → 𝑐)</a:t>
            </a:r>
          </a:p>
          <a:p>
            <a:pPr marL="0" indent="0" algn="ctr">
              <a:buNone/>
            </a:pPr>
            <a:r>
              <a:rPr lang="en-US" dirty="0"/>
              <a:t>𝑎 ∧ 𝑏 ∧ 𝑐 read as 𝑎 ∧ (𝑏 ∧ 𝑐)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841404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96AF2-F01D-3B5C-6F6D-1AC25DC0B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1A67-3F9A-D465-2D7F-BFB337218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28641-D959-B33D-FE4A-C854D4D85B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Propositional equivalence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464ED8C9-D0F6-6414-F24A-4F70E8642779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377" y="3260663"/>
            <a:ext cx="9768875" cy="10116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52DA015E-8C1D-CB2D-6712-EE6C714AA6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405"/>
          <a:stretch/>
        </p:blipFill>
        <p:spPr bwMode="auto">
          <a:xfrm>
            <a:off x="12447751" y="3175045"/>
            <a:ext cx="9297128" cy="5143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5761C6B5-25A5-3F36-5AD1-574938168D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16"/>
          <a:stretch/>
        </p:blipFill>
        <p:spPr bwMode="auto">
          <a:xfrm>
            <a:off x="12192000" y="8319005"/>
            <a:ext cx="8202218" cy="5143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7386512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FDFAD-CD65-6202-C9A4-9518DB423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01B13-C7B4-06F6-9186-0424AF30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92086-07BA-AD54-3668-C8015DBB76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Satisfiability and validity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A133E-B2E4-4D5B-EBC9-8CC4E450183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100315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Is this true: (𝑃 ∧𝑄)?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It depends on the values of P and Q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This is a </a:t>
            </a:r>
            <a:r>
              <a:rPr lang="en-US" b="1" dirty="0"/>
              <a:t>satisfiable</a:t>
            </a:r>
            <a:r>
              <a:rPr lang="en-US" dirty="0"/>
              <a:t> sentence – there are some models for which it is true and others for which it is false</a:t>
            </a:r>
          </a:p>
          <a:p>
            <a:r>
              <a:rPr lang="en-US" dirty="0"/>
              <a:t>Is this true: (𝑃 ∧¬𝑃)?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No, it is never true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This is an </a:t>
            </a:r>
            <a:r>
              <a:rPr lang="en-US" b="1" dirty="0"/>
              <a:t>unsatisfiable</a:t>
            </a:r>
            <a:r>
              <a:rPr lang="en-US" dirty="0"/>
              <a:t> sentence (self-contradictory) – there is no models for which it is true</a:t>
            </a:r>
          </a:p>
          <a:p>
            <a:r>
              <a:rPr lang="en-US" dirty="0"/>
              <a:t>Is this true: (((𝑃 ∨𝑄)∧¬𝑄)→𝑃)?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Yes, independent of the values of P and Q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This is a </a:t>
            </a:r>
            <a:r>
              <a:rPr lang="en-US" b="1" dirty="0"/>
              <a:t>valid</a:t>
            </a:r>
            <a:r>
              <a:rPr lang="en-US" dirty="0"/>
              <a:t> sentence – it is true under all possible models (a.k.a. a tautology)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035293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574E5-4C9D-164C-D3B7-021EFE5FA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F4658-C6B3-1E1A-A139-C1882B568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2BBC9-990C-836E-7BAB-3A10C48BD1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Semantic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0AC32-86D6-34FF-76E1-468195E6BBF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10031591"/>
          </a:xfrm>
        </p:spPr>
        <p:txBody>
          <a:bodyPr>
            <a:normAutofit/>
          </a:bodyPr>
          <a:lstStyle/>
          <a:p>
            <a:r>
              <a:rPr lang="en-US" dirty="0"/>
              <a:t>Defined by clearly interpreted symbols and straightforward application of truth tables</a:t>
            </a:r>
          </a:p>
          <a:p>
            <a:r>
              <a:rPr lang="en-US" dirty="0"/>
              <a:t>Rules for evaluating truth: Boolean algebra</a:t>
            </a:r>
          </a:p>
          <a:p>
            <a:r>
              <a:rPr lang="en-US" dirty="0"/>
              <a:t>Simple method: </a:t>
            </a:r>
            <a:r>
              <a:rPr lang="en-US" b="1" dirty="0"/>
              <a:t>truth tables</a:t>
            </a:r>
          </a:p>
          <a:p>
            <a:endParaRPr lang="en-US" dirty="0"/>
          </a:p>
        </p:txBody>
      </p:sp>
      <p:pic>
        <p:nvPicPr>
          <p:cNvPr id="5" name="Gambar 2">
            <a:extLst>
              <a:ext uri="{FF2B5EF4-FFF2-40B4-BE49-F238E27FC236}">
                <a16:creationId xmlns:a16="http://schemas.microsoft.com/office/drawing/2014/main" id="{08B86B2E-9389-C2C2-106E-2AF95AA45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055" y="7914400"/>
            <a:ext cx="17562393" cy="479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73178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C3CFB-40BA-943B-1287-2432FD04A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7170-8573-EF5A-BD5A-CEE97D490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97FFD-18C5-E63D-FD0D-BF9099FA1A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039690" cy="803546"/>
          </a:xfrm>
        </p:spPr>
        <p:txBody>
          <a:bodyPr>
            <a:normAutofit/>
          </a:bodyPr>
          <a:lstStyle/>
          <a:p>
            <a:r>
              <a:rPr lang="en-US" dirty="0"/>
              <a:t>Knowledge are constraints that eliminate rows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A66405-6A9E-43AA-A56F-7EF5F290F67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10031591"/>
          </a:xfrm>
        </p:spPr>
        <p:txBody>
          <a:bodyPr>
            <a:normAutofit/>
          </a:bodyPr>
          <a:lstStyle/>
          <a:p>
            <a:r>
              <a:rPr lang="en-US" dirty="0"/>
              <a:t>Adding a sentence to our knowledge base constraints the number of possible models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When KB = Empty</a:t>
            </a:r>
          </a:p>
        </p:txBody>
      </p:sp>
      <p:pic>
        <p:nvPicPr>
          <p:cNvPr id="6" name="Gambar 2">
            <a:extLst>
              <a:ext uri="{FF2B5EF4-FFF2-40B4-BE49-F238E27FC236}">
                <a16:creationId xmlns:a16="http://schemas.microsoft.com/office/drawing/2014/main" id="{06207532-6A26-35BC-19B0-C87012E2A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7067" y="4498145"/>
            <a:ext cx="9287555" cy="921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8214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83AEF-A3D9-51C6-CC4F-66231EF7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ambar 2">
            <a:extLst>
              <a:ext uri="{FF2B5EF4-FFF2-40B4-BE49-F238E27FC236}">
                <a16:creationId xmlns:a16="http://schemas.microsoft.com/office/drawing/2014/main" id="{A884CEE9-329C-C28F-89CE-0660D3ACA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7067" y="4498145"/>
            <a:ext cx="9287555" cy="92178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CD5633-1389-97F8-EDA8-FE88660B9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293EF-F16B-2EDB-472E-06B3EF034E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039690" cy="803546"/>
          </a:xfrm>
        </p:spPr>
        <p:txBody>
          <a:bodyPr>
            <a:normAutofit/>
          </a:bodyPr>
          <a:lstStyle/>
          <a:p>
            <a:r>
              <a:rPr lang="en-US" dirty="0"/>
              <a:t>Knowledge are constraints that eliminate rows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4F5B685-7945-2ADA-F269-51AB261CA4E8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910279" cy="1003159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Adding a sentence to our knowledge base constraints the number of possible models</a:t>
                </a:r>
              </a:p>
              <a:p>
                <a:endParaRPr lang="en-US" dirty="0"/>
              </a:p>
              <a:p>
                <a:r>
                  <a:rPr lang="en-US" dirty="0"/>
                  <a:t>Example:</a:t>
                </a:r>
              </a:p>
              <a:p>
                <a:r>
                  <a:rPr lang="en-US" dirty="0"/>
                  <a:t>When KB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∧¬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∧¬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</m:e>
                    </m:d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4400" dirty="0">
                  <a:latin typeface="+mj-lt"/>
                </a:endParaRPr>
              </a:p>
              <a:p>
                <a:endParaRPr lang="en-US" dirty="0">
                  <a:latin typeface="+mj-lt"/>
                </a:endParaRPr>
              </a:p>
              <a:p>
                <a:r>
                  <a:rPr lang="en-US" sz="4400" dirty="0">
                    <a:latin typeface="+mj-lt"/>
                  </a:rPr>
                  <a:t>Because with current KB, those rows output False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4F5B685-7945-2ADA-F269-51AB261CA4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910279" cy="10031591"/>
              </a:xfrm>
              <a:blipFill>
                <a:blip r:embed="rId3"/>
                <a:stretch>
                  <a:fillRect l="-1254" t="-1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ersegi Panjang 2">
            <a:extLst>
              <a:ext uri="{FF2B5EF4-FFF2-40B4-BE49-F238E27FC236}">
                <a16:creationId xmlns:a16="http://schemas.microsoft.com/office/drawing/2014/main" id="{7EA2E926-6C44-60D0-1D37-3661CA4F29CD}"/>
              </a:ext>
            </a:extLst>
          </p:cNvPr>
          <p:cNvSpPr/>
          <p:nvPr/>
        </p:nvSpPr>
        <p:spPr>
          <a:xfrm>
            <a:off x="17101875" y="7385178"/>
            <a:ext cx="5971592" cy="1054359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Persegi Panjang 2">
            <a:extLst>
              <a:ext uri="{FF2B5EF4-FFF2-40B4-BE49-F238E27FC236}">
                <a16:creationId xmlns:a16="http://schemas.microsoft.com/office/drawing/2014/main" id="{EFEF29C1-27AF-F395-CEED-0330D94AD838}"/>
              </a:ext>
            </a:extLst>
          </p:cNvPr>
          <p:cNvSpPr/>
          <p:nvPr/>
        </p:nvSpPr>
        <p:spPr>
          <a:xfrm>
            <a:off x="17101875" y="9284357"/>
            <a:ext cx="5971592" cy="1054359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15963320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7223D-97EC-72FB-E7BF-C2AF10D6B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ambar 2">
            <a:extLst>
              <a:ext uri="{FF2B5EF4-FFF2-40B4-BE49-F238E27FC236}">
                <a16:creationId xmlns:a16="http://schemas.microsoft.com/office/drawing/2014/main" id="{1CFB436A-19B4-4DF4-B01E-B799ED6EF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7067" y="4498145"/>
            <a:ext cx="9287555" cy="92178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2BDDE6-1E36-3DEF-469B-47A994D39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4F99E-C1DF-7E5A-B8F5-C200A6BD3A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039690" cy="803546"/>
          </a:xfrm>
        </p:spPr>
        <p:txBody>
          <a:bodyPr>
            <a:normAutofit/>
          </a:bodyPr>
          <a:lstStyle/>
          <a:p>
            <a:r>
              <a:rPr lang="en-US" dirty="0"/>
              <a:t>Knowledge are constraints that eliminate rows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0885663-20B8-A5E7-B631-A7A76DD3821D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910279" cy="1003159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Adding a sentence to our knowledge base constraints the number of possible models</a:t>
                </a:r>
              </a:p>
              <a:p>
                <a:endParaRPr lang="en-US" dirty="0"/>
              </a:p>
              <a:p>
                <a:r>
                  <a:rPr lang="en-US" dirty="0"/>
                  <a:t>Example:</a:t>
                </a:r>
              </a:p>
              <a:p>
                <a:r>
                  <a:rPr lang="en-US" dirty="0"/>
                  <a:t>When KB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∧¬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∧¬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</m:e>
                    </m:d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4400" dirty="0">
                  <a:latin typeface="+mj-lt"/>
                </a:endParaRPr>
              </a:p>
              <a:p>
                <a:endParaRPr lang="en-US" dirty="0">
                  <a:latin typeface="+mj-lt"/>
                </a:endParaRPr>
              </a:p>
              <a:p>
                <a:r>
                  <a:rPr lang="en-US" sz="4400" dirty="0">
                    <a:latin typeface="+mj-lt"/>
                  </a:rPr>
                  <a:t>The added KB is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4400" dirty="0">
                    <a:latin typeface="+mj-lt"/>
                  </a:rPr>
                  <a:t>, so we only focus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4400" dirty="0">
                    <a:latin typeface="+mj-lt"/>
                  </a:rPr>
                  <a:t> is True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0885663-20B8-A5E7-B631-A7A76DD382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910279" cy="10031591"/>
              </a:xfrm>
              <a:blipFill>
                <a:blip r:embed="rId3"/>
                <a:stretch>
                  <a:fillRect l="-1254" t="-1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ersegi Panjang 2">
            <a:extLst>
              <a:ext uri="{FF2B5EF4-FFF2-40B4-BE49-F238E27FC236}">
                <a16:creationId xmlns:a16="http://schemas.microsoft.com/office/drawing/2014/main" id="{E04999B4-6E42-13E1-CA61-DDFD1AEDD12C}"/>
              </a:ext>
            </a:extLst>
          </p:cNvPr>
          <p:cNvSpPr/>
          <p:nvPr/>
        </p:nvSpPr>
        <p:spPr>
          <a:xfrm>
            <a:off x="17101875" y="7385178"/>
            <a:ext cx="5971592" cy="1054359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Persegi Panjang 2">
            <a:extLst>
              <a:ext uri="{FF2B5EF4-FFF2-40B4-BE49-F238E27FC236}">
                <a16:creationId xmlns:a16="http://schemas.microsoft.com/office/drawing/2014/main" id="{4DB102C4-A89F-1F78-43F9-101A6E3A3C25}"/>
              </a:ext>
            </a:extLst>
          </p:cNvPr>
          <p:cNvSpPr/>
          <p:nvPr/>
        </p:nvSpPr>
        <p:spPr>
          <a:xfrm>
            <a:off x="17101875" y="9284357"/>
            <a:ext cx="5971592" cy="1054359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Persegi Panjang 2">
            <a:extLst>
              <a:ext uri="{FF2B5EF4-FFF2-40B4-BE49-F238E27FC236}">
                <a16:creationId xmlns:a16="http://schemas.microsoft.com/office/drawing/2014/main" id="{D0146D36-F41D-E931-9728-1ECF3B5A5066}"/>
              </a:ext>
            </a:extLst>
          </p:cNvPr>
          <p:cNvSpPr/>
          <p:nvPr/>
        </p:nvSpPr>
        <p:spPr>
          <a:xfrm>
            <a:off x="17101875" y="5485999"/>
            <a:ext cx="5971592" cy="1054359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Persegi Panjang 2">
            <a:extLst>
              <a:ext uri="{FF2B5EF4-FFF2-40B4-BE49-F238E27FC236}">
                <a16:creationId xmlns:a16="http://schemas.microsoft.com/office/drawing/2014/main" id="{EC64587A-FF00-C577-2E99-9D2C114D681F}"/>
              </a:ext>
            </a:extLst>
          </p:cNvPr>
          <p:cNvSpPr/>
          <p:nvPr/>
        </p:nvSpPr>
        <p:spPr>
          <a:xfrm>
            <a:off x="17101875" y="11186208"/>
            <a:ext cx="5971592" cy="1054359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40368323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7B4FA-669E-E836-6237-5BED2B060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19BB8-708E-F664-4CED-5BD797161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A0D59-8220-41DA-C2E7-65FDB4A80B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039690" cy="803546"/>
          </a:xfrm>
        </p:spPr>
        <p:txBody>
          <a:bodyPr>
            <a:normAutofit/>
          </a:bodyPr>
          <a:lstStyle/>
          <a:p>
            <a:r>
              <a:rPr lang="en-US" dirty="0"/>
              <a:t>Rules of inference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94ECB-70A9-B686-A799-14112AB4543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11508207" cy="10031591"/>
          </a:xfrm>
        </p:spPr>
        <p:txBody>
          <a:bodyPr>
            <a:normAutofit/>
          </a:bodyPr>
          <a:lstStyle/>
          <a:p>
            <a:r>
              <a:rPr lang="en-US" dirty="0"/>
              <a:t>Inference rules capture patterns of sound inference</a:t>
            </a:r>
          </a:p>
          <a:p>
            <a:r>
              <a:rPr lang="en-US" dirty="0"/>
              <a:t>Once established, don’t need to show the truth table every time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56871DA6-7C3A-F691-481B-08500D82FE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78" r="25868"/>
          <a:stretch/>
        </p:blipFill>
        <p:spPr bwMode="auto">
          <a:xfrm>
            <a:off x="14207067" y="2127197"/>
            <a:ext cx="9812660" cy="115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4757372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F304-F248-607E-5405-27E0E472D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17FD-E202-5A03-F6F4-41563B394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2DA1B-C82B-7E81-E7C3-F50B3F5C3B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039690" cy="803546"/>
          </a:xfrm>
        </p:spPr>
        <p:txBody>
          <a:bodyPr>
            <a:normAutofit/>
          </a:bodyPr>
          <a:lstStyle/>
          <a:p>
            <a:r>
              <a:rPr lang="en-US" dirty="0"/>
              <a:t>Rules of inference: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6B440-C3C4-3D03-A3E0-543885109BB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19470178" cy="100315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If it rains, then John wears a coat</a:t>
            </a:r>
          </a:p>
          <a:p>
            <a:r>
              <a:rPr lang="en-US" dirty="0"/>
              <a:t>If John wears a coat, then he is not cold</a:t>
            </a:r>
          </a:p>
          <a:p>
            <a:r>
              <a:rPr lang="en-US" dirty="0"/>
              <a:t>It is raining</a:t>
            </a:r>
          </a:p>
          <a:p>
            <a:r>
              <a:rPr lang="en-US" dirty="0"/>
              <a:t>The Syntax:</a:t>
            </a:r>
          </a:p>
          <a:p>
            <a:pPr lvl="1"/>
            <a:r>
              <a:rPr lang="en-US" dirty="0"/>
              <a:t>J: John wears coat</a:t>
            </a:r>
          </a:p>
          <a:p>
            <a:pPr lvl="1"/>
            <a:r>
              <a:rPr lang="en-US" dirty="0"/>
              <a:t>R: it is rains</a:t>
            </a:r>
          </a:p>
          <a:p>
            <a:pPr lvl="1"/>
            <a:r>
              <a:rPr lang="en-US" dirty="0"/>
              <a:t>C: John is Cold</a:t>
            </a:r>
          </a:p>
          <a:p>
            <a:r>
              <a:rPr lang="en-US" dirty="0"/>
              <a:t>Therefore:</a:t>
            </a:r>
          </a:p>
          <a:p>
            <a:pPr lvl="1"/>
            <a:r>
              <a:rPr lang="en-US" dirty="0"/>
              <a:t>If it rains, then John wears a coat (𝑅 → 𝐽)</a:t>
            </a:r>
          </a:p>
          <a:p>
            <a:pPr lvl="1"/>
            <a:r>
              <a:rPr lang="en-US" dirty="0"/>
              <a:t>If John wears a coat, then he is not cold (𝐽 → ¬𝐶)</a:t>
            </a:r>
          </a:p>
          <a:p>
            <a:pPr lvl="1"/>
            <a:r>
              <a:rPr lang="en-US" dirty="0"/>
              <a:t>It is raining (𝑅 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013532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C87D4-B195-8C78-38C9-33C1B3B84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C6ABC-0E47-6A2F-453B-58555F7F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47CED-2CA7-0017-AAA6-BD6DBA04F0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039690" cy="803546"/>
          </a:xfrm>
        </p:spPr>
        <p:txBody>
          <a:bodyPr>
            <a:normAutofit/>
          </a:bodyPr>
          <a:lstStyle/>
          <a:p>
            <a:r>
              <a:rPr lang="en-US" dirty="0"/>
              <a:t>Rules of inference: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CC86559-F0C9-D231-1382-23C1A2CE425A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19470178" cy="10031591"/>
              </a:xfrm>
            </p:spPr>
            <p:txBody>
              <a:bodyPr>
                <a:normAutofit lnSpcReduction="10000"/>
              </a:bodyPr>
              <a:lstStyle/>
              <a:p>
                <a:pPr marL="2300288" indent="-811213">
                  <a:spcBef>
                    <a:spcPts val="2400"/>
                  </a:spcBef>
                </a:pPr>
                <a:r>
                  <a:rPr lang="en-US" sz="3600" dirty="0">
                    <a:latin typeface="+mj-lt"/>
                  </a:rPr>
                  <a:t>If it rains, then John wears a coat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600" dirty="0">
                  <a:latin typeface="+mj-lt"/>
                </a:endParaRPr>
              </a:p>
              <a:p>
                <a:pPr marL="2300288" indent="-811213">
                  <a:spcBef>
                    <a:spcPts val="2400"/>
                  </a:spcBef>
                </a:pPr>
                <a:r>
                  <a:rPr lang="en-US" sz="3600" dirty="0">
                    <a:latin typeface="+mj-lt"/>
                  </a:rPr>
                  <a:t>If John wears a coat, then he is not cold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→ ¬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600" dirty="0">
                  <a:latin typeface="+mj-lt"/>
                </a:endParaRPr>
              </a:p>
              <a:p>
                <a:pPr marL="2300288" indent="-811213">
                  <a:spcBef>
                    <a:spcPts val="2400"/>
                  </a:spcBef>
                </a:pPr>
                <a:r>
                  <a:rPr lang="en-US" sz="3600" dirty="0">
                    <a:latin typeface="+mj-lt"/>
                  </a:rPr>
                  <a:t>It is raining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US" sz="3600" dirty="0">
                  <a:latin typeface="+mj-lt"/>
                </a:endParaRPr>
              </a:p>
              <a:p>
                <a:pPr marL="2300288" indent="-811213">
                  <a:spcBef>
                    <a:spcPts val="2400"/>
                  </a:spcBef>
                </a:pPr>
                <a:endParaRPr lang="en-US" sz="3600" dirty="0">
                  <a:latin typeface="+mj-lt"/>
                </a:endParaRPr>
              </a:p>
              <a:p>
                <a:pPr marL="2692400" lvl="2" indent="0">
                  <a:spcBef>
                    <a:spcPts val="2400"/>
                  </a:spcBef>
                  <a:buNone/>
                </a:pPr>
                <a:r>
                  <a:rPr lang="en-US" sz="3600" dirty="0">
                    <a:latin typeface="+mj-lt"/>
                  </a:rPr>
                  <a:t>The Conclusion using Rule of Inference:</a:t>
                </a:r>
              </a:p>
              <a:p>
                <a:pPr marL="3435350" lvl="2" indent="-742950">
                  <a:spcBef>
                    <a:spcPts val="24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dirty="0">
                    <a:latin typeface="+mj-lt"/>
                  </a:rPr>
                  <a:t> 		Given</a:t>
                </a:r>
              </a:p>
              <a:p>
                <a:pPr marL="3435350" lvl="2" indent="-742950">
                  <a:spcBef>
                    <a:spcPts val="24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→ ¬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dirty="0">
                    <a:latin typeface="+mj-lt"/>
                  </a:rPr>
                  <a:t>		Given</a:t>
                </a:r>
              </a:p>
              <a:p>
                <a:pPr marL="3435350" lvl="2" indent="-742950">
                  <a:spcBef>
                    <a:spcPts val="2400"/>
                  </a:spcBef>
                  <a:buFont typeface="+mj-lt"/>
                  <a:buAutoNum type="arabicPeriod"/>
                </a:pPr>
                <a:r>
                  <a:rPr lang="en-US" sz="3600" dirty="0">
                    <a:latin typeface="+mj-lt"/>
                  </a:rPr>
                  <a:t>R			Given</a:t>
                </a:r>
              </a:p>
              <a:p>
                <a:pPr marL="3435350" lvl="2" indent="-742950">
                  <a:spcBef>
                    <a:spcPts val="2400"/>
                  </a:spcBef>
                  <a:buFont typeface="+mj-lt"/>
                  <a:buAutoNum type="arabicPeriod"/>
                </a:pPr>
                <a:r>
                  <a:rPr lang="en-US" sz="3600" dirty="0">
                    <a:latin typeface="+mj-lt"/>
                  </a:rPr>
                  <a:t>J			Modus </a:t>
                </a:r>
                <a:r>
                  <a:rPr lang="en-US" sz="3600" dirty="0" err="1">
                    <a:latin typeface="+mj-lt"/>
                  </a:rPr>
                  <a:t>Ponen</a:t>
                </a:r>
                <a:r>
                  <a:rPr lang="en-US" sz="3600" dirty="0">
                    <a:latin typeface="+mj-lt"/>
                  </a:rPr>
                  <a:t> (1, 3)</a:t>
                </a:r>
              </a:p>
              <a:p>
                <a:pPr marL="3435350" lvl="2" indent="-742950">
                  <a:spcBef>
                    <a:spcPts val="24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600" dirty="0">
                    <a:latin typeface="+mj-lt"/>
                  </a:rPr>
                  <a:t>			Modus </a:t>
                </a:r>
                <a:r>
                  <a:rPr lang="en-US" sz="3600" dirty="0" err="1">
                    <a:latin typeface="+mj-lt"/>
                  </a:rPr>
                  <a:t>Ponen</a:t>
                </a:r>
                <a:r>
                  <a:rPr lang="en-US" sz="3600" dirty="0">
                    <a:latin typeface="+mj-lt"/>
                  </a:rPr>
                  <a:t> (2, 4)</a:t>
                </a:r>
              </a:p>
              <a:p>
                <a:pPr marL="3435350" lvl="2" indent="-742950">
                  <a:spcBef>
                    <a:spcPts val="2400"/>
                  </a:spcBef>
                  <a:buFont typeface="+mj-lt"/>
                  <a:buAutoNum type="arabicPeriod"/>
                </a:pPr>
                <a:endParaRPr lang="en-US" sz="3600" dirty="0">
                  <a:latin typeface="+mj-lt"/>
                </a:endParaRPr>
              </a:p>
              <a:p>
                <a:pPr marL="2692400" lvl="2" indent="0">
                  <a:spcBef>
                    <a:spcPts val="2400"/>
                  </a:spcBef>
                  <a:buNone/>
                </a:pPr>
                <a:r>
                  <a:rPr lang="en-US" sz="3600" dirty="0">
                    <a:latin typeface="+mj-lt"/>
                  </a:rPr>
                  <a:t>The conclusion: John is not cold</a:t>
                </a:r>
              </a:p>
              <a:p>
                <a:pPr marL="3435350" lvl="2" indent="-742950">
                  <a:spcBef>
                    <a:spcPts val="2400"/>
                  </a:spcBef>
                  <a:buFont typeface="+mj-lt"/>
                  <a:buAutoNum type="arabicPeriod"/>
                </a:pPr>
                <a:endParaRPr lang="en-US" sz="3600" dirty="0">
                  <a:latin typeface="+mj-lt"/>
                </a:endParaRPr>
              </a:p>
              <a:p>
                <a:pPr marL="3263900" lvl="2" indent="-571500">
                  <a:spcBef>
                    <a:spcPts val="2400"/>
                  </a:spcBef>
                </a:pPr>
                <a:endParaRPr lang="en-US" sz="3600" dirty="0">
                  <a:latin typeface="+mj-lt"/>
                </a:endParaRPr>
              </a:p>
              <a:p>
                <a:pPr marL="2300288" indent="-811213">
                  <a:spcBef>
                    <a:spcPts val="2400"/>
                  </a:spcBef>
                </a:pPr>
                <a:endParaRPr lang="en-US" sz="3600" dirty="0">
                  <a:latin typeface="+mj-lt"/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CC86559-F0C9-D231-1382-23C1A2CE42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19470178" cy="10031591"/>
              </a:xfrm>
              <a:blipFill>
                <a:blip r:embed="rId2"/>
                <a:stretch>
                  <a:fillRect t="-1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8338207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03796-B45C-254D-3337-8ADE03350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F8239-A60E-001F-6A64-809434104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Limitations of 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A7E7-C203-133B-8A09-BC937BC153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039690" cy="803546"/>
          </a:xfrm>
        </p:spPr>
        <p:txBody>
          <a:bodyPr>
            <a:normAutofit/>
          </a:bodyPr>
          <a:lstStyle/>
          <a:p>
            <a:r>
              <a:rPr lang="en-US" dirty="0"/>
              <a:t>Rules of inference: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CFE35F-2294-AF05-F20C-6102F764928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19470178" cy="100315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Propositional logic has simple syntax and semantics, and limited expressiveness</a:t>
            </a:r>
          </a:p>
          <a:p>
            <a:pPr lvl="1"/>
            <a:r>
              <a:rPr lang="en-US" dirty="0"/>
              <a:t>Though it is handy to illustrate the process of inference</a:t>
            </a:r>
          </a:p>
          <a:p>
            <a:r>
              <a:rPr lang="en-US" dirty="0"/>
              <a:t>However, it only has one representational device, the proposition, and cannot generalize</a:t>
            </a:r>
          </a:p>
          <a:p>
            <a:pPr lvl="1"/>
            <a:r>
              <a:rPr lang="en-US" dirty="0"/>
              <a:t>Input: facts; Output: facts</a:t>
            </a:r>
          </a:p>
          <a:p>
            <a:pPr lvl="1"/>
            <a:r>
              <a:rPr lang="en-US" dirty="0"/>
              <a:t>Result: Many, many rules are necessary to represent any nontrivial world</a:t>
            </a:r>
          </a:p>
          <a:p>
            <a:pPr lvl="1"/>
            <a:r>
              <a:rPr lang="en-US" dirty="0"/>
              <a:t>It is impractical for even very small worlds</a:t>
            </a:r>
          </a:p>
          <a:p>
            <a:r>
              <a:rPr lang="en-US" dirty="0"/>
              <a:t>The solution?</a:t>
            </a:r>
          </a:p>
          <a:p>
            <a:pPr lvl="1"/>
            <a:r>
              <a:rPr lang="en-US" b="1" dirty="0"/>
              <a:t>First-order logic</a:t>
            </a:r>
            <a:r>
              <a:rPr lang="en-US" dirty="0"/>
              <a:t>, which can represent propositions, objects, and relations between objects</a:t>
            </a:r>
          </a:p>
          <a:p>
            <a:pPr lvl="1"/>
            <a:r>
              <a:rPr lang="en-US" dirty="0"/>
              <a:t>Worlds can be modeled with many fewer rules</a:t>
            </a:r>
          </a:p>
        </p:txBody>
      </p:sp>
    </p:spTree>
    <p:extLst>
      <p:ext uri="{BB962C8B-B14F-4D97-AF65-F5344CB8AC3E}">
        <p14:creationId xmlns:p14="http://schemas.microsoft.com/office/powerpoint/2010/main" val="790157404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86355-2805-78B0-D89A-7DB0A151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ED77D-0BDB-8F90-4044-A6BC521E9C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Mewing case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8F5A64E-79A7-5E34-6424-CC7AE5F2976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19782411" cy="10053893"/>
          </a:xfrm>
        </p:spPr>
        <p:txBody>
          <a:bodyPr>
            <a:normAutofit fontScale="85000" lnSpcReduction="10000"/>
          </a:bodyPr>
          <a:lstStyle/>
          <a:p>
            <a:r>
              <a:rPr lang="en-US" sz="4400" dirty="0">
                <a:latin typeface="+mj-lt"/>
                <a:cs typeface="Tahoma" pitchFamily="34" charset="0"/>
              </a:rPr>
              <a:t>In the town of </a:t>
            </a:r>
            <a:r>
              <a:rPr lang="en-US" sz="4400" dirty="0" err="1">
                <a:latin typeface="+mj-lt"/>
                <a:cs typeface="Tahoma" pitchFamily="34" charset="0"/>
              </a:rPr>
              <a:t>Meowington</a:t>
            </a:r>
            <a:r>
              <a:rPr lang="en-US" sz="4400" dirty="0">
                <a:latin typeface="+mj-lt"/>
                <a:cs typeface="Tahoma" pitchFamily="34" charset="0"/>
              </a:rPr>
              <a:t>, Whiskers Purr-</a:t>
            </a:r>
            <a:r>
              <a:rPr lang="en-US" sz="4400" dirty="0" err="1">
                <a:latin typeface="+mj-lt"/>
                <a:cs typeface="Tahoma" pitchFamily="34" charset="0"/>
              </a:rPr>
              <a:t>ot</a:t>
            </a:r>
            <a:r>
              <a:rPr lang="en-US" sz="4400" dirty="0">
                <a:latin typeface="+mj-lt"/>
                <a:cs typeface="Tahoma" pitchFamily="34" charset="0"/>
              </a:rPr>
              <a:t>, the cat detective, is investigating the mysterious disappearance of Lady Tabby's diamond collar. There are three suspects: Mittens, </a:t>
            </a:r>
            <a:r>
              <a:rPr lang="en-US" sz="4400" dirty="0" err="1">
                <a:latin typeface="+mj-lt"/>
                <a:cs typeface="Tahoma" pitchFamily="34" charset="0"/>
              </a:rPr>
              <a:t>Clawdia</a:t>
            </a:r>
            <a:r>
              <a:rPr lang="en-US" sz="4400" dirty="0">
                <a:latin typeface="+mj-lt"/>
                <a:cs typeface="Tahoma" pitchFamily="34" charset="0"/>
              </a:rPr>
              <a:t>, and Tigger. Only one suspect tells the truth, and the thief must be among them.</a:t>
            </a:r>
          </a:p>
          <a:p>
            <a:r>
              <a:rPr lang="en-US" sz="4400" dirty="0">
                <a:latin typeface="+mj-lt"/>
                <a:cs typeface="Tahoma" pitchFamily="34" charset="0"/>
              </a:rPr>
              <a:t>The premises are as follows:</a:t>
            </a:r>
          </a:p>
          <a:p>
            <a:pPr lvl="1"/>
            <a:r>
              <a:rPr lang="en-US" dirty="0">
                <a:latin typeface="+mj-lt"/>
                <a:cs typeface="Tahoma" pitchFamily="34" charset="0"/>
              </a:rPr>
              <a:t>If Mittens was in the garden, then </a:t>
            </a:r>
            <a:r>
              <a:rPr lang="en-US" dirty="0" err="1">
                <a:latin typeface="+mj-lt"/>
                <a:cs typeface="Tahoma" pitchFamily="34" charset="0"/>
              </a:rPr>
              <a:t>Clawdia</a:t>
            </a:r>
            <a:r>
              <a:rPr lang="en-US" dirty="0">
                <a:latin typeface="+mj-lt"/>
                <a:cs typeface="Tahoma" pitchFamily="34" charset="0"/>
              </a:rPr>
              <a:t> was in the parlor.</a:t>
            </a:r>
          </a:p>
          <a:p>
            <a:pPr lvl="1"/>
            <a:r>
              <a:rPr lang="en-US" dirty="0">
                <a:latin typeface="+mj-lt"/>
                <a:cs typeface="Tahoma" pitchFamily="34" charset="0"/>
              </a:rPr>
              <a:t>Tigger or </a:t>
            </a:r>
            <a:r>
              <a:rPr lang="en-US" dirty="0" err="1">
                <a:latin typeface="+mj-lt"/>
                <a:cs typeface="Tahoma" pitchFamily="34" charset="0"/>
              </a:rPr>
              <a:t>Clawdia</a:t>
            </a:r>
            <a:r>
              <a:rPr lang="en-US" dirty="0">
                <a:latin typeface="+mj-lt"/>
                <a:cs typeface="Tahoma" pitchFamily="34" charset="0"/>
              </a:rPr>
              <a:t> has the diamond collar, but they both claim not to have it.</a:t>
            </a:r>
          </a:p>
          <a:p>
            <a:pPr lvl="1"/>
            <a:r>
              <a:rPr lang="en-US" dirty="0">
                <a:latin typeface="+mj-lt"/>
                <a:cs typeface="Tahoma" pitchFamily="34" charset="0"/>
              </a:rPr>
              <a:t>Tigger says that he was sleeping in the attic when the collar went missing.</a:t>
            </a:r>
          </a:p>
          <a:p>
            <a:pPr lvl="1"/>
            <a:r>
              <a:rPr lang="en-US" dirty="0">
                <a:latin typeface="+mj-lt"/>
                <a:cs typeface="Tahoma" pitchFamily="34" charset="0"/>
              </a:rPr>
              <a:t>If </a:t>
            </a:r>
            <a:r>
              <a:rPr lang="en-US" dirty="0" err="1">
                <a:latin typeface="+mj-lt"/>
                <a:cs typeface="Tahoma" pitchFamily="34" charset="0"/>
              </a:rPr>
              <a:t>Clawdia</a:t>
            </a:r>
            <a:r>
              <a:rPr lang="en-US" dirty="0">
                <a:latin typeface="+mj-lt"/>
                <a:cs typeface="Tahoma" pitchFamily="34" charset="0"/>
              </a:rPr>
              <a:t> has the diamond collar, she must have been in the parlor.</a:t>
            </a:r>
          </a:p>
          <a:p>
            <a:pPr lvl="1"/>
            <a:r>
              <a:rPr lang="en-US" dirty="0">
                <a:latin typeface="+mj-lt"/>
                <a:cs typeface="Tahoma" pitchFamily="34" charset="0"/>
              </a:rPr>
              <a:t>Mittens claims that if he had taken the collar, he would not be hiding in the bushes.</a:t>
            </a:r>
          </a:p>
          <a:p>
            <a:pPr lvl="1"/>
            <a:r>
              <a:rPr lang="en-US" dirty="0">
                <a:latin typeface="+mj-lt"/>
                <a:cs typeface="Tahoma" pitchFamily="34" charset="0"/>
              </a:rPr>
              <a:t>It is known that the cat with the collar was not sleeping.</a:t>
            </a:r>
          </a:p>
          <a:p>
            <a:r>
              <a:rPr lang="en-US" sz="4400" dirty="0">
                <a:latin typeface="+mj-lt"/>
                <a:cs typeface="Tahoma" pitchFamily="34" charset="0"/>
              </a:rPr>
              <a:t>Determine who took Lady Tabby's diamond collar using the premises given.</a:t>
            </a:r>
          </a:p>
          <a:p>
            <a:endParaRPr lang="en-US" sz="4400" dirty="0">
              <a:latin typeface="+mj-lt"/>
              <a:cs typeface="Tahoma" pitchFamily="34" charset="0"/>
            </a:endParaRPr>
          </a:p>
          <a:p>
            <a:endParaRPr lang="en-US" sz="4400" dirty="0">
              <a:latin typeface="+mj-lt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328940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7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149698" cy="8372537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Burgard, W., Nebel, B., &amp; </a:t>
            </a:r>
            <a:r>
              <a:rPr lang="en-US" sz="4000" dirty="0" err="1">
                <a:latin typeface="+mj-lt"/>
              </a:rPr>
              <a:t>Riedmiller</a:t>
            </a:r>
            <a:r>
              <a:rPr lang="en-US" sz="4000" dirty="0">
                <a:latin typeface="+mj-lt"/>
              </a:rPr>
              <a:t>, M. (2014). Propositional Logic Rational Thinking, Logic, Resolution. Foundations of Artificial Intelligence. https://gki.informatik.uni-freiburg.de/teaching/ss14/gki/lectures/ai07.pdf</a:t>
            </a:r>
          </a:p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Ferraro, F. (2021). Propositional and First-Order Logic. CMSC 471: Artificial Intelligence. https://redirect.cs.umbc.edu/courses/undergraduate/CMSC471/spring21/03/slides/05-logic.pdf</a:t>
            </a:r>
          </a:p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Rosen, K. H. (2012). Discrete mathematics and its applications (7th ed). McGraw-Hill.</a:t>
            </a:r>
          </a:p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Russell, S. J., Norvig, P., Chang, M., Devlin, J., Dragan, A., Forsyth, D., Goodfellow, I., Malik, J., </a:t>
            </a:r>
            <a:r>
              <a:rPr lang="en-US" sz="4000" dirty="0" err="1">
                <a:latin typeface="+mj-lt"/>
              </a:rPr>
              <a:t>Mansinghka</a:t>
            </a:r>
            <a:r>
              <a:rPr lang="en-US" sz="4000" dirty="0">
                <a:latin typeface="+mj-lt"/>
              </a:rPr>
              <a:t>, V., Pearl, J., &amp; Wooldridge, M. J. (2022). Artificial intelligence: A modern approach (Fourth edition, global edition). Pearson.</a:t>
            </a:r>
          </a:p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Serafini, L. (2023). Propositional Logic—Syntax and Semantics. Knowledge Representation and Learning. https://stem.elearning.unipd.it/pluginfile.php/480526/mod_resource/content/2/slides.pdf</a:t>
            </a:r>
          </a:p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Wang, Y.-X. (2020). Logic: Logic intro &amp; Propositional Logic. CS165A: Artificial Intelligence (Fall 2020). https://sites.cs.ucsb.edu/~yuxiangw/classes/CS165A-2020fall/Lectures/Lecture-logic1.pdf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5129</TotalTime>
  <Words>2458</Words>
  <Application>Microsoft Office PowerPoint</Application>
  <PresentationFormat>Custom</PresentationFormat>
  <Paragraphs>290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Cambria Math</vt:lpstr>
      <vt:lpstr>OCRB</vt:lpstr>
      <vt:lpstr>Courier New</vt:lpstr>
      <vt:lpstr>Open Sans</vt:lpstr>
      <vt:lpstr>Open Sans Semibold</vt:lpstr>
      <vt:lpstr>Open Sans Light</vt:lpstr>
      <vt:lpstr>Arial</vt:lpstr>
      <vt:lpstr>Roboto</vt:lpstr>
      <vt:lpstr>Helvetica Neue Medium</vt:lpstr>
      <vt:lpstr>Open Sans ExtraBold</vt:lpstr>
      <vt:lpstr>21_BasicWhite</vt:lpstr>
      <vt:lpstr>Logical Agent</vt:lpstr>
      <vt:lpstr>Learning Outcomes</vt:lpstr>
      <vt:lpstr>outline</vt:lpstr>
      <vt:lpstr>Logic</vt:lpstr>
      <vt:lpstr>Logic</vt:lpstr>
      <vt:lpstr>Logic</vt:lpstr>
      <vt:lpstr>Agent that think rationally</vt:lpstr>
      <vt:lpstr>Agent that think rationally</vt:lpstr>
      <vt:lpstr>Agent that think rationally</vt:lpstr>
      <vt:lpstr>Agent that think rationally</vt:lpstr>
      <vt:lpstr>Fundamental concept of logic</vt:lpstr>
      <vt:lpstr>Fundamental concept of logic</vt:lpstr>
      <vt:lpstr>Fundamental concept of logic</vt:lpstr>
      <vt:lpstr>Fundamental concept of logic</vt:lpstr>
      <vt:lpstr>Fundamental concept of logic</vt:lpstr>
      <vt:lpstr>Fundamental concept of logic</vt:lpstr>
      <vt:lpstr>Inference</vt:lpstr>
      <vt:lpstr>Inference</vt:lpstr>
      <vt:lpstr>Inference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Limitations of Propositional logic</vt:lpstr>
      <vt:lpstr>exercise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70</cp:revision>
  <dcterms:created xsi:type="dcterms:W3CDTF">2023-11-17T02:51:40Z</dcterms:created>
  <dcterms:modified xsi:type="dcterms:W3CDTF">2024-12-27T03:42:06Z</dcterms:modified>
</cp:coreProperties>
</file>