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5"/>
  </p:notesMasterIdLst>
  <p:sldIdLst>
    <p:sldId id="256" r:id="rId2"/>
    <p:sldId id="548" r:id="rId3"/>
    <p:sldId id="549" r:id="rId4"/>
    <p:sldId id="510" r:id="rId5"/>
    <p:sldId id="509" r:id="rId6"/>
    <p:sldId id="524" r:id="rId7"/>
    <p:sldId id="525" r:id="rId8"/>
    <p:sldId id="526" r:id="rId9"/>
    <p:sldId id="527" r:id="rId10"/>
    <p:sldId id="332" r:id="rId11"/>
    <p:sldId id="437" r:id="rId12"/>
    <p:sldId id="528" r:id="rId13"/>
    <p:sldId id="529" r:id="rId14"/>
    <p:sldId id="530" r:id="rId15"/>
    <p:sldId id="531" r:id="rId16"/>
    <p:sldId id="532" r:id="rId17"/>
    <p:sldId id="533" r:id="rId18"/>
    <p:sldId id="534" r:id="rId19"/>
    <p:sldId id="535" r:id="rId20"/>
    <p:sldId id="536" r:id="rId21"/>
    <p:sldId id="537" r:id="rId22"/>
    <p:sldId id="538" r:id="rId23"/>
    <p:sldId id="539" r:id="rId24"/>
    <p:sldId id="544" r:id="rId25"/>
    <p:sldId id="545" r:id="rId26"/>
    <p:sldId id="543" r:id="rId27"/>
    <p:sldId id="540" r:id="rId28"/>
    <p:sldId id="541" r:id="rId29"/>
    <p:sldId id="542" r:id="rId30"/>
    <p:sldId id="546" r:id="rId31"/>
    <p:sldId id="547" r:id="rId32"/>
    <p:sldId id="423" r:id="rId33"/>
    <p:sldId id="272" r:id="rId34"/>
  </p:sldIdLst>
  <p:sldSz cx="24384000" cy="13716000"/>
  <p:notesSz cx="6858000" cy="9144000"/>
  <p:embeddedFontLst>
    <p:embeddedFont>
      <p:font typeface="OCRB" panose="020B0609020202020204" pitchFamily="49" charset="0"/>
      <p:regular r:id="rId36"/>
    </p:embeddedFont>
    <p:embeddedFont>
      <p:font typeface="Open Sans ExtraBold" panose="020B0906030804020204" pitchFamily="34" charset="0"/>
      <p:bold r:id="rId37"/>
      <p:italic r:id="rId38"/>
      <p:boldItalic r:id="rId39"/>
    </p:embeddedFont>
    <p:embeddedFont>
      <p:font typeface="Open Sans Light" panose="020B0306030504020204" pitchFamily="34" charset="0"/>
      <p:regular r:id="rId40"/>
      <p:italic r:id="rId41"/>
    </p:embeddedFont>
    <p:embeddedFont>
      <p:font typeface="Open Sans Semibold" panose="020B0706030804020204" pitchFamily="34" charset="0"/>
      <p:bold r:id="rId42"/>
      <p:boldItalic r:id="rId4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68266-029E-E14E-22E7-71D0011B9948}" v="3" dt="2024-01-17T06:29:36.70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Gaya Tema 1 - Akse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5097" autoAdjust="0"/>
  </p:normalViewPr>
  <p:slideViewPr>
    <p:cSldViewPr snapToGrid="0" snapToObjects="1">
      <p:cViewPr varScale="1">
        <p:scale>
          <a:sx n="35" d="100"/>
          <a:sy n="35" d="100"/>
        </p:scale>
        <p:origin x="696" y="6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Indra" userId="S::felix.indra@binus.ac.id::9c176177-5e7f-49d1-b711-140cc48a3735" providerId="AD" clId="Web-{30E68266-029E-E14E-22E7-71D0011B9948}"/>
    <pc:docChg chg="modSld">
      <pc:chgData name="Felix Indra" userId="S::felix.indra@binus.ac.id::9c176177-5e7f-49d1-b711-140cc48a3735" providerId="AD" clId="Web-{30E68266-029E-E14E-22E7-71D0011B9948}" dt="2024-01-17T06:29:34.485" v="1" actId="20577"/>
      <pc:docMkLst>
        <pc:docMk/>
      </pc:docMkLst>
      <pc:sldChg chg="modSp">
        <pc:chgData name="Felix Indra" userId="S::felix.indra@binus.ac.id::9c176177-5e7f-49d1-b711-140cc48a3735" providerId="AD" clId="Web-{30E68266-029E-E14E-22E7-71D0011B9948}" dt="2024-01-17T06:29:34.485" v="1" actId="20577"/>
        <pc:sldMkLst>
          <pc:docMk/>
          <pc:sldMk cId="3807564589" sldId="256"/>
        </pc:sldMkLst>
        <pc:spChg chg="mod">
          <ac:chgData name="Felix Indra" userId="S::felix.indra@binus.ac.id::9c176177-5e7f-49d1-b711-140cc48a3735" providerId="AD" clId="Web-{30E68266-029E-E14E-22E7-71D0011B9948}" dt="2024-01-17T06:29:34.485" v="1" actId="20577"/>
          <ac:spMkLst>
            <pc:docMk/>
            <pc:sldMk cId="3807564589" sldId="256"/>
            <ac:spMk id="2" creationId="{50F9371B-F92F-AED8-457A-F4BAE6779B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id-ID"/>
              <a:t>Klik untuk edit gaya teks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Session 17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Philosophy, Ethics, and Safety of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mpungan Konten 14">
            <a:extLst>
              <a:ext uri="{FF2B5EF4-FFF2-40B4-BE49-F238E27FC236}">
                <a16:creationId xmlns:a16="http://schemas.microsoft.com/office/drawing/2014/main" id="{CB45748F-F5F0-16EB-461F-3100BCE1F1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57150" indent="0" algn="just">
              <a:buNone/>
            </a:pPr>
            <a:r>
              <a:rPr lang="en-US" sz="4400" dirty="0">
                <a:latin typeface="+mj-lt"/>
              </a:rPr>
              <a:t>At the end of this session, students will be able to:</a:t>
            </a:r>
          </a:p>
          <a:p>
            <a:pPr marL="1549400" indent="-635000" algn="just"/>
            <a:r>
              <a:rPr lang="en-US" sz="4400" dirty="0">
                <a:latin typeface="+mj-lt"/>
              </a:rPr>
              <a:t>LO 6: Analyze the impact of AI in society concerning ethical, fairness, and safety issues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FFAA877-2DA3-58BF-CA23-C35FD1ECE503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Learning Outcomes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423F2BA-2ED7-22A8-891A-5B9B326EB1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Session 17</a:t>
            </a:r>
          </a:p>
        </p:txBody>
      </p:sp>
    </p:spTree>
    <p:extLst>
      <p:ext uri="{BB962C8B-B14F-4D97-AF65-F5344CB8AC3E}">
        <p14:creationId xmlns:p14="http://schemas.microsoft.com/office/powerpoint/2010/main" val="244865902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4400" dirty="0">
                <a:latin typeface="+mj-lt"/>
              </a:rPr>
              <a:t>What is Ethics</a:t>
            </a:r>
          </a:p>
          <a:p>
            <a:pPr marL="1773238" indent="-914400" algn="just"/>
            <a:r>
              <a:rPr lang="en-US" sz="4400" dirty="0">
                <a:latin typeface="+mj-lt"/>
              </a:rPr>
              <a:t>AI and people</a:t>
            </a:r>
          </a:p>
          <a:p>
            <a:pPr marL="1773238" indent="-914400" algn="just"/>
            <a:r>
              <a:rPr lang="en-US" sz="4400" dirty="0">
                <a:latin typeface="+mj-lt"/>
              </a:rPr>
              <a:t>Long-Term Ethical Problems in AI</a:t>
            </a:r>
          </a:p>
          <a:p>
            <a:pPr marL="1773238" indent="-914400" algn="just"/>
            <a:r>
              <a:rPr lang="en-US" sz="4400" dirty="0">
                <a:latin typeface="+mj-lt"/>
              </a:rPr>
              <a:t>Near-Term Ethical Problems in AI</a:t>
            </a:r>
          </a:p>
          <a:p>
            <a:pPr marL="1773238" indent="-914400" algn="just"/>
            <a:r>
              <a:rPr lang="en-US" sz="4400" dirty="0">
                <a:latin typeface="+mj-lt"/>
              </a:rPr>
              <a:t>Topic on Ethical AI</a:t>
            </a:r>
          </a:p>
          <a:p>
            <a:pPr marL="1773238" indent="-914400" algn="just"/>
            <a:r>
              <a:rPr lang="en-US" sz="4400" dirty="0">
                <a:latin typeface="+mj-lt"/>
              </a:rPr>
              <a:t>Best Practices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DA4D62-71DB-4285-C4C3-0997122878CE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Outline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09AC7C5-0E4D-9736-3F59-DBE421688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Session 17</a:t>
            </a:r>
          </a:p>
        </p:txBody>
      </p:sp>
    </p:spTree>
    <p:extLst>
      <p:ext uri="{BB962C8B-B14F-4D97-AF65-F5344CB8AC3E}">
        <p14:creationId xmlns:p14="http://schemas.microsoft.com/office/powerpoint/2010/main" val="71841378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Ethics?</a:t>
            </a:r>
          </a:p>
        </p:txBody>
      </p:sp>
    </p:spTree>
    <p:extLst>
      <p:ext uri="{BB962C8B-B14F-4D97-AF65-F5344CB8AC3E}">
        <p14:creationId xmlns:p14="http://schemas.microsoft.com/office/powerpoint/2010/main" val="326340473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7;p6">
            <a:extLst>
              <a:ext uri="{FF2B5EF4-FFF2-40B4-BE49-F238E27FC236}">
                <a16:creationId xmlns:a16="http://schemas.microsoft.com/office/drawing/2014/main" id="{0E2AB5FB-1444-B8EB-5ADA-C07AF2DF1826}"/>
              </a:ext>
            </a:extLst>
          </p:cNvPr>
          <p:cNvSpPr txBox="1"/>
          <p:nvPr/>
        </p:nvSpPr>
        <p:spPr>
          <a:xfrm>
            <a:off x="1403479" y="3418400"/>
            <a:ext cx="949467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Ethics ≠ Feelings</a:t>
            </a:r>
            <a:endParaRPr sz="4800" dirty="0">
              <a:latin typeface="+mj-lt"/>
            </a:endParaRPr>
          </a:p>
        </p:txBody>
      </p:sp>
      <p:sp>
        <p:nvSpPr>
          <p:cNvPr id="5" name="Google Shape;138;p6">
            <a:extLst>
              <a:ext uri="{FF2B5EF4-FFF2-40B4-BE49-F238E27FC236}">
                <a16:creationId xmlns:a16="http://schemas.microsoft.com/office/drawing/2014/main" id="{43E3ECC0-CD16-072D-95E2-D84D34B85366}"/>
              </a:ext>
            </a:extLst>
          </p:cNvPr>
          <p:cNvSpPr txBox="1"/>
          <p:nvPr/>
        </p:nvSpPr>
        <p:spPr>
          <a:xfrm>
            <a:off x="17907173" y="3418399"/>
            <a:ext cx="759166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Ethics ≠ Laws</a:t>
            </a:r>
            <a:endParaRPr sz="4400">
              <a:latin typeface="+mj-lt"/>
            </a:endParaRPr>
          </a:p>
        </p:txBody>
      </p:sp>
      <p:sp>
        <p:nvSpPr>
          <p:cNvPr id="6" name="Google Shape;139;p6">
            <a:extLst>
              <a:ext uri="{FF2B5EF4-FFF2-40B4-BE49-F238E27FC236}">
                <a16:creationId xmlns:a16="http://schemas.microsoft.com/office/drawing/2014/main" id="{85E20D82-FEFF-D066-C7E0-915D8544FD87}"/>
              </a:ext>
            </a:extLst>
          </p:cNvPr>
          <p:cNvSpPr txBox="1"/>
          <p:nvPr/>
        </p:nvSpPr>
        <p:spPr>
          <a:xfrm>
            <a:off x="8680353" y="3449177"/>
            <a:ext cx="1302265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Ethics ≠ Societal Beliefs</a:t>
            </a:r>
            <a:endParaRPr sz="4400">
              <a:latin typeface="+mj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BB1EAD-73C0-9BB8-4130-40ADC70C0451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What is ethics	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942BAB8-01E0-882A-458A-186FFA0AD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40255423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5400" dirty="0">
                <a:latin typeface="+mj-lt"/>
              </a:rPr>
              <a:t>Ethics is a study of what are </a:t>
            </a:r>
            <a:r>
              <a:rPr lang="en-US" sz="5400" b="1" dirty="0">
                <a:solidFill>
                  <a:schemeClr val="accent1"/>
                </a:solidFill>
                <a:latin typeface="+mj-lt"/>
              </a:rPr>
              <a:t>good and bad </a:t>
            </a:r>
            <a:r>
              <a:rPr lang="en-US" sz="5400" dirty="0">
                <a:latin typeface="+mj-lt"/>
              </a:rPr>
              <a:t>ends to pursue in life and what it is </a:t>
            </a:r>
            <a:r>
              <a:rPr lang="en-US" sz="5400" b="1" dirty="0">
                <a:solidFill>
                  <a:schemeClr val="accent1"/>
                </a:solidFill>
                <a:latin typeface="+mj-lt"/>
              </a:rPr>
              <a:t>right and wrong </a:t>
            </a:r>
            <a:r>
              <a:rPr lang="en-US" sz="5400" dirty="0">
                <a:latin typeface="+mj-lt"/>
              </a:rPr>
              <a:t>to do in the conduct of life</a:t>
            </a:r>
          </a:p>
          <a:p>
            <a:pPr marL="1773238" indent="-914400" algn="just"/>
            <a:endParaRPr lang="en-US" sz="5400" dirty="0">
              <a:latin typeface="+mj-lt"/>
            </a:endParaRPr>
          </a:p>
          <a:p>
            <a:pPr marL="1773238" indent="-914400" algn="just"/>
            <a:r>
              <a:rPr lang="en-US" sz="5400" dirty="0">
                <a:latin typeface="+mj-lt"/>
              </a:rPr>
              <a:t>Its primary aim is to determine how one ought to live and what actions one ought to do in the conducts of one’s life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97185E-AE9C-35A5-0125-5022F897F569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What is ethics	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EFDA402-33A9-E4AD-50F0-3935242729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040046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5400" dirty="0">
                <a:latin typeface="+mj-lt"/>
              </a:rPr>
              <a:t>It’s the </a:t>
            </a:r>
            <a:r>
              <a:rPr lang="en-US" sz="5400" b="1" dirty="0">
                <a:latin typeface="+mj-lt"/>
              </a:rPr>
              <a:t>good</a:t>
            </a:r>
            <a:r>
              <a:rPr lang="en-US" sz="5400" dirty="0">
                <a:latin typeface="+mj-lt"/>
              </a:rPr>
              <a:t> things</a:t>
            </a:r>
          </a:p>
          <a:p>
            <a:pPr marL="1773238" indent="-914400" algn="just"/>
            <a:endParaRPr lang="en-US" sz="5400" dirty="0">
              <a:latin typeface="+mj-lt"/>
            </a:endParaRPr>
          </a:p>
          <a:p>
            <a:pPr marL="1773238" indent="-914400" algn="just"/>
            <a:r>
              <a:rPr lang="en-US" sz="5400" dirty="0">
                <a:latin typeface="+mj-lt"/>
              </a:rPr>
              <a:t>It’s the </a:t>
            </a:r>
            <a:r>
              <a:rPr lang="en-US" sz="5400" b="1" dirty="0">
                <a:latin typeface="+mj-lt"/>
              </a:rPr>
              <a:t>right</a:t>
            </a:r>
            <a:r>
              <a:rPr lang="en-US" sz="5400" dirty="0">
                <a:latin typeface="+mj-lt"/>
              </a:rPr>
              <a:t> things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1227C7-C439-7CC2-0CE7-1C263311E3FF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What is ethics	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31793F6-2C3A-5504-B4BC-E478DDEAE3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26843169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4;p9">
            <a:extLst>
              <a:ext uri="{FF2B5EF4-FFF2-40B4-BE49-F238E27FC236}">
                <a16:creationId xmlns:a16="http://schemas.microsoft.com/office/drawing/2014/main" id="{65D4EDE4-E0A6-F72B-93EC-2B5830CEEB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27282" y="3129485"/>
            <a:ext cx="15811549" cy="88939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DF6837E-0646-5104-5555-9B7945EB8406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What is ethics	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2C16719-0CF6-0DF9-6B3C-2C2FC7C058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Trolley problem</a:t>
            </a:r>
          </a:p>
        </p:txBody>
      </p:sp>
    </p:spTree>
    <p:extLst>
      <p:ext uri="{BB962C8B-B14F-4D97-AF65-F5344CB8AC3E}">
        <p14:creationId xmlns:p14="http://schemas.microsoft.com/office/powerpoint/2010/main" val="24669499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14">
            <a:extLst>
              <a:ext uri="{FF2B5EF4-FFF2-40B4-BE49-F238E27FC236}">
                <a16:creationId xmlns:a16="http://schemas.microsoft.com/office/drawing/2014/main" id="{2C2A7FF5-5654-319C-13D1-29FC3EC5BC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5400" dirty="0">
                <a:latin typeface="+mj-lt"/>
              </a:rPr>
              <a:t>We can train a model to predict people’s IQ from their photos and text. Let’s discuss whether it is ethical to build such a technology and what are the risks.</a:t>
            </a:r>
          </a:p>
          <a:p>
            <a:pPr marL="2397126" lvl="1" indent="-914400" algn="just"/>
            <a:r>
              <a:rPr lang="en-US" sz="5400" dirty="0">
                <a:latin typeface="+mj-lt"/>
              </a:rPr>
              <a:t>Who could benefit from such a classifier?</a:t>
            </a:r>
          </a:p>
          <a:p>
            <a:pPr marL="2397126" lvl="1" indent="-914400" algn="just"/>
            <a:r>
              <a:rPr lang="en-US" sz="5400" dirty="0">
                <a:latin typeface="+mj-lt"/>
              </a:rPr>
              <a:t>Who can be harmed from such a classifier? How can it be misused?</a:t>
            </a:r>
          </a:p>
          <a:p>
            <a:pPr marL="2397126" lvl="1" indent="-914400" algn="just"/>
            <a:r>
              <a:rPr lang="en-US" sz="5400" dirty="0">
                <a:latin typeface="+mj-lt"/>
              </a:rPr>
              <a:t>What are the pitfalls/risks in the current solution?</a:t>
            </a:r>
          </a:p>
          <a:p>
            <a:pPr marL="2397126" lvl="1" indent="-914400" algn="just"/>
            <a:r>
              <a:rPr lang="en-US" sz="5400" dirty="0">
                <a:latin typeface="+mj-lt"/>
              </a:rPr>
              <a:t>Who is responsible?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3B1AAA-F436-5C93-6B2B-2CECD4D43F84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What is ethics	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167E136-4319-8C44-9298-B82EFD1544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IQ </a:t>
            </a:r>
            <a:r>
              <a:rPr lang="en-ID" dirty="0" err="1"/>
              <a:t>Dillema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134667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People</a:t>
            </a:r>
          </a:p>
        </p:txBody>
      </p:sp>
    </p:spTree>
    <p:extLst>
      <p:ext uri="{BB962C8B-B14F-4D97-AF65-F5344CB8AC3E}">
        <p14:creationId xmlns:p14="http://schemas.microsoft.com/office/powerpoint/2010/main" val="150478248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66FDBDDE-A336-1602-6F3F-48CAD524E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293" y="3305174"/>
            <a:ext cx="12503761" cy="912701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06F808-A11B-DA30-F162-C6215F66F85F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AI and People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E0D998F-5A0C-71DA-F203-454F62C2AA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The current Problem</a:t>
            </a:r>
          </a:p>
        </p:txBody>
      </p:sp>
    </p:spTree>
    <p:extLst>
      <p:ext uri="{BB962C8B-B14F-4D97-AF65-F5344CB8AC3E}">
        <p14:creationId xmlns:p14="http://schemas.microsoft.com/office/powerpoint/2010/main" val="13861899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tak Teks 3">
            <a:extLst>
              <a:ext uri="{FF2B5EF4-FFF2-40B4-BE49-F238E27FC236}">
                <a16:creationId xmlns:a16="http://schemas.microsoft.com/office/drawing/2014/main" id="{6B6818BD-B5E4-7B91-1CBB-CDE0CE1EED02}"/>
              </a:ext>
            </a:extLst>
          </p:cNvPr>
          <p:cNvSpPr txBox="1"/>
          <p:nvPr/>
        </p:nvSpPr>
        <p:spPr>
          <a:xfrm>
            <a:off x="6093069" y="6477671"/>
            <a:ext cx="12186138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4000" dirty="0"/>
              <a:t>What are important ethical questions to ask in</a:t>
            </a:r>
          </a:p>
          <a:p>
            <a:r>
              <a:rPr lang="en-US" sz="4000" dirty="0"/>
              <a:t>development and deployment of AI systems?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9915D0-9F42-F183-2356-D5FD7AC7EF6D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AI and People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6BB46A-30E6-AFDF-A8F9-A966B9EA4F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The ethical question</a:t>
            </a:r>
          </a:p>
        </p:txBody>
      </p:sp>
    </p:spTree>
    <p:extLst>
      <p:ext uri="{BB962C8B-B14F-4D97-AF65-F5344CB8AC3E}">
        <p14:creationId xmlns:p14="http://schemas.microsoft.com/office/powerpoint/2010/main" val="33147220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Problem</a:t>
            </a:r>
          </a:p>
        </p:txBody>
      </p:sp>
    </p:spTree>
    <p:extLst>
      <p:ext uri="{BB962C8B-B14F-4D97-AF65-F5344CB8AC3E}">
        <p14:creationId xmlns:p14="http://schemas.microsoft.com/office/powerpoint/2010/main" val="418857214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ambar 5">
            <a:extLst>
              <a:ext uri="{FF2B5EF4-FFF2-40B4-BE49-F238E27FC236}">
                <a16:creationId xmlns:a16="http://schemas.microsoft.com/office/drawing/2014/main" id="{C72BF86C-042C-BCE9-C96D-3AC9D06A6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15" y="2869790"/>
            <a:ext cx="22057224" cy="1045395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5BEBE55-0999-928A-1FE1-A0B8D4F72E5C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Long term Problem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ED97604-1F90-DFA7-774E-906924F8B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Weapon</a:t>
            </a:r>
          </a:p>
        </p:txBody>
      </p:sp>
    </p:spTree>
    <p:extLst>
      <p:ext uri="{BB962C8B-B14F-4D97-AF65-F5344CB8AC3E}">
        <p14:creationId xmlns:p14="http://schemas.microsoft.com/office/powerpoint/2010/main" val="195621138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D8E607D1-4B84-66A0-C10E-E634555096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31"/>
          <a:stretch/>
        </p:blipFill>
        <p:spPr>
          <a:xfrm>
            <a:off x="422480" y="2958513"/>
            <a:ext cx="23034514" cy="106690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42838F0-A32F-7129-383B-886483B70B1F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Long term Problem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5B52A1-E682-FC8B-9D3F-C9B833FADC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Replacing human in </a:t>
            </a:r>
            <a:r>
              <a:rPr lang="en-ID" dirty="0" err="1"/>
              <a:t>labor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4971209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tak Teks 3">
            <a:extLst>
              <a:ext uri="{FF2B5EF4-FFF2-40B4-BE49-F238E27FC236}">
                <a16:creationId xmlns:a16="http://schemas.microsoft.com/office/drawing/2014/main" id="{6B6818BD-B5E4-7B91-1CBB-CDE0CE1EED02}"/>
              </a:ext>
            </a:extLst>
          </p:cNvPr>
          <p:cNvSpPr txBox="1"/>
          <p:nvPr/>
        </p:nvSpPr>
        <p:spPr>
          <a:xfrm>
            <a:off x="6093069" y="6477671"/>
            <a:ext cx="12186138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6000" dirty="0"/>
              <a:t>What's common in all these</a:t>
            </a:r>
          </a:p>
          <a:p>
            <a:r>
              <a:rPr lang="en-US" sz="6000" dirty="0"/>
              <a:t>long-term problems?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222AAB-33FF-ADF7-270E-11C6E6B24724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Long term Problem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B9D57CB-2345-419F-C006-1C8AFC30E1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Triggering question</a:t>
            </a:r>
          </a:p>
        </p:txBody>
      </p:sp>
    </p:spTree>
    <p:extLst>
      <p:ext uri="{BB962C8B-B14F-4D97-AF65-F5344CB8AC3E}">
        <p14:creationId xmlns:p14="http://schemas.microsoft.com/office/powerpoint/2010/main" val="257370144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Near Term Problem</a:t>
            </a:r>
          </a:p>
        </p:txBody>
      </p:sp>
    </p:spTree>
    <p:extLst>
      <p:ext uri="{BB962C8B-B14F-4D97-AF65-F5344CB8AC3E}">
        <p14:creationId xmlns:p14="http://schemas.microsoft.com/office/powerpoint/2010/main" val="269186360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E4BA73D1-211C-DFB5-32F4-AFD955C10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472" y="3805931"/>
            <a:ext cx="18966580" cy="8219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4D3A9C-FB82-C9A3-1966-FD5EA7E164A5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Near term Problem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B0FCFAF-2B14-6834-6526-9B1A99286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Hiring Process</a:t>
            </a:r>
          </a:p>
        </p:txBody>
      </p:sp>
    </p:spTree>
    <p:extLst>
      <p:ext uri="{BB962C8B-B14F-4D97-AF65-F5344CB8AC3E}">
        <p14:creationId xmlns:p14="http://schemas.microsoft.com/office/powerpoint/2010/main" val="388814124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1C0F6CCD-5EDC-B247-B014-B1D62B13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855" y="4806367"/>
            <a:ext cx="7776931" cy="398284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1AF079A-92A2-76DE-F7BC-FFD25DDA5FD7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Near term Problem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EA0DD1A-8F01-2339-C531-AAB8EBAEC9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Hiring Process</a:t>
            </a:r>
          </a:p>
        </p:txBody>
      </p:sp>
    </p:spTree>
    <p:extLst>
      <p:ext uri="{BB962C8B-B14F-4D97-AF65-F5344CB8AC3E}">
        <p14:creationId xmlns:p14="http://schemas.microsoft.com/office/powerpoint/2010/main" val="238676333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8DCAE97B-F7D2-7DCE-F802-9B615F6F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275" y="3948806"/>
            <a:ext cx="15302221" cy="750477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E0614D9-404C-4311-5899-F137ECD4E18D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Near term Problem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50BF52C-9453-0E6B-A3F7-B78762D5C8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Hiring Process</a:t>
            </a:r>
          </a:p>
        </p:txBody>
      </p:sp>
    </p:spTree>
    <p:extLst>
      <p:ext uri="{BB962C8B-B14F-4D97-AF65-F5344CB8AC3E}">
        <p14:creationId xmlns:p14="http://schemas.microsoft.com/office/powerpoint/2010/main" val="156128728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ambar 3">
            <a:extLst>
              <a:ext uri="{FF2B5EF4-FFF2-40B4-BE49-F238E27FC236}">
                <a16:creationId xmlns:a16="http://schemas.microsoft.com/office/drawing/2014/main" id="{1E40550D-CA5A-E703-2FA1-D0E21313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680" y="4123175"/>
            <a:ext cx="20516116" cy="665198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F9DA110-11FD-56D8-3FB1-B2B0D5E5EE7B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Near term Problem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AEA2B3-5D7A-5386-92FC-5AAC77CD0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Hiring Process</a:t>
            </a:r>
          </a:p>
        </p:txBody>
      </p:sp>
    </p:spTree>
    <p:extLst>
      <p:ext uri="{BB962C8B-B14F-4D97-AF65-F5344CB8AC3E}">
        <p14:creationId xmlns:p14="http://schemas.microsoft.com/office/powerpoint/2010/main" val="200370918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206EB3EE-BC92-9C91-2EA3-DDE5E91DA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162" y="4638753"/>
            <a:ext cx="15954770" cy="666734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345BB9B-5FDD-3928-3638-E855A9E94B18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Near term Problem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C2FE073-4C88-D931-6C70-846E4ACFF9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Hiring Process</a:t>
            </a:r>
          </a:p>
        </p:txBody>
      </p:sp>
    </p:spTree>
    <p:extLst>
      <p:ext uri="{BB962C8B-B14F-4D97-AF65-F5344CB8AC3E}">
        <p14:creationId xmlns:p14="http://schemas.microsoft.com/office/powerpoint/2010/main" val="38478852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on Ethical AI</a:t>
            </a:r>
          </a:p>
        </p:txBody>
      </p:sp>
    </p:spTree>
    <p:extLst>
      <p:ext uri="{BB962C8B-B14F-4D97-AF65-F5344CB8AC3E}">
        <p14:creationId xmlns:p14="http://schemas.microsoft.com/office/powerpoint/2010/main" val="1076995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14">
            <a:extLst>
              <a:ext uri="{FF2B5EF4-FFF2-40B4-BE49-F238E27FC236}">
                <a16:creationId xmlns:a16="http://schemas.microsoft.com/office/drawing/2014/main" id="{2C2A7FF5-5654-319C-13D1-29FC3EC5BC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 fontScale="85000" lnSpcReduction="20000"/>
          </a:bodyPr>
          <a:lstStyle/>
          <a:p>
            <a:pPr marL="1773238" indent="-914400" algn="just"/>
            <a:r>
              <a:rPr lang="en-US" sz="5400" b="1" dirty="0">
                <a:latin typeface="+mj-lt"/>
              </a:rPr>
              <a:t>Ethics</a:t>
            </a:r>
            <a:r>
              <a:rPr lang="en-US" sz="5400" dirty="0">
                <a:latin typeface="+mj-lt"/>
              </a:rPr>
              <a:t> of the research question</a:t>
            </a:r>
          </a:p>
          <a:p>
            <a:pPr marL="1773238" indent="-914400" algn="just"/>
            <a:r>
              <a:rPr lang="en-US" sz="5400" b="1" dirty="0">
                <a:latin typeface="+mj-lt"/>
              </a:rPr>
              <a:t>Impact of technology and potential dual use</a:t>
            </a:r>
            <a:r>
              <a:rPr lang="en-US" sz="5400" dirty="0">
                <a:latin typeface="+mj-lt"/>
              </a:rPr>
              <a:t>: Who could benefit from such a technology? Who can be harmed by such a technology? Could sharing data and models have major effect on people’s lives?</a:t>
            </a:r>
          </a:p>
          <a:p>
            <a:pPr marL="1773238" indent="-914400" algn="just"/>
            <a:r>
              <a:rPr lang="en-US" sz="5400" b="1" dirty="0">
                <a:latin typeface="+mj-lt"/>
              </a:rPr>
              <a:t>Privacy</a:t>
            </a:r>
            <a:r>
              <a:rPr lang="en-US" sz="5400" dirty="0">
                <a:latin typeface="+mj-lt"/>
              </a:rPr>
              <a:t>: Who owns the data? Published vs. publicized? User consent and implicit assumptions of users how the data will be used.</a:t>
            </a:r>
          </a:p>
          <a:p>
            <a:pPr marL="1773238" indent="-914400" algn="just"/>
            <a:r>
              <a:rPr lang="en-US" sz="5400" b="1" dirty="0">
                <a:latin typeface="+mj-lt"/>
              </a:rPr>
              <a:t>Bias in data</a:t>
            </a:r>
            <a:r>
              <a:rPr lang="en-US" sz="5400" dirty="0">
                <a:latin typeface="+mj-lt"/>
              </a:rPr>
              <a:t>: Artifacts in data, population-specific distributions, representativeness of data.</a:t>
            </a:r>
          </a:p>
          <a:p>
            <a:pPr marL="1773238" indent="-914400" algn="just"/>
            <a:r>
              <a:rPr lang="en-US" sz="5400" b="1" dirty="0">
                <a:latin typeface="+mj-lt"/>
              </a:rPr>
              <a:t>Social bias &amp; unfairness in models</a:t>
            </a:r>
            <a:r>
              <a:rPr lang="en-US" sz="5400" dirty="0">
                <a:latin typeface="+mj-lt"/>
              </a:rPr>
              <a:t>: How to control for confounding variables and corner cases? Does the system optimize for the “right” objective? Does the system amplify bias?</a:t>
            </a:r>
          </a:p>
          <a:p>
            <a:pPr marL="1773238" indent="-914400" algn="just"/>
            <a:r>
              <a:rPr lang="en-US" sz="5400" b="1" dirty="0">
                <a:latin typeface="+mj-lt"/>
              </a:rPr>
              <a:t>Utility-based evaluation beyond accuracy</a:t>
            </a:r>
            <a:r>
              <a:rPr lang="en-US" sz="5400" dirty="0">
                <a:latin typeface="+mj-lt"/>
              </a:rPr>
              <a:t>: FP &amp; FN rates, “the cost” of misclassification, fault tolerance.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DF9EC-16CD-0B91-8B46-965B92DB2297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Topic on Ethical AI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EF3E0A3-B044-0115-A734-EAADBD6FBA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US" dirty="0"/>
              <a:t>Learn to assess AI systems </a:t>
            </a:r>
            <a:r>
              <a:rPr lang="en-US" dirty="0" err="1"/>
              <a:t>adversarially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782044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14">
            <a:extLst>
              <a:ext uri="{FF2B5EF4-FFF2-40B4-BE49-F238E27FC236}">
                <a16:creationId xmlns:a16="http://schemas.microsoft.com/office/drawing/2014/main" id="{2C2A7FF5-5654-319C-13D1-29FC3EC5BC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 lnSpcReduction="10000"/>
          </a:bodyPr>
          <a:lstStyle/>
          <a:p>
            <a:pPr marL="1773238" indent="-914400" algn="just"/>
            <a:r>
              <a:rPr lang="en-US" sz="5400" b="1" dirty="0">
                <a:solidFill>
                  <a:schemeClr val="accent1"/>
                </a:solidFill>
                <a:latin typeface="+mj-lt"/>
              </a:rPr>
              <a:t>Social bias and algorithmic fairness: </a:t>
            </a:r>
            <a:r>
              <a:rPr lang="en-US" sz="5400" dirty="0">
                <a:latin typeface="+mj-lt"/>
              </a:rPr>
              <a:t>social bias in data &amp; AI models</a:t>
            </a:r>
          </a:p>
          <a:p>
            <a:pPr marL="1773238" indent="-914400" algn="just"/>
            <a:r>
              <a:rPr lang="en-US" sz="5400" b="1" dirty="0">
                <a:solidFill>
                  <a:schemeClr val="accent1"/>
                </a:solidFill>
                <a:latin typeface="+mj-lt"/>
              </a:rPr>
              <a:t>Privacy violation</a:t>
            </a:r>
            <a:r>
              <a:rPr lang="en-US" sz="5400" dirty="0">
                <a:latin typeface="+mj-lt"/>
              </a:rPr>
              <a:t>: Privacy violation &amp; language-based profiling</a:t>
            </a:r>
          </a:p>
          <a:p>
            <a:pPr marL="1773238" indent="-914400" algn="just"/>
            <a:r>
              <a:rPr lang="en-US" sz="5400" b="1" dirty="0">
                <a:solidFill>
                  <a:schemeClr val="accent1"/>
                </a:solidFill>
                <a:latin typeface="+mj-lt"/>
              </a:rPr>
              <a:t>Incivility</a:t>
            </a:r>
            <a:r>
              <a:rPr lang="en-US" sz="5400" dirty="0">
                <a:latin typeface="+mj-lt"/>
              </a:rPr>
              <a:t>: Hate-speech, toxicity, incivility, microaggressions online</a:t>
            </a:r>
          </a:p>
          <a:p>
            <a:pPr marL="1773238" indent="-914400" algn="just"/>
            <a:r>
              <a:rPr lang="en-US" sz="5400" b="1" dirty="0">
                <a:solidFill>
                  <a:schemeClr val="accent1"/>
                </a:solidFill>
                <a:latin typeface="+mj-lt"/>
              </a:rPr>
              <a:t>Misinformation</a:t>
            </a:r>
            <a:r>
              <a:rPr lang="en-US" sz="5400" dirty="0">
                <a:latin typeface="+mj-lt"/>
              </a:rPr>
              <a:t>: Fake news, information manipulation, opinion manipulation</a:t>
            </a:r>
          </a:p>
          <a:p>
            <a:pPr marL="1773238" indent="-914400" algn="just"/>
            <a:r>
              <a:rPr lang="en-US" sz="5400" b="1" dirty="0">
                <a:solidFill>
                  <a:schemeClr val="accent1"/>
                </a:solidFill>
                <a:latin typeface="+mj-lt"/>
              </a:rPr>
              <a:t>Technological divide</a:t>
            </a:r>
            <a:r>
              <a:rPr lang="en-US" sz="5400" dirty="0">
                <a:latin typeface="+mj-lt"/>
              </a:rPr>
              <a:t>: Unfair technologies underperforming for speakers of minority dialects, for languages from developing countries, and for disadvantaged populations</a:t>
            </a:r>
          </a:p>
          <a:p>
            <a:pPr marL="1773238" indent="-914400" algn="just"/>
            <a:r>
              <a:rPr lang="en-US" sz="5400" b="1" dirty="0">
                <a:solidFill>
                  <a:schemeClr val="accent1"/>
                </a:solidFill>
                <a:latin typeface="+mj-lt"/>
              </a:rPr>
              <a:t>Environmental impacts of AI models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7BD1B-B571-F703-08D5-98C5DCCDADAA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Topic on Ethical AI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8C96EC5-3013-1D1C-2A06-6E7AAD6AD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US" dirty="0"/>
              <a:t>Social Issues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0678459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</a:t>
            </a:r>
          </a:p>
        </p:txBody>
      </p:sp>
    </p:spTree>
    <p:extLst>
      <p:ext uri="{BB962C8B-B14F-4D97-AF65-F5344CB8AC3E}">
        <p14:creationId xmlns:p14="http://schemas.microsoft.com/office/powerpoint/2010/main" val="343246659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1">
            <a:extLst>
              <a:ext uri="{FF2B5EF4-FFF2-40B4-BE49-F238E27FC236}">
                <a16:creationId xmlns:a16="http://schemas.microsoft.com/office/drawing/2014/main" id="{7C9CA3A2-2FCD-5216-FA19-BAC46289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543" y="2585787"/>
            <a:ext cx="20437611" cy="1212426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0EA5C6F-76EA-FE99-879E-7B8565831396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Best Practice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8DDDB0B-270F-3181-13FD-CA0DD69961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US" dirty="0"/>
              <a:t>Hiring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6001011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ambar 2">
            <a:extLst>
              <a:ext uri="{FF2B5EF4-FFF2-40B4-BE49-F238E27FC236}">
                <a16:creationId xmlns:a16="http://schemas.microsoft.com/office/drawing/2014/main" id="{79489294-C673-B1AD-34FC-AEB48D264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812" y="3326750"/>
            <a:ext cx="15593826" cy="83824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11E7C6C-1BE4-37E6-4BD4-288D45C0CB04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Best Practice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C9D9DF9-7106-BA27-0B23-E7B640F665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US" dirty="0"/>
              <a:t>Hiring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12708445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ambar 1">
            <a:extLst>
              <a:ext uri="{FF2B5EF4-FFF2-40B4-BE49-F238E27FC236}">
                <a16:creationId xmlns:a16="http://schemas.microsoft.com/office/drawing/2014/main" id="{AC8D1E72-A007-E3F7-8B4B-605F367A5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352" y="4305366"/>
            <a:ext cx="14920490" cy="790629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515D190-1609-72B9-6D4A-13B9A928A7E2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Best Practice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BBE004E-C477-AB6D-21AA-72333A1F3A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US" dirty="0"/>
              <a:t>Hiring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15822063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362679189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14">
            <a:extLst>
              <a:ext uri="{FF2B5EF4-FFF2-40B4-BE49-F238E27FC236}">
                <a16:creationId xmlns:a16="http://schemas.microsoft.com/office/drawing/2014/main" id="{2C2A7FF5-5654-319C-13D1-29FC3EC5BC2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5400">
                <a:latin typeface="+mj-lt"/>
              </a:rPr>
              <a:t>How can we prevent AI from inheriting human biases in decision-making?</a:t>
            </a:r>
            <a:endParaRPr lang="en-US" sz="5400" dirty="0">
              <a:latin typeface="+mj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0691BB-1FF2-F5B1-5227-622111DC1136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Exercise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93C36A-082D-2D66-09A8-DCAB13945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Session 18</a:t>
            </a:r>
          </a:p>
        </p:txBody>
      </p:sp>
    </p:spTree>
    <p:extLst>
      <p:ext uri="{BB962C8B-B14F-4D97-AF65-F5344CB8AC3E}">
        <p14:creationId xmlns:p14="http://schemas.microsoft.com/office/powerpoint/2010/main" val="130238146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Judul 4">
            <a:extLst>
              <a:ext uri="{FF2B5EF4-FFF2-40B4-BE49-F238E27FC236}">
                <a16:creationId xmlns:a16="http://schemas.microsoft.com/office/drawing/2014/main" id="{C5B773AD-3131-DABC-0943-3C804025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52150570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mpungan Konten 14">
            <a:extLst>
              <a:ext uri="{FF2B5EF4-FFF2-40B4-BE49-F238E27FC236}">
                <a16:creationId xmlns:a16="http://schemas.microsoft.com/office/drawing/2014/main" id="{FC0F9715-3361-3A3E-A4CD-86B72129162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042" y="2557980"/>
            <a:ext cx="23380929" cy="11158019"/>
          </a:xfrm>
        </p:spPr>
        <p:txBody>
          <a:bodyPr>
            <a:normAutofit/>
          </a:bodyPr>
          <a:lstStyle/>
          <a:p>
            <a:pPr marL="1773238" indent="-914400" algn="just"/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N. Bostrom and E. </a:t>
            </a:r>
            <a:r>
              <a:rPr lang="en-US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Yudkowsky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(2014) ‘The ethics of </a:t>
            </a:r>
            <a:r>
              <a:rPr lang="en-US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artifcial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intelligence’. In W. M. Ramsey and K. Frankish, editors, The Cambridge Handbook of Artificial Intelligence, pages 316–334. Cambridge University Press, Cambridge, 2014.</a:t>
            </a:r>
          </a:p>
          <a:p>
            <a:pPr marL="1773238" indent="-914400" algn="just"/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Sergey </a:t>
            </a:r>
            <a:r>
              <a:rPr lang="en-US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Karagev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Josh Tobin, Pieter </a:t>
            </a:r>
            <a:r>
              <a:rPr lang="en-US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Abbeel</a:t>
            </a:r>
            <a:r>
              <a:rPr lang="en-US" sz="4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(2021)</a:t>
            </a:r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Ethics- Lecturer Notes: Full stack Deep Learning, University of California Berkeley.</a:t>
            </a:r>
          </a:p>
          <a:p>
            <a:pPr marL="1773238" indent="-914400" algn="just"/>
            <a:r>
              <a:rPr lang="en-US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Tsvetkov, Y. (2023). Introduction. Ethics in Artificial Intelligence. https://courses.cs.washington.edu/courses/cse582/23sp/</a:t>
            </a:r>
          </a:p>
          <a:p>
            <a:pPr marL="1773238" indent="-914400" algn="just"/>
            <a:endParaRPr lang="de-DE" sz="44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8838" indent="0" algn="just">
              <a:buNone/>
            </a:pPr>
            <a:endParaRPr lang="en-US" sz="440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9C9C13-4C73-F9EF-FDB3-1418598F7415}"/>
              </a:ext>
            </a:extLst>
          </p:cNvPr>
          <p:cNvSpPr txBox="1">
            <a:spLocks/>
          </p:cNvSpPr>
          <p:nvPr/>
        </p:nvSpPr>
        <p:spPr>
          <a:xfrm>
            <a:off x="3996177" y="889673"/>
            <a:ext cx="14715569" cy="51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0000" lnSpcReduction="10000"/>
          </a:bodyPr>
          <a:lstStyle>
            <a:lvl1pPr marL="0" marR="0" indent="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0" marR="0" indent="457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F28861C-E14E-8744-9C83-1ED2B322A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96177" y="1437343"/>
            <a:ext cx="9768875" cy="803546"/>
          </a:xfrm>
        </p:spPr>
        <p:txBody>
          <a:bodyPr/>
          <a:lstStyle/>
          <a:p>
            <a:r>
              <a:rPr lang="en-ID" dirty="0"/>
              <a:t>Session 17</a:t>
            </a:r>
          </a:p>
        </p:txBody>
      </p:sp>
    </p:spTree>
    <p:extLst>
      <p:ext uri="{BB962C8B-B14F-4D97-AF65-F5344CB8AC3E}">
        <p14:creationId xmlns:p14="http://schemas.microsoft.com/office/powerpoint/2010/main" val="36968460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2023</Template>
  <TotalTime>2220</TotalTime>
  <Words>685</Words>
  <Application>Microsoft Office PowerPoint</Application>
  <PresentationFormat>Custom</PresentationFormat>
  <Paragraphs>100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Times New Roman</vt:lpstr>
      <vt:lpstr>Open Sans Semibold</vt:lpstr>
      <vt:lpstr>Open Sans Light</vt:lpstr>
      <vt:lpstr>Open Sans ExtraBold</vt:lpstr>
      <vt:lpstr>Arial</vt:lpstr>
      <vt:lpstr>OCRB</vt:lpstr>
      <vt:lpstr>21_BasicWhite</vt:lpstr>
      <vt:lpstr>Philosophy, Ethics, and Safety of AI</vt:lpstr>
      <vt:lpstr>PowerPoint Presentation</vt:lpstr>
      <vt:lpstr>PowerPoint Presentation</vt:lpstr>
      <vt:lpstr>What is Ethics?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and People</vt:lpstr>
      <vt:lpstr>PowerPoint Presentation</vt:lpstr>
      <vt:lpstr>PowerPoint Presentation</vt:lpstr>
      <vt:lpstr>Long Term Problem</vt:lpstr>
      <vt:lpstr>PowerPoint Presentation</vt:lpstr>
      <vt:lpstr>PowerPoint Presentation</vt:lpstr>
      <vt:lpstr>PowerPoint Presentation</vt:lpstr>
      <vt:lpstr>Near Term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on Ethical AI</vt:lpstr>
      <vt:lpstr>PowerPoint Presentation</vt:lpstr>
      <vt:lpstr>PowerPoint Presentation</vt:lpstr>
      <vt:lpstr>Best Practice</vt:lpstr>
      <vt:lpstr>PowerPoint Presentation</vt:lpstr>
      <vt:lpstr>PowerPoint Presentation</vt:lpstr>
      <vt:lpstr>PowerPoint Presentation</vt:lpstr>
      <vt:lpstr>Exercise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PowerPoint</dc:title>
  <dc:creator>Felix Indra Kurniadi</dc:creator>
  <cp:lastModifiedBy>Henry Lucky</cp:lastModifiedBy>
  <cp:revision>109</cp:revision>
  <dcterms:created xsi:type="dcterms:W3CDTF">2023-10-15T02:42:15Z</dcterms:created>
  <dcterms:modified xsi:type="dcterms:W3CDTF">2024-12-27T07:50:15Z</dcterms:modified>
</cp:coreProperties>
</file>