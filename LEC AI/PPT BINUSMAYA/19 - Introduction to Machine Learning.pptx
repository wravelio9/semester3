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1"/>
  </p:notesMasterIdLst>
  <p:sldIdLst>
    <p:sldId id="290" r:id="rId2"/>
    <p:sldId id="257" r:id="rId3"/>
    <p:sldId id="258" r:id="rId4"/>
    <p:sldId id="259" r:id="rId5"/>
    <p:sldId id="300" r:id="rId6"/>
    <p:sldId id="284" r:id="rId7"/>
    <p:sldId id="283" r:id="rId8"/>
    <p:sldId id="301" r:id="rId9"/>
    <p:sldId id="285" r:id="rId10"/>
    <p:sldId id="286" r:id="rId11"/>
    <p:sldId id="302" r:id="rId12"/>
    <p:sldId id="303" r:id="rId13"/>
    <p:sldId id="293" r:id="rId14"/>
    <p:sldId id="295" r:id="rId15"/>
    <p:sldId id="296" r:id="rId16"/>
    <p:sldId id="287" r:id="rId17"/>
    <p:sldId id="288" r:id="rId18"/>
    <p:sldId id="289" r:id="rId19"/>
    <p:sldId id="304" r:id="rId20"/>
    <p:sldId id="305" r:id="rId21"/>
    <p:sldId id="306" r:id="rId22"/>
    <p:sldId id="307" r:id="rId23"/>
    <p:sldId id="308" r:id="rId24"/>
    <p:sldId id="309" r:id="rId25"/>
    <p:sldId id="297" r:id="rId26"/>
    <p:sldId id="298" r:id="rId27"/>
    <p:sldId id="294" r:id="rId28"/>
    <p:sldId id="299" r:id="rId29"/>
    <p:sldId id="278" r:id="rId30"/>
  </p:sldIdLst>
  <p:sldSz cx="24384000" cy="13716000"/>
  <p:notesSz cx="6858000" cy="9144000"/>
  <p:embeddedFontLst>
    <p:embeddedFont>
      <p:font typeface="OCRB" panose="020B0609020202020204" pitchFamily="49" charset="0"/>
      <p:regular r:id="rId32"/>
    </p:embeddedFont>
    <p:embeddedFont>
      <p:font typeface="Open Sans" panose="020B0606030504020204" pitchFamily="34" charset="0"/>
      <p:regular r:id="rId33"/>
      <p:bold r:id="rId34"/>
      <p:italic r:id="rId35"/>
      <p:boldItalic r:id="rId36"/>
    </p:embeddedFont>
    <p:embeddedFont>
      <p:font typeface="Open Sans ExtraBold" panose="020B0906030804020204" pitchFamily="34" charset="0"/>
      <p:bold r:id="rId37"/>
      <p:italic r:id="rId38"/>
      <p:boldItalic r:id="rId39"/>
    </p:embeddedFont>
    <p:embeddedFont>
      <p:font typeface="Open Sans Light" panose="020B0306030504020204" pitchFamily="34" charset="0"/>
      <p:regular r:id="rId40"/>
      <p:italic r:id="rId41"/>
    </p:embeddedFont>
    <p:embeddedFont>
      <p:font typeface="Open Sans Semibold" panose="020B0706030804020204" pitchFamily="34" charset="0"/>
      <p:regular r:id="rId42"/>
      <p:bold r:id="rId43"/>
      <p:italic r:id="rId44"/>
      <p:boldItalic r:id="rId45"/>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1042"/>
  </p:normalViewPr>
  <p:slideViewPr>
    <p:cSldViewPr snapToGrid="0" snapToObjects="1">
      <p:cViewPr varScale="1">
        <p:scale>
          <a:sx n="31" d="100"/>
          <a:sy n="31" d="100"/>
        </p:scale>
        <p:origin x="1080" y="102"/>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721ECC-01DB-4CAC-82E5-9580980DEFCC}" type="doc">
      <dgm:prSet loTypeId="urn:microsoft.com/office/officeart/2005/8/layout/chevron1" loCatId="process" qsTypeId="urn:microsoft.com/office/officeart/2005/8/quickstyle/simple1" qsCatId="simple" csTypeId="urn:microsoft.com/office/officeart/2005/8/colors/accent1_4" csCatId="accent1" phldr="1"/>
      <dgm:spPr/>
    </dgm:pt>
    <dgm:pt modelId="{EDE855DC-500A-4D72-A6D6-0AA74349014E}">
      <dgm:prSet phldrT="[Text]"/>
      <dgm:spPr/>
      <dgm:t>
        <a:bodyPr/>
        <a:lstStyle/>
        <a:p>
          <a:r>
            <a:rPr lang="en-ID" b="1" dirty="0">
              <a:latin typeface="Open Sans" panose="020B0606030504020204" pitchFamily="34" charset="0"/>
              <a:ea typeface="Open Sans" panose="020B0606030504020204" pitchFamily="34" charset="0"/>
              <a:cs typeface="Open Sans" panose="020B0606030504020204" pitchFamily="34" charset="0"/>
            </a:rPr>
            <a:t>Receive signals </a:t>
          </a:r>
          <a:r>
            <a:rPr lang="en-ID" dirty="0">
              <a:latin typeface="Open Sans" panose="020B0606030504020204" pitchFamily="34" charset="0"/>
              <a:ea typeface="Open Sans" panose="020B0606030504020204" pitchFamily="34" charset="0"/>
              <a:cs typeface="Open Sans" panose="020B0606030504020204" pitchFamily="34" charset="0"/>
            </a:rPr>
            <a:t>from other neurons via dendrites, </a:t>
          </a:r>
        </a:p>
      </dgm:t>
    </dgm:pt>
    <dgm:pt modelId="{0DB855CF-107D-4C1F-A65D-CB9B2EAE4518}" type="parTrans" cxnId="{6340519D-1273-4908-A3D8-D7491CE04632}">
      <dgm:prSet/>
      <dgm:spPr/>
      <dgm:t>
        <a:bodyPr/>
        <a:lstStyle/>
        <a:p>
          <a:endParaRPr lang="en-ID"/>
        </a:p>
      </dgm:t>
    </dgm:pt>
    <dgm:pt modelId="{752F1ACF-21C5-432C-A583-053F0223AD56}" type="sibTrans" cxnId="{6340519D-1273-4908-A3D8-D7491CE04632}">
      <dgm:prSet/>
      <dgm:spPr/>
      <dgm:t>
        <a:bodyPr/>
        <a:lstStyle/>
        <a:p>
          <a:endParaRPr lang="en-ID"/>
        </a:p>
      </dgm:t>
    </dgm:pt>
    <dgm:pt modelId="{38F812EB-97E5-49F0-95B7-CA387E785705}">
      <dgm:prSet/>
      <dgm:spPr/>
      <dgm:t>
        <a:bodyPr/>
        <a:lstStyle/>
        <a:p>
          <a:r>
            <a:rPr lang="en-ID" b="1" dirty="0">
              <a:latin typeface="Open Sans" panose="020B0606030504020204" pitchFamily="34" charset="0"/>
              <a:ea typeface="Open Sans" panose="020B0606030504020204" pitchFamily="34" charset="0"/>
              <a:cs typeface="Open Sans" panose="020B0606030504020204" pitchFamily="34" charset="0"/>
            </a:rPr>
            <a:t>Tweak the signals </a:t>
          </a:r>
          <a:r>
            <a:rPr lang="en-ID" dirty="0">
              <a:latin typeface="Open Sans" panose="020B0606030504020204" pitchFamily="34" charset="0"/>
              <a:ea typeface="Open Sans" panose="020B0606030504020204" pitchFamily="34" charset="0"/>
              <a:cs typeface="Open Sans" panose="020B0606030504020204" pitchFamily="34" charset="0"/>
            </a:rPr>
            <a:t>in its cell body, </a:t>
          </a:r>
        </a:p>
      </dgm:t>
    </dgm:pt>
    <dgm:pt modelId="{4C61E37F-DA74-4548-8479-6415B020B590}" type="parTrans" cxnId="{6F854089-03D3-4E93-86F9-D93B52F985D7}">
      <dgm:prSet/>
      <dgm:spPr/>
      <dgm:t>
        <a:bodyPr/>
        <a:lstStyle/>
        <a:p>
          <a:endParaRPr lang="en-ID"/>
        </a:p>
      </dgm:t>
    </dgm:pt>
    <dgm:pt modelId="{42B31DB6-5108-45E0-BFD9-0EDC5161A764}" type="sibTrans" cxnId="{6F854089-03D3-4E93-86F9-D93B52F985D7}">
      <dgm:prSet/>
      <dgm:spPr/>
      <dgm:t>
        <a:bodyPr/>
        <a:lstStyle/>
        <a:p>
          <a:endParaRPr lang="en-ID"/>
        </a:p>
      </dgm:t>
    </dgm:pt>
    <dgm:pt modelId="{FEE0A754-0821-4551-8443-18290919507C}">
      <dgm:prSet/>
      <dgm:spPr/>
      <dgm:t>
        <a:bodyPr/>
        <a:lstStyle/>
        <a:p>
          <a:r>
            <a:rPr lang="en-ID" b="1" dirty="0">
              <a:latin typeface="Open Sans" panose="020B0606030504020204" pitchFamily="34" charset="0"/>
              <a:ea typeface="Open Sans" panose="020B0606030504020204" pitchFamily="34" charset="0"/>
              <a:cs typeface="Open Sans" panose="020B0606030504020204" pitchFamily="34" charset="0"/>
            </a:rPr>
            <a:t>Send new signals </a:t>
          </a:r>
          <a:r>
            <a:rPr lang="en-ID" dirty="0">
              <a:latin typeface="Open Sans" panose="020B0606030504020204" pitchFamily="34" charset="0"/>
              <a:ea typeface="Open Sans" panose="020B0606030504020204" pitchFamily="34" charset="0"/>
              <a:cs typeface="Open Sans" panose="020B0606030504020204" pitchFamily="34" charset="0"/>
            </a:rPr>
            <a:t>to other neurons via synaptic terminals</a:t>
          </a:r>
        </a:p>
      </dgm:t>
    </dgm:pt>
    <dgm:pt modelId="{0BC21709-43FE-4F6E-9189-DFD55C68D3F1}" type="parTrans" cxnId="{EF357C57-C190-45B6-898F-1FB68485025C}">
      <dgm:prSet/>
      <dgm:spPr/>
      <dgm:t>
        <a:bodyPr/>
        <a:lstStyle/>
        <a:p>
          <a:endParaRPr lang="en-ID"/>
        </a:p>
      </dgm:t>
    </dgm:pt>
    <dgm:pt modelId="{90BB9442-55CC-4552-BD13-A4C24A6D899D}" type="sibTrans" cxnId="{EF357C57-C190-45B6-898F-1FB68485025C}">
      <dgm:prSet/>
      <dgm:spPr/>
      <dgm:t>
        <a:bodyPr/>
        <a:lstStyle/>
        <a:p>
          <a:endParaRPr lang="en-ID"/>
        </a:p>
      </dgm:t>
    </dgm:pt>
    <dgm:pt modelId="{DFBDB159-BC19-4053-AF74-6EAEC3D3175E}" type="pres">
      <dgm:prSet presAssocID="{AC721ECC-01DB-4CAC-82E5-9580980DEFCC}" presName="Name0" presStyleCnt="0">
        <dgm:presLayoutVars>
          <dgm:dir/>
          <dgm:animLvl val="lvl"/>
          <dgm:resizeHandles val="exact"/>
        </dgm:presLayoutVars>
      </dgm:prSet>
      <dgm:spPr/>
    </dgm:pt>
    <dgm:pt modelId="{C74C6FB0-ACEF-4EEA-AA2A-03CF94492A8A}" type="pres">
      <dgm:prSet presAssocID="{EDE855DC-500A-4D72-A6D6-0AA74349014E}" presName="parTxOnly" presStyleLbl="node1" presStyleIdx="0" presStyleCnt="3">
        <dgm:presLayoutVars>
          <dgm:chMax val="0"/>
          <dgm:chPref val="0"/>
          <dgm:bulletEnabled val="1"/>
        </dgm:presLayoutVars>
      </dgm:prSet>
      <dgm:spPr/>
    </dgm:pt>
    <dgm:pt modelId="{A2EF9B7A-C99D-4197-92AF-EE26B0EC36CC}" type="pres">
      <dgm:prSet presAssocID="{752F1ACF-21C5-432C-A583-053F0223AD56}" presName="parTxOnlySpace" presStyleCnt="0"/>
      <dgm:spPr/>
    </dgm:pt>
    <dgm:pt modelId="{E98D9B2B-4AAB-48E3-84F1-ADFF1D2C55B9}" type="pres">
      <dgm:prSet presAssocID="{38F812EB-97E5-49F0-95B7-CA387E785705}" presName="parTxOnly" presStyleLbl="node1" presStyleIdx="1" presStyleCnt="3" custLinFactNeighborX="-3686" custLinFactNeighborY="-4138">
        <dgm:presLayoutVars>
          <dgm:chMax val="0"/>
          <dgm:chPref val="0"/>
          <dgm:bulletEnabled val="1"/>
        </dgm:presLayoutVars>
      </dgm:prSet>
      <dgm:spPr/>
    </dgm:pt>
    <dgm:pt modelId="{92A1BC5F-7337-46F7-8ACA-40A80EF825F3}" type="pres">
      <dgm:prSet presAssocID="{42B31DB6-5108-45E0-BFD9-0EDC5161A764}" presName="parTxOnlySpace" presStyleCnt="0"/>
      <dgm:spPr/>
    </dgm:pt>
    <dgm:pt modelId="{B095A72F-1515-4B11-B683-37C19D997C9C}" type="pres">
      <dgm:prSet presAssocID="{FEE0A754-0821-4551-8443-18290919507C}" presName="parTxOnly" presStyleLbl="node1" presStyleIdx="2" presStyleCnt="3">
        <dgm:presLayoutVars>
          <dgm:chMax val="0"/>
          <dgm:chPref val="0"/>
          <dgm:bulletEnabled val="1"/>
        </dgm:presLayoutVars>
      </dgm:prSet>
      <dgm:spPr/>
    </dgm:pt>
  </dgm:ptLst>
  <dgm:cxnLst>
    <dgm:cxn modelId="{A4163576-2F09-41E5-B805-9B1696EA0B6B}" type="presOf" srcId="{FEE0A754-0821-4551-8443-18290919507C}" destId="{B095A72F-1515-4B11-B683-37C19D997C9C}" srcOrd="0" destOrd="0" presId="urn:microsoft.com/office/officeart/2005/8/layout/chevron1"/>
    <dgm:cxn modelId="{EF357C57-C190-45B6-898F-1FB68485025C}" srcId="{AC721ECC-01DB-4CAC-82E5-9580980DEFCC}" destId="{FEE0A754-0821-4551-8443-18290919507C}" srcOrd="2" destOrd="0" parTransId="{0BC21709-43FE-4F6E-9189-DFD55C68D3F1}" sibTransId="{90BB9442-55CC-4552-BD13-A4C24A6D899D}"/>
    <dgm:cxn modelId="{AE106979-0A55-4883-9177-054CFDD56560}" type="presOf" srcId="{EDE855DC-500A-4D72-A6D6-0AA74349014E}" destId="{C74C6FB0-ACEF-4EEA-AA2A-03CF94492A8A}" srcOrd="0" destOrd="0" presId="urn:microsoft.com/office/officeart/2005/8/layout/chevron1"/>
    <dgm:cxn modelId="{6F854089-03D3-4E93-86F9-D93B52F985D7}" srcId="{AC721ECC-01DB-4CAC-82E5-9580980DEFCC}" destId="{38F812EB-97E5-49F0-95B7-CA387E785705}" srcOrd="1" destOrd="0" parTransId="{4C61E37F-DA74-4548-8479-6415B020B590}" sibTransId="{42B31DB6-5108-45E0-BFD9-0EDC5161A764}"/>
    <dgm:cxn modelId="{6340519D-1273-4908-A3D8-D7491CE04632}" srcId="{AC721ECC-01DB-4CAC-82E5-9580980DEFCC}" destId="{EDE855DC-500A-4D72-A6D6-0AA74349014E}" srcOrd="0" destOrd="0" parTransId="{0DB855CF-107D-4C1F-A65D-CB9B2EAE4518}" sibTransId="{752F1ACF-21C5-432C-A583-053F0223AD56}"/>
    <dgm:cxn modelId="{AA2C93AE-4534-4727-A9AC-309750D803CC}" type="presOf" srcId="{38F812EB-97E5-49F0-95B7-CA387E785705}" destId="{E98D9B2B-4AAB-48E3-84F1-ADFF1D2C55B9}" srcOrd="0" destOrd="0" presId="urn:microsoft.com/office/officeart/2005/8/layout/chevron1"/>
    <dgm:cxn modelId="{DDECC8BC-6E29-48AC-A16C-DC214B2974BA}" type="presOf" srcId="{AC721ECC-01DB-4CAC-82E5-9580980DEFCC}" destId="{DFBDB159-BC19-4053-AF74-6EAEC3D3175E}" srcOrd="0" destOrd="0" presId="urn:microsoft.com/office/officeart/2005/8/layout/chevron1"/>
    <dgm:cxn modelId="{47C7DA03-8CDF-4C60-924D-EFF63E9AB2A1}" type="presParOf" srcId="{DFBDB159-BC19-4053-AF74-6EAEC3D3175E}" destId="{C74C6FB0-ACEF-4EEA-AA2A-03CF94492A8A}" srcOrd="0" destOrd="0" presId="urn:microsoft.com/office/officeart/2005/8/layout/chevron1"/>
    <dgm:cxn modelId="{1E5C214F-CCBA-4EBA-917E-B8001CA29C82}" type="presParOf" srcId="{DFBDB159-BC19-4053-AF74-6EAEC3D3175E}" destId="{A2EF9B7A-C99D-4197-92AF-EE26B0EC36CC}" srcOrd="1" destOrd="0" presId="urn:microsoft.com/office/officeart/2005/8/layout/chevron1"/>
    <dgm:cxn modelId="{EF3D9BA6-8348-4EAB-97FC-8164F9C73687}" type="presParOf" srcId="{DFBDB159-BC19-4053-AF74-6EAEC3D3175E}" destId="{E98D9B2B-4AAB-48E3-84F1-ADFF1D2C55B9}" srcOrd="2" destOrd="0" presId="urn:microsoft.com/office/officeart/2005/8/layout/chevron1"/>
    <dgm:cxn modelId="{B69FF7E0-4F70-4327-98A5-15B60A4BB43C}" type="presParOf" srcId="{DFBDB159-BC19-4053-AF74-6EAEC3D3175E}" destId="{92A1BC5F-7337-46F7-8ACA-40A80EF825F3}" srcOrd="3" destOrd="0" presId="urn:microsoft.com/office/officeart/2005/8/layout/chevron1"/>
    <dgm:cxn modelId="{C0EF423D-8B64-4916-839B-1C827008E8BA}" type="presParOf" srcId="{DFBDB159-BC19-4053-AF74-6EAEC3D3175E}" destId="{B095A72F-1515-4B11-B683-37C19D997C9C}" srcOrd="4"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4C6FB0-ACEF-4EEA-AA2A-03CF94492A8A}">
      <dsp:nvSpPr>
        <dsp:cNvPr id="0" name=""/>
        <dsp:cNvSpPr/>
      </dsp:nvSpPr>
      <dsp:spPr>
        <a:xfrm>
          <a:off x="4141" y="437142"/>
          <a:ext cx="5045403" cy="2018161"/>
        </a:xfrm>
        <a:prstGeom prst="chevron">
          <a:avLst/>
        </a:prstGeom>
        <a:solidFill>
          <a:schemeClr val="accent1">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ID" sz="2600" b="1" kern="1200" dirty="0">
              <a:latin typeface="Open Sans" panose="020B0606030504020204" pitchFamily="34" charset="0"/>
              <a:ea typeface="Open Sans" panose="020B0606030504020204" pitchFamily="34" charset="0"/>
              <a:cs typeface="Open Sans" panose="020B0606030504020204" pitchFamily="34" charset="0"/>
            </a:rPr>
            <a:t>Receive signals </a:t>
          </a:r>
          <a:r>
            <a:rPr lang="en-ID" sz="2600" kern="1200" dirty="0">
              <a:latin typeface="Open Sans" panose="020B0606030504020204" pitchFamily="34" charset="0"/>
              <a:ea typeface="Open Sans" panose="020B0606030504020204" pitchFamily="34" charset="0"/>
              <a:cs typeface="Open Sans" panose="020B0606030504020204" pitchFamily="34" charset="0"/>
            </a:rPr>
            <a:t>from other neurons via dendrites, </a:t>
          </a:r>
        </a:p>
      </dsp:txBody>
      <dsp:txXfrm>
        <a:off x="1013222" y="437142"/>
        <a:ext cx="3027242" cy="2018161"/>
      </dsp:txXfrm>
    </dsp:sp>
    <dsp:sp modelId="{E98D9B2B-4AAB-48E3-84F1-ADFF1D2C55B9}">
      <dsp:nvSpPr>
        <dsp:cNvPr id="0" name=""/>
        <dsp:cNvSpPr/>
      </dsp:nvSpPr>
      <dsp:spPr>
        <a:xfrm>
          <a:off x="4526407" y="353631"/>
          <a:ext cx="5045403" cy="2018161"/>
        </a:xfrm>
        <a:prstGeom prst="chevron">
          <a:avLst/>
        </a:prstGeom>
        <a:solidFill>
          <a:schemeClr val="accent1">
            <a:shade val="50000"/>
            <a:hueOff val="507423"/>
            <a:satOff val="0"/>
            <a:lumOff val="3220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ID" sz="2600" b="1" kern="1200" dirty="0">
              <a:latin typeface="Open Sans" panose="020B0606030504020204" pitchFamily="34" charset="0"/>
              <a:ea typeface="Open Sans" panose="020B0606030504020204" pitchFamily="34" charset="0"/>
              <a:cs typeface="Open Sans" panose="020B0606030504020204" pitchFamily="34" charset="0"/>
            </a:rPr>
            <a:t>Tweak the signals </a:t>
          </a:r>
          <a:r>
            <a:rPr lang="en-ID" sz="2600" kern="1200" dirty="0">
              <a:latin typeface="Open Sans" panose="020B0606030504020204" pitchFamily="34" charset="0"/>
              <a:ea typeface="Open Sans" panose="020B0606030504020204" pitchFamily="34" charset="0"/>
              <a:cs typeface="Open Sans" panose="020B0606030504020204" pitchFamily="34" charset="0"/>
            </a:rPr>
            <a:t>in its cell body, </a:t>
          </a:r>
        </a:p>
      </dsp:txBody>
      <dsp:txXfrm>
        <a:off x="5535488" y="353631"/>
        <a:ext cx="3027242" cy="2018161"/>
      </dsp:txXfrm>
    </dsp:sp>
    <dsp:sp modelId="{B095A72F-1515-4B11-B683-37C19D997C9C}">
      <dsp:nvSpPr>
        <dsp:cNvPr id="0" name=""/>
        <dsp:cNvSpPr/>
      </dsp:nvSpPr>
      <dsp:spPr>
        <a:xfrm>
          <a:off x="9085868" y="437142"/>
          <a:ext cx="5045403" cy="2018161"/>
        </a:xfrm>
        <a:prstGeom prst="chevron">
          <a:avLst/>
        </a:prstGeom>
        <a:solidFill>
          <a:schemeClr val="accent1">
            <a:shade val="50000"/>
            <a:hueOff val="507423"/>
            <a:satOff val="0"/>
            <a:lumOff val="3220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4013" tIns="34671" rIns="34671" bIns="34671" numCol="1" spcCol="1270" anchor="ctr" anchorCtr="0">
          <a:noAutofit/>
        </a:bodyPr>
        <a:lstStyle/>
        <a:p>
          <a:pPr marL="0" lvl="0" indent="0" algn="ctr" defTabSz="1155700">
            <a:lnSpc>
              <a:spcPct val="90000"/>
            </a:lnSpc>
            <a:spcBef>
              <a:spcPct val="0"/>
            </a:spcBef>
            <a:spcAft>
              <a:spcPct val="35000"/>
            </a:spcAft>
            <a:buNone/>
          </a:pPr>
          <a:r>
            <a:rPr lang="en-ID" sz="2600" b="1" kern="1200" dirty="0">
              <a:latin typeface="Open Sans" panose="020B0606030504020204" pitchFamily="34" charset="0"/>
              <a:ea typeface="Open Sans" panose="020B0606030504020204" pitchFamily="34" charset="0"/>
              <a:cs typeface="Open Sans" panose="020B0606030504020204" pitchFamily="34" charset="0"/>
            </a:rPr>
            <a:t>Send new signals </a:t>
          </a:r>
          <a:r>
            <a:rPr lang="en-ID" sz="2600" kern="1200" dirty="0">
              <a:latin typeface="Open Sans" panose="020B0606030504020204" pitchFamily="34" charset="0"/>
              <a:ea typeface="Open Sans" panose="020B0606030504020204" pitchFamily="34" charset="0"/>
              <a:cs typeface="Open Sans" panose="020B0606030504020204" pitchFamily="34" charset="0"/>
            </a:rPr>
            <a:t>to other neurons via synaptic terminals</a:t>
          </a:r>
        </a:p>
      </dsp:txBody>
      <dsp:txXfrm>
        <a:off x="10094949" y="437142"/>
        <a:ext cx="3027242" cy="2018161"/>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62700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9319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84593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50894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18175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43686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eaLnBrk="1" fontAlgn="auto" latinLnBrk="0" hangingPunct="1">
              <a:lnSpc>
                <a:spcPct val="117999"/>
              </a:lnSpc>
              <a:spcBef>
                <a:spcPts val="0"/>
              </a:spcBef>
              <a:spcAft>
                <a:spcPts val="0"/>
              </a:spcAft>
              <a:buClrTx/>
              <a:buSzTx/>
              <a:buFontTx/>
              <a:buNone/>
              <a:tabLst/>
              <a:defRPr/>
            </a:pPr>
            <a:r>
              <a:rPr lang="en-ID" b="0" i="0" dirty="0">
                <a:solidFill>
                  <a:srgbClr val="ECECEC"/>
                </a:solidFill>
                <a:effectLst/>
                <a:latin typeface="Open Sans" panose="020B0606030504020204" pitchFamily="34" charset="0"/>
                <a:ea typeface="Open Sans" panose="020B0606030504020204" pitchFamily="34" charset="0"/>
                <a:cs typeface="Open Sans" panose="020B0606030504020204" pitchFamily="34" charset="0"/>
              </a:rPr>
              <a:t>Unlike traditional board games like chess, Go requires strategic placement of stones rather than moving pieces across the board.</a:t>
            </a:r>
          </a:p>
          <a:p>
            <a:pPr marL="0" marR="0" lvl="0" indent="0" algn="l" defTabSz="457200" eaLnBrk="1" fontAlgn="auto" latinLnBrk="0" hangingPunct="1">
              <a:lnSpc>
                <a:spcPct val="117999"/>
              </a:lnSpc>
              <a:spcBef>
                <a:spcPts val="0"/>
              </a:spcBef>
              <a:spcAft>
                <a:spcPts val="0"/>
              </a:spcAft>
              <a:buClrTx/>
              <a:buSzTx/>
              <a:buFontTx/>
              <a:buNone/>
              <a:tabLst/>
              <a:defRPr/>
            </a:pPr>
            <a:endParaRPr lang="en-ID" b="0" i="0" dirty="0">
              <a:solidFill>
                <a:srgbClr val="ECECEC"/>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820757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eaLnBrk="1" fontAlgn="auto" latinLnBrk="0" hangingPunct="1">
              <a:lnSpc>
                <a:spcPct val="117999"/>
              </a:lnSpc>
              <a:spcBef>
                <a:spcPts val="0"/>
              </a:spcBef>
              <a:spcAft>
                <a:spcPts val="0"/>
              </a:spcAft>
              <a:buClrTx/>
              <a:buSzTx/>
              <a:buFontTx/>
              <a:buNone/>
              <a:tabLst/>
              <a:defRPr/>
            </a:pPr>
            <a:endParaRPr lang="en-ID" b="0" i="0" dirty="0">
              <a:solidFill>
                <a:srgbClr val="ECECEC"/>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316917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eaLnBrk="1" fontAlgn="auto" latinLnBrk="0" hangingPunct="1">
              <a:lnSpc>
                <a:spcPct val="117999"/>
              </a:lnSpc>
              <a:spcBef>
                <a:spcPts val="0"/>
              </a:spcBef>
              <a:spcAft>
                <a:spcPts val="0"/>
              </a:spcAft>
              <a:buClrTx/>
              <a:buSzTx/>
              <a:buFontTx/>
              <a:buNone/>
              <a:tabLst/>
              <a:defRPr/>
            </a:pPr>
            <a:endParaRPr lang="en-ID" b="0" i="0" dirty="0">
              <a:solidFill>
                <a:srgbClr val="ECECEC"/>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30577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eaLnBrk="1" fontAlgn="auto" latinLnBrk="0" hangingPunct="1">
              <a:lnSpc>
                <a:spcPct val="117999"/>
              </a:lnSpc>
              <a:spcBef>
                <a:spcPts val="0"/>
              </a:spcBef>
              <a:spcAft>
                <a:spcPts val="0"/>
              </a:spcAft>
              <a:buClrTx/>
              <a:buSzTx/>
              <a:buFontTx/>
              <a:buNone/>
              <a:tabLst/>
              <a:defRPr/>
            </a:pPr>
            <a:endParaRPr lang="en-ID" b="0" i="0" dirty="0">
              <a:solidFill>
                <a:srgbClr val="ECECEC"/>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810476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eaLnBrk="1" fontAlgn="auto" latinLnBrk="0" hangingPunct="1">
              <a:lnSpc>
                <a:spcPct val="117999"/>
              </a:lnSpc>
              <a:spcBef>
                <a:spcPts val="0"/>
              </a:spcBef>
              <a:spcAft>
                <a:spcPts val="0"/>
              </a:spcAft>
              <a:buClrTx/>
              <a:buSzTx/>
              <a:buFontTx/>
              <a:buNone/>
              <a:tabLst/>
              <a:defRPr/>
            </a:pPr>
            <a:endParaRPr lang="en-ID" b="0" i="0" dirty="0">
              <a:solidFill>
                <a:srgbClr val="ECECEC"/>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08470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eaLnBrk="1" fontAlgn="auto" latinLnBrk="0" hangingPunct="1">
              <a:lnSpc>
                <a:spcPct val="117999"/>
              </a:lnSpc>
              <a:spcBef>
                <a:spcPts val="0"/>
              </a:spcBef>
              <a:spcAft>
                <a:spcPts val="0"/>
              </a:spcAft>
              <a:buClrTx/>
              <a:buSzTx/>
              <a:buFontTx/>
              <a:buNone/>
              <a:tabLst/>
              <a:defRPr/>
            </a:pPr>
            <a:endParaRPr lang="en-ID" b="0" i="0" dirty="0">
              <a:solidFill>
                <a:srgbClr val="ECECEC"/>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6921519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US" dirty="0" err="1">
                <a:latin typeface="Open Sans" panose="020B0606030504020204" pitchFamily="34" charset="0"/>
                <a:ea typeface="Open Sans" panose="020B0606030504020204" pitchFamily="34" charset="0"/>
                <a:cs typeface="Open Sans" panose="020B0606030504020204" pitchFamily="34" charset="0"/>
              </a:rPr>
              <a:t>ChatGPT</a:t>
            </a:r>
            <a:r>
              <a:rPr lang="en-US" dirty="0">
                <a:latin typeface="Open Sans" panose="020B0606030504020204" pitchFamily="34" charset="0"/>
                <a:ea typeface="Open Sans" panose="020B0606030504020204" pitchFamily="34" charset="0"/>
                <a:cs typeface="Open Sans" panose="020B0606030504020204" pitchFamily="34" charset="0"/>
              </a:rPr>
              <a:t> used Reinforcement Learning with Human Feedback (RLHF): </a:t>
            </a:r>
            <a:r>
              <a:rPr lang="en-ID" b="0" i="0" dirty="0">
                <a:solidFill>
                  <a:srgbClr val="BDC1C6"/>
                </a:solidFill>
                <a:effectLst/>
                <a:latin typeface="Open Sans" panose="020B0606030504020204" pitchFamily="34" charset="0"/>
                <a:ea typeface="Open Sans" panose="020B0606030504020204" pitchFamily="34" charset="0"/>
                <a:cs typeface="Open Sans" panose="020B0606030504020204" pitchFamily="34" charset="0"/>
              </a:rPr>
              <a:t>a technique to align an intelligent agent to human preferences.</a:t>
            </a:r>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8358817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857600" lvl="1" indent="0">
              <a:buFont typeface="Wingdings" pitchFamily="2" charset="2"/>
              <a:buNone/>
            </a:pPr>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6631891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44562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354153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984537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115729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29166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570217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3188" y="3260663"/>
            <a:ext cx="20057623" cy="8583279"/>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ideo" Target="https://www.youtube.com/embed/ukzFI9rgwfU?feature=oembed" TargetMode="External"/><Relationship Id="rId4" Type="http://schemas.openxmlformats.org/officeDocument/2006/relationships/image" Target="../media/image2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ideo" Target="https://www.youtube.com/embed/WSW-5m8lRMs?feature=oembed" TargetMode="External"/><Relationship Id="rId4" Type="http://schemas.openxmlformats.org/officeDocument/2006/relationships/image" Target="../media/image32.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ideo" Target="https://www.youtube.com/embed/kopoLzvh5jY?feature=oembed" TargetMode="External"/><Relationship Id="rId4" Type="http://schemas.openxmlformats.org/officeDocument/2006/relationships/image" Target="../media/image33.jpe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5.png"/><Relationship Id="rId7" Type="http://schemas.openxmlformats.org/officeDocument/2006/relationships/diagramColors" Target="../diagrams/colors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19</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Introduction to machine learning</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9543550" y="11538583"/>
            <a:ext cx="5286583" cy="745888"/>
          </a:xfrm>
        </p:spPr>
        <p:txBody>
          <a:bodyPr/>
          <a:lstStyle/>
          <a:p>
            <a:r>
              <a:rPr lang="en-US" dirty="0"/>
              <a:t>Henry Lucky,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420577925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19</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pPr marL="0" indent="0">
              <a:buNone/>
            </a:pPr>
            <a:r>
              <a:rPr lang="en-ID" dirty="0"/>
              <a:t>At the end of this session, students will be able to:</a:t>
            </a:r>
          </a:p>
          <a:p>
            <a:r>
              <a:rPr lang="en-ID" dirty="0"/>
              <a:t>LO 5: Apply various learning algorithms for agents to solve problems  </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19</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Introduction to Machine Learning</a:t>
            </a:r>
          </a:p>
          <a:p>
            <a:r>
              <a:rPr lang="en-ID" dirty="0"/>
              <a:t>Solving specific problem</a:t>
            </a:r>
          </a:p>
          <a:p>
            <a:r>
              <a:rPr lang="en-ID" dirty="0"/>
              <a:t>Categories of Machine Learning</a:t>
            </a:r>
          </a:p>
          <a:p>
            <a:r>
              <a:rPr lang="en-ID" dirty="0"/>
              <a:t>Component of Machine Learning Algorithm</a:t>
            </a:r>
          </a:p>
          <a:p>
            <a:endParaRPr lang="en-ID" dirty="0"/>
          </a:p>
          <a:p>
            <a:endParaRPr lang="en-ID" dirty="0"/>
          </a:p>
          <a:p>
            <a:endParaRPr lang="en-ID" dirty="0"/>
          </a:p>
          <a:p>
            <a:endParaRPr lang="en-ID" dirty="0"/>
          </a:p>
        </p:txBody>
      </p:sp>
    </p:spTree>
    <p:extLst>
      <p:ext uri="{BB962C8B-B14F-4D97-AF65-F5344CB8AC3E}">
        <p14:creationId xmlns:p14="http://schemas.microsoft.com/office/powerpoint/2010/main" val="18894624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machine learning</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What is machine Learning?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Machine learning is the cornerstone of AI, considered fundamental by many experts.</a:t>
            </a:r>
          </a:p>
          <a:p>
            <a:pPr marL="673100" indent="-571500" algn="just"/>
            <a:r>
              <a:rPr lang="en-US" dirty="0"/>
              <a:t>AI applications are expected to possess machine learning capabilities to be deemed truly intelligent.</a:t>
            </a:r>
          </a:p>
          <a:p>
            <a:pPr marL="673100" indent="-571500" algn="just"/>
            <a:r>
              <a:rPr lang="en-US" dirty="0"/>
              <a:t>Simply being able to perform tasks like chess-playing doesn't signify intelligence; machine learning is essential for advanced abilities.</a:t>
            </a:r>
          </a:p>
          <a:p>
            <a:pPr marL="673100" indent="-571500" algn="just"/>
            <a:r>
              <a:rPr lang="en-US" dirty="0"/>
              <a:t>In essence, a chess-playing system lacking machine learning is akin to a basic computer program, lacking true intelligence.</a:t>
            </a:r>
          </a:p>
          <a:p>
            <a:pPr marL="673100" indent="-571500" algn="just"/>
            <a:r>
              <a:rPr lang="en-US" i="1" dirty="0">
                <a:solidFill>
                  <a:schemeClr val="accent1">
                    <a:lumMod val="75000"/>
                  </a:schemeClr>
                </a:solidFill>
              </a:rPr>
              <a:t>So, what is machine learning?</a:t>
            </a:r>
          </a:p>
        </p:txBody>
      </p:sp>
    </p:spTree>
    <p:extLst>
      <p:ext uri="{BB962C8B-B14F-4D97-AF65-F5344CB8AC3E}">
        <p14:creationId xmlns:p14="http://schemas.microsoft.com/office/powerpoint/2010/main" val="243121599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1233F-2E58-C74D-3DF3-764508E83964}"/>
              </a:ext>
            </a:extLst>
          </p:cNvPr>
          <p:cNvSpPr>
            <a:spLocks noGrp="1"/>
          </p:cNvSpPr>
          <p:nvPr>
            <p:ph type="title"/>
          </p:nvPr>
        </p:nvSpPr>
        <p:spPr/>
        <p:txBody>
          <a:bodyPr>
            <a:normAutofit fontScale="90000"/>
          </a:bodyPr>
          <a:lstStyle/>
          <a:p>
            <a:r>
              <a:rPr lang="en-US" dirty="0"/>
              <a:t>Introduction to Machine learning</a:t>
            </a:r>
          </a:p>
        </p:txBody>
      </p:sp>
      <p:sp>
        <p:nvSpPr>
          <p:cNvPr id="3" name="Text Placeholder 2">
            <a:extLst>
              <a:ext uri="{FF2B5EF4-FFF2-40B4-BE49-F238E27FC236}">
                <a16:creationId xmlns:a16="http://schemas.microsoft.com/office/drawing/2014/main" id="{0E4374E3-FC3E-367D-969F-EE40F013F630}"/>
              </a:ext>
            </a:extLst>
          </p:cNvPr>
          <p:cNvSpPr>
            <a:spLocks noGrp="1"/>
          </p:cNvSpPr>
          <p:nvPr>
            <p:ph type="body" sz="quarter" idx="10"/>
          </p:nvPr>
        </p:nvSpPr>
        <p:spPr/>
        <p:txBody>
          <a:bodyPr/>
          <a:lstStyle/>
          <a:p>
            <a:r>
              <a:rPr lang="en-US" dirty="0"/>
              <a:t>What is machine learning?</a:t>
            </a:r>
          </a:p>
        </p:txBody>
      </p:sp>
      <p:pic>
        <p:nvPicPr>
          <p:cNvPr id="5" name="Online Media 4" descr="Machine Learning | What Is Machine Learning? | Introduction To Machine Learning | 2024 | Simplilearn">
            <a:hlinkClick r:id="" action="ppaction://media"/>
            <a:extLst>
              <a:ext uri="{FF2B5EF4-FFF2-40B4-BE49-F238E27FC236}">
                <a16:creationId xmlns:a16="http://schemas.microsoft.com/office/drawing/2014/main" id="{D6E7DF1E-EA5A-6A07-B3C6-AAE346578C06}"/>
              </a:ext>
            </a:extLst>
          </p:cNvPr>
          <p:cNvPicPr>
            <a:picLocks noGrp="1" noRot="1" noChangeAspect="1"/>
          </p:cNvPicPr>
          <p:nvPr>
            <p:ph sz="quarter" idx="11"/>
            <a:videoFile r:link="rId1"/>
          </p:nvPr>
        </p:nvPicPr>
        <p:blipFill>
          <a:blip r:embed="rId4"/>
          <a:stretch>
            <a:fillRect/>
          </a:stretch>
        </p:blipFill>
        <p:spPr>
          <a:xfrm>
            <a:off x="2167377" y="3714750"/>
            <a:ext cx="19858905" cy="8129588"/>
          </a:xfrm>
          <a:prstGeom prst="rect">
            <a:avLst/>
          </a:prstGeom>
        </p:spPr>
      </p:pic>
      <p:sp>
        <p:nvSpPr>
          <p:cNvPr id="9" name="TextBox 8">
            <a:extLst>
              <a:ext uri="{FF2B5EF4-FFF2-40B4-BE49-F238E27FC236}">
                <a16:creationId xmlns:a16="http://schemas.microsoft.com/office/drawing/2014/main" id="{FD6ECC09-32E6-4F3B-CB5F-447497978467}"/>
              </a:ext>
            </a:extLst>
          </p:cNvPr>
          <p:cNvSpPr txBox="1"/>
          <p:nvPr/>
        </p:nvSpPr>
        <p:spPr>
          <a:xfrm>
            <a:off x="6093759" y="12335814"/>
            <a:ext cx="12196482"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solidFill>
                  <a:schemeClr val="bg2">
                    <a:lumMod val="10000"/>
                  </a:schemeClr>
                </a:solidFill>
              </a:rPr>
              <a:t>What is Machine Learning?</a:t>
            </a:r>
          </a:p>
          <a:p>
            <a:r>
              <a:rPr lang="en-US" i="1" dirty="0">
                <a:solidFill>
                  <a:schemeClr val="bg2">
                    <a:lumMod val="10000"/>
                  </a:schemeClr>
                </a:solidFill>
              </a:rPr>
              <a:t>Source: https://</a:t>
            </a:r>
            <a:r>
              <a:rPr lang="en-US" i="1" dirty="0" err="1">
                <a:solidFill>
                  <a:schemeClr val="bg2">
                    <a:lumMod val="10000"/>
                  </a:schemeClr>
                </a:solidFill>
              </a:rPr>
              <a:t>youtu.be</a:t>
            </a:r>
            <a:r>
              <a:rPr lang="en-US" i="1" dirty="0">
                <a:solidFill>
                  <a:schemeClr val="bg2">
                    <a:lumMod val="10000"/>
                  </a:schemeClr>
                </a:solidFill>
              </a:rPr>
              <a:t>/ukzFI9rgwfU</a:t>
            </a:r>
          </a:p>
        </p:txBody>
      </p:sp>
    </p:spTree>
    <p:extLst>
      <p:ext uri="{BB962C8B-B14F-4D97-AF65-F5344CB8AC3E}">
        <p14:creationId xmlns:p14="http://schemas.microsoft.com/office/powerpoint/2010/main" val="349611901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machine learning</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The Von Neumann machine</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8" y="3714224"/>
            <a:ext cx="19369148" cy="8129718"/>
          </a:xfrm>
        </p:spPr>
        <p:txBody>
          <a:bodyPr>
            <a:normAutofit/>
          </a:bodyPr>
          <a:lstStyle/>
          <a:p>
            <a:pPr marL="673100" indent="-571500" algn="just"/>
            <a:r>
              <a:rPr lang="en-US" dirty="0"/>
              <a:t>A computer architecture proposed by polymath in 1945 based on Sir Alan Turing’s work on Turing Machine.</a:t>
            </a:r>
          </a:p>
          <a:p>
            <a:pPr marL="673100" indent="-571500" algn="just"/>
            <a:r>
              <a:rPr lang="en-US" dirty="0"/>
              <a:t>The basic components of </a:t>
            </a:r>
            <a:r>
              <a:rPr lang="en-US" dirty="0" err="1"/>
              <a:t>vNM</a:t>
            </a:r>
            <a:r>
              <a:rPr lang="en-US" dirty="0"/>
              <a:t> which consists of:</a:t>
            </a:r>
          </a:p>
          <a:p>
            <a:pPr lvl="1" algn="just">
              <a:buFont typeface="Wingdings" pitchFamily="2" charset="2"/>
              <a:buChar char="Ø"/>
            </a:pPr>
            <a:r>
              <a:rPr lang="en-US" b="1" dirty="0"/>
              <a:t>Central processing unit (CPU) </a:t>
            </a:r>
            <a:r>
              <a:rPr lang="en-US" dirty="0"/>
              <a:t>– system brain consists of system control unit, basic arithmetic, and logical unit</a:t>
            </a:r>
          </a:p>
          <a:p>
            <a:pPr lvl="1" algn="just">
              <a:buFont typeface="Wingdings" pitchFamily="2" charset="2"/>
              <a:buChar char="Ø"/>
            </a:pPr>
            <a:r>
              <a:rPr lang="en-US" b="1" dirty="0"/>
              <a:t>Memory unit </a:t>
            </a:r>
            <a:r>
              <a:rPr lang="en-US" dirty="0"/>
              <a:t>- data and information storage</a:t>
            </a:r>
          </a:p>
          <a:p>
            <a:pPr lvl="1" algn="just">
              <a:buFont typeface="Wingdings" pitchFamily="2" charset="2"/>
              <a:buChar char="Ø"/>
            </a:pPr>
            <a:r>
              <a:rPr lang="en-US" b="1" dirty="0"/>
              <a:t>Input and output units </a:t>
            </a:r>
            <a:r>
              <a:rPr lang="en-US" dirty="0"/>
              <a:t>– data input (e.g. keyboard) and output (e.g. screen)</a:t>
            </a:r>
          </a:p>
        </p:txBody>
      </p:sp>
    </p:spTree>
    <p:extLst>
      <p:ext uri="{BB962C8B-B14F-4D97-AF65-F5344CB8AC3E}">
        <p14:creationId xmlns:p14="http://schemas.microsoft.com/office/powerpoint/2010/main" val="192092770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machine learning</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The Von Neumann machine</a:t>
            </a:r>
          </a:p>
        </p:txBody>
      </p:sp>
      <p:pic>
        <p:nvPicPr>
          <p:cNvPr id="5" name="Picture 4">
            <a:extLst>
              <a:ext uri="{FF2B5EF4-FFF2-40B4-BE49-F238E27FC236}">
                <a16:creationId xmlns:a16="http://schemas.microsoft.com/office/drawing/2014/main" id="{B6A6663A-D6FD-F899-DF67-F4EE6D3BB6F6}"/>
              </a:ext>
            </a:extLst>
          </p:cNvPr>
          <p:cNvPicPr>
            <a:picLocks noChangeAspect="1"/>
          </p:cNvPicPr>
          <p:nvPr/>
        </p:nvPicPr>
        <p:blipFill rotWithShape="1">
          <a:blip r:embed="rId3"/>
          <a:srcRect l="1867" t="32400" r="63467" b="32993"/>
          <a:stretch/>
        </p:blipFill>
        <p:spPr>
          <a:xfrm>
            <a:off x="4953208" y="3714224"/>
            <a:ext cx="14477583" cy="8129718"/>
          </a:xfrm>
          <a:prstGeom prst="rect">
            <a:avLst/>
          </a:prstGeom>
        </p:spPr>
      </p:pic>
    </p:spTree>
    <p:extLst>
      <p:ext uri="{BB962C8B-B14F-4D97-AF65-F5344CB8AC3E}">
        <p14:creationId xmlns:p14="http://schemas.microsoft.com/office/powerpoint/2010/main" val="403275283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machine learning</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The Von Neumann machine</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8" y="3714224"/>
            <a:ext cx="19369148" cy="8129718"/>
          </a:xfrm>
        </p:spPr>
        <p:txBody>
          <a:bodyPr>
            <a:normAutofit/>
          </a:bodyPr>
          <a:lstStyle/>
          <a:p>
            <a:pPr marL="673100" indent="-571500" algn="just"/>
            <a:r>
              <a:rPr lang="en-US" dirty="0"/>
              <a:t>All computer systems that we use today; their basic architectures are all inherited from the blueprint of </a:t>
            </a:r>
            <a:r>
              <a:rPr lang="en-US" b="1" dirty="0"/>
              <a:t>von Neumann Machine</a:t>
            </a:r>
            <a:r>
              <a:rPr lang="en-US" dirty="0"/>
              <a:t>. </a:t>
            </a:r>
          </a:p>
          <a:p>
            <a:pPr marL="673100" indent="-571500"/>
            <a:r>
              <a:rPr lang="en-US" dirty="0"/>
              <a:t>Are they intelligent machines? Why or why not?</a:t>
            </a:r>
          </a:p>
          <a:p>
            <a:pPr marL="673100" indent="-571500"/>
            <a:r>
              <a:rPr lang="en-US" dirty="0"/>
              <a:t>Let’s look at two cases of computer systems in our daily activities. </a:t>
            </a:r>
          </a:p>
          <a:p>
            <a:pPr marL="673100" indent="-571500" algn="just"/>
            <a:endParaRPr lang="en-US" dirty="0"/>
          </a:p>
          <a:p>
            <a:pPr marL="673100" indent="-571500" algn="just"/>
            <a:endParaRPr lang="en-US" dirty="0"/>
          </a:p>
        </p:txBody>
      </p:sp>
    </p:spTree>
    <p:extLst>
      <p:ext uri="{BB962C8B-B14F-4D97-AF65-F5344CB8AC3E}">
        <p14:creationId xmlns:p14="http://schemas.microsoft.com/office/powerpoint/2010/main" val="222338023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machine learning</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Case 1: Numerical Weather Prediction</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334126" y="9582480"/>
            <a:ext cx="19730096" cy="3057212"/>
          </a:xfrm>
        </p:spPr>
        <p:txBody>
          <a:bodyPr>
            <a:normAutofit lnSpcReduction="10000"/>
          </a:bodyPr>
          <a:lstStyle/>
          <a:p>
            <a:pPr marL="673100" indent="-571500" algn="just"/>
            <a:r>
              <a:rPr lang="en-US" dirty="0"/>
              <a:t>However, NWP </a:t>
            </a:r>
            <a:r>
              <a:rPr lang="en-US" b="1" dirty="0">
                <a:solidFill>
                  <a:schemeClr val="accent1">
                    <a:lumMod val="75000"/>
                  </a:schemeClr>
                </a:solidFill>
              </a:rPr>
              <a:t>lacks</a:t>
            </a:r>
            <a:r>
              <a:rPr lang="en-US" b="1" dirty="0"/>
              <a:t> </a:t>
            </a:r>
            <a:r>
              <a:rPr lang="en-US" b="1" dirty="0">
                <a:solidFill>
                  <a:schemeClr val="accent1">
                    <a:lumMod val="75000"/>
                  </a:schemeClr>
                </a:solidFill>
              </a:rPr>
              <a:t>intelligence</a:t>
            </a:r>
            <a:r>
              <a:rPr lang="en-US" b="1" dirty="0"/>
              <a:t> </a:t>
            </a:r>
            <a:r>
              <a:rPr lang="en-US" dirty="0"/>
              <a:t>and </a:t>
            </a:r>
            <a:r>
              <a:rPr lang="en-US" b="1" dirty="0">
                <a:solidFill>
                  <a:schemeClr val="accent1">
                    <a:lumMod val="75000"/>
                  </a:schemeClr>
                </a:solidFill>
              </a:rPr>
              <a:t>cannot learn or improve autonomously.</a:t>
            </a:r>
          </a:p>
          <a:p>
            <a:pPr marL="673100" indent="-571500"/>
            <a:r>
              <a:rPr lang="en-US" dirty="0"/>
              <a:t>The system doesn’t have the ability to </a:t>
            </a:r>
            <a:r>
              <a:rPr lang="en-US" b="1" dirty="0">
                <a:solidFill>
                  <a:schemeClr val="accent1">
                    <a:lumMod val="75000"/>
                  </a:schemeClr>
                </a:solidFill>
              </a:rPr>
              <a:t>adapt</a:t>
            </a:r>
            <a:r>
              <a:rPr lang="en-US" dirty="0"/>
              <a:t> or </a:t>
            </a:r>
            <a:r>
              <a:rPr lang="en-US" b="1" dirty="0">
                <a:solidFill>
                  <a:schemeClr val="accent1">
                    <a:lumMod val="75000"/>
                  </a:schemeClr>
                </a:solidFill>
              </a:rPr>
              <a:t>learn from new information.</a:t>
            </a:r>
          </a:p>
        </p:txBody>
      </p:sp>
      <p:pic>
        <p:nvPicPr>
          <p:cNvPr id="1026" name="Picture 2" descr="To My Brides | Wait to Check the Weather - Mandi Mitchell">
            <a:extLst>
              <a:ext uri="{FF2B5EF4-FFF2-40B4-BE49-F238E27FC236}">
                <a16:creationId xmlns:a16="http://schemas.microsoft.com/office/drawing/2014/main" id="{37C4B1F6-65A6-CA06-0AC8-E7CA32D8EF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03486" y="4133520"/>
            <a:ext cx="7471209" cy="4362976"/>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3">
            <a:extLst>
              <a:ext uri="{FF2B5EF4-FFF2-40B4-BE49-F238E27FC236}">
                <a16:creationId xmlns:a16="http://schemas.microsoft.com/office/drawing/2014/main" id="{FA77DC6E-E9A3-099A-2510-1BB6A1A9175E}"/>
              </a:ext>
            </a:extLst>
          </p:cNvPr>
          <p:cNvSpPr txBox="1">
            <a:spLocks/>
          </p:cNvSpPr>
          <p:nvPr/>
        </p:nvSpPr>
        <p:spPr>
          <a:xfrm>
            <a:off x="2319778" y="3866624"/>
            <a:ext cx="12936264" cy="81297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673100" indent="-571500" algn="just"/>
            <a:r>
              <a:rPr lang="en-ID" dirty="0"/>
              <a:t>Weather forecasting relies on Numerical Weather Prediction (NWP) systems, which utilize complex mathematical models and global weather observations.</a:t>
            </a:r>
          </a:p>
          <a:p>
            <a:pPr marL="673100" indent="-571500"/>
            <a:r>
              <a:rPr lang="en-ID" dirty="0"/>
              <a:t>NWP accurately predicts weather components like air pressure, temperature, humidity, and wind speed for up to 7 days into the future.</a:t>
            </a:r>
          </a:p>
        </p:txBody>
      </p:sp>
    </p:spTree>
    <p:extLst>
      <p:ext uri="{BB962C8B-B14F-4D97-AF65-F5344CB8AC3E}">
        <p14:creationId xmlns:p14="http://schemas.microsoft.com/office/powerpoint/2010/main" val="314968117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machine learning</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Case 2: </a:t>
            </a:r>
            <a:r>
              <a:rPr lang="en-US" dirty="0" err="1"/>
              <a:t>Alphago</a:t>
            </a:r>
            <a:endParaRPr lang="en-US" dirty="0"/>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8" y="3714224"/>
            <a:ext cx="19369148" cy="8582050"/>
          </a:xfrm>
        </p:spPr>
        <p:txBody>
          <a:bodyPr>
            <a:normAutofit/>
          </a:bodyPr>
          <a:lstStyle/>
          <a:p>
            <a:pPr marL="673100" indent="-571500" algn="just"/>
            <a:r>
              <a:rPr lang="en-US" dirty="0"/>
              <a:t>AlphaGo, developed by DeepMind Technologies and acquired by Google in 2015, is an AI-based computer program designed to play the board game Go.</a:t>
            </a:r>
          </a:p>
          <a:p>
            <a:pPr marL="673100" indent="-571500"/>
            <a:r>
              <a:rPr lang="en-US" dirty="0"/>
              <a:t>AlphaGo's ability to </a:t>
            </a:r>
            <a:r>
              <a:rPr lang="en-US" b="1" dirty="0">
                <a:solidFill>
                  <a:schemeClr val="accent1">
                    <a:lumMod val="75000"/>
                  </a:schemeClr>
                </a:solidFill>
              </a:rPr>
              <a:t>learn</a:t>
            </a:r>
            <a:r>
              <a:rPr lang="en-US" dirty="0"/>
              <a:t> and </a:t>
            </a:r>
            <a:r>
              <a:rPr lang="en-US" b="1" dirty="0">
                <a:solidFill>
                  <a:schemeClr val="accent1">
                    <a:lumMod val="75000"/>
                  </a:schemeClr>
                </a:solidFill>
              </a:rPr>
              <a:t>improve</a:t>
            </a:r>
            <a:r>
              <a:rPr lang="en-US" dirty="0"/>
              <a:t> its gameplay distinguishes it from standard von Neumann Machines.</a:t>
            </a:r>
          </a:p>
          <a:p>
            <a:pPr marL="673100" indent="-571500"/>
            <a:r>
              <a:rPr lang="en-US" dirty="0"/>
              <a:t>Similar to playing against an experienced chess master, AlphaGo continuously </a:t>
            </a:r>
            <a:r>
              <a:rPr lang="en-US" b="1" dirty="0">
                <a:solidFill>
                  <a:schemeClr val="accent1">
                    <a:lumMod val="75000"/>
                  </a:schemeClr>
                </a:solidFill>
              </a:rPr>
              <a:t>adapts</a:t>
            </a:r>
            <a:r>
              <a:rPr lang="en-US" dirty="0"/>
              <a:t> its strategies based on </a:t>
            </a:r>
            <a:r>
              <a:rPr lang="en-US" b="1" dirty="0">
                <a:solidFill>
                  <a:schemeClr val="accent1">
                    <a:lumMod val="75000"/>
                  </a:schemeClr>
                </a:solidFill>
              </a:rPr>
              <a:t>past experiences </a:t>
            </a:r>
            <a:r>
              <a:rPr lang="en-US" dirty="0"/>
              <a:t>and opponent moves.</a:t>
            </a:r>
          </a:p>
          <a:p>
            <a:pPr marL="673100" indent="-571500"/>
            <a:r>
              <a:rPr lang="en-US" dirty="0"/>
              <a:t>This is what we call </a:t>
            </a:r>
            <a:r>
              <a:rPr lang="en-US" i="1" dirty="0">
                <a:solidFill>
                  <a:schemeClr val="accent1">
                    <a:lumMod val="75000"/>
                  </a:schemeClr>
                </a:solidFill>
              </a:rPr>
              <a:t>machine learning </a:t>
            </a:r>
            <a:r>
              <a:rPr lang="en-US" dirty="0"/>
              <a:t>– </a:t>
            </a:r>
            <a:r>
              <a:rPr lang="en-US" i="1" dirty="0">
                <a:solidFill>
                  <a:schemeClr val="accent1">
                    <a:lumMod val="75000"/>
                  </a:schemeClr>
                </a:solidFill>
              </a:rPr>
              <a:t>intelligence.</a:t>
            </a:r>
          </a:p>
        </p:txBody>
      </p:sp>
    </p:spTree>
    <p:extLst>
      <p:ext uri="{BB962C8B-B14F-4D97-AF65-F5344CB8AC3E}">
        <p14:creationId xmlns:p14="http://schemas.microsoft.com/office/powerpoint/2010/main" val="410635001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machine learning</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Applications</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8" y="3008671"/>
            <a:ext cx="19369148" cy="9287603"/>
          </a:xfrm>
        </p:spPr>
        <p:txBody>
          <a:bodyPr>
            <a:normAutofit/>
          </a:bodyPr>
          <a:lstStyle/>
          <a:p>
            <a:pPr marL="673100" indent="-571500" algn="just">
              <a:lnSpc>
                <a:spcPct val="110000"/>
              </a:lnSpc>
              <a:spcBef>
                <a:spcPts val="1100"/>
              </a:spcBef>
            </a:pPr>
            <a:r>
              <a:rPr lang="en-US" dirty="0"/>
              <a:t>Healthcare: </a:t>
            </a:r>
          </a:p>
          <a:p>
            <a:pPr marL="1429100" lvl="1" indent="-571500" algn="just">
              <a:lnSpc>
                <a:spcPct val="110000"/>
              </a:lnSpc>
              <a:spcBef>
                <a:spcPts val="1100"/>
              </a:spcBef>
            </a:pPr>
            <a:r>
              <a:rPr lang="en-ID" b="1" dirty="0"/>
              <a:t>Diagnostics</a:t>
            </a:r>
            <a:r>
              <a:rPr lang="en-ID" dirty="0"/>
              <a:t>: Predictive models for disease detection (e.g., cancer, diabetes).</a:t>
            </a:r>
          </a:p>
          <a:p>
            <a:pPr marL="1429100" lvl="1" indent="-571500" algn="just">
              <a:lnSpc>
                <a:spcPct val="110000"/>
              </a:lnSpc>
              <a:spcBef>
                <a:spcPts val="1100"/>
              </a:spcBef>
            </a:pPr>
            <a:r>
              <a:rPr lang="en-ID" b="1" dirty="0"/>
              <a:t>Personalized Medicine</a:t>
            </a:r>
            <a:r>
              <a:rPr lang="en-ID" dirty="0"/>
              <a:t>: Treatment plans based on patient data.</a:t>
            </a:r>
          </a:p>
          <a:p>
            <a:pPr marL="1429100" lvl="1" indent="-571500" algn="just">
              <a:lnSpc>
                <a:spcPct val="110000"/>
              </a:lnSpc>
              <a:spcBef>
                <a:spcPts val="1100"/>
              </a:spcBef>
            </a:pPr>
            <a:r>
              <a:rPr lang="en-ID" b="1" dirty="0"/>
              <a:t>Medical Imaging</a:t>
            </a:r>
            <a:r>
              <a:rPr lang="en-ID" dirty="0"/>
              <a:t>: Automated analysis of X-rays, MRIs.</a:t>
            </a:r>
          </a:p>
          <a:p>
            <a:pPr marL="673100" indent="-571500" algn="just">
              <a:lnSpc>
                <a:spcPct val="110000"/>
              </a:lnSpc>
              <a:spcBef>
                <a:spcPts val="1100"/>
              </a:spcBef>
            </a:pPr>
            <a:r>
              <a:rPr lang="en-ID" dirty="0">
                <a:solidFill>
                  <a:schemeClr val="bg2">
                    <a:lumMod val="10000"/>
                  </a:schemeClr>
                </a:solidFill>
              </a:rPr>
              <a:t>Finance:</a:t>
            </a:r>
          </a:p>
          <a:p>
            <a:pPr marL="1429100" lvl="1" indent="-571500" algn="just">
              <a:lnSpc>
                <a:spcPct val="110000"/>
              </a:lnSpc>
              <a:spcBef>
                <a:spcPts val="1100"/>
              </a:spcBef>
            </a:pPr>
            <a:r>
              <a:rPr lang="en-ID" b="1" dirty="0"/>
              <a:t>Fraud Detection</a:t>
            </a:r>
            <a:r>
              <a:rPr lang="en-ID" dirty="0"/>
              <a:t>: Identifying fraudulent transactions.</a:t>
            </a:r>
          </a:p>
          <a:p>
            <a:pPr marL="1429100" lvl="1" indent="-571500" algn="just">
              <a:lnSpc>
                <a:spcPct val="110000"/>
              </a:lnSpc>
              <a:spcBef>
                <a:spcPts val="1100"/>
              </a:spcBef>
            </a:pPr>
            <a:r>
              <a:rPr lang="en-ID" b="1" dirty="0"/>
              <a:t>Algorithmic Trading</a:t>
            </a:r>
            <a:r>
              <a:rPr lang="en-ID" dirty="0"/>
              <a:t>: Automated, high-frequency trading strategies.</a:t>
            </a:r>
          </a:p>
          <a:p>
            <a:pPr marL="1429100" lvl="1" indent="-571500" algn="just">
              <a:lnSpc>
                <a:spcPct val="110000"/>
              </a:lnSpc>
              <a:spcBef>
                <a:spcPts val="1100"/>
              </a:spcBef>
            </a:pPr>
            <a:r>
              <a:rPr lang="en-ID" b="1" dirty="0"/>
              <a:t>Credit Scoring</a:t>
            </a:r>
            <a:r>
              <a:rPr lang="en-ID" dirty="0"/>
              <a:t>: Assessing creditworthiness using ML models.</a:t>
            </a:r>
            <a:endParaRPr lang="en-US" dirty="0">
              <a:solidFill>
                <a:schemeClr val="bg2">
                  <a:lumMod val="10000"/>
                </a:schemeClr>
              </a:solidFill>
            </a:endParaRPr>
          </a:p>
        </p:txBody>
      </p:sp>
    </p:spTree>
    <p:extLst>
      <p:ext uri="{BB962C8B-B14F-4D97-AF65-F5344CB8AC3E}">
        <p14:creationId xmlns:p14="http://schemas.microsoft.com/office/powerpoint/2010/main" val="148363689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machine learning</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Applications</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8" y="3223274"/>
            <a:ext cx="19369148" cy="9073000"/>
          </a:xfrm>
        </p:spPr>
        <p:txBody>
          <a:bodyPr>
            <a:normAutofit lnSpcReduction="10000"/>
          </a:bodyPr>
          <a:lstStyle/>
          <a:p>
            <a:pPr marL="673100" indent="-571500" algn="just">
              <a:lnSpc>
                <a:spcPct val="110000"/>
              </a:lnSpc>
              <a:spcBef>
                <a:spcPts val="1100"/>
              </a:spcBef>
            </a:pPr>
            <a:r>
              <a:rPr lang="en-US" dirty="0"/>
              <a:t>Retail: </a:t>
            </a:r>
          </a:p>
          <a:p>
            <a:pPr marL="1429100" lvl="1" indent="-571500" algn="just">
              <a:lnSpc>
                <a:spcPct val="110000"/>
              </a:lnSpc>
              <a:spcBef>
                <a:spcPts val="1100"/>
              </a:spcBef>
            </a:pPr>
            <a:r>
              <a:rPr lang="en-ID" b="1" dirty="0"/>
              <a:t>Recommendation Systems</a:t>
            </a:r>
            <a:r>
              <a:rPr lang="en-ID" dirty="0"/>
              <a:t>: Personalized product recommendations (e.g., Amazon, Netflix).</a:t>
            </a:r>
          </a:p>
          <a:p>
            <a:pPr marL="1429100" lvl="1" indent="-571500" algn="just">
              <a:lnSpc>
                <a:spcPct val="110000"/>
              </a:lnSpc>
              <a:spcBef>
                <a:spcPts val="1100"/>
              </a:spcBef>
            </a:pPr>
            <a:r>
              <a:rPr lang="en-ID" b="1" dirty="0"/>
              <a:t>Inventory Management</a:t>
            </a:r>
            <a:r>
              <a:rPr lang="en-ID" dirty="0"/>
              <a:t>: Predictive analytics for stock optimization.</a:t>
            </a:r>
          </a:p>
          <a:p>
            <a:pPr marL="1429100" lvl="1" indent="-571500" algn="just">
              <a:lnSpc>
                <a:spcPct val="110000"/>
              </a:lnSpc>
              <a:spcBef>
                <a:spcPts val="1100"/>
              </a:spcBef>
            </a:pPr>
            <a:r>
              <a:rPr lang="en-ID" b="1" dirty="0"/>
              <a:t>Customer Segmentation</a:t>
            </a:r>
            <a:r>
              <a:rPr lang="en-ID" dirty="0"/>
              <a:t>: Targeted marketing based on customer behaviour.</a:t>
            </a:r>
          </a:p>
          <a:p>
            <a:pPr marL="673100" indent="-571500" algn="just">
              <a:lnSpc>
                <a:spcPct val="110000"/>
              </a:lnSpc>
              <a:spcBef>
                <a:spcPts val="1100"/>
              </a:spcBef>
            </a:pPr>
            <a:r>
              <a:rPr lang="en-ID" dirty="0">
                <a:solidFill>
                  <a:schemeClr val="bg2">
                    <a:lumMod val="10000"/>
                  </a:schemeClr>
                </a:solidFill>
              </a:rPr>
              <a:t>Other Advanced Applications:</a:t>
            </a:r>
          </a:p>
          <a:p>
            <a:pPr marL="1429100" lvl="1" indent="-571500" algn="just">
              <a:lnSpc>
                <a:spcPct val="110000"/>
              </a:lnSpc>
              <a:spcBef>
                <a:spcPts val="1100"/>
              </a:spcBef>
            </a:pPr>
            <a:r>
              <a:rPr lang="en-ID" b="1" dirty="0"/>
              <a:t>Autonomous vehicle, Natural Language Processing, Computer Vision</a:t>
            </a:r>
          </a:p>
          <a:p>
            <a:pPr marL="1429100" lvl="1" indent="-571500" algn="just">
              <a:lnSpc>
                <a:spcPct val="110000"/>
              </a:lnSpc>
              <a:spcBef>
                <a:spcPts val="1100"/>
              </a:spcBef>
            </a:pPr>
            <a:r>
              <a:rPr lang="en-ID" b="1" dirty="0">
                <a:solidFill>
                  <a:schemeClr val="bg2">
                    <a:lumMod val="10000"/>
                  </a:schemeClr>
                </a:solidFill>
              </a:rPr>
              <a:t>Smart Cities, Agriculture, Education</a:t>
            </a:r>
          </a:p>
          <a:p>
            <a:pPr marL="1429100" lvl="1" indent="-571500" algn="just">
              <a:lnSpc>
                <a:spcPct val="110000"/>
              </a:lnSpc>
              <a:spcBef>
                <a:spcPts val="1100"/>
              </a:spcBef>
            </a:pPr>
            <a:r>
              <a:rPr lang="en-ID" b="1" dirty="0">
                <a:solidFill>
                  <a:schemeClr val="bg2">
                    <a:lumMod val="10000"/>
                  </a:schemeClr>
                </a:solidFill>
              </a:rPr>
              <a:t>etc.</a:t>
            </a:r>
            <a:endParaRPr lang="en-US" dirty="0">
              <a:solidFill>
                <a:schemeClr val="bg2">
                  <a:lumMod val="10000"/>
                </a:schemeClr>
              </a:solidFill>
            </a:endParaRPr>
          </a:p>
        </p:txBody>
      </p:sp>
    </p:spTree>
    <p:extLst>
      <p:ext uri="{BB962C8B-B14F-4D97-AF65-F5344CB8AC3E}">
        <p14:creationId xmlns:p14="http://schemas.microsoft.com/office/powerpoint/2010/main" val="44606197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ID" dirty="0"/>
              <a:t>Solving specific problem</a:t>
            </a:r>
            <a:br>
              <a:rPr lang="en-ID" dirty="0"/>
            </a:b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problem</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US" dirty="0"/>
              <a:t>How can we solve a specific problems?</a:t>
            </a:r>
          </a:p>
          <a:p>
            <a:pPr lvl="1">
              <a:buFont typeface="Wingdings" pitchFamily="2" charset="2"/>
              <a:buChar char="Ø"/>
            </a:pPr>
            <a:r>
              <a:rPr lang="en-US" dirty="0"/>
              <a:t>We need to write a program that encodes a set of rules that are useful to solve the problem</a:t>
            </a:r>
          </a:p>
          <a:p>
            <a:pPr marL="457200" lvl="1" indent="0">
              <a:buFontTx/>
              <a:buNone/>
            </a:pPr>
            <a:endParaRPr lang="en-US" dirty="0"/>
          </a:p>
          <a:p>
            <a:endParaRPr lang="en-ID" dirty="0"/>
          </a:p>
        </p:txBody>
      </p:sp>
      <p:pic>
        <p:nvPicPr>
          <p:cNvPr id="5" name="Picture 4" descr="Example of a cooking scenario where the robot learns from a human instructor. The robot needs to detect the possible objects present on the scene, once they are found it needs to track them while the human is moving them. Finally it needs to understand the activity the human performed and reproduce it with its own actuators. ">
            <a:extLst>
              <a:ext uri="{FF2B5EF4-FFF2-40B4-BE49-F238E27FC236}">
                <a16:creationId xmlns:a16="http://schemas.microsoft.com/office/drawing/2014/main" id="{5F065DBB-E21E-F3BD-C191-55BF0308D9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5805" y="5894463"/>
            <a:ext cx="17032388" cy="621181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FB920E-7A82-E429-DDD6-8DFF5EBA9AFD}"/>
              </a:ext>
            </a:extLst>
          </p:cNvPr>
          <p:cNvSpPr txBox="1"/>
          <p:nvPr/>
        </p:nvSpPr>
        <p:spPr>
          <a:xfrm>
            <a:off x="6091237" y="12491433"/>
            <a:ext cx="1220152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t>Source images: Alessandro </a:t>
            </a:r>
            <a:r>
              <a:rPr lang="en-US" sz="2400" dirty="0" err="1"/>
              <a:t>Pieropan</a:t>
            </a:r>
            <a:r>
              <a:rPr lang="en-US" sz="2400" dirty="0"/>
              <a:t>,  </a:t>
            </a:r>
            <a:r>
              <a:rPr lang="en-US" sz="2400" dirty="0">
                <a:solidFill>
                  <a:srgbClr val="00B0F0"/>
                </a:solidFill>
              </a:rPr>
              <a:t>Action Recognition for Robot Learning </a:t>
            </a:r>
          </a:p>
        </p:txBody>
      </p:sp>
    </p:spTree>
    <p:extLst>
      <p:ext uri="{BB962C8B-B14F-4D97-AF65-F5344CB8AC3E}">
        <p14:creationId xmlns:p14="http://schemas.microsoft.com/office/powerpoint/2010/main" val="51100803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ID" dirty="0"/>
              <a:t>Solving specific problem</a:t>
            </a:r>
            <a:br>
              <a:rPr lang="en-ID" dirty="0"/>
            </a:b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problem</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a:xfrm>
            <a:off x="2163189" y="3260663"/>
            <a:ext cx="7838062" cy="8583279"/>
          </a:xfrm>
        </p:spPr>
        <p:txBody>
          <a:bodyPr>
            <a:normAutofit fontScale="92500"/>
          </a:bodyPr>
          <a:lstStyle/>
          <a:p>
            <a:r>
              <a:rPr lang="en-US" dirty="0"/>
              <a:t>How can we solve a specific problems?</a:t>
            </a:r>
          </a:p>
          <a:p>
            <a:pPr lvl="1">
              <a:buFont typeface="Wingdings" pitchFamily="2" charset="2"/>
              <a:buChar char="Ø"/>
            </a:pPr>
            <a:r>
              <a:rPr lang="en-US" dirty="0"/>
              <a:t>We need to </a:t>
            </a:r>
            <a:r>
              <a:rPr lang="en-US" b="1" dirty="0"/>
              <a:t>write a program </a:t>
            </a:r>
            <a:r>
              <a:rPr lang="en-US" dirty="0"/>
              <a:t>that encodes a set of rules that are useful to solve the problem</a:t>
            </a:r>
          </a:p>
          <a:p>
            <a:pPr lvl="1">
              <a:buFont typeface="Wingdings" pitchFamily="2" charset="2"/>
              <a:buChar char="Ø"/>
            </a:pPr>
            <a:r>
              <a:rPr lang="en-US" dirty="0"/>
              <a:t>In many cases is </a:t>
            </a:r>
            <a:r>
              <a:rPr lang="en-US" b="1" dirty="0"/>
              <a:t>very difficult </a:t>
            </a:r>
            <a:r>
              <a:rPr lang="en-US" dirty="0"/>
              <a:t>to specify those rules, e.g. given a picture determine whether there is a cat in the image</a:t>
            </a:r>
          </a:p>
          <a:p>
            <a:endParaRPr lang="en-US" dirty="0"/>
          </a:p>
          <a:p>
            <a:endParaRPr lang="en-US" dirty="0"/>
          </a:p>
          <a:p>
            <a:endParaRPr lang="en-ID" dirty="0"/>
          </a:p>
        </p:txBody>
      </p:sp>
      <p:pic>
        <p:nvPicPr>
          <p:cNvPr id="6" name="Picture 5">
            <a:extLst>
              <a:ext uri="{FF2B5EF4-FFF2-40B4-BE49-F238E27FC236}">
                <a16:creationId xmlns:a16="http://schemas.microsoft.com/office/drawing/2014/main" id="{CED3E309-D681-CAF6-3807-E767DF09B5C0}"/>
              </a:ext>
            </a:extLst>
          </p:cNvPr>
          <p:cNvPicPr>
            <a:picLocks noChangeAspect="1"/>
          </p:cNvPicPr>
          <p:nvPr/>
        </p:nvPicPr>
        <p:blipFill>
          <a:blip r:embed="rId2"/>
          <a:stretch>
            <a:fillRect/>
          </a:stretch>
        </p:blipFill>
        <p:spPr>
          <a:xfrm>
            <a:off x="10002017" y="3803588"/>
            <a:ext cx="13761857" cy="6870193"/>
          </a:xfrm>
          <a:prstGeom prst="rect">
            <a:avLst/>
          </a:prstGeom>
        </p:spPr>
      </p:pic>
      <p:sp>
        <p:nvSpPr>
          <p:cNvPr id="9" name="TextBox 8">
            <a:extLst>
              <a:ext uri="{FF2B5EF4-FFF2-40B4-BE49-F238E27FC236}">
                <a16:creationId xmlns:a16="http://schemas.microsoft.com/office/drawing/2014/main" id="{5331E0DB-F1EA-7E1D-37AA-AF0DBBE51119}"/>
              </a:ext>
            </a:extLst>
          </p:cNvPr>
          <p:cNvSpPr txBox="1"/>
          <p:nvPr/>
        </p:nvSpPr>
        <p:spPr>
          <a:xfrm>
            <a:off x="10782183" y="10721108"/>
            <a:ext cx="12201524"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t>Source images: Raquel Urtasun, Richard </a:t>
            </a:r>
            <a:r>
              <a:rPr lang="en-US" sz="2400" dirty="0" err="1"/>
              <a:t>Zemmel</a:t>
            </a:r>
            <a:r>
              <a:rPr lang="en-US" sz="2400" dirty="0"/>
              <a:t> and Sanja </a:t>
            </a:r>
            <a:r>
              <a:rPr lang="en-US" sz="2400" dirty="0" err="1"/>
              <a:t>Findler</a:t>
            </a:r>
            <a:r>
              <a:rPr lang="en-US" sz="2400" dirty="0"/>
              <a:t>, </a:t>
            </a:r>
            <a:r>
              <a:rPr lang="en-US" sz="2400" dirty="0">
                <a:solidFill>
                  <a:srgbClr val="00B0F0"/>
                </a:solidFill>
              </a:rPr>
              <a:t>Introduction to Machine learning</a:t>
            </a:r>
          </a:p>
        </p:txBody>
      </p:sp>
    </p:spTree>
    <p:extLst>
      <p:ext uri="{BB962C8B-B14F-4D97-AF65-F5344CB8AC3E}">
        <p14:creationId xmlns:p14="http://schemas.microsoft.com/office/powerpoint/2010/main" val="336684228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ID" dirty="0"/>
              <a:t>Solving specific problem</a:t>
            </a:r>
            <a:br>
              <a:rPr lang="en-ID" dirty="0"/>
            </a:b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problem</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Learning Systems are not directly programmed to solve a problem, instead develop own program based on:</a:t>
            </a:r>
          </a:p>
          <a:p>
            <a:pPr lvl="1">
              <a:buFont typeface="Wingdings" pitchFamily="2" charset="2"/>
              <a:buChar char="Ø"/>
            </a:pPr>
            <a:r>
              <a:rPr lang="en-ID" dirty="0"/>
              <a:t>Examples of how they should behave</a:t>
            </a:r>
          </a:p>
          <a:p>
            <a:pPr lvl="1">
              <a:buFont typeface="Wingdings" pitchFamily="2" charset="2"/>
              <a:buChar char="Ø"/>
            </a:pPr>
            <a:r>
              <a:rPr lang="en-ID" dirty="0"/>
              <a:t>From trial-and-error experience trying to solve the problem</a:t>
            </a:r>
          </a:p>
          <a:p>
            <a:r>
              <a:rPr lang="en-ID" dirty="0"/>
              <a:t>Learning simply means incorporating information from the training examples into the system</a:t>
            </a:r>
          </a:p>
          <a:p>
            <a:endParaRPr lang="en-ID" dirty="0"/>
          </a:p>
        </p:txBody>
      </p:sp>
    </p:spTree>
    <p:extLst>
      <p:ext uri="{BB962C8B-B14F-4D97-AF65-F5344CB8AC3E}">
        <p14:creationId xmlns:p14="http://schemas.microsoft.com/office/powerpoint/2010/main" val="254944355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Categories of Machine Learning</a:t>
            </a:r>
            <a:br>
              <a:rPr lang="en-ID" dirty="0"/>
            </a:b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Pillars of Machine learning</a:t>
            </a:r>
          </a:p>
        </p:txBody>
      </p:sp>
      <p:pic>
        <p:nvPicPr>
          <p:cNvPr id="10" name="Picture 9" descr="A diagram of a machine learning&#10;&#10;Description automatically generated">
            <a:extLst>
              <a:ext uri="{FF2B5EF4-FFF2-40B4-BE49-F238E27FC236}">
                <a16:creationId xmlns:a16="http://schemas.microsoft.com/office/drawing/2014/main" id="{95F232FF-4C4C-673F-E7B0-D2E76D5A82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8073" y="2893690"/>
            <a:ext cx="15376358" cy="10414730"/>
          </a:xfrm>
          <a:prstGeom prst="rect">
            <a:avLst/>
          </a:prstGeom>
        </p:spPr>
      </p:pic>
      <p:sp>
        <p:nvSpPr>
          <p:cNvPr id="6" name="Rectangle 5">
            <a:extLst>
              <a:ext uri="{FF2B5EF4-FFF2-40B4-BE49-F238E27FC236}">
                <a16:creationId xmlns:a16="http://schemas.microsoft.com/office/drawing/2014/main" id="{3230A6A0-E399-1109-D2F5-02E45AE7B649}"/>
              </a:ext>
            </a:extLst>
          </p:cNvPr>
          <p:cNvSpPr/>
          <p:nvPr/>
        </p:nvSpPr>
        <p:spPr>
          <a:xfrm>
            <a:off x="10980234" y="10549054"/>
            <a:ext cx="2096429" cy="334536"/>
          </a:xfrm>
          <a:prstGeom prst="rect">
            <a:avLst/>
          </a:prstGeom>
          <a:solidFill>
            <a:srgbClr val="F7F7F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TextBox 6">
            <a:extLst>
              <a:ext uri="{FF2B5EF4-FFF2-40B4-BE49-F238E27FC236}">
                <a16:creationId xmlns:a16="http://schemas.microsoft.com/office/drawing/2014/main" id="{F90A027D-1A07-4E60-01AA-27B01A80ED07}"/>
              </a:ext>
            </a:extLst>
          </p:cNvPr>
          <p:cNvSpPr txBox="1"/>
          <p:nvPr/>
        </p:nvSpPr>
        <p:spPr>
          <a:xfrm>
            <a:off x="10918368" y="10511137"/>
            <a:ext cx="2220160" cy="41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000" b="1" u="none" strike="noStrike" cap="none" spc="0" normalizeH="0" baseline="0" dirty="0">
                <a:ln>
                  <a:noFill/>
                </a:ln>
                <a:solidFill>
                  <a:schemeClr val="bg2">
                    <a:lumMod val="10000"/>
                  </a:schemeClr>
                </a:solidFill>
                <a:effectLst/>
                <a:uFillTx/>
                <a:latin typeface="Open Sans Semibold" panose="020B0606030504020204" pitchFamily="34" charset="0"/>
                <a:ea typeface="Open Sans Semibold" panose="020B0606030504020204" pitchFamily="34" charset="0"/>
                <a:cs typeface="Open Sans Semibold" panose="020B0606030504020204" pitchFamily="34" charset="0"/>
                <a:sym typeface="Helvetica Neue"/>
              </a:rPr>
              <a:t>REINFORCEMENT</a:t>
            </a:r>
          </a:p>
        </p:txBody>
      </p:sp>
      <p:sp>
        <p:nvSpPr>
          <p:cNvPr id="9" name="TextBox 8">
            <a:extLst>
              <a:ext uri="{FF2B5EF4-FFF2-40B4-BE49-F238E27FC236}">
                <a16:creationId xmlns:a16="http://schemas.microsoft.com/office/drawing/2014/main" id="{BAAADB76-7ADE-B0E7-DF61-E32E44D37386}"/>
              </a:ext>
            </a:extLst>
          </p:cNvPr>
          <p:cNvSpPr txBox="1"/>
          <p:nvPr/>
        </p:nvSpPr>
        <p:spPr>
          <a:xfrm>
            <a:off x="14899342" y="12477423"/>
            <a:ext cx="8785412"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a:r>
              <a:rPr lang="en-US" i="1" dirty="0">
                <a:solidFill>
                  <a:schemeClr val="bg2">
                    <a:lumMod val="10000"/>
                  </a:schemeClr>
                </a:solidFill>
              </a:rPr>
              <a:t>Source: https://</a:t>
            </a:r>
            <a:r>
              <a:rPr lang="en-US" i="1" dirty="0" err="1">
                <a:solidFill>
                  <a:schemeClr val="bg2">
                    <a:lumMod val="10000"/>
                  </a:schemeClr>
                </a:solidFill>
              </a:rPr>
              <a:t>towardsdatascience.com</a:t>
            </a:r>
            <a:r>
              <a:rPr lang="en-US" i="1" dirty="0">
                <a:solidFill>
                  <a:schemeClr val="bg2">
                    <a:lumMod val="10000"/>
                  </a:schemeClr>
                </a:solidFill>
              </a:rPr>
              <a:t>/coding-deep-learning-for-beginners-types-of-machine-learning-b9e651e1ed9d</a:t>
            </a:r>
          </a:p>
        </p:txBody>
      </p:sp>
    </p:spTree>
    <p:extLst>
      <p:ext uri="{BB962C8B-B14F-4D97-AF65-F5344CB8AC3E}">
        <p14:creationId xmlns:p14="http://schemas.microsoft.com/office/powerpoint/2010/main" val="163818901"/>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Categories of Machine Learning</a:t>
            </a:r>
            <a:br>
              <a:rPr lang="en-ID" dirty="0"/>
            </a:b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Supervised Learning</a:t>
            </a:r>
          </a:p>
        </p:txBody>
      </p:sp>
      <p:sp>
        <p:nvSpPr>
          <p:cNvPr id="6" name="Content Placeholder 5">
            <a:extLst>
              <a:ext uri="{FF2B5EF4-FFF2-40B4-BE49-F238E27FC236}">
                <a16:creationId xmlns:a16="http://schemas.microsoft.com/office/drawing/2014/main" id="{675FAA5C-1B83-D8BC-AF32-82DBE7636E88}"/>
              </a:ext>
            </a:extLst>
          </p:cNvPr>
          <p:cNvSpPr>
            <a:spLocks noGrp="1"/>
          </p:cNvSpPr>
          <p:nvPr>
            <p:ph sz="quarter" idx="11"/>
          </p:nvPr>
        </p:nvSpPr>
        <p:spPr>
          <a:xfrm>
            <a:off x="2167377" y="3714224"/>
            <a:ext cx="9455128" cy="8129718"/>
          </a:xfrm>
        </p:spPr>
        <p:txBody>
          <a:bodyPr>
            <a:normAutofit/>
          </a:bodyPr>
          <a:lstStyle/>
          <a:p>
            <a:r>
              <a:rPr lang="en-US" dirty="0">
                <a:sym typeface="Arial"/>
              </a:rPr>
              <a:t>Supervised Learning involves learning from </a:t>
            </a:r>
            <a:r>
              <a:rPr lang="en-US" b="1" dirty="0">
                <a:sym typeface="Arial"/>
              </a:rPr>
              <a:t>labeled data</a:t>
            </a:r>
            <a:r>
              <a:rPr lang="en-US" dirty="0">
                <a:sym typeface="Arial"/>
              </a:rPr>
              <a:t>, where the algorithm is trained on </a:t>
            </a:r>
            <a:r>
              <a:rPr lang="en-US" b="1" dirty="0">
                <a:sym typeface="Arial"/>
              </a:rPr>
              <a:t>input-output pairs</a:t>
            </a:r>
            <a:r>
              <a:rPr lang="en-US" dirty="0">
                <a:sym typeface="Arial"/>
              </a:rPr>
              <a:t>.</a:t>
            </a:r>
          </a:p>
          <a:p>
            <a:r>
              <a:rPr lang="en-US" dirty="0">
                <a:sym typeface="Arial"/>
              </a:rPr>
              <a:t>Common supervised learning tasks include </a:t>
            </a:r>
            <a:r>
              <a:rPr lang="en-US" b="1" dirty="0">
                <a:sym typeface="Arial"/>
              </a:rPr>
              <a:t>classification</a:t>
            </a:r>
            <a:r>
              <a:rPr lang="en-US" dirty="0">
                <a:sym typeface="Arial"/>
              </a:rPr>
              <a:t> (predicting categories) and regression (predicting continuous values).</a:t>
            </a:r>
            <a:br>
              <a:rPr lang="en-US" dirty="0">
                <a:sym typeface="Arial"/>
              </a:rPr>
            </a:br>
            <a:br>
              <a:rPr lang="en-US" dirty="0">
                <a:sym typeface="Arial"/>
              </a:rPr>
            </a:br>
            <a:endParaRPr lang="en-US" dirty="0">
              <a:sym typeface="Arial"/>
            </a:endParaRPr>
          </a:p>
          <a:p>
            <a:endParaRPr lang="en-US" dirty="0">
              <a:sym typeface="Arial"/>
            </a:endParaRPr>
          </a:p>
          <a:p>
            <a:endParaRPr lang="en-US" dirty="0"/>
          </a:p>
        </p:txBody>
      </p:sp>
      <p:pic>
        <p:nvPicPr>
          <p:cNvPr id="8" name="Picture 7" descr="A diagram of a dog training&#10;&#10;Description automatically generated">
            <a:extLst>
              <a:ext uri="{FF2B5EF4-FFF2-40B4-BE49-F238E27FC236}">
                <a16:creationId xmlns:a16="http://schemas.microsoft.com/office/drawing/2014/main" id="{C50F78A2-14E6-DB1B-6AE6-14E1054288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4531" y="3260662"/>
            <a:ext cx="11894008" cy="8129717"/>
          </a:xfrm>
          <a:prstGeom prst="rect">
            <a:avLst/>
          </a:prstGeom>
        </p:spPr>
      </p:pic>
      <p:sp>
        <p:nvSpPr>
          <p:cNvPr id="5" name="TextBox 4">
            <a:extLst>
              <a:ext uri="{FF2B5EF4-FFF2-40B4-BE49-F238E27FC236}">
                <a16:creationId xmlns:a16="http://schemas.microsoft.com/office/drawing/2014/main" id="{0BA2FFCB-4124-83F0-4A16-B576AE75AC5E}"/>
              </a:ext>
            </a:extLst>
          </p:cNvPr>
          <p:cNvSpPr txBox="1"/>
          <p:nvPr/>
        </p:nvSpPr>
        <p:spPr>
          <a:xfrm>
            <a:off x="11003294" y="11613108"/>
            <a:ext cx="12196482"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i="1" dirty="0">
                <a:solidFill>
                  <a:schemeClr val="bg2">
                    <a:lumMod val="10000"/>
                  </a:schemeClr>
                </a:solidFill>
              </a:rPr>
              <a:t>Source: https://</a:t>
            </a:r>
            <a:r>
              <a:rPr lang="en-US" i="1" dirty="0" err="1">
                <a:solidFill>
                  <a:schemeClr val="bg2">
                    <a:lumMod val="10000"/>
                  </a:schemeClr>
                </a:solidFill>
              </a:rPr>
              <a:t>alanjeffares.wordpress.com</a:t>
            </a:r>
            <a:r>
              <a:rPr lang="en-US" i="1" dirty="0">
                <a:solidFill>
                  <a:schemeClr val="bg2">
                    <a:lumMod val="10000"/>
                  </a:schemeClr>
                </a:solidFill>
              </a:rPr>
              <a:t>/2018/07/24/test/</a:t>
            </a:r>
          </a:p>
        </p:txBody>
      </p:sp>
    </p:spTree>
    <p:extLst>
      <p:ext uri="{BB962C8B-B14F-4D97-AF65-F5344CB8AC3E}">
        <p14:creationId xmlns:p14="http://schemas.microsoft.com/office/powerpoint/2010/main" val="335832502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Categories of Machine Learning</a:t>
            </a:r>
            <a:br>
              <a:rPr lang="en-ID" dirty="0"/>
            </a:b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Unsupervised learning</a:t>
            </a:r>
          </a:p>
        </p:txBody>
      </p:sp>
      <p:sp>
        <p:nvSpPr>
          <p:cNvPr id="6" name="Content Placeholder 5">
            <a:extLst>
              <a:ext uri="{FF2B5EF4-FFF2-40B4-BE49-F238E27FC236}">
                <a16:creationId xmlns:a16="http://schemas.microsoft.com/office/drawing/2014/main" id="{675FAA5C-1B83-D8BC-AF32-82DBE7636E88}"/>
              </a:ext>
            </a:extLst>
          </p:cNvPr>
          <p:cNvSpPr>
            <a:spLocks noGrp="1"/>
          </p:cNvSpPr>
          <p:nvPr>
            <p:ph sz="quarter" idx="11"/>
          </p:nvPr>
        </p:nvSpPr>
        <p:spPr>
          <a:xfrm>
            <a:off x="2167377" y="3714224"/>
            <a:ext cx="9455128" cy="8554478"/>
          </a:xfrm>
        </p:spPr>
        <p:txBody>
          <a:bodyPr>
            <a:normAutofit/>
          </a:bodyPr>
          <a:lstStyle/>
          <a:p>
            <a:r>
              <a:rPr lang="en-US" dirty="0">
                <a:sym typeface="Arial"/>
              </a:rPr>
              <a:t>Unlike supervised Learning, it doesn't rely on labeled data for training. </a:t>
            </a:r>
          </a:p>
          <a:p>
            <a:r>
              <a:rPr lang="en-US" dirty="0">
                <a:sym typeface="Arial"/>
              </a:rPr>
              <a:t>Instead, it explores patterns and structures within unlabeled data.</a:t>
            </a:r>
          </a:p>
          <a:p>
            <a:endParaRPr lang="en-US" dirty="0">
              <a:sym typeface="Arial"/>
            </a:endParaRPr>
          </a:p>
          <a:p>
            <a:endParaRPr lang="en-US" dirty="0"/>
          </a:p>
        </p:txBody>
      </p:sp>
      <p:pic>
        <p:nvPicPr>
          <p:cNvPr id="5" name="Picture 4" descr="A diagram of a computer algorithm&#10;&#10;Description automatically generated with medium confidence">
            <a:extLst>
              <a:ext uri="{FF2B5EF4-FFF2-40B4-BE49-F238E27FC236}">
                <a16:creationId xmlns:a16="http://schemas.microsoft.com/office/drawing/2014/main" id="{2B51EB0A-70AA-00D8-11DA-49B731B042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22504" y="2937935"/>
            <a:ext cx="11755103" cy="4896748"/>
          </a:xfrm>
          <a:prstGeom prst="rect">
            <a:avLst/>
          </a:prstGeom>
        </p:spPr>
      </p:pic>
      <p:sp>
        <p:nvSpPr>
          <p:cNvPr id="7" name="Content Placeholder 5">
            <a:extLst>
              <a:ext uri="{FF2B5EF4-FFF2-40B4-BE49-F238E27FC236}">
                <a16:creationId xmlns:a16="http://schemas.microsoft.com/office/drawing/2014/main" id="{8FAF9809-4797-9138-E114-AF8ABBD84019}"/>
              </a:ext>
            </a:extLst>
          </p:cNvPr>
          <p:cNvSpPr txBox="1">
            <a:spLocks/>
          </p:cNvSpPr>
          <p:nvPr/>
        </p:nvSpPr>
        <p:spPr>
          <a:xfrm>
            <a:off x="2167376" y="7991463"/>
            <a:ext cx="19730098" cy="42636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dirty="0">
                <a:sym typeface="Arial"/>
              </a:rPr>
              <a:t>It aim to uncover hidden patterns, groupings, or relationships in data.</a:t>
            </a:r>
          </a:p>
          <a:p>
            <a:r>
              <a:rPr lang="en-ID" dirty="0">
                <a:sym typeface="Arial"/>
              </a:rPr>
              <a:t>Common unsupervised learning tasks include </a:t>
            </a:r>
            <a:r>
              <a:rPr lang="en-ID" b="1" dirty="0">
                <a:sym typeface="Arial"/>
              </a:rPr>
              <a:t>clustering</a:t>
            </a:r>
            <a:r>
              <a:rPr lang="en-ID" dirty="0">
                <a:sym typeface="Arial"/>
              </a:rPr>
              <a:t>, dimensionality reduction, and anomaly detection.</a:t>
            </a:r>
          </a:p>
          <a:p>
            <a:endParaRPr lang="en-ID" dirty="0">
              <a:sym typeface="Arial"/>
            </a:endParaRPr>
          </a:p>
          <a:p>
            <a:endParaRPr lang="en-ID" dirty="0"/>
          </a:p>
        </p:txBody>
      </p:sp>
      <p:sp>
        <p:nvSpPr>
          <p:cNvPr id="4" name="TextBox 3">
            <a:extLst>
              <a:ext uri="{FF2B5EF4-FFF2-40B4-BE49-F238E27FC236}">
                <a16:creationId xmlns:a16="http://schemas.microsoft.com/office/drawing/2014/main" id="{230A126B-30DA-A280-9F9A-A6AE26E028F6}"/>
              </a:ext>
            </a:extLst>
          </p:cNvPr>
          <p:cNvSpPr txBox="1"/>
          <p:nvPr/>
        </p:nvSpPr>
        <p:spPr>
          <a:xfrm>
            <a:off x="11181125" y="7373018"/>
            <a:ext cx="12196482"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i="1" dirty="0">
                <a:solidFill>
                  <a:schemeClr val="bg2">
                    <a:lumMod val="10000"/>
                  </a:schemeClr>
                </a:solidFill>
              </a:rPr>
              <a:t>Source: https://</a:t>
            </a:r>
            <a:r>
              <a:rPr lang="en-US" i="1" dirty="0" err="1">
                <a:solidFill>
                  <a:schemeClr val="bg2">
                    <a:lumMod val="10000"/>
                  </a:schemeClr>
                </a:solidFill>
              </a:rPr>
              <a:t>alanjeffares.wordpress.com</a:t>
            </a:r>
            <a:r>
              <a:rPr lang="en-US" i="1" dirty="0">
                <a:solidFill>
                  <a:schemeClr val="bg2">
                    <a:lumMod val="10000"/>
                  </a:schemeClr>
                </a:solidFill>
              </a:rPr>
              <a:t>/2018/07/24/test/</a:t>
            </a:r>
          </a:p>
        </p:txBody>
      </p:sp>
    </p:spTree>
    <p:extLst>
      <p:ext uri="{BB962C8B-B14F-4D97-AF65-F5344CB8AC3E}">
        <p14:creationId xmlns:p14="http://schemas.microsoft.com/office/powerpoint/2010/main" val="374578730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Categories of Machine Learning</a:t>
            </a:r>
            <a:br>
              <a:rPr lang="en-ID" dirty="0"/>
            </a:b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Reinforcement learning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8" y="3714224"/>
            <a:ext cx="19369148" cy="8129718"/>
          </a:xfrm>
        </p:spPr>
        <p:txBody>
          <a:bodyPr>
            <a:normAutofit/>
          </a:bodyPr>
          <a:lstStyle/>
          <a:p>
            <a:pPr marL="673100" indent="-571500" algn="just"/>
            <a:r>
              <a:rPr lang="en-US" dirty="0"/>
              <a:t>In reinforcement learning, an agent learns to make decisions by </a:t>
            </a:r>
            <a:r>
              <a:rPr lang="en-US" b="1" dirty="0"/>
              <a:t>interacting</a:t>
            </a:r>
            <a:r>
              <a:rPr lang="en-US" dirty="0"/>
              <a:t> with an environment. </a:t>
            </a:r>
          </a:p>
          <a:p>
            <a:pPr marL="673100" indent="-571500" algn="just"/>
            <a:r>
              <a:rPr lang="en-US" dirty="0"/>
              <a:t>Unlike other types of learning, reinforcement learning </a:t>
            </a:r>
            <a:r>
              <a:rPr lang="en-US" b="1" dirty="0"/>
              <a:t>doesn't need </a:t>
            </a:r>
            <a:r>
              <a:rPr lang="en-US" dirty="0"/>
              <a:t>labeled or unlabeled data - </a:t>
            </a:r>
            <a:r>
              <a:rPr lang="en-US" b="1" dirty="0"/>
              <a:t>it learns from trial and error</a:t>
            </a:r>
            <a:r>
              <a:rPr lang="en-US" dirty="0"/>
              <a:t>.</a:t>
            </a:r>
          </a:p>
          <a:p>
            <a:pPr marL="673100" indent="-571500" algn="just"/>
            <a:r>
              <a:rPr lang="en-US" dirty="0"/>
              <a:t>The goal for the agent is to learn the best actions to take in different situations to </a:t>
            </a:r>
            <a:r>
              <a:rPr lang="en-US" b="1" dirty="0"/>
              <a:t>maximize rewards</a:t>
            </a:r>
            <a:r>
              <a:rPr lang="en-US" dirty="0"/>
              <a:t>.</a:t>
            </a:r>
          </a:p>
          <a:p>
            <a:pPr marL="673100" indent="-571500" algn="just"/>
            <a:r>
              <a:rPr lang="en-US" dirty="0"/>
              <a:t>It's like teaching a pet tricks: they learn what actions lead to treats and repeat those actions.</a:t>
            </a:r>
          </a:p>
          <a:p>
            <a:pPr marL="673100" indent="-571500" algn="just"/>
            <a:r>
              <a:rPr lang="en-US" dirty="0"/>
              <a:t>Even </a:t>
            </a:r>
            <a:r>
              <a:rPr lang="en-US" dirty="0" err="1"/>
              <a:t>ChatGPT</a:t>
            </a:r>
            <a:r>
              <a:rPr lang="en-US" dirty="0"/>
              <a:t> is built using some kind of reinforcement learning!</a:t>
            </a:r>
          </a:p>
        </p:txBody>
      </p:sp>
    </p:spTree>
    <p:extLst>
      <p:ext uri="{BB962C8B-B14F-4D97-AF65-F5344CB8AC3E}">
        <p14:creationId xmlns:p14="http://schemas.microsoft.com/office/powerpoint/2010/main" val="382946816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Categories of Machine Learning</a:t>
            </a:r>
            <a:br>
              <a:rPr lang="en-ID" dirty="0"/>
            </a:b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US" dirty="0"/>
              <a:t>Examples: A.I. Learns to play Flappy Bird</a:t>
            </a:r>
          </a:p>
        </p:txBody>
      </p:sp>
      <p:pic>
        <p:nvPicPr>
          <p:cNvPr id="5" name="Online Media 4" descr="A.I. Learns to play Flappy Bird">
            <a:hlinkClick r:id="" action="ppaction://media"/>
            <a:extLst>
              <a:ext uri="{FF2B5EF4-FFF2-40B4-BE49-F238E27FC236}">
                <a16:creationId xmlns:a16="http://schemas.microsoft.com/office/drawing/2014/main" id="{24EFC74F-42E2-D485-76FA-BD6EEBDDD884}"/>
              </a:ext>
            </a:extLst>
          </p:cNvPr>
          <p:cNvPicPr>
            <a:picLocks noRot="1" noChangeAspect="1"/>
          </p:cNvPicPr>
          <p:nvPr>
            <a:videoFile r:link="rId1"/>
          </p:nvPr>
        </p:nvPicPr>
        <p:blipFill>
          <a:blip r:embed="rId4"/>
          <a:stretch>
            <a:fillRect/>
          </a:stretch>
        </p:blipFill>
        <p:spPr>
          <a:xfrm>
            <a:off x="2167377" y="3223274"/>
            <a:ext cx="19681970" cy="9746768"/>
          </a:xfrm>
          <a:prstGeom prst="rect">
            <a:avLst/>
          </a:prstGeom>
        </p:spPr>
      </p:pic>
    </p:spTree>
    <p:extLst>
      <p:ext uri="{BB962C8B-B14F-4D97-AF65-F5344CB8AC3E}">
        <p14:creationId xmlns:p14="http://schemas.microsoft.com/office/powerpoint/2010/main" val="18480696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Categories of Machine Learning</a:t>
            </a:r>
            <a:br>
              <a:rPr lang="en-ID" dirty="0"/>
            </a:b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Examples: Multi-Agent Hide and Seek</a:t>
            </a:r>
          </a:p>
        </p:txBody>
      </p:sp>
      <p:pic>
        <p:nvPicPr>
          <p:cNvPr id="6" name="Online Media 5" descr="Multi-Agent Hide and Seek">
            <a:hlinkClick r:id="" action="ppaction://media"/>
            <a:extLst>
              <a:ext uri="{FF2B5EF4-FFF2-40B4-BE49-F238E27FC236}">
                <a16:creationId xmlns:a16="http://schemas.microsoft.com/office/drawing/2014/main" id="{0D27B34D-B8B0-D48E-B7FB-05E1B134EED0}"/>
              </a:ext>
            </a:extLst>
          </p:cNvPr>
          <p:cNvPicPr>
            <a:picLocks noRot="1" noChangeAspect="1"/>
          </p:cNvPicPr>
          <p:nvPr>
            <a:videoFile r:link="rId1"/>
          </p:nvPr>
        </p:nvPicPr>
        <p:blipFill>
          <a:blip r:embed="rId4"/>
          <a:stretch>
            <a:fillRect/>
          </a:stretch>
        </p:blipFill>
        <p:spPr>
          <a:xfrm>
            <a:off x="2167377" y="3260663"/>
            <a:ext cx="19850412" cy="9589063"/>
          </a:xfrm>
          <a:prstGeom prst="rect">
            <a:avLst/>
          </a:prstGeom>
        </p:spPr>
      </p:pic>
    </p:spTree>
    <p:extLst>
      <p:ext uri="{BB962C8B-B14F-4D97-AF65-F5344CB8AC3E}">
        <p14:creationId xmlns:p14="http://schemas.microsoft.com/office/powerpoint/2010/main" val="168871812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Categories of Machine Learning</a:t>
            </a:r>
            <a:br>
              <a:rPr lang="en-ID" dirty="0"/>
            </a:b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AI vs ML vs DL</a:t>
            </a:r>
          </a:p>
        </p:txBody>
      </p:sp>
      <p:pic>
        <p:nvPicPr>
          <p:cNvPr id="7" name="Content Placeholder 6" descr="A diagram of machine learning&#10;&#10;Description automatically generated">
            <a:extLst>
              <a:ext uri="{FF2B5EF4-FFF2-40B4-BE49-F238E27FC236}">
                <a16:creationId xmlns:a16="http://schemas.microsoft.com/office/drawing/2014/main" id="{C631C3EC-168A-8DE8-8FAE-32EF4184066D}"/>
              </a:ext>
            </a:extLst>
          </p:cNvPr>
          <p:cNvPicPr>
            <a:picLocks noGrp="1" noChangeAspect="1"/>
          </p:cNvPicPr>
          <p:nvPr>
            <p:ph sz="quarter" idx="11"/>
          </p:nvPr>
        </p:nvPicPr>
        <p:blipFill>
          <a:blip r:embed="rId3">
            <a:extLst>
              <a:ext uri="{28A0092B-C50C-407E-A947-70E740481C1C}">
                <a14:useLocalDpi xmlns:a14="http://schemas.microsoft.com/office/drawing/2010/main" val="0"/>
              </a:ext>
            </a:extLst>
          </a:blip>
          <a:stretch>
            <a:fillRect/>
          </a:stretch>
        </p:blipFill>
        <p:spPr>
          <a:xfrm>
            <a:off x="7146758" y="3224725"/>
            <a:ext cx="9736188" cy="9425967"/>
          </a:xfrm>
          <a:prstGeom prst="rect">
            <a:avLst/>
          </a:prstGeom>
        </p:spPr>
      </p:pic>
    </p:spTree>
    <p:extLst>
      <p:ext uri="{BB962C8B-B14F-4D97-AF65-F5344CB8AC3E}">
        <p14:creationId xmlns:p14="http://schemas.microsoft.com/office/powerpoint/2010/main" val="321535443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Deep learning</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Neuron</a:t>
            </a:r>
          </a:p>
        </p:txBody>
      </p:sp>
      <p:sp>
        <p:nvSpPr>
          <p:cNvPr id="5" name="Content Placeholder 4">
            <a:extLst>
              <a:ext uri="{FF2B5EF4-FFF2-40B4-BE49-F238E27FC236}">
                <a16:creationId xmlns:a16="http://schemas.microsoft.com/office/drawing/2014/main" id="{083018E3-423B-2B4C-0FD2-F03DED741032}"/>
              </a:ext>
            </a:extLst>
          </p:cNvPr>
          <p:cNvSpPr>
            <a:spLocks noGrp="1"/>
          </p:cNvSpPr>
          <p:nvPr>
            <p:ph sz="quarter" idx="11"/>
          </p:nvPr>
        </p:nvSpPr>
        <p:spPr>
          <a:xfrm>
            <a:off x="2167377" y="3714224"/>
            <a:ext cx="10995170" cy="8129718"/>
          </a:xfrm>
        </p:spPr>
        <p:txBody>
          <a:bodyPr/>
          <a:lstStyle/>
          <a:p>
            <a:r>
              <a:rPr lang="en-ID" sz="4400" dirty="0"/>
              <a:t>A human brain is a complex organization of a cell called as </a:t>
            </a:r>
            <a:r>
              <a:rPr lang="en-ID" sz="4400" b="1" dirty="0"/>
              <a:t>neuron.</a:t>
            </a:r>
          </a:p>
          <a:p>
            <a:endParaRPr lang="en-ID" sz="4400" dirty="0"/>
          </a:p>
          <a:p>
            <a:r>
              <a:rPr lang="en-ID" sz="4400" dirty="0"/>
              <a:t>A neuron can process information by running this process:</a:t>
            </a:r>
          </a:p>
          <a:p>
            <a:endParaRPr lang="en-US" dirty="0"/>
          </a:p>
        </p:txBody>
      </p:sp>
      <p:pic>
        <p:nvPicPr>
          <p:cNvPr id="8" name="Picture 7" descr="A close-up of a hand holding a device&#10;&#10;Description automatically generated">
            <a:extLst>
              <a:ext uri="{FF2B5EF4-FFF2-40B4-BE49-F238E27FC236}">
                <a16:creationId xmlns:a16="http://schemas.microsoft.com/office/drawing/2014/main" id="{31DE3F30-36CB-C81F-CD82-F6AE3C8456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62547" y="3714224"/>
            <a:ext cx="11016302" cy="7402955"/>
          </a:xfrm>
          <a:prstGeom prst="rect">
            <a:avLst/>
          </a:prstGeom>
        </p:spPr>
      </p:pic>
      <p:graphicFrame>
        <p:nvGraphicFramePr>
          <p:cNvPr id="9" name="Diagram 8">
            <a:extLst>
              <a:ext uri="{FF2B5EF4-FFF2-40B4-BE49-F238E27FC236}">
                <a16:creationId xmlns:a16="http://schemas.microsoft.com/office/drawing/2014/main" id="{5A99E07B-2982-BA73-13B5-3D56F0D19621}"/>
              </a:ext>
            </a:extLst>
          </p:cNvPr>
          <p:cNvGraphicFramePr/>
          <p:nvPr/>
        </p:nvGraphicFramePr>
        <p:xfrm>
          <a:off x="2457454" y="8224732"/>
          <a:ext cx="14135413" cy="289244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78441949"/>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Deep learning</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Artificial Neural Network</a:t>
            </a:r>
          </a:p>
        </p:txBody>
      </p:sp>
      <p:sp>
        <p:nvSpPr>
          <p:cNvPr id="5" name="Content Placeholder 4">
            <a:extLst>
              <a:ext uri="{FF2B5EF4-FFF2-40B4-BE49-F238E27FC236}">
                <a16:creationId xmlns:a16="http://schemas.microsoft.com/office/drawing/2014/main" id="{083018E3-423B-2B4C-0FD2-F03DED741032}"/>
              </a:ext>
            </a:extLst>
          </p:cNvPr>
          <p:cNvSpPr>
            <a:spLocks noGrp="1"/>
          </p:cNvSpPr>
          <p:nvPr>
            <p:ph sz="quarter" idx="11"/>
          </p:nvPr>
        </p:nvSpPr>
        <p:spPr>
          <a:xfrm>
            <a:off x="2167376" y="3714224"/>
            <a:ext cx="20283549" cy="8129718"/>
          </a:xfrm>
        </p:spPr>
        <p:txBody>
          <a:bodyPr/>
          <a:lstStyle/>
          <a:p>
            <a:r>
              <a:rPr lang="en-ID" sz="4400" dirty="0"/>
              <a:t>ANNs are a computational model inspired by the structure and function of biological neural networks in the human brain.</a:t>
            </a:r>
          </a:p>
          <a:p>
            <a:r>
              <a:rPr lang="en-ID" sz="4400" dirty="0"/>
              <a:t>Here is the comparation between biological neuron and artificial neuron:</a:t>
            </a:r>
          </a:p>
          <a:p>
            <a:endParaRPr lang="en-ID" sz="4400" dirty="0"/>
          </a:p>
        </p:txBody>
      </p:sp>
      <p:pic>
        <p:nvPicPr>
          <p:cNvPr id="5126" name="Picture 6" descr="The Concept of Artificial Neurons (Perceptrons) in Neural Networks | by  Rukshan Pramoditha | Towards Data Science">
            <a:extLst>
              <a:ext uri="{FF2B5EF4-FFF2-40B4-BE49-F238E27FC236}">
                <a16:creationId xmlns:a16="http://schemas.microsoft.com/office/drawing/2014/main" id="{672DAE92-6C8A-91C8-2425-31F5DE75CF4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608" b="8490"/>
          <a:stretch/>
        </p:blipFill>
        <p:spPr bwMode="auto">
          <a:xfrm>
            <a:off x="3721768" y="6653336"/>
            <a:ext cx="16940463" cy="608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672891"/>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Deep learning</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Artificial Neural Network</a:t>
            </a:r>
          </a:p>
        </p:txBody>
      </p:sp>
      <p:sp>
        <p:nvSpPr>
          <p:cNvPr id="5" name="Content Placeholder 4">
            <a:extLst>
              <a:ext uri="{FF2B5EF4-FFF2-40B4-BE49-F238E27FC236}">
                <a16:creationId xmlns:a16="http://schemas.microsoft.com/office/drawing/2014/main" id="{083018E3-423B-2B4C-0FD2-F03DED741032}"/>
              </a:ext>
            </a:extLst>
          </p:cNvPr>
          <p:cNvSpPr>
            <a:spLocks noGrp="1"/>
          </p:cNvSpPr>
          <p:nvPr>
            <p:ph sz="quarter" idx="11"/>
          </p:nvPr>
        </p:nvSpPr>
        <p:spPr>
          <a:xfrm>
            <a:off x="2167377" y="3714224"/>
            <a:ext cx="8685107" cy="8129718"/>
          </a:xfrm>
        </p:spPr>
        <p:txBody>
          <a:bodyPr>
            <a:normAutofit/>
          </a:bodyPr>
          <a:lstStyle/>
          <a:p>
            <a:r>
              <a:rPr lang="en-ID" sz="4400" dirty="0"/>
              <a:t>In ANN, the neurons are interconnected and organized in </a:t>
            </a:r>
            <a:r>
              <a:rPr lang="en-ID" sz="4400" b="1" dirty="0">
                <a:solidFill>
                  <a:schemeClr val="accent1">
                    <a:lumMod val="75000"/>
                  </a:schemeClr>
                </a:solidFill>
              </a:rPr>
              <a:t>layers</a:t>
            </a:r>
            <a:r>
              <a:rPr lang="en-ID" sz="4400" dirty="0"/>
              <a:t>. </a:t>
            </a:r>
          </a:p>
          <a:p>
            <a:r>
              <a:rPr lang="en-ID" sz="4400" dirty="0"/>
              <a:t>Information flows through the network from </a:t>
            </a:r>
            <a:r>
              <a:rPr lang="en-ID" sz="4400" b="1" dirty="0"/>
              <a:t>input layers </a:t>
            </a:r>
            <a:r>
              <a:rPr lang="en-ID" sz="4400" dirty="0"/>
              <a:t>to </a:t>
            </a:r>
            <a:r>
              <a:rPr lang="en-ID" sz="4400" b="1" dirty="0"/>
              <a:t>output layers</a:t>
            </a:r>
            <a:r>
              <a:rPr lang="en-ID" sz="4400" dirty="0"/>
              <a:t>.</a:t>
            </a:r>
          </a:p>
          <a:p>
            <a:r>
              <a:rPr lang="en-ID" dirty="0"/>
              <a:t>Typical ANN has 3 layers: Input, Hidden and Output layers.</a:t>
            </a:r>
          </a:p>
          <a:p>
            <a:endParaRPr lang="en-ID" sz="4400" dirty="0"/>
          </a:p>
        </p:txBody>
      </p:sp>
      <p:pic>
        <p:nvPicPr>
          <p:cNvPr id="7" name="Picture 6" descr="A blue and green arrows&#10;&#10;Description automatically generated">
            <a:extLst>
              <a:ext uri="{FF2B5EF4-FFF2-40B4-BE49-F238E27FC236}">
                <a16:creationId xmlns:a16="http://schemas.microsoft.com/office/drawing/2014/main" id="{7CEBB2DC-F1BC-3B91-F19D-F051C6DF34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86549" y="3714225"/>
            <a:ext cx="10871080" cy="7101270"/>
          </a:xfrm>
          <a:prstGeom prst="rect">
            <a:avLst/>
          </a:prstGeom>
        </p:spPr>
      </p:pic>
    </p:spTree>
    <p:extLst>
      <p:ext uri="{BB962C8B-B14F-4D97-AF65-F5344CB8AC3E}">
        <p14:creationId xmlns:p14="http://schemas.microsoft.com/office/powerpoint/2010/main" val="3817915160"/>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Deep learning</a:t>
            </a:r>
            <a:endParaRPr lang="en-US"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Definition</a:t>
            </a:r>
          </a:p>
        </p:txBody>
      </p:sp>
      <p:sp>
        <p:nvSpPr>
          <p:cNvPr id="5" name="Content Placeholder 4">
            <a:extLst>
              <a:ext uri="{FF2B5EF4-FFF2-40B4-BE49-F238E27FC236}">
                <a16:creationId xmlns:a16="http://schemas.microsoft.com/office/drawing/2014/main" id="{083018E3-423B-2B4C-0FD2-F03DED741032}"/>
              </a:ext>
            </a:extLst>
          </p:cNvPr>
          <p:cNvSpPr>
            <a:spLocks noGrp="1"/>
          </p:cNvSpPr>
          <p:nvPr>
            <p:ph sz="quarter" idx="11"/>
          </p:nvPr>
        </p:nvSpPr>
        <p:spPr>
          <a:xfrm>
            <a:off x="2167377" y="3714224"/>
            <a:ext cx="8685107" cy="9117856"/>
          </a:xfrm>
        </p:spPr>
        <p:txBody>
          <a:bodyPr>
            <a:normAutofit/>
          </a:bodyPr>
          <a:lstStyle/>
          <a:p>
            <a:r>
              <a:rPr lang="en-ID" sz="4400" dirty="0"/>
              <a:t>Deep learning revolves around ANN with multiple hidden layers (hence "</a:t>
            </a:r>
            <a:r>
              <a:rPr lang="en-ID" sz="4400" b="1" dirty="0"/>
              <a:t>deep</a:t>
            </a:r>
            <a:r>
              <a:rPr lang="en-ID" sz="4400" dirty="0"/>
              <a:t>"), </a:t>
            </a:r>
          </a:p>
          <a:p>
            <a:r>
              <a:rPr lang="en-ID" dirty="0"/>
              <a:t>Multiple hidden layers </a:t>
            </a:r>
            <a:r>
              <a:rPr lang="en-ID" sz="4400" dirty="0"/>
              <a:t>can learn complex patterns in data.</a:t>
            </a:r>
          </a:p>
          <a:p>
            <a:r>
              <a:rPr lang="en-ID" sz="4400" dirty="0"/>
              <a:t>It can automatically learn features from raw data, eliminating the need for manual feature extraction.</a:t>
            </a:r>
          </a:p>
        </p:txBody>
      </p:sp>
      <p:pic>
        <p:nvPicPr>
          <p:cNvPr id="7172" name="Picture 4">
            <a:extLst>
              <a:ext uri="{FF2B5EF4-FFF2-40B4-BE49-F238E27FC236}">
                <a16:creationId xmlns:a16="http://schemas.microsoft.com/office/drawing/2014/main" id="{19AE9262-3A43-546D-7073-47E7CB9A17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39145" y="4051108"/>
            <a:ext cx="13265117" cy="6608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6547007"/>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ID" dirty="0"/>
              <a:t>Component of Machine Learning Algorithm</a:t>
            </a:r>
            <a:br>
              <a:rPr lang="en-ID" dirty="0"/>
            </a:b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The procedure of machine learning</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US" dirty="0">
                <a:latin typeface="+mj-lt"/>
              </a:rPr>
              <a:t>Define the problem to be solved</a:t>
            </a:r>
          </a:p>
          <a:p>
            <a:r>
              <a:rPr lang="en-US" dirty="0">
                <a:latin typeface="+mj-lt"/>
              </a:rPr>
              <a:t>Collect and/or labeled data</a:t>
            </a:r>
          </a:p>
          <a:p>
            <a:r>
              <a:rPr lang="en-US" dirty="0">
                <a:latin typeface="+mj-lt"/>
              </a:rPr>
              <a:t>Choose an algorithm class</a:t>
            </a:r>
          </a:p>
          <a:p>
            <a:r>
              <a:rPr lang="en-US" dirty="0">
                <a:latin typeface="+mj-lt"/>
              </a:rPr>
              <a:t>Choose an optimization metric for learning the model</a:t>
            </a:r>
          </a:p>
          <a:p>
            <a:r>
              <a:rPr lang="en-US" dirty="0">
                <a:latin typeface="+mj-lt"/>
              </a:rPr>
              <a:t>Choose a metric for evaluating the model.</a:t>
            </a:r>
          </a:p>
          <a:p>
            <a:endParaRPr lang="en-ID" dirty="0"/>
          </a:p>
          <a:p>
            <a:endParaRPr lang="en-ID" dirty="0"/>
          </a:p>
          <a:p>
            <a:endParaRPr lang="en-ID" dirty="0"/>
          </a:p>
          <a:p>
            <a:endParaRPr lang="en-ID" dirty="0"/>
          </a:p>
        </p:txBody>
      </p:sp>
    </p:spTree>
    <p:extLst>
      <p:ext uri="{BB962C8B-B14F-4D97-AF65-F5344CB8AC3E}">
        <p14:creationId xmlns:p14="http://schemas.microsoft.com/office/powerpoint/2010/main" val="4284064899"/>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BCE53-D27A-D2CA-F069-0A2DB76C4D2B}"/>
              </a:ext>
            </a:extLst>
          </p:cNvPr>
          <p:cNvSpPr>
            <a:spLocks noGrp="1"/>
          </p:cNvSpPr>
          <p:nvPr>
            <p:ph type="title"/>
          </p:nvPr>
        </p:nvSpPr>
        <p:spPr/>
        <p:txBody>
          <a:bodyPr>
            <a:normAutofit fontScale="90000"/>
          </a:bodyPr>
          <a:lstStyle/>
          <a:p>
            <a:r>
              <a:rPr lang="en-US" dirty="0"/>
              <a:t>Case study</a:t>
            </a:r>
          </a:p>
        </p:txBody>
      </p:sp>
      <p:sp>
        <p:nvSpPr>
          <p:cNvPr id="3" name="Text Placeholder 2">
            <a:extLst>
              <a:ext uri="{FF2B5EF4-FFF2-40B4-BE49-F238E27FC236}">
                <a16:creationId xmlns:a16="http://schemas.microsoft.com/office/drawing/2014/main" id="{B35E2CF9-FB6B-ADAA-CDEE-8E97AFA5959D}"/>
              </a:ext>
            </a:extLst>
          </p:cNvPr>
          <p:cNvSpPr>
            <a:spLocks noGrp="1"/>
          </p:cNvSpPr>
          <p:nvPr>
            <p:ph type="body" sz="quarter" idx="10"/>
          </p:nvPr>
        </p:nvSpPr>
        <p:spPr/>
        <p:txBody>
          <a:bodyPr/>
          <a:lstStyle/>
          <a:p>
            <a:r>
              <a:rPr lang="en-US" dirty="0"/>
              <a:t>3 Machine learning methods</a:t>
            </a:r>
          </a:p>
        </p:txBody>
      </p:sp>
      <p:sp>
        <p:nvSpPr>
          <p:cNvPr id="4" name="Content Placeholder 3">
            <a:extLst>
              <a:ext uri="{FF2B5EF4-FFF2-40B4-BE49-F238E27FC236}">
                <a16:creationId xmlns:a16="http://schemas.microsoft.com/office/drawing/2014/main" id="{2FBC50FD-923E-B401-9DB8-2C90D4DD18BD}"/>
              </a:ext>
            </a:extLst>
          </p:cNvPr>
          <p:cNvSpPr>
            <a:spLocks noGrp="1"/>
          </p:cNvSpPr>
          <p:nvPr>
            <p:ph sz="quarter" idx="11"/>
          </p:nvPr>
        </p:nvSpPr>
        <p:spPr>
          <a:xfrm>
            <a:off x="2167377" y="3714223"/>
            <a:ext cx="19309300" cy="9303945"/>
          </a:xfrm>
        </p:spPr>
        <p:txBody>
          <a:bodyPr>
            <a:normAutofit fontScale="92500" lnSpcReduction="10000"/>
          </a:bodyPr>
          <a:lstStyle/>
          <a:p>
            <a:r>
              <a:rPr lang="en-US" dirty="0"/>
              <a:t>The 3 learning methods in machine learning are always integrated and mixed with our daily learning activities, including:</a:t>
            </a:r>
          </a:p>
          <a:p>
            <a:pPr lvl="1">
              <a:buFont typeface="Courier New" panose="02070309020205020404" pitchFamily="49" charset="0"/>
              <a:buChar char="o"/>
            </a:pPr>
            <a:r>
              <a:rPr lang="en-ID" dirty="0">
                <a:effectLst/>
                <a:latin typeface="+mj-lt"/>
              </a:rPr>
              <a:t>Attending lectures;</a:t>
            </a:r>
          </a:p>
          <a:p>
            <a:pPr lvl="1">
              <a:buFont typeface="Courier New" panose="02070309020205020404" pitchFamily="49" charset="0"/>
              <a:buChar char="o"/>
            </a:pPr>
            <a:r>
              <a:rPr lang="en-ID" dirty="0">
                <a:effectLst/>
                <a:latin typeface="+mj-lt"/>
              </a:rPr>
              <a:t>Reading books and papers;</a:t>
            </a:r>
          </a:p>
          <a:p>
            <a:pPr lvl="1">
              <a:buFont typeface="Courier New" panose="02070309020205020404" pitchFamily="49" charset="0"/>
              <a:buChar char="o"/>
            </a:pPr>
            <a:r>
              <a:rPr lang="en-ID" dirty="0">
                <a:effectLst/>
                <a:latin typeface="+mj-lt"/>
              </a:rPr>
              <a:t>Completing assignments and exercises; </a:t>
            </a:r>
          </a:p>
          <a:p>
            <a:pPr lvl="1">
              <a:buFont typeface="Courier New" panose="02070309020205020404" pitchFamily="49" charset="0"/>
              <a:buChar char="o"/>
            </a:pPr>
            <a:r>
              <a:rPr lang="en-ID" dirty="0">
                <a:effectLst/>
                <a:latin typeface="+mj-lt"/>
              </a:rPr>
              <a:t>Participating in group discussions;</a:t>
            </a:r>
          </a:p>
          <a:p>
            <a:pPr lvl="1">
              <a:buFont typeface="Courier New" panose="02070309020205020404" pitchFamily="49" charset="0"/>
              <a:buChar char="o"/>
            </a:pPr>
            <a:r>
              <a:rPr lang="en-ID" dirty="0">
                <a:effectLst/>
                <a:latin typeface="+mj-lt"/>
              </a:rPr>
              <a:t>Completing term tests and quizzes;</a:t>
            </a:r>
          </a:p>
          <a:p>
            <a:pPr lvl="1">
              <a:buFont typeface="Courier New" panose="02070309020205020404" pitchFamily="49" charset="0"/>
              <a:buChar char="o"/>
            </a:pPr>
            <a:r>
              <a:rPr lang="en-ID" dirty="0">
                <a:effectLst/>
                <a:latin typeface="+mj-lt"/>
              </a:rPr>
              <a:t>Study and revision;</a:t>
            </a:r>
          </a:p>
          <a:p>
            <a:r>
              <a:rPr lang="en-ID" dirty="0"/>
              <a:t>Identify the learning methods involved in each activity above and give the reasoning!</a:t>
            </a:r>
          </a:p>
          <a:p>
            <a:endParaRPr lang="en-US" dirty="0"/>
          </a:p>
        </p:txBody>
      </p:sp>
    </p:spTree>
    <p:extLst>
      <p:ext uri="{BB962C8B-B14F-4D97-AF65-F5344CB8AC3E}">
        <p14:creationId xmlns:p14="http://schemas.microsoft.com/office/powerpoint/2010/main" val="31176"/>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19</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a:xfrm>
            <a:off x="2167377" y="3260663"/>
            <a:ext cx="20149698" cy="9798111"/>
          </a:xfrm>
        </p:spPr>
        <p:txBody>
          <a:bodyPr>
            <a:normAutofit/>
          </a:bodyPr>
          <a:lstStyle/>
          <a:p>
            <a:pPr>
              <a:spcBef>
                <a:spcPts val="600"/>
              </a:spcBef>
            </a:pPr>
            <a:r>
              <a:rPr lang="en-US" sz="4000" dirty="0">
                <a:latin typeface="+mj-lt"/>
              </a:rPr>
              <a:t>Peter Norvig, Stuart Russel. (2021). Artificial Intelligence: A Modern Approach. Pearson. London. ISBN: 978-1292401133. Ch. 19-20.</a:t>
            </a:r>
          </a:p>
          <a:p>
            <a:pPr>
              <a:spcBef>
                <a:spcPts val="600"/>
              </a:spcBef>
            </a:pPr>
            <a:endParaRPr lang="en-US" sz="4000" dirty="0"/>
          </a:p>
          <a:p>
            <a:pPr>
              <a:spcBef>
                <a:spcPts val="600"/>
              </a:spcBef>
            </a:pPr>
            <a:endParaRPr lang="en-US" sz="4000" dirty="0"/>
          </a:p>
          <a:p>
            <a:pPr>
              <a:spcBef>
                <a:spcPts val="600"/>
              </a:spcBef>
            </a:pPr>
            <a:endParaRPr lang="en-US" sz="4000" dirty="0"/>
          </a:p>
          <a:p>
            <a:pPr>
              <a:spcBef>
                <a:spcPts val="600"/>
              </a:spcBef>
            </a:pPr>
            <a:endParaRPr lang="en-US" sz="4000" dirty="0"/>
          </a:p>
          <a:p>
            <a:pPr>
              <a:spcBef>
                <a:spcPts val="600"/>
              </a:spcBef>
            </a:pPr>
            <a:endParaRPr lang="en-US" sz="4000" dirty="0"/>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4387</TotalTime>
  <Words>1424</Words>
  <Application>Microsoft Office PowerPoint</Application>
  <PresentationFormat>Custom</PresentationFormat>
  <Paragraphs>168</Paragraphs>
  <Slides>29</Slides>
  <Notes>20</Notes>
  <HiddenSlides>0</HiddenSlides>
  <MMClips>3</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Open Sans</vt:lpstr>
      <vt:lpstr>OCRB</vt:lpstr>
      <vt:lpstr>Open Sans Light</vt:lpstr>
      <vt:lpstr>Open Sans Semibold</vt:lpstr>
      <vt:lpstr>Courier New</vt:lpstr>
      <vt:lpstr>Open Sans ExtraBold</vt:lpstr>
      <vt:lpstr>Arial</vt:lpstr>
      <vt:lpstr>Wingdings</vt:lpstr>
      <vt:lpstr>Helvetica Neue Medium</vt:lpstr>
      <vt:lpstr>21_BasicWhite</vt:lpstr>
      <vt:lpstr>Introduction to machine learning</vt:lpstr>
      <vt:lpstr>Learning Outcomes</vt:lpstr>
      <vt:lpstr>outline</vt:lpstr>
      <vt:lpstr>Introduction to machine learning</vt:lpstr>
      <vt:lpstr>Introduction to Machine learning</vt:lpstr>
      <vt:lpstr>Introduction to machine learning</vt:lpstr>
      <vt:lpstr>Introduction to machine learning</vt:lpstr>
      <vt:lpstr>Introduction to machine learning</vt:lpstr>
      <vt:lpstr>Introduction to machine learning</vt:lpstr>
      <vt:lpstr>Introduction to machine learning</vt:lpstr>
      <vt:lpstr>Introduction to machine learning</vt:lpstr>
      <vt:lpstr>Introduction to machine learning</vt:lpstr>
      <vt:lpstr>Solving specific problem </vt:lpstr>
      <vt:lpstr>Solving specific problem </vt:lpstr>
      <vt:lpstr>Solving specific problem </vt:lpstr>
      <vt:lpstr>Categories of Machine Learning </vt:lpstr>
      <vt:lpstr>Categories of Machine Learning </vt:lpstr>
      <vt:lpstr>Categories of Machine Learning </vt:lpstr>
      <vt:lpstr>Categories of Machine Learning </vt:lpstr>
      <vt:lpstr>Categories of Machine Learning </vt:lpstr>
      <vt:lpstr>Categories of Machine Learning </vt:lpstr>
      <vt:lpstr>Categories of Machine Learning </vt:lpstr>
      <vt:lpstr>Deep learning</vt:lpstr>
      <vt:lpstr>Deep learning</vt:lpstr>
      <vt:lpstr>Deep learning</vt:lpstr>
      <vt:lpstr>Deep learning</vt:lpstr>
      <vt:lpstr>Component of Machine Learning Algorithm </vt:lpstr>
      <vt:lpstr>Case study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59</cp:revision>
  <dcterms:created xsi:type="dcterms:W3CDTF">2023-11-17T02:51:40Z</dcterms:created>
  <dcterms:modified xsi:type="dcterms:W3CDTF">2024-12-27T07:48:58Z</dcterms:modified>
</cp:coreProperties>
</file>