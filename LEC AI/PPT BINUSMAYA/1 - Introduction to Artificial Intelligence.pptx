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90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59" r:id="rId11"/>
    <p:sldId id="260" r:id="rId12"/>
    <p:sldId id="283" r:id="rId13"/>
    <p:sldId id="287" r:id="rId14"/>
    <p:sldId id="295" r:id="rId15"/>
    <p:sldId id="296" r:id="rId16"/>
    <p:sldId id="284" r:id="rId17"/>
    <p:sldId id="261" r:id="rId18"/>
    <p:sldId id="272" r:id="rId19"/>
    <p:sldId id="273" r:id="rId20"/>
    <p:sldId id="262" r:id="rId21"/>
    <p:sldId id="274" r:id="rId22"/>
    <p:sldId id="279" r:id="rId23"/>
    <p:sldId id="280" r:id="rId24"/>
    <p:sldId id="281" r:id="rId25"/>
    <p:sldId id="282" r:id="rId26"/>
    <p:sldId id="276" r:id="rId27"/>
    <p:sldId id="277" r:id="rId28"/>
    <p:sldId id="288" r:id="rId29"/>
    <p:sldId id="289" r:id="rId30"/>
    <p:sldId id="278" r:id="rId31"/>
  </p:sldIdLst>
  <p:sldSz cx="24384000" cy="13716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OCRB" panose="020B0609020202020204" pitchFamily="49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ExtraBold" panose="020B0906030804020204" pitchFamily="34" charset="0"/>
      <p:bold r:id="rId39"/>
      <p:italic r:id="rId40"/>
      <p:boldItalic r:id="rId41"/>
    </p:embeddedFont>
    <p:embeddedFont>
      <p:font typeface="Open Sans Light" panose="020B0306030504020204" pitchFamily="34" charset="0"/>
      <p:regular r:id="rId42"/>
      <p:italic r:id="rId43"/>
    </p:embeddedFont>
    <p:embeddedFont>
      <p:font typeface="Open Sans Semibold" panose="020B0706030804020204" pitchFamily="34" charset="0"/>
      <p:regular r:id="rId44"/>
      <p:bold r:id="rId45"/>
      <p:italic r:id="rId46"/>
      <p:boldItalic r:id="rId4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3" autoAdjust="0"/>
    <p:restoredTop sz="91003"/>
  </p:normalViewPr>
  <p:slideViewPr>
    <p:cSldViewPr snapToGrid="0" snapToObjects="1">
      <p:cViewPr varScale="1">
        <p:scale>
          <a:sx n="35" d="100"/>
          <a:sy n="35" d="100"/>
        </p:scale>
        <p:origin x="460" y="5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Mark Cuban is an American businessman and television personality. He is the former principal owner and current minority owner of the Dallas Mavericks of the National Basketball Association, co-owner of 2929 Entertainment, and one of the main "sharks" on the ABC reality television series Shark Tank.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16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Play the animation</a:t>
            </a:r>
          </a:p>
        </p:txBody>
      </p:sp>
    </p:spTree>
    <p:extLst>
      <p:ext uri="{BB962C8B-B14F-4D97-AF65-F5344CB8AC3E}">
        <p14:creationId xmlns:p14="http://schemas.microsoft.com/office/powerpoint/2010/main" val="31638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have 3 options: Yes, No, Maybe</a:t>
            </a:r>
          </a:p>
        </p:txBody>
      </p:sp>
    </p:spTree>
    <p:extLst>
      <p:ext uri="{BB962C8B-B14F-4D97-AF65-F5344CB8AC3E}">
        <p14:creationId xmlns:p14="http://schemas.microsoft.com/office/powerpoint/2010/main" val="3686597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have 3 options: Yes, No, Maybe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2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languagelab.com/chinese-room" TargetMode="External"/><Relationship Id="rId2" Type="http://schemas.openxmlformats.org/officeDocument/2006/relationships/hyperlink" Target="https://doi.org/10.1017/978110816408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1: Describe the concept of the intelligent agent and Artificial Intelligence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Human intelligence in various aspects</a:t>
            </a:r>
          </a:p>
          <a:p>
            <a:r>
              <a:rPr lang="en-ID" dirty="0"/>
              <a:t>Definition of Artificial Intelligence </a:t>
            </a:r>
          </a:p>
          <a:p>
            <a:r>
              <a:rPr lang="en-US" sz="4400" dirty="0">
                <a:latin typeface="+mj-lt"/>
              </a:rPr>
              <a:t>Fundamental Aspects of Artificial Intelligence</a:t>
            </a:r>
            <a:endParaRPr lang="en-ID" dirty="0"/>
          </a:p>
          <a:p>
            <a:r>
              <a:rPr lang="en-ID" dirty="0"/>
              <a:t>Timeline of Artificial Intelligence </a:t>
            </a:r>
          </a:p>
          <a:p>
            <a:r>
              <a:rPr lang="en-ID" dirty="0"/>
              <a:t>The Turing test</a:t>
            </a:r>
          </a:p>
          <a:p>
            <a:r>
              <a:rPr lang="en-ID" dirty="0"/>
              <a:t>Strong AI vs Weak AI</a:t>
            </a:r>
          </a:p>
          <a:p>
            <a:r>
              <a:rPr lang="en-ID" dirty="0"/>
              <a:t>AI Applications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Human Intelligence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Human intelligence is a cross-discipline study that puzzles philosophers, natural scientists, psychologists, cognitive scientists, and neuroscientists for centuries.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4400" b="1" i="1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R. S. T. Lee, Artificial Intelligence in Daily Life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7199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Greek mythology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Greek mythology, epic poet Hesiod’s Theogony in </a:t>
            </a:r>
            <a:r>
              <a:rPr lang="en-US" sz="4400" b="1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700 B.C</a:t>
            </a: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. narrated Prometheus, a Titan and culture hero who created The first human from clay (</a:t>
            </a:r>
            <a:r>
              <a:rPr lang="en-US" sz="4400" b="1" i="1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 humanoid robot in today’s term</a:t>
            </a: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Drawing the </a:t>
            </a:r>
            <a:r>
              <a:rPr lang="en-US" sz="4400" i="1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connection between man and nature</a:t>
            </a: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400" u="sng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Greek mythologies explored questions of “how much control man can exercise over the environment by tampering with animals and other forms of nature” .</a:t>
            </a:r>
            <a:endParaRPr lang="en-US" u="sng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4735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 Psychological 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Modern psychology believes that human intelligence should be evaluated and determined in all aspects of mental ability that includes verbal perception abilities, memory ability, and manipulation speed.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current version of Webster’s Adult Intelligence Scale IV Test assesses general human intelligence (the so-called g-value) by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Verbal comprehension index scale,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Perceptual reasoning index scale,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Working memory index scale, and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Processing speed index scale.</a:t>
            </a:r>
          </a:p>
        </p:txBody>
      </p:sp>
    </p:spTree>
    <p:extLst>
      <p:ext uri="{BB962C8B-B14F-4D97-AF65-F5344CB8AC3E}">
        <p14:creationId xmlns:p14="http://schemas.microsoft.com/office/powerpoint/2010/main" val="12549014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Cognitive Scientific 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n interdisciplinary scientific study of psychology and its processes. 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ne of the earliest disciplines that provides scientific methods to understand, interpret, and evaluate human intelligence.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ocus on how the nervous system represents, processes and transforms information.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Wechsler Adult Intelligence Scale | Fourth Edition (WAIS-IV) is the most advanced adult measure of cognitive ability, based on recent research in the area of cognitive neuroscience and the theories and work of David Wechsler PhD.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i="0" u="none" strike="noStrike" cap="none" dirty="0">
              <a:solidFill>
                <a:schemeClr val="bg2">
                  <a:lumMod val="1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919750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Cognitive Scientific 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i="0" u="none" strike="noStrike" cap="none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WAIS-IV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Chart:</a:t>
            </a:r>
            <a:endParaRPr lang="en-US" i="0" u="none" strike="noStrike" cap="none" dirty="0">
              <a:solidFill>
                <a:schemeClr val="bg2">
                  <a:lumMod val="1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" name="Google Shape;143;p7">
            <a:extLst>
              <a:ext uri="{FF2B5EF4-FFF2-40B4-BE49-F238E27FC236}">
                <a16:creationId xmlns:a16="http://schemas.microsoft.com/office/drawing/2014/main" id="{881AD568-AA91-35CA-7F2F-657D1B32BC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812176"/>
              </p:ext>
            </p:extLst>
          </p:nvPr>
        </p:nvGraphicFramePr>
        <p:xfrm>
          <a:off x="2907323" y="5050971"/>
          <a:ext cx="18569354" cy="69071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84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4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6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Verbal Comprehension Index Scale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Core subjects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(Similarities, Vocabulary, Information)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Supplemental Subtest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(Comprehension)</a:t>
                      </a:r>
                      <a:endParaRPr sz="32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Perceptual Reasoning Index Scale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Core subjects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(Block design, Matrix Reasoning, Visual Puzzles)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Supplemental Subtest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(Figure weights, picture completion)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1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Working Memory Index Scale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Core subjects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(Digit Span, Arithmetic)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Supplemental Subtest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(Letter-Number Sequencing)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Acting Rationally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Core subjects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(Symbol Search, Coding)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Supplemental Subtest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(Cancellation)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44523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Neuroscience 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E50B6-6863-4D06-4C7D-4E3B74F82B7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4400" i="0" u="none" strike="noStrike" cap="none" dirty="0">
                    <a:solidFill>
                      <a:schemeClr val="bg2">
                        <a:lumMod val="10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Neuroscientists focus on the brain and its influence on behavior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4400" i="0" u="none" strike="noStrike" cap="none" dirty="0">
                    <a:solidFill>
                      <a:schemeClr val="bg2">
                        <a:lumMod val="10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Our brain is composed of more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sz="4400" i="0" u="none" strike="noStrike" cap="none" dirty="0">
                    <a:solidFill>
                      <a:schemeClr val="bg2">
                        <a:lumMod val="10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neurons. Each neuron has more than 1,000 synapses on the dendritic tree.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4400" i="0" u="none" strike="noStrike" cap="none" dirty="0">
                    <a:solidFill>
                      <a:schemeClr val="bg2">
                        <a:lumMod val="10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Major function for these dendritic structures is to facilitate effective information processing and transmission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i="0" u="none" strike="noStrike" cap="none" dirty="0">
                  <a:solidFill>
                    <a:schemeClr val="bg2">
                      <a:lumMod val="10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E50B6-6863-4D06-4C7D-4E3B74F82B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79;p12">
            <a:extLst>
              <a:ext uri="{FF2B5EF4-FFF2-40B4-BE49-F238E27FC236}">
                <a16:creationId xmlns:a16="http://schemas.microsoft.com/office/drawing/2014/main" id="{797414AE-AB36-C1C1-DAEB-209367768D35}"/>
              </a:ext>
            </a:extLst>
          </p:cNvPr>
          <p:cNvSpPr txBox="1">
            <a:spLocks/>
          </p:cNvSpPr>
          <p:nvPr/>
        </p:nvSpPr>
        <p:spPr>
          <a:xfrm>
            <a:off x="12758056" y="12529401"/>
            <a:ext cx="4344275" cy="60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E8C2A-7CEB-676E-54F8-C2BCFFF6D4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62" t="38692" r="57469" b="18327"/>
          <a:stretch/>
        </p:blipFill>
        <p:spPr>
          <a:xfrm>
            <a:off x="2907323" y="9055404"/>
            <a:ext cx="6003813" cy="4080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5D9D57-D2CF-C80B-67FF-994BBD482A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29" t="34874" r="58102" b="20352"/>
          <a:stretch/>
        </p:blipFill>
        <p:spPr>
          <a:xfrm>
            <a:off x="14275376" y="7954396"/>
            <a:ext cx="7201301" cy="5099027"/>
          </a:xfrm>
          <a:prstGeom prst="rect">
            <a:avLst/>
          </a:prstGeom>
        </p:spPr>
      </p:pic>
      <p:sp>
        <p:nvSpPr>
          <p:cNvPr id="8" name="Arrow: Right 2">
            <a:extLst>
              <a:ext uri="{FF2B5EF4-FFF2-40B4-BE49-F238E27FC236}">
                <a16:creationId xmlns:a16="http://schemas.microsoft.com/office/drawing/2014/main" id="{643DF311-BD38-C4F1-7EB3-A2CD85783744}"/>
              </a:ext>
            </a:extLst>
          </p:cNvPr>
          <p:cNvSpPr/>
          <p:nvPr/>
        </p:nvSpPr>
        <p:spPr>
          <a:xfrm>
            <a:off x="9899591" y="10336496"/>
            <a:ext cx="4584817" cy="1518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Detailed</a:t>
            </a:r>
          </a:p>
        </p:txBody>
      </p:sp>
    </p:spTree>
    <p:extLst>
      <p:ext uri="{BB962C8B-B14F-4D97-AF65-F5344CB8AC3E}">
        <p14:creationId xmlns:p14="http://schemas.microsoft.com/office/powerpoint/2010/main" val="27080127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Human intelligence in various aspects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Thinking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Intelligence is the overall human ability to acquire, build, develop, and manipulate knowledge (i.e. our thinking process) simultaneously. Thinking can be classified as an intellectual process with three main categories: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Logical thinking (from derived knowledge),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Lateral thinking (from inspired knowledge), and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Intuitive thinking (from intuition)</a:t>
            </a:r>
            <a:endParaRPr lang="en-US" sz="4400" dirty="0">
              <a:solidFill>
                <a:schemeClr val="bg2">
                  <a:lumMod val="1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46248-9A6F-8E5E-B707-A626106FE9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130" b="61852" l="9844" r="38021">
                        <a14:foregroundMark x1="16198" y1="60370" x2="28438" y2="60556"/>
                        <a14:foregroundMark x1="38021" y1="61389" x2="35729" y2="60741"/>
                        <a14:foregroundMark x1="9844" y1="61944" x2="13333" y2="59074"/>
                        <a14:foregroundMark x1="24010" y1="32130" x2="24010" y2="36111"/>
                      </a14:backgroundRemoval>
                    </a14:imgEffect>
                  </a14:imgLayer>
                </a14:imgProps>
              </a:ext>
            </a:extLst>
          </a:blip>
          <a:srcRect l="8354" t="29465" r="59874" b="37680"/>
          <a:stretch/>
        </p:blipFill>
        <p:spPr>
          <a:xfrm>
            <a:off x="15415870" y="6858000"/>
            <a:ext cx="6060807" cy="45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Definition of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by the book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The science and engineering of making intelligent machines. ~ </a:t>
            </a:r>
            <a:r>
              <a:rPr lang="en-US" b="1" i="1" dirty="0"/>
              <a:t>McCarthy et al., 1955 (one of the founding fathers of Artificial Intelligence)</a:t>
            </a:r>
          </a:p>
          <a:p>
            <a:r>
              <a:rPr lang="en-US" i="1" dirty="0"/>
              <a:t>The scientific understanding of the mechanisms underlying thought and intelligent behavior and their embodiment in machine ~ </a:t>
            </a:r>
            <a:r>
              <a:rPr lang="en-US" b="1" i="1" dirty="0"/>
              <a:t>American Association for Artificial Intelligence (AAAI)</a:t>
            </a:r>
          </a:p>
          <a:p>
            <a:r>
              <a:rPr lang="en-US" i="1" dirty="0"/>
              <a:t>The capacity of computers or programs to operate in ways to mimic human thought processes, such as reasoning and learning ~ </a:t>
            </a:r>
            <a:r>
              <a:rPr lang="en-US" b="1" i="1" dirty="0"/>
              <a:t>Webster’s New College Dictionary</a:t>
            </a:r>
          </a:p>
          <a:p>
            <a:r>
              <a:rPr lang="en-US" i="1" dirty="0"/>
              <a:t>Artificial Intelligence embodies human-like thinking, actions, and behaviors to create intelligent systems, software agents, and robots. ~ </a:t>
            </a:r>
            <a:r>
              <a:rPr lang="en-US" b="1" i="1" dirty="0"/>
              <a:t>Lee, 2006</a:t>
            </a:r>
          </a:p>
        </p:txBody>
      </p:sp>
    </p:spTree>
    <p:extLst>
      <p:ext uri="{BB962C8B-B14F-4D97-AF65-F5344CB8AC3E}">
        <p14:creationId xmlns:p14="http://schemas.microsoft.com/office/powerpoint/2010/main" val="19219610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Definition of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309300" cy="81863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6600" dirty="0"/>
          </a:p>
          <a:p>
            <a:pPr marL="0" indent="0" algn="ctr">
              <a:buNone/>
            </a:pPr>
            <a:r>
              <a:rPr lang="en-US" sz="6600" dirty="0"/>
              <a:t>Artificial intelligence is technology that enables computers and machines to simulate </a:t>
            </a:r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human intelligence</a:t>
            </a:r>
            <a:r>
              <a:rPr lang="en-US" sz="6600" dirty="0">
                <a:solidFill>
                  <a:schemeClr val="bg2">
                    <a:lumMod val="10000"/>
                  </a:schemeClr>
                </a:solidFill>
              </a:rPr>
              <a:t>, so it can mimic human’s</a:t>
            </a:r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 problem-solving </a:t>
            </a:r>
            <a:r>
              <a:rPr lang="en-US" sz="6600" dirty="0">
                <a:solidFill>
                  <a:schemeClr val="bg2">
                    <a:lumMod val="10000"/>
                  </a:schemeClr>
                </a:solidFill>
              </a:rPr>
              <a:t>and</a:t>
            </a:r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 decision-making </a:t>
            </a:r>
            <a:r>
              <a:rPr lang="en-US" sz="6600" dirty="0">
                <a:solidFill>
                  <a:schemeClr val="bg2">
                    <a:lumMod val="10000"/>
                  </a:schemeClr>
                </a:solidFill>
              </a:rPr>
              <a:t>skills.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41066421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9ACD-2D47-1E39-46E9-C1FE7EE0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110" y="2537460"/>
            <a:ext cx="21099780" cy="10515600"/>
          </a:xfrm>
        </p:spPr>
        <p:txBody>
          <a:bodyPr>
            <a:normAutofit/>
          </a:bodyPr>
          <a:lstStyle/>
          <a:p>
            <a:r>
              <a:rPr lang="en-US" sz="8800" cap="non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"Artificial Intelligence, deep learning, machine learning — whatever you're doing if you don't understand it — learn it. Because otherwise you're going to be a dinosaur within 3 years.”</a:t>
            </a:r>
            <a:br>
              <a:rPr lang="en-US" sz="8800" cap="none" dirty="0"/>
            </a:br>
            <a:br>
              <a:rPr lang="en-US" sz="8800" cap="none" dirty="0"/>
            </a:br>
            <a:r>
              <a:rPr lang="en-US" sz="6000" cap="small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Mark Cuban, 2017</a:t>
            </a:r>
            <a:endParaRPr lang="en-US" sz="8800" cap="small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9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Fundamental of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graphicFrame>
        <p:nvGraphicFramePr>
          <p:cNvPr id="5" name="Google Shape;143;p7">
            <a:extLst>
              <a:ext uri="{FF2B5EF4-FFF2-40B4-BE49-F238E27FC236}">
                <a16:creationId xmlns:a16="http://schemas.microsoft.com/office/drawing/2014/main" id="{9C3DCF1E-5DC1-D1C2-2E48-3F7AA9AE7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8111121"/>
              </p:ext>
            </p:extLst>
          </p:nvPr>
        </p:nvGraphicFramePr>
        <p:xfrm>
          <a:off x="1919287" y="3528408"/>
          <a:ext cx="20545426" cy="81024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1501765810"/>
                    </a:ext>
                  </a:extLst>
                </a:gridCol>
                <a:gridCol w="982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0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1818">
                <a:tc>
                  <a:txBody>
                    <a:bodyPr/>
                    <a:lstStyle/>
                    <a:p>
                      <a:pPr algn="just"/>
                      <a:endParaRPr lang="en-US" sz="3200" dirty="0"/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0070C0"/>
                          </a:solidFill>
                        </a:rPr>
                        <a:t>Humanly</a:t>
                      </a:r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0070C0"/>
                          </a:solidFill>
                        </a:rPr>
                        <a:t>Rationally</a:t>
                      </a:r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4731271"/>
                  </a:ext>
                </a:extLst>
              </a:tr>
              <a:tr h="380590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0070C0"/>
                          </a:solidFill>
                        </a:rPr>
                        <a:t>Thinking</a:t>
                      </a:r>
                    </a:p>
                  </a:txBody>
                  <a:tcPr marL="91450" marR="91450" marT="45725" marB="45725" vert="vert27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Thinking Humanly</a:t>
                      </a:r>
                    </a:p>
                    <a:p>
                      <a:pPr algn="just"/>
                      <a:r>
                        <a:rPr lang="en-US" sz="32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Cognitive modeling. </a:t>
                      </a:r>
                    </a:p>
                    <a:p>
                      <a:pPr algn="just"/>
                      <a:r>
                        <a:rPr lang="en-US" sz="32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System should solve problems the same way human do</a:t>
                      </a:r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Thinking Rationally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The use of logic.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Need to worry about the modelling uncertainty and dealing with complexity</a:t>
                      </a:r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46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0070C0"/>
                          </a:solidFill>
                        </a:rPr>
                        <a:t>Acting</a:t>
                      </a:r>
                    </a:p>
                  </a:txBody>
                  <a:tcPr marL="91450" marR="91450" marT="45725" marB="45725" vert="vert27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Acting Humanly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Turing Test approach</a:t>
                      </a:r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3399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Acting Rationally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The study of rational agents: Agent that maximize the expected value of their performance measure given what they currently know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 dirty="0"/>
                    </a:p>
                  </a:txBody>
                  <a:tcPr marL="91450" marR="91450" marT="45725" marB="457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94007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Fundamental aspects of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 of AI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9058801"/>
          </a:xfrm>
        </p:spPr>
        <p:txBody>
          <a:bodyPr>
            <a:normAutofit/>
          </a:bodyPr>
          <a:lstStyle/>
          <a:p>
            <a:r>
              <a:rPr lang="en-US" b="1" dirty="0"/>
              <a:t>Searching: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Searching refers to the technique of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exploring possible options or paths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to find a solution or reach a specific goal. </a:t>
            </a:r>
            <a:endParaRPr lang="en-US" b="1" dirty="0"/>
          </a:p>
          <a:p>
            <a:r>
              <a:rPr lang="en-US" b="1" dirty="0"/>
              <a:t>Reasoning: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Reasoning in AI refers to the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process of solving problems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through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logical deduction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. It involves making decisions based on available information, rules, and algorithms.</a:t>
            </a:r>
            <a:endParaRPr lang="en-US" b="1" dirty="0"/>
          </a:p>
          <a:p>
            <a:r>
              <a:rPr lang="en-US" b="1" dirty="0"/>
              <a:t>Planning: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Planning in AI is about deciding the sequence of actions that should be performed to achieve a specific goal. It involves generating and analyzing a plan or strategy.</a:t>
            </a:r>
            <a:endParaRPr lang="en-US" b="1" dirty="0"/>
          </a:p>
          <a:p>
            <a:r>
              <a:rPr lang="en-US" b="1" dirty="0"/>
              <a:t>Learning: 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Learning in AI involves the modification of algorithms and models to improve their performance over time. The system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learns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 from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data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experience</a:t>
            </a:r>
            <a:r>
              <a:rPr lang="en-US" sz="4400" dirty="0">
                <a:solidFill>
                  <a:schemeClr val="tx1"/>
                </a:solidFill>
                <a:latin typeface="+mj-lt"/>
              </a:rPr>
              <a:t>.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32975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Timeline of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640563" cy="803546"/>
          </a:xfrm>
        </p:spPr>
        <p:txBody>
          <a:bodyPr/>
          <a:lstStyle/>
          <a:p>
            <a:r>
              <a:rPr lang="en-US" dirty="0"/>
              <a:t>most substantial turning points in the history of AI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FA5021-EF53-DAFA-3D8D-587AFA2C18B3}"/>
              </a:ext>
            </a:extLst>
          </p:cNvPr>
          <p:cNvGrpSpPr/>
          <p:nvPr/>
        </p:nvGrpSpPr>
        <p:grpSpPr>
          <a:xfrm>
            <a:off x="464295" y="4349385"/>
            <a:ext cx="46754729" cy="6972286"/>
            <a:chOff x="464295" y="4349385"/>
            <a:chExt cx="46754729" cy="697228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8B069EDB-3C03-6D1F-6747-84F2B12D50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528" r="4938"/>
            <a:stretch/>
          </p:blipFill>
          <p:spPr bwMode="auto">
            <a:xfrm>
              <a:off x="23009241" y="4349386"/>
              <a:ext cx="24209783" cy="6972285"/>
            </a:xfrm>
            <a:prstGeom prst="rect">
              <a:avLst/>
            </a:prstGeom>
            <a:noFill/>
            <a:ln w="12700"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CA46EE0-6248-6D79-036B-BF51548D3F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4" b="46756"/>
            <a:stretch/>
          </p:blipFill>
          <p:spPr bwMode="auto">
            <a:xfrm>
              <a:off x="464295" y="4349385"/>
              <a:ext cx="23961468" cy="6972285"/>
            </a:xfrm>
            <a:prstGeom prst="rect">
              <a:avLst/>
            </a:prstGeom>
            <a:noFill/>
            <a:ln w="12700"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6763BA-F2C2-5A23-1D2E-10AE38F515DB}"/>
              </a:ext>
            </a:extLst>
          </p:cNvPr>
          <p:cNvSpPr txBox="1"/>
          <p:nvPr/>
        </p:nvSpPr>
        <p:spPr>
          <a:xfrm>
            <a:off x="637839" y="11616784"/>
            <a:ext cx="2361438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AI Timeline</a:t>
            </a:r>
          </a:p>
          <a:p>
            <a:r>
              <a:rPr lang="en-US" i="1" dirty="0">
                <a:solidFill>
                  <a:schemeClr val="bg2">
                    <a:lumMod val="10000"/>
                  </a:schemeClr>
                </a:solidFill>
              </a:rPr>
              <a:t>Source: https://</a:t>
            </a:r>
            <a:r>
              <a:rPr lang="en-US" i="1" dirty="0" err="1">
                <a:solidFill>
                  <a:schemeClr val="bg2">
                    <a:lumMod val="10000"/>
                  </a:schemeClr>
                </a:solidFill>
              </a:rPr>
              <a:t>digitalwellbeing.org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</a:rPr>
              <a:t>/artificial-intelligence-timeline-infographic-from-eliza-to-tay-and-beyond/</a:t>
            </a:r>
          </a:p>
        </p:txBody>
      </p:sp>
    </p:spTree>
    <p:extLst>
      <p:ext uri="{BB962C8B-B14F-4D97-AF65-F5344CB8AC3E}">
        <p14:creationId xmlns:p14="http://schemas.microsoft.com/office/powerpoint/2010/main" val="8677379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2 -0.00139 L -0.95873 -0.00093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The Turing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3072623" cy="8129718"/>
          </a:xfrm>
        </p:spPr>
        <p:txBody>
          <a:bodyPr/>
          <a:lstStyle/>
          <a:p>
            <a:r>
              <a:rPr lang="en-US" dirty="0"/>
              <a:t>A test of a machine’s ability to exhibit intelligent behavior comparable to or indistinguishable from humans, developed in 1950.</a:t>
            </a:r>
          </a:p>
          <a:p>
            <a:r>
              <a:rPr lang="en-US" dirty="0"/>
              <a:t>Truly an important test to demonstrate whether a computer system (or robot) has attained human’s important abilities (thinking and talking).</a:t>
            </a:r>
          </a:p>
          <a:p>
            <a:endParaRPr lang="en-US" dirty="0"/>
          </a:p>
        </p:txBody>
      </p:sp>
      <p:pic>
        <p:nvPicPr>
          <p:cNvPr id="5" name="Picture 2" descr="Alan Turing - Wikipedia">
            <a:extLst>
              <a:ext uri="{FF2B5EF4-FFF2-40B4-BE49-F238E27FC236}">
                <a16:creationId xmlns:a16="http://schemas.microsoft.com/office/drawing/2014/main" id="{B3F5A6A9-561D-9FEB-22CC-3BB74B329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1" y="3714224"/>
            <a:ext cx="5235191" cy="71276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F2DF7A-B07F-B063-B9F0-508CAD782976}"/>
              </a:ext>
            </a:extLst>
          </p:cNvPr>
          <p:cNvSpPr txBox="1"/>
          <p:nvPr/>
        </p:nvSpPr>
        <p:spPr>
          <a:xfrm>
            <a:off x="15240001" y="10841871"/>
            <a:ext cx="52351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Sir Alan Turing (1912–1954)</a:t>
            </a:r>
          </a:p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The Father of Theoretical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4615541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The Turing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test detail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59765" cy="8129718"/>
          </a:xfrm>
        </p:spPr>
        <p:txBody>
          <a:bodyPr/>
          <a:lstStyle/>
          <a:p>
            <a:r>
              <a:rPr lang="en-US" dirty="0"/>
              <a:t>The participants were separately seated in three different rooms and the judge was told that machine (robot) was one of the two participants. </a:t>
            </a:r>
          </a:p>
          <a:p>
            <a:r>
              <a:rPr lang="en-US" dirty="0"/>
              <a:t>They used plain text channels (such as computer keyboards and screens) to communicate usually with fixed time (approximately 15–20 min) to distinguish between the machine and human</a:t>
            </a:r>
          </a:p>
          <a:p>
            <a:r>
              <a:rPr lang="en-US" dirty="0"/>
              <a:t>If the judge was unable to distinguish between the machine and human at the end, the machine (robot) has passed the test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4183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The Turing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test detail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B99C833-58DD-1A23-E6D0-770887B24BB3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9" t="26936" r="5170" b="5241"/>
          <a:stretch/>
        </p:blipFill>
        <p:spPr bwMode="auto">
          <a:xfrm>
            <a:off x="2167377" y="3228256"/>
            <a:ext cx="19074838" cy="96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65239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Strong AI vs Weak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Some scientists believe that AI should focus on system or program design and implementation to imitate or simulate human thinking and behavior, the so-called weak AI. </a:t>
            </a:r>
          </a:p>
          <a:p>
            <a:r>
              <a:rPr lang="en-US" dirty="0"/>
              <a:t>Others believe that AI systems should not only think and act like humans, but also think and act like humans consciously, the so-called strong AI.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 descr="Strong and Weak Artificial Intelligence | What Is Artificial Intelligence?  | InformIT">
            <a:extLst>
              <a:ext uri="{FF2B5EF4-FFF2-40B4-BE49-F238E27FC236}">
                <a16:creationId xmlns:a16="http://schemas.microsoft.com/office/drawing/2014/main" id="{0DAB388A-4046-FF45-B620-15F797E7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7797" y="8121983"/>
            <a:ext cx="7768880" cy="468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94950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Strong AI vs Weak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BE0444-3858-733D-5B93-7BD09E38F85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4130" t="21977" r="5935" b="10465"/>
          <a:stretch/>
        </p:blipFill>
        <p:spPr>
          <a:xfrm>
            <a:off x="2537460" y="3429000"/>
            <a:ext cx="18150841" cy="939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783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F57A-2EC9-0CE7-EFBF-EA74A9D7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EB4F3-EC73-DEE8-D97F-70FE9039A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Search Engine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C6621EB0-EA1D-552B-261E-2D7654C49D1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7" t="8670" r="27753"/>
          <a:stretch/>
        </p:blipFill>
        <p:spPr>
          <a:xfrm>
            <a:off x="2167377" y="3831770"/>
            <a:ext cx="9035143" cy="8599715"/>
          </a:xfrm>
        </p:spPr>
      </p:pic>
      <p:pic>
        <p:nvPicPr>
          <p:cNvPr id="2052" name="Picture 4" descr="Reinventing search with a new AI-powered Microsoft Bing and Edge, your  copilot for the web - The Official Microsoft Blog">
            <a:extLst>
              <a:ext uri="{FF2B5EF4-FFF2-40B4-BE49-F238E27FC236}">
                <a16:creationId xmlns:a16="http://schemas.microsoft.com/office/drawing/2014/main" id="{1C4CD55F-4597-0E5F-A832-2DAA34020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2" r="23302"/>
          <a:stretch/>
        </p:blipFill>
        <p:spPr bwMode="auto">
          <a:xfrm>
            <a:off x="11473543" y="3831769"/>
            <a:ext cx="10635538" cy="859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60206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F57A-2EC9-0CE7-EFBF-EA74A9D7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EB4F3-EC73-DEE8-D97F-70FE9039A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Chatbots</a:t>
            </a:r>
          </a:p>
        </p:txBody>
      </p:sp>
      <p:pic>
        <p:nvPicPr>
          <p:cNvPr id="1026" name="Picture 2" descr="ChatGPT: The AI That Took the World by ...">
            <a:extLst>
              <a:ext uri="{FF2B5EF4-FFF2-40B4-BE49-F238E27FC236}">
                <a16:creationId xmlns:a16="http://schemas.microsoft.com/office/drawing/2014/main" id="{AD72C2FE-A381-3B2C-74ED-3182A6A73EC9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00" y="8067793"/>
            <a:ext cx="6720658" cy="416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Full Jasper AI Review for 2024 ...">
            <a:extLst>
              <a:ext uri="{FF2B5EF4-FFF2-40B4-BE49-F238E27FC236}">
                <a16:creationId xmlns:a16="http://schemas.microsoft.com/office/drawing/2014/main" id="{06EA6DBC-576C-63C3-D5F6-54A900131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085" y="3819935"/>
            <a:ext cx="7113500" cy="374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Bard Tambah Fitur Respons untuk ...">
            <a:extLst>
              <a:ext uri="{FF2B5EF4-FFF2-40B4-BE49-F238E27FC236}">
                <a16:creationId xmlns:a16="http://schemas.microsoft.com/office/drawing/2014/main" id="{F400F3B3-E719-C024-6200-ECFA90276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0161" y="3725655"/>
            <a:ext cx="5689385" cy="383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98976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F57A-2EC9-0CE7-EFBF-EA74A9D7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EB4F3-EC73-DEE8-D97F-70FE9039A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Electronic Traffic Law Enforcement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2305B5D-2DA0-34BA-F0F5-F1494993B714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081" y="3630654"/>
            <a:ext cx="15588342" cy="872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55653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F57A-2EC9-0CE7-EFBF-EA74A9D7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EB4F3-EC73-DEE8-D97F-70FE9039A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 Aggregator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FB1DC2-C13F-AD19-F871-69FB88D00B3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257314" y="3260663"/>
            <a:ext cx="17357875" cy="90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4874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Chinese Room Thought Experiment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Philosopher Prof. John Searle argue that a digital computer was unable to manifest a mind , lacked understanding or consciousness at program performance, regardless of how intelligent or human-like the program behaves. </a:t>
            </a:r>
          </a:p>
          <a:p>
            <a:r>
              <a:rPr lang="en-US" dirty="0"/>
              <a:t>The rule-of-game was based on the Turing Test, this time it used the Chinese language—with Chinese characters. </a:t>
            </a:r>
          </a:p>
          <a:p>
            <a:r>
              <a:rPr lang="en-US" dirty="0"/>
              <a:t>The machine is replaced by a comprehensive translation book that could translate any Chinese characters and phrases to English and respond back in Chinese language.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661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Chinese Room Thought Experiment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C5905D2-0B17-B92B-DAB3-E6325F23FC6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316745" y="3260663"/>
            <a:ext cx="15750509" cy="98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2361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can AI do?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7D9AB-3AFA-BAB8-51BE-0DCD2529E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9155956"/>
          </a:xfrm>
        </p:spPr>
        <p:txBody>
          <a:bodyPr>
            <a:normAutofit/>
          </a:bodyPr>
          <a:lstStyle/>
          <a:p>
            <a:r>
              <a:rPr lang="en-ID" dirty="0"/>
              <a:t>Which of the following can be done at present using AI? Try to research them!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Win against any human at chess?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Win against the best humans at Go?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Play a decent game of table tennis?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Unload any dishwasher in any home?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Drive safely along the highway?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Drive safely along streets of San Francisco?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357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can AI do?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7D9AB-3AFA-BAB8-51BE-0DCD2529E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9407416"/>
          </a:xfrm>
        </p:spPr>
        <p:txBody>
          <a:bodyPr>
            <a:normAutofit/>
          </a:bodyPr>
          <a:lstStyle/>
          <a:p>
            <a:r>
              <a:rPr lang="en-ID" dirty="0"/>
              <a:t>Which of the following can be done at present using AI? Try to research them!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Buy a week's worth of groceries on the web?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Discover and prove a new mathematical theorem?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Perform a surgical operation?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Translate spoken Chinese into spoken English in real time?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Win an art competition?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Write an intentionally funny story?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Construct a building?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3491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sz="3200" dirty="0" err="1"/>
              <a:t>Ertel</a:t>
            </a:r>
            <a:r>
              <a:rPr lang="en-US" sz="3200" dirty="0"/>
              <a:t>, W. (2017). Introduction to Artificial Intelligence. Springer International Publishing. https://</a:t>
            </a:r>
            <a:r>
              <a:rPr lang="en-US" sz="3200" dirty="0" err="1"/>
              <a:t>doi.org</a:t>
            </a:r>
            <a:r>
              <a:rPr lang="en-US" sz="3200" dirty="0"/>
              <a:t>/10.1007/978-3-319-58487-4</a:t>
            </a:r>
          </a:p>
          <a:p>
            <a:pPr>
              <a:spcBef>
                <a:spcPts val="600"/>
              </a:spcBef>
            </a:pPr>
            <a:r>
              <a:rPr lang="en-US" sz="3200" dirty="0" err="1"/>
              <a:t>Frankenfield</a:t>
            </a:r>
            <a:r>
              <a:rPr lang="en-US" sz="3200" dirty="0"/>
              <a:t>, J. (2023, July 31). The Turing Test: What Is It, What Can Pass It, and Limitations. Investopedia. https://</a:t>
            </a:r>
            <a:r>
              <a:rPr lang="en-US" sz="3200" dirty="0" err="1"/>
              <a:t>www.investopedia.com</a:t>
            </a:r>
            <a:r>
              <a:rPr lang="en-US" sz="3200" dirty="0"/>
              <a:t>/terms/t/</a:t>
            </a:r>
            <a:r>
              <a:rPr lang="en-US" sz="3200" dirty="0" err="1"/>
              <a:t>turing-test.asp</a:t>
            </a:r>
            <a:endParaRPr lang="en-US" sz="3200" dirty="0"/>
          </a:p>
          <a:p>
            <a:pPr>
              <a:spcBef>
                <a:spcPts val="600"/>
              </a:spcBef>
            </a:pPr>
            <a:r>
              <a:rPr lang="en-US" sz="3200" dirty="0"/>
              <a:t>Klein, D., &amp; </a:t>
            </a:r>
            <a:r>
              <a:rPr lang="en-US" sz="3200" dirty="0" err="1"/>
              <a:t>Abbeel</a:t>
            </a:r>
            <a:r>
              <a:rPr lang="en-US" sz="3200" dirty="0"/>
              <a:t>, P. (n.d.). CS 188: Artificial Intelligence: Introduction. CS 188 Fall 2022. Retrieved October 15, 2023, from https://</a:t>
            </a:r>
            <a:r>
              <a:rPr lang="en-US" sz="3200" dirty="0" err="1"/>
              <a:t>inst.eecs.berkeley.edu</a:t>
            </a:r>
            <a:r>
              <a:rPr lang="en-US" sz="3200" dirty="0"/>
              <a:t>/~cs188/fa22/assets/lectures/cs188-fa22-lec00.pdf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Manning, C. (2020, September). Artificial Intelligence Definitions. Stanford University, Human-Centered Artificial Intelligence. https://</a:t>
            </a:r>
            <a:r>
              <a:rPr lang="en-US" sz="3200" dirty="0" err="1"/>
              <a:t>hai.stanford.edu</a:t>
            </a:r>
            <a:r>
              <a:rPr lang="en-US" sz="3200" dirty="0"/>
              <a:t>/sites/default/files/2020-09/AI-Definitions-</a:t>
            </a:r>
            <a:r>
              <a:rPr lang="en-US" sz="3200" dirty="0" err="1"/>
              <a:t>HAI.pdf</a:t>
            </a:r>
            <a:endParaRPr lang="en-US" sz="3200" dirty="0"/>
          </a:p>
          <a:p>
            <a:pPr>
              <a:spcBef>
                <a:spcPts val="600"/>
              </a:spcBef>
            </a:pPr>
            <a:r>
              <a:rPr lang="en-US" sz="3200" dirty="0"/>
              <a:t>Poole, D. L., &amp; Mackworth, A. K. (2017). Artificial Intelligence: Foundations of Computational Agents (2nd ed.). Cambridge University Press. </a:t>
            </a:r>
            <a:r>
              <a:rPr lang="en-US" sz="3200" dirty="0">
                <a:hlinkClick r:id="rId2"/>
              </a:rPr>
              <a:t>https://doi.org/10.1017/9781108164085</a:t>
            </a:r>
            <a:endParaRPr lang="en-US" sz="3200" dirty="0"/>
          </a:p>
          <a:p>
            <a:pPr>
              <a:spcBef>
                <a:spcPts val="600"/>
              </a:spcBef>
            </a:pPr>
            <a:r>
              <a:rPr lang="en-US" sz="3200" dirty="0"/>
              <a:t>Russell, S. J., Norvig, P., Chang, M., Devlin, J., Dragan, A., Forsyth, D., Goodfellow, I., Malik, J., </a:t>
            </a:r>
            <a:r>
              <a:rPr lang="en-US" sz="3200" dirty="0" err="1"/>
              <a:t>Mansinghka</a:t>
            </a:r>
            <a:r>
              <a:rPr lang="en-US" sz="3200" dirty="0"/>
              <a:t>, V., Pearl, J., &amp; Wooldridge, M. J. (2022). Artificial intelligence: A modern approach (Fourth edition, global edition). Pearson.</a:t>
            </a:r>
          </a:p>
          <a:p>
            <a:pPr>
              <a:spcBef>
                <a:spcPts val="600"/>
              </a:spcBef>
            </a:pPr>
            <a:r>
              <a:rPr lang="en-US" sz="3200" dirty="0" err="1"/>
              <a:t>Sklar</a:t>
            </a:r>
            <a:r>
              <a:rPr lang="en-US" sz="3200" dirty="0"/>
              <a:t>, E. (2010). Introduction to intelligent systems. http://</a:t>
            </a:r>
            <a:r>
              <a:rPr lang="en-US" sz="3200" dirty="0" err="1"/>
              <a:t>www.sci.brooklyn.cuny.edu</a:t>
            </a:r>
            <a:r>
              <a:rPr lang="en-US" sz="3200" dirty="0"/>
              <a:t>/~</a:t>
            </a:r>
            <a:r>
              <a:rPr lang="en-US" sz="3200" dirty="0" err="1"/>
              <a:t>sklar</a:t>
            </a:r>
            <a:r>
              <a:rPr lang="en-US" sz="3200" dirty="0"/>
              <a:t>/teaching/s10/cis20.2/notes/lecIV.1-notes.pdf</a:t>
            </a:r>
          </a:p>
          <a:p>
            <a:pPr>
              <a:spcBef>
                <a:spcPts val="600"/>
              </a:spcBef>
            </a:pPr>
            <a:r>
              <a:rPr lang="en-US" sz="3200" dirty="0" err="1"/>
              <a:t>Toal</a:t>
            </a:r>
            <a:r>
              <a:rPr lang="en-US" sz="3200" dirty="0"/>
              <a:t>, R. (n.d.). Introduction to Artificial Intelligence. Introduction to Artificial Intelligence. Retrieved October 15, 2023, from https://</a:t>
            </a:r>
            <a:r>
              <a:rPr lang="en-US" sz="3200" dirty="0" err="1"/>
              <a:t>cs.lmu.edu</a:t>
            </a:r>
            <a:r>
              <a:rPr lang="en-US" sz="3200" dirty="0"/>
              <a:t>/~ray/notes/</a:t>
            </a:r>
            <a:r>
              <a:rPr lang="en-US" sz="3200" dirty="0" err="1"/>
              <a:t>introai</a:t>
            </a:r>
            <a:r>
              <a:rPr lang="en-US" sz="3200" dirty="0"/>
              <a:t>/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Raymond S. T. Lee. 2020. Artificial Intelligence in Daily Life. Springer. China. ISBN 9789811576959</a:t>
            </a:r>
          </a:p>
          <a:p>
            <a:pPr>
              <a:spcBef>
                <a:spcPts val="600"/>
              </a:spcBef>
            </a:pPr>
            <a:r>
              <a:rPr lang="en-ID" sz="3200" b="0" i="0" dirty="0">
                <a:solidFill>
                  <a:srgbClr val="222222"/>
                </a:solidFill>
                <a:effectLst/>
              </a:rPr>
              <a:t>McCarthy, J., Minsky, M. L., Rochester, N., &amp; Shannon, C. E. (2006). A proposal for the </a:t>
            </a:r>
            <a:r>
              <a:rPr lang="en-ID" sz="3200" b="0" i="0" dirty="0" err="1">
                <a:solidFill>
                  <a:srgbClr val="222222"/>
                </a:solidFill>
                <a:effectLst/>
              </a:rPr>
              <a:t>dartmouth</a:t>
            </a:r>
            <a:r>
              <a:rPr lang="en-ID" sz="3200" b="0" i="0" dirty="0">
                <a:solidFill>
                  <a:srgbClr val="222222"/>
                </a:solidFill>
                <a:effectLst/>
              </a:rPr>
              <a:t> summer research project on artificial intelligence, august 31, 1955. </a:t>
            </a:r>
            <a:r>
              <a:rPr lang="en-ID" sz="3200" b="0" i="1" dirty="0">
                <a:solidFill>
                  <a:srgbClr val="222222"/>
                </a:solidFill>
                <a:effectLst/>
              </a:rPr>
              <a:t>AI magazine</a:t>
            </a:r>
            <a:r>
              <a:rPr lang="en-ID" sz="3200" b="0" i="0" dirty="0">
                <a:solidFill>
                  <a:srgbClr val="222222"/>
                </a:solidFill>
                <a:effectLst/>
              </a:rPr>
              <a:t>, </a:t>
            </a:r>
            <a:r>
              <a:rPr lang="en-ID" sz="3200" b="0" i="1" dirty="0">
                <a:solidFill>
                  <a:srgbClr val="222222"/>
                </a:solidFill>
                <a:effectLst/>
              </a:rPr>
              <a:t>27</a:t>
            </a:r>
            <a:r>
              <a:rPr lang="en-ID" sz="3200" b="0" i="0" dirty="0">
                <a:solidFill>
                  <a:srgbClr val="222222"/>
                </a:solidFill>
                <a:effectLst/>
              </a:rPr>
              <a:t>(4), 12-12.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hlinkClick r:id="rId3"/>
              </a:rPr>
              <a:t>https://www.visuallanguagelab.com/chinese-room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242</TotalTime>
  <Words>1959</Words>
  <Application>Microsoft Office PowerPoint</Application>
  <PresentationFormat>Custom</PresentationFormat>
  <Paragraphs>183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Cambria Math</vt:lpstr>
      <vt:lpstr>Open Sans ExtraBold</vt:lpstr>
      <vt:lpstr>Open Sans</vt:lpstr>
      <vt:lpstr>Arial</vt:lpstr>
      <vt:lpstr>OCRB</vt:lpstr>
      <vt:lpstr>Open Sans Light</vt:lpstr>
      <vt:lpstr>Arial</vt:lpstr>
      <vt:lpstr>Open Sans Semibold</vt:lpstr>
      <vt:lpstr>Wingdings</vt:lpstr>
      <vt:lpstr>21_BasicWhite</vt:lpstr>
      <vt:lpstr>Introduction to artificial intelligence</vt:lpstr>
      <vt:lpstr>Learning Outcomes</vt:lpstr>
      <vt:lpstr>outline</vt:lpstr>
      <vt:lpstr>Human intelligence in various aspects </vt:lpstr>
      <vt:lpstr>Human intelligence in various aspects </vt:lpstr>
      <vt:lpstr>Human intelligence in various aspects </vt:lpstr>
      <vt:lpstr>Human intelligence in various aspects </vt:lpstr>
      <vt:lpstr>Human intelligence in various aspects </vt:lpstr>
      <vt:lpstr>Human intelligence in various aspects </vt:lpstr>
      <vt:lpstr>Human intelligence in various aspects </vt:lpstr>
      <vt:lpstr>Definition of Artificial Intelligence </vt:lpstr>
      <vt:lpstr>Definition of Artificial Intelligence </vt:lpstr>
      <vt:lpstr>"Artificial Intelligence, deep learning, machine learning — whatever you're doing if you don't understand it — learn it. Because otherwise you're going to be a dinosaur within 3 years.”  Mark Cuban, 2017</vt:lpstr>
      <vt:lpstr>Fundamental of Artificial Intelligence </vt:lpstr>
      <vt:lpstr>Fundamental aspects of Artificial Intelligence </vt:lpstr>
      <vt:lpstr>Timeline of Artificial Intelligence </vt:lpstr>
      <vt:lpstr>The Turing test</vt:lpstr>
      <vt:lpstr>The Turing test</vt:lpstr>
      <vt:lpstr>The Turing test</vt:lpstr>
      <vt:lpstr>Strong AI vs Weak AI</vt:lpstr>
      <vt:lpstr>Strong AI vs Weak AI</vt:lpstr>
      <vt:lpstr>AI Application</vt:lpstr>
      <vt:lpstr>AI Application</vt:lpstr>
      <vt:lpstr>AI Application</vt:lpstr>
      <vt:lpstr>AI Application</vt:lpstr>
      <vt:lpstr>Case study</vt:lpstr>
      <vt:lpstr>Case study</vt:lpstr>
      <vt:lpstr>Case study</vt:lpstr>
      <vt:lpstr>Case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28</cp:revision>
  <dcterms:created xsi:type="dcterms:W3CDTF">2023-11-17T02:51:40Z</dcterms:created>
  <dcterms:modified xsi:type="dcterms:W3CDTF">2024-12-26T16:04:58Z</dcterms:modified>
</cp:coreProperties>
</file>