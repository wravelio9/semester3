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8"/>
  </p:notesMasterIdLst>
  <p:sldIdLst>
    <p:sldId id="290" r:id="rId2"/>
    <p:sldId id="257" r:id="rId3"/>
    <p:sldId id="258" r:id="rId4"/>
    <p:sldId id="310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43" r:id="rId24"/>
    <p:sldId id="349" r:id="rId25"/>
    <p:sldId id="353" r:id="rId26"/>
    <p:sldId id="352" r:id="rId27"/>
    <p:sldId id="351" r:id="rId28"/>
    <p:sldId id="350" r:id="rId29"/>
    <p:sldId id="354" r:id="rId30"/>
    <p:sldId id="355" r:id="rId31"/>
    <p:sldId id="356" r:id="rId32"/>
    <p:sldId id="357" r:id="rId33"/>
    <p:sldId id="358" r:id="rId34"/>
    <p:sldId id="359" r:id="rId35"/>
    <p:sldId id="368" r:id="rId36"/>
    <p:sldId id="360" r:id="rId37"/>
    <p:sldId id="369" r:id="rId38"/>
    <p:sldId id="367" r:id="rId39"/>
    <p:sldId id="361" r:id="rId40"/>
    <p:sldId id="362" r:id="rId41"/>
    <p:sldId id="363" r:id="rId42"/>
    <p:sldId id="364" r:id="rId43"/>
    <p:sldId id="365" r:id="rId44"/>
    <p:sldId id="313" r:id="rId45"/>
    <p:sldId id="366" r:id="rId46"/>
    <p:sldId id="278" r:id="rId47"/>
  </p:sldIdLst>
  <p:sldSz cx="24384000" cy="13716000"/>
  <p:notesSz cx="6858000" cy="9144000"/>
  <p:embeddedFontLst>
    <p:embeddedFont>
      <p:font typeface="Cambria Math" panose="02040503050406030204" pitchFamily="18" charset="0"/>
      <p:regular r:id="rId49"/>
    </p:embeddedFont>
    <p:embeddedFont>
      <p:font typeface="OCRB" panose="020B0609020202020204" pitchFamily="49" charset="0"/>
      <p:regular r:id="rId50"/>
    </p:embeddedFont>
    <p:embeddedFont>
      <p:font typeface="Open Sans" panose="020B0606030504020204" pitchFamily="34" charset="0"/>
      <p:regular r:id="rId51"/>
      <p:bold r:id="rId52"/>
      <p:italic r:id="rId53"/>
      <p:boldItalic r:id="rId54"/>
    </p:embeddedFont>
    <p:embeddedFont>
      <p:font typeface="Open Sans ExtraBold" panose="020B0906030804020204" pitchFamily="34" charset="0"/>
      <p:bold r:id="rId55"/>
      <p:italic r:id="rId56"/>
      <p:boldItalic r:id="rId57"/>
    </p:embeddedFont>
    <p:embeddedFont>
      <p:font typeface="Open Sans Light" panose="020B0306030504020204" pitchFamily="34" charset="0"/>
      <p:regular r:id="rId58"/>
      <p:italic r:id="rId59"/>
    </p:embeddedFont>
    <p:embeddedFont>
      <p:font typeface="Open Sans Semibold" panose="020B0706030804020204" pitchFamily="34" charset="0"/>
      <p:regular r:id="rId60"/>
      <p:bold r:id="rId61"/>
      <p:italic r:id="rId62"/>
      <p:boldItalic r:id="rId63"/>
    </p:embeddedFont>
    <p:embeddedFont>
      <p:font typeface="Tahoma" panose="020B0604030504040204" pitchFamily="34" charset="0"/>
      <p:regular r:id="rId64"/>
      <p:bold r:id="rId6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B5FF"/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38" autoAdjust="0"/>
    <p:restoredTop sz="91003"/>
  </p:normalViewPr>
  <p:slideViewPr>
    <p:cSldViewPr snapToGrid="0" snapToObjects="1">
      <p:cViewPr varScale="1">
        <p:scale>
          <a:sx n="31" d="100"/>
          <a:sy n="31" d="100"/>
        </p:scale>
        <p:origin x="1050" y="102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5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3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64" Type="http://schemas.openxmlformats.org/officeDocument/2006/relationships/font" Target="fonts/font16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font" Target="fonts/font12.fntdata"/><Relationship Id="rId65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2.fntdata"/><Relationship Id="rId55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4150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7CE4-1DA6-E7F6-FC45-7370B1E75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111BE-BE1E-6446-40C0-35DF5E497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A4BCB-C534-F4DA-A674-22AE76407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205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11.sv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9.svg"/><Relationship Id="rId7" Type="http://schemas.openxmlformats.org/officeDocument/2006/relationships/image" Target="../media/image5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8583279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23987A6D-AD04-0FF1-0C66-3D62A8BBD97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14224"/>
            <a:ext cx="19309300" cy="8129718"/>
          </a:xfrm>
        </p:spPr>
        <p:txBody>
          <a:bodyPr>
            <a:normAutofit/>
          </a:bodyPr>
          <a:lstStyle>
            <a:lvl1pPr marL="742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1pPr>
            <a:lvl2pPr marL="149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2pPr>
            <a:lvl3pPr marL="2254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3pPr>
            <a:lvl4pPr marL="3010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4pPr>
            <a:lvl5pPr marL="3658950" indent="-742950">
              <a:lnSpc>
                <a:spcPct val="100000"/>
              </a:lnSpc>
              <a:spcBef>
                <a:spcPts val="3500"/>
              </a:spcBef>
              <a:buSzPct val="100000"/>
              <a:buFont typeface="Arial" panose="020B0604020202020204" pitchFamily="34" charset="0"/>
              <a:buChar char="•"/>
              <a:tabLst/>
              <a:defRPr kumimoji="0" lang="en-US" sz="44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"/>
              </a:defRPr>
            </a:lvl5pPr>
            <a:lvl7pPr marL="3657600" indent="0">
              <a:buNone/>
              <a:defRPr/>
            </a:lvl7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08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43550" y="11538583"/>
            <a:ext cx="5286583" cy="745888"/>
          </a:xfrm>
        </p:spPr>
        <p:txBody>
          <a:bodyPr/>
          <a:lstStyle/>
          <a:p>
            <a:r>
              <a:rPr lang="en-US" dirty="0"/>
              <a:t>Henry Lucky,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5779256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Learning Outcomes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At the end of this session, students will be able to:</a:t>
            </a:r>
          </a:p>
          <a:p>
            <a:r>
              <a:rPr lang="en-ID" dirty="0"/>
              <a:t>LO 3: Apply various knowledge representations for reasoning purpose</a:t>
            </a:r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ID" dirty="0"/>
              <a:t>Session 8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ID" dirty="0"/>
              <a:t>First Order Logic</a:t>
            </a:r>
          </a:p>
          <a:p>
            <a:r>
              <a:rPr lang="en-ID" dirty="0"/>
              <a:t>Syntax and semantic</a:t>
            </a:r>
          </a:p>
          <a:p>
            <a:r>
              <a:rPr lang="en-ID" dirty="0"/>
              <a:t>Inference First Order Logic</a:t>
            </a:r>
          </a:p>
          <a:p>
            <a:r>
              <a:rPr lang="en-ID" dirty="0"/>
              <a:t>Conversion to CNF</a:t>
            </a:r>
          </a:p>
          <a:p>
            <a:endParaRPr lang="en-ID" dirty="0"/>
          </a:p>
          <a:p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894624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</a:t>
            </a:r>
            <a:r>
              <a:rPr lang="en-US" dirty="0"/>
              <a:t>: Propositional logic is declarative: pieces of syntax correspond to facts </a:t>
            </a:r>
          </a:p>
          <a:p>
            <a:r>
              <a:rPr lang="en-US" b="1" dirty="0"/>
              <a:t>PRO</a:t>
            </a:r>
            <a:r>
              <a:rPr lang="en-US" dirty="0"/>
              <a:t>: Propositional logic allows partial/disjunctive/negated information (unlike most data structures and databases) </a:t>
            </a:r>
          </a:p>
          <a:p>
            <a:r>
              <a:rPr lang="en-US" b="1" dirty="0"/>
              <a:t>PRO</a:t>
            </a:r>
            <a:r>
              <a:rPr lang="en-US" dirty="0"/>
              <a:t>: Propositional logic is compositional: meaning of 𝐵_1,1∧ 𝑃_1,2 is derived from meaning of 𝐵_1,1 and of 𝑃_1,2 </a:t>
            </a:r>
          </a:p>
          <a:p>
            <a:r>
              <a:rPr lang="en-US" b="1" dirty="0"/>
              <a:t>PRO</a:t>
            </a:r>
            <a:r>
              <a:rPr lang="en-US" dirty="0"/>
              <a:t>: Meaning in propositional logic is context-independent (unlike natural language, where meaning depends on context)  </a:t>
            </a:r>
          </a:p>
          <a:p>
            <a:r>
              <a:rPr lang="en-US" b="1" dirty="0"/>
              <a:t>CON</a:t>
            </a:r>
            <a:r>
              <a:rPr lang="en-US" dirty="0"/>
              <a:t>: Propositional logic has very limited expressive power (unlike natural language) E.g., cannot say “pits cause breezes in adjacent squares” except by writing one sentence for each square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23647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Higher-order logic: relations and functions operate not only on objects, but also on relations and functions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Gambar 6">
            <a:extLst>
              <a:ext uri="{FF2B5EF4-FFF2-40B4-BE49-F238E27FC236}">
                <a16:creationId xmlns:a16="http://schemas.microsoft.com/office/drawing/2014/main" id="{2965884D-7425-C0DB-BF4D-6EEDD5153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24" y="4920184"/>
            <a:ext cx="19576855" cy="526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52415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predicates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29561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 traditional grammar, a predicate is one of the two main parts of a sentence the other being the subject, which the predicate modifies.</a:t>
            </a:r>
          </a:p>
          <a:p>
            <a:pPr lvl="1"/>
            <a:r>
              <a:rPr lang="en-US" dirty="0" err="1"/>
              <a:t>E.g</a:t>
            </a:r>
            <a:r>
              <a:rPr lang="en-US" dirty="0"/>
              <a:t>: "John is yellow" John acts as the subject, and is yellow acts as the predicate.</a:t>
            </a:r>
          </a:p>
          <a:p>
            <a:pPr lvl="1"/>
            <a:r>
              <a:rPr lang="en-US" dirty="0"/>
              <a:t>The predicate is much like a verb phrase. </a:t>
            </a:r>
          </a:p>
          <a:p>
            <a:pPr lvl="1"/>
            <a:r>
              <a:rPr lang="en-US" dirty="0"/>
              <a:t>In linguistic semantics a predicate is an expression that can be true of something</a:t>
            </a:r>
          </a:p>
          <a:p>
            <a:r>
              <a:rPr lang="en-US" dirty="0"/>
              <a:t>First Order Logic:</a:t>
            </a:r>
          </a:p>
          <a:p>
            <a:pPr lvl="1"/>
            <a:r>
              <a:rPr lang="en-US" dirty="0"/>
              <a:t>Contain predicates, quantifiers, and variables:</a:t>
            </a:r>
          </a:p>
          <a:p>
            <a:pPr lvl="2"/>
            <a:r>
              <a:rPr lang="en-US" dirty="0"/>
              <a:t>E.g. Philosopher (a)  Scholar(a)</a:t>
            </a:r>
          </a:p>
          <a:p>
            <a:pPr lvl="1"/>
            <a:r>
              <a:rPr lang="en-US" dirty="0"/>
              <a:t>Variable range over individual (domain of discourse)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22483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Basic elements</a:t>
            </a:r>
          </a:p>
        </p:txBody>
      </p:sp>
      <p:pic>
        <p:nvPicPr>
          <p:cNvPr id="5" name="Gambar 6">
            <a:extLst>
              <a:ext uri="{FF2B5EF4-FFF2-40B4-BE49-F238E27FC236}">
                <a16:creationId xmlns:a16="http://schemas.microsoft.com/office/drawing/2014/main" id="{D10385CE-1516-77CD-6E31-EF8335C04A1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167377" y="3260663"/>
            <a:ext cx="16341680" cy="920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0213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Standard logic symbols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4C624-26AB-915F-8957-A1D867241F9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b="1" i="1" dirty="0">
                <a:cs typeface="Tahoma" pitchFamily="34" charset="0"/>
                <a:sym typeface="Symbol"/>
              </a:rPr>
              <a:t> </a:t>
            </a:r>
            <a:r>
              <a:rPr lang="en-US" sz="4400" i="1" dirty="0">
                <a:cs typeface="Tahoma" pitchFamily="34" charset="0"/>
                <a:sym typeface="Symbol"/>
              </a:rPr>
              <a:t>= </a:t>
            </a:r>
            <a:r>
              <a:rPr lang="en-US" sz="4400" i="1" dirty="0">
                <a:cs typeface="Tahoma" pitchFamily="34" charset="0"/>
              </a:rPr>
              <a:t>For all ; [</a:t>
            </a:r>
            <a:r>
              <a:rPr lang="id-ID" sz="4400" i="1" dirty="0" err="1">
                <a:cs typeface="Tahoma" pitchFamily="34" charset="0"/>
              </a:rPr>
              <a:t>e.g</a:t>
            </a:r>
            <a:r>
              <a:rPr lang="en-US" sz="4400" i="1" dirty="0">
                <a:cs typeface="Tahoma" pitchFamily="34" charset="0"/>
              </a:rPr>
              <a:t> :  every one, every body, any time, </a:t>
            </a:r>
            <a:r>
              <a:rPr lang="en-US" sz="4400" i="1" dirty="0" err="1">
                <a:cs typeface="Tahoma" pitchFamily="34" charset="0"/>
              </a:rPr>
              <a:t>etc</a:t>
            </a:r>
            <a:r>
              <a:rPr lang="en-US" sz="4400" i="1" dirty="0">
                <a:cs typeface="Tahoma" pitchFamily="34" charset="0"/>
              </a:rPr>
              <a:t>] </a:t>
            </a:r>
            <a:endParaRPr lang="en-US" sz="4400" dirty="0">
              <a:cs typeface="Tahoma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b="1" i="1" dirty="0">
                <a:cs typeface="Tahoma" pitchFamily="34" charset="0"/>
                <a:sym typeface="Symbol"/>
              </a:rPr>
              <a:t> </a:t>
            </a:r>
            <a:r>
              <a:rPr lang="en-US" sz="4400" i="1" dirty="0">
                <a:cs typeface="Tahoma" pitchFamily="34" charset="0"/>
                <a:sym typeface="Symbol"/>
              </a:rPr>
              <a:t> = </a:t>
            </a:r>
            <a:r>
              <a:rPr lang="en-US" sz="4400" i="1" dirty="0">
                <a:cs typeface="Tahoma" pitchFamily="34" charset="0"/>
              </a:rPr>
              <a:t>There exists ;  [</a:t>
            </a:r>
            <a:r>
              <a:rPr lang="id-ID" sz="4400" i="1" dirty="0" err="1">
                <a:cs typeface="Tahoma" pitchFamily="34" charset="0"/>
              </a:rPr>
              <a:t>e.g</a:t>
            </a:r>
            <a:r>
              <a:rPr lang="en-US" sz="4400" i="1" dirty="0">
                <a:cs typeface="Tahoma" pitchFamily="34" charset="0"/>
              </a:rPr>
              <a:t> : some one, some time, </a:t>
            </a:r>
            <a:r>
              <a:rPr lang="en-US" sz="4400" i="1" dirty="0" err="1">
                <a:cs typeface="Tahoma" pitchFamily="34" charset="0"/>
              </a:rPr>
              <a:t>etc</a:t>
            </a:r>
            <a:r>
              <a:rPr lang="en-US" sz="4400" i="1" dirty="0">
                <a:cs typeface="Tahoma" pitchFamily="34" charset="0"/>
              </a:rPr>
              <a:t>] 	  </a:t>
            </a:r>
            <a:endParaRPr lang="en-US" sz="4400" dirty="0">
              <a:cs typeface="Tahoma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b="1" i="1" dirty="0">
                <a:cs typeface="Tahoma" pitchFamily="34" charset="0"/>
                <a:sym typeface="Symbol"/>
              </a:rPr>
              <a:t></a:t>
            </a:r>
            <a:r>
              <a:rPr lang="en-US" sz="4400" i="1" dirty="0">
                <a:cs typeface="Tahoma" pitchFamily="34" charset="0"/>
                <a:sym typeface="Symbol"/>
              </a:rPr>
              <a:t>  = </a:t>
            </a:r>
            <a:r>
              <a:rPr lang="en-US" sz="4400" i="1" dirty="0">
                <a:cs typeface="Tahoma" pitchFamily="34" charset="0"/>
              </a:rPr>
              <a:t>Implication  ; [ if  … then ….]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b="1" i="1" dirty="0">
                <a:cs typeface="Tahoma" pitchFamily="34" charset="0"/>
                <a:sym typeface="Symbol"/>
              </a:rPr>
              <a:t> </a:t>
            </a:r>
            <a:r>
              <a:rPr lang="en-US" sz="4400" i="1" dirty="0">
                <a:cs typeface="Tahoma" pitchFamily="34" charset="0"/>
              </a:rPr>
              <a:t> = Equivalent  ; </a:t>
            </a:r>
            <a:r>
              <a:rPr lang="id-ID" sz="4400" i="1" dirty="0" err="1">
                <a:cs typeface="Tahoma" pitchFamily="34" charset="0"/>
              </a:rPr>
              <a:t>biconditional</a:t>
            </a:r>
            <a:r>
              <a:rPr lang="en-US" sz="4400" i="1" dirty="0">
                <a:cs typeface="Tahoma" pitchFamily="34" charset="0"/>
              </a:rPr>
              <a:t> [if … and … only … if …]  </a:t>
            </a:r>
            <a:endParaRPr lang="en-US" sz="4400" dirty="0">
              <a:cs typeface="Tahoma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b="1" i="1" dirty="0">
                <a:cs typeface="Tahoma" pitchFamily="34" charset="0"/>
                <a:sym typeface="Symbol"/>
              </a:rPr>
              <a:t> </a:t>
            </a:r>
            <a:r>
              <a:rPr lang="en-US" sz="4400" i="1" dirty="0">
                <a:cs typeface="Tahoma" pitchFamily="34" charset="0"/>
                <a:sym typeface="Symbol"/>
              </a:rPr>
              <a:t> = </a:t>
            </a:r>
            <a:r>
              <a:rPr lang="en-US" sz="4400" i="1" dirty="0">
                <a:cs typeface="Tahoma" pitchFamily="34" charset="0"/>
              </a:rPr>
              <a:t>Not  ; negation 	  </a:t>
            </a:r>
            <a:endParaRPr lang="en-US" sz="4400" dirty="0">
              <a:cs typeface="Tahoma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b="1" i="1" dirty="0">
                <a:cs typeface="Tahoma" pitchFamily="34" charset="0"/>
                <a:sym typeface="Symbol"/>
              </a:rPr>
              <a:t> </a:t>
            </a:r>
            <a:r>
              <a:rPr lang="en-US" sz="4400" i="1" dirty="0">
                <a:cs typeface="Tahoma" pitchFamily="34" charset="0"/>
                <a:sym typeface="Symbol"/>
              </a:rPr>
              <a:t> =  </a:t>
            </a:r>
            <a:r>
              <a:rPr lang="en-US" sz="4400" i="1" dirty="0">
                <a:cs typeface="Tahoma" pitchFamily="34" charset="0"/>
              </a:rPr>
              <a:t>OR  ;  disjunction</a:t>
            </a:r>
            <a:endParaRPr lang="en-US" sz="4400" dirty="0">
              <a:cs typeface="Tahoma" pitchFamily="34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en-US" sz="4400" b="1" i="1" dirty="0">
                <a:cs typeface="Tahoma" pitchFamily="34" charset="0"/>
                <a:sym typeface="Symbol"/>
              </a:rPr>
              <a:t> </a:t>
            </a:r>
            <a:r>
              <a:rPr lang="en-US" sz="4400" i="1" dirty="0">
                <a:cs typeface="Tahoma" pitchFamily="34" charset="0"/>
                <a:sym typeface="Symbol"/>
              </a:rPr>
              <a:t> = </a:t>
            </a:r>
            <a:r>
              <a:rPr lang="en-US" sz="4400" i="1" dirty="0">
                <a:cs typeface="Tahoma" pitchFamily="34" charset="0"/>
              </a:rPr>
              <a:t>AND ;  conjunction</a:t>
            </a:r>
            <a:endParaRPr lang="en-US" sz="4400" dirty="0">
              <a:cs typeface="Tahoma" pitchFamily="34" charset="0"/>
            </a:endParaRPr>
          </a:p>
          <a:p>
            <a:pPr algn="just"/>
            <a:endParaRPr lang="en-ID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10540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Atomic sentences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4C624-26AB-915F-8957-A1D867241F9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just"/>
            <a:r>
              <a:rPr lang="en-ID" dirty="0"/>
              <a:t>Atomic sentence = 𝑝𝑟𝑒𝑑𝑖𝑐𝑎𝑡𝑒(𝑡𝑒𝑟𝑚_1, . . . , 𝑡𝑒𝑟𝑚_𝑛) 𝑜𝑟 𝑡𝑒𝑟𝑚_1  = 𝑡𝑒𝑟𝑚_2</a:t>
            </a:r>
          </a:p>
          <a:p>
            <a:pPr algn="just"/>
            <a:r>
              <a:rPr lang="en-ID" dirty="0"/>
              <a:t>Term = 𝑓𝑢𝑛𝑐𝑡𝑖𝑜𝑛(𝑡𝑒𝑟𝑚_1, . . . , 𝑡𝑒𝑟𝑚_𝑛) or constant or variable </a:t>
            </a:r>
          </a:p>
          <a:p>
            <a:pPr lvl="1" algn="just"/>
            <a:r>
              <a:rPr lang="en-ID" dirty="0"/>
              <a:t>𝐵𝑟𝑜𝑡</a:t>
            </a:r>
            <a:r>
              <a:rPr lang="en-ID" dirty="0" err="1"/>
              <a:t>ℎ</a:t>
            </a:r>
            <a:r>
              <a:rPr lang="en-ID" dirty="0"/>
              <a:t>𝑒𝑟(𝐾𝑖𝑛𝑔𝐽𝑜</a:t>
            </a:r>
            <a:r>
              <a:rPr lang="en-ID" dirty="0" err="1"/>
              <a:t>ℎ</a:t>
            </a:r>
            <a:r>
              <a:rPr lang="en-ID" dirty="0"/>
              <a:t>𝑛,𝑅𝑖𝑐</a:t>
            </a:r>
            <a:r>
              <a:rPr lang="en-ID" dirty="0" err="1"/>
              <a:t>ℎ</a:t>
            </a:r>
            <a:r>
              <a:rPr lang="en-ID" dirty="0"/>
              <a:t>𝑎𝑟𝑑𝑇</a:t>
            </a:r>
            <a:r>
              <a:rPr lang="en-ID" dirty="0" err="1"/>
              <a:t>ℎ</a:t>
            </a:r>
            <a:r>
              <a:rPr lang="en-ID" dirty="0"/>
              <a:t>𝑒𝐿𝑖𝑜𝑛</a:t>
            </a:r>
            <a:r>
              <a:rPr lang="en-ID" dirty="0" err="1"/>
              <a:t>ℎ</a:t>
            </a:r>
            <a:r>
              <a:rPr lang="en-ID" dirty="0"/>
              <a:t>𝑒𝑎𝑟𝑡) &gt; (𝐿𝑒𝑛𝑔𝑡</a:t>
            </a:r>
            <a:r>
              <a:rPr lang="en-ID" dirty="0" err="1"/>
              <a:t>ℎ</a:t>
            </a:r>
            <a:r>
              <a:rPr lang="en-ID" dirty="0"/>
              <a:t>(𝐿𝑒𝑓𝑡𝐿𝑒𝑔𝑂𝑓(𝑅𝑖𝑐</a:t>
            </a:r>
            <a:r>
              <a:rPr lang="en-ID" dirty="0" err="1"/>
              <a:t>ℎ</a:t>
            </a:r>
            <a:r>
              <a:rPr lang="en-ID" dirty="0"/>
              <a:t>𝑎𝑟𝑑)), 𝐿𝑒𝑛𝑔𝑡</a:t>
            </a:r>
            <a:r>
              <a:rPr lang="en-ID" dirty="0" err="1"/>
              <a:t>ℎ</a:t>
            </a:r>
            <a:r>
              <a:rPr lang="en-ID" dirty="0"/>
              <a:t>(𝐿𝑒𝑓𝑡𝐿𝑒𝑔𝑂𝑓(𝐾𝑖𝑛𝑔𝐽𝑜</a:t>
            </a:r>
            <a:r>
              <a:rPr lang="en-ID" dirty="0" err="1"/>
              <a:t>ℎ</a:t>
            </a:r>
            <a:r>
              <a:rPr lang="en-ID" dirty="0"/>
              <a:t>𝑛)))</a:t>
            </a:r>
          </a:p>
          <a:p>
            <a:pPr algn="just"/>
            <a:endParaRPr lang="en-ID" sz="4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05850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complex sentences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034C624-26AB-915F-8957-A1D867241F99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/>
              <a:lstStyle/>
              <a:p>
                <a:pPr algn="just"/>
                <a:r>
                  <a:rPr lang="en-US" sz="4400" dirty="0">
                    <a:latin typeface="+mj-lt"/>
                  </a:rPr>
                  <a:t>Complex sentences are made from atomic sentences using connectives </a:t>
                </a:r>
              </a:p>
              <a:p>
                <a:pPr marL="0" indent="0" algn="just">
                  <a:buNone/>
                </a:pPr>
                <a:endParaRPr lang="en-US" sz="4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↔</m:t>
                      </m:r>
                      <m:sSub>
                        <m:sSubPr>
                          <m:ctrlP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4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D" dirty="0"/>
              </a:p>
              <a:p>
                <a:pPr algn="just"/>
                <a:r>
                  <a:rPr lang="en-ID" dirty="0"/>
                  <a:t>For instance:</a:t>
                </a:r>
              </a:p>
              <a:p>
                <a:pPr marL="0" indent="0" algn="just">
                  <a:buNone/>
                </a:pPr>
                <a:endParaRPr lang="en-US" sz="4400" b="1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𝑺𝒊𝒃𝒍𝒊𝒏𝒈</m:t>
                      </m:r>
                      <m:d>
                        <m:dPr>
                          <m:ctrlPr>
                            <a:rPr lang="en-US" sz="4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𝑲𝒊𝒏𝒈𝑱𝒐𝒉𝒏</m:t>
                          </m:r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4400" b="1" i="1" smtClean="0">
                              <a:latin typeface="Cambria Math" panose="02040503050406030204" pitchFamily="18" charset="0"/>
                            </a:rPr>
                            <m:t>𝑹𝒊𝒄𝒉𝒂𝒓𝒅</m:t>
                          </m:r>
                        </m:e>
                      </m:d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𝑺𝒊𝒃𝒍𝒊𝒏𝒈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𝑹𝒊𝒄𝒉𝒂𝒓𝒅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𝑲𝒊𝒏𝒈𝑱𝒐𝒉𝒏</m:t>
                      </m:r>
                      <m:r>
                        <a:rPr lang="en-US" sz="4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400" b="1" dirty="0">
                  <a:latin typeface="+mj-lt"/>
                </a:endParaRPr>
              </a:p>
              <a:p>
                <a:pPr algn="just"/>
                <a:endParaRPr lang="en-ID" dirty="0"/>
              </a:p>
              <a:p>
                <a:pPr algn="just"/>
                <a:endParaRPr lang="en-ID" sz="4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7034C624-26AB-915F-8957-A1D867241F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2"/>
                <a:stretch>
                  <a:fillRect l="-1329" t="-1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47236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Truth in first order logic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4C624-26AB-915F-8957-A1D867241F9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Sentences are true with respect to a model and an interpretation</a:t>
            </a:r>
          </a:p>
          <a:p>
            <a:r>
              <a:rPr lang="en-US" dirty="0"/>
              <a:t>Model contains ≥ 1 objects (domain elements) and relations among them</a:t>
            </a:r>
          </a:p>
          <a:p>
            <a:r>
              <a:rPr lang="en-US" dirty="0"/>
              <a:t>Interpretation specifies referents for</a:t>
            </a:r>
          </a:p>
          <a:p>
            <a:pPr lvl="1"/>
            <a:r>
              <a:rPr lang="en-US" dirty="0"/>
              <a:t>constant symbols → objects</a:t>
            </a:r>
          </a:p>
          <a:p>
            <a:pPr lvl="1"/>
            <a:r>
              <a:rPr lang="en-US" dirty="0"/>
              <a:t>predicate symbols → relations</a:t>
            </a:r>
          </a:p>
          <a:p>
            <a:pPr lvl="1"/>
            <a:r>
              <a:rPr lang="en-US" dirty="0"/>
              <a:t>function symbols → functional relations</a:t>
            </a:r>
          </a:p>
          <a:p>
            <a:r>
              <a:rPr lang="en-US" dirty="0"/>
              <a:t>An atomic sentence predicate(𝑡𝑒𝑟𝑚_1, . . . , 𝑡𝑒𝑟𝑚_𝑛) is true if the objects referred to by (𝑡𝑒𝑟𝑚_1, . . . , 𝑡𝑒𝑟𝑚_𝑛) are in the relation referred to by predicate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9999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Model of first order logic</a:t>
            </a:r>
          </a:p>
        </p:txBody>
      </p:sp>
      <p:pic>
        <p:nvPicPr>
          <p:cNvPr id="4" name="Gambar 6">
            <a:extLst>
              <a:ext uri="{FF2B5EF4-FFF2-40B4-BE49-F238E27FC236}">
                <a16:creationId xmlns:a16="http://schemas.microsoft.com/office/drawing/2014/main" id="{7710783E-0475-4EFE-50C5-F1344FDAFCE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218445" y="3015820"/>
            <a:ext cx="13435613" cy="9370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9585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Universal quantifier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7C4BF-F47F-6C4B-3AC9-A64476AEA71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Sentence: 	All Kings are persons</a:t>
            </a:r>
          </a:p>
          <a:p>
            <a:r>
              <a:rPr lang="en-US" dirty="0"/>
              <a:t>Variable x = {Richard, King John, the crown}</a:t>
            </a:r>
          </a:p>
          <a:p>
            <a:r>
              <a:rPr lang="en-US" dirty="0"/>
              <a:t>FOL:		 </a:t>
            </a:r>
            <a:r>
              <a:rPr lang="en-US" sz="4400" dirty="0">
                <a:cs typeface="Tahoma" pitchFamily="34" charset="0"/>
                <a:sym typeface="Symbol" pitchFamily="18" charset="2"/>
              </a:rPr>
              <a:t></a:t>
            </a:r>
            <a:r>
              <a:rPr lang="en-US" dirty="0"/>
              <a:t>x  King(x) </a:t>
            </a:r>
            <a:r>
              <a:rPr lang="en-US" sz="4400" dirty="0">
                <a:cs typeface="Tahoma" pitchFamily="34" charset="0"/>
                <a:sym typeface="Wingdings" panose="05000000000000000000" pitchFamily="2" charset="2"/>
              </a:rPr>
              <a:t></a:t>
            </a:r>
            <a:r>
              <a:rPr lang="en-US" dirty="0"/>
              <a:t> Person(x)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Richard is a King </a:t>
            </a:r>
            <a:r>
              <a:rPr lang="en-US" dirty="0">
                <a:cs typeface="Tahoma" pitchFamily="34" charset="0"/>
                <a:sym typeface="Wingdings" panose="05000000000000000000" pitchFamily="2" charset="2"/>
              </a:rPr>
              <a:t></a:t>
            </a:r>
            <a:r>
              <a:rPr lang="en-US" dirty="0"/>
              <a:t> Richard is a person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King John is a King </a:t>
            </a:r>
            <a:r>
              <a:rPr lang="en-US" dirty="0">
                <a:cs typeface="Tahoma" pitchFamily="34" charset="0"/>
                <a:sym typeface="Wingdings" panose="05000000000000000000" pitchFamily="2" charset="2"/>
              </a:rPr>
              <a:t></a:t>
            </a:r>
            <a:r>
              <a:rPr lang="en-US" dirty="0"/>
              <a:t> King John is a person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The crown is a King </a:t>
            </a:r>
            <a:r>
              <a:rPr lang="en-US" dirty="0">
                <a:cs typeface="Tahoma" pitchFamily="34" charset="0"/>
                <a:sym typeface="Wingdings" panose="05000000000000000000" pitchFamily="2" charset="2"/>
              </a:rPr>
              <a:t></a:t>
            </a:r>
            <a:r>
              <a:rPr lang="en-US" dirty="0"/>
              <a:t> the crown is a person</a:t>
            </a:r>
          </a:p>
          <a:p>
            <a:r>
              <a:rPr lang="en-US" sz="4400" dirty="0">
                <a:solidFill>
                  <a:srgbClr val="FF0000"/>
                </a:solidFill>
                <a:latin typeface="+mj-lt"/>
                <a:cs typeface="Tahoma" pitchFamily="34" charset="0"/>
              </a:rPr>
              <a:t>Attention! Don’t use </a:t>
            </a:r>
            <a:r>
              <a:rPr lang="en-US" sz="4400" dirty="0">
                <a:solidFill>
                  <a:srgbClr val="FF0000"/>
                </a:solidFill>
                <a:latin typeface="+mj-lt"/>
                <a:cs typeface="Tahoma" pitchFamily="34" charset="0"/>
                <a:sym typeface="Symbol" pitchFamily="18" charset="2"/>
              </a:rPr>
              <a:t> for </a:t>
            </a:r>
            <a:endParaRPr lang="en-US" sz="4400" dirty="0">
              <a:solidFill>
                <a:schemeClr val="tx1"/>
              </a:solidFill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5369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Universal quantifier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D2EC2221-C7CE-230F-D1A2-2A3F590CA76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167377" y="4058386"/>
            <a:ext cx="20351429" cy="544179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6250709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existential quantifier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7C4BF-F47F-6C4B-3AC9-A64476AEA71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Sentence: 	</a:t>
            </a:r>
            <a:r>
              <a:rPr lang="en-US" sz="4400" b="1" dirty="0">
                <a:solidFill>
                  <a:srgbClr val="3399FF"/>
                </a:solidFill>
                <a:latin typeface="+mj-lt"/>
                <a:cs typeface="Tahoma" pitchFamily="34" charset="0"/>
              </a:rPr>
              <a:t> The King John has a crown on his head </a:t>
            </a:r>
          </a:p>
          <a:p>
            <a:r>
              <a:rPr lang="en-US" dirty="0"/>
              <a:t>Variable x = {Richard, King John, the crown}</a:t>
            </a:r>
          </a:p>
          <a:p>
            <a:r>
              <a:rPr lang="en-US" dirty="0"/>
              <a:t>FOL: </a:t>
            </a:r>
            <a:r>
              <a:rPr lang="en-US" sz="4400" dirty="0">
                <a:latin typeface="+mj-lt"/>
                <a:cs typeface="Tahoma" pitchFamily="34" charset="0"/>
                <a:sym typeface="Symbol" pitchFamily="18" charset="2"/>
              </a:rPr>
              <a:t></a:t>
            </a:r>
            <a:r>
              <a:rPr lang="en-US" sz="4400" i="1" dirty="0">
                <a:latin typeface="+mj-lt"/>
                <a:cs typeface="Tahoma" pitchFamily="34" charset="0"/>
                <a:sym typeface="Symbol" pitchFamily="18" charset="2"/>
              </a:rPr>
              <a:t>x  Crown(x) </a:t>
            </a:r>
            <a:r>
              <a:rPr lang="en-US" sz="4400" dirty="0">
                <a:latin typeface="+mj-lt"/>
                <a:cs typeface="Tahoma" pitchFamily="34" charset="0"/>
                <a:sym typeface="Symbol" pitchFamily="18" charset="2"/>
              </a:rPr>
              <a:t> </a:t>
            </a:r>
            <a:r>
              <a:rPr lang="en-US" sz="4400" i="1" dirty="0" err="1">
                <a:latin typeface="+mj-lt"/>
                <a:cs typeface="Tahoma" pitchFamily="34" charset="0"/>
                <a:sym typeface="Symbol" pitchFamily="18" charset="2"/>
              </a:rPr>
              <a:t>OnHead</a:t>
            </a:r>
            <a:r>
              <a:rPr lang="en-US" sz="4400" i="1" dirty="0">
                <a:latin typeface="+mj-lt"/>
                <a:cs typeface="Tahoma" pitchFamily="34" charset="0"/>
                <a:sym typeface="Symbol" pitchFamily="18" charset="2"/>
              </a:rPr>
              <a:t>(x, John)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x is pronounced “There exists an </a:t>
            </a:r>
            <a:r>
              <a:rPr lang="en-US" i="1" dirty="0">
                <a:latin typeface="+mj-lt"/>
                <a:cs typeface="Tahoma" pitchFamily="34" charset="0"/>
                <a:sym typeface="Symbol" pitchFamily="18" charset="2"/>
              </a:rPr>
              <a:t>x</a:t>
            </a:r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 such that …” or “For some </a:t>
            </a:r>
            <a:r>
              <a:rPr lang="en-US" i="1" dirty="0">
                <a:latin typeface="+mj-lt"/>
                <a:cs typeface="Tahoma" pitchFamily="34" charset="0"/>
                <a:sym typeface="Symbol" pitchFamily="18" charset="2"/>
              </a:rPr>
              <a:t>x</a:t>
            </a:r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 …”</a:t>
            </a:r>
          </a:p>
          <a:p>
            <a:pPr lvl="1"/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</a:t>
            </a:r>
            <a:r>
              <a:rPr lang="en-US" i="1" dirty="0">
                <a:latin typeface="+mj-lt"/>
                <a:cs typeface="Tahoma" pitchFamily="34" charset="0"/>
                <a:sym typeface="Symbol" pitchFamily="18" charset="2"/>
              </a:rPr>
              <a:t>x P </a:t>
            </a:r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says that P is true in at </a:t>
            </a:r>
            <a:r>
              <a:rPr lang="en-US" b="1" dirty="0">
                <a:solidFill>
                  <a:srgbClr val="3399FF"/>
                </a:solidFill>
                <a:latin typeface="+mj-lt"/>
                <a:cs typeface="Tahoma" pitchFamily="34" charset="0"/>
                <a:sym typeface="Symbol" pitchFamily="18" charset="2"/>
              </a:rPr>
              <a:t>least one </a:t>
            </a:r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extended interpretation that assigns </a:t>
            </a:r>
            <a:r>
              <a:rPr lang="en-US" i="1" dirty="0">
                <a:latin typeface="+mj-lt"/>
                <a:cs typeface="Tahoma" pitchFamily="34" charset="0"/>
                <a:sym typeface="Symbol" pitchFamily="18" charset="2"/>
              </a:rPr>
              <a:t>x </a:t>
            </a:r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to a domain element</a:t>
            </a:r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659444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existential quantifier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F7C4BF-F47F-6C4B-3AC9-A64476AEA71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Sentence: 	</a:t>
            </a:r>
            <a:r>
              <a:rPr lang="en-US" sz="4400" b="1" dirty="0">
                <a:solidFill>
                  <a:srgbClr val="3399FF"/>
                </a:solidFill>
                <a:latin typeface="+mj-lt"/>
                <a:cs typeface="Tahoma" pitchFamily="34" charset="0"/>
              </a:rPr>
              <a:t> The King John has a crown on his head </a:t>
            </a:r>
          </a:p>
          <a:p>
            <a:r>
              <a:rPr lang="en-US" dirty="0"/>
              <a:t>Variable x = {Richard, King John, the crown}</a:t>
            </a:r>
          </a:p>
          <a:p>
            <a:r>
              <a:rPr lang="en-US" dirty="0"/>
              <a:t>FOL: </a:t>
            </a:r>
            <a:r>
              <a:rPr lang="en-US" sz="4400" dirty="0">
                <a:latin typeface="+mj-lt"/>
                <a:cs typeface="Tahoma" pitchFamily="34" charset="0"/>
                <a:sym typeface="Symbol" pitchFamily="18" charset="2"/>
              </a:rPr>
              <a:t></a:t>
            </a:r>
            <a:r>
              <a:rPr lang="en-US" sz="4400" i="1" dirty="0">
                <a:latin typeface="+mj-lt"/>
                <a:cs typeface="Tahoma" pitchFamily="34" charset="0"/>
                <a:sym typeface="Symbol" pitchFamily="18" charset="2"/>
              </a:rPr>
              <a:t>x  Crown(x) </a:t>
            </a:r>
            <a:r>
              <a:rPr lang="en-US" sz="4400" dirty="0">
                <a:latin typeface="+mj-lt"/>
                <a:cs typeface="Tahoma" pitchFamily="34" charset="0"/>
                <a:sym typeface="Symbol" pitchFamily="18" charset="2"/>
              </a:rPr>
              <a:t> </a:t>
            </a:r>
            <a:r>
              <a:rPr lang="en-US" sz="4400" i="1" dirty="0" err="1">
                <a:latin typeface="+mj-lt"/>
                <a:cs typeface="Tahoma" pitchFamily="34" charset="0"/>
                <a:sym typeface="Symbol" pitchFamily="18" charset="2"/>
              </a:rPr>
              <a:t>OnHead</a:t>
            </a:r>
            <a:r>
              <a:rPr lang="en-US" sz="4400" i="1" dirty="0">
                <a:latin typeface="+mj-lt"/>
                <a:cs typeface="Tahoma" pitchFamily="34" charset="0"/>
                <a:sym typeface="Symbol" pitchFamily="18" charset="2"/>
              </a:rPr>
              <a:t>(x, John)</a:t>
            </a:r>
            <a:r>
              <a:rPr lang="en-US" dirty="0"/>
              <a:t> 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Richard is a Crown </a:t>
            </a:r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</a:t>
            </a:r>
            <a:r>
              <a:rPr lang="en-US" dirty="0"/>
              <a:t> Richard is on John’s head</a:t>
            </a:r>
          </a:p>
          <a:p>
            <a:pPr lvl="1">
              <a:buFont typeface="Wingdings" pitchFamily="2" charset="2"/>
              <a:buChar char="Ø"/>
            </a:pPr>
            <a:r>
              <a:rPr lang="en-US" dirty="0"/>
              <a:t>King John is a Crown </a:t>
            </a:r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</a:t>
            </a:r>
            <a:r>
              <a:rPr lang="en-US" dirty="0"/>
              <a:t> King John is on John’s head</a:t>
            </a:r>
          </a:p>
          <a:p>
            <a:pPr lvl="1">
              <a:buFont typeface="Wingdings" pitchFamily="2" charset="2"/>
              <a:buChar char="Ø"/>
            </a:pPr>
            <a:r>
              <a:rPr lang="en-US" b="1" dirty="0"/>
              <a:t>The crown is a Crown </a:t>
            </a:r>
            <a:r>
              <a:rPr lang="en-US" b="1" dirty="0">
                <a:latin typeface="+mj-lt"/>
                <a:cs typeface="Tahoma" pitchFamily="34" charset="0"/>
                <a:sym typeface="Symbol" pitchFamily="18" charset="2"/>
              </a:rPr>
              <a:t></a:t>
            </a:r>
            <a:r>
              <a:rPr lang="en-US" b="1" dirty="0"/>
              <a:t> the crown is on John’s head </a:t>
            </a:r>
            <a:r>
              <a:rPr lang="en-US" dirty="0"/>
              <a:t>(True) then the sentence is true, at least one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2264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existential quantifier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26DEC62-0B66-FF3D-01AD-83EEE5FB4DF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2167377" y="3969176"/>
            <a:ext cx="18849508" cy="495824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34585203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nested quantifier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9944E-1350-AA37-2560-0B3E52F67B8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Sentence: 	Brothers are siblings</a:t>
            </a:r>
          </a:p>
          <a:p>
            <a:pPr lvl="1"/>
            <a:r>
              <a:rPr lang="en-US" dirty="0">
                <a:cs typeface="Tahoma" pitchFamily="34" charset="0"/>
                <a:sym typeface="Symbol" pitchFamily="18" charset="2"/>
              </a:rPr>
              <a:t></a:t>
            </a:r>
            <a:r>
              <a:rPr lang="en-US" dirty="0"/>
              <a:t>x </a:t>
            </a:r>
            <a:r>
              <a:rPr lang="en-US" dirty="0">
                <a:cs typeface="Tahoma" pitchFamily="34" charset="0"/>
                <a:sym typeface="Symbol" pitchFamily="18" charset="2"/>
              </a:rPr>
              <a:t></a:t>
            </a:r>
            <a:r>
              <a:rPr lang="en-US" dirty="0"/>
              <a:t>y  Brother(x, 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)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cs typeface="Tahoma" pitchFamily="34" charset="0"/>
                <a:sym typeface="Symbol" pitchFamily="18" charset="2"/>
              </a:rPr>
              <a:t>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Sibling(x, y)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Consecutive quantifiers of the same type can be written as one quantifier with several variables</a:t>
            </a:r>
          </a:p>
          <a:p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To say that siblinghood is a symmetric relationship:</a:t>
            </a:r>
          </a:p>
          <a:p>
            <a:pPr lvl="1"/>
            <a:r>
              <a:rPr lang="en-US" dirty="0">
                <a:solidFill>
                  <a:schemeClr val="bg2">
                    <a:lumMod val="10000"/>
                  </a:schemeClr>
                </a:solidFill>
                <a:cs typeface="Tahoma" pitchFamily="34" charset="0"/>
                <a:sym typeface="Symbol" pitchFamily="18" charset="2"/>
              </a:rPr>
              <a:t> 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x,y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 Sibling(</a:t>
            </a:r>
            <a:r>
              <a:rPr lang="en-US" dirty="0" err="1">
                <a:solidFill>
                  <a:schemeClr val="bg2">
                    <a:lumMod val="10000"/>
                  </a:schemeClr>
                </a:solidFill>
              </a:rPr>
              <a:t>x,y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)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cs typeface="Tahoma" pitchFamily="34" charset="0"/>
                <a:sym typeface="Symbol" pitchFamily="18" charset="2"/>
              </a:rPr>
              <a:t>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 Sibling</a:t>
            </a:r>
            <a:r>
              <a:rPr lang="en-US" dirty="0"/>
              <a:t>(</a:t>
            </a:r>
            <a:r>
              <a:rPr lang="en-US" dirty="0" err="1"/>
              <a:t>y,x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1398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nested quantifier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E9944E-1350-AA37-2560-0B3E52F67B8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+mj-lt"/>
                <a:cs typeface="Tahoma" pitchFamily="34" charset="0"/>
                <a:sym typeface="Symbol" pitchFamily="18" charset="2"/>
              </a:rPr>
              <a:t>A mixture: </a:t>
            </a:r>
          </a:p>
          <a:p>
            <a:pPr lvl="1" algn="just"/>
            <a:r>
              <a:rPr lang="en-US" b="1" dirty="0">
                <a:latin typeface="+mj-lt"/>
                <a:cs typeface="Tahoma" pitchFamily="34" charset="0"/>
                <a:sym typeface="Symbol" pitchFamily="18" charset="2"/>
              </a:rPr>
              <a:t>“Everybody loves somebody”: </a:t>
            </a:r>
          </a:p>
          <a:p>
            <a:pPr lvl="2" algn="just"/>
            <a:r>
              <a:rPr lang="en-US" b="1" i="1" dirty="0">
                <a:solidFill>
                  <a:srgbClr val="3399FF"/>
                </a:solidFill>
                <a:latin typeface="+mj-lt"/>
                <a:cs typeface="Tahoma" pitchFamily="34" charset="0"/>
                <a:sym typeface="Symbol" pitchFamily="18" charset="2"/>
              </a:rPr>
              <a:t>x</a:t>
            </a:r>
            <a:r>
              <a:rPr lang="en-US" b="1" dirty="0">
                <a:solidFill>
                  <a:srgbClr val="3399FF"/>
                </a:solidFill>
                <a:latin typeface="+mj-lt"/>
                <a:cs typeface="Tahoma" pitchFamily="34" charset="0"/>
                <a:sym typeface="Symbol" pitchFamily="18" charset="2"/>
              </a:rPr>
              <a:t> </a:t>
            </a:r>
            <a:r>
              <a:rPr lang="en-US" b="1" i="1" dirty="0">
                <a:solidFill>
                  <a:srgbClr val="3399FF"/>
                </a:solidFill>
                <a:latin typeface="+mj-lt"/>
                <a:cs typeface="Tahoma" pitchFamily="34" charset="0"/>
                <a:sym typeface="Symbol" pitchFamily="18" charset="2"/>
              </a:rPr>
              <a:t>y Loves(x, y)</a:t>
            </a:r>
          </a:p>
          <a:p>
            <a:pPr lvl="1" algn="just"/>
            <a:r>
              <a:rPr lang="en-US" b="1" dirty="0">
                <a:latin typeface="+mj-lt"/>
                <a:cs typeface="Tahoma" pitchFamily="34" charset="0"/>
                <a:sym typeface="Symbol" pitchFamily="18" charset="2"/>
              </a:rPr>
              <a:t>“There is someone who is loved by everyone” : </a:t>
            </a:r>
          </a:p>
          <a:p>
            <a:pPr lvl="2" algn="just"/>
            <a:r>
              <a:rPr lang="en-US" b="1" dirty="0">
                <a:solidFill>
                  <a:srgbClr val="3399FF"/>
                </a:solidFill>
                <a:latin typeface="+mj-lt"/>
                <a:cs typeface="Tahoma" pitchFamily="34" charset="0"/>
                <a:sym typeface="Symbol" pitchFamily="18" charset="2"/>
              </a:rPr>
              <a:t></a:t>
            </a:r>
            <a:r>
              <a:rPr lang="en-US" b="1" i="1" dirty="0">
                <a:solidFill>
                  <a:srgbClr val="3399FF"/>
                </a:solidFill>
                <a:latin typeface="+mj-lt"/>
                <a:cs typeface="Tahoma" pitchFamily="34" charset="0"/>
                <a:sym typeface="Symbol" pitchFamily="18" charset="2"/>
              </a:rPr>
              <a:t>y x</a:t>
            </a:r>
            <a:r>
              <a:rPr lang="en-US" b="1" dirty="0">
                <a:solidFill>
                  <a:srgbClr val="3399FF"/>
                </a:solidFill>
                <a:latin typeface="+mj-lt"/>
                <a:cs typeface="Tahoma" pitchFamily="34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rgbClr val="3399FF"/>
                </a:solidFill>
                <a:latin typeface="+mj-lt"/>
                <a:cs typeface="Tahoma" pitchFamily="34" charset="0"/>
                <a:sym typeface="Symbol" pitchFamily="18" charset="2"/>
              </a:rPr>
              <a:t>Loves(x, y)</a:t>
            </a:r>
          </a:p>
          <a:p>
            <a:pPr algn="just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What about…</a:t>
            </a:r>
          </a:p>
          <a:p>
            <a:pPr lvl="1"/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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x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 y Loves(x, y)?</a:t>
            </a:r>
          </a:p>
          <a:p>
            <a:pPr lvl="1"/>
            <a:r>
              <a:rPr lang="en-US" b="1" i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 y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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x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 </a:t>
            </a:r>
            <a:r>
              <a:rPr lang="en-US" b="1" i="1" dirty="0">
                <a:solidFill>
                  <a:schemeClr val="bg2">
                    <a:lumMod val="10000"/>
                  </a:schemeClr>
                </a:solidFill>
                <a:latin typeface="+mj-lt"/>
                <a:cs typeface="Tahoma" pitchFamily="34" charset="0"/>
                <a:sym typeface="Symbol" pitchFamily="18" charset="2"/>
              </a:rPr>
              <a:t>Loves(x, y)?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0633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Syntax &amp; semantic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nested quantifier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7A4EA0E5-A12B-4AEC-0CAC-2F604E486B02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4564842" y="3260663"/>
            <a:ext cx="15254316" cy="925100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213217654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Rule of Inference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EEC6F-CA44-410C-1D14-BFF8B2A845C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We begin with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some simple inference rules (Instantiation) </a:t>
            </a:r>
            <a:r>
              <a:rPr lang="en-US" dirty="0">
                <a:latin typeface="+mj-lt"/>
              </a:rPr>
              <a:t>that can be applied to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sentences with quantifiers </a:t>
            </a:r>
            <a:r>
              <a:rPr lang="en-US" dirty="0">
                <a:latin typeface="+mj-lt"/>
              </a:rPr>
              <a:t>to obtain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sentences without quantifiers.</a:t>
            </a:r>
            <a:endParaRPr lang="en-US" sz="4400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These rules lead naturally to the idea that </a:t>
            </a:r>
            <a:r>
              <a:rPr lang="en-US" b="1" i="1" dirty="0">
                <a:solidFill>
                  <a:srgbClr val="3399FF"/>
                </a:solidFill>
                <a:latin typeface="+mj-lt"/>
              </a:rPr>
              <a:t>first-order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inference </a:t>
            </a:r>
            <a:r>
              <a:rPr lang="en-US" dirty="0">
                <a:latin typeface="+mj-lt"/>
              </a:rPr>
              <a:t>can be done by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converting</a:t>
            </a:r>
            <a:r>
              <a:rPr lang="en-US" dirty="0">
                <a:latin typeface="+mj-lt"/>
              </a:rPr>
              <a:t> the knowledge base to </a:t>
            </a:r>
            <a:r>
              <a:rPr lang="en-US" b="1" i="1" dirty="0">
                <a:solidFill>
                  <a:srgbClr val="3399FF"/>
                </a:solidFill>
                <a:latin typeface="+mj-lt"/>
              </a:rPr>
              <a:t>propositional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logic </a:t>
            </a:r>
            <a:r>
              <a:rPr lang="en-US" dirty="0">
                <a:latin typeface="+mj-lt"/>
              </a:rPr>
              <a:t>and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using </a:t>
            </a:r>
            <a:r>
              <a:rPr lang="en-US" b="1" i="1" dirty="0">
                <a:solidFill>
                  <a:srgbClr val="3399FF"/>
                </a:solidFill>
                <a:latin typeface="+mj-lt"/>
              </a:rPr>
              <a:t>propositional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inference</a:t>
            </a:r>
            <a:endParaRPr lang="en-ID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056144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Universal instantiation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EEC6F-CA44-410C-1D14-BFF8B2A845C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For any variable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v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 and ground term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g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Axiom that all greedy king are evil : 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e.g.,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King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Greedy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Evil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yields:</a:t>
            </a:r>
          </a:p>
          <a:p>
            <a:pPr lvl="2">
              <a:lnSpc>
                <a:spcPct val="150000"/>
              </a:lnSpc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King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John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Greedy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John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Evil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John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King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Richard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Greedy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Richard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Evil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Richard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</a:t>
            </a:r>
          </a:p>
          <a:p>
            <a:pPr lvl="2">
              <a:lnSpc>
                <a:spcPct val="150000"/>
              </a:lnSpc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King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Father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John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Greedy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Father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John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Evil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Father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John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))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D3001607-BB1E-06C7-1FE7-F25D47F0895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888636" y="3260663"/>
            <a:ext cx="4171336" cy="126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07158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existential instantiation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BEEC6F-CA44-410C-1D14-BFF8B2A845C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For any sentence </a:t>
            </a:r>
            <a:r>
              <a:rPr lang="el-GR" dirty="0">
                <a:latin typeface="+mj-lt"/>
                <a:ea typeface="Tahoma" pitchFamily="34" charset="0"/>
                <a:cs typeface="Times New Roman" panose="02020603050405020304" pitchFamily="18" charset="0"/>
                <a:sym typeface="Symbol" pitchFamily="18" charset="2"/>
              </a:rPr>
              <a:t>α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, variable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v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, and constant symbol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k 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that does </a:t>
            </a:r>
            <a:r>
              <a:rPr lang="en-US" dirty="0">
                <a:solidFill>
                  <a:srgbClr val="FF0000"/>
                </a:solidFill>
                <a:latin typeface="+mj-lt"/>
                <a:ea typeface="Tahoma" pitchFamily="34" charset="0"/>
                <a:cs typeface="Tahoma" pitchFamily="34" charset="0"/>
              </a:rPr>
              <a:t>not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 appear elsewhere in the knowledge base:</a:t>
            </a:r>
          </a:p>
          <a:p>
            <a:pPr lvl="3" algn="just">
              <a:lnSpc>
                <a:spcPct val="150000"/>
              </a:lnSpc>
            </a:pPr>
            <a:endParaRPr lang="en-US" sz="4000" dirty="0">
              <a:latin typeface="+mj-lt"/>
              <a:ea typeface="Tahoma" pitchFamily="34" charset="0"/>
              <a:cs typeface="Tahoma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e.g., 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: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Crown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OnHead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x, John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 </a:t>
            </a:r>
            <a:r>
              <a:rPr lang="id-ID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yields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:</a:t>
            </a:r>
            <a:endParaRPr lang="en-ID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Crown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C</a:t>
            </a:r>
            <a:r>
              <a:rPr lang="id-ID" i="1" baseline="-25000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1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 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OnHead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C</a:t>
            </a:r>
            <a:r>
              <a:rPr lang="id-ID" i="1" baseline="-25000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1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, John</a:t>
            </a:r>
            <a:r>
              <a:rPr lang="id-ID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</a:t>
            </a:r>
            <a:endParaRPr lang="en-ID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provided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C</a:t>
            </a:r>
            <a:r>
              <a:rPr lang="en-US" i="1" baseline="-25000" dirty="0">
                <a:latin typeface="+mj-lt"/>
                <a:ea typeface="Tahoma" pitchFamily="34" charset="0"/>
                <a:cs typeface="Tahoma" pitchFamily="34" charset="0"/>
              </a:rPr>
              <a:t>1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 is a new constant symbol, called a </a:t>
            </a:r>
            <a:r>
              <a:rPr lang="id-ID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Skolem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constant</a:t>
            </a:r>
            <a:endParaRPr lang="en-ID" b="1" dirty="0">
              <a:solidFill>
                <a:srgbClr val="3399FF"/>
              </a:solidFill>
              <a:latin typeface="+mj-lt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331BB97E-9150-CAB9-4E0D-D8AA8C887BB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64718" y="5459952"/>
            <a:ext cx="4454564" cy="139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84533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489E3-48C3-94FE-A1FB-9E84CA83835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709540" y="3260662"/>
            <a:ext cx="17469144" cy="889085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43443802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489E3-48C3-94FE-A1FB-9E84CA83835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709540" y="3260663"/>
            <a:ext cx="6388100" cy="325120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37837CF-A9D7-0EC4-02C8-033D31A7D4B2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540" y="3260663"/>
            <a:ext cx="17486339" cy="938591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1857966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489E3-48C3-94FE-A1FB-9E84CA83835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709540" y="3260663"/>
            <a:ext cx="6388100" cy="325120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37837CF-A9D7-0EC4-02C8-033D31A7D4B2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540" y="3260663"/>
            <a:ext cx="17486339" cy="938591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9D076E4-2F82-28C3-EA3D-4AA7F36803C3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540" y="3260663"/>
            <a:ext cx="17486338" cy="953641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00228560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489E3-48C3-94FE-A1FB-9E84CA83835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709540" y="3260663"/>
            <a:ext cx="6388100" cy="325120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37837CF-A9D7-0EC4-02C8-033D31A7D4B2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540" y="3260663"/>
            <a:ext cx="17486339" cy="938591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9D076E4-2F82-28C3-EA3D-4AA7F36803C3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540" y="3260663"/>
            <a:ext cx="16447810" cy="897004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61BD466F-F04E-E7AA-B3CD-53D39187570D}"/>
              </a:ext>
            </a:extLst>
          </p:cNvPr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540" y="3260663"/>
            <a:ext cx="17572134" cy="938591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3440355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9489E3-48C3-94FE-A1FB-9E84CA83835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709540" y="3260663"/>
            <a:ext cx="6388100" cy="325120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437837CF-A9D7-0EC4-02C8-033D31A7D4B2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540" y="3260663"/>
            <a:ext cx="17486339" cy="938591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9D076E4-2F82-28C3-EA3D-4AA7F36803C3}"/>
              </a:ext>
            </a:extLst>
          </p:cNvPr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9540" y="3260663"/>
            <a:ext cx="16447810" cy="897004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61BD466F-F04E-E7AA-B3CD-53D39187570D}"/>
              </a:ext>
            </a:extLst>
          </p:cNvPr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9540" y="3260663"/>
            <a:ext cx="17232490" cy="920450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10" name="Content Placeholder 4">
            <a:extLst>
              <a:ext uri="{FF2B5EF4-FFF2-40B4-BE49-F238E27FC236}">
                <a16:creationId xmlns:a16="http://schemas.microsoft.com/office/drawing/2014/main" id="{CF260786-E5B2-DF26-642F-3E5DF8F57750}"/>
              </a:ext>
            </a:extLst>
          </p:cNvPr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9540" y="3260663"/>
            <a:ext cx="17486339" cy="952996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837190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unification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5399D5-37F6-B4BD-7B34-E3F193930D23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To unify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Knows (John, x) and Knows (y, z), c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ould return:</a:t>
            </a:r>
          </a:p>
          <a:p>
            <a:pPr lvl="1" algn="just">
              <a:lnSpc>
                <a:spcPct val="150000"/>
              </a:lnSpc>
            </a:pPr>
            <a:r>
              <a:rPr lang="el-GR" i="1" dirty="0">
                <a:latin typeface="+mj-lt"/>
                <a:ea typeface="Tahoma" pitchFamily="34" charset="0"/>
                <a:cs typeface="Tahoma" pitchFamily="34" charset="0"/>
              </a:rPr>
              <a:t>θ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= {y/John, x/z} or  </a:t>
            </a:r>
            <a:r>
              <a:rPr lang="el-GR" i="1" dirty="0">
                <a:latin typeface="+mj-lt"/>
                <a:ea typeface="Tahoma" pitchFamily="34" charset="0"/>
                <a:cs typeface="Tahoma" pitchFamily="34" charset="0"/>
              </a:rPr>
              <a:t>θ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= {y/John, x/John, z/John}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The first unifier is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more general 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than the second.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There is a single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most general unifier 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(MGU) that is unique up to renaming of variables.</a:t>
            </a:r>
          </a:p>
          <a:p>
            <a:pPr lvl="1" algn="just">
              <a:lnSpc>
                <a:spcPct val="150000"/>
              </a:lnSpc>
            </a:pP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MGU = { y/John, x/z }</a:t>
            </a:r>
            <a:endParaRPr lang="en-US" dirty="0">
              <a:latin typeface="+mj-lt"/>
              <a:ea typeface="Tahoma" pitchFamily="34" charset="0"/>
              <a:cs typeface="Tahoma" pitchFamily="34" charset="0"/>
            </a:endParaRPr>
          </a:p>
          <a:p>
            <a:pPr lvl="2" algn="just">
              <a:lnSpc>
                <a:spcPct val="150000"/>
              </a:lnSpc>
            </a:pPr>
            <a:endParaRPr lang="en-US" sz="4400" dirty="0">
              <a:latin typeface="+mj-lt"/>
              <a:ea typeface="Tahoma" pitchFamily="34" charset="0"/>
              <a:cs typeface="Tahoma" pitchFamily="34" charset="0"/>
            </a:endParaRPr>
          </a:p>
          <a:p>
            <a:pPr lvl="2">
              <a:lnSpc>
                <a:spcPct val="150000"/>
              </a:lnSpc>
            </a:pPr>
            <a:endParaRPr lang="en-ID" sz="4400" dirty="0">
              <a:latin typeface="+mj-lt"/>
            </a:endParaRPr>
          </a:p>
          <a:p>
            <a:pPr lvl="4">
              <a:lnSpc>
                <a:spcPct val="150000"/>
              </a:lnSpc>
            </a:pPr>
            <a:endParaRPr lang="en-ID" sz="4400" b="1" dirty="0">
              <a:solidFill>
                <a:srgbClr val="3399FF"/>
              </a:solidFill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16121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Generalization Modus </a:t>
            </a:r>
            <a:r>
              <a:rPr lang="en-US" dirty="0" err="1"/>
              <a:t>ponen</a:t>
            </a: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29C38EF-87A0-DDBB-1683-DE1C8FF272F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453605" y="3480618"/>
            <a:ext cx="17947839" cy="836332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151488172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Generalization Modus </a:t>
            </a:r>
            <a:r>
              <a:rPr lang="en-US" dirty="0" err="1"/>
              <a:t>ponen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52569-F203-7ADE-0EF1-1FA41AEA05C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The law says that it is a crime for an American to sell weapons to hostile nations. The country </a:t>
            </a:r>
            <a:r>
              <a:rPr lang="en-US" dirty="0" err="1"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, an enemy of America, has some missiles, and all of its missiles were sold to it by Colonel West, who is American.</a:t>
            </a:r>
          </a:p>
          <a:p>
            <a:pPr algn="just">
              <a:lnSpc>
                <a:spcPct val="150000"/>
              </a:lnSpc>
            </a:pPr>
            <a:endParaRPr lang="en-US" dirty="0">
              <a:latin typeface="+mj-lt"/>
              <a:ea typeface="Tahoma" pitchFamily="34" charset="0"/>
              <a:cs typeface="Tahoma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+mj-lt"/>
                <a:ea typeface="Tahoma" pitchFamily="34" charset="0"/>
                <a:cs typeface="Tahoma" pitchFamily="34" charset="0"/>
              </a:rPr>
              <a:t>Prove that Colonel West is a criminal</a:t>
            </a:r>
            <a:endParaRPr lang="en-ID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448583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Generalization Modus </a:t>
            </a:r>
            <a:r>
              <a:rPr lang="en-US" dirty="0" err="1"/>
              <a:t>ponen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52569-F203-7ADE-0EF1-1FA41AEA05C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... it is a crime for an American to sell weapons to hostile nations:</a:t>
            </a:r>
          </a:p>
          <a:p>
            <a:pPr lvl="1"/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American(x)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Weapon(y)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Sells(x, y, z)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Hostile(z)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Criminal(x)</a:t>
            </a:r>
          </a:p>
          <a:p>
            <a:r>
              <a:rPr lang="id-ID" dirty="0" err="1"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 … has some missiles, i.e., </a:t>
            </a:r>
            <a:r>
              <a:rPr lang="el-GR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x </a:t>
            </a:r>
            <a:r>
              <a:rPr lang="id-ID" i="1" dirty="0" err="1">
                <a:latin typeface="+mj-lt"/>
                <a:ea typeface="Tahoma" pitchFamily="34" charset="0"/>
                <a:cs typeface="Tahoma" pitchFamily="34" charset="0"/>
              </a:rPr>
              <a:t>Owns</a:t>
            </a:r>
            <a:r>
              <a:rPr lang="id-ID" i="1" dirty="0"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id-ID" i="1" dirty="0" err="1"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, x)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Missile(x)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:</a:t>
            </a:r>
          </a:p>
          <a:p>
            <a:pPr lvl="1"/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Owns(Nono,M</a:t>
            </a:r>
            <a:r>
              <a:rPr lang="en-US" i="1" baseline="-25000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1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</a:t>
            </a:r>
          </a:p>
          <a:p>
            <a:pPr lvl="1"/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Missile(M</a:t>
            </a:r>
            <a:r>
              <a:rPr lang="en-US" i="1" baseline="-25000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1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</a:t>
            </a:r>
          </a:p>
          <a:p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… all of its missiles were sold to it by Colonel West</a:t>
            </a:r>
          </a:p>
          <a:p>
            <a:pPr lvl="1"/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Missile(x)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Owns(</a:t>
            </a:r>
            <a:r>
              <a:rPr lang="en-US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, x)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Sells(</a:t>
            </a:r>
            <a:r>
              <a:rPr lang="en-US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West,x,Nono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)</a:t>
            </a:r>
          </a:p>
          <a:p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7202742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Generalization Modus </a:t>
            </a:r>
            <a:r>
              <a:rPr lang="en-US" dirty="0" err="1"/>
              <a:t>ponen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C52569-F203-7ADE-0EF1-1FA41AEA05C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Missiles are weapons:</a:t>
            </a:r>
          </a:p>
          <a:p>
            <a:pPr lvl="1"/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Missile(x)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Wingdings" panose="05000000000000000000" pitchFamily="2" charset="2"/>
              </a:rPr>
              <a:t>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Weapon(x)</a:t>
            </a:r>
          </a:p>
          <a:p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An enemy of America counts as "hostile“:</a:t>
            </a:r>
          </a:p>
          <a:p>
            <a:pPr lvl="1"/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Enemy(x, America) 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Wingdings" panose="05000000000000000000" pitchFamily="2" charset="2"/>
              </a:rPr>
              <a:t>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Hostile(x)</a:t>
            </a:r>
          </a:p>
          <a:p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West, who is American …</a:t>
            </a:r>
          </a:p>
          <a:p>
            <a:pPr lvl="1"/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American(West)</a:t>
            </a:r>
          </a:p>
          <a:p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The country </a:t>
            </a:r>
            <a:r>
              <a:rPr lang="id-ID" dirty="0" err="1"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, an enemy of America …</a:t>
            </a:r>
          </a:p>
          <a:p>
            <a:pPr lvl="1"/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Enemy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, America)</a:t>
            </a:r>
            <a:endParaRPr lang="en-US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42663710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Inference first order logic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4102280A-EEFF-B3F9-C307-41C4891DCCDE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3290916" y="3260663"/>
            <a:ext cx="17290671" cy="932410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5202004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A2F1D-E3E0-97AF-449F-14979EE26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B873-C20B-691F-F7F9-2CD53AE6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DD9FD-8257-6B4B-9B1C-BD6A94883E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Conjunctive normal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E8271-E13A-3ADC-4DEE-B023BD851E1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Boolean logic, a formula is in conjunctive normal form (CNF) or clausal normal form if it is a conjunction of one or more clauses, where a clause is a disjunction of literals.</a:t>
            </a:r>
          </a:p>
          <a:p>
            <a:r>
              <a:rPr lang="en-US" dirty="0"/>
              <a:t>Otherwise put, it is a product of sums or an AND of ORs.</a:t>
            </a:r>
          </a:p>
          <a:p>
            <a:r>
              <a:rPr lang="en-US" dirty="0"/>
              <a:t>In first order logic, conjunctive normal form can be used to perform </a:t>
            </a:r>
            <a:r>
              <a:rPr lang="en-US" b="1" dirty="0"/>
              <a:t>first-order resolution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250517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C1BC-6B79-A265-A2C9-E6B0E7E6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0351C-8084-06CF-2F4F-C173C9A4A8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Conjunctive normal form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D803B97-61E4-F837-F634-72ACB44CB53F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All of the following formulas are in conjunctive normal form: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D803B97-61E4-F837-F634-72ACB44CB5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307" t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7859507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F1EF2-35BC-5735-618A-6D30A4A16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48A0E-5C1A-E32A-73E0-F378A65F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5EBB4-A4AB-09B1-2B77-CA58C835BE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Conjunctive normal form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2CA5B2-0629-C758-F8FD-21BC7291EA43}"/>
                  </a:ext>
                </a:extLst>
              </p:cNvPr>
              <p:cNvSpPr>
                <a:spLocks noGrp="1"/>
              </p:cNvSpPr>
              <p:nvPr>
                <p:ph sz="quarter" idx="1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All of the following formulas are </a:t>
                </a:r>
                <a:r>
                  <a:rPr lang="en-US" b="1" dirty="0"/>
                  <a:t>not</a:t>
                </a:r>
                <a:r>
                  <a:rPr lang="en-US" dirty="0"/>
                  <a:t> in conjunctive normal form: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b="0" dirty="0">
                    <a:latin typeface="+mj-lt"/>
                  </a:rPr>
                  <a:t>, since an AND is nested within a NOT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since an OR is nested within a NOT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since an AND is nested within an OR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4B2CA5B2-0629-C758-F8FD-21BC7291EA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1"/>
              </p:nvPr>
            </p:nvSpPr>
            <p:spPr>
              <a:blipFill>
                <a:blip r:embed="rId3"/>
                <a:stretch>
                  <a:fillRect l="-1307" t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206160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EDE43-7848-3919-D7F2-577FAA1AA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09261-AA56-E4E0-13A5-42CE9F478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64E27-A705-8970-7048-CD3C8522CF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41C1E9-46E6-3D4A-33E5-28E61DF3ED6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Sentence : “</a:t>
            </a:r>
            <a:r>
              <a:rPr lang="en-US" dirty="0">
                <a:solidFill>
                  <a:srgbClr val="0000FF"/>
                </a:solidFill>
                <a:latin typeface="+mj-lt"/>
                <a:ea typeface="Tahoma" pitchFamily="34" charset="0"/>
                <a:cs typeface="Tahoma" pitchFamily="34" charset="0"/>
              </a:rPr>
              <a:t>Everyone who loves all animals is loved by someone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”:</a:t>
            </a:r>
          </a:p>
          <a:p>
            <a:pPr>
              <a:buNone/>
            </a:pP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	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[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Animal(y)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Loves(x, y)]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Loves(y, x)]</a:t>
            </a:r>
          </a:p>
          <a:p>
            <a:pPr marL="148525" indent="-457200">
              <a:buAutoNum type="arabicPeriod"/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Eliminate implications</a:t>
            </a:r>
          </a:p>
          <a:p>
            <a:pPr marL="593025" lvl="1" indent="-457200"/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[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Animal(y)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Loves(x, y)]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y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Loves(y, x)]</a:t>
            </a:r>
          </a:p>
          <a:p>
            <a:pPr marL="148525" indent="-457200">
              <a:buAutoNum type="arabicPeriod"/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Move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 inwards: </a:t>
            </a:r>
          </a:p>
          <a:p>
            <a:pPr marL="593025" lvl="1" indent="-457200"/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p ≡ 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p, 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 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p ≡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p</a:t>
            </a:r>
          </a:p>
          <a:p>
            <a:pPr marL="593025" lvl="1" indent="-457200"/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Animal(y)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Loves(x, y))]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Loves(y, x)] </a:t>
            </a:r>
          </a:p>
          <a:p>
            <a:pPr marL="593025" lvl="1" indent="-457200"/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Animal(y)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Loves(x, y)]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Loves(y, x)] </a:t>
            </a:r>
          </a:p>
          <a:p>
            <a:pPr marL="593025" lvl="1" indent="-457200"/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Animal(y)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Loves(x, y)]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Loves(y, x)] </a:t>
            </a:r>
            <a:endParaRPr lang="en-ID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89755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C1BC-6B79-A265-A2C9-E6B0E7E6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0351C-8084-06CF-2F4F-C173C9A4A8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03B97-61E4-F837-F634-72ACB44CB5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20000"/>
          </a:bodyPr>
          <a:lstStyle/>
          <a:p>
            <a:pPr marL="300925" indent="-609600" algn="just">
              <a:buAutoNum type="arabicPeriod" startAt="3"/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Standardize variables: each quantifier should use a different one</a:t>
            </a:r>
          </a:p>
          <a:p>
            <a:pPr marL="1512000" lvl="2" indent="-620175" algn="just"/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y Animal(y)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Loves(x, y)]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</a:t>
            </a:r>
            <a:r>
              <a:rPr lang="el-GR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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z Loves(z, x)] </a:t>
            </a:r>
            <a:endParaRPr lang="en-US" i="1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pPr marL="300925" indent="-609600" algn="just">
              <a:buAutoNum type="arabicPeriod" startAt="4"/>
            </a:pPr>
            <a:r>
              <a:rPr lang="id-ID" dirty="0" err="1">
                <a:latin typeface="+mj-lt"/>
                <a:ea typeface="Tahoma" pitchFamily="34" charset="0"/>
                <a:cs typeface="Tahoma" pitchFamily="34" charset="0"/>
              </a:rPr>
              <a:t>Skolemize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: a more general form of existential instantiation. Each existential variable is replaced by a </a:t>
            </a:r>
            <a:r>
              <a:rPr lang="id-ID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Skolem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function 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of the enclosing universally quantified variables:</a:t>
            </a:r>
          </a:p>
          <a:p>
            <a:pPr marL="1501425" lvl="2" indent="-609600" algn="just"/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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 [Animal(F(x))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Loves(x, F(x))]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Loves(G(x),x)</a:t>
            </a:r>
          </a:p>
          <a:p>
            <a:pPr marL="300925" indent="-609600" algn="just">
              <a:buAutoNum type="arabicPeriod" startAt="5"/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Drop universal quantifiers:</a:t>
            </a:r>
          </a:p>
          <a:p>
            <a:pPr marL="1501425" lvl="2" indent="-609600" algn="just"/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[Animal(F(x))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Loves(</a:t>
            </a:r>
            <a:r>
              <a:rPr lang="en-US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x,F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(x))] 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Loves(G(x),x)</a:t>
            </a:r>
          </a:p>
          <a:p>
            <a:pPr marL="300925" indent="-609600" algn="just">
              <a:buAutoNum type="arabicPeriod" startAt="6"/>
            </a:pP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Distribute 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 over 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latin typeface="+mj-lt"/>
                <a:ea typeface="Tahoma" pitchFamily="34" charset="0"/>
                <a:cs typeface="Tahoma" pitchFamily="34" charset="0"/>
              </a:rPr>
              <a:t> :</a:t>
            </a:r>
          </a:p>
          <a:p>
            <a:pPr marL="1501425" lvl="2" indent="-609600" algn="just"/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[Animal(F(x))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Loves(G(x),x)]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[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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Loves(x, F(x)) 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</a:t>
            </a:r>
            <a:r>
              <a:rPr lang="en-US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</a:rPr>
              <a:t> Loves(G(x), x)]</a:t>
            </a:r>
          </a:p>
        </p:txBody>
      </p:sp>
    </p:spTree>
    <p:extLst>
      <p:ext uri="{BB962C8B-B14F-4D97-AF65-F5344CB8AC3E}">
        <p14:creationId xmlns:p14="http://schemas.microsoft.com/office/powerpoint/2010/main" val="303115556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C1BC-6B79-A265-A2C9-E6B0E7E6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0351C-8084-06CF-2F4F-C173C9A4A8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03B97-61E4-F837-F634-72ACB44CB5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American(x)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Weapon(y)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Sells(x, y, z)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Hostile(z)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Criminal(x)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American(x)  Weapon(y)  Sells(x, y, z)  Hostile(z)   Criminal(x)</a:t>
            </a:r>
            <a:endParaRPr lang="en-US" i="1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pPr>
              <a:lnSpc>
                <a:spcPct val="120000"/>
              </a:lnSpc>
            </a:pP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Owns(Nono,M</a:t>
            </a:r>
            <a:r>
              <a:rPr lang="en-US" i="1" baseline="-25000" dirty="0">
                <a:latin typeface="+mj-lt"/>
                <a:ea typeface="Tahoma" pitchFamily="34" charset="0"/>
                <a:cs typeface="Tahoma" pitchFamily="34" charset="0"/>
              </a:rPr>
              <a:t>1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) and Missile(M</a:t>
            </a:r>
            <a:r>
              <a:rPr lang="en-US" i="1" baseline="-25000" dirty="0">
                <a:latin typeface="+mj-lt"/>
                <a:ea typeface="Tahoma" pitchFamily="34" charset="0"/>
                <a:cs typeface="Tahoma" pitchFamily="34" charset="0"/>
              </a:rPr>
              <a:t>1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Owns (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, M1)				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Missile(M1)</a:t>
            </a:r>
            <a:endParaRPr lang="en-US" i="1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pPr>
              <a:lnSpc>
                <a:spcPct val="120000"/>
              </a:lnSpc>
            </a:pP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Missile(x)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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Owns(</a:t>
            </a:r>
            <a:r>
              <a:rPr lang="en-US" i="1" dirty="0" err="1"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, x)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Sells(West, x, </a:t>
            </a:r>
            <a:r>
              <a:rPr lang="en-US" i="1" dirty="0" err="1"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Missile(x)  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Owns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(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, x)   Sells(West, x, 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)</a:t>
            </a:r>
          </a:p>
          <a:p>
            <a:pPr lvl="3">
              <a:lnSpc>
                <a:spcPct val="150000"/>
              </a:lnSpc>
            </a:pPr>
            <a:endParaRPr lang="en-US" sz="4400" i="1" dirty="0">
              <a:solidFill>
                <a:srgbClr val="CC0099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pPr lvl="2">
              <a:lnSpc>
                <a:spcPct val="150000"/>
              </a:lnSpc>
            </a:pPr>
            <a:endParaRPr lang="en-ID" sz="4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34767726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C1BC-6B79-A265-A2C9-E6B0E7E6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0351C-8084-06CF-2F4F-C173C9A4A8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03B97-61E4-F837-F634-72ACB44CB5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Missile(x)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Weapon(x)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Missile(x)   Weapons(x)</a:t>
            </a:r>
            <a:endParaRPr lang="en-US" i="1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Enemy(x, America) 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  <a:sym typeface="Symbol" pitchFamily="18" charset="2"/>
              </a:rPr>
              <a:t>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 Hostile(x)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Enemy(x, America)   Hostile(x) </a:t>
            </a:r>
            <a:endParaRPr lang="en-US" i="1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American(West)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American(West)</a:t>
            </a:r>
            <a:r>
              <a:rPr lang="en-US" i="1" dirty="0">
                <a:solidFill>
                  <a:srgbClr val="FF0000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	</a:t>
            </a:r>
            <a:endParaRPr lang="en-US" i="1" dirty="0">
              <a:solidFill>
                <a:srgbClr val="CC0099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r>
              <a:rPr lang="id-ID" i="1" dirty="0" err="1">
                <a:latin typeface="+mj-lt"/>
                <a:ea typeface="Tahoma" pitchFamily="34" charset="0"/>
                <a:cs typeface="Tahoma" pitchFamily="34" charset="0"/>
              </a:rPr>
              <a:t>Enemy</a:t>
            </a:r>
            <a:r>
              <a:rPr lang="id-ID" i="1" dirty="0">
                <a:latin typeface="+mj-lt"/>
                <a:ea typeface="Tahoma" pitchFamily="34" charset="0"/>
                <a:cs typeface="Tahoma" pitchFamily="34" charset="0"/>
              </a:rPr>
              <a:t>(</a:t>
            </a:r>
            <a:r>
              <a:rPr lang="id-ID" i="1" dirty="0" err="1">
                <a:latin typeface="+mj-lt"/>
                <a:ea typeface="Tahoma" pitchFamily="34" charset="0"/>
                <a:cs typeface="Tahoma" pitchFamily="34" charset="0"/>
              </a:rPr>
              <a:t>Nono</a:t>
            </a:r>
            <a:r>
              <a:rPr lang="en-US" i="1" dirty="0">
                <a:latin typeface="+mj-lt"/>
                <a:ea typeface="Tahoma" pitchFamily="34" charset="0"/>
                <a:cs typeface="Tahoma" pitchFamily="34" charset="0"/>
              </a:rPr>
              <a:t>, America)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Enemy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(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, America)</a:t>
            </a:r>
            <a:endParaRPr lang="en-US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  <a:p>
            <a:endParaRPr lang="en-ID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73978504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C1BC-6B79-A265-A2C9-E6B0E7E6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0351C-8084-06CF-2F4F-C173C9A4A8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803B97-61E4-F837-F634-72ACB44CB53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Knowledge Base in CNF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American(x)  Weapon(y)  Sells(x, y, z)  Hostile(z)   Criminal(x)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Missile(x)  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Owns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(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, x)   Sells(West, x, 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Enemy(x, America)   Hostile(x) 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Missile(x)   Weapons(x)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Owns (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, M1)				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Missile(M1)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American(West)				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Enemy</a:t>
            </a:r>
            <a:r>
              <a:rPr lang="id-ID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(</a:t>
            </a:r>
            <a:r>
              <a:rPr lang="id-ID" i="1" dirty="0" err="1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Nono</a:t>
            </a:r>
            <a:r>
              <a:rPr lang="en-US" i="1" dirty="0">
                <a:solidFill>
                  <a:srgbClr val="3399FF"/>
                </a:solidFill>
                <a:latin typeface="+mj-lt"/>
                <a:ea typeface="Tahoma" pitchFamily="34" charset="0"/>
                <a:cs typeface="Tahoma" pitchFamily="34" charset="0"/>
                <a:sym typeface="Symbol"/>
              </a:rPr>
              <a:t>, America)</a:t>
            </a:r>
            <a:endParaRPr lang="en-US" i="1" dirty="0">
              <a:solidFill>
                <a:srgbClr val="3399FF"/>
              </a:solidFill>
              <a:latin typeface="+mj-lt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30894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C1BC-6B79-A265-A2C9-E6B0E7E6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Conversion to CNF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0351C-8084-06CF-2F4F-C173C9A4A8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D4D27C64-EC73-FF39-7289-C59C83D31560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5241071" y="2419728"/>
            <a:ext cx="17752743" cy="10767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938855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Proof by resolution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697691"/>
          </a:xfrm>
        </p:spPr>
        <p:txBody>
          <a:bodyPr>
            <a:normAutofit lnSpcReduction="10000"/>
          </a:bodyPr>
          <a:lstStyle/>
          <a:p>
            <a:pPr marL="0" indent="-308675" algn="just">
              <a:buNone/>
              <a:defRPr/>
            </a:pPr>
            <a:r>
              <a:rPr lang="en-US" u="sng" dirty="0">
                <a:latin typeface="+mj-lt"/>
              </a:rPr>
              <a:t>Given sentences as premise: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+mj-lt"/>
              </a:rPr>
              <a:t>John is a student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+mj-lt"/>
              </a:rPr>
              <a:t>John is in the Informatics department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+mj-lt"/>
              </a:rPr>
              <a:t>Each Informatics’ student must be an engineering student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+mj-lt"/>
              </a:rPr>
              <a:t>Mathematic is a difficult lesson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+mj-lt"/>
              </a:rPr>
              <a:t>Each engineering student would definitely like Mathematic or hate it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+mj-lt"/>
              </a:rPr>
              <a:t>Each student would definitely like a lesson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+mj-lt"/>
              </a:rPr>
              <a:t>Students who have never attended difficult lesson certainly do not like the lesson </a:t>
            </a:r>
          </a:p>
          <a:p>
            <a:pPr>
              <a:buFont typeface="+mj-lt"/>
              <a:buAutoNum type="arabicPeriod"/>
            </a:pPr>
            <a:r>
              <a:rPr lang="en-US" dirty="0">
                <a:latin typeface="+mj-lt"/>
              </a:rPr>
              <a:t>Peter has never attended the Mathematic lesson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1179401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Case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Proof by resolution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50B6-6863-4D06-4C7D-4E3B74F82B7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3188" y="3260663"/>
            <a:ext cx="20057623" cy="9697691"/>
          </a:xfrm>
        </p:spPr>
        <p:txBody>
          <a:bodyPr>
            <a:normAutofit/>
          </a:bodyPr>
          <a:lstStyle/>
          <a:p>
            <a:pPr marL="0" indent="-308675">
              <a:buNone/>
            </a:pPr>
            <a:r>
              <a:rPr lang="en-US" u="sng" dirty="0">
                <a:latin typeface="+mj-lt"/>
              </a:rPr>
              <a:t>Based on given premises above, please create:</a:t>
            </a:r>
          </a:p>
          <a:p>
            <a:pPr>
              <a:buFont typeface="+mj-lt"/>
              <a:buAutoNum type="alphaLcParenR"/>
            </a:pPr>
            <a:r>
              <a:rPr lang="en-US" dirty="0">
                <a:latin typeface="+mj-lt"/>
              </a:rPr>
              <a:t>FOL</a:t>
            </a:r>
          </a:p>
          <a:p>
            <a:pPr>
              <a:buFont typeface="+mj-lt"/>
              <a:buAutoNum type="alphaLcParenR"/>
            </a:pPr>
            <a:r>
              <a:rPr lang="en-US" dirty="0">
                <a:latin typeface="+mj-lt"/>
              </a:rPr>
              <a:t>Convert FOL in part a) to CNF</a:t>
            </a:r>
          </a:p>
          <a:p>
            <a:pPr>
              <a:buFont typeface="+mj-lt"/>
              <a:buAutoNum type="alphaLcParenR"/>
            </a:pPr>
            <a:r>
              <a:rPr lang="en-US" dirty="0">
                <a:latin typeface="+mj-lt"/>
              </a:rPr>
              <a:t>Proof by Resolution, that </a:t>
            </a:r>
            <a:r>
              <a:rPr lang="en-US" b="1" dirty="0">
                <a:solidFill>
                  <a:srgbClr val="3399FF"/>
                </a:solidFill>
                <a:latin typeface="+mj-lt"/>
              </a:rPr>
              <a:t>Peter hate Mathematic</a:t>
            </a:r>
            <a:r>
              <a:rPr lang="en-US" b="1" dirty="0">
                <a:latin typeface="+mj-lt"/>
              </a:rPr>
              <a:t>.</a:t>
            </a:r>
            <a:endParaRPr lang="en-US" dirty="0">
              <a:latin typeface="+mj-lt"/>
            </a:endParaRPr>
          </a:p>
          <a:p>
            <a:pPr marL="1203325" lvl="2" indent="0" algn="just">
              <a:buNone/>
              <a:defRPr/>
            </a:pPr>
            <a:endParaRPr lang="en-US" sz="4400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55960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328C-1B95-C676-8144-17B68BDB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D4B36-DB29-EC9E-2767-9ED5EA04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Session 8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C03F54-B3BC-80AB-98AC-C3ABDC8D86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20149698" cy="9798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Rosen, K. H. (2012). Discrete mathematics and its applications (7th ed). McGraw-Hill.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Russell, S. J., Norvig, P., Chang, M., Devlin, J., Dragan, A., Forsyth, D., Goodfellow, I., Malik, J., </a:t>
            </a:r>
            <a:r>
              <a:rPr lang="en-US" sz="4000" dirty="0" err="1">
                <a:latin typeface="+mj-lt"/>
              </a:rPr>
              <a:t>Mansinghka</a:t>
            </a:r>
            <a:r>
              <a:rPr lang="en-US" sz="4000" dirty="0">
                <a:latin typeface="+mj-lt"/>
              </a:rPr>
              <a:t>, V., Pearl, J., &amp; Wooldridge, M. J. (2022). Artificial intelligence: A modern approach (Fourth edition, global edition). Pearson.</a:t>
            </a:r>
          </a:p>
          <a:p>
            <a:pPr>
              <a:spcBef>
                <a:spcPts val="600"/>
              </a:spcBef>
            </a:pPr>
            <a:r>
              <a:rPr lang="en-US" sz="4000" dirty="0">
                <a:latin typeface="+mj-lt"/>
              </a:rPr>
              <a:t>https://</a:t>
            </a:r>
            <a:r>
              <a:rPr lang="en-US" sz="4000" dirty="0" err="1">
                <a:latin typeface="+mj-lt"/>
              </a:rPr>
              <a:t>www.cs.jhu.edu</a:t>
            </a:r>
            <a:r>
              <a:rPr lang="en-US" sz="4000" dirty="0">
                <a:latin typeface="+mj-lt"/>
              </a:rPr>
              <a:t>/~phi/ai/slides/lecture-first-order-</a:t>
            </a:r>
            <a:r>
              <a:rPr lang="en-US" sz="4000" dirty="0" err="1">
                <a:latin typeface="+mj-lt"/>
              </a:rPr>
              <a:t>logic.pdf</a:t>
            </a: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>
              <a:latin typeface="+mj-lt"/>
            </a:endParaRPr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  <a:p>
            <a:pPr>
              <a:spcBef>
                <a:spcPts val="600"/>
              </a:spcBef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77477195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21_BasicWhite</Template>
  <TotalTime>1590</TotalTime>
  <Words>2693</Words>
  <Application>Microsoft Office PowerPoint</Application>
  <PresentationFormat>Custom</PresentationFormat>
  <Paragraphs>286</Paragraphs>
  <Slides>46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Cambria Math</vt:lpstr>
      <vt:lpstr>Open Sans Light</vt:lpstr>
      <vt:lpstr>OCRB</vt:lpstr>
      <vt:lpstr>Tahoma</vt:lpstr>
      <vt:lpstr>Open Sans</vt:lpstr>
      <vt:lpstr>Arial</vt:lpstr>
      <vt:lpstr>Open Sans Semibold</vt:lpstr>
      <vt:lpstr>Wingdings</vt:lpstr>
      <vt:lpstr>Open Sans ExtraBold</vt:lpstr>
      <vt:lpstr>21_BasicWhite</vt:lpstr>
      <vt:lpstr>First order logic</vt:lpstr>
      <vt:lpstr>Learning Outcomes</vt:lpstr>
      <vt:lpstr>outline</vt:lpstr>
      <vt:lpstr>First order logic</vt:lpstr>
      <vt:lpstr>First order logic</vt:lpstr>
      <vt:lpstr>First order logic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Syntax &amp; semantic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Inference first order logic</vt:lpstr>
      <vt:lpstr>Conversion to CNF</vt:lpstr>
      <vt:lpstr>Conversion to CNF</vt:lpstr>
      <vt:lpstr>Conversion to CNF</vt:lpstr>
      <vt:lpstr>Conversion to CNF</vt:lpstr>
      <vt:lpstr>Conversion to CNF</vt:lpstr>
      <vt:lpstr>Conversion to CNF</vt:lpstr>
      <vt:lpstr>Conversion to CNF</vt:lpstr>
      <vt:lpstr>Conversion to CNF</vt:lpstr>
      <vt:lpstr>Conversion to CNF</vt:lpstr>
      <vt:lpstr>Case study</vt:lpstr>
      <vt:lpstr>Case study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LUCKY</dc:creator>
  <cp:lastModifiedBy>Henry Lucky</cp:lastModifiedBy>
  <cp:revision>42</cp:revision>
  <dcterms:created xsi:type="dcterms:W3CDTF">2023-11-17T02:51:40Z</dcterms:created>
  <dcterms:modified xsi:type="dcterms:W3CDTF">2024-12-27T04:06:07Z</dcterms:modified>
</cp:coreProperties>
</file>