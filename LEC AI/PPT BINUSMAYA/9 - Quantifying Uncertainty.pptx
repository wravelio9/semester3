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28"/>
  </p:notesMasterIdLst>
  <p:sldIdLst>
    <p:sldId id="290" r:id="rId2"/>
    <p:sldId id="257" r:id="rId3"/>
    <p:sldId id="258" r:id="rId4"/>
    <p:sldId id="353" r:id="rId5"/>
    <p:sldId id="354" r:id="rId6"/>
    <p:sldId id="355" r:id="rId7"/>
    <p:sldId id="356" r:id="rId8"/>
    <p:sldId id="357" r:id="rId9"/>
    <p:sldId id="358" r:id="rId10"/>
    <p:sldId id="359" r:id="rId11"/>
    <p:sldId id="360" r:id="rId12"/>
    <p:sldId id="361" r:id="rId13"/>
    <p:sldId id="362" r:id="rId14"/>
    <p:sldId id="363" r:id="rId15"/>
    <p:sldId id="364" r:id="rId16"/>
    <p:sldId id="365" r:id="rId17"/>
    <p:sldId id="366" r:id="rId18"/>
    <p:sldId id="367" r:id="rId19"/>
    <p:sldId id="368" r:id="rId20"/>
    <p:sldId id="330" r:id="rId21"/>
    <p:sldId id="369" r:id="rId22"/>
    <p:sldId id="370" r:id="rId23"/>
    <p:sldId id="371" r:id="rId24"/>
    <p:sldId id="372" r:id="rId25"/>
    <p:sldId id="352" r:id="rId26"/>
    <p:sldId id="278" r:id="rId27"/>
  </p:sldIdLst>
  <p:sldSz cx="24384000" cy="13716000"/>
  <p:notesSz cx="6858000" cy="9144000"/>
  <p:embeddedFontLst>
    <p:embeddedFont>
      <p:font typeface="Cambria Math" panose="02040503050406030204" pitchFamily="18" charset="0"/>
      <p:regular r:id="rId29"/>
    </p:embeddedFont>
    <p:embeddedFont>
      <p:font typeface="OCRB" panose="020B0609020202020204" pitchFamily="49" charset="0"/>
      <p:regular r:id="rId30"/>
    </p:embeddedFont>
    <p:embeddedFont>
      <p:font typeface="Open Sans" panose="020B0606030504020204" pitchFamily="34" charset="0"/>
      <p:regular r:id="rId31"/>
      <p:bold r:id="rId32"/>
      <p:italic r:id="rId33"/>
      <p:boldItalic r:id="rId34"/>
    </p:embeddedFont>
    <p:embeddedFont>
      <p:font typeface="Open Sans ExtraBold" panose="020B0906030804020204" pitchFamily="34" charset="0"/>
      <p:bold r:id="rId35"/>
      <p:italic r:id="rId36"/>
      <p:boldItalic r:id="rId37"/>
    </p:embeddedFont>
    <p:embeddedFont>
      <p:font typeface="Open Sans Light" panose="020B0306030504020204" pitchFamily="34" charset="0"/>
      <p:regular r:id="rId38"/>
      <p:italic r:id="rId39"/>
    </p:embeddedFont>
    <p:embeddedFont>
      <p:font typeface="Open Sans Semibold" panose="020B0706030804020204" pitchFamily="34" charset="0"/>
      <p:regular r:id="rId40"/>
      <p:bold r:id="rId41"/>
      <p:italic r:id="rId42"/>
      <p:boldItalic r:id="rId43"/>
    </p:embeddedFont>
  </p:embeddedFont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1B5FF"/>
    <a:srgbClr val="F5AF36"/>
    <a:srgbClr val="314F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812" autoAdjust="0"/>
    <p:restoredTop sz="91017"/>
  </p:normalViewPr>
  <p:slideViewPr>
    <p:cSldViewPr snapToGrid="0" snapToObjects="1">
      <p:cViewPr varScale="1">
        <p:scale>
          <a:sx n="31" d="100"/>
          <a:sy n="31" d="100"/>
        </p:scale>
        <p:origin x="1230" y="102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1.fntdata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42" Type="http://schemas.openxmlformats.org/officeDocument/2006/relationships/font" Target="fonts/font14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font" Target="fonts/font9.fntdata"/><Relationship Id="rId40" Type="http://schemas.openxmlformats.org/officeDocument/2006/relationships/font" Target="fonts/font12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43" Type="http://schemas.openxmlformats.org/officeDocument/2006/relationships/font" Target="fonts/font15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font" Target="fonts/font10.fntdata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font" Target="fonts/font1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71" name="Shape 17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 b="0" i="0">
        <a:latin typeface="Open Sans Light" pitchFamily="2" charset="0"/>
        <a:ea typeface="Open Sans Light" pitchFamily="2" charset="0"/>
        <a:cs typeface="Open Sans Light" pitchFamily="2" charset="0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12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11" Type="http://schemas.openxmlformats.org/officeDocument/2006/relationships/image" Target="../media/image5.png"/><Relationship Id="rId5" Type="http://schemas.openxmlformats.org/officeDocument/2006/relationships/image" Target="../media/image11.svg"/><Relationship Id="rId10" Type="http://schemas.openxmlformats.org/officeDocument/2006/relationships/image" Target="../media/image4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9.svg"/><Relationship Id="rId7" Type="http://schemas.openxmlformats.org/officeDocument/2006/relationships/image" Target="../media/image5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6474C2C-5958-6F6B-1482-E67DED339D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4" name="UNIVERSITAS BINA NUSANTARA">
            <a:extLst>
              <a:ext uri="{FF2B5EF4-FFF2-40B4-BE49-F238E27FC236}">
                <a16:creationId xmlns:a16="http://schemas.microsoft.com/office/drawing/2014/main" id="{5DC7F27E-9CB9-099F-4DA7-367C6ADB411B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72B8CD-2B60-168D-460C-3FFD38B69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7" y="758208"/>
            <a:ext cx="2698754" cy="1143002"/>
          </a:xfrm>
          <a:prstGeom prst="rect">
            <a:avLst/>
          </a:prstGeom>
        </p:spPr>
      </p:pic>
      <p:pic>
        <p:nvPicPr>
          <p:cNvPr id="7" name="Image" descr="Image">
            <a:extLst>
              <a:ext uri="{FF2B5EF4-FFF2-40B4-BE49-F238E27FC236}">
                <a16:creationId xmlns:a16="http://schemas.microsoft.com/office/drawing/2014/main" id="{69A49E29-524D-6392-0485-9DF63C0D6D3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9412486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CCD29839-25B4-3D48-8D8C-B1D859A74A9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8" y="3260663"/>
            <a:ext cx="20057623" cy="8583279"/>
          </a:xfrm>
        </p:spPr>
        <p:txBody>
          <a:bodyPr>
            <a:normAutofit/>
          </a:bodyPr>
          <a:lstStyle>
            <a:lvl1pPr marL="742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1pPr>
            <a:lvl2pPr marL="149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2pPr>
            <a:lvl3pPr marL="2254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3pPr>
            <a:lvl4pPr marL="3010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4pPr>
            <a:lvl5pPr marL="365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5pPr>
            <a:lvl7pPr marL="3657600" indent="0">
              <a:buNone/>
              <a:defRPr/>
            </a:lvl7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B39841-01E8-3B46-1169-9D75B18B74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2" name="Group">
            <a:extLst>
              <a:ext uri="{FF2B5EF4-FFF2-40B4-BE49-F238E27FC236}">
                <a16:creationId xmlns:a16="http://schemas.microsoft.com/office/drawing/2014/main" id="{AC8C371E-C0F6-4081-3D3F-D6E3528C4285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4" name="Image" descr="Image">
              <a:extLst>
                <a:ext uri="{FF2B5EF4-FFF2-40B4-BE49-F238E27FC236}">
                  <a16:creationId xmlns:a16="http://schemas.microsoft.com/office/drawing/2014/main" id="{521B05C9-D576-5C9F-B6FD-5FB48D1A78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BAAB4BAE-E916-72F8-967D-ECE287538C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4B27BB17-04E8-65DD-1C87-6ECA478DD2A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902452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F7BB76AE-A45C-1F43-9E7B-E96439A8D439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ID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3DCB9E1-9FF7-C612-AB16-FF67078783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3" name="UNIVERSITAS BINA NUSANTARA">
            <a:extLst>
              <a:ext uri="{FF2B5EF4-FFF2-40B4-BE49-F238E27FC236}">
                <a16:creationId xmlns:a16="http://schemas.microsoft.com/office/drawing/2014/main" id="{76287026-42FF-418F-A536-8F52F4949E8D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412E04-E7E5-6907-9DD0-CE975EF383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8" y="758208"/>
            <a:ext cx="2698754" cy="1143002"/>
          </a:xfrm>
          <a:prstGeom prst="rect">
            <a:avLst/>
          </a:prstGeom>
        </p:spPr>
      </p:pic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926A66CA-CC36-3D53-1A6D-2BBE35B859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50031857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C493109-42AD-F678-F34A-9DA73287D1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01451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B64D7030-BF7A-6737-0471-B16F6A5E914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2620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039E3D91-9575-7645-A4DA-1857555C3973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F37568-0478-FF67-A2F0-B1647C1EC9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6" name="Image" descr="Image">
            <a:extLst>
              <a:ext uri="{FF2B5EF4-FFF2-40B4-BE49-F238E27FC236}">
                <a16:creationId xmlns:a16="http://schemas.microsoft.com/office/drawing/2014/main" id="{97B52BDB-6F34-5E38-95B5-002D2E4627E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8212086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9B58D5CA-1AEF-754B-9F74-AE29F8DD61D5}"/>
              </a:ext>
            </a:extLst>
          </p:cNvPr>
          <p:cNvSpPr/>
          <p:nvPr userDrawn="1"/>
        </p:nvSpPr>
        <p:spPr>
          <a:xfrm>
            <a:off x="-1" y="0"/>
            <a:ext cx="24384001" cy="13716000"/>
          </a:xfrm>
          <a:prstGeom prst="rect">
            <a:avLst/>
          </a:prstGeom>
          <a:gradFill>
            <a:gsLst>
              <a:gs pos="0">
                <a:srgbClr val="F89620"/>
              </a:gs>
              <a:gs pos="100000">
                <a:srgbClr val="FFB03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174CAF-8FC8-EDAE-768D-30BF90143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023E32AF-B055-2D80-60DC-AD951FFC6EC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2990515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D74DB4AE-0419-BC41-9D4A-DC2FB6ABAE92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E3F9842-C644-B204-B6FB-F1DB21947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171C5759-0A99-760B-64A0-C6156603CAC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48888290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5C668086-F712-8640-8B8D-2424E50E003F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FBCE66-A5E8-A158-9B31-BA9AFC103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F25DF897-C0D1-81DA-05D2-9D6EC69E200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20730222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B6B9E9EC-92F4-2943-BCEE-A17DD1A638A8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315094"/>
              </a:gs>
              <a:gs pos="100000">
                <a:srgbClr val="293C6E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3DC583-F6CD-401E-7E06-373CCF952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B18B5FE2-77F7-8983-B96D-E39C876C98D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51268309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3B0134B8-92DD-5A47-83ED-ED2B1DC0A2FA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797979"/>
              </a:gs>
              <a:gs pos="100000">
                <a:srgbClr val="A9A9A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53EC82-39FF-16C4-642C-2070D4989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79D2E17-CD2E-3750-65DE-315E0C44F51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5794635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6AB40C6-E41E-9F54-5391-1B969D0CD911}"/>
              </a:ext>
            </a:extLst>
          </p:cNvPr>
          <p:cNvSpPr/>
          <p:nvPr userDrawn="1"/>
        </p:nvSpPr>
        <p:spPr>
          <a:xfrm>
            <a:off x="6181816" y="4686855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80221CE-1DAF-B881-9928-5F7152658A68}"/>
              </a:ext>
            </a:extLst>
          </p:cNvPr>
          <p:cNvSpPr/>
          <p:nvPr userDrawn="1"/>
        </p:nvSpPr>
        <p:spPr>
          <a:xfrm>
            <a:off x="2167377" y="4686855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769ADC5F-7856-93FC-73B6-D0FD6CF171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51814" y="4995800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00A99FD3-8026-DED8-6415-E6F86A722F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54063" y="4995800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247E1DC-6698-D91F-6E0F-EE6AA5A0EE44}"/>
              </a:ext>
            </a:extLst>
          </p:cNvPr>
          <p:cNvSpPr/>
          <p:nvPr userDrawn="1"/>
        </p:nvSpPr>
        <p:spPr>
          <a:xfrm>
            <a:off x="6181816" y="7440664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4546BDD-E691-E2BA-47E5-B549A7229C89}"/>
              </a:ext>
            </a:extLst>
          </p:cNvPr>
          <p:cNvSpPr/>
          <p:nvPr userDrawn="1"/>
        </p:nvSpPr>
        <p:spPr>
          <a:xfrm>
            <a:off x="2167377" y="7440664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60AF2BE-EDAA-B7C2-8580-AB1ACF70EF3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51814" y="7749609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EC36AFE-3A01-B3EC-7E28-B8F97B9003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54063" y="7749609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E84B4FD-950C-7E7E-B32E-0106A01D53C4}"/>
              </a:ext>
            </a:extLst>
          </p:cNvPr>
          <p:cNvSpPr/>
          <p:nvPr userDrawn="1"/>
        </p:nvSpPr>
        <p:spPr>
          <a:xfrm>
            <a:off x="6181816" y="10194473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B266147-1D67-88E4-9FE7-F833346E464A}"/>
              </a:ext>
            </a:extLst>
          </p:cNvPr>
          <p:cNvSpPr/>
          <p:nvPr userDrawn="1"/>
        </p:nvSpPr>
        <p:spPr>
          <a:xfrm>
            <a:off x="2167377" y="10194473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6248EF39-489B-0AB6-1C39-97964F6585C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051814" y="10503418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E37917F2-61C0-8B23-0D87-2AA3EEB8377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54063" y="10503418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3F0C4EB7-81AE-6D10-33F3-83A99AC2F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43113C8-679B-440C-38CF-27CC1A6FF3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947DDD-26C7-6643-F78E-7D846EE616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7ECEA5DF-6E18-3A6E-8D5B-83F815F6641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7091168A-CF21-90B0-E317-4D5837F674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" name="Image" descr="Image">
              <a:extLst>
                <a:ext uri="{FF2B5EF4-FFF2-40B4-BE49-F238E27FC236}">
                  <a16:creationId xmlns:a16="http://schemas.microsoft.com/office/drawing/2014/main" id="{66F1D347-8887-50E1-404D-81CA8EA95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9" name="Image" descr="Image">
              <a:extLst>
                <a:ext uri="{FF2B5EF4-FFF2-40B4-BE49-F238E27FC236}">
                  <a16:creationId xmlns:a16="http://schemas.microsoft.com/office/drawing/2014/main" id="{31815DE4-517D-1DFD-DEB0-EFAEBDA0E3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99810271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">
            <a:extLst>
              <a:ext uri="{FF2B5EF4-FFF2-40B4-BE49-F238E27FC236}">
                <a16:creationId xmlns:a16="http://schemas.microsoft.com/office/drawing/2014/main" id="{5B500D99-BCA8-5A47-AC2D-7A5DFB585C9A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A99AE5-3E66-BB3F-4028-3D48CC999F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394FDA65-5E81-1098-0941-1FB18BED14DD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38BA09D8-F8B2-19A8-B70A-1A73ACE24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C8189981-CA8D-3F41-4C71-452D07E529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F2CA1978-1D7F-9FBC-1610-A6CA7FFAA5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23987A6D-AD04-0FF1-0C66-3D62A8BBD97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309300" cy="8129718"/>
          </a:xfrm>
        </p:spPr>
        <p:txBody>
          <a:bodyPr>
            <a:normAutofit/>
          </a:bodyPr>
          <a:lstStyle>
            <a:lvl1pPr marL="742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1pPr>
            <a:lvl2pPr marL="149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2pPr>
            <a:lvl3pPr marL="2254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3pPr>
            <a:lvl4pPr marL="3010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4pPr>
            <a:lvl5pPr marL="365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5pPr>
            <a:lvl7pPr marL="3657600" indent="0">
              <a:buNone/>
              <a:defRPr/>
            </a:lvl7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3405103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D2A636C9-947E-150D-EB07-22919761FA60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6737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05342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64330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3A552A97-F867-374E-B40D-BD84D80804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DB283EA2-01A0-334D-8038-2E3190C1B2B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05342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B5710E30-F50B-2E47-A284-AB9A73F6AB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64330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B8984F-75C1-9D5B-FF38-2151D77141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4440FB6-864F-EC32-9C12-F5781DD839A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FD2AEEAF-7ADA-0233-2FB3-A724EEF032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27230D68-4A71-B42E-9C59-8EFE95EE53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6FA4D137-12D3-04A4-6F7D-A965125F65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50518920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3A325C97-8FC1-69A4-76A6-9BFCCE62D08F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8F28C692-0EE9-7D99-17B4-3313049F0A01}"/>
              </a:ext>
            </a:extLst>
          </p:cNvPr>
          <p:cNvSpPr/>
          <p:nvPr userDrawn="1"/>
        </p:nvSpPr>
        <p:spPr>
          <a:xfrm>
            <a:off x="7398337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1B89336-F494-2062-ED79-0A44623AD4C4}"/>
              </a:ext>
            </a:extLst>
          </p:cNvPr>
          <p:cNvSpPr/>
          <p:nvPr userDrawn="1"/>
        </p:nvSpPr>
        <p:spPr>
          <a:xfrm>
            <a:off x="2167377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94247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51AEE51-4476-0347-EE71-4727AC7D90CC}"/>
              </a:ext>
            </a:extLst>
          </p:cNvPr>
          <p:cNvSpPr/>
          <p:nvPr userDrawn="1"/>
        </p:nvSpPr>
        <p:spPr>
          <a:xfrm>
            <a:off x="9278138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8DF8073-7CBE-78F8-385D-33EC70507F81}"/>
              </a:ext>
            </a:extLst>
          </p:cNvPr>
          <p:cNvSpPr/>
          <p:nvPr userDrawn="1"/>
        </p:nvSpPr>
        <p:spPr>
          <a:xfrm>
            <a:off x="16388899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5D06E93C-E9EF-DAD7-BDE3-8DDAB05CDF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719708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AB64C3FA-E7EC-73CE-DEC9-E0D1DACCC9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882946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1B745795-7EE3-42BF-EDBE-49D4FAD835F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349891" y="10445295"/>
            <a:ext cx="19038148" cy="1701954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0AE76436-839B-BF36-E19E-893653562EA3}"/>
              </a:ext>
            </a:extLst>
          </p:cNvPr>
          <p:cNvSpPr/>
          <p:nvPr userDrawn="1"/>
        </p:nvSpPr>
        <p:spPr>
          <a:xfrm>
            <a:off x="14509098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CFF0438-821D-3C18-6D61-1BD73A4DC167}"/>
              </a:ext>
            </a:extLst>
          </p:cNvPr>
          <p:cNvSpPr/>
          <p:nvPr userDrawn="1"/>
        </p:nvSpPr>
        <p:spPr>
          <a:xfrm>
            <a:off x="4241849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BC35716-81E4-A54F-3272-89DAA37CF79D}"/>
              </a:ext>
            </a:extLst>
          </p:cNvPr>
          <p:cNvSpPr/>
          <p:nvPr userDrawn="1"/>
        </p:nvSpPr>
        <p:spPr>
          <a:xfrm>
            <a:off x="11279661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D587B62-738C-1BE8-E775-FC6EC9D2556E}"/>
              </a:ext>
            </a:extLst>
          </p:cNvPr>
          <p:cNvSpPr/>
          <p:nvPr userDrawn="1"/>
        </p:nvSpPr>
        <p:spPr>
          <a:xfrm>
            <a:off x="18463370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C48672-F1E2-A230-B095-57E67183F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8D3FDAF8-012C-4D3A-C949-6317F6E219D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56EB9265-9B68-78E9-B5B8-F2C39D9134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E445F39B-125D-DE62-15D6-B4FE5E3C4A7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Image" descr="Image">
              <a:extLst>
                <a:ext uri="{FF2B5EF4-FFF2-40B4-BE49-F238E27FC236}">
                  <a16:creationId xmlns:a16="http://schemas.microsoft.com/office/drawing/2014/main" id="{CC8E73D5-72F6-77A3-C650-62976C8584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80928499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95F33489-AE64-A520-339D-37FA55DCDDCD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167377" y="6556917"/>
            <a:ext cx="9768906" cy="557561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199BEEEC-0D44-544B-A30D-8F854BF4A1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339930" y="4210629"/>
            <a:ext cx="9099057" cy="7921898"/>
          </a:xfrm>
        </p:spPr>
        <p:txBody>
          <a:bodyPr/>
          <a:lstStyle>
            <a:lvl1pPr marL="0" indent="0">
              <a:buNone/>
              <a:defRPr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3C6146-DC72-7FB3-6375-B120A24C107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66938" y="4210049"/>
            <a:ext cx="9768874" cy="2039112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CD14E8-DE1C-14FC-FEA7-30EAAA9BB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E62B7B4A-4960-D224-2BB3-BD1A6C05E12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6F2D1DB1-7918-B846-534B-BCACC79082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A33628EC-398A-85C8-EA60-202449B367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4EE2131F-630C-FF89-05AC-61DFC80718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08532981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28F252AD-5DE4-7070-6059-31CB6E8E15CC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Or 3">
            <a:extLst>
              <a:ext uri="{FF2B5EF4-FFF2-40B4-BE49-F238E27FC236}">
                <a16:creationId xmlns:a16="http://schemas.microsoft.com/office/drawing/2014/main" id="{E68A1B27-C10C-399D-6C52-E0B8F062FF6D}"/>
              </a:ext>
            </a:extLst>
          </p:cNvPr>
          <p:cNvSpPr/>
          <p:nvPr userDrawn="1"/>
        </p:nvSpPr>
        <p:spPr>
          <a:xfrm>
            <a:off x="7481303" y="3712458"/>
            <a:ext cx="9144000" cy="9144000"/>
          </a:xfrm>
          <a:prstGeom prst="flowChartOr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AE1FE12-D6E7-CC76-3FE4-BC8F0EC78DF0}"/>
              </a:ext>
            </a:extLst>
          </p:cNvPr>
          <p:cNvCxnSpPr>
            <a:cxnSpLocks/>
            <a:stCxn id="4" idx="0"/>
          </p:cNvCxnSpPr>
          <p:nvPr userDrawn="1"/>
        </p:nvCxnSpPr>
        <p:spPr>
          <a:xfrm>
            <a:off x="12053303" y="3712458"/>
            <a:ext cx="22098" cy="914400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945EE12-0322-D3C6-8589-1B9554503365}"/>
              </a:ext>
            </a:extLst>
          </p:cNvPr>
          <p:cNvCxnSpPr>
            <a:cxnSpLocks/>
            <a:endCxn id="4" idx="2"/>
          </p:cNvCxnSpPr>
          <p:nvPr userDrawn="1"/>
        </p:nvCxnSpPr>
        <p:spPr>
          <a:xfrm flipH="1">
            <a:off x="7481303" y="8284458"/>
            <a:ext cx="9144000" cy="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9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FC4F9637-2BA1-E3F7-1599-2295EF076C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56949" y="7294814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7270689-CD03-86EE-AD4E-701F61CD37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56949" y="8617313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B5939A4B-8504-2C32-E90E-9DA4843EF0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365741" y="7298299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44D6C0A8-7DC7-6F84-E472-8E0CA423C5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27997" y="8595891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9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6ADBE3FB-D313-E2BC-715C-D8600CF8BD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255744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A79FD328-17AF-2BB2-5730-3D5CA0EE97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255744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0" name="Graphic 19" descr="Artificial Intelligence with solid fill">
            <a:extLst>
              <a:ext uri="{FF2B5EF4-FFF2-40B4-BE49-F238E27FC236}">
                <a16:creationId xmlns:a16="http://schemas.microsoft.com/office/drawing/2014/main" id="{717E632E-7C2D-8BE2-BA0D-FBA56ED592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28162" y="4999921"/>
            <a:ext cx="1936946" cy="1936946"/>
          </a:xfrm>
          <a:prstGeom prst="rect">
            <a:avLst/>
          </a:prstGeom>
        </p:spPr>
      </p:pic>
      <p:pic>
        <p:nvPicPr>
          <p:cNvPr id="22" name="Graphic 21" descr="Atom with solid fill">
            <a:extLst>
              <a:ext uri="{FF2B5EF4-FFF2-40B4-BE49-F238E27FC236}">
                <a16:creationId xmlns:a16="http://schemas.microsoft.com/office/drawing/2014/main" id="{CCE4C43E-15B3-15EB-CF11-EB3378A3CEF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837038" y="4968699"/>
            <a:ext cx="1958731" cy="1958731"/>
          </a:xfrm>
          <a:prstGeom prst="rect">
            <a:avLst/>
          </a:prstGeom>
        </p:spPr>
      </p:pic>
      <p:pic>
        <p:nvPicPr>
          <p:cNvPr id="24" name="Graphic 23" descr="Bar chart with solid fill">
            <a:extLst>
              <a:ext uri="{FF2B5EF4-FFF2-40B4-BE49-F238E27FC236}">
                <a16:creationId xmlns:a16="http://schemas.microsoft.com/office/drawing/2014/main" id="{0445AAA4-0C9A-80AB-86CE-F91A16FFC29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04135" y="9715514"/>
            <a:ext cx="1696410" cy="1696410"/>
          </a:xfrm>
          <a:prstGeom prst="rect">
            <a:avLst/>
          </a:prstGeom>
        </p:spPr>
      </p:pic>
      <p:pic>
        <p:nvPicPr>
          <p:cNvPr id="35" name="Graphic 34" descr="Blockchain with solid fill">
            <a:extLst>
              <a:ext uri="{FF2B5EF4-FFF2-40B4-BE49-F238E27FC236}">
                <a16:creationId xmlns:a16="http://schemas.microsoft.com/office/drawing/2014/main" id="{CB7D00AA-1C33-1508-6057-E10BDF964F0D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837038" y="9711819"/>
            <a:ext cx="1700105" cy="17001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7FCB3B-92B7-9A04-09DB-5667129A3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805F1785-290C-1641-A96F-184692C7298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DE051A88-BFBF-58FB-0D20-AA66E50B943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FF606EC9-F598-701C-CF2B-AC339348BD1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1DD6A07B-1CB5-B903-09DB-950559FCE4E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701029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55631E8-C878-10B3-37B6-B446CE8244F9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CRB" panose="020F0502020204030204" pitchFamily="34" charset="0"/>
              <a:ea typeface="Open Sans Light" pitchFamily="2" charset="0"/>
              <a:cs typeface="OCRB" panose="020F050202020403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8" y="4349750"/>
            <a:ext cx="12097701" cy="3462458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8" y="8938684"/>
            <a:ext cx="19839621" cy="3676241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Graphic 4" descr="Checklist with solid fill">
            <a:extLst>
              <a:ext uri="{FF2B5EF4-FFF2-40B4-BE49-F238E27FC236}">
                <a16:creationId xmlns:a16="http://schemas.microsoft.com/office/drawing/2014/main" id="{EEEA3E7D-43D1-BB41-8C28-FEDBD7273D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40000" y="4320116"/>
            <a:ext cx="3535680" cy="35356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1F61AE-0C1A-636C-687E-207E2A2A70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A734540B-EB64-130D-3523-93575103ED02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953221E-8F74-C3B9-7C70-CFB02A3B7E6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49A2096B-323B-F3EF-7CC9-DF562AC8C22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B7EE6C9-8BC7-CD09-089B-BA35D919D1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22704086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">
            <a:extLst>
              <a:ext uri="{FF2B5EF4-FFF2-40B4-BE49-F238E27FC236}">
                <a16:creationId xmlns:a16="http://schemas.microsoft.com/office/drawing/2014/main" id="{57D6C136-B186-B244-9E34-B1B3CC503956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76751" y="10942822"/>
            <a:ext cx="8523218" cy="1444847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684029" y="10972442"/>
            <a:ext cx="8523218" cy="1444848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3520A367-5826-4047-8F6E-2143367953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76751" y="4582010"/>
            <a:ext cx="8523218" cy="5555977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09A473F0-3B7E-704A-AA89-F4277FCB99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684029" y="4582010"/>
            <a:ext cx="8523218" cy="5577461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210B6C-2009-3AB9-2B36-C9C111BD1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6BFD5909-E19C-D820-5C51-280C15B09CB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8B08C927-B7A0-43BA-4100-83612BFB59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6AFC5A1D-896A-4BE5-A25A-A017213721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8C85CFC-A584-60C9-398C-FC5F3B10C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77924557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450F1BD6-0F15-C34E-9F74-50970B5378D2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64D80AC6-9CFD-09B5-1CEF-F695884CCD02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11460163" y="3962400"/>
            <a:ext cx="12118975" cy="90836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A6CC15-DCB9-9ABD-A03B-8B586BD05B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2075" y="3962399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Graphic 8" descr="Blockchain with solid fill">
            <a:extLst>
              <a:ext uri="{FF2B5EF4-FFF2-40B4-BE49-F238E27FC236}">
                <a16:creationId xmlns:a16="http://schemas.microsoft.com/office/drawing/2014/main" id="{C6F9FEE2-3F55-6EBA-4F92-F43ABD638B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37047" y="3962400"/>
            <a:ext cx="1403522" cy="1403522"/>
          </a:xfrm>
          <a:prstGeom prst="rect">
            <a:avLst/>
          </a:prstGeom>
        </p:spPr>
      </p:pic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8597BD3B-4478-8A1D-BD26-1D9EFAA7FC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02075" y="8861383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 descr="Bullseye with solid fill">
            <a:extLst>
              <a:ext uri="{FF2B5EF4-FFF2-40B4-BE49-F238E27FC236}">
                <a16:creationId xmlns:a16="http://schemas.microsoft.com/office/drawing/2014/main" id="{D6B829BF-9E0D-0105-F75C-8DDD429EFC0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87110" y="8648744"/>
            <a:ext cx="1403521" cy="14035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C22165-28E5-078B-D527-EB85E34E9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8" name="Group">
            <a:extLst>
              <a:ext uri="{FF2B5EF4-FFF2-40B4-BE49-F238E27FC236}">
                <a16:creationId xmlns:a16="http://schemas.microsoft.com/office/drawing/2014/main" id="{1AB01AB1-EADC-77A2-A940-2DE69B7ABE8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3B174F11-D671-E0EF-C5C9-332FF7B2255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B2D60E6B-CEFB-1201-1ABC-A47A5C6DEDA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" name="Image" descr="Image">
              <a:extLst>
                <a:ext uri="{FF2B5EF4-FFF2-40B4-BE49-F238E27FC236}">
                  <a16:creationId xmlns:a16="http://schemas.microsoft.com/office/drawing/2014/main" id="{3ECE39F8-02C5-64A7-9AC5-4BDC8C44E36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81101224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6D051288-6E3E-A95D-1377-4372C7DC1C4F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4D652F67-94A0-0840-AE16-55B87BEAF3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120517"/>
            <a:ext cx="9469197" cy="856859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A7F952E-8DC5-6A79-9AE3-813B3AE4D1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47867" y="6462508"/>
            <a:ext cx="8024838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A033C1D-E65C-08C9-F39B-80EFE57D65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47428" y="4115640"/>
            <a:ext cx="8024812" cy="1968425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79C9F5-AAFF-0002-246E-C6EBF2351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9954499-52C9-37B8-CE68-E31F97D9B97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1827E7EE-F7D7-B912-1873-48F271C754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97CC2254-DB2F-2222-3ACB-0F4D49DF24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1DEA3358-B0D8-2D88-2DDF-CD2824CEACE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3404523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iz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ABE8965-C5C7-9C39-4D77-41321DCB42C7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ound Same Side Corner Rectangle 3">
            <a:extLst>
              <a:ext uri="{FF2B5EF4-FFF2-40B4-BE49-F238E27FC236}">
                <a16:creationId xmlns:a16="http://schemas.microsoft.com/office/drawing/2014/main" id="{FA29A0C7-63A9-37AE-C36E-28D29DB1FC0C}"/>
              </a:ext>
            </a:extLst>
          </p:cNvPr>
          <p:cNvSpPr/>
          <p:nvPr userDrawn="1"/>
        </p:nvSpPr>
        <p:spPr>
          <a:xfrm>
            <a:off x="2124334" y="5228017"/>
            <a:ext cx="7712393" cy="8605898"/>
          </a:xfrm>
          <a:prstGeom prst="round2SameRect">
            <a:avLst>
              <a:gd name="adj1" fmla="val 7123"/>
              <a:gd name="adj2" fmla="val 0"/>
            </a:avLst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0BFA553-2EAA-7D5D-66A4-3CB0B3039A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94247" y="7248019"/>
            <a:ext cx="6817382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Graphic 5" descr="Help with solid fill">
            <a:extLst>
              <a:ext uri="{FF2B5EF4-FFF2-40B4-BE49-F238E27FC236}">
                <a16:creationId xmlns:a16="http://schemas.microsoft.com/office/drawing/2014/main" id="{5BCC09F5-BEFD-455C-0F2F-F18D468EC7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94247" y="5468810"/>
            <a:ext cx="1427671" cy="1427671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A5EDB33-736C-0AA5-C7CD-BDFF535E7A9C}"/>
              </a:ext>
            </a:extLst>
          </p:cNvPr>
          <p:cNvSpPr/>
          <p:nvPr userDrawn="1"/>
        </p:nvSpPr>
        <p:spPr>
          <a:xfrm>
            <a:off x="11485756" y="5237573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A29247D-C253-CBDD-13EE-F16B85217807}"/>
              </a:ext>
            </a:extLst>
          </p:cNvPr>
          <p:cNvSpPr/>
          <p:nvPr userDrawn="1"/>
        </p:nvSpPr>
        <p:spPr>
          <a:xfrm>
            <a:off x="11485756" y="6937152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40D50B7-0BFF-E456-7675-C96913EC6D02}"/>
              </a:ext>
            </a:extLst>
          </p:cNvPr>
          <p:cNvSpPr/>
          <p:nvPr userDrawn="1"/>
        </p:nvSpPr>
        <p:spPr>
          <a:xfrm>
            <a:off x="11485756" y="8615938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4EB9AD0-97D9-EA55-1897-8E787ACA18AD}"/>
              </a:ext>
            </a:extLst>
          </p:cNvPr>
          <p:cNvSpPr/>
          <p:nvPr userDrawn="1"/>
        </p:nvSpPr>
        <p:spPr>
          <a:xfrm>
            <a:off x="11485756" y="10294724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FE4A142-7345-2F27-77AC-6B8D7F3BB8F0}"/>
              </a:ext>
            </a:extLst>
          </p:cNvPr>
          <p:cNvSpPr/>
          <p:nvPr userDrawn="1"/>
        </p:nvSpPr>
        <p:spPr>
          <a:xfrm>
            <a:off x="11485756" y="11973510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8ED258EB-0A79-0CC4-9AC5-E5BB65095D9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936252" y="5570897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D7D34A3F-BE3B-171A-71BC-2F827D2C4C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936252" y="7270476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3421587F-10AC-7EBE-6901-E1BA33DF8A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936252" y="8949262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B1FF3B0B-6113-DB9F-2F3C-96810CE901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936252" y="10628048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1B78CB5C-262B-068C-9251-A2C3C592CF4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936252" y="12306834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9AF533-B5F6-1F4C-DB2A-D5C619F69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CACAE48A-1410-60E4-FCE8-EBA95AD9A7D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35D3321-F5AB-7B39-240A-709C3EABC96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9A5045C5-E6D9-0C02-A60D-808D1A46D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5C378790-9194-7CF7-64F2-DCDC541DE74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5136152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9823213" y="8366096"/>
            <a:ext cx="4727256" cy="301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2400" dirty="0"/>
              <a:t>UNIVERSITAS</a:t>
            </a:r>
            <a:r>
              <a:rPr sz="2400"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THANK YOU message</a:t>
            </a:r>
            <a:endParaRPr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BE46FE-17DA-131C-25CA-513E1EB2D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9D08008-1FC5-26A6-E9A3-34742000683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27320987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BE73ECD8-9761-904C-83FC-7C21B825FC86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/>
              <a:t>THANK YOU message</a:t>
            </a:r>
            <a:endParaRPr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851190-1E16-8731-05F7-9E415A2E7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16478055-4CD9-7AD2-1E0C-062019F0D61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10994172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bullet text</a:t>
            </a:r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89384" y="13076008"/>
            <a:ext cx="392736" cy="3795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fld id="{86CB4B4D-7CA3-9044-876B-883B54F8677D}" type="slidenum">
              <a:rPr lang="en-ID"/>
              <a:pPr/>
              <a:t>‹#›</a:t>
            </a:fld>
            <a:endParaRPr lang="en-ID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6" r:id="rId2"/>
    <p:sldLayoutId id="214748368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4" r:id="rId11"/>
    <p:sldLayoutId id="2147483667" r:id="rId12"/>
    <p:sldLayoutId id="2147483668" r:id="rId13"/>
    <p:sldLayoutId id="2147483685" r:id="rId14"/>
    <p:sldLayoutId id="2147483669" r:id="rId15"/>
    <p:sldLayoutId id="2147483683" r:id="rId16"/>
    <p:sldLayoutId id="2147483688" r:id="rId17"/>
    <p:sldLayoutId id="2147483670" r:id="rId18"/>
    <p:sldLayoutId id="2147483687" r:id="rId19"/>
    <p:sldLayoutId id="2147483671" r:id="rId20"/>
    <p:sldLayoutId id="2147483686" r:id="rId21"/>
    <p:sldLayoutId id="2147483680" r:id="rId22"/>
    <p:sldLayoutId id="2147483681" r:id="rId23"/>
  </p:sldLayoutIdLst>
  <p:transition spd="med"/>
  <p:txStyles>
    <p:titleStyle>
      <a:lvl1pPr marL="0" marR="0" indent="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Open Sans Extrabold" panose="020B0606030504020204" pitchFamily="34" charset="0"/>
          <a:ea typeface="Open Sans Extrabold" panose="020B0606030504020204" pitchFamily="34" charset="0"/>
          <a:cs typeface="Open Sans Extrabold" panose="020B0606030504020204" pitchFamily="34" charset="0"/>
          <a:sym typeface="Helvetica Neue"/>
        </a:defRPr>
      </a:lvl1pPr>
      <a:lvl2pPr marL="0" marR="0" indent="457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1pPr>
      <a:lvl2pPr marL="1219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2pPr>
      <a:lvl3pPr marL="1828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3pPr>
      <a:lvl4pPr marL="2438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4pPr>
      <a:lvl5pPr marL="30480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5pPr>
      <a:lvl6pPr marL="3657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0F9371B-F92F-AED8-457A-F4BAE6779B8C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dirty="0"/>
              <a:t>Session 09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5C0E2BF-BBBC-BF27-4255-C5149D193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Quantifying uncertainty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9DA326-32BB-7EBF-F49C-D0308881B7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543550" y="11538583"/>
            <a:ext cx="5286583" cy="745888"/>
          </a:xfrm>
        </p:spPr>
        <p:txBody>
          <a:bodyPr/>
          <a:lstStyle/>
          <a:p>
            <a:r>
              <a:rPr lang="en-US" dirty="0"/>
              <a:t>Henry Lucky, </a:t>
            </a:r>
            <a:r>
              <a:rPr lang="en-US" dirty="0" err="1"/>
              <a:t>S.Kom</a:t>
            </a:r>
            <a:r>
              <a:rPr lang="en-US" dirty="0"/>
              <a:t>., </a:t>
            </a:r>
            <a:r>
              <a:rPr lang="en-US" dirty="0" err="1"/>
              <a:t>M.Kom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05779256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EE913-EE39-C321-5882-05A506DB3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Learning Outcomes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2D373-5BC5-C51D-92C2-C090C38578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Session 9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426B6-A02E-F758-7A2B-554FFF354A1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D" dirty="0"/>
              <a:t>At the end of this session, students will be able to:</a:t>
            </a:r>
          </a:p>
          <a:p>
            <a:r>
              <a:rPr lang="en-ID" dirty="0"/>
              <a:t>LO 4: Apply various techniques to an agent when acting under uncertainty  </a:t>
            </a:r>
          </a:p>
        </p:txBody>
      </p:sp>
    </p:spTree>
    <p:extLst>
      <p:ext uri="{BB962C8B-B14F-4D97-AF65-F5344CB8AC3E}">
        <p14:creationId xmlns:p14="http://schemas.microsoft.com/office/powerpoint/2010/main" val="2766454393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EE913-EE39-C321-5882-05A506DB3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outline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2D373-5BC5-C51D-92C2-C090C38578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Session 9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426B6-A02E-F758-7A2B-554FFF354A1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ID" b="0" i="0" u="none" strike="noStrike" dirty="0">
                <a:solidFill>
                  <a:srgbClr val="000000"/>
                </a:solidFill>
                <a:effectLst/>
              </a:rPr>
              <a:t>Probability</a:t>
            </a:r>
          </a:p>
          <a:p>
            <a:r>
              <a:rPr lang="en-ID" b="0" i="0" u="none" strike="noStrike" dirty="0">
                <a:solidFill>
                  <a:srgbClr val="000000"/>
                </a:solidFill>
                <a:effectLst/>
              </a:rPr>
              <a:t>Random Variables</a:t>
            </a:r>
          </a:p>
          <a:p>
            <a:r>
              <a:rPr lang="en-ID" b="0" i="0" u="none" strike="noStrike" dirty="0">
                <a:solidFill>
                  <a:srgbClr val="000000"/>
                </a:solidFill>
                <a:effectLst/>
              </a:rPr>
              <a:t>Probability Distributions</a:t>
            </a:r>
          </a:p>
          <a:p>
            <a:r>
              <a:rPr lang="en-ID" b="0" i="0" u="none" strike="noStrike" dirty="0">
                <a:solidFill>
                  <a:srgbClr val="000000"/>
                </a:solidFill>
                <a:effectLst/>
              </a:rPr>
              <a:t>The Chain Rule</a:t>
            </a:r>
          </a:p>
          <a:p>
            <a:r>
              <a:rPr lang="en-ID" b="0" i="0" u="none" strike="noStrike" dirty="0">
                <a:solidFill>
                  <a:srgbClr val="000000"/>
                </a:solidFill>
                <a:effectLst/>
              </a:rPr>
              <a:t>Bayes Rule</a:t>
            </a:r>
            <a:endParaRPr lang="en-ID" dirty="0"/>
          </a:p>
          <a:p>
            <a:endParaRPr lang="en-ID" dirty="0"/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889462471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DCC80-18A9-CC4F-A09E-B498BA31C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Probability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F75F5E-42E1-592E-CC7E-265976A1391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uncertainty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5F03C2-AB0D-6794-B60F-46FAB7775C8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8" y="3260663"/>
            <a:ext cx="20057623" cy="9253554"/>
          </a:xfrm>
        </p:spPr>
        <p:txBody>
          <a:bodyPr>
            <a:normAutofit/>
          </a:bodyPr>
          <a:lstStyle/>
          <a:p>
            <a:r>
              <a:rPr lang="en-US" dirty="0"/>
              <a:t>The real world is rife with uncertainty!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E.g., if I leave for SFO 60 minutes before my flight, will I be there in time? </a:t>
            </a:r>
          </a:p>
          <a:p>
            <a:r>
              <a:rPr lang="en-US" dirty="0"/>
              <a:t>Problems: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partial observability (road state, other drivers’ plans, etc.)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noisy sensors (radio traffic reports, Google maps)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immense complexity of modelling and predicting traffic, security line, etc.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lack of knowledge of world dynamics (will tire burst? will I get in crash?)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833931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DCC80-18A9-CC4F-A09E-B498BA31C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Probability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F75F5E-42E1-592E-CC7E-265976A1391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Basic laws of probability (discrete)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E25F03C2-AB0D-6794-B60F-46FAB7775C86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2163188" y="3260663"/>
                <a:ext cx="20057623" cy="9253554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Begin with a set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dirty="0"/>
                  <a:t> of possible worlds</a:t>
                </a:r>
              </a:p>
              <a:p>
                <a:pPr lvl="1"/>
                <a:r>
                  <a:rPr lang="en-US" dirty="0"/>
                  <a:t>E.g., 6 possible rolls of a die, {1, 2, 3, 4, 5, 6} </a:t>
                </a:r>
              </a:p>
              <a:p>
                <a:r>
                  <a:rPr lang="en-US" dirty="0"/>
                  <a:t>A probability model assigns a number P(w) to each world w </a:t>
                </a:r>
              </a:p>
              <a:p>
                <a:pPr lvl="1"/>
                <a:r>
                  <a:rPr lang="en-US" dirty="0"/>
                  <a:t>E.g., P(1) = P(2) = P(3) = P(5) = P(5) = P(6) = 1/6. </a:t>
                </a:r>
              </a:p>
              <a:p>
                <a:r>
                  <a:rPr lang="en-US" dirty="0"/>
                  <a:t>These numbers must satisfy: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Ω</m:t>
                        </m:r>
                      </m:sub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E25F03C2-AB0D-6794-B60F-46FAB7775C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2163188" y="3260663"/>
                <a:ext cx="20057623" cy="9253554"/>
              </a:xfrm>
              <a:blipFill>
                <a:blip r:embed="rId2"/>
                <a:stretch>
                  <a:fillRect l="-1329" t="-10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A group of dice with numbers&#10;&#10;Description automatically generated">
            <a:extLst>
              <a:ext uri="{FF2B5EF4-FFF2-40B4-BE49-F238E27FC236}">
                <a16:creationId xmlns:a16="http://schemas.microsoft.com/office/drawing/2014/main" id="{8F97168E-77E8-197E-BD71-16417B9A7D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32810" y="6901868"/>
            <a:ext cx="6570436" cy="564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834177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DCC80-18A9-CC4F-A09E-B498BA31C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Probability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F75F5E-42E1-592E-CC7E-265976A1391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Basic laws of probability (discrete)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E25F03C2-AB0D-6794-B60F-46FAB7775C86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2163188" y="3260663"/>
                <a:ext cx="20057623" cy="9253554"/>
              </a:xfrm>
            </p:spPr>
            <p:txBody>
              <a:bodyPr>
                <a:normAutofit/>
              </a:bodyPr>
              <a:lstStyle/>
              <a:p>
                <a:r>
                  <a:rPr lang="en-ID" dirty="0"/>
                  <a:t>An </a:t>
                </a:r>
                <a:r>
                  <a:rPr lang="en-ID" b="1" i="1" dirty="0">
                    <a:solidFill>
                      <a:srgbClr val="0070C0"/>
                    </a:solidFill>
                  </a:rPr>
                  <a:t>event</a:t>
                </a:r>
                <a:r>
                  <a:rPr lang="en-ID" b="1" i="1" dirty="0"/>
                  <a:t> </a:t>
                </a:r>
                <a:r>
                  <a:rPr lang="en-ID" dirty="0"/>
                  <a:t>is any subset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endParaRPr lang="en-ID" dirty="0"/>
              </a:p>
              <a:p>
                <a:pPr lvl="1"/>
                <a:r>
                  <a:rPr lang="en-ID" dirty="0"/>
                  <a:t>E.g., “roll &lt; 4” is the set {1,2,3}</a:t>
                </a:r>
              </a:p>
              <a:p>
                <a:pPr lvl="1"/>
                <a:r>
                  <a:rPr lang="en-ID" dirty="0"/>
                  <a:t>E.g., “roll is odd” is the set {1,3,5}</a:t>
                </a:r>
              </a:p>
              <a:p>
                <a:r>
                  <a:rPr lang="en-US" dirty="0"/>
                  <a:t>The probability of an event is the </a:t>
                </a:r>
                <a:r>
                  <a:rPr lang="en-US" b="1" dirty="0">
                    <a:solidFill>
                      <a:srgbClr val="0070C0"/>
                    </a:solidFill>
                  </a:rPr>
                  <a:t>sum</a:t>
                </a:r>
                <a:r>
                  <a:rPr lang="en-US" dirty="0"/>
                  <a:t> of probabilities over its worlds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</m:t>
                        </m:r>
                      </m:sub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b="0" dirty="0"/>
              </a:p>
              <a:p>
                <a:pPr lvl="1"/>
                <a:r>
                  <a:rPr lang="en-US" b="0" dirty="0"/>
                  <a:t>E.g.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𝑟𝑜𝑙𝑙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&lt;4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=1/2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E25F03C2-AB0D-6794-B60F-46FAB7775C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2163188" y="3260663"/>
                <a:ext cx="20057623" cy="9253554"/>
              </a:xfrm>
              <a:blipFill>
                <a:blip r:embed="rId2"/>
                <a:stretch>
                  <a:fillRect l="-1329" t="-10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 descr="A close-up of a dice&#10;&#10;Description automatically generated">
            <a:extLst>
              <a:ext uri="{FF2B5EF4-FFF2-40B4-BE49-F238E27FC236}">
                <a16:creationId xmlns:a16="http://schemas.microsoft.com/office/drawing/2014/main" id="{96CB56CB-608C-3C18-A768-8F7010022D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88963" y="3260663"/>
            <a:ext cx="8231848" cy="3093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9299099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DCC80-18A9-CC4F-A09E-B498BA31C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Random variables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F75F5E-42E1-592E-CC7E-265976A1391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definition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E25F03C2-AB0D-6794-B60F-46FAB7775C86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2163188" y="3260663"/>
                <a:ext cx="20057623" cy="9253554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A random variable is some aspect of the world about which we may be uncertain</a:t>
                </a:r>
              </a:p>
              <a:p>
                <a:r>
                  <a:rPr lang="en-US" dirty="0"/>
                  <a:t>Formally a deterministic function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endParaRPr lang="en-US" dirty="0"/>
              </a:p>
              <a:p>
                <a:r>
                  <a:rPr lang="en-US" dirty="0"/>
                  <a:t>The range of a random variable is the set of possible values</a:t>
                </a:r>
              </a:p>
              <a:p>
                <a:pPr lvl="1"/>
                <a:r>
                  <a:rPr lang="en-US" dirty="0"/>
                  <a:t>Odd = Is the dice roll an odd number? (true, false)</a:t>
                </a:r>
              </a:p>
              <a:p>
                <a:pPr lvl="1"/>
                <a:r>
                  <a:rPr lang="en-US" dirty="0"/>
                  <a:t>Duration = How long will it take to get to airport? (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0, 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US" dirty="0"/>
                  <a:t>)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E25F03C2-AB0D-6794-B60F-46FAB7775C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2163188" y="3260663"/>
                <a:ext cx="20057623" cy="9253554"/>
              </a:xfrm>
              <a:blipFill>
                <a:blip r:embed="rId2"/>
                <a:stretch>
                  <a:fillRect l="-1329" t="-12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20297149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DCC80-18A9-CC4F-A09E-B498BA31C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Random variables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F75F5E-42E1-592E-CC7E-265976A1391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definition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E25F03C2-AB0D-6794-B60F-46FAB7775C86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2163188" y="3260663"/>
                <a:ext cx="20057623" cy="9253554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The </a:t>
                </a:r>
                <a:r>
                  <a:rPr lang="en-US" b="1" dirty="0"/>
                  <a:t>probability distribution </a:t>
                </a:r>
                <a:r>
                  <a:rPr lang="en-US" dirty="0"/>
                  <a:t>of a random variable </a:t>
                </a:r>
                <a:r>
                  <a:rPr lang="en-US" b="1" dirty="0">
                    <a:solidFill>
                      <a:srgbClr val="0070C0"/>
                    </a:solidFill>
                  </a:rPr>
                  <a:t>X </a:t>
                </a:r>
                <a:r>
                  <a:rPr lang="en-US" dirty="0"/>
                  <a:t>gives the probability for each value </a:t>
                </a:r>
                <a:r>
                  <a:rPr lang="en-US" b="1" dirty="0">
                    <a:solidFill>
                      <a:srgbClr val="0070C0"/>
                    </a:solidFill>
                  </a:rPr>
                  <a:t>x</a:t>
                </a:r>
                <a:r>
                  <a:rPr lang="en-US" dirty="0"/>
                  <a:t> in its range (probability of the event </a:t>
                </a:r>
                <a:r>
                  <a:rPr lang="en-US" b="1" dirty="0">
                    <a:solidFill>
                      <a:srgbClr val="0070C0"/>
                    </a:solidFill>
                  </a:rPr>
                  <a:t>X=x</a:t>
                </a:r>
                <a:r>
                  <a:rPr lang="en-US" dirty="0"/>
                  <a:t>)</a:t>
                </a:r>
              </a:p>
              <a:p>
                <a:pPr lvl="1"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brk m:alnAt="9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</m:d>
                        <m:r>
                          <m:rPr>
                            <m:brk m:alnAt="9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}</m:t>
                        </m:r>
                      </m:sub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dirty="0"/>
              </a:p>
              <a:p>
                <a:pPr lvl="1"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for short (when unambiguous)</a:t>
                </a:r>
              </a:p>
              <a:p>
                <a:pPr lvl="1"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en-US" dirty="0"/>
                  <a:t> refers to the entire distribution (think of it as a vector or table)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E25F03C2-AB0D-6794-B60F-46FAB7775C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2163188" y="3260663"/>
                <a:ext cx="20057623" cy="9253554"/>
              </a:xfrm>
              <a:blipFill>
                <a:blip r:embed="rId2"/>
                <a:stretch>
                  <a:fillRect l="-1329" t="-1233" r="-17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354611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DCC80-18A9-CC4F-A09E-B498BA31C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Probability distributions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F75F5E-42E1-592E-CC7E-265976A1391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definition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5F03C2-AB0D-6794-B60F-46FAB7775C8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8" y="3260663"/>
            <a:ext cx="20057623" cy="9253554"/>
          </a:xfrm>
        </p:spPr>
        <p:txBody>
          <a:bodyPr>
            <a:normAutofit/>
          </a:bodyPr>
          <a:lstStyle/>
          <a:p>
            <a:r>
              <a:rPr lang="en-US" dirty="0"/>
              <a:t>Associate a probability with each value; sums to 1 </a:t>
            </a:r>
          </a:p>
        </p:txBody>
      </p:sp>
      <p:pic>
        <p:nvPicPr>
          <p:cNvPr id="6" name="Picture 5" descr="A diagram of weather and meteors&#10;&#10;Description automatically generated">
            <a:extLst>
              <a:ext uri="{FF2B5EF4-FFF2-40B4-BE49-F238E27FC236}">
                <a16:creationId xmlns:a16="http://schemas.microsoft.com/office/drawing/2014/main" id="{2012D183-A3DC-FA95-8069-66EC4758AC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4759" y="4576063"/>
            <a:ext cx="18614479" cy="8298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667701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DCC80-18A9-CC4F-A09E-B498BA31C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Probability distributions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F75F5E-42E1-592E-CC7E-265976A1391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Making possible words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E25F03C2-AB0D-6794-B60F-46FAB7775C86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2163188" y="3260663"/>
                <a:ext cx="20057623" cy="9253554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In many cases we</a:t>
                </a:r>
              </a:p>
              <a:p>
                <a:pPr lvl="1">
                  <a:buFont typeface="Wingdings" pitchFamily="2" charset="2"/>
                  <a:buChar char="§"/>
                </a:pPr>
                <a:r>
                  <a:rPr lang="en-US" dirty="0"/>
                  <a:t>Begin with random variables and their domains</a:t>
                </a:r>
              </a:p>
              <a:p>
                <a:pPr lvl="1">
                  <a:buFont typeface="Wingdings" pitchFamily="2" charset="2"/>
                  <a:buChar char="§"/>
                </a:pPr>
                <a:r>
                  <a:rPr lang="en-US" dirty="0"/>
                  <a:t>Construct possible worlds as assignments of values to all variables</a:t>
                </a:r>
              </a:p>
              <a:p>
                <a:r>
                  <a:rPr lang="en-US" dirty="0"/>
                  <a:t>E.g., two dice rolls Roll1 and Roll2</a:t>
                </a:r>
              </a:p>
              <a:p>
                <a:pPr lvl="1">
                  <a:buFont typeface="Wingdings" pitchFamily="2" charset="2"/>
                  <a:buChar char="§"/>
                </a:pPr>
                <a:r>
                  <a:rPr lang="en-US" dirty="0"/>
                  <a:t>How many possible worlds? </a:t>
                </a:r>
                <a:r>
                  <a:rPr lang="en-US" b="1" dirty="0"/>
                  <a:t>36</a:t>
                </a:r>
              </a:p>
              <a:p>
                <a:pPr lvl="1">
                  <a:buFont typeface="Wingdings" pitchFamily="2" charset="2"/>
                  <a:buChar char="§"/>
                </a:pPr>
                <a:r>
                  <a:rPr lang="en-US" dirty="0"/>
                  <a:t>What are their probabilities? </a:t>
                </a:r>
                <a:r>
                  <a:rPr lang="en-US" b="1" dirty="0"/>
                  <a:t>1/36</a:t>
                </a:r>
              </a:p>
              <a:p>
                <a:r>
                  <a:rPr lang="en-US" dirty="0"/>
                  <a:t>Size of distribution for </a:t>
                </a:r>
                <a:r>
                  <a:rPr lang="en-US" b="1" dirty="0">
                    <a:solidFill>
                      <a:srgbClr val="0070C0"/>
                    </a:solidFill>
                  </a:rPr>
                  <a:t>n</a:t>
                </a:r>
                <a:r>
                  <a:rPr lang="en-US" dirty="0"/>
                  <a:t> variables with range size </a:t>
                </a:r>
                <a:r>
                  <a:rPr lang="en-US" b="1" dirty="0">
                    <a:solidFill>
                      <a:srgbClr val="0070C0"/>
                    </a:solidFill>
                  </a:rPr>
                  <a:t>d</a:t>
                </a:r>
                <a:r>
                  <a:rPr lang="en-US" dirty="0"/>
                  <a:t>?</a:t>
                </a:r>
                <a:r>
                  <a:rPr lang="en-US" sz="72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7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7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p>
                        <m:r>
                          <a:rPr lang="en-US" sz="7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E25F03C2-AB0D-6794-B60F-46FAB7775C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2163188" y="3260663"/>
                <a:ext cx="20057623" cy="9253554"/>
              </a:xfrm>
              <a:blipFill>
                <a:blip r:embed="rId2"/>
                <a:stretch>
                  <a:fillRect l="-1329" t="-12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3844734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DCC80-18A9-CC4F-A09E-B498BA31C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Probability distributions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F75F5E-42E1-592E-CC7E-265976A1391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Probabilities of events</a:t>
            </a:r>
          </a:p>
        </p:txBody>
      </p:sp>
      <p:pic>
        <p:nvPicPr>
          <p:cNvPr id="6" name="Picture 5" descr="A diagram of a weather forecast&#10;&#10;Description automatically generated with medium confidence">
            <a:extLst>
              <a:ext uri="{FF2B5EF4-FFF2-40B4-BE49-F238E27FC236}">
                <a16:creationId xmlns:a16="http://schemas.microsoft.com/office/drawing/2014/main" id="{4ED6EDD9-B354-3776-CC33-D82043232B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54528" y="3921643"/>
            <a:ext cx="7529531" cy="793159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E25F03C2-AB0D-6794-B60F-46FAB7775C86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2163189" y="3260663"/>
                <a:ext cx="13491339" cy="9253554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Recall that probability of an event is the sum of probabilities of its worlds:</a:t>
                </a:r>
              </a:p>
              <a:p>
                <a:pPr marL="0" indent="0" algn="ctr">
                  <a:buNone/>
                </a:pPr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</m:t>
                        </m:r>
                      </m:sub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b="0" dirty="0"/>
              </a:p>
              <a:p>
                <a:r>
                  <a:rPr lang="en-US" b="1" dirty="0"/>
                  <a:t>So, given a joint distribution over all variables, can compute any event probability</a:t>
                </a:r>
              </a:p>
              <a:p>
                <a:pPr lvl="1"/>
                <a:r>
                  <a:rPr lang="en-US" dirty="0"/>
                  <a:t>Probability that it’s:</a:t>
                </a:r>
              </a:p>
              <a:p>
                <a:pPr lvl="2">
                  <a:buFont typeface="Wingdings" pitchFamily="2" charset="2"/>
                  <a:buChar char="q"/>
                </a:pPr>
                <a:r>
                  <a:rPr lang="en-US" dirty="0"/>
                  <a:t>Hot AND sunny?</a:t>
                </a:r>
              </a:p>
              <a:p>
                <a:pPr lvl="2">
                  <a:buFont typeface="Wingdings" pitchFamily="2" charset="2"/>
                  <a:buChar char="q"/>
                </a:pPr>
                <a:r>
                  <a:rPr lang="en-US" dirty="0"/>
                  <a:t>Hot?</a:t>
                </a:r>
              </a:p>
              <a:p>
                <a:pPr lvl="2">
                  <a:buFont typeface="Wingdings" pitchFamily="2" charset="2"/>
                  <a:buChar char="q"/>
                </a:pPr>
                <a:r>
                  <a:rPr lang="en-US" dirty="0"/>
                  <a:t>Hot OR not foggy?</a:t>
                </a:r>
              </a:p>
              <a:p>
                <a:endParaRPr lang="en-US" b="1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E25F03C2-AB0D-6794-B60F-46FAB7775C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2163189" y="3260663"/>
                <a:ext cx="13491339" cy="9253554"/>
              </a:xfrm>
              <a:blipFill>
                <a:blip r:embed="rId3"/>
                <a:stretch>
                  <a:fillRect l="-1976" t="-1233" r="-16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81170502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DCC80-18A9-CC4F-A09E-B498BA31C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Probability distributions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F75F5E-42E1-592E-CC7E-265976A1391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Marginal distributions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E25F03C2-AB0D-6794-B60F-46FAB7775C86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2163189" y="3260663"/>
                <a:ext cx="12247756" cy="9253554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Marginal distributions are sub-tables which eliminates variables</a:t>
                </a:r>
              </a:p>
              <a:p>
                <a:r>
                  <a:rPr lang="en-US" b="1" dirty="0"/>
                  <a:t>Marginalization (summing out): </a:t>
                </a:r>
                <a:r>
                  <a:rPr lang="en-US" dirty="0"/>
                  <a:t>Collapse a dimension by adding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endParaRPr lang="en-US" b="1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E25F03C2-AB0D-6794-B60F-46FAB7775C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2163189" y="3260663"/>
                <a:ext cx="12247756" cy="9253554"/>
              </a:xfrm>
              <a:blipFill>
                <a:blip r:embed="rId2"/>
                <a:stretch>
                  <a:fillRect l="-2176" t="-1233" r="-2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A table of temperature and temperature&#10;&#10;Description automatically generated with medium confidence">
            <a:extLst>
              <a:ext uri="{FF2B5EF4-FFF2-40B4-BE49-F238E27FC236}">
                <a16:creationId xmlns:a16="http://schemas.microsoft.com/office/drawing/2014/main" id="{C1E83D34-C364-E98F-C3CC-767023FFEB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71373" y="6156062"/>
            <a:ext cx="9049438" cy="6358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858341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DCC80-18A9-CC4F-A09E-B498BA31C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Probability distributions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F75F5E-42E1-592E-CC7E-265976A1391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Conditional probabilities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E25F03C2-AB0D-6794-B60F-46FAB7775C86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2163188" y="3260663"/>
                <a:ext cx="20057623" cy="9253554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A simple relation between joint and conditional probabilities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E25F03C2-AB0D-6794-B60F-46FAB7775C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2163188" y="3260663"/>
                <a:ext cx="20057623" cy="9253554"/>
              </a:xfrm>
              <a:blipFill>
                <a:blip r:embed="rId2"/>
                <a:stretch>
                  <a:fillRect l="-1329" t="-12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A screenshot of a graph&#10;&#10;Description automatically generated">
            <a:extLst>
              <a:ext uri="{FF2B5EF4-FFF2-40B4-BE49-F238E27FC236}">
                <a16:creationId xmlns:a16="http://schemas.microsoft.com/office/drawing/2014/main" id="{9AA3C740-9484-DC73-FCC4-9AE620B39F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3188" y="5841289"/>
            <a:ext cx="7923025" cy="671031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561C622-D8D2-04B9-D911-B5DE42C82362}"/>
                  </a:ext>
                </a:extLst>
              </p:cNvPr>
              <p:cNvSpPr txBox="1"/>
              <p:nvPr/>
            </p:nvSpPr>
            <p:spPr>
              <a:xfrm>
                <a:off x="10783898" y="6858000"/>
                <a:ext cx="12198096" cy="13740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sz="4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US" sz="4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4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4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4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4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4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4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sz="4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4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4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  <m:r>
                                <a:rPr lang="en-US" sz="4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4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4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4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sz="4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4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d>
                        </m:num>
                        <m:den>
                          <m:r>
                            <a:rPr lang="en-US" sz="4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4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4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sz="4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4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d>
                        </m:den>
                      </m:f>
                      <m:r>
                        <a:rPr lang="en-US" sz="4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0.15</m:t>
                          </m:r>
                        </m:num>
                        <m:den>
                          <m:r>
                            <a:rPr lang="en-US" sz="4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0.5</m:t>
                          </m:r>
                        </m:den>
                      </m:f>
                      <m:r>
                        <a:rPr lang="en-US" sz="4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0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40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40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sz="4000" b="1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561C622-D8D2-04B9-D911-B5DE42C823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83898" y="6858000"/>
                <a:ext cx="12198096" cy="1374030"/>
              </a:xfrm>
              <a:prstGeom prst="rect">
                <a:avLst/>
              </a:prstGeom>
              <a:blipFill>
                <a:blip r:embed="rId4"/>
                <a:stretch>
                  <a:fillRect b="-4630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EA694A4-D62C-B4F7-15FD-66D3302D10B7}"/>
                  </a:ext>
                </a:extLst>
              </p:cNvPr>
              <p:cNvSpPr txBox="1"/>
              <p:nvPr/>
            </p:nvSpPr>
            <p:spPr>
              <a:xfrm>
                <a:off x="11515418" y="9450435"/>
                <a:ext cx="12198096" cy="184537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4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4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4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US" sz="4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sz="4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US" sz="4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sz="4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4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</m:sub>
                        <m:sup/>
                        <m:e>
                          <m:r>
                            <a:rPr lang="en-US" sz="4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endChr m:val="|"/>
                              <m:ctrlPr>
                                <a:rPr lang="en-US" sz="4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4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sz="4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US" sz="4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4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4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4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4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sz="4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=0.15+0.08+0.27+0=0.5</m:t>
                      </m:r>
                    </m:oMath>
                  </m:oMathPara>
                </a14:m>
                <a:endParaRPr lang="en-US" sz="40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EA694A4-D62C-B4F7-15FD-66D3302D10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15418" y="9450435"/>
                <a:ext cx="12198096" cy="1845377"/>
              </a:xfrm>
              <a:prstGeom prst="rect">
                <a:avLst/>
              </a:prstGeom>
              <a:blipFill>
                <a:blip r:embed="rId5"/>
                <a:stretch>
                  <a:fillRect t="-124658" b="-140411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30353944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DCC80-18A9-CC4F-A09E-B498BA31C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Probability distributions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F75F5E-42E1-592E-CC7E-265976A1391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Conditional distributions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5F03C2-AB0D-6794-B60F-46FAB7775C8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8" y="3260663"/>
            <a:ext cx="20057623" cy="9253554"/>
          </a:xfrm>
        </p:spPr>
        <p:txBody>
          <a:bodyPr>
            <a:normAutofit/>
          </a:bodyPr>
          <a:lstStyle/>
          <a:p>
            <a:r>
              <a:rPr lang="en-US" dirty="0"/>
              <a:t>Distributions for one set of variables given another set</a:t>
            </a:r>
          </a:p>
        </p:txBody>
      </p:sp>
      <p:pic>
        <p:nvPicPr>
          <p:cNvPr id="7" name="Picture 6" descr="A screenshot of a graph&#10;&#10;Description automatically generated">
            <a:extLst>
              <a:ext uri="{FF2B5EF4-FFF2-40B4-BE49-F238E27FC236}">
                <a16:creationId xmlns:a16="http://schemas.microsoft.com/office/drawing/2014/main" id="{0531C71A-BAC1-89F5-CD10-A3CFCD90B1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3188" y="4914899"/>
            <a:ext cx="20604632" cy="5540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312460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DCC80-18A9-CC4F-A09E-B498BA31C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Probability distributions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F75F5E-42E1-592E-CC7E-265976A1391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Conditional distributions: Normalizing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E25F03C2-AB0D-6794-B60F-46FAB7775C86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2163188" y="3260663"/>
                <a:ext cx="20057623" cy="9253554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Normalizing distribution: to bring or restore a normal condition (all entries sum to </a:t>
                </a:r>
                <a:r>
                  <a:rPr lang="en-US" b="1" dirty="0"/>
                  <a:t>ONE</a:t>
                </a:r>
                <a:r>
                  <a:rPr lang="en-US" dirty="0"/>
                  <a:t>)</a:t>
                </a:r>
              </a:p>
              <a:p>
                <a:r>
                  <a:rPr lang="en-US" dirty="0"/>
                  <a:t>Procedure: Multiply each entry by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=1/(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𝑠𝑢𝑚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𝑜𝑓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𝑎𝑙𝑙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𝑒𝑛𝑡𝑟𝑖𝑒𝑠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E25F03C2-AB0D-6794-B60F-46FAB7775C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2163188" y="3260663"/>
                <a:ext cx="20057623" cy="9253554"/>
              </a:xfrm>
              <a:blipFill>
                <a:blip r:embed="rId2"/>
                <a:stretch>
                  <a:fillRect l="-1329" t="-12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A diagram of a normalized equation&#10;&#10;Description automatically generated with medium confidence">
            <a:extLst>
              <a:ext uri="{FF2B5EF4-FFF2-40B4-BE49-F238E27FC236}">
                <a16:creationId xmlns:a16="http://schemas.microsoft.com/office/drawing/2014/main" id="{1C8E7301-4FB8-02C6-139D-ED48D68D26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2460" y="6196838"/>
            <a:ext cx="17795587" cy="6358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226749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DCC80-18A9-CC4F-A09E-B498BA31C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Probability distributions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F75F5E-42E1-592E-CC7E-265976A1391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The product rule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E25F03C2-AB0D-6794-B60F-46FAB7775C86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2163188" y="3260663"/>
                <a:ext cx="20057623" cy="9253554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Sometimes have conditional distributions but want the joint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) 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E25F03C2-AB0D-6794-B60F-46FAB7775C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2163188" y="3260663"/>
                <a:ext cx="20057623" cy="9253554"/>
              </a:xfrm>
              <a:blipFill>
                <a:blip r:embed="rId2"/>
                <a:stretch>
                  <a:fillRect l="-1329" t="-12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05705346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DCC80-18A9-CC4F-A09E-B498BA31C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Probability distributions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F75F5E-42E1-592E-CC7E-265976A1391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The product rule: example</a:t>
            </a:r>
          </a:p>
        </p:txBody>
      </p:sp>
      <p:pic>
        <p:nvPicPr>
          <p:cNvPr id="6" name="Content Placeholder 5" descr="A diagram of a weather diagram&#10;&#10;Description automatically generated">
            <a:extLst>
              <a:ext uri="{FF2B5EF4-FFF2-40B4-BE49-F238E27FC236}">
                <a16:creationId xmlns:a16="http://schemas.microsoft.com/office/drawing/2014/main" id="{15CA7311-B950-2CBA-7E3D-C51B6D4DCE2D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8559" y="3730751"/>
            <a:ext cx="20139377" cy="8385305"/>
          </a:xfrm>
        </p:spPr>
      </p:pic>
    </p:spTree>
    <p:extLst>
      <p:ext uri="{BB962C8B-B14F-4D97-AF65-F5344CB8AC3E}">
        <p14:creationId xmlns:p14="http://schemas.microsoft.com/office/powerpoint/2010/main" val="1597054504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DCC80-18A9-CC4F-A09E-B498BA31C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chain rule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F75F5E-42E1-592E-CC7E-265976A1391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definition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9FB4F67-A7CD-7F40-335C-5542491D269D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/>
            <p:txBody>
              <a:bodyPr/>
              <a:lstStyle/>
              <a:p>
                <a:pPr>
                  <a:spcAft>
                    <a:spcPts val="2400"/>
                  </a:spcAft>
                </a:pPr>
                <a:r>
                  <a:rPr lang="en-US" dirty="0"/>
                  <a:t>A joint distribution can be written as a product of conditional distributions by repeated application of the product rule: </a:t>
                </a:r>
              </a:p>
              <a:p>
                <a:pPr marL="0" indent="0">
                  <a:spcAft>
                    <a:spcPts val="24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)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|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spcAft>
                    <a:spcPts val="24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</m:e>
                      </m:d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supHide m:val="on"/>
                          <m:ctrlP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  <m:sup/>
                        <m:e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  <m:d>
                            <m:dPr>
                              <m:endChr m:val="|"/>
                              <m:ctrlPr>
                                <a:rPr lang="en-US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, …, </m:t>
                          </m:r>
                          <m:sSub>
                            <m:sSubPr>
                              <m:ctrlPr>
                                <a:rPr lang="en-US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b="1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9FB4F67-A7CD-7F40-335C-5542491D26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blipFill>
                <a:blip r:embed="rId2"/>
                <a:stretch>
                  <a:fillRect l="-1329" t="-13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36383406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DCC80-18A9-CC4F-A09E-B498BA31C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Bayes’ rule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F75F5E-42E1-592E-CC7E-265976A1391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Probabilistic inference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9FB4F67-A7CD-7F40-335C-5542491D269D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/>
            <p:txBody>
              <a:bodyPr>
                <a:normAutofit/>
              </a:bodyPr>
              <a:lstStyle/>
              <a:p>
                <a:pPr>
                  <a:spcBef>
                    <a:spcPts val="1700"/>
                  </a:spcBef>
                </a:pPr>
                <a:r>
                  <a:rPr lang="en-US" dirty="0"/>
                  <a:t>Probabilistic inference: compute a desired probability from a probability model </a:t>
                </a:r>
              </a:p>
              <a:p>
                <a:pPr lvl="1">
                  <a:spcBef>
                    <a:spcPts val="1700"/>
                  </a:spcBef>
                  <a:buFont typeface="Wingdings" pitchFamily="2" charset="2"/>
                  <a:buChar char="v"/>
                </a:pPr>
                <a:r>
                  <a:rPr lang="en-US" sz="3600" dirty="0"/>
                  <a:t>Typically for a </a:t>
                </a:r>
                <a:r>
                  <a:rPr lang="en-US" sz="3600" b="1" dirty="0">
                    <a:solidFill>
                      <a:srgbClr val="0070C0"/>
                    </a:solidFill>
                  </a:rPr>
                  <a:t>query variable </a:t>
                </a:r>
                <a:r>
                  <a:rPr lang="en-US" sz="3600" dirty="0"/>
                  <a:t>given </a:t>
                </a:r>
                <a:r>
                  <a:rPr lang="en-US" sz="3600" b="1" dirty="0">
                    <a:solidFill>
                      <a:srgbClr val="0070C0"/>
                    </a:solidFill>
                  </a:rPr>
                  <a:t>evidence</a:t>
                </a:r>
              </a:p>
              <a:p>
                <a:pPr lvl="1">
                  <a:spcBef>
                    <a:spcPts val="1700"/>
                  </a:spcBef>
                  <a:buFont typeface="Wingdings" pitchFamily="2" charset="2"/>
                  <a:buChar char="v"/>
                </a:pPr>
                <a:r>
                  <a:rPr lang="en-US" sz="3600" dirty="0"/>
                  <a:t>E.g., </a:t>
                </a:r>
                <a14:m>
                  <m:oMath xmlns:m="http://schemas.openxmlformats.org/officeDocument/2006/math"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𝑎𝑖𝑟𝑝𝑜𝑟𝑡</m:t>
                    </m:r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𝑜𝑛</m:t>
                    </m:r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𝑡𝑖𝑚𝑒</m:t>
                    </m:r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 | </m:t>
                    </m:r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𝑛𝑜</m:t>
                    </m:r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𝑎𝑐𝑐𝑖𝑑𝑒𝑛𝑡𝑠</m:t>
                    </m:r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) = 0.90</m:t>
                    </m:r>
                  </m:oMath>
                </a14:m>
                <a:endParaRPr lang="en-US" sz="3600" dirty="0"/>
              </a:p>
              <a:p>
                <a:pPr lvl="1">
                  <a:spcBef>
                    <a:spcPts val="1700"/>
                  </a:spcBef>
                  <a:buFont typeface="Wingdings" pitchFamily="2" charset="2"/>
                  <a:buChar char="v"/>
                </a:pPr>
                <a:r>
                  <a:rPr lang="en-US" sz="3600" dirty="0"/>
                  <a:t>These represent the agent’s beliefs given the evidence </a:t>
                </a:r>
              </a:p>
              <a:p>
                <a:pPr marL="756000" lvl="1" indent="0">
                  <a:spcBef>
                    <a:spcPts val="1700"/>
                  </a:spcBef>
                  <a:buNone/>
                </a:pPr>
                <a:endParaRPr lang="en-US" sz="3600" dirty="0"/>
              </a:p>
              <a:p>
                <a:pPr>
                  <a:spcBef>
                    <a:spcPts val="1700"/>
                  </a:spcBef>
                </a:pPr>
                <a:r>
                  <a:rPr lang="en-US" dirty="0"/>
                  <a:t>Probabilities change with new evidence:</a:t>
                </a:r>
              </a:p>
              <a:p>
                <a:pPr lvl="1">
                  <a:spcBef>
                    <a:spcPts val="1700"/>
                  </a:spcBef>
                  <a:buFont typeface="Wingdings" pitchFamily="2" charset="2"/>
                  <a:buChar char="v"/>
                </a:pPr>
                <a14:m>
                  <m:oMath xmlns:m="http://schemas.openxmlformats.org/officeDocument/2006/math"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𝑎𝑖𝑟𝑝𝑜𝑟𝑡</m:t>
                    </m:r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𝑜𝑛</m:t>
                    </m:r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𝑡𝑖𝑚𝑒</m:t>
                    </m:r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 | </m:t>
                    </m:r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𝑛𝑜</m:t>
                    </m:r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𝑎𝑐𝑐𝑖𝑑𝑒𝑛𝑡𝑠</m:t>
                    </m:r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, 5 </m:t>
                    </m:r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.) = 0.95</m:t>
                    </m:r>
                  </m:oMath>
                </a14:m>
                <a:endParaRPr lang="en-US" sz="3600" dirty="0"/>
              </a:p>
              <a:p>
                <a:pPr lvl="1">
                  <a:spcBef>
                    <a:spcPts val="1700"/>
                  </a:spcBef>
                  <a:buFont typeface="Wingdings" pitchFamily="2" charset="2"/>
                  <a:buChar char="v"/>
                </a:pPr>
                <a14:m>
                  <m:oMath xmlns:m="http://schemas.openxmlformats.org/officeDocument/2006/math"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𝑎𝑖𝑟𝑝𝑜𝑟𝑡</m:t>
                    </m:r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𝑜𝑛</m:t>
                    </m:r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𝑡𝑖𝑚𝑒</m:t>
                    </m:r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 | </m:t>
                    </m:r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𝑛𝑜</m:t>
                    </m:r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𝑎𝑐𝑐𝑖𝑑𝑒𝑛𝑡𝑠</m:t>
                    </m:r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, 5 </m:t>
                    </m:r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., </m:t>
                    </m:r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𝑟𝑎𝑖𝑛𝑖𝑛𝑔</m:t>
                    </m:r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) = 0.80</m:t>
                    </m:r>
                  </m:oMath>
                </a14:m>
                <a:endParaRPr lang="en-US" sz="3600" dirty="0"/>
              </a:p>
              <a:p>
                <a:pPr lvl="1">
                  <a:spcBef>
                    <a:spcPts val="1700"/>
                  </a:spcBef>
                  <a:buFont typeface="Wingdings" pitchFamily="2" charset="2"/>
                  <a:buChar char="v"/>
                </a:pPr>
                <a:r>
                  <a:rPr lang="en-US" sz="3600" dirty="0"/>
                  <a:t>Observing new evidence causes </a:t>
                </a:r>
                <a:r>
                  <a:rPr lang="en-US" sz="3600" b="1" dirty="0"/>
                  <a:t>beliefs to be updated </a:t>
                </a:r>
              </a:p>
              <a:p>
                <a:pPr>
                  <a:spcBef>
                    <a:spcPts val="1700"/>
                  </a:spcBef>
                </a:pPr>
                <a:endParaRPr lang="en-US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9FB4F67-A7CD-7F40-335C-5542491D26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blipFill>
                <a:blip r:embed="rId2"/>
                <a:stretch>
                  <a:fillRect l="-1329" t="-13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43133226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A02FD-59E4-A333-307E-DB39D8489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Bayes’ rule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96BBAA-A5D4-6DF6-E800-8B06E972E80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Probabilistic inference by enumeration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E77BFC45-7DE8-967A-0EC7-4FB74F5B3412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Let’s say we want: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..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Step 1: Select the entries consistent with evidence</a:t>
                </a:r>
              </a:p>
              <a:p>
                <a:r>
                  <a:rPr lang="en-US" dirty="0"/>
                  <a:t>Step 2: Sum out H to get joint of Query and evidence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..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brk m:alnAt="7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…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Step 3: Normalize: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sub>
                            <m:sup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𝑄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...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...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E77BFC45-7DE8-967A-0EC7-4FB74F5B341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blipFill>
                <a:blip r:embed="rId2"/>
                <a:stretch>
                  <a:fillRect l="-1329" t="-1329" b="-11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EB6E775-06A9-8387-90A0-488CE207F450}"/>
                  </a:ext>
                </a:extLst>
              </p:cNvPr>
              <p:cNvSpPr txBox="1"/>
              <p:nvPr/>
            </p:nvSpPr>
            <p:spPr>
              <a:xfrm>
                <a:off x="16512153" y="2127198"/>
                <a:ext cx="6212470" cy="268791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571500" marR="0" indent="-571500" algn="l" defTabSz="2438338" rtl="0" fontAlgn="auto" latinLnBrk="0" hangingPunct="0">
                  <a:lnSpc>
                    <a:spcPct val="100000"/>
                  </a:lnSpc>
                  <a:spcBef>
                    <a:spcPts val="24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:r>
                  <a:rPr kumimoji="0" lang="en-US" sz="36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sym typeface="Helvetica Neue"/>
                  </a:rPr>
                  <a:t>Evidence variables: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3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3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..</m:t>
                    </m:r>
                    <m:sSub>
                      <m:sSubPr>
                        <m:ctrlPr>
                          <a:rPr lang="en-US" sz="3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3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kumimoji="0" lang="en-US" sz="36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sym typeface="Helvetica Neue"/>
                  </a:rPr>
                  <a:t> </a:t>
                </a:r>
              </a:p>
              <a:p>
                <a:pPr marL="571500" marR="0" indent="-571500" algn="l" defTabSz="2438338" rtl="0" fontAlgn="auto" latinLnBrk="0" hangingPunct="0">
                  <a:lnSpc>
                    <a:spcPct val="100000"/>
                  </a:lnSpc>
                  <a:spcBef>
                    <a:spcPts val="24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:r>
                  <a:rPr lang="en-US" sz="3600" dirty="0">
                    <a:solidFill>
                      <a:srgbClr val="000000"/>
                    </a:solidFill>
                  </a:rPr>
                  <a:t>Query variable: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endParaRPr lang="en-US" sz="3600" dirty="0">
                  <a:solidFill>
                    <a:srgbClr val="000000"/>
                  </a:solidFill>
                </a:endParaRPr>
              </a:p>
              <a:p>
                <a:pPr marL="571500" marR="0" indent="-571500" algn="l" defTabSz="2438338" rtl="0" fontAlgn="auto" latinLnBrk="0" hangingPunct="0">
                  <a:lnSpc>
                    <a:spcPct val="100000"/>
                  </a:lnSpc>
                  <a:spcBef>
                    <a:spcPts val="24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:r>
                  <a:rPr kumimoji="0" lang="en-US" sz="36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sym typeface="Helvetica Neue"/>
                  </a:rPr>
                  <a:t>Hidden variables: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3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3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..</m:t>
                    </m:r>
                    <m:sSub>
                      <m:sSubPr>
                        <m:ctrlPr>
                          <a:rPr lang="en-US" sz="3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3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sym typeface="Helvetica Neue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EB6E775-06A9-8387-90A0-488CE207F4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12153" y="2127198"/>
                <a:ext cx="6212470" cy="2687915"/>
              </a:xfrm>
              <a:prstGeom prst="rect">
                <a:avLst/>
              </a:prstGeom>
              <a:blipFill>
                <a:blip r:embed="rId3"/>
                <a:stretch>
                  <a:fillRect l="-3265" b="-7512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203A6C3-4173-3931-9399-B99F3AE8F896}"/>
                  </a:ext>
                </a:extLst>
              </p:cNvPr>
              <p:cNvSpPr txBox="1"/>
              <p:nvPr/>
            </p:nvSpPr>
            <p:spPr>
              <a:xfrm>
                <a:off x="6095999" y="11588802"/>
                <a:ext cx="12192000" cy="7694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sz="4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n-US" sz="4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4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4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4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4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…</m:t>
                      </m:r>
                      <m:sSub>
                        <m:sSubPr>
                          <m:ctrlPr>
                            <a:rPr lang="en-US" sz="4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4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4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sz="4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4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US" sz="4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4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𝑄</m:t>
                      </m:r>
                      <m:r>
                        <a:rPr lang="en-US" sz="4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4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4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4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…</m:t>
                      </m:r>
                      <m:sSub>
                        <m:sSubPr>
                          <m:ctrlPr>
                            <a:rPr lang="en-US" sz="4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4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4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44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203A6C3-4173-3931-9399-B99F3AE8F8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999" y="11588802"/>
                <a:ext cx="12192000" cy="769441"/>
              </a:xfrm>
              <a:prstGeom prst="rect">
                <a:avLst/>
              </a:prstGeom>
              <a:blipFill>
                <a:blip r:embed="rId4"/>
                <a:stretch>
                  <a:fillRect b="-29508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55060504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DCC80-18A9-CC4F-A09E-B498BA31C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Bayes’ rule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F75F5E-42E1-592E-CC7E-265976A1391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Probabilistic inference by enumeration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E7FCE2B3-FE08-245A-E90E-26145D79D6FA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2163189" y="3260663"/>
                <a:ext cx="12394060" cy="8583279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𝑠𝑢𝑛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?</a:t>
                </a:r>
              </a:p>
              <a:p>
                <a:pPr lvl="1">
                  <a:buFont typeface="+mj-lt"/>
                  <a:buAutoNum type="arabicPeriod"/>
                </a:pPr>
                <a:r>
                  <a:rPr lang="en-US" dirty="0"/>
                  <a:t>Enumerate options with sun</a:t>
                </a:r>
              </a:p>
              <a:p>
                <a:pPr lvl="1">
                  <a:buFont typeface="+mj-lt"/>
                  <a:buAutoNum type="arabicPeriod"/>
                </a:pPr>
                <a:r>
                  <a:rPr lang="en-US" dirty="0"/>
                  <a:t>Sum out irrelevant variables (in this case, </a:t>
                </a:r>
                <a:r>
                  <a:rPr lang="en-US" b="1" i="1" dirty="0"/>
                  <a:t>Temp</a:t>
                </a:r>
                <a:r>
                  <a:rPr lang="en-US" dirty="0"/>
                  <a:t>)</a:t>
                </a:r>
              </a:p>
              <a:p>
                <a:pPr lvl="1">
                  <a:buFont typeface="+mj-lt"/>
                  <a:buAutoNum type="arabicPeriod"/>
                </a:pPr>
                <a:r>
                  <a:rPr lang="en-US" dirty="0"/>
                  <a:t>Normalize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𝑠𝑢𝑛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={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summer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: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0.45</m:t>
                        </m:r>
                      </m:num>
                      <m:den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0.45+0.25</m:t>
                        </m:r>
                      </m:den>
                    </m:f>
                    <m:r>
                      <a:rPr lang="en-US" b="0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winter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: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0.25</m:t>
                        </m:r>
                      </m:num>
                      <m:den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0.45+0.25</m:t>
                        </m:r>
                      </m:den>
                    </m:f>
                    <m:r>
                      <a:rPr lang="en-US" b="0" i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E7FCE2B3-FE08-245A-E90E-26145D79D6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2163189" y="3260663"/>
                <a:ext cx="12394060" cy="8583279"/>
              </a:xfrm>
              <a:blipFill>
                <a:blip r:embed="rId2"/>
                <a:stretch>
                  <a:fillRect l="-2149" t="-1182" r="-21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Content Placeholder 5">
            <a:extLst>
              <a:ext uri="{FF2B5EF4-FFF2-40B4-BE49-F238E27FC236}">
                <a16:creationId xmlns:a16="http://schemas.microsoft.com/office/drawing/2014/main" id="{71DD6DAF-B347-B080-D9B6-76AE57FE9B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47646" y="3260663"/>
            <a:ext cx="7546594" cy="92395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</p:pic>
    </p:spTree>
    <p:extLst>
      <p:ext uri="{BB962C8B-B14F-4D97-AF65-F5344CB8AC3E}">
        <p14:creationId xmlns:p14="http://schemas.microsoft.com/office/powerpoint/2010/main" val="2784139664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DCC80-18A9-CC4F-A09E-B498BA31C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Bayes’ rule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F75F5E-42E1-592E-CC7E-265976A1391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Probabilistic inference by enumeration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E7FCE2B3-FE08-245A-E90E-26145D79D6FA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2163188" y="3260663"/>
                <a:ext cx="19636107" cy="8583279"/>
              </a:xfrm>
            </p:spPr>
            <p:txBody>
              <a:bodyPr/>
              <a:lstStyle/>
              <a:p>
                <a:r>
                  <a:rPr lang="en-US" dirty="0"/>
                  <a:t>Obvious problems:</a:t>
                </a:r>
              </a:p>
              <a:p>
                <a:pPr lvl="1">
                  <a:buFont typeface="Wingdings" pitchFamily="2" charset="2"/>
                  <a:buChar char="Ø"/>
                </a:pPr>
                <a:r>
                  <a:rPr lang="en-US" dirty="0"/>
                  <a:t>Worst-case time complexity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 (exponential in # hidden vars)</a:t>
                </a:r>
              </a:p>
              <a:p>
                <a:pPr lvl="1">
                  <a:buFont typeface="Wingdings" pitchFamily="2" charset="2"/>
                  <a:buChar char="Ø"/>
                </a:pPr>
                <a:r>
                  <a:rPr lang="en-US" dirty="0"/>
                  <a:t>Space complexity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 to store the joint distribution</a:t>
                </a:r>
              </a:p>
              <a:p>
                <a:pPr lvl="1"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 data points to estimate the entries in the joint distribution</a:t>
                </a:r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E7FCE2B3-FE08-245A-E90E-26145D79D6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2163188" y="3260663"/>
                <a:ext cx="19636107" cy="8583279"/>
              </a:xfrm>
              <a:blipFill>
                <a:blip r:embed="rId2"/>
                <a:stretch>
                  <a:fillRect l="-1357" t="-13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6258942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DCC80-18A9-CC4F-A09E-B498BA31C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Bayes’ rule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F75F5E-42E1-592E-CC7E-265976A1391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definition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E7FCE2B3-FE08-245A-E90E-26145D79D6FA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2163188" y="3260663"/>
                <a:ext cx="19636107" cy="8583279"/>
              </a:xfrm>
            </p:spPr>
            <p:txBody>
              <a:bodyPr>
                <a:normAutofit/>
              </a:bodyPr>
              <a:lstStyle/>
              <a:p>
                <a:pPr>
                  <a:spcAft>
                    <a:spcPts val="2400"/>
                  </a:spcAft>
                </a:pPr>
                <a:r>
                  <a:rPr lang="en-US" dirty="0"/>
                  <a:t>What if we write the product rule both ways: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endChr m:val="|"/>
                          <m:ctrlP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) </m:t>
                      </m:r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endChr m:val="|"/>
                          <m:ctrlP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) </m:t>
                      </m:r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</m:d>
                    </m:oMath>
                  </m:oMathPara>
                </a14:m>
                <a:endParaRPr lang="en-US" b="1" dirty="0">
                  <a:solidFill>
                    <a:srgbClr val="0070C0"/>
                  </a:solidFill>
                </a:endParaRPr>
              </a:p>
              <a:p>
                <a:pPr>
                  <a:spcAft>
                    <a:spcPts val="2400"/>
                  </a:spcAft>
                </a:pPr>
                <a:r>
                  <a:rPr lang="en-US" dirty="0">
                    <a:solidFill>
                      <a:srgbClr val="000000"/>
                    </a:solidFill>
                  </a:rPr>
                  <a:t>Dividing left and right expressions, we can get: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endChr m:val="|"/>
                              <m:ctrlP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) </m:t>
                          </m:r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b="0" dirty="0">
                  <a:solidFill>
                    <a:srgbClr val="0070C0"/>
                  </a:solidFill>
                </a:endParaRPr>
              </a:p>
              <a:p>
                <a:pPr marL="0" indent="0" algn="ctr">
                  <a:buNone/>
                </a:pPr>
                <a:r>
                  <a:rPr lang="en-US" sz="2800" dirty="0"/>
                  <a:t>where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endChr m:val="|"/>
                        <m:ctrlPr>
                          <a:rPr lang="en-US" sz="28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8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sz="2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dirty="0"/>
                  <a:t> is posterior,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8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US" sz="2800" dirty="0"/>
                  <a:t> is prior,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endChr m:val="|"/>
                        <m:ctrlPr>
                          <a:rPr lang="en-US" sz="28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8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sz="28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8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dirty="0"/>
                  <a:t> is the likelihood and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8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8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dirty="0"/>
                  <a:t> is the evidence.</a:t>
                </a:r>
              </a:p>
              <a:p>
                <a:r>
                  <a:rPr lang="en-US" dirty="0"/>
                  <a:t>Why is this helpful?</a:t>
                </a:r>
              </a:p>
              <a:p>
                <a:pPr lvl="1">
                  <a:buFont typeface="Wingdings" pitchFamily="2" charset="2"/>
                  <a:buChar char="Ø"/>
                </a:pPr>
                <a:r>
                  <a:rPr lang="en-US" sz="3600" dirty="0"/>
                  <a:t>Let us build one conditional from its reverse</a:t>
                </a:r>
              </a:p>
              <a:p>
                <a:pPr lvl="1">
                  <a:buFont typeface="Wingdings" pitchFamily="2" charset="2"/>
                  <a:buChar char="Ø"/>
                </a:pPr>
                <a:r>
                  <a:rPr lang="en-US" sz="3600" dirty="0"/>
                  <a:t>Often one conditional is tricky, but the other one is simple</a:t>
                </a:r>
                <a:endParaRPr lang="en-US" dirty="0"/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E7FCE2B3-FE08-245A-E90E-26145D79D6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2163188" y="3260663"/>
                <a:ext cx="19636107" cy="8583279"/>
              </a:xfrm>
              <a:blipFill>
                <a:blip r:embed="rId2"/>
                <a:stretch>
                  <a:fillRect l="-1357" t="-1329" b="-23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6752564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DCC80-18A9-CC4F-A09E-B498BA31C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Bayes’ rule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F75F5E-42E1-592E-CC7E-265976A1391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Inference with </a:t>
            </a:r>
            <a:r>
              <a:rPr lang="en-US" dirty="0" err="1"/>
              <a:t>bayes’</a:t>
            </a:r>
            <a:r>
              <a:rPr lang="en-US" dirty="0"/>
              <a:t> rule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E7FCE2B3-FE08-245A-E90E-26145D79D6FA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2163188" y="3260663"/>
                <a:ext cx="19636107" cy="8583279"/>
              </a:xfrm>
            </p:spPr>
            <p:txBody>
              <a:bodyPr>
                <a:normAutofit/>
              </a:bodyPr>
              <a:lstStyle/>
              <a:p>
                <a:pPr>
                  <a:spcAft>
                    <a:spcPts val="2400"/>
                  </a:spcAft>
                </a:pPr>
                <a:r>
                  <a:rPr lang="en-US" dirty="0"/>
                  <a:t>Example: Diagnostic probability from causal probability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𝑐𝑎𝑢𝑠𝑒</m:t>
                          </m:r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𝑒𝑓𝑓𝑒𝑐𝑡</m:t>
                      </m:r>
                      <m:r>
                        <a:rPr lang="en-US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endChr m:val="|"/>
                              <m:ctrlP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𝑒𝑓𝑓𝑒𝑐𝑡</m:t>
                              </m:r>
                              <m: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𝑐𝑎𝑢𝑠𝑒</m:t>
                          </m:r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) </m:t>
                          </m:r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𝑐𝑎𝑢𝑠𝑒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𝑒𝑓𝑓𝑒𝑐𝑡</m:t>
                          </m:r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b="1" dirty="0">
                  <a:solidFill>
                    <a:srgbClr val="0070C0"/>
                  </a:solidFill>
                </a:endParaRPr>
              </a:p>
              <a:p>
                <a:pPr>
                  <a:spcAft>
                    <a:spcPts val="2400"/>
                  </a:spcAft>
                </a:pPr>
                <a:r>
                  <a:rPr lang="en-US" dirty="0">
                    <a:solidFill>
                      <a:srgbClr val="000000"/>
                    </a:solidFill>
                  </a:rPr>
                  <a:t>Example: M: Meningitis, S: stiff neck</a:t>
                </a:r>
              </a:p>
              <a:p>
                <a:pPr marL="0" indent="0">
                  <a:spcAft>
                    <a:spcPts val="24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)=0.8</m:t>
                      </m:r>
                    </m:oMath>
                  </m:oMathPara>
                </a14:m>
                <a:endParaRPr lang="en-US" dirty="0">
                  <a:solidFill>
                    <a:srgbClr val="000000"/>
                  </a:solidFill>
                </a:endParaRPr>
              </a:p>
              <a:p>
                <a:pPr marL="0" indent="0">
                  <a:spcAft>
                    <a:spcPts val="24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)=0.0001</m:t>
                      </m:r>
                    </m:oMath>
                  </m:oMathPara>
                </a14:m>
                <a:endParaRPr lang="en-US" dirty="0">
                  <a:solidFill>
                    <a:srgbClr val="000000"/>
                  </a:solidFill>
                </a:endParaRPr>
              </a:p>
              <a:p>
                <a:pPr marL="0" indent="0">
                  <a:spcAft>
                    <a:spcPts val="24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)=0.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01</m:t>
                      </m:r>
                    </m:oMath>
                  </m:oMathPara>
                </a14:m>
                <a:endParaRPr lang="en-US" dirty="0">
                  <a:solidFill>
                    <a:srgbClr val="000000"/>
                  </a:solidFill>
                </a:endParaRPr>
              </a:p>
              <a:p>
                <a:pPr marL="0" indent="0">
                  <a:spcAft>
                    <a:spcPts val="24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endChr m:val="|"/>
                              <m:ctrlP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0.8 </m:t>
                          </m:r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 0.0001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0.01</m:t>
                          </m:r>
                        </m:den>
                      </m:f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=0.008</m:t>
                      </m:r>
                    </m:oMath>
                  </m:oMathPara>
                </a14:m>
                <a:endParaRPr lang="en-US" b="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E7FCE2B3-FE08-245A-E90E-26145D79D6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2163188" y="3260663"/>
                <a:ext cx="19636107" cy="8583279"/>
              </a:xfrm>
              <a:blipFill>
                <a:blip r:embed="rId2"/>
                <a:stretch>
                  <a:fillRect l="-1357" t="-13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2267466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86355-2805-78B0-D89A-7DB0A1513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exercise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CED77D-0BDB-8F90-4044-A6BC521E9C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Probability inference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F8F5A64E-79A7-5E34-6424-CC7AE5F2976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8" y="3260663"/>
            <a:ext cx="19782411" cy="8583279"/>
          </a:xfrm>
        </p:spPr>
        <p:txBody>
          <a:bodyPr/>
          <a:lstStyle/>
          <a:p>
            <a:r>
              <a:rPr lang="en-US" sz="4400" dirty="0">
                <a:latin typeface="+mj-lt"/>
                <a:cs typeface="Tahoma" pitchFamily="34" charset="0"/>
              </a:rPr>
              <a:t>Marie is getting married tomorrow, at an outdoor ceremony in the desert. In recent years, it has rained only 5 days each year. Unfortunately, the weatherman has predicted rain for tomorrow. When it actually rains, the weatherman correctly forecasts rain 90% of the time. When it doesn't rain, he incorrectly forecasts rain 10% of the time. What is the probability that it will rain on the day of Marie's wedding? </a:t>
            </a:r>
          </a:p>
        </p:txBody>
      </p:sp>
    </p:spTree>
    <p:extLst>
      <p:ext uri="{BB962C8B-B14F-4D97-AF65-F5344CB8AC3E}">
        <p14:creationId xmlns:p14="http://schemas.microsoft.com/office/powerpoint/2010/main" val="690328940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Session 9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C03F54-B3BC-80AB-98AC-C3ABDC8D86E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149698" cy="8372537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en-US" sz="4000" dirty="0">
                <a:latin typeface="+mj-lt"/>
              </a:rPr>
              <a:t>Peter Norvig, Stuart Russel. (2021). Artificial Intelligence: A Modern Approach. Pearson. London. ISBN: 978-1292401133. Ch. 12-13.</a:t>
            </a:r>
          </a:p>
          <a:p>
            <a:pPr>
              <a:spcBef>
                <a:spcPts val="600"/>
              </a:spcBef>
            </a:pPr>
            <a:r>
              <a:rPr lang="en-US" sz="4000" dirty="0">
                <a:latin typeface="+mj-lt"/>
              </a:rPr>
              <a:t>Dan Klein and Pieter </a:t>
            </a:r>
            <a:r>
              <a:rPr lang="en-US" sz="4000" dirty="0" err="1">
                <a:latin typeface="+mj-lt"/>
              </a:rPr>
              <a:t>Abbeel</a:t>
            </a:r>
            <a:r>
              <a:rPr lang="en-US" sz="4000" dirty="0">
                <a:latin typeface="+mj-lt"/>
              </a:rPr>
              <a:t>. (2024). CS188 Intro to AI at UC Berkeley </a:t>
            </a:r>
          </a:p>
          <a:p>
            <a:pPr>
              <a:spcBef>
                <a:spcPts val="600"/>
              </a:spcBef>
            </a:pPr>
            <a:r>
              <a:rPr lang="en-US" sz="4000" dirty="0">
                <a:latin typeface="+mj-lt"/>
              </a:rPr>
              <a:t>Stephanie Rosenthal. (2023). CMU AI and http://</a:t>
            </a:r>
            <a:r>
              <a:rPr lang="en-US" sz="4000" dirty="0" err="1">
                <a:latin typeface="+mj-lt"/>
              </a:rPr>
              <a:t>ai.berkeley.edu</a:t>
            </a:r>
            <a:endParaRPr lang="en-US" sz="4000" dirty="0">
              <a:latin typeface="+mj-lt"/>
            </a:endParaRPr>
          </a:p>
          <a:p>
            <a:pPr>
              <a:spcBef>
                <a:spcPts val="600"/>
              </a:spcBef>
            </a:pPr>
            <a:endParaRPr lang="en-US" sz="4000" dirty="0">
              <a:latin typeface="+mj-lt"/>
            </a:endParaRPr>
          </a:p>
          <a:p>
            <a:pPr>
              <a:spcBef>
                <a:spcPts val="600"/>
              </a:spcBef>
            </a:pPr>
            <a:endParaRPr lang="en-US" sz="4000" dirty="0"/>
          </a:p>
          <a:p>
            <a:pPr>
              <a:spcBef>
                <a:spcPts val="600"/>
              </a:spcBef>
            </a:pPr>
            <a:endParaRPr lang="en-US" sz="4000" dirty="0"/>
          </a:p>
          <a:p>
            <a:pPr>
              <a:spcBef>
                <a:spcPts val="600"/>
              </a:spcBef>
            </a:pPr>
            <a:endParaRPr lang="en-US" sz="4000" dirty="0"/>
          </a:p>
          <a:p>
            <a:pPr>
              <a:spcBef>
                <a:spcPts val="600"/>
              </a:spcBef>
            </a:pPr>
            <a:endParaRPr lang="en-US" sz="4000" dirty="0"/>
          </a:p>
          <a:p>
            <a:pPr>
              <a:spcBef>
                <a:spcPts val="600"/>
              </a:spcBef>
            </a:pP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774771954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Custom 1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BINUS Learning Object Slide Template 2023  -  Read-Only" id="{0B9ADDDE-C7FD-42D8-83B7-6621693F3C5D}" vid="{472DF894-1FEC-4319-A5F3-1F8BDBEC1F3D}"/>
    </a:ext>
  </a:extLst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21_BasicWhite</Template>
  <TotalTime>4443</TotalTime>
  <Words>1352</Words>
  <Application>Microsoft Office PowerPoint</Application>
  <PresentationFormat>Custom</PresentationFormat>
  <Paragraphs>174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6" baseType="lpstr">
      <vt:lpstr>Cambria Math</vt:lpstr>
      <vt:lpstr>Open Sans Light</vt:lpstr>
      <vt:lpstr>Arial</vt:lpstr>
      <vt:lpstr>Helvetica Neue</vt:lpstr>
      <vt:lpstr>Open Sans Semibold</vt:lpstr>
      <vt:lpstr>Open Sans</vt:lpstr>
      <vt:lpstr>Wingdings</vt:lpstr>
      <vt:lpstr>OCRB</vt:lpstr>
      <vt:lpstr>Open Sans ExtraBold</vt:lpstr>
      <vt:lpstr>21_BasicWhite</vt:lpstr>
      <vt:lpstr>Quantifying uncertainty</vt:lpstr>
      <vt:lpstr>Learning Outcomes</vt:lpstr>
      <vt:lpstr>outline</vt:lpstr>
      <vt:lpstr>Probability</vt:lpstr>
      <vt:lpstr>Probability</vt:lpstr>
      <vt:lpstr>Probability</vt:lpstr>
      <vt:lpstr>Random variables</vt:lpstr>
      <vt:lpstr>Random variables</vt:lpstr>
      <vt:lpstr>Probability distributions</vt:lpstr>
      <vt:lpstr>Probability distributions</vt:lpstr>
      <vt:lpstr>Probability distributions</vt:lpstr>
      <vt:lpstr>Probability distributions</vt:lpstr>
      <vt:lpstr>Probability distributions</vt:lpstr>
      <vt:lpstr>Probability distributions</vt:lpstr>
      <vt:lpstr>Probability distributions</vt:lpstr>
      <vt:lpstr>Probability distributions</vt:lpstr>
      <vt:lpstr>Probability distributions</vt:lpstr>
      <vt:lpstr>The chain rule</vt:lpstr>
      <vt:lpstr>Bayes’ rule</vt:lpstr>
      <vt:lpstr>Bayes’ rule</vt:lpstr>
      <vt:lpstr>Bayes’ rule</vt:lpstr>
      <vt:lpstr>Bayes’ rule</vt:lpstr>
      <vt:lpstr>Bayes’ rule</vt:lpstr>
      <vt:lpstr>Bayes’ rule</vt:lpstr>
      <vt:lpstr>exercise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HENRY LUCKY</dc:creator>
  <cp:lastModifiedBy>Henry Lucky</cp:lastModifiedBy>
  <cp:revision>69</cp:revision>
  <dcterms:created xsi:type="dcterms:W3CDTF">2023-11-17T02:51:40Z</dcterms:created>
  <dcterms:modified xsi:type="dcterms:W3CDTF">2024-12-27T04:07:09Z</dcterms:modified>
</cp:coreProperties>
</file>