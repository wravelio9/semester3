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9"/>
  </p:notesMasterIdLst>
  <p:sldIdLst>
    <p:sldId id="290" r:id="rId2"/>
    <p:sldId id="257" r:id="rId3"/>
    <p:sldId id="258" r:id="rId4"/>
    <p:sldId id="319" r:id="rId5"/>
    <p:sldId id="323" r:id="rId6"/>
    <p:sldId id="324" r:id="rId7"/>
    <p:sldId id="325" r:id="rId8"/>
    <p:sldId id="326" r:id="rId9"/>
    <p:sldId id="327" r:id="rId10"/>
    <p:sldId id="329" r:id="rId11"/>
    <p:sldId id="320" r:id="rId12"/>
    <p:sldId id="330" r:id="rId13"/>
    <p:sldId id="331" r:id="rId14"/>
    <p:sldId id="332" r:id="rId15"/>
    <p:sldId id="321" r:id="rId16"/>
    <p:sldId id="334" r:id="rId17"/>
    <p:sldId id="333" r:id="rId18"/>
    <p:sldId id="322" r:id="rId19"/>
    <p:sldId id="335" r:id="rId20"/>
    <p:sldId id="336" r:id="rId21"/>
    <p:sldId id="337" r:id="rId22"/>
    <p:sldId id="338" r:id="rId23"/>
    <p:sldId id="339" r:id="rId24"/>
    <p:sldId id="340" r:id="rId25"/>
    <p:sldId id="341" r:id="rId26"/>
    <p:sldId id="342" r:id="rId27"/>
    <p:sldId id="343" r:id="rId28"/>
    <p:sldId id="344" r:id="rId29"/>
    <p:sldId id="345" r:id="rId30"/>
    <p:sldId id="346" r:id="rId31"/>
    <p:sldId id="350" r:id="rId32"/>
    <p:sldId id="347" r:id="rId33"/>
    <p:sldId id="348" r:id="rId34"/>
    <p:sldId id="349" r:id="rId35"/>
    <p:sldId id="318" r:id="rId36"/>
    <p:sldId id="351" r:id="rId37"/>
    <p:sldId id="278" r:id="rId38"/>
  </p:sldIdLst>
  <p:sldSz cx="24384000" cy="13716000"/>
  <p:notesSz cx="6858000" cy="9144000"/>
  <p:embeddedFontLst>
    <p:embeddedFont>
      <p:font typeface="Cambria Math" panose="02040503050406030204" pitchFamily="18" charset="0"/>
      <p:regular r:id="rId40"/>
    </p:embeddedFont>
    <p:embeddedFont>
      <p:font typeface="OCRB" panose="020B0609020202020204" pitchFamily="49" charset="0"/>
      <p:regular r:id="rId41"/>
    </p:embeddedFont>
    <p:embeddedFont>
      <p:font typeface="Open Sans" panose="020B0606030504020204" pitchFamily="34" charset="0"/>
      <p:regular r:id="rId42"/>
      <p:bold r:id="rId43"/>
      <p:italic r:id="rId44"/>
      <p:boldItalic r:id="rId45"/>
    </p:embeddedFont>
    <p:embeddedFont>
      <p:font typeface="Open Sans ExtraBold" panose="020B0906030804020204" pitchFamily="34" charset="0"/>
      <p:bold r:id="rId46"/>
      <p:italic r:id="rId47"/>
      <p:boldItalic r:id="rId48"/>
    </p:embeddedFont>
    <p:embeddedFont>
      <p:font typeface="Open Sans Light" panose="020B0306030504020204" pitchFamily="34" charset="0"/>
      <p:regular r:id="rId49"/>
      <p:italic r:id="rId50"/>
    </p:embeddedFont>
    <p:embeddedFont>
      <p:font typeface="Open Sans Semibold" panose="020B0706030804020204" pitchFamily="34" charset="0"/>
      <p:regular r:id="rId51"/>
      <p:bold r:id="rId52"/>
      <p:italic r:id="rId53"/>
      <p:boldItalic r:id="rId54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8" autoAdjust="0"/>
    <p:restoredTop sz="91002"/>
  </p:normalViewPr>
  <p:slideViewPr>
    <p:cSldViewPr snapToGrid="0" snapToObjects="1">
      <p:cViewPr varScale="1">
        <p:scale>
          <a:sx n="31" d="100"/>
          <a:sy n="31" d="100"/>
        </p:scale>
        <p:origin x="1050" y="10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1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54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0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There are only 8 multiplies and 4 adds here (including</a:t>
                </a:r>
                <a:r>
                  <a:rPr lang="en-US" baseline="0" dirty="0"/>
                  <a:t> the previus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charset="0"/>
                            <a:sym typeface="Symbol"/>
                          </a:rPr>
                          <m:t>𝑗</m:t>
                        </m:r>
                      </m: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charset="0"/>
                            <a:sym typeface="Symbol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/>
                  <a:t>). Using enumeration would need 28 multiplies and 7 adds.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There are only 8 multiplies and 4 adds here (including</a:t>
                </a:r>
                <a:r>
                  <a:rPr lang="en-US" baseline="0" dirty="0"/>
                  <a:t> the previus </a:t>
                </a:r>
                <a:r>
                  <a:rPr lang="en-US" sz="2400" i="0">
                    <a:solidFill>
                      <a:srgbClr val="000000"/>
                    </a:solidFill>
                    <a:latin typeface="Cambria Math" charset="0"/>
                    <a:sym typeface="Symbol"/>
                  </a:rPr>
                  <a:t>𝑃</a:t>
                </a:r>
                <a:r>
                  <a:rPr lang="en-US" sz="2400" i="0">
                    <a:solidFill>
                      <a:srgbClr val="000000"/>
                    </a:solidFill>
                    <a:latin typeface="Cambria Math" panose="02040503050406030204" pitchFamily="18" charset="0"/>
                    <a:sym typeface="Symbol"/>
                  </a:rPr>
                  <a:t>(</a:t>
                </a:r>
                <a:r>
                  <a:rPr lang="en-US" sz="2400" i="0">
                    <a:solidFill>
                      <a:srgbClr val="000000"/>
                    </a:solidFill>
                    <a:latin typeface="Cambria Math" charset="0"/>
                    <a:sym typeface="Symbol"/>
                  </a:rPr>
                  <a:t>𝑗</a:t>
                </a:r>
                <a:r>
                  <a:rPr lang="en-US" sz="2400" i="0">
                    <a:solidFill>
                      <a:srgbClr val="000000"/>
                    </a:solidFill>
                    <a:latin typeface="Cambria Math" panose="02040503050406030204" pitchFamily="18" charset="0"/>
                    <a:sym typeface="Symbol"/>
                  </a:rPr>
                  <a:t>│</a:t>
                </a:r>
                <a:r>
                  <a:rPr lang="en-US" sz="2400" i="0">
                    <a:solidFill>
                      <a:srgbClr val="000000"/>
                    </a:solidFill>
                    <a:latin typeface="Cambria Math" charset="0"/>
                    <a:sym typeface="Symbol"/>
                  </a:rPr>
                  <a:t>𝑎</a:t>
                </a:r>
                <a:r>
                  <a:rPr lang="en-US" sz="2400" i="0">
                    <a:solidFill>
                      <a:srgbClr val="000000"/>
                    </a:solidFill>
                    <a:latin typeface="Cambria Math" panose="02040503050406030204" pitchFamily="18" charset="0"/>
                    <a:sym typeface="Symbol"/>
                  </a:rPr>
                  <a:t>)</a:t>
                </a:r>
                <a:r>
                  <a:rPr lang="en-US" dirty="0"/>
                  <a:t>). Using enumeration would need 28 multiplies and 7 adds.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9179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defTabSz="457200" eaLnBrk="1" fontAlgn="auto" latinLnBrk="0" hangingPunct="1">
                  <a:lnSpc>
                    <a:spcPct val="11799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/>
                      </a:rPr>
                      <m:t>𝑋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charset="0"/>
                            <a:ea typeface="Cambria Math" panose="02040503050406030204" pitchFamily="18" charset="0"/>
                            <a:sym typeface="Symbol"/>
                          </a:rPr>
                          <m:t>∝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/>
                      </a:rPr>
                      <m:t>𝑌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means that X is directly proportional to Y for a constant m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defTabSz="457200" eaLnBrk="1" fontAlgn="auto" latinLnBrk="0" hangingPunct="1">
                  <a:lnSpc>
                    <a:spcPct val="11799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0" i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/>
                  </a:rPr>
                  <a:t>𝑋</a:t>
                </a:r>
                <a:r>
                  <a:rPr lang="en-US" i="0">
                    <a:solidFill>
                      <a:srgbClr val="000000"/>
                    </a:solidFill>
                    <a:latin typeface="Cambria Math" charset="0"/>
                    <a:ea typeface="Cambria Math" panose="02040503050406030204" pitchFamily="18" charset="0"/>
                    <a:sym typeface="Symbol"/>
                  </a:rPr>
                  <a:t>∝</a:t>
                </a:r>
                <a:r>
                  <a:rPr lang="en-US" b="0" i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/>
                  </a:rPr>
                  <a:t>_𝑚 𝑌</a:t>
                </a:r>
                <a:r>
                  <a:rPr lang="en-US" i="0">
                    <a:solidFill>
                      <a:srgbClr val="000000"/>
                    </a:solidFill>
                    <a:latin typeface="Cambria Math" panose="02040503050406030204" pitchFamily="18" charset="0"/>
                    <a:sym typeface="Symbol"/>
                  </a:rPr>
                  <a:t> </a:t>
                </a:r>
                <a:r>
                  <a:rPr lang="en-US" dirty="0">
                    <a:solidFill>
                      <a:srgbClr val="000000"/>
                    </a:solidFill>
                  </a:rPr>
                  <a:t>means that X is directly proportional to Y for a constant m</a:t>
                </a:r>
              </a:p>
              <a:p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8111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enumeration will need 60 multiplies and 15 adds</a:t>
            </a:r>
          </a:p>
        </p:txBody>
      </p:sp>
    </p:spTree>
    <p:extLst>
      <p:ext uri="{BB962C8B-B14F-4D97-AF65-F5344CB8AC3E}">
        <p14:creationId xmlns:p14="http://schemas.microsoft.com/office/powerpoint/2010/main" val="452597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There are 15 multiplies and 8 adds including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charset="0"/>
                            <a:sym typeface="Symbol"/>
                          </a:rPr>
                          <m:t>𝑗</m:t>
                        </m:r>
                      </m:e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charset="0"/>
                            <a:sym typeface="Symbol"/>
                          </a:rPr>
                          <m:t>𝑎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There are 15 multiplies and 8 adds including </a:t>
                </a:r>
                <a:r>
                  <a:rPr lang="en-US" sz="2000" i="0">
                    <a:solidFill>
                      <a:srgbClr val="000000"/>
                    </a:solidFill>
                    <a:latin typeface="Cambria Math" charset="0"/>
                    <a:sym typeface="Symbol"/>
                  </a:rPr>
                  <a:t>𝑃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  <a:sym typeface="Symbol"/>
                  </a:rPr>
                  <a:t>(</a:t>
                </a:r>
                <a:r>
                  <a:rPr lang="en-US" sz="2000" i="0">
                    <a:solidFill>
                      <a:srgbClr val="000000"/>
                    </a:solidFill>
                    <a:latin typeface="Cambria Math" charset="0"/>
                    <a:sym typeface="Symbol"/>
                  </a:rPr>
                  <a:t>𝑗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  <a:sym typeface="Symbol"/>
                  </a:rPr>
                  <a:t>│</a:t>
                </a:r>
                <a:r>
                  <a:rPr lang="en-US" sz="2000" i="0">
                    <a:solidFill>
                      <a:srgbClr val="000000"/>
                    </a:solidFill>
                    <a:latin typeface="Cambria Math" charset="0"/>
                    <a:sym typeface="Symbol"/>
                  </a:rPr>
                  <a:t>𝑎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  <a:sym typeface="Symbol"/>
                  </a:rPr>
                  <a:t>)</a:t>
                </a:r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46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8583279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sv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11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Network: </a:t>
            </a:r>
            <a:br>
              <a:rPr lang="en-US" dirty="0"/>
            </a:br>
            <a:r>
              <a:rPr lang="en-US" dirty="0"/>
              <a:t>Exact Inference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43550" y="11538583"/>
            <a:ext cx="5286583" cy="745888"/>
          </a:xfrm>
        </p:spPr>
        <p:txBody>
          <a:bodyPr/>
          <a:lstStyle/>
          <a:p>
            <a:r>
              <a:rPr lang="en-US" dirty="0"/>
              <a:t>Henry Lucky,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577925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At the end of this session, students will be able to:</a:t>
            </a:r>
          </a:p>
          <a:p>
            <a:r>
              <a:rPr lang="en-ID" dirty="0"/>
              <a:t>LO 4: Apply various techniques to an agent when acting under uncertainty  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ID" dirty="0"/>
              <a:t>Bayesian Network Inference</a:t>
            </a:r>
          </a:p>
          <a:p>
            <a:r>
              <a:rPr lang="en-ID" dirty="0"/>
              <a:t>Inference by Enumeration</a:t>
            </a:r>
          </a:p>
          <a:p>
            <a:r>
              <a:rPr lang="en-ID" dirty="0"/>
              <a:t>Inference by Variable Elimination</a:t>
            </a:r>
          </a:p>
          <a:p>
            <a:r>
              <a:rPr lang="en-ID" dirty="0"/>
              <a:t>Inference by Enumeration vs Variable Elimination</a:t>
            </a:r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0FD9D-657D-FC8D-9A5A-D4C6498F6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Bayesian network inference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98093-E652-60EE-B22A-3FB0161C39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query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2A8A65-2732-1C1D-4708-3EE0632E4C0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What is the notation for these queries?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What is the probability of </a:t>
            </a:r>
            <a:r>
              <a:rPr lang="en-US" i="1" dirty="0"/>
              <a:t>this</a:t>
            </a:r>
            <a:r>
              <a:rPr lang="en-US" dirty="0"/>
              <a:t> given what I know?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What are the probabilities of all the possible outcomes (given what I know)?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Which outcome is the most likely outcome (given what I know)?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97154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0FD9D-657D-FC8D-9A5A-D4C6498F6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Bayesian network inference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98093-E652-60EE-B22A-3FB0161C39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query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12A8A65-2732-1C1D-4708-3EE0632E4C0E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pPr>
                  <a:spcAft>
                    <a:spcPts val="2400"/>
                  </a:spcAft>
                  <a:buFont typeface="Wingdings" pitchFamily="2" charset="2"/>
                  <a:buChar char="v"/>
                </a:pPr>
                <a:r>
                  <a:rPr lang="en-US" dirty="0"/>
                  <a:t>What is the probability of </a:t>
                </a:r>
                <a:r>
                  <a:rPr lang="en-US" i="1" dirty="0"/>
                  <a:t>this</a:t>
                </a:r>
                <a:r>
                  <a:rPr lang="en-US" dirty="0"/>
                  <a:t> given what I know?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>
                  <a:buFont typeface="Wingdings" pitchFamily="2" charset="2"/>
                  <a:buChar char="v"/>
                </a:pPr>
                <a:r>
                  <a:rPr lang="en-US" dirty="0"/>
                  <a:t>What are the probabilities of all the possible outcomes (given what I know)?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>
                  <a:spcAft>
                    <a:spcPts val="2400"/>
                  </a:spcAft>
                  <a:buFont typeface="Wingdings" pitchFamily="2" charset="2"/>
                  <a:buChar char="v"/>
                </a:pPr>
                <a:r>
                  <a:rPr lang="en-US" dirty="0"/>
                  <a:t>Which outcome is the most likely outcome (given what I know)?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12A8A65-2732-1C1D-4708-3EE0632E4C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1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04310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0FD9D-657D-FC8D-9A5A-D4C6498F6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Bayesian network inference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98093-E652-60EE-B22A-3FB0161C39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query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12A8A65-2732-1C1D-4708-3EE0632E4C0E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pPr>
                  <a:spcAft>
                    <a:spcPts val="2400"/>
                  </a:spcAft>
                  <a:buFont typeface="Wingdings" pitchFamily="2" charset="2"/>
                  <a:buChar char="v"/>
                </a:pPr>
                <a:r>
                  <a:rPr lang="en-US" dirty="0"/>
                  <a:t>What is the probability of </a:t>
                </a:r>
                <a:r>
                  <a:rPr lang="en-US" i="1" dirty="0"/>
                  <a:t>this</a:t>
                </a:r>
                <a:r>
                  <a:rPr lang="en-US" dirty="0"/>
                  <a:t> given what I know?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buFont typeface="Wingdings" pitchFamily="2" charset="2"/>
                  <a:buChar char="v"/>
                </a:pPr>
                <a:r>
                  <a:rPr lang="en-US" dirty="0"/>
                  <a:t>What are the probabilities of all the possible outcomes (given what I know)?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spcAft>
                    <a:spcPts val="2400"/>
                  </a:spcAft>
                  <a:buFont typeface="Wingdings" pitchFamily="2" charset="2"/>
                  <a:buChar char="v"/>
                </a:pPr>
                <a:r>
                  <a:rPr lang="en-US" dirty="0"/>
                  <a:t>Which outcome is the most likely outcome (given what I know)?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12A8A65-2732-1C1D-4708-3EE0632E4C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1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494982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0FD9D-657D-FC8D-9A5A-D4C6498F6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Bayesian network inference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98093-E652-60EE-B22A-3FB0161C39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query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12A8A65-2732-1C1D-4708-3EE0632E4C0E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spcAft>
                    <a:spcPts val="2400"/>
                  </a:spcAft>
                  <a:buFont typeface="Wingdings" pitchFamily="2" charset="2"/>
                  <a:buChar char="v"/>
                </a:pPr>
                <a:r>
                  <a:rPr lang="en-US" dirty="0"/>
                  <a:t>What is the probability of </a:t>
                </a:r>
                <a:r>
                  <a:rPr lang="en-US" i="1" dirty="0"/>
                  <a:t>this</a:t>
                </a:r>
                <a:r>
                  <a:rPr lang="en-US" dirty="0"/>
                  <a:t> given what I know?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 …, 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buFont typeface="Wingdings" pitchFamily="2" charset="2"/>
                  <a:buChar char="v"/>
                </a:pPr>
                <a:r>
                  <a:rPr lang="en-US" dirty="0"/>
                  <a:t>What are the probabilities of all the possible outcomes (given what I know)?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 …,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spcAft>
                    <a:spcPts val="2400"/>
                  </a:spcAft>
                  <a:buFont typeface="Wingdings" pitchFamily="2" charset="2"/>
                  <a:buChar char="v"/>
                </a:pPr>
                <a:r>
                  <a:rPr lang="en-US" dirty="0"/>
                  <a:t>Which outcome is the most likely outcome (given what I know)?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 …,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12A8A65-2732-1C1D-4708-3EE0632E4C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2511" b="-7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892955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0FD9D-657D-FC8D-9A5A-D4C6498F6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Bayesian network inference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98093-E652-60EE-B22A-3FB0161C39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12A8A65-2732-1C1D-4708-3EE0632E4C0E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sz="4400" dirty="0"/>
                  <a:t>Inference: calculating some useful quantity from a probability model (joint probability distribution)</a:t>
                </a:r>
              </a:p>
              <a:p>
                <a:r>
                  <a:rPr lang="en-US" dirty="0"/>
                  <a:t>Examples: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dirty="0"/>
                  <a:t>Posterior marginal probability</a:t>
                </a:r>
              </a:p>
              <a:p>
                <a:pPr lvl="2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sym typeface="Symbol"/>
                      </a:rPr>
                      <m:t>𝑃</m:t>
                    </m:r>
                    <m:r>
                      <a:rPr lang="en-US" i="1" dirty="0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sym typeface="Symbol"/>
                      </a:rPr>
                      <m:t>(</m:t>
                    </m:r>
                    <m:r>
                      <a:rPr lang="en-US" i="1" dirty="0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sym typeface="Symbol"/>
                      </a:rPr>
                      <m:t>𝑄</m:t>
                    </m:r>
                    <m:r>
                      <a:rPr lang="en-US" i="1" dirty="0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sym typeface="Symbol"/>
                      </a:rPr>
                      <m:t>|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𝑒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sym typeface="Symbol"/>
                      </a:rPr>
                      <m:t>,..,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𝑒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𝑘</m:t>
                        </m:r>
                      </m:sub>
                    </m:sSub>
                    <m:r>
                      <a:rPr lang="en-US" i="1" dirty="0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sym typeface="Symbol"/>
                      </a:rPr>
                      <m:t>) </m:t>
                    </m:r>
                  </m:oMath>
                </a14:m>
                <a:endParaRPr lang="en-US" dirty="0">
                  <a:solidFill>
                    <a:srgbClr val="CC00CC"/>
                  </a:solidFill>
                  <a:sym typeface="Symbol"/>
                </a:endParaRPr>
              </a:p>
              <a:p>
                <a:pPr lvl="2">
                  <a:lnSpc>
                    <a:spcPct val="90000"/>
                  </a:lnSpc>
                </a:pPr>
                <a:r>
                  <a:rPr lang="en-US" dirty="0">
                    <a:solidFill>
                      <a:srgbClr val="000000"/>
                    </a:solidFill>
                    <a:sym typeface="Symbol"/>
                  </a:rPr>
                  <a:t>e.g., what disease might I have?</a:t>
                </a:r>
                <a:endParaRPr lang="en-US" sz="2800" dirty="0"/>
              </a:p>
              <a:p>
                <a:pPr lvl="1">
                  <a:lnSpc>
                    <a:spcPct val="90000"/>
                  </a:lnSpc>
                </a:pPr>
                <a:r>
                  <a:rPr lang="en-US" dirty="0"/>
                  <a:t>Most likely explanation:</a:t>
                </a:r>
              </a:p>
              <a:p>
                <a:pPr lvl="2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sym typeface="Symbol"/>
                      </a:rPr>
                      <m:t>𝑎𝑟𝑔𝑚𝑎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𝑞</m:t>
                        </m:r>
                        <m:r>
                          <a:rPr lang="en-US" b="0" i="1" dirty="0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, </m:t>
                        </m:r>
                        <m:r>
                          <a:rPr lang="en-US" b="0" i="1" dirty="0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𝑟</m:t>
                        </m:r>
                        <m:r>
                          <a:rPr lang="en-US" b="0" i="1" dirty="0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, </m:t>
                        </m:r>
                        <m:r>
                          <a:rPr lang="en-US" b="0" i="1" dirty="0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𝑠</m:t>
                        </m:r>
                      </m:sub>
                    </m:sSub>
                    <m:r>
                      <a:rPr lang="en-US" i="1" dirty="0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r>
                      <a:rPr lang="en-US" i="1" dirty="0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sym typeface="Symbol"/>
                      </a:rPr>
                      <m:t>𝑃</m:t>
                    </m:r>
                    <m:r>
                      <a:rPr lang="en-US" i="1" dirty="0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sym typeface="Symbol"/>
                      </a:rPr>
                      <m:t>(</m:t>
                    </m:r>
                    <m:r>
                      <a:rPr lang="en-US" i="1" dirty="0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sym typeface="Symbol"/>
                      </a:rPr>
                      <m:t>𝑄</m:t>
                    </m:r>
                    <m:r>
                      <a:rPr lang="en-US" i="1" dirty="0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sym typeface="Symbol"/>
                      </a:rPr>
                      <m:t>=</m:t>
                    </m:r>
                    <m:r>
                      <a:rPr lang="en-US" b="0" i="1" dirty="0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sym typeface="Symbol"/>
                      </a:rPr>
                      <m:t>𝑞</m:t>
                    </m:r>
                    <m:r>
                      <a:rPr lang="en-US" b="0" i="1" dirty="0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sym typeface="Symbol"/>
                      </a:rPr>
                      <m:t>,</m:t>
                    </m:r>
                    <m:r>
                      <a:rPr lang="en-US" b="0" i="1" dirty="0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sym typeface="Symbol"/>
                      </a:rPr>
                      <m:t>𝑅</m:t>
                    </m:r>
                    <m:r>
                      <a:rPr lang="en-US" i="1" dirty="0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sym typeface="Symbol"/>
                      </a:rPr>
                      <m:t>=</m:t>
                    </m:r>
                    <m:r>
                      <a:rPr lang="en-US" b="0" i="1" dirty="0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sym typeface="Symbol"/>
                      </a:rPr>
                      <m:t>𝑟</m:t>
                    </m:r>
                    <m:r>
                      <a:rPr lang="en-US" b="0" i="1" dirty="0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sym typeface="Symbol"/>
                      </a:rPr>
                      <m:t>,</m:t>
                    </m:r>
                    <m:r>
                      <a:rPr lang="en-US" b="0" i="1" dirty="0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sym typeface="Symbol"/>
                      </a:rPr>
                      <m:t>𝑆</m:t>
                    </m:r>
                    <m:r>
                      <a:rPr lang="en-US" i="1" dirty="0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sym typeface="Symbol"/>
                      </a:rPr>
                      <m:t>=</m:t>
                    </m:r>
                    <m:r>
                      <a:rPr lang="en-US" i="1" dirty="0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sym typeface="Symbol"/>
                      </a:rPr>
                      <m:t>𝑠</m:t>
                    </m:r>
                    <m:r>
                      <a:rPr lang="en-US" i="1" dirty="0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sym typeface="Symbol"/>
                      </a:rPr>
                      <m:t>|</m:t>
                    </m:r>
                    <m:r>
                      <a:rPr lang="en-US" i="1" dirty="0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sym typeface="Symbol"/>
                      </a:rPr>
                      <m:t>𝑒</m:t>
                    </m:r>
                    <m:r>
                      <a:rPr lang="en-US" i="1" baseline="-25000" dirty="0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sym typeface="Symbol"/>
                      </a:rPr>
                      <m:t>1</m:t>
                    </m:r>
                    <m:r>
                      <a:rPr lang="en-US" i="1" dirty="0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sym typeface="Symbol"/>
                      </a:rPr>
                      <m:t>,..,</m:t>
                    </m:r>
                    <m:r>
                      <a:rPr lang="en-US" i="1" dirty="0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sym typeface="Symbol"/>
                      </a:rPr>
                      <m:t>𝑒𝑘</m:t>
                    </m:r>
                    <m:r>
                      <a:rPr lang="en-US" i="1" dirty="0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sym typeface="Symbol"/>
                      </a:rPr>
                      <m:t>)</m:t>
                    </m:r>
                  </m:oMath>
                </a14:m>
                <a:endParaRPr lang="en-US" dirty="0">
                  <a:solidFill>
                    <a:srgbClr val="CC00CC"/>
                  </a:solidFill>
                  <a:sym typeface="Symbol"/>
                </a:endParaRPr>
              </a:p>
              <a:p>
                <a:pPr lvl="2">
                  <a:lnSpc>
                    <a:spcPct val="90000"/>
                  </a:lnSpc>
                </a:pPr>
                <a:r>
                  <a:rPr lang="en-US" dirty="0">
                    <a:sym typeface="Symbol"/>
                  </a:rPr>
                  <a:t>e.g., what was just said?</a:t>
                </a:r>
              </a:p>
              <a:p>
                <a:endParaRPr lang="en-US" sz="4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12A8A65-2732-1C1D-4708-3EE0632E4C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2068" b="-1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341012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0FD9D-657D-FC8D-9A5A-D4C6498F6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Bayesian network inference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98093-E652-60EE-B22A-3FB0161C39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inference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2A8A65-2732-1C1D-4708-3EE0632E4C0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can answer any query using the full joint distribution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F310D9-8BD5-3CA7-46EB-7869930E1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4799" y="4250679"/>
            <a:ext cx="19376011" cy="823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1634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0FD9D-657D-FC8D-9A5A-D4C6498F6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Bayesian network inference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98093-E652-60EE-B22A-3FB0161C39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inference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2A8A65-2732-1C1D-4708-3EE0632E4C0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Now we’ll learn how to answer any query using Bayesian network</a:t>
            </a: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CC53AE04-72F3-2F2A-B94E-4BCC6BBFE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4825" y="4536944"/>
            <a:ext cx="19216786" cy="759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8958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A02FD-59E4-A333-307E-DB39D8489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 by enumeration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6BBAA-A5D4-6DF6-E800-8B06E972E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FC45-7DE8-967A-0EC7-4FB74F5B341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Inference by enumeration: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Any probability of interest can be computed by summing entries from the joint distribution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Entries from the joint distribution can be obtained from a BN by multiplying the corresponding conditional probabilities</a:t>
            </a:r>
          </a:p>
          <a:p>
            <a:r>
              <a:rPr lang="en-US" dirty="0"/>
              <a:t>So, inference in Bayes nets means computing sums of products of numbers, sounds easy!!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00352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A02FD-59E4-A333-307E-DB39D8489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 by enumeration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6BBAA-A5D4-6DF6-E800-8B06E972E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General case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77BFC45-7DE8-967A-0EC7-4FB74F5B3412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Let’s say we want: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Step 1: Select the entries consistent with evidence</a:t>
                </a:r>
              </a:p>
              <a:p>
                <a:r>
                  <a:rPr lang="en-US" dirty="0"/>
                  <a:t>Step 2: Sum out H to get joint of Query and evidence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Step 3: Normalize: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...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...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77BFC45-7DE8-967A-0EC7-4FB74F5B34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1329" b="-11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B6E775-06A9-8387-90A0-488CE207F450}"/>
                  </a:ext>
                </a:extLst>
              </p:cNvPr>
              <p:cNvSpPr txBox="1"/>
              <p:nvPr/>
            </p:nvSpPr>
            <p:spPr>
              <a:xfrm>
                <a:off x="16512153" y="2127198"/>
                <a:ext cx="6212470" cy="26879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571500" marR="0" indent="-571500" algn="l" defTabSz="2438338" rtl="0" fontAlgn="auto" latinLnBrk="0" hangingPunct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sz="36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Neue"/>
                  </a:rPr>
                  <a:t>Evidence variables: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..</m:t>
                    </m:r>
                    <m:sSub>
                      <m:sSubPr>
                        <m:ctrlP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0" lang="en-US" sz="36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Neue"/>
                  </a:rPr>
                  <a:t> </a:t>
                </a:r>
              </a:p>
              <a:p>
                <a:pPr marL="571500" marR="0" indent="-571500" algn="l" defTabSz="2438338" rtl="0" fontAlgn="auto" latinLnBrk="0" hangingPunct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en-US" sz="3600" dirty="0">
                    <a:solidFill>
                      <a:srgbClr val="000000"/>
                    </a:solidFill>
                  </a:rPr>
                  <a:t>Query variable: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sz="3600" dirty="0">
                  <a:solidFill>
                    <a:srgbClr val="000000"/>
                  </a:solidFill>
                </a:endParaRPr>
              </a:p>
              <a:p>
                <a:pPr marL="571500" marR="0" indent="-571500" algn="l" defTabSz="2438338" rtl="0" fontAlgn="auto" latinLnBrk="0" hangingPunct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sz="36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Neue"/>
                  </a:rPr>
                  <a:t>Hidden variables: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..</m:t>
                    </m:r>
                    <m:sSub>
                      <m:sSubPr>
                        <m:ctrlP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B6E775-06A9-8387-90A0-488CE207F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2153" y="2127198"/>
                <a:ext cx="6212470" cy="2687915"/>
              </a:xfrm>
              <a:prstGeom prst="rect">
                <a:avLst/>
              </a:prstGeom>
              <a:blipFill>
                <a:blip r:embed="rId3"/>
                <a:stretch>
                  <a:fillRect l="-3265" b="-751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03A6C3-4173-3931-9399-B99F3AE8F896}"/>
                  </a:ext>
                </a:extLst>
              </p:cNvPr>
              <p:cNvSpPr txBox="1"/>
              <p:nvPr/>
            </p:nvSpPr>
            <p:spPr>
              <a:xfrm>
                <a:off x="6095999" y="11588802"/>
                <a:ext cx="12192000" cy="7694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03A6C3-4173-3931-9399-B99F3AE8F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11588802"/>
                <a:ext cx="12192000" cy="769441"/>
              </a:xfrm>
              <a:prstGeom prst="rect">
                <a:avLst/>
              </a:prstGeom>
              <a:blipFill>
                <a:blip r:embed="rId4"/>
                <a:stretch>
                  <a:fillRect b="-295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506050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diagram&#10;&#10;Description automatically generated">
            <a:extLst>
              <a:ext uri="{FF2B5EF4-FFF2-40B4-BE49-F238E27FC236}">
                <a16:creationId xmlns:a16="http://schemas.microsoft.com/office/drawing/2014/main" id="{4A87D576-CA8F-6009-0F66-8D26B2D581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4924" y="2821501"/>
            <a:ext cx="6457950" cy="623526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820DAD9-CC04-53D1-30A8-64FBB216FEC1}"/>
              </a:ext>
            </a:extLst>
          </p:cNvPr>
          <p:cNvSpPr/>
          <p:nvPr/>
        </p:nvSpPr>
        <p:spPr>
          <a:xfrm>
            <a:off x="3200400" y="6696750"/>
            <a:ext cx="2971800" cy="779701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EC5377-D903-BB95-61A5-F244E90295E4}"/>
              </a:ext>
            </a:extLst>
          </p:cNvPr>
          <p:cNvSpPr/>
          <p:nvPr/>
        </p:nvSpPr>
        <p:spPr>
          <a:xfrm>
            <a:off x="3200400" y="8308995"/>
            <a:ext cx="2971800" cy="779701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 Medium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77BE79-591E-FCF8-807F-695321630D78}"/>
              </a:ext>
            </a:extLst>
          </p:cNvPr>
          <p:cNvSpPr/>
          <p:nvPr/>
        </p:nvSpPr>
        <p:spPr>
          <a:xfrm>
            <a:off x="3200400" y="7502872"/>
            <a:ext cx="2971800" cy="779701"/>
          </a:xfrm>
          <a:prstGeom prst="rect">
            <a:avLst/>
          </a:prstGeom>
          <a:solidFill>
            <a:schemeClr val="accent5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 Medium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10487B-1547-E397-8AD3-BA35E7BF8731}"/>
              </a:ext>
            </a:extLst>
          </p:cNvPr>
          <p:cNvSpPr/>
          <p:nvPr/>
        </p:nvSpPr>
        <p:spPr>
          <a:xfrm>
            <a:off x="3200400" y="9126085"/>
            <a:ext cx="2971800" cy="779701"/>
          </a:xfrm>
          <a:prstGeom prst="rect">
            <a:avLst/>
          </a:prstGeom>
          <a:solidFill>
            <a:schemeClr val="accent5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2CC808-A996-9EE2-AF3B-58FBB846CA35}"/>
              </a:ext>
            </a:extLst>
          </p:cNvPr>
          <p:cNvSpPr/>
          <p:nvPr/>
        </p:nvSpPr>
        <p:spPr>
          <a:xfrm>
            <a:off x="9550560" y="6693211"/>
            <a:ext cx="5359239" cy="779701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 Medium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492D8A-DAE5-76C0-C729-268D90E00662}"/>
              </a:ext>
            </a:extLst>
          </p:cNvPr>
          <p:cNvSpPr/>
          <p:nvPr/>
        </p:nvSpPr>
        <p:spPr>
          <a:xfrm>
            <a:off x="9550560" y="7506011"/>
            <a:ext cx="5359239" cy="779701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A19924-F2DD-08D2-79BA-629EF5CC9805}"/>
              </a:ext>
            </a:extLst>
          </p:cNvPr>
          <p:cNvSpPr/>
          <p:nvPr/>
        </p:nvSpPr>
        <p:spPr>
          <a:xfrm>
            <a:off x="9550560" y="8318811"/>
            <a:ext cx="4775041" cy="779701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9BB349-1629-6ABB-2500-117A2CAD3F4E}"/>
              </a:ext>
            </a:extLst>
          </p:cNvPr>
          <p:cNvSpPr/>
          <p:nvPr/>
        </p:nvSpPr>
        <p:spPr>
          <a:xfrm>
            <a:off x="9575961" y="9131611"/>
            <a:ext cx="4749640" cy="779701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4A02FD-59E4-A333-307E-DB39D8489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 by enumeration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6BBAA-A5D4-6DF6-E800-8B06E972E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 Bayesian network by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77BFC45-7DE8-967A-0EC7-4FB74F5B3412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1509612" cy="858327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 marL="0" indent="0">
                  <a:spcBef>
                    <a:spcPts val="1100"/>
                  </a:spcBef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,¬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 marL="0" indent="0">
                  <a:spcBef>
                    <a:spcPts val="1100"/>
                  </a:spcBef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 marL="0" indent="0">
                  <a:spcBef>
                    <a:spcPts val="1100"/>
                  </a:spcBef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,¬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spcBef>
                    <a:spcPts val="1100"/>
                  </a:spcBef>
                  <a:buNone/>
                </a:pPr>
                <a:endParaRPr lang="en-US" dirty="0"/>
              </a:p>
              <a:p>
                <a:pPr>
                  <a:spcBef>
                    <a:spcPts val="1100"/>
                  </a:spcBef>
                </a:pPr>
                <a:r>
                  <a:rPr lang="en-US" dirty="0">
                    <a:solidFill>
                      <a:srgbClr val="0070C0"/>
                    </a:solidFill>
                  </a:rPr>
                  <a:t>Lots of repeated subexpressions!</a:t>
                </a:r>
              </a:p>
              <a:p>
                <a:pPr marL="0" indent="0">
                  <a:spcBef>
                    <a:spcPts val="1100"/>
                  </a:spcBef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77BFC45-7DE8-967A-0EC7-4FB74F5B34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1509612" cy="8583279"/>
              </a:xfrm>
              <a:blipFill>
                <a:blip r:embed="rId3"/>
                <a:stretch>
                  <a:fillRect l="-12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587251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A02FD-59E4-A333-307E-DB39D8489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 by enumeration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6BBAA-A5D4-6DF6-E800-8B06E972E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Doing Enumeration here??</a:t>
            </a:r>
          </a:p>
        </p:txBody>
      </p:sp>
      <p:pic>
        <p:nvPicPr>
          <p:cNvPr id="7" name="Content Placeholder 6" descr="A diagram of a diagram&#10;&#10;Description automatically generated">
            <a:extLst>
              <a:ext uri="{FF2B5EF4-FFF2-40B4-BE49-F238E27FC236}">
                <a16:creationId xmlns:a16="http://schemas.microsoft.com/office/drawing/2014/main" id="{AAC047D9-19EF-E837-11EE-F4DDEF862E2C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540" y="3260663"/>
            <a:ext cx="16425423" cy="100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55697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B936D-F574-D836-7368-E97F5D812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 by variable elimination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28FA6-0AFF-91B4-9B6B-08AC648E2B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Basic ideas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62A5B1C-A585-2F14-7FA3-967AB28D9F8E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89653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Consider: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𝑢𝑤𝑦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𝑢𝑤𝑧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𝑢𝑥𝑦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𝑢𝑥𝑧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𝑣𝑤𝑦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𝑣𝑤𝑧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𝑣𝑥𝑦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𝑣𝑥𝑧</m:t>
                    </m:r>
                  </m:oMath>
                </a14:m>
                <a:endParaRPr lang="en-US" b="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en-US" dirty="0"/>
                  <a:t>16 multiplies, 7 adds</a:t>
                </a:r>
              </a:p>
              <a:p>
                <a:r>
                  <a:rPr lang="en-US" dirty="0"/>
                  <a:t>Rewrite as: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en-US" dirty="0"/>
                  <a:t>2 multiplies, 3 adds</a:t>
                </a:r>
              </a:p>
              <a:p>
                <a:r>
                  <a:rPr lang="en-US" dirty="0"/>
                  <a:t>Move summations inwards as far as possible: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/>
                  <a:t> 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nary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Do the calculations backward (sum over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first, then sum over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62A5B1C-A585-2F14-7FA3-967AB28D9F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896537"/>
              </a:xfrm>
              <a:blipFill>
                <a:blip r:embed="rId2"/>
                <a:stretch>
                  <a:fillRect l="-1329" t="-1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686958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B936D-F574-D836-7368-E97F5D812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 by variable elimination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28FA6-0AFF-91B4-9B6B-08AC648E2B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factor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62A5B1C-A585-2F14-7FA3-967AB28D9F8E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89653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When we write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en-US" dirty="0"/>
                  <a:t>It is a </a:t>
                </a:r>
                <a:r>
                  <a:rPr lang="en-US" dirty="0">
                    <a:solidFill>
                      <a:srgbClr val="0070C0"/>
                    </a:solidFill>
                  </a:rPr>
                  <a:t>“factor”,</a:t>
                </a:r>
                <a:r>
                  <a:rPr lang="en-US" dirty="0"/>
                  <a:t> a multidimensional array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en-US" dirty="0"/>
                  <a:t>Its values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en-US" dirty="0"/>
                  <a:t>Any assigned x or y is a dimension missing (selected) from the array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en-US" dirty="0"/>
                  <a:t>Sometimes we’ll write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– just another name for the same table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62A5B1C-A585-2F14-7FA3-967AB28D9F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896537"/>
              </a:xfrm>
              <a:blipFill>
                <a:blip r:embed="rId2"/>
                <a:stretch>
                  <a:fillRect l="-1329" t="-1026" r="-4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647822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diagram&#10;&#10;Description automatically generated">
            <a:extLst>
              <a:ext uri="{FF2B5EF4-FFF2-40B4-BE49-F238E27FC236}">
                <a16:creationId xmlns:a16="http://schemas.microsoft.com/office/drawing/2014/main" id="{4A87D576-CA8F-6009-0F66-8D26B2D581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1924" y="4434671"/>
            <a:ext cx="6457950" cy="62352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4A02FD-59E4-A333-307E-DB39D8489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 by variable elimination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6BBAA-A5D4-6DF6-E800-8B06E972E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 Bayesian network by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77BFC45-7DE8-967A-0EC7-4FB74F5B3412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1509612" cy="858327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/>
                  <a:t>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nary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e>
                    </m:nary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spcBef>
                    <a:spcPts val="1100"/>
                  </a:spcBef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77BFC45-7DE8-967A-0EC7-4FB74F5B34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1509612" cy="8583279"/>
              </a:xfrm>
              <a:blipFill>
                <a:blip r:embed="rId3"/>
                <a:stretch>
                  <a:fillRect l="-649" t="-128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5426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0194-7D84-DC8B-8D7C-BA10CCFF9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 by enumeration vs variable elimination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5597C-5472-2D8A-E4B2-D722638AC2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Basic difference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9B605EA-CB47-C477-DD27-7154289039A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9768876" cy="8583279"/>
          </a:xfrm>
        </p:spPr>
        <p:txBody>
          <a:bodyPr/>
          <a:lstStyle/>
          <a:p>
            <a:r>
              <a:rPr lang="en-US" dirty="0"/>
              <a:t>Inference by enumeration is slow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Join the whole joint distribution before sum out the hidden variables (marginalizing)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91841B7-DD93-4DBE-4A82-93BF1CE89611}"/>
              </a:ext>
            </a:extLst>
          </p:cNvPr>
          <p:cNvSpPr txBox="1">
            <a:spLocks/>
          </p:cNvSpPr>
          <p:nvPr/>
        </p:nvSpPr>
        <p:spPr>
          <a:xfrm>
            <a:off x="12246989" y="3260663"/>
            <a:ext cx="9768876" cy="8583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742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365760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endParaRPr lang="en-ID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B77751F-4502-F5BA-CEE1-7B1D54BEDE3C}"/>
              </a:ext>
            </a:extLst>
          </p:cNvPr>
          <p:cNvSpPr txBox="1">
            <a:spLocks/>
          </p:cNvSpPr>
          <p:nvPr/>
        </p:nvSpPr>
        <p:spPr>
          <a:xfrm>
            <a:off x="12246989" y="3260663"/>
            <a:ext cx="9768876" cy="8583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742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365760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ID" dirty="0"/>
              <a:t>Inference by variable elimination can fasten up by interleave joining and marginalizing!</a:t>
            </a:r>
          </a:p>
        </p:txBody>
      </p:sp>
      <p:pic>
        <p:nvPicPr>
          <p:cNvPr id="9" name="Picture 8" descr="A cartoon of a purple object&#10;&#10;Description automatically generated">
            <a:extLst>
              <a:ext uri="{FF2B5EF4-FFF2-40B4-BE49-F238E27FC236}">
                <a16:creationId xmlns:a16="http://schemas.microsoft.com/office/drawing/2014/main" id="{16C3492A-358E-D40F-4E57-F8F2AD39A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0526" y="6502400"/>
            <a:ext cx="9036465" cy="6528737"/>
          </a:xfrm>
          <a:prstGeom prst="rect">
            <a:avLst/>
          </a:prstGeom>
        </p:spPr>
      </p:pic>
      <p:pic>
        <p:nvPicPr>
          <p:cNvPr id="11" name="Picture 10" descr="A drawing of a mechanism&#10;&#10;Description automatically generated with medium confidence">
            <a:extLst>
              <a:ext uri="{FF2B5EF4-FFF2-40B4-BE49-F238E27FC236}">
                <a16:creationId xmlns:a16="http://schemas.microsoft.com/office/drawing/2014/main" id="{1098C6C2-1309-9F38-DAA6-387DD49BDB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7010" y="6680200"/>
            <a:ext cx="10734079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66553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0194-7D84-DC8B-8D7C-BA10CCFF9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 by enumeration vs variable elimination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5597C-5472-2D8A-E4B2-D722638AC2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Example: Traffic domain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49B605EA-CB47-C477-DD27-7154289039A3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9" y="3260663"/>
                <a:ext cx="19852676" cy="858327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Variables</a:t>
                </a:r>
              </a:p>
              <a:p>
                <a:pPr lvl="1"/>
                <a:r>
                  <a:rPr lang="en-US" dirty="0"/>
                  <a:t>R: Raining</a:t>
                </a:r>
              </a:p>
              <a:p>
                <a:pPr lvl="1"/>
                <a:r>
                  <a:rPr lang="en-US" dirty="0"/>
                  <a:t>T: Traffic</a:t>
                </a:r>
              </a:p>
              <a:p>
                <a:pPr lvl="1"/>
                <a:r>
                  <a:rPr lang="en-US" dirty="0"/>
                  <a:t>L: Late for class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?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49B605EA-CB47-C477-DD27-7154289039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9" y="3260663"/>
                <a:ext cx="19852676" cy="8583279"/>
              </a:xfrm>
              <a:blipFill>
                <a:blip r:embed="rId2"/>
                <a:stretch>
                  <a:fillRect l="-1343" t="-1329" b="-6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diagram of a diagram&#10;&#10;Description automatically generated">
            <a:extLst>
              <a:ext uri="{FF2B5EF4-FFF2-40B4-BE49-F238E27FC236}">
                <a16:creationId xmlns:a16="http://schemas.microsoft.com/office/drawing/2014/main" id="{4C927AAA-EA3F-4B3F-2487-51C3C1066A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7750" y="2821501"/>
            <a:ext cx="6574411" cy="950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912689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0194-7D84-DC8B-8D7C-BA10CCFF9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 by enumeration vs variable elimination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5597C-5472-2D8A-E4B2-D722638AC2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Traffic domain: Enumeration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9B605EA-CB47-C477-DD27-7154289039A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19852676" cy="8583279"/>
          </a:xfrm>
        </p:spPr>
        <p:txBody>
          <a:bodyPr>
            <a:normAutofit/>
          </a:bodyPr>
          <a:lstStyle/>
          <a:p>
            <a:r>
              <a:rPr lang="en-US" dirty="0"/>
              <a:t>Procedure: Join all factors, eliminate all hidden variables, normalize </a:t>
            </a:r>
          </a:p>
          <a:p>
            <a:r>
              <a:rPr lang="en-US" dirty="0"/>
              <a:t>First basic operation: </a:t>
            </a:r>
            <a:r>
              <a:rPr lang="en-US" dirty="0">
                <a:solidFill>
                  <a:srgbClr val="0070C0"/>
                </a:solidFill>
              </a:rPr>
              <a:t>joining factors</a:t>
            </a:r>
          </a:p>
          <a:p>
            <a:pPr lvl="1">
              <a:spcBef>
                <a:spcPts val="1700"/>
              </a:spcBef>
              <a:buFont typeface="Wingdings" pitchFamily="2" charset="2"/>
              <a:buChar char="Ø"/>
            </a:pPr>
            <a:r>
              <a:rPr lang="en-US" sz="3600" dirty="0"/>
              <a:t>Just like a database join</a:t>
            </a:r>
          </a:p>
          <a:p>
            <a:pPr lvl="1">
              <a:spcBef>
                <a:spcPts val="1700"/>
              </a:spcBef>
              <a:buFont typeface="Wingdings" pitchFamily="2" charset="2"/>
              <a:buChar char="Ø"/>
            </a:pPr>
            <a:r>
              <a:rPr lang="en-US" sz="3600" dirty="0"/>
              <a:t>Get all factors. Over the joining variable</a:t>
            </a:r>
          </a:p>
          <a:p>
            <a:pPr lvl="1">
              <a:spcBef>
                <a:spcPts val="1700"/>
              </a:spcBef>
              <a:buFont typeface="Wingdings" pitchFamily="2" charset="2"/>
              <a:buChar char="Ø"/>
            </a:pPr>
            <a:r>
              <a:rPr lang="en-US" sz="3600" dirty="0"/>
              <a:t>Build a new factor over the union of the variable involved</a:t>
            </a:r>
          </a:p>
          <a:p>
            <a:r>
              <a:rPr lang="en-US" dirty="0"/>
              <a:t>Example: Join on R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77019D2F-5D4B-0EF0-B0B7-C663B9933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3861" y="8673077"/>
            <a:ext cx="20130495" cy="4525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709327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0194-7D84-DC8B-8D7C-BA10CCFF9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 by enumeration vs variable elimination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5597C-5472-2D8A-E4B2-D722638AC2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Traffic domain: Enumeration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9B605EA-CB47-C477-DD27-7154289039A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19852676" cy="8583279"/>
          </a:xfrm>
        </p:spPr>
        <p:txBody>
          <a:bodyPr>
            <a:normAutofit/>
          </a:bodyPr>
          <a:lstStyle/>
          <a:p>
            <a:r>
              <a:rPr lang="en-US" dirty="0"/>
              <a:t>Multiple Joins: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F0EDDAB-84DE-2F64-54C0-8A106020100C}"/>
              </a:ext>
            </a:extLst>
          </p:cNvPr>
          <p:cNvGrpSpPr/>
          <p:nvPr/>
        </p:nvGrpSpPr>
        <p:grpSpPr>
          <a:xfrm>
            <a:off x="2879124" y="4016743"/>
            <a:ext cx="19341687" cy="8707053"/>
            <a:chOff x="2879124" y="4016743"/>
            <a:chExt cx="19341687" cy="8707053"/>
          </a:xfrm>
        </p:grpSpPr>
        <p:pic>
          <p:nvPicPr>
            <p:cNvPr id="7" name="Picture 6" descr="A diagram of a graph&#10;&#10;Description automatically generated">
              <a:extLst>
                <a:ext uri="{FF2B5EF4-FFF2-40B4-BE49-F238E27FC236}">
                  <a16:creationId xmlns:a16="http://schemas.microsoft.com/office/drawing/2014/main" id="{61CEC7E3-8633-8E70-D847-25491290E0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79124" y="4101598"/>
              <a:ext cx="19341687" cy="8622198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C79BDBA-115F-FB4B-116C-488FF47B0F4E}"/>
                </a:ext>
              </a:extLst>
            </p:cNvPr>
            <p:cNvSpPr/>
            <p:nvPr/>
          </p:nvSpPr>
          <p:spPr>
            <a:xfrm>
              <a:off x="16510000" y="4016743"/>
              <a:ext cx="5710811" cy="1579920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9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5642348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0194-7D84-DC8B-8D7C-BA10CCFF9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 by enumeration vs variable elimination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5597C-5472-2D8A-E4B2-D722638AC2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Traffic domain: Enumeration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9B605EA-CB47-C477-DD27-7154289039A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19852676" cy="8583279"/>
          </a:xfrm>
        </p:spPr>
        <p:txBody>
          <a:bodyPr>
            <a:normAutofit/>
          </a:bodyPr>
          <a:lstStyle/>
          <a:p>
            <a:r>
              <a:rPr lang="en-US" dirty="0"/>
              <a:t>Procedure: Join all factors, eliminate all hidden variables, normalize </a:t>
            </a:r>
          </a:p>
          <a:p>
            <a:r>
              <a:rPr lang="en-US" dirty="0"/>
              <a:t>Second basic operation: </a:t>
            </a:r>
            <a:r>
              <a:rPr lang="en-US" dirty="0">
                <a:solidFill>
                  <a:srgbClr val="0070C0"/>
                </a:solidFill>
              </a:rPr>
              <a:t>marginalization (eliminate)</a:t>
            </a:r>
          </a:p>
          <a:p>
            <a:pPr lvl="1">
              <a:spcBef>
                <a:spcPts val="1700"/>
              </a:spcBef>
              <a:buFont typeface="Wingdings" pitchFamily="2" charset="2"/>
              <a:buChar char="Ø"/>
            </a:pPr>
            <a:r>
              <a:rPr lang="en-US" sz="3600" dirty="0">
                <a:solidFill>
                  <a:srgbClr val="000000"/>
                </a:solidFill>
              </a:rPr>
              <a:t>Take a factor and sum out a variable</a:t>
            </a:r>
          </a:p>
          <a:p>
            <a:pPr lvl="1">
              <a:spcBef>
                <a:spcPts val="1700"/>
              </a:spcBef>
              <a:buFont typeface="Wingdings" pitchFamily="2" charset="2"/>
              <a:buChar char="Ø"/>
            </a:pPr>
            <a:r>
              <a:rPr lang="en-US" sz="3600" dirty="0">
                <a:solidFill>
                  <a:srgbClr val="000000"/>
                </a:solidFill>
              </a:rPr>
              <a:t>Shrinks a factor to a smaller one</a:t>
            </a:r>
          </a:p>
          <a:p>
            <a:pPr lvl="1">
              <a:spcBef>
                <a:spcPts val="1700"/>
              </a:spcBef>
              <a:buFont typeface="Wingdings" pitchFamily="2" charset="2"/>
              <a:buChar char="Ø"/>
            </a:pPr>
            <a:r>
              <a:rPr lang="en-US" sz="3600" dirty="0">
                <a:solidFill>
                  <a:srgbClr val="000000"/>
                </a:solidFill>
              </a:rPr>
              <a:t>A projection operation</a:t>
            </a:r>
          </a:p>
          <a:p>
            <a:r>
              <a:rPr lang="en-US" dirty="0"/>
              <a:t>Example: Eliminate R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 descr="A blue arrow pointing to a black arrow&#10;&#10;Description automatically generated">
            <a:extLst>
              <a:ext uri="{FF2B5EF4-FFF2-40B4-BE49-F238E27FC236}">
                <a16:creationId xmlns:a16="http://schemas.microsoft.com/office/drawing/2014/main" id="{2510AF64-452A-14D2-4406-8D6BCB1AC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039" y="8934449"/>
            <a:ext cx="11725922" cy="411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471556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0194-7D84-DC8B-8D7C-BA10CCFF9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 by enumeration vs variable elimination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5597C-5472-2D8A-E4B2-D722638AC2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Traffic domain: Enumeration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9B605EA-CB47-C477-DD27-7154289039A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19852676" cy="8583279"/>
          </a:xfrm>
        </p:spPr>
        <p:txBody>
          <a:bodyPr>
            <a:normAutofit/>
          </a:bodyPr>
          <a:lstStyle/>
          <a:p>
            <a:r>
              <a:rPr lang="en-US" dirty="0"/>
              <a:t>Multiple elimination: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 descr="A table with numbers and circles&#10;&#10;Description automatically generated">
            <a:extLst>
              <a:ext uri="{FF2B5EF4-FFF2-40B4-BE49-F238E27FC236}">
                <a16:creationId xmlns:a16="http://schemas.microsoft.com/office/drawing/2014/main" id="{53AEE983-43B2-CC92-3112-2AA276047E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325" y="4866124"/>
            <a:ext cx="22307349" cy="701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129383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0194-7D84-DC8B-8D7C-BA10CCFF9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 by enumeration vs variable elimination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5597C-5472-2D8A-E4B2-D722638AC2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5206223" cy="803546"/>
          </a:xfrm>
        </p:spPr>
        <p:txBody>
          <a:bodyPr/>
          <a:lstStyle/>
          <a:p>
            <a:r>
              <a:rPr lang="en-US" dirty="0"/>
              <a:t>Inference by Enumeration: Multiple join, multiple eliminate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9B605EA-CB47-C477-DD27-7154289039A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19852676" cy="8583279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 descr="A cartoon of a box&#10;&#10;Description automatically generated with medium confidence">
            <a:extLst>
              <a:ext uri="{FF2B5EF4-FFF2-40B4-BE49-F238E27FC236}">
                <a16:creationId xmlns:a16="http://schemas.microsoft.com/office/drawing/2014/main" id="{FF3831FF-36B3-C036-5F60-CB665B152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3205190"/>
            <a:ext cx="15392400" cy="1051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10770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0194-7D84-DC8B-8D7C-BA10CCFF9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 by enumeration vs variable elimination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5597C-5472-2D8A-E4B2-D722638AC2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5206223" cy="803546"/>
          </a:xfrm>
        </p:spPr>
        <p:txBody>
          <a:bodyPr>
            <a:normAutofit/>
          </a:bodyPr>
          <a:lstStyle/>
          <a:p>
            <a:r>
              <a:rPr lang="en-US" dirty="0"/>
              <a:t>Inference by variable elimination: Marginalizing early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9B605EA-CB47-C477-DD27-7154289039A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19852676" cy="8583279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 descr="A cartoon of different types of pillows&#10;&#10;Description automatically generated">
            <a:extLst>
              <a:ext uri="{FF2B5EF4-FFF2-40B4-BE49-F238E27FC236}">
                <a16:creationId xmlns:a16="http://schemas.microsoft.com/office/drawing/2014/main" id="{0B9AD28D-2F88-96BC-C7EE-7F7BED2E2D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904" y="3260663"/>
            <a:ext cx="18442191" cy="930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453677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0194-7D84-DC8B-8D7C-BA10CCFF9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 by enumeration vs variable elimination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5597C-5472-2D8A-E4B2-D722638AC2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Traffic domain: variable elimination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9B605EA-CB47-C477-DD27-7154289039A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19852676" cy="8583279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 descr="A diagram of a mathematical equation&#10;&#10;Description automatically generated">
            <a:extLst>
              <a:ext uri="{FF2B5EF4-FFF2-40B4-BE49-F238E27FC236}">
                <a16:creationId xmlns:a16="http://schemas.microsoft.com/office/drawing/2014/main" id="{1420CB32-17BA-8848-0DA3-84E6C3840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094" y="3260663"/>
            <a:ext cx="21077811" cy="980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074891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0194-7D84-DC8B-8D7C-BA10CCFF9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 by enumeration vs variable elimination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5597C-5472-2D8A-E4B2-D722638AC2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Another Example: alarm network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E555B27-94B1-9A63-7BFE-71A70F18FDB3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5414388" y="3260663"/>
            <a:ext cx="13555223" cy="9584115"/>
          </a:xfrm>
          <a:prstGeom prst="rect">
            <a:avLst/>
          </a:prstGeom>
          <a:ln w="28575">
            <a:noFill/>
          </a:ln>
        </p:spPr>
      </p:pic>
    </p:spTree>
    <p:extLst>
      <p:ext uri="{BB962C8B-B14F-4D97-AF65-F5344CB8AC3E}">
        <p14:creationId xmlns:p14="http://schemas.microsoft.com/office/powerpoint/2010/main" val="2285541282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0194-7D84-DC8B-8D7C-BA10CCFF9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 by enumeration vs variable elimination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5597C-5472-2D8A-E4B2-D722638AC2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alarm network: variable elimination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BBCC0E4-4CAA-7179-C176-9319FAB1E656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r>
                  <a:rPr lang="en-US" dirty="0"/>
                  <a:t>We want to 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i="1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=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𝛼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𝑃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(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𝐸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,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𝑚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)</m:t>
                    </m:r>
                  </m:oMath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i="1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=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𝛼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𝑏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𝑎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𝑗</m:t>
                                </m:r>
                              </m:sub>
                              <m:sup/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𝐸</m:t>
                                </m:r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𝑏</m:t>
                                </m:r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𝑚</m:t>
                                </m:r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)</m:t>
                                </m:r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i="1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=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𝛼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𝑏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𝑎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𝑗</m:t>
                                </m:r>
                              </m:sub>
                              <m:sup/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𝐸</m:t>
                                    </m:r>
                                  </m:e>
                                </m:d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 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 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charset="0"/>
                                        <a:sym typeface="Symbol"/>
                                      </a:rPr>
                                      <m:t>𝑎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𝑏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charset="0"/>
                                        <a:sym typeface="Symbol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𝐸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 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charset="0"/>
                                        <a:sym typeface="Symbol"/>
                                      </a:rPr>
                                      <m:t>𝑗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charset="0"/>
                                        <a:sym typeface="Symbol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 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charset="0"/>
                                        <a:sym typeface="Symbol"/>
                                      </a:rPr>
                                      <m:t>𝑚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charset="0"/>
                                        <a:sym typeface="Symbol"/>
                                      </a:rPr>
                                      <m:t>𝑎</m:t>
                                    </m:r>
                                  </m:e>
                                </m:d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𝐸</m:t>
                        </m:r>
                      </m:e>
                      <m:e>
                        <m: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𝑚</m:t>
                        </m:r>
                      </m:e>
                    </m:d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=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𝛼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r>
                      <a:rPr lang="en-US" sz="4400" i="1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𝐸</m:t>
                        </m:r>
                      </m:e>
                    </m:d>
                    <m:nary>
                      <m:naryPr>
                        <m:chr m:val="∑"/>
                        <m:supHide m:val="on"/>
                        <m:ctrlPr>
                          <a:rPr lang="en-US" sz="4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naryPr>
                      <m:sub>
                        <m: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𝑏</m:t>
                        </m:r>
                      </m:sub>
                      <m:sup/>
                      <m:e>
                        <m:r>
                          <a:rPr lang="en-US" sz="4400" i="1">
                            <a:solidFill>
                              <a:srgbClr val="000000"/>
                            </a:solidFill>
                            <a:latin typeface="Cambria Math" charset="0"/>
                            <a:sym typeface="Symbol"/>
                          </a:rPr>
                          <m:t>𝑃</m:t>
                        </m:r>
                        <m:r>
                          <a:rPr lang="en-US" sz="4400" i="1">
                            <a:solidFill>
                              <a:srgbClr val="000000"/>
                            </a:solidFill>
                            <a:latin typeface="Cambria Math" charset="0"/>
                            <a:sym typeface="Symbol"/>
                          </a:rPr>
                          <m:t>(</m:t>
                        </m:r>
                        <m:r>
                          <a:rPr lang="en-US" sz="4400" i="1">
                            <a:solidFill>
                              <a:srgbClr val="000000"/>
                            </a:solidFill>
                            <a:latin typeface="Cambria Math" charset="0"/>
                            <a:sym typeface="Symbol"/>
                          </a:rPr>
                          <m:t>𝐵</m:t>
                        </m:r>
                        <m:r>
                          <a:rPr lang="en-US" sz="4400" i="1">
                            <a:solidFill>
                              <a:srgbClr val="000000"/>
                            </a:solidFill>
                            <a:latin typeface="Cambria Math" charset="0"/>
                            <a:sym typeface="Symbol"/>
                          </a:rPr>
                          <m:t>)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naryPr>
                          <m:sub>
                            <m:r>
                              <a:rPr lang="en-US" sz="4400" i="1" smtClean="0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𝑎</m:t>
                            </m:r>
                          </m:sub>
                          <m:sup/>
                          <m:e>
                            <m:r>
                              <a:rPr lang="en-US" sz="4400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 </m:t>
                            </m:r>
                            <m:r>
                              <a:rPr lang="en-US" sz="4400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sz="4400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𝑚</m:t>
                                </m:r>
                              </m:e>
                              <m:e>
                                <m:r>
                                  <a:rPr lang="en-US" sz="4400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sz="4400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 </m:t>
                            </m:r>
                            <m:r>
                              <a:rPr lang="en-US" sz="4400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sz="4400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sz="4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𝑏</m:t>
                                </m:r>
                                <m:r>
                                  <a:rPr lang="en-US" sz="4400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,</m:t>
                                </m:r>
                                <m:r>
                                  <a:rPr lang="en-US" sz="4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𝐸</m:t>
                                </m:r>
                              </m:e>
                            </m:d>
                            <m:r>
                              <a:rPr lang="en-US" sz="4400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 </m:t>
                            </m:r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sz="4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naryPr>
                              <m:sub>
                                <m:r>
                                  <a:rPr lang="en-US" sz="4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𝑗</m:t>
                                </m:r>
                              </m:sub>
                              <m:sup/>
                              <m:e>
                                <m:r>
                                  <a:rPr lang="en-US" sz="4400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4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4400" i="1">
                                        <a:solidFill>
                                          <a:srgbClr val="000000"/>
                                        </a:solidFill>
                                        <a:latin typeface="Cambria Math" charset="0"/>
                                        <a:sym typeface="Symbol"/>
                                      </a:rPr>
                                      <m:t>𝑗</m:t>
                                    </m:r>
                                  </m:e>
                                  <m:e>
                                    <m:r>
                                      <a:rPr lang="en-US" sz="4400" i="1">
                                        <a:solidFill>
                                          <a:srgbClr val="000000"/>
                                        </a:solidFill>
                                        <a:latin typeface="Cambria Math" charset="0"/>
                                        <a:sym typeface="Symbol"/>
                                      </a:rPr>
                                      <m:t>𝑎</m:t>
                                    </m:r>
                                  </m:e>
                                </m:d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en-US" sz="4400" dirty="0">
                  <a:solidFill>
                    <a:srgbClr val="000000"/>
                  </a:solidFill>
                </a:endParaRPr>
              </a:p>
              <a:p>
                <a:endParaRPr lang="en-US" dirty="0">
                  <a:solidFill>
                    <a:srgbClr val="00000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BBCC0E4-4CAA-7179-C176-9319FAB1E6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1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8868383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0194-7D84-DC8B-8D7C-BA10CCFF9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 by enumeration vs variable elimination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5597C-5472-2D8A-E4B2-D722638AC2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alarm network: variable elimination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BBCC0E4-4CAA-7179-C176-9319FAB1E656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1548150" cy="9871137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𝐸</m:t>
                        </m:r>
                      </m:e>
                      <m:e>
                        <m: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𝑚</m:t>
                        </m:r>
                      </m:e>
                    </m:d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=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𝛼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r>
                      <a:rPr lang="en-US" sz="4400" i="1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𝐸</m:t>
                        </m:r>
                      </m:e>
                    </m:d>
                    <m:nary>
                      <m:naryPr>
                        <m:chr m:val="∑"/>
                        <m:supHide m:val="on"/>
                        <m:ctrlPr>
                          <a:rPr lang="en-US" sz="4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naryPr>
                      <m:sub>
                        <m: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𝑏</m:t>
                        </m:r>
                      </m:sub>
                      <m:sup/>
                      <m:e>
                        <m:r>
                          <a:rPr lang="en-US" sz="4400" i="1">
                            <a:solidFill>
                              <a:srgbClr val="000000"/>
                            </a:solidFill>
                            <a:latin typeface="Cambria Math" charset="0"/>
                            <a:sym typeface="Symbol"/>
                          </a:rPr>
                          <m:t>𝑃</m:t>
                        </m:r>
                        <m:r>
                          <a:rPr lang="en-US" sz="4400" i="1">
                            <a:solidFill>
                              <a:srgbClr val="000000"/>
                            </a:solidFill>
                            <a:latin typeface="Cambria Math" charset="0"/>
                            <a:sym typeface="Symbol"/>
                          </a:rPr>
                          <m:t>(</m:t>
                        </m:r>
                        <m:r>
                          <a:rPr lang="en-US" sz="4400" i="1">
                            <a:solidFill>
                              <a:srgbClr val="000000"/>
                            </a:solidFill>
                            <a:latin typeface="Cambria Math" charset="0"/>
                            <a:sym typeface="Symbol"/>
                          </a:rPr>
                          <m:t>𝐵</m:t>
                        </m:r>
                        <m:r>
                          <a:rPr lang="en-US" sz="4400" i="1">
                            <a:solidFill>
                              <a:srgbClr val="000000"/>
                            </a:solidFill>
                            <a:latin typeface="Cambria Math" charset="0"/>
                            <a:sym typeface="Symbol"/>
                          </a:rPr>
                          <m:t>)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naryPr>
                          <m:sub>
                            <m:r>
                              <a:rPr lang="en-US" sz="4400" i="1" smtClean="0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𝑎</m:t>
                            </m:r>
                          </m:sub>
                          <m:sup/>
                          <m:e>
                            <m:r>
                              <a:rPr lang="en-US" sz="4400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 </m:t>
                            </m:r>
                            <m:r>
                              <a:rPr lang="en-US" sz="4400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sz="4400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𝑚</m:t>
                                </m:r>
                              </m:e>
                              <m:e>
                                <m:r>
                                  <a:rPr lang="en-US" sz="4400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sz="4400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 </m:t>
                            </m:r>
                            <m:r>
                              <a:rPr lang="en-US" sz="4400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sz="4400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sz="4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𝑏</m:t>
                                </m:r>
                                <m:r>
                                  <a:rPr lang="en-US" sz="4400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,</m:t>
                                </m:r>
                                <m:r>
                                  <a:rPr lang="en-US" sz="4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𝐸</m:t>
                                </m:r>
                              </m:e>
                            </m:d>
                            <m:r>
                              <a:rPr lang="en-US" sz="4400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 </m:t>
                            </m:r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sz="4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naryPr>
                              <m:sub>
                                <m:r>
                                  <a:rPr lang="en-US" sz="4400" b="0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𝑗</m:t>
                                </m:r>
                              </m:sub>
                              <m:sup/>
                              <m:e>
                                <m:r>
                                  <a:rPr lang="en-US" sz="4400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4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4400" i="1">
                                        <a:solidFill>
                                          <a:srgbClr val="000000"/>
                                        </a:solidFill>
                                        <a:latin typeface="Cambria Math" charset="0"/>
                                        <a:sym typeface="Symbol"/>
                                      </a:rPr>
                                      <m:t>𝑗</m:t>
                                    </m:r>
                                  </m:e>
                                  <m:e>
                                    <m:r>
                                      <a:rPr lang="en-US" sz="4400" i="1">
                                        <a:solidFill>
                                          <a:srgbClr val="000000"/>
                                        </a:solidFill>
                                        <a:latin typeface="Cambria Math" charset="0"/>
                                        <a:sym typeface="Symbol"/>
                                      </a:rPr>
                                      <m:t>𝑎</m:t>
                                    </m:r>
                                  </m:e>
                                </m:d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en-US" sz="4400" dirty="0">
                  <a:solidFill>
                    <a:schemeClr val="bg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𝐸</m:t>
                        </m:r>
                      </m:e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𝑚</m:t>
                        </m:r>
                      </m:e>
                    </m:d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=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𝛼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r>
                      <a:rPr lang="en-US" sz="4400" i="1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𝐸</m:t>
                        </m:r>
                      </m:e>
                    </m:d>
                    <m:nary>
                      <m:naryPr>
                        <m:chr m:val="∑"/>
                        <m:supHide m:val="on"/>
                        <m:ctrlPr>
                          <a:rPr lang="en-US" sz="4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naryPr>
                      <m:sub>
                        <m:r>
                          <a:rPr lang="en-US" sz="4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𝑏</m:t>
                        </m:r>
                      </m:sub>
                      <m:sup/>
                      <m:e>
                        <m:r>
                          <a:rPr lang="en-US" sz="4400" i="1">
                            <a:solidFill>
                              <a:srgbClr val="000000"/>
                            </a:solidFill>
                            <a:latin typeface="Cambria Math" charset="0"/>
                            <a:sym typeface="Symbol"/>
                          </a:rPr>
                          <m:t>𝑃</m:t>
                        </m:r>
                        <m:r>
                          <a:rPr lang="en-US" sz="4400" i="1">
                            <a:solidFill>
                              <a:srgbClr val="000000"/>
                            </a:solidFill>
                            <a:latin typeface="Cambria Math" charset="0"/>
                            <a:sym typeface="Symbol"/>
                          </a:rPr>
                          <m:t>(</m:t>
                        </m:r>
                        <m:r>
                          <a:rPr lang="en-US" sz="4400" i="1">
                            <a:solidFill>
                              <a:srgbClr val="000000"/>
                            </a:solidFill>
                            <a:latin typeface="Cambria Math" charset="0"/>
                            <a:sym typeface="Symbol"/>
                          </a:rPr>
                          <m:t>𝐵</m:t>
                        </m:r>
                        <m:r>
                          <a:rPr lang="en-US" sz="4400" i="1">
                            <a:solidFill>
                              <a:srgbClr val="000000"/>
                            </a:solidFill>
                            <a:latin typeface="Cambria Math" charset="0"/>
                            <a:sym typeface="Symbol"/>
                          </a:rPr>
                          <m:t>)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naryPr>
                          <m:sub>
                            <m:r>
                              <a:rPr lang="en-US" sz="4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charset="0"/>
                                <a:sym typeface="Symbol"/>
                              </a:rPr>
                              <m:t>𝑎</m:t>
                            </m:r>
                          </m:sub>
                          <m:sup/>
                          <m:e>
                            <m:r>
                              <a:rPr lang="en-US" sz="4400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 </m:t>
                            </m:r>
                            <m:r>
                              <a:rPr lang="en-US" sz="4400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sz="4400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𝑚</m:t>
                                </m:r>
                              </m:e>
                              <m:e>
                                <m:r>
                                  <a:rPr lang="en-US" sz="4400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sz="4400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 </m:t>
                            </m:r>
                            <m:r>
                              <a:rPr lang="en-US" sz="4400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sz="4400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sz="4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𝑏</m:t>
                                </m:r>
                                <m:r>
                                  <a:rPr lang="en-US" sz="4400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,</m:t>
                                </m:r>
                                <m:r>
                                  <a:rPr lang="en-US" sz="4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𝐸</m:t>
                                </m:r>
                              </m:e>
                            </m:d>
                            <m:r>
                              <a:rPr lang="en-US" sz="4400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 </m:t>
                            </m:r>
                            <m:r>
                              <a:rPr lang="en-US" sz="4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/>
                              </a:rPr>
                              <m:t>∗</m:t>
                            </m:r>
                            <m:r>
                              <a:rPr lang="en-US" sz="4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/>
                              </a:rPr>
                              <m:t>(</m:t>
                            </m:r>
                            <m:r>
                              <a:rPr lang="en-US" sz="4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4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sz="4400" b="0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/>
                                  </a:rPr>
                                  <m:t>+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/>
                                  </a:rPr>
                                  <m:t>𝑗</m:t>
                                </m:r>
                              </m:e>
                              <m:e>
                                <m:r>
                                  <a:rPr lang="en-US" sz="4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sz="4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/>
                              </a:rPr>
                              <m:t>+</m:t>
                            </m:r>
                            <m:r>
                              <a:rPr lang="en-US" sz="4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/>
                              </a:rPr>
                              <m:t>𝑃</m:t>
                            </m:r>
                            <m:r>
                              <a:rPr lang="en-US" sz="4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/>
                              </a:rPr>
                              <m:t>(</m:t>
                            </m:r>
                            <m:r>
                              <a:rPr lang="en-US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/>
                              </a:rPr>
                              <m:t>¬</m:t>
                            </m:r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/>
                              </a:rPr>
                              <m:t>𝑗</m:t>
                            </m:r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/>
                              </a:rPr>
                              <m:t>|</m:t>
                            </m:r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/>
                              </a:rPr>
                              <m:t>𝑎</m:t>
                            </m:r>
                            <m:r>
                              <a:rPr lang="en-US" sz="4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/>
                              </a:rPr>
                              <m:t>)</m:t>
                            </m:r>
                          </m:e>
                        </m:nary>
                      </m:e>
                    </m:nary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)</m:t>
                    </m:r>
                  </m:oMath>
                </a14:m>
                <a:endParaRPr lang="en-US" sz="440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r>
                  <a:rPr lang="en-US" sz="4400" b="0" dirty="0">
                    <a:solidFill>
                      <a:srgbClr val="000000"/>
                    </a:solidFill>
                    <a:sym typeface="Symbol"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=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𝛼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r>
                      <a:rPr lang="en-US" sz="4400" i="1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𝐸</m:t>
                        </m:r>
                      </m:e>
                    </m:d>
                    <m:nary>
                      <m:naryPr>
                        <m:chr m:val="∑"/>
                        <m:supHide m:val="on"/>
                        <m:ctrlPr>
                          <a:rPr lang="en-US" sz="4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naryPr>
                      <m:sub>
                        <m:r>
                          <a:rPr lang="en-US" sz="4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𝑏</m:t>
                        </m:r>
                      </m:sub>
                      <m:sup/>
                      <m:e>
                        <m:r>
                          <a:rPr lang="en-US" sz="4400" i="1">
                            <a:solidFill>
                              <a:srgbClr val="000000"/>
                            </a:solidFill>
                            <a:latin typeface="Cambria Math" charset="0"/>
                            <a:sym typeface="Symbol"/>
                          </a:rPr>
                          <m:t>𝑃</m:t>
                        </m:r>
                        <m:r>
                          <a:rPr lang="en-US" sz="4400" i="1">
                            <a:solidFill>
                              <a:srgbClr val="000000"/>
                            </a:solidFill>
                            <a:latin typeface="Cambria Math" charset="0"/>
                            <a:sym typeface="Symbol"/>
                          </a:rPr>
                          <m:t>(</m:t>
                        </m:r>
                        <m:r>
                          <a:rPr lang="en-US" sz="4400" i="1">
                            <a:solidFill>
                              <a:srgbClr val="000000"/>
                            </a:solidFill>
                            <a:latin typeface="Cambria Math" charset="0"/>
                            <a:sym typeface="Symbol"/>
                          </a:rPr>
                          <m:t>𝐵</m:t>
                        </m:r>
                        <m:r>
                          <a:rPr lang="en-US" sz="4400" i="1">
                            <a:solidFill>
                              <a:srgbClr val="000000"/>
                            </a:solidFill>
                            <a:latin typeface="Cambria Math" charset="0"/>
                            <a:sym typeface="Symbol"/>
                          </a:rPr>
                          <m:t>)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naryPr>
                          <m:sub>
                            <m:r>
                              <a:rPr lang="en-US" sz="4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charset="0"/>
                                <a:sym typeface="Symbol"/>
                              </a:rPr>
                              <m:t>𝑎</m:t>
                            </m:r>
                          </m:sub>
                          <m:sup/>
                          <m:e>
                            <m:r>
                              <a:rPr lang="en-US" sz="4400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 </m:t>
                            </m:r>
                            <m:r>
                              <a:rPr lang="en-US" sz="4400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sz="4400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𝑚</m:t>
                                </m:r>
                              </m:e>
                              <m:e>
                                <m:r>
                                  <a:rPr lang="en-US" sz="4400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sz="4400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 </m:t>
                            </m:r>
                            <m:r>
                              <a:rPr lang="en-US" sz="4400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sz="4400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sz="4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𝑏</m:t>
                                </m:r>
                                <m:r>
                                  <a:rPr lang="en-US" sz="4400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,</m:t>
                                </m:r>
                                <m:r>
                                  <a:rPr lang="en-US" sz="4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𝐸</m:t>
                                </m:r>
                              </m:e>
                            </m:d>
                            <m:r>
                              <a:rPr lang="en-US" sz="4400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 </m:t>
                            </m:r>
                            <m:r>
                              <a:rPr lang="en-US" sz="4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/>
                              </a:rPr>
                              <m:t>∗</m:t>
                            </m:r>
                            <m:r>
                              <a:rPr lang="en-US" sz="4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1</m:t>
                            </m:r>
                          </m:e>
                        </m:nary>
                      </m:e>
                    </m:nary>
                  </m:oMath>
                </a14:m>
                <a:endParaRPr lang="en-US" sz="4400" dirty="0">
                  <a:solidFill>
                    <a:srgbClr val="0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𝐸</m:t>
                        </m:r>
                      </m:e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𝑚</m:t>
                        </m:r>
                      </m:e>
                    </m:d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=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𝛼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r>
                      <a:rPr lang="en-US" sz="4400" i="1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𝐸</m:t>
                        </m:r>
                      </m:e>
                    </m:d>
                    <m:nary>
                      <m:naryPr>
                        <m:chr m:val="∑"/>
                        <m:supHide m:val="on"/>
                        <m:ctrlPr>
                          <a:rPr lang="en-US" sz="4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naryPr>
                      <m:sub>
                        <m:r>
                          <a:rPr lang="en-US" sz="4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𝑏</m:t>
                        </m:r>
                      </m:sub>
                      <m:sup/>
                      <m:e>
                        <m:r>
                          <a:rPr lang="en-US" sz="4400" i="1">
                            <a:solidFill>
                              <a:srgbClr val="000000"/>
                            </a:solidFill>
                            <a:latin typeface="Cambria Math" charset="0"/>
                            <a:sym typeface="Symbol"/>
                          </a:rPr>
                          <m:t>𝑃</m:t>
                        </m:r>
                        <m:r>
                          <a:rPr lang="en-US" sz="4400" i="1">
                            <a:solidFill>
                              <a:srgbClr val="000000"/>
                            </a:solidFill>
                            <a:latin typeface="Cambria Math" charset="0"/>
                            <a:sym typeface="Symbol"/>
                          </a:rPr>
                          <m:t>(</m:t>
                        </m:r>
                        <m:r>
                          <a:rPr lang="en-US" sz="4400" i="1">
                            <a:solidFill>
                              <a:srgbClr val="000000"/>
                            </a:solidFill>
                            <a:latin typeface="Cambria Math" charset="0"/>
                            <a:sym typeface="Symbol"/>
                          </a:rPr>
                          <m:t>𝐵</m:t>
                        </m:r>
                        <m:r>
                          <a:rPr lang="en-US" sz="4400" i="1">
                            <a:solidFill>
                              <a:srgbClr val="000000"/>
                            </a:solidFill>
                            <a:latin typeface="Cambria Math" charset="0"/>
                            <a:sym typeface="Symbol"/>
                          </a:rPr>
                          <m:t>) </m:t>
                        </m:r>
                      </m:e>
                    </m:nary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∗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charset="0"/>
                            <a:sym typeface="Symbol"/>
                          </a:rPr>
                          <m:t>𝑚</m:t>
                        </m:r>
                      </m:e>
                      <m:e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+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  <a:sym typeface="Symbol"/>
                          </a:rPr>
                          <m:t>𝑎</m:t>
                        </m:r>
                      </m:e>
                    </m:d>
                    <m:r>
                      <a:rPr lang="en-US" i="1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+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  <a:sym typeface="Symbol"/>
                          </a:rPr>
                          <m:t>𝑎</m:t>
                        </m:r>
                      </m:e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𝑏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charset="0"/>
                            <a:sym typeface="Symbol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𝐸</m:t>
                        </m:r>
                      </m:e>
                    </m:d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+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charset="0"/>
                            <a:sym typeface="Symbol"/>
                          </a:rPr>
                          <m:t>𝑚</m:t>
                        </m:r>
                      </m:e>
                      <m:e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/>
                          </a:rPr>
                          <m:t>¬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  <a:sym typeface="Symbol"/>
                          </a:rPr>
                          <m:t>𝑎</m:t>
                        </m:r>
                      </m:e>
                    </m:d>
                    <m:r>
                      <a:rPr lang="en-US" i="1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/>
                          </a:rPr>
                          <m:t>¬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charset="0"/>
                            <a:sym typeface="Symbol"/>
                          </a:rPr>
                          <m:t>𝑎</m:t>
                        </m:r>
                      </m:e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𝑏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charset="0"/>
                            <a:sym typeface="Symbol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𝐸</m:t>
                        </m:r>
                      </m:e>
                    </m:d>
                  </m:oMath>
                </a14:m>
                <a:endParaRPr lang="en-US" sz="4400" dirty="0">
                  <a:solidFill>
                    <a:schemeClr val="bg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𝐸</m:t>
                        </m:r>
                      </m:e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𝑚</m:t>
                        </m:r>
                      </m:e>
                    </m:d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=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𝛼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r>
                      <a:rPr lang="en-US" sz="4400" i="1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𝐸</m:t>
                        </m:r>
                      </m:e>
                    </m:d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∗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charset="0"/>
                            <a:sym typeface="Symbol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+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𝑏</m:t>
                            </m:r>
                          </m:e>
                        </m:d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𝑚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+</m:t>
                                </m:r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 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+</m:t>
                                </m:r>
                                <m:r>
                                  <a:rPr lang="en-US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+</m:t>
                                </m:r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𝑏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𝐸</m:t>
                                </m:r>
                              </m:e>
                            </m:d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+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𝑚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/>
                                  </a:rPr>
                                  <m:t>¬</m:t>
                                </m:r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 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/>
                                  </a:rPr>
                                  <m:t>¬</m:t>
                                </m:r>
                                <m:r>
                                  <a:rPr lang="en-US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+</m:t>
                                </m:r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𝑏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𝐸</m:t>
                                </m:r>
                              </m:e>
                            </m:d>
                          </m:e>
                        </m:d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+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charset="0"/>
                            <a:sym typeface="Symbol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/>
                              </a:rPr>
                              <m:t>¬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𝑏</m:t>
                            </m:r>
                          </m:e>
                        </m:d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𝑚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+</m:t>
                                </m:r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 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+</m:t>
                                </m:r>
                                <m:r>
                                  <a:rPr lang="en-US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/>
                                  </a:rPr>
                                  <m:t>¬</m:t>
                                </m:r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𝑏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𝐸</m:t>
                                </m:r>
                              </m:e>
                            </m:d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+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𝑚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/>
                                  </a:rPr>
                                  <m:t>¬</m:t>
                                </m:r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 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/>
                                  </a:rPr>
                                  <m:t>¬</m:t>
                                </m:r>
                                <m:r>
                                  <a:rPr lang="en-US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/>
                                  </a:rPr>
                                  <m:t>¬</m:t>
                                </m:r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𝑏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𝐸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sz="4400" dirty="0">
                  <a:solidFill>
                    <a:srgbClr val="000000"/>
                  </a:solidFill>
                </a:endParaRPr>
              </a:p>
              <a:p>
                <a:endParaRPr lang="en-US" sz="4400" dirty="0">
                  <a:solidFill>
                    <a:srgbClr val="000000"/>
                  </a:solidFill>
                </a:endParaRPr>
              </a:p>
              <a:p>
                <a:endParaRPr lang="en-US" sz="4400" dirty="0">
                  <a:solidFill>
                    <a:srgbClr val="000000"/>
                  </a:solidFill>
                </a:endParaRPr>
              </a:p>
              <a:p>
                <a:endParaRPr lang="en-US" dirty="0">
                  <a:solidFill>
                    <a:srgbClr val="000000"/>
                  </a:solidFill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BBCC0E4-4CAA-7179-C176-9319FAB1E6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1548150" cy="987113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114953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0194-7D84-DC8B-8D7C-BA10CCFF9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 by enumeration vs variable elimination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5597C-5472-2D8A-E4B2-D722638AC2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alarm network: variable elimination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BBCC0E4-4CAA-7179-C176-9319FAB1E656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223274"/>
                <a:ext cx="20057623" cy="9871137"/>
              </a:xfrm>
            </p:spPr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𝐸</m:t>
                        </m:r>
                      </m:e>
                      <m:e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𝑚</m:t>
                        </m:r>
                      </m:e>
                    </m:d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charset="0"/>
                        <a:sym typeface="Symbol"/>
                      </a:rPr>
                      <m:t>=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𝛼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𝐸</m:t>
                        </m:r>
                      </m:e>
                    </m:d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∗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charset="0"/>
                            <a:sym typeface="Symbol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+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𝑏</m:t>
                            </m:r>
                          </m:e>
                        </m:d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𝑚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+</m:t>
                                </m:r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 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+</m:t>
                                </m:r>
                                <m:r>
                                  <a:rPr lang="en-US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+</m:t>
                                </m:r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𝑏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𝐸</m:t>
                                </m:r>
                              </m:e>
                            </m:d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+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𝑚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/>
                                  </a:rPr>
                                  <m:t>¬</m:t>
                                </m:r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 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/>
                                  </a:rPr>
                                  <m:t>¬</m:t>
                                </m:r>
                                <m:r>
                                  <a:rPr lang="en-US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+</m:t>
                                </m:r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𝑏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𝐸</m:t>
                                </m:r>
                              </m:e>
                            </m:d>
                          </m:e>
                        </m:d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+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charset="0"/>
                            <a:sym typeface="Symbol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/>
                              </a:rPr>
                              <m:t>¬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𝑏</m:t>
                            </m:r>
                          </m:e>
                        </m:d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𝑚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+</m:t>
                                </m:r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 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+</m:t>
                                </m:r>
                                <m:r>
                                  <a:rPr lang="en-US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/>
                                  </a:rPr>
                                  <m:t>¬</m:t>
                                </m:r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𝑏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𝐸</m:t>
                                </m:r>
                              </m:e>
                            </m:d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+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𝑚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/>
                                  </a:rPr>
                                  <m:t>¬</m:t>
                                </m:r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 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charset="0"/>
                                <a:sym typeface="Symbol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/>
                                  </a:rPr>
                                  <m:t>¬</m:t>
                                </m:r>
                                <m:r>
                                  <a:rPr lang="en-US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/>
                                  </a:rPr>
                                  <m:t>¬</m:t>
                                </m:r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𝑏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𝐸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𝐸</m:t>
                        </m:r>
                      </m:e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𝑚</m:t>
                        </m:r>
                      </m:e>
                    </m:d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=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𝛼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 [0.002 0.998]∗(0.001∗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0.7 ∗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0.95 0.94</m:t>
                            </m:r>
                          </m:e>
                        </m:d>
                        <m:r>
                          <a:rPr lang="en-US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0.01∗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0.05 0.06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)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sym typeface="Symbol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0.999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∗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0.7 ∗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0.29 0.001</m:t>
                                </m:r>
                              </m:e>
                            </m:d>
                            <m:r>
                              <a:rPr lang="en-US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+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0.01∗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0.71 0.999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sz="4400" dirty="0">
                  <a:solidFill>
                    <a:srgbClr val="0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𝐸</m:t>
                        </m:r>
                      </m:e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𝑚</m:t>
                        </m:r>
                      </m:e>
                    </m:d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=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𝛼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 [0.002 0.998]∗(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0.001 ∗(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0.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665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 0.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658</m:t>
                        </m:r>
                      </m:e>
                    </m:d>
                    <m:r>
                      <a:rPr lang="en-US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Symbol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0.00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0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5 0.0006</m:t>
                        </m:r>
                      </m:e>
                    </m:d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)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sym typeface="Symbol"/>
                      </a:rPr>
                      <m:t>+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(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0.999 ∗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0.20</m:t>
                            </m:r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3</m:t>
                            </m:r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 0.0007</m:t>
                            </m:r>
                          </m:e>
                        </m:d>
                        <m:r>
                          <a:rPr lang="en-US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+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0.0071 0.0</m:t>
                            </m:r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)</m:t>
                    </m:r>
                  </m:oMath>
                </a14:m>
                <a:endParaRPr lang="en-US" sz="4400" dirty="0">
                  <a:solidFill>
                    <a:srgbClr val="0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𝐸</m:t>
                        </m:r>
                      </m:e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𝑚</m:t>
                        </m:r>
                      </m:e>
                    </m:d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=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𝛼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 [0.002 0.998]∗(0.001 ∗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0.665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5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 0.658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6</m:t>
                        </m:r>
                      </m:e>
                    </m:d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)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sym typeface="Symbol"/>
                      </a:rPr>
                      <m:t>+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(0.999 ∗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0.2</m:t>
                            </m:r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101</m:t>
                            </m:r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 0.0</m:t>
                            </m:r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1</m:t>
                            </m:r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07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4400" dirty="0">
                    <a:solidFill>
                      <a:srgbClr val="000000"/>
                    </a:solidFill>
                  </a:rPr>
                  <a:t>)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𝐸</m:t>
                        </m:r>
                      </m:e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𝑚</m:t>
                        </m:r>
                      </m:e>
                    </m:d>
                    <m:r>
                      <a:rPr lang="en-US" i="1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=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𝛼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0.002 0.998</m:t>
                        </m:r>
                      </m:e>
                    </m:d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∗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0.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0007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 0.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0007</m:t>
                        </m:r>
                      </m:e>
                    </m:d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+[0.2099 0.0107]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sym typeface="Symbol"/>
                  </a:rPr>
                  <a:t> </a:t>
                </a:r>
              </a:p>
              <a:p>
                <a:r>
                  <a:rPr lang="en-US" dirty="0">
                    <a:solidFill>
                      <a:schemeClr val="bg1"/>
                    </a:solidFill>
                    <a:sym typeface="Symbol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𝐸</m:t>
                        </m:r>
                      </m:e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𝑚</m:t>
                        </m:r>
                      </m:e>
                    </m:d>
                    <m:r>
                      <a:rPr lang="en-US" i="1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=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𝛼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 [0.002 0.998]∗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0.21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06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 0.01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14</m:t>
                        </m:r>
                      </m:e>
                    </m:d>
                  </m:oMath>
                </a14:m>
                <a:endParaRPr lang="en-US" sz="4400" dirty="0">
                  <a:solidFill>
                    <a:srgbClr val="0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𝐸</m:t>
                        </m:r>
                      </m:e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𝑚</m:t>
                        </m:r>
                      </m:e>
                    </m:d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=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𝛼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 [0.0004 0.01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13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]</m:t>
                    </m:r>
                  </m:oMath>
                </a14:m>
                <a:endParaRPr lang="en-US" sz="4400" dirty="0">
                  <a:solidFill>
                    <a:srgbClr val="000000"/>
                  </a:solidFill>
                </a:endParaRPr>
              </a:p>
              <a:p>
                <a:endParaRPr lang="en-US" sz="4400" dirty="0">
                  <a:solidFill>
                    <a:srgbClr val="000000"/>
                  </a:solidFill>
                </a:endParaRPr>
              </a:p>
              <a:p>
                <a:endParaRPr lang="en-US" sz="4400" dirty="0">
                  <a:solidFill>
                    <a:srgbClr val="000000"/>
                  </a:solidFill>
                </a:endParaRPr>
              </a:p>
              <a:p>
                <a:endParaRPr lang="en-US" dirty="0">
                  <a:solidFill>
                    <a:srgbClr val="000000"/>
                  </a:solidFill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BBCC0E4-4CAA-7179-C176-9319FAB1E6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223274"/>
                <a:ext cx="20057623" cy="9871137"/>
              </a:xfrm>
              <a:blipFill>
                <a:blip r:embed="rId3"/>
                <a:stretch>
                  <a:fillRect l="-1216" r="-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2548443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0194-7D84-DC8B-8D7C-BA10CCFF9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 by enumeration vs variable elimination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5597C-5472-2D8A-E4B2-D722638AC2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alarm network: variable elimination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BBCC0E4-4CAA-7179-C176-9319FAB1E656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871137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𝐸</m:t>
                        </m:r>
                      </m:e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𝑚</m:t>
                        </m:r>
                      </m:e>
                    </m:d>
                    <m:r>
                      <a:rPr lang="en-US" i="1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=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𝛼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 [0.0004 0.01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13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]</m:t>
                    </m:r>
                  </m:oMath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:pPr>
                  <a:spcAft>
                    <a:spcPts val="2400"/>
                  </a:spcAft>
                </a:pPr>
                <a:r>
                  <a:rPr lang="en-US" sz="4400" dirty="0">
                    <a:solidFill>
                      <a:srgbClr val="000000"/>
                    </a:solidFill>
                  </a:rPr>
                  <a:t>Sometimes the calculation stop here, and normalizing is not done, as we already got the proportional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𝑃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(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𝐸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,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𝑚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:</a:t>
                </a:r>
                <a:endParaRPr lang="en-US" sz="4400" dirty="0">
                  <a:solidFill>
                    <a:srgbClr val="000000"/>
                  </a:solidFill>
                </a:endParaRPr>
              </a:p>
              <a:p>
                <a:pPr marL="0" indent="0"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𝐸</m:t>
                          </m:r>
                        </m:e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𝑚</m:t>
                          </m:r>
                        </m:e>
                      </m:d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charset="0"/>
                              <a:ea typeface="Cambria Math" panose="02040503050406030204" pitchFamily="18" charset="0"/>
                              <a:sym typeface="Symbol"/>
                            </a:rPr>
                            <m:t>∝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/>
                            </a:rPr>
                            <m:t>𝑚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𝑃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𝐸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,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𝑚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𝐸</m:t>
                          </m:r>
                        </m:e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𝑚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charset="0"/>
                              <a:ea typeface="Cambria Math" panose="02040503050406030204" pitchFamily="18" charset="0"/>
                              <a:sym typeface="Symbol"/>
                            </a:rPr>
                            <m:t>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/>
                            </a:rPr>
                            <m:t>𝑚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[0.0004 0.01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13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]</m:t>
                      </m:r>
                    </m:oMath>
                  </m:oMathPara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:r>
                  <a:rPr lang="en-US" dirty="0">
                    <a:solidFill>
                      <a:srgbClr val="000000"/>
                    </a:solidFill>
                  </a:rPr>
                  <a:t>H</a:t>
                </a:r>
                <a:r>
                  <a:rPr lang="en-US" sz="4400" dirty="0">
                    <a:solidFill>
                      <a:srgbClr val="000000"/>
                    </a:solidFill>
                  </a:rPr>
                  <a:t>owever, we need to do it to compute the conditional probability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𝐸</m:t>
                        </m:r>
                      </m:e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4400" dirty="0">
                    <a:solidFill>
                      <a:srgbClr val="000000"/>
                    </a:solidFill>
                  </a:rPr>
                  <a:t>!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dirty="0">
                    <a:solidFill>
                      <a:srgbClr val="000000"/>
                    </a:solidFill>
                  </a:rPr>
                  <a:t>Let’s calculate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𝛼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𝑚</m:t>
                            </m:r>
                          </m:e>
                        </m:d>
                      </m:den>
                    </m:f>
                  </m:oMath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:endParaRPr lang="en-US" sz="4400" dirty="0">
                  <a:solidFill>
                    <a:srgbClr val="000000"/>
                  </a:solidFill>
                </a:endParaRPr>
              </a:p>
              <a:p>
                <a:endParaRPr lang="en-US" sz="4400" dirty="0">
                  <a:solidFill>
                    <a:srgbClr val="000000"/>
                  </a:solidFill>
                </a:endParaRPr>
              </a:p>
              <a:p>
                <a:endParaRPr lang="en-US" dirty="0">
                  <a:solidFill>
                    <a:srgbClr val="000000"/>
                  </a:solidFill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BBCC0E4-4CAA-7179-C176-9319FAB1E6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871137"/>
              </a:xfrm>
              <a:blipFill>
                <a:blip r:embed="rId3"/>
                <a:stretch>
                  <a:fillRect l="-1307" r="-7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9095374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0194-7D84-DC8B-8D7C-BA10CCFF9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 by enumeration vs variable elimination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5597C-5472-2D8A-E4B2-D722638AC2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alarm network: variable elimination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BBCC0E4-4CAA-7179-C176-9319FAB1E656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871137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𝑃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(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𝑚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)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=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𝛼</m:t>
                    </m:r>
                    <m:nary>
                      <m:naryPr>
                        <m:chr m:val="∑"/>
                        <m:supHide m:val="on"/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𝑏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𝑒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𝑎</m:t>
                                </m:r>
                              </m:sub>
                              <m:sup/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𝑗</m:t>
                                    </m:r>
                                  </m:sub>
                                  <m:sup/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𝑃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𝑚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𝑏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, 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𝑒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𝑎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, 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)</m:t>
                                    </m:r>
                                  </m:e>
                                </m:nary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𝛼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𝑏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𝑒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𝑎</m:t>
                                </m:r>
                              </m:sub>
                              <m:sup/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𝑗</m:t>
                                    </m:r>
                                  </m:sub>
                                  <m:sup/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sym typeface="Symbol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sym typeface="Symbol"/>
                                          </a:rPr>
                                          <m:t>𝑚</m:t>
                                        </m:r>
                                      </m:e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sym typeface="Symbol"/>
                                          </a:rPr>
                                          <m:t>𝑎</m:t>
                                        </m:r>
                                      </m:e>
                                    </m:d>
                                    <m:r>
                                      <a:rPr 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sym typeface="Symbol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sym typeface="Symbol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sym typeface="Symbol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sym typeface="Symbol"/>
                                          </a:rPr>
                                          <m:t>𝑒</m:t>
                                        </m:r>
                                      </m:e>
                                    </m:d>
                                    <m:r>
                                      <a:rPr 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sym typeface="Symbol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sym typeface="Symbol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sym typeface="Symbol"/>
                                          </a:rPr>
                                          <m:t>𝑏</m:t>
                                        </m:r>
                                        <m:r>
                                          <a:rPr lang="en-US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sym typeface="Symbol"/>
                                          </a:rPr>
                                          <m:t>,</m:t>
                                        </m:r>
                                        <m:r>
                                          <a:rPr lang="en-US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sym typeface="Symbol"/>
                                          </a:rPr>
                                          <m:t>𝑒</m:t>
                                        </m:r>
                                      </m:e>
                                    </m:d>
                                    <m:r>
                                      <a:rPr 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𝑃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𝑗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|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𝑎</m:t>
                                    </m:r>
                                    <m:r>
                                      <a:rPr 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)</m:t>
                                    </m:r>
                                  </m:e>
                                </m:nary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𝛼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𝑏</m:t>
                        </m:r>
                      </m:sub>
                      <m:sup/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𝑏</m:t>
                            </m:r>
                          </m:e>
                        </m:d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𝑒</m:t>
                            </m:r>
                          </m:sub>
                          <m:sup/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𝑒</m:t>
                                </m:r>
                              </m:e>
                            </m:d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𝑎</m:t>
                                </m:r>
                              </m:sub>
                              <m:sup/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𝑚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𝑎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𝑏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𝑒</m:t>
                                    </m:r>
                                  </m:e>
                                </m:d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𝑗</m:t>
                                    </m:r>
                                  </m:sub>
                                  <m:sup/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𝑃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|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𝑎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)</m:t>
                                    </m:r>
                                  </m:e>
                                </m:nary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𝛼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𝑏</m:t>
                        </m:r>
                      </m:sub>
                      <m:sup/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𝑏</m:t>
                            </m:r>
                          </m:e>
                        </m:d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naryPr>
                          <m:sub>
                            <m:r>
                              <a:rPr lang="en-US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𝑒</m:t>
                            </m:r>
                          </m:sub>
                          <m:sup/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𝑒</m:t>
                                </m:r>
                              </m:e>
                            </m:d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naryPr>
                              <m:sub>
                                <m:r>
                                  <a:rPr lang="en-US" i="1" smtClean="0">
                                    <a:solidFill>
                                      <a:schemeClr val="accent5"/>
                                    </a:solidFill>
                                    <a:latin typeface="Cambria Math" charset="0"/>
                                    <a:sym typeface="Symbol"/>
                                  </a:rPr>
                                  <m:t>𝑎</m:t>
                                </m:r>
                              </m:sub>
                              <m:sup/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𝑚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𝑎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𝑏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𝑒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∗1</m:t>
                                </m:r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en-US" sz="4400" dirty="0">
                  <a:solidFill>
                    <a:srgbClr val="0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𝛼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𝑏</m:t>
                        </m:r>
                      </m:sub>
                      <m:sup/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𝑏</m:t>
                            </m:r>
                          </m:e>
                        </m:d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𝑒</m:t>
                            </m:r>
                          </m:sub>
                          <m:sup/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𝑒</m:t>
                                </m:r>
                              </m:e>
                            </m:d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∗(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𝑚</m:t>
                                </m:r>
                              </m:e>
                              <m:e>
                                <m:r>
                                  <a:rPr lang="en-US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+</m:t>
                                </m:r>
                                <m:r>
                                  <a:rPr lang="en-US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+</m:t>
                                </m:r>
                                <m:r>
                                  <a:rPr lang="en-US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𝑏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𝑒</m:t>
                                </m:r>
                              </m:e>
                            </m:d>
                            <m:r>
                              <a:rPr lang="en-US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+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𝑚</m:t>
                                </m:r>
                              </m:e>
                              <m:e>
                                <m:r>
                                  <a:rPr lang="en-US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/>
                                  </a:rPr>
                                  <m:t>¬</m:t>
                                </m:r>
                                <m:r>
                                  <a:rPr lang="en-US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/>
                                  </a:rPr>
                                  <m:t>¬</m:t>
                                </m:r>
                                <m:r>
                                  <a:rPr lang="en-US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𝑏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𝑒</m:t>
                                </m:r>
                              </m:e>
                            </m:d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endParaRPr lang="en-US" dirty="0">
                  <a:solidFill>
                    <a:srgbClr val="000000"/>
                  </a:solidFill>
                  <a:sym typeface="Symbol"/>
                </a:endParaRPr>
              </a:p>
              <a:p>
                <a:endParaRPr lang="en-US" sz="4400" b="0" dirty="0">
                  <a:solidFill>
                    <a:srgbClr val="000000"/>
                  </a:solidFill>
                  <a:sym typeface="Symbol"/>
                </a:endParaRPr>
              </a:p>
              <a:p>
                <a:endParaRPr lang="en-US" sz="4400" dirty="0">
                  <a:solidFill>
                    <a:srgbClr val="000000"/>
                  </a:solidFill>
                </a:endParaRPr>
              </a:p>
              <a:p>
                <a:endParaRPr lang="en-US" sz="4400" dirty="0">
                  <a:solidFill>
                    <a:srgbClr val="000000"/>
                  </a:solidFill>
                </a:endParaRPr>
              </a:p>
              <a:p>
                <a:endParaRPr lang="en-US" sz="4400" dirty="0">
                  <a:solidFill>
                    <a:srgbClr val="000000"/>
                  </a:solidFill>
                </a:endParaRPr>
              </a:p>
              <a:p>
                <a:endParaRPr lang="en-US" dirty="0">
                  <a:solidFill>
                    <a:srgbClr val="00000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BBCC0E4-4CAA-7179-C176-9319FAB1E6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871137"/>
              </a:xfrm>
              <a:blipFill>
                <a:blip r:embed="rId3"/>
                <a:stretch>
                  <a:fillRect l="-1329" t="-11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9753449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0194-7D84-DC8B-8D7C-BA10CCFF9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 by enumeration vs variable elimination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5597C-5472-2D8A-E4B2-D722638AC2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alarm network: variable elimination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BBCC0E4-4CAA-7179-C176-9319FAB1E656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871137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=</m:t>
                      </m:r>
                      <m:r>
                        <a:rPr lang="en-US" sz="4000" i="1" smtClean="0">
                          <a:solidFill>
                            <a:srgbClr val="000000"/>
                          </a:solidFill>
                          <a:latin typeface="Cambria Math" charset="0"/>
                          <a:sym typeface="Symbol"/>
                        </a:rPr>
                        <m:t>𝛼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4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40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𝑏</m:t>
                          </m:r>
                        </m:sub>
                        <m:sup/>
                        <m:e>
                          <m:eqArr>
                            <m:eqArrPr>
                              <m:ctrlPr>
                                <a:rPr lang="en-US" sz="4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eqArrPr>
                            <m:e>
                              <m:d>
                                <m:dPr>
                                  <m:ctrlPr>
                                    <a:rPr lang="en-US" sz="4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dPr>
                                <m:e>
                                  <m:r>
                                    <a:rPr lang="en-US" sz="40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𝑏</m:t>
                                      </m:r>
                                    </m:e>
                                  </m:d>
                                  <m:r>
                                    <a:rPr lang="en-US" sz="4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 ∗</m:t>
                                  </m:r>
                                  <m:r>
                                    <a:rPr lang="en-US" sz="4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(</m:t>
                                  </m:r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400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+</m:t>
                                      </m:r>
                                      <m:r>
                                        <a:rPr lang="en-US" sz="400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𝑒</m:t>
                                      </m:r>
                                    </m:e>
                                  </m:d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 ∗</m:t>
                                  </m:r>
                                  <m:r>
                                    <a:rPr lang="en-US" sz="4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(</m:t>
                                  </m:r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𝑚</m:t>
                                      </m:r>
                                    </m:e>
                                    <m:e>
                                      <m:r>
                                        <a:rPr lang="en-US" sz="4000" i="1" smtClean="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+</m:t>
                                      </m:r>
                                      <m:r>
                                        <a:rPr lang="en-US" sz="4000" i="1" smtClean="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𝑎</m:t>
                                      </m:r>
                                    </m:e>
                                  </m:d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4000" i="1" smtClean="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+</m:t>
                                      </m:r>
                                      <m:r>
                                        <a:rPr lang="en-US" sz="4000" i="1" smtClean="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𝑎</m:t>
                                      </m:r>
                                    </m:e>
                                    <m:e>
                                      <m: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𝑏</m:t>
                                      </m:r>
                                      <m: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,+</m:t>
                                      </m:r>
                                      <m:r>
                                        <a:rPr lang="en-US" sz="400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𝑒</m:t>
                                      </m:r>
                                    </m:e>
                                  </m:d>
                                  <m:r>
                                    <a:rPr lang="en-US" sz="4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+</m:t>
                                  </m:r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𝑚</m:t>
                                      </m:r>
                                    </m:e>
                                    <m:e>
                                      <m:r>
                                        <a:rPr lang="en-US" sz="4000" i="1" smtClean="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Symbol"/>
                                        </a:rPr>
                                        <m:t>¬</m:t>
                                      </m:r>
                                      <m:r>
                                        <a:rPr lang="en-US" sz="40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𝑎</m:t>
                                      </m:r>
                                    </m:e>
                                  </m:d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4000" i="1" smtClean="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Symbol"/>
                                        </a:rPr>
                                        <m:t>¬</m:t>
                                      </m:r>
                                      <m:r>
                                        <a:rPr lang="en-US" sz="40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𝑎</m:t>
                                      </m:r>
                                    </m:e>
                                    <m:e>
                                      <m: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𝑏</m:t>
                                      </m:r>
                                      <m: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,+</m:t>
                                      </m:r>
                                      <m:r>
                                        <a:rPr lang="en-US" sz="400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𝑒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4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+</m:t>
                              </m:r>
                            </m:e>
                            <m:e>
                              <m:r>
                                <a:rPr lang="en-US" sz="4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 </m:t>
                              </m:r>
                              <m:r>
                                <a:rPr lang="en-US"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dPr>
                                <m:e>
                                  <m:r>
                                    <a:rPr lang="en-US" sz="40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/>
                                    </a:rPr>
                                    <m:t>¬</m:t>
                                  </m:r>
                                  <m:r>
                                    <a:rPr lang="en-US" sz="4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𝑒</m:t>
                                  </m:r>
                                </m:e>
                              </m:d>
                              <m:r>
                                <a:rPr lang="en-US"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 ∗</m:t>
                              </m:r>
                              <m:d>
                                <m:dPr>
                                  <m:ctrlPr>
                                    <a:rPr lang="en-US" sz="4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dPr>
                                <m:e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𝑚</m:t>
                                      </m:r>
                                    </m:e>
                                    <m:e>
                                      <m:r>
                                        <a:rPr lang="en-US" sz="4000" i="1" smtClean="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+</m:t>
                                      </m:r>
                                      <m:r>
                                        <a:rPr lang="en-US" sz="4000" i="1" smtClean="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𝑎</m:t>
                                      </m:r>
                                    </m:e>
                                  </m:d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4000" i="1" smtClean="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+</m:t>
                                      </m:r>
                                      <m:r>
                                        <a:rPr lang="en-US" sz="4000" i="1" smtClean="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𝑎</m:t>
                                      </m:r>
                                    </m:e>
                                    <m:e>
                                      <m: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𝑏</m:t>
                                      </m:r>
                                      <m: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,¬</m:t>
                                      </m:r>
                                      <m:r>
                                        <a:rPr lang="en-US" sz="40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𝑒</m:t>
                                      </m:r>
                                    </m:e>
                                  </m:d>
                                  <m:r>
                                    <a:rPr lang="en-US" sz="400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+</m:t>
                                  </m:r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𝑚</m:t>
                                      </m:r>
                                    </m:e>
                                    <m:e>
                                      <m:r>
                                        <a:rPr lang="en-US" sz="4000" i="1" smtClean="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Symbol"/>
                                        </a:rPr>
                                        <m:t>¬</m:t>
                                      </m:r>
                                      <m:r>
                                        <a:rPr lang="en-US" sz="40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𝑎</m:t>
                                      </m:r>
                                    </m:e>
                                  </m:d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4000" i="1" smtClean="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Symbol"/>
                                        </a:rPr>
                                        <m:t>¬</m:t>
                                      </m:r>
                                      <m:r>
                                        <a:rPr lang="en-US" sz="40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𝑎</m:t>
                                      </m:r>
                                    </m:e>
                                    <m:e>
                                      <m: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𝑏</m:t>
                                      </m:r>
                                      <m: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,¬</m:t>
                                      </m:r>
                                      <m:r>
                                        <a:rPr lang="en-US" sz="40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𝑒</m:t>
                                      </m:r>
                                    </m:e>
                                  </m:d>
                                  <m:r>
                                    <a:rPr lang="en-US" sz="40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eqArr>
                        </m:e>
                      </m:nary>
                    </m:oMath>
                  </m:oMathPara>
                </a14:m>
                <a:endParaRPr lang="en-US" sz="4000" b="0" dirty="0">
                  <a:solidFill>
                    <a:srgbClr val="000000"/>
                  </a:solidFill>
                  <a:sym typeface="Symbol"/>
                </a:endParaRPr>
              </a:p>
              <a:p>
                <a:pPr marL="0" indent="0"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=</m:t>
                      </m:r>
                      <m:r>
                        <a:rPr lang="en-US" sz="4000" i="1" smtClean="0">
                          <a:solidFill>
                            <a:srgbClr val="000000"/>
                          </a:solidFill>
                          <a:latin typeface="Cambria Math" charset="0"/>
                          <a:sym typeface="Symbol"/>
                        </a:rPr>
                        <m:t>𝛼</m:t>
                      </m:r>
                      <m:r>
                        <a:rPr lang="en-US" sz="4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</m:t>
                      </m:r>
                      <m:d>
                        <m:dPr>
                          <m:ctrlP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eqArrPr>
                            <m:e>
                              <m:d>
                                <m:dPr>
                                  <m:ctrlP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dPr>
                                <m:e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4000" b="0" i="1" smtClean="0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+</m:t>
                                      </m:r>
                                      <m:r>
                                        <a:rPr lang="en-US" sz="4000" i="1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𝑏</m:t>
                                      </m:r>
                                    </m:e>
                                  </m:d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 ∗</m:t>
                                  </m:r>
                                  <m:r>
                                    <a:rPr lang="en-US" sz="4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(</m:t>
                                  </m:r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40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+</m:t>
                                      </m:r>
                                      <m:r>
                                        <a:rPr lang="en-US" sz="40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𝑒</m:t>
                                      </m:r>
                                    </m:e>
                                  </m:d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 ∗</m:t>
                                  </m:r>
                                  <m:r>
                                    <a:rPr lang="en-US" sz="4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(</m:t>
                                  </m:r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𝑚</m:t>
                                      </m:r>
                                    </m:e>
                                    <m:e>
                                      <m:r>
                                        <a:rPr lang="en-US" sz="40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+</m:t>
                                      </m:r>
                                      <m:r>
                                        <a:rPr lang="en-US" sz="40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𝑎</m:t>
                                      </m:r>
                                    </m:e>
                                  </m:d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40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+</m:t>
                                      </m:r>
                                      <m:r>
                                        <a:rPr lang="en-US" sz="40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𝑎</m:t>
                                      </m:r>
                                    </m:e>
                                    <m:e>
                                      <m:r>
                                        <a:rPr lang="en-US" sz="4000" b="0" i="1" smtClean="0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+</m:t>
                                      </m:r>
                                      <m:r>
                                        <a:rPr lang="en-US" sz="4000" i="1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𝑏</m:t>
                                      </m:r>
                                      <m: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,+</m:t>
                                      </m:r>
                                      <m:r>
                                        <a:rPr lang="en-US" sz="40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𝑒</m:t>
                                      </m:r>
                                    </m:e>
                                  </m:d>
                                  <m:r>
                                    <a:rPr lang="en-US" sz="4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+</m:t>
                                  </m:r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𝑚</m:t>
                                      </m:r>
                                    </m:e>
                                    <m:e>
                                      <m:r>
                                        <a:rPr lang="en-US" sz="40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Symbol"/>
                                        </a:rPr>
                                        <m:t>¬</m:t>
                                      </m:r>
                                      <m:r>
                                        <a:rPr lang="en-US" sz="40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𝑎</m:t>
                                      </m:r>
                                    </m:e>
                                  </m:d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40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Symbol"/>
                                        </a:rPr>
                                        <m:t>¬</m:t>
                                      </m:r>
                                      <m:r>
                                        <a:rPr lang="en-US" sz="40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𝑎</m:t>
                                      </m:r>
                                    </m:e>
                                    <m:e>
                                      <m:r>
                                        <a:rPr lang="en-US" sz="4000" b="0" i="1" smtClean="0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+</m:t>
                                      </m:r>
                                      <m:r>
                                        <a:rPr lang="en-US" sz="4000" i="1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𝑏</m:t>
                                      </m:r>
                                      <m: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,+</m:t>
                                      </m:r>
                                      <m:r>
                                        <a:rPr lang="en-US" sz="40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𝑒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4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+</m:t>
                              </m:r>
                            </m:e>
                            <m:e>
                              <m:r>
                                <a:rPr lang="en-US" sz="4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 </m:t>
                              </m:r>
                              <m:r>
                                <a:rPr lang="en-US"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dPr>
                                <m:e>
                                  <m:r>
                                    <a:rPr lang="en-US" sz="4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/>
                                    </a:rPr>
                                    <m:t>¬</m:t>
                                  </m:r>
                                  <m:r>
                                    <a:rPr lang="en-US" sz="4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𝑒</m:t>
                                  </m:r>
                                </m:e>
                              </m:d>
                              <m:r>
                                <a:rPr lang="en-US"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 ∗</m:t>
                              </m:r>
                              <m:r>
                                <a:rPr lang="en-US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(</m:t>
                              </m:r>
                              <m:r>
                                <a:rPr lang="en-US"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dPr>
                                <m:e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𝑚</m:t>
                                  </m:r>
                                </m:e>
                                <m:e>
                                  <m:r>
                                    <a:rPr lang="en-US" sz="4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+</m:t>
                                  </m:r>
                                  <m:r>
                                    <a:rPr lang="en-US" sz="4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dPr>
                                <m:e>
                                  <m:r>
                                    <a:rPr lang="en-US" sz="4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+</m:t>
                                  </m:r>
                                  <m:r>
                                    <a:rPr lang="en-US" sz="4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𝑎</m:t>
                                  </m:r>
                                </m:e>
                                <m:e>
                                  <m:r>
                                    <a:rPr lang="en-US" sz="4000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+</m:t>
                                  </m:r>
                                  <m:r>
                                    <a:rPr lang="en-US" sz="4000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𝑏</m:t>
                                  </m:r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,¬</m:t>
                                  </m:r>
                                  <m:r>
                                    <a:rPr lang="en-US" sz="4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𝑒</m:t>
                                  </m:r>
                                </m:e>
                              </m:d>
                              <m:r>
                                <a:rPr lang="en-US" sz="40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+</m:t>
                              </m:r>
                              <m:r>
                                <a:rPr lang="en-US"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dPr>
                                <m:e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𝑚</m:t>
                                  </m:r>
                                </m:e>
                                <m:e>
                                  <m:r>
                                    <a:rPr lang="en-US" sz="4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/>
                                    </a:rPr>
                                    <m:t>¬</m:t>
                                  </m:r>
                                  <m:r>
                                    <a:rPr lang="en-US" sz="4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dPr>
                                <m:e>
                                  <m:r>
                                    <a:rPr lang="en-US" sz="4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/>
                                    </a:rPr>
                                    <m:t>¬</m:t>
                                  </m:r>
                                  <m:r>
                                    <a:rPr lang="en-US" sz="4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𝑎</m:t>
                                  </m:r>
                                </m:e>
                                <m:e>
                                  <m:r>
                                    <a:rPr lang="en-US" sz="4000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+</m:t>
                                  </m:r>
                                  <m:r>
                                    <a:rPr lang="en-US" sz="4000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𝑏</m:t>
                                  </m:r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,¬</m:t>
                                  </m:r>
                                  <m:r>
                                    <a:rPr lang="en-US" sz="4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𝑒</m:t>
                                  </m:r>
                                </m:e>
                              </m:d>
                              <m:r>
                                <a:rPr lang="en-US" sz="40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)</m:t>
                              </m:r>
                              <m:r>
                                <a:rPr lang="en-US"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)</m:t>
                              </m:r>
                            </m:e>
                          </m:eqArr>
                        </m:e>
                      </m:d>
                      <m:r>
                        <a:rPr lang="en-US" sz="40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+</m:t>
                      </m:r>
                    </m:oMath>
                  </m:oMathPara>
                </a14:m>
                <a:endParaRPr lang="en-US" sz="4000" b="0" dirty="0">
                  <a:solidFill>
                    <a:srgbClr val="000000"/>
                  </a:solidFill>
                  <a:sym typeface="Symbol"/>
                </a:endParaRPr>
              </a:p>
              <a:p>
                <a:pPr marL="0" indent="0"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eqArrPr>
                            <m:e>
                              <m:d>
                                <m:dPr>
                                  <m:ctrlP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dPr>
                                <m:e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4000" i="1" smtClean="0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Symbol"/>
                                        </a:rPr>
                                        <m:t>¬</m:t>
                                      </m:r>
                                      <m:r>
                                        <a:rPr lang="en-US" sz="4000" i="1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𝑏</m:t>
                                      </m:r>
                                    </m:e>
                                  </m:d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 ∗</m:t>
                                  </m:r>
                                  <m:r>
                                    <a:rPr lang="en-US" sz="4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(</m:t>
                                  </m:r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40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+</m:t>
                                      </m:r>
                                      <m:r>
                                        <a:rPr lang="en-US" sz="40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𝑒</m:t>
                                      </m:r>
                                    </m:e>
                                  </m:d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 ∗</m:t>
                                  </m:r>
                                  <m:r>
                                    <a:rPr lang="en-US" sz="4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(</m:t>
                                  </m:r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𝑚</m:t>
                                      </m:r>
                                    </m:e>
                                    <m:e>
                                      <m:r>
                                        <a:rPr lang="en-US" sz="40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+</m:t>
                                      </m:r>
                                      <m:r>
                                        <a:rPr lang="en-US" sz="40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𝑎</m:t>
                                      </m:r>
                                    </m:e>
                                  </m:d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40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+</m:t>
                                      </m:r>
                                      <m:r>
                                        <a:rPr lang="en-US" sz="40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𝑎</m:t>
                                      </m:r>
                                    </m:e>
                                    <m:e>
                                      <m:r>
                                        <a:rPr lang="en-US" sz="4000" i="1" smtClean="0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Symbol"/>
                                        </a:rPr>
                                        <m:t>¬</m:t>
                                      </m:r>
                                      <m:r>
                                        <a:rPr lang="en-US" sz="4000" i="1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𝑏</m:t>
                                      </m:r>
                                      <m: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,+</m:t>
                                      </m:r>
                                      <m:r>
                                        <a:rPr lang="en-US" sz="40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𝑒</m:t>
                                      </m:r>
                                    </m:e>
                                  </m:d>
                                  <m:r>
                                    <a:rPr lang="en-US" sz="4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+</m:t>
                                  </m:r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𝑚</m:t>
                                      </m:r>
                                    </m:e>
                                    <m:e>
                                      <m:r>
                                        <a:rPr lang="en-US" sz="40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Symbol"/>
                                        </a:rPr>
                                        <m:t>¬</m:t>
                                      </m:r>
                                      <m:r>
                                        <a:rPr lang="en-US" sz="40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𝑎</m:t>
                                      </m:r>
                                    </m:e>
                                  </m:d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40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Symbol"/>
                                        </a:rPr>
                                        <m:t>¬</m:t>
                                      </m:r>
                                      <m:r>
                                        <a:rPr lang="en-US" sz="40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𝑎</m:t>
                                      </m:r>
                                    </m:e>
                                    <m:e>
                                      <m:r>
                                        <a:rPr lang="en-US" sz="4000" i="1" smtClean="0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Symbol"/>
                                        </a:rPr>
                                        <m:t>¬</m:t>
                                      </m:r>
                                      <m:r>
                                        <a:rPr lang="en-US" sz="4000" i="1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𝑏</m:t>
                                      </m:r>
                                      <m:r>
                                        <a:rPr lang="en-US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,+</m:t>
                                      </m:r>
                                      <m:r>
                                        <a:rPr lang="en-US" sz="40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𝑒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4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+</m:t>
                              </m:r>
                            </m:e>
                            <m:e>
                              <m:r>
                                <a:rPr lang="en-US" sz="4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 </m:t>
                              </m:r>
                              <m:r>
                                <a:rPr lang="en-US"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dPr>
                                <m:e>
                                  <m:r>
                                    <a:rPr lang="en-US" sz="4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/>
                                    </a:rPr>
                                    <m:t>¬</m:t>
                                  </m:r>
                                  <m:r>
                                    <a:rPr lang="en-US" sz="4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𝑒</m:t>
                                  </m:r>
                                </m:e>
                              </m:d>
                              <m:r>
                                <a:rPr lang="en-US"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 ∗</m:t>
                              </m:r>
                              <m:r>
                                <a:rPr lang="en-US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(</m:t>
                              </m:r>
                              <m:r>
                                <a:rPr lang="en-US"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dPr>
                                <m:e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𝑚</m:t>
                                  </m:r>
                                </m:e>
                                <m:e>
                                  <m:r>
                                    <a:rPr lang="en-US" sz="4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+</m:t>
                                  </m:r>
                                  <m:r>
                                    <a:rPr lang="en-US" sz="4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dPr>
                                <m:e>
                                  <m:r>
                                    <a:rPr lang="en-US" sz="4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+</m:t>
                                  </m:r>
                                  <m:r>
                                    <a:rPr lang="en-US" sz="4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𝑎</m:t>
                                  </m:r>
                                </m:e>
                                <m:e>
                                  <m:r>
                                    <a:rPr lang="en-US" sz="400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/>
                                    </a:rPr>
                                    <m:t>¬</m:t>
                                  </m:r>
                                  <m:r>
                                    <a:rPr lang="en-US" sz="4000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𝑏</m:t>
                                  </m:r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,¬</m:t>
                                  </m:r>
                                  <m:r>
                                    <a:rPr lang="en-US" sz="4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𝑒</m:t>
                                  </m:r>
                                </m:e>
                              </m:d>
                              <m:r>
                                <a:rPr lang="en-US" sz="40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+</m:t>
                              </m:r>
                              <m:r>
                                <a:rPr lang="en-US"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dPr>
                                <m:e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𝑚</m:t>
                                  </m:r>
                                </m:e>
                                <m:e>
                                  <m:r>
                                    <a:rPr lang="en-US" sz="4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/>
                                    </a:rPr>
                                    <m:t>¬</m:t>
                                  </m:r>
                                  <m:r>
                                    <a:rPr lang="en-US" sz="4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dPr>
                                <m:e>
                                  <m:r>
                                    <a:rPr lang="en-US" sz="4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/>
                                    </a:rPr>
                                    <m:t>¬</m:t>
                                  </m:r>
                                  <m:r>
                                    <a:rPr lang="en-US" sz="40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𝑎</m:t>
                                  </m:r>
                                </m:e>
                                <m:e>
                                  <m:r>
                                    <a:rPr lang="en-US" sz="400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/>
                                    </a:rPr>
                                    <m:t>¬</m:t>
                                  </m:r>
                                  <m:r>
                                    <a:rPr lang="en-US" sz="4000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𝑏</m:t>
                                  </m:r>
                                  <m:r>
                                    <a:rPr lang="en-US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,¬</m:t>
                                  </m:r>
                                  <m:r>
                                    <a:rPr lang="en-US" sz="4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𝑒</m:t>
                                  </m:r>
                                </m:e>
                              </m:d>
                              <m:r>
                                <a:rPr lang="en-US" sz="40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)</m:t>
                              </m:r>
                              <m:r>
                                <a:rPr lang="en-US"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4400" b="0" dirty="0">
                  <a:solidFill>
                    <a:srgbClr val="000000"/>
                  </a:solidFill>
                  <a:sym typeface="Symbol"/>
                </a:endParaRPr>
              </a:p>
              <a:p>
                <a:pPr marL="0" indent="0">
                  <a:buNone/>
                </a:pPr>
                <a:endParaRPr lang="en-US" sz="40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d>
                        <m:dPr>
                          <m:ctrlP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0.001∗</m:t>
                          </m:r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0.002∗</m:t>
                          </m:r>
                          <m:d>
                            <m:dPr>
                              <m:ctrlPr>
                                <a:rPr lang="en-US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0.7∗0.95</m:t>
                              </m:r>
                              <m:r>
                                <a:rPr lang="en-US" sz="4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0.01∗0.05</m:t>
                              </m:r>
                            </m:e>
                          </m:d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0.998∗</m:t>
                          </m:r>
                          <m:d>
                            <m:dPr>
                              <m:ctrlPr>
                                <a:rPr lang="en-US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0.7∗0.94</m:t>
                              </m:r>
                              <m:r>
                                <a:rPr lang="en-US" sz="4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0.01∗0.06</m:t>
                              </m:r>
                            </m:e>
                          </m:d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4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0.999∗</m:t>
                          </m:r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0.002∗</m:t>
                          </m:r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0.7∗0.29</m:t>
                          </m:r>
                          <m:r>
                            <a:rPr lang="en-US" sz="4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0.01∗0.71</m:t>
                          </m:r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0.998∗</m:t>
                          </m:r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0.7∗0.001</m:t>
                          </m:r>
                          <m:r>
                            <a:rPr lang="en-US" sz="4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0.01∗0.999</m:t>
                          </m:r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4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0117</m:t>
                      </m:r>
                    </m:oMath>
                  </m:oMathPara>
                </a14:m>
                <a:endParaRPr lang="en-US" sz="4000" dirty="0">
                  <a:solidFill>
                    <a:srgbClr val="0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0117</m:t>
                    </m:r>
                  </m:oMath>
                </a14:m>
                <a:r>
                  <a:rPr lang="en-US" sz="4400" dirty="0">
                    <a:solidFill>
                      <a:srgbClr val="000000"/>
                    </a:solidFill>
                  </a:rPr>
                  <a:t> (</a:t>
                </a:r>
                <a:r>
                  <a:rPr lang="en-US" sz="4400" i="1" dirty="0">
                    <a:solidFill>
                      <a:srgbClr val="000000"/>
                    </a:solidFill>
                  </a:rPr>
                  <a:t>be careful on the order of multiplication</a:t>
                </a:r>
                <a:r>
                  <a:rPr lang="en-US" sz="4400" dirty="0">
                    <a:solidFill>
                      <a:srgbClr val="000000"/>
                    </a:solidFill>
                  </a:rPr>
                  <a:t>)</a:t>
                </a:r>
              </a:p>
              <a:p>
                <a:r>
                  <a:rPr lang="en-US" sz="4400" b="0" dirty="0">
                    <a:solidFill>
                      <a:srgbClr val="000000"/>
                    </a:solidFill>
                  </a:rPr>
                  <a:t>Note that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4400" dirty="0">
                    <a:solidFill>
                      <a:srgbClr val="000000"/>
                    </a:solidFill>
                  </a:rPr>
                  <a:t> also equals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𝑒</m:t>
                        </m:r>
                      </m:e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+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/>
                          </a:rPr>
                          <m:t>𝑒</m:t>
                        </m:r>
                      </m:e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𝑚</m:t>
                        </m:r>
                      </m:e>
                    </m:d>
                  </m:oMath>
                </a14:m>
                <a:endParaRPr lang="en-US" sz="4400" dirty="0">
                  <a:solidFill>
                    <a:srgbClr val="000000"/>
                  </a:solidFill>
                </a:endParaRPr>
              </a:p>
              <a:p>
                <a:endParaRPr lang="en-US" sz="4400" dirty="0">
                  <a:solidFill>
                    <a:srgbClr val="000000"/>
                  </a:solidFill>
                </a:endParaRPr>
              </a:p>
              <a:p>
                <a:endParaRPr lang="en-US" dirty="0">
                  <a:solidFill>
                    <a:srgbClr val="000000"/>
                  </a:solidFill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BBCC0E4-4CAA-7179-C176-9319FAB1E6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871137"/>
              </a:xfrm>
              <a:blipFill>
                <a:blip r:embed="rId3"/>
                <a:stretch>
                  <a:fillRect l="-1307" b="-17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6210370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0194-7D84-DC8B-8D7C-BA10CCFF9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 by enumeration vs variable elimination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5597C-5472-2D8A-E4B2-D722638AC2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alarm network: variable elimination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BBCC0E4-4CAA-7179-C176-9319FAB1E656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871137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𝐸</m:t>
                        </m:r>
                      </m:e>
                      <m:e>
                        <m: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𝑚</m:t>
                        </m:r>
                      </m:e>
                    </m:d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=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𝛼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 [0.0004 0.01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13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]</m:t>
                    </m:r>
                  </m:oMath>
                </a14:m>
                <a:endParaRPr lang="en-US" sz="4400" dirty="0">
                  <a:solidFill>
                    <a:srgbClr val="0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𝐸</m:t>
                        </m:r>
                      </m:e>
                      <m:e>
                        <m: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𝑚</m:t>
                        </m:r>
                      </m:e>
                    </m:d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=</m:t>
                    </m:r>
                    <m:f>
                      <m:fPr>
                        <m:ctrlP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fPr>
                      <m:num>
                        <m: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1</m:t>
                        </m:r>
                      </m:num>
                      <m:den>
                        <m: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𝑃</m:t>
                        </m:r>
                        <m:d>
                          <m:dPr>
                            <m:ctrlPr>
                              <a:rPr lang="en-US" sz="4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sz="4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𝑚</m:t>
                            </m:r>
                          </m:e>
                        </m:d>
                      </m:den>
                    </m:f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 [0.0004 0.01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13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]</m:t>
                    </m:r>
                  </m:oMath>
                </a14:m>
                <a:endParaRPr lang="en-US" sz="4400" dirty="0">
                  <a:solidFill>
                    <a:srgbClr val="0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𝐸</m:t>
                        </m:r>
                      </m:e>
                      <m:e>
                        <m: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𝑚</m:t>
                        </m:r>
                      </m:e>
                    </m:d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=</m:t>
                    </m:r>
                    <m:f>
                      <m:fPr>
                        <m:ctrlP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fPr>
                      <m:num>
                        <m: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1</m:t>
                        </m:r>
                      </m:num>
                      <m:den>
                        <m: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0.</m:t>
                        </m:r>
                        <m: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0117</m:t>
                        </m:r>
                      </m:den>
                    </m:f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 [0.0004 0.01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13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]</m:t>
                    </m:r>
                  </m:oMath>
                </a14:m>
                <a:endParaRPr lang="en-US" sz="4400" dirty="0">
                  <a:solidFill>
                    <a:srgbClr val="0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𝑃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𝐸</m:t>
                        </m:r>
                      </m:e>
                      <m:e>
                        <m:r>
                          <a:rPr lang="en-US" sz="4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𝑚</m:t>
                        </m:r>
                      </m:e>
                    </m:d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charset="0"/>
                        <a:sym typeface="Symbol"/>
                      </a:rPr>
                      <m:t>=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[0.0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342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 0.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9658</m:t>
                    </m:r>
                    <m:r>
                      <a:rPr lang="en-US" sz="4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/>
                      </a:rPr>
                      <m:t>]</m:t>
                    </m:r>
                  </m:oMath>
                </a14:m>
                <a:endParaRPr lang="en-US" sz="4400" dirty="0">
                  <a:solidFill>
                    <a:srgbClr val="000000"/>
                  </a:solidFill>
                </a:endParaRPr>
              </a:p>
              <a:p>
                <a:r>
                  <a:rPr lang="en-US" dirty="0">
                    <a:solidFill>
                      <a:srgbClr val="000000"/>
                    </a:solidFill>
                  </a:rPr>
                  <a:t>Therefore, the probability that Earthquake happen given Mary calls is 3.42%, and the probability that Earthquake does not happen given Mary calls is 96.58%</a:t>
                </a:r>
              </a:p>
              <a:p>
                <a:endParaRPr lang="en-US" sz="4400" dirty="0">
                  <a:solidFill>
                    <a:srgbClr val="000000"/>
                  </a:solidFill>
                </a:endParaRPr>
              </a:p>
              <a:p>
                <a:endParaRPr lang="en-US" sz="4400" dirty="0">
                  <a:solidFill>
                    <a:srgbClr val="000000"/>
                  </a:solidFill>
                </a:endParaRPr>
              </a:p>
              <a:p>
                <a:endParaRPr lang="en-US" sz="4400" dirty="0">
                  <a:solidFill>
                    <a:srgbClr val="000000"/>
                  </a:solidFill>
                </a:endParaRPr>
              </a:p>
              <a:p>
                <a:endParaRPr lang="en-US" sz="4400" dirty="0">
                  <a:solidFill>
                    <a:srgbClr val="000000"/>
                  </a:solidFill>
                </a:endParaRPr>
              </a:p>
              <a:p>
                <a:endParaRPr lang="en-US" dirty="0">
                  <a:solidFill>
                    <a:srgbClr val="000000"/>
                  </a:solidFill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BBCC0E4-4CAA-7179-C176-9319FAB1E6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871137"/>
              </a:xfrm>
              <a:blipFill>
                <a:blip r:embed="rId2"/>
                <a:stretch>
                  <a:fillRect l="-1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1792602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86355-2805-78B0-D89A-7DB0A1513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ED77D-0BDB-8F90-4044-A6BC521E9C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Bayesian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16">
                <a:extLst>
                  <a:ext uri="{FF2B5EF4-FFF2-40B4-BE49-F238E27FC236}">
                    <a16:creationId xmlns:a16="http://schemas.microsoft.com/office/drawing/2014/main" id="{F8F5A64E-79A7-5E34-6424-CC7AE5F29768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19553811" cy="8583279"/>
              </a:xfrm>
            </p:spPr>
            <p:txBody>
              <a:bodyPr/>
              <a:lstStyle/>
              <a:p>
                <a:r>
                  <a:rPr lang="en-US" dirty="0"/>
                  <a:t>Based on Alarm Bayesian network (slide 27), apply variable elimination to the query: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𝐵𝑢𝑟𝑔𝑙𝑎𝑟𝑦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𝐽𝑜h𝑛𝐶𝑎𝑙𝑙𝑠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𝑇𝑟𝑢𝑒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𝑀𝑎𝑟𝑦𝐶𝑎𝑙𝑙𝑠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𝑇𝑟𝑢𝑒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Count the number of arithmetic operations performed and compare it with number performed by the enumeration algorithm</a:t>
                </a:r>
              </a:p>
            </p:txBody>
          </p:sp>
        </mc:Choice>
        <mc:Fallback xmlns="">
          <p:sp>
            <p:nvSpPr>
              <p:cNvPr id="17" name="Content Placeholder 16">
                <a:extLst>
                  <a:ext uri="{FF2B5EF4-FFF2-40B4-BE49-F238E27FC236}">
                    <a16:creationId xmlns:a16="http://schemas.microsoft.com/office/drawing/2014/main" id="{F8F5A64E-79A7-5E34-6424-CC7AE5F297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19553811" cy="8583279"/>
              </a:xfrm>
              <a:blipFill>
                <a:blip r:embed="rId2"/>
                <a:stretch>
                  <a:fillRect l="-1364" t="-1329" r="-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0351146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86355-2805-78B0-D89A-7DB0A1513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ED77D-0BDB-8F90-4044-A6BC521E9C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Bayesian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16">
                <a:extLst>
                  <a:ext uri="{FF2B5EF4-FFF2-40B4-BE49-F238E27FC236}">
                    <a16:creationId xmlns:a16="http://schemas.microsoft.com/office/drawing/2014/main" id="{F8F5A64E-79A7-5E34-6424-CC7AE5F29768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9" y="3260663"/>
                <a:ext cx="11197212" cy="8583279"/>
              </a:xfrm>
            </p:spPr>
            <p:txBody>
              <a:bodyPr/>
              <a:lstStyle/>
              <a:p>
                <a:r>
                  <a:rPr lang="en-US" dirty="0"/>
                  <a:t>Based on Bayes net here, do: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dirty="0"/>
                  <a:t>Calculate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>
                  <a:buFont typeface="Wingdings" pitchFamily="2" charset="2"/>
                  <a:buChar char="Ø"/>
                </a:pPr>
                <a:r>
                  <a:rPr lang="en-US" dirty="0"/>
                  <a:t>Calculate the probability that someone goes to jail given that they broke the law, have been indicted, and face a politically motivated prosecutor</a:t>
                </a:r>
              </a:p>
            </p:txBody>
          </p:sp>
        </mc:Choice>
        <mc:Fallback xmlns="">
          <p:sp>
            <p:nvSpPr>
              <p:cNvPr id="17" name="Content Placeholder 16">
                <a:extLst>
                  <a:ext uri="{FF2B5EF4-FFF2-40B4-BE49-F238E27FC236}">
                    <a16:creationId xmlns:a16="http://schemas.microsoft.com/office/drawing/2014/main" id="{F8F5A64E-79A7-5E34-6424-CC7AE5F297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9" y="3260663"/>
                <a:ext cx="11197212" cy="8583279"/>
              </a:xfrm>
              <a:blipFill>
                <a:blip r:embed="rId2"/>
                <a:stretch>
                  <a:fillRect l="-2378" t="-1329" r="-3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Content Placeholder 14">
            <a:extLst>
              <a:ext uri="{FF2B5EF4-FFF2-40B4-BE49-F238E27FC236}">
                <a16:creationId xmlns:a16="http://schemas.microsoft.com/office/drawing/2014/main" id="{9BA7E062-1FA6-4963-0AC8-5AB1CD84B4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93742" y="1872058"/>
            <a:ext cx="9661454" cy="9912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55FE140-5092-BF3B-4FF8-FD663B959D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431" y="11966565"/>
            <a:ext cx="14407029" cy="12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356705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11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149698" cy="8372537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4000" dirty="0">
                <a:latin typeface="+mj-lt"/>
              </a:rPr>
              <a:t>Peter Norvig, Stuart Russel. (2021). Artificial Intelligence: A Modern Approach. Pearson. London. ISBN: 978-1292401133. Ch. 12-13.</a:t>
            </a:r>
          </a:p>
          <a:p>
            <a:pPr>
              <a:spcBef>
                <a:spcPts val="600"/>
              </a:spcBef>
            </a:pPr>
            <a:r>
              <a:rPr lang="en-US" sz="4000" dirty="0">
                <a:latin typeface="+mj-lt"/>
              </a:rPr>
              <a:t>Dan Klein and Pieter </a:t>
            </a:r>
            <a:r>
              <a:rPr lang="en-US" sz="4000" dirty="0" err="1">
                <a:latin typeface="+mj-lt"/>
              </a:rPr>
              <a:t>Abbeel</a:t>
            </a:r>
            <a:r>
              <a:rPr lang="en-US" sz="4000" dirty="0">
                <a:latin typeface="+mj-lt"/>
              </a:rPr>
              <a:t>. (2024). CS188 Intro to AI at UC Berkeley </a:t>
            </a:r>
          </a:p>
          <a:p>
            <a:pPr>
              <a:spcBef>
                <a:spcPts val="600"/>
              </a:spcBef>
            </a:pPr>
            <a:r>
              <a:rPr lang="en-US" sz="4000" dirty="0">
                <a:latin typeface="+mj-lt"/>
              </a:rPr>
              <a:t>Stephanie Rosenthal. (2023). CMU AI and http://</a:t>
            </a:r>
            <a:r>
              <a:rPr lang="en-US" sz="4000" dirty="0" err="1">
                <a:latin typeface="+mj-lt"/>
              </a:rPr>
              <a:t>ai.berkeley.edu</a:t>
            </a:r>
            <a:endParaRPr lang="en-US" sz="4000" dirty="0">
              <a:latin typeface="+mj-lt"/>
            </a:endParaRPr>
          </a:p>
          <a:p>
            <a:pPr>
              <a:spcBef>
                <a:spcPts val="600"/>
              </a:spcBef>
            </a:pPr>
            <a:endParaRPr lang="en-US" sz="4000" dirty="0">
              <a:latin typeface="+mj-lt"/>
            </a:endParaRPr>
          </a:p>
          <a:p>
            <a:pPr>
              <a:spcBef>
                <a:spcPts val="600"/>
              </a:spcBef>
            </a:pPr>
            <a:endParaRPr lang="en-US" sz="4000" dirty="0"/>
          </a:p>
          <a:p>
            <a:pPr>
              <a:spcBef>
                <a:spcPts val="600"/>
              </a:spcBef>
            </a:pPr>
            <a:endParaRPr lang="en-US" sz="4000" dirty="0"/>
          </a:p>
          <a:p>
            <a:pPr>
              <a:spcBef>
                <a:spcPts val="600"/>
              </a:spcBef>
            </a:pPr>
            <a:endParaRPr lang="en-US" sz="4000" dirty="0"/>
          </a:p>
          <a:p>
            <a:pPr>
              <a:spcBef>
                <a:spcPts val="600"/>
              </a:spcBef>
            </a:pPr>
            <a:endParaRPr lang="en-US" sz="4000" dirty="0"/>
          </a:p>
          <a:p>
            <a:pPr>
              <a:spcBef>
                <a:spcPts val="600"/>
              </a:spcBef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2882</TotalTime>
  <Words>1865</Words>
  <Application>Microsoft Office PowerPoint</Application>
  <PresentationFormat>Custom</PresentationFormat>
  <Paragraphs>255</Paragraphs>
  <Slides>37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9" baseType="lpstr">
      <vt:lpstr>Cambria Math</vt:lpstr>
      <vt:lpstr>Open Sans Semibold</vt:lpstr>
      <vt:lpstr>Symbol</vt:lpstr>
      <vt:lpstr>Courier New</vt:lpstr>
      <vt:lpstr>Open Sans ExtraBold</vt:lpstr>
      <vt:lpstr>Open Sans Light</vt:lpstr>
      <vt:lpstr>Helvetica Neue</vt:lpstr>
      <vt:lpstr>Arial</vt:lpstr>
      <vt:lpstr>OCRB</vt:lpstr>
      <vt:lpstr>Open Sans</vt:lpstr>
      <vt:lpstr>Wingdings</vt:lpstr>
      <vt:lpstr>21_BasicWhite</vt:lpstr>
      <vt:lpstr>Bayesian Network:  Exact Inference</vt:lpstr>
      <vt:lpstr>Learning Outcomes</vt:lpstr>
      <vt:lpstr>outline</vt:lpstr>
      <vt:lpstr>Bayesian network inference</vt:lpstr>
      <vt:lpstr>Bayesian network inference</vt:lpstr>
      <vt:lpstr>Bayesian network inference</vt:lpstr>
      <vt:lpstr>Bayesian network inference</vt:lpstr>
      <vt:lpstr>Bayesian network inference</vt:lpstr>
      <vt:lpstr>Bayesian network inference</vt:lpstr>
      <vt:lpstr>Bayesian network inference</vt:lpstr>
      <vt:lpstr>Inference by enumeration</vt:lpstr>
      <vt:lpstr>Inference by enumeration</vt:lpstr>
      <vt:lpstr>Inference by enumeration</vt:lpstr>
      <vt:lpstr>Inference by enumeration</vt:lpstr>
      <vt:lpstr>Inference by variable elimination</vt:lpstr>
      <vt:lpstr>Inference by variable elimination</vt:lpstr>
      <vt:lpstr>Inference by variable elimination</vt:lpstr>
      <vt:lpstr>Inference by enumeration vs variable elimination</vt:lpstr>
      <vt:lpstr>Inference by enumeration vs variable elimination</vt:lpstr>
      <vt:lpstr>Inference by enumeration vs variable elimination</vt:lpstr>
      <vt:lpstr>Inference by enumeration vs variable elimination</vt:lpstr>
      <vt:lpstr>Inference by enumeration vs variable elimination</vt:lpstr>
      <vt:lpstr>Inference by enumeration vs variable elimination</vt:lpstr>
      <vt:lpstr>Inference by enumeration vs variable elimination</vt:lpstr>
      <vt:lpstr>Inference by enumeration vs variable elimination</vt:lpstr>
      <vt:lpstr>Inference by enumeration vs variable elimination</vt:lpstr>
      <vt:lpstr>Inference by enumeration vs variable elimination</vt:lpstr>
      <vt:lpstr>Inference by enumeration vs variable elimination</vt:lpstr>
      <vt:lpstr>Inference by enumeration vs variable elimination</vt:lpstr>
      <vt:lpstr>Inference by enumeration vs variable elimination</vt:lpstr>
      <vt:lpstr>Inference by enumeration vs variable elimination</vt:lpstr>
      <vt:lpstr>Inference by enumeration vs variable elimination</vt:lpstr>
      <vt:lpstr>Inference by enumeration vs variable elimination</vt:lpstr>
      <vt:lpstr>Inference by enumeration vs variable elimination</vt:lpstr>
      <vt:lpstr>exercise</vt:lpstr>
      <vt:lpstr>exercise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Henry Lucky</cp:lastModifiedBy>
  <cp:revision>78</cp:revision>
  <dcterms:created xsi:type="dcterms:W3CDTF">2023-11-17T02:51:40Z</dcterms:created>
  <dcterms:modified xsi:type="dcterms:W3CDTF">2024-12-27T07:27:41Z</dcterms:modified>
</cp:coreProperties>
</file>