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38"/>
  </p:notesMasterIdLst>
  <p:sldIdLst>
    <p:sldId id="256" r:id="rId5"/>
    <p:sldId id="257" r:id="rId6"/>
    <p:sldId id="258" r:id="rId7"/>
    <p:sldId id="304" r:id="rId8"/>
    <p:sldId id="332" r:id="rId9"/>
    <p:sldId id="427" r:id="rId10"/>
    <p:sldId id="428" r:id="rId11"/>
    <p:sldId id="431" r:id="rId12"/>
    <p:sldId id="429" r:id="rId13"/>
    <p:sldId id="430" r:id="rId14"/>
    <p:sldId id="420" r:id="rId15"/>
    <p:sldId id="432" r:id="rId16"/>
    <p:sldId id="433" r:id="rId17"/>
    <p:sldId id="434" r:id="rId18"/>
    <p:sldId id="435" r:id="rId19"/>
    <p:sldId id="436" r:id="rId20"/>
    <p:sldId id="437" r:id="rId21"/>
    <p:sldId id="438" r:id="rId22"/>
    <p:sldId id="439" r:id="rId23"/>
    <p:sldId id="440" r:id="rId24"/>
    <p:sldId id="441" r:id="rId25"/>
    <p:sldId id="331" r:id="rId26"/>
    <p:sldId id="338" r:id="rId27"/>
    <p:sldId id="442" r:id="rId28"/>
    <p:sldId id="443" r:id="rId29"/>
    <p:sldId id="444" r:id="rId30"/>
    <p:sldId id="445" r:id="rId31"/>
    <p:sldId id="446" r:id="rId32"/>
    <p:sldId id="447" r:id="rId33"/>
    <p:sldId id="416" r:id="rId34"/>
    <p:sldId id="415" r:id="rId35"/>
    <p:sldId id="330" r:id="rId36"/>
    <p:sldId id="272" r:id="rId37"/>
  </p:sldIdLst>
  <p:sldSz cx="24384000" cy="13716000"/>
  <p:notesSz cx="6858000" cy="9144000"/>
  <p:embeddedFontLst>
    <p:embeddedFont>
      <p:font typeface="Cambria Math" panose="02040503050406030204" pitchFamily="18" charset="0"/>
      <p:regular r:id="rId39"/>
    </p:embeddedFont>
    <p:embeddedFont>
      <p:font typeface="OCRB" panose="020B0609020202020204" pitchFamily="49" charset="0"/>
      <p:regular r:id="rId40"/>
    </p:embeddedFont>
    <p:embeddedFont>
      <p:font typeface="Open Sans" panose="020B0606030504020204" pitchFamily="34" charset="0"/>
      <p:regular r:id="rId41"/>
      <p:bold r:id="rId42"/>
      <p:italic r:id="rId43"/>
      <p:boldItalic r:id="rId44"/>
    </p:embeddedFont>
    <p:embeddedFont>
      <p:font typeface="Open Sans ExtraBold" panose="020B0906030804020204" pitchFamily="34" charset="0"/>
      <p:bold r:id="rId45"/>
      <p:italic r:id="rId46"/>
      <p:boldItalic r:id="rId47"/>
    </p:embeddedFont>
    <p:embeddedFont>
      <p:font typeface="Open Sans Light" panose="020B0306030504020204" pitchFamily="34" charset="0"/>
      <p:regular r:id="rId48"/>
      <p:italic r:id="rId49"/>
    </p:embeddedFont>
    <p:embeddedFont>
      <p:font typeface="Open Sans Semibold" panose="020B0706030804020204" pitchFamily="34" charset="0"/>
      <p:regular r:id="rId50"/>
      <p:bold r:id="rId51"/>
      <p:italic r:id="rId52"/>
      <p:boldItalic r:id="rId53"/>
    </p:embeddedFont>
    <p:embeddedFont>
      <p:font typeface="Segoe UI" panose="020B0502040204020203" pitchFamily="34" charset="0"/>
      <p:regular r:id="rId54"/>
      <p:bold r:id="rId55"/>
      <p:italic r:id="rId56"/>
      <p:boldItalic r:id="rId57"/>
    </p:embeddedFont>
    <p:embeddedFont>
      <p:font typeface="Tahoma" panose="020B0604030504040204" pitchFamily="34" charset="0"/>
      <p:regular r:id="rId58"/>
      <p:bold r:id="rId59"/>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3B1B93-69A2-487F-BBF6-C6E57908761F}" v="12" dt="2024-01-17T08:30:35.05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Gaya Tema 1 - Akse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5097" autoAdjust="0"/>
  </p:normalViewPr>
  <p:slideViewPr>
    <p:cSldViewPr snapToGrid="0" snapToObjects="1">
      <p:cViewPr varScale="1">
        <p:scale>
          <a:sx n="36" d="100"/>
          <a:sy n="36" d="100"/>
        </p:scale>
        <p:origin x="408" y="84"/>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font" Target="fonts/font1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20" Type="http://schemas.openxmlformats.org/officeDocument/2006/relationships/slide" Target="slides/slide16.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id-ID"/>
              <a:t>Klik ikon untuk menambahkan gambar</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id-ID"/>
              <a:t>Klik ikon untuk menambahkan gambar</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id-ID"/>
              <a:t>Klik ikon untuk menambahkan gambar</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id-ID"/>
              <a:t>Klik ikon untuk menambahkan gambar</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id-ID"/>
              <a:t>Klik ikon untuk menambahkan gambar</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id-ID"/>
              <a:t>Klik ikon untuk menambahkan gambar</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id-ID"/>
              <a:t>Klik untuk edit gaya teks Master</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id-ID"/>
              <a:t>Klik untuk edit gaya teks Master</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id-ID"/>
              <a:t>Klik ikon untuk menambahkan gambar</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id-ID"/>
              <a:t>Klik untuk edit gaya teks Master</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hyperlink" Target="https://www2.cs.sfu.ca/CourseCentral/310/oschulte/mychapter5.pdf" TargetMode="External"/><Relationship Id="rId2" Type="http://schemas.openxmlformats.org/officeDocument/2006/relationships/hyperlink" Target="https://inst.eecs.berkeley.edu/~cs188/fa18/assets/slides/lec6/FA18_cs188_lecture6_adversarial_search_1pp.pdf" TargetMode="External"/><Relationship Id="rId1" Type="http://schemas.openxmlformats.org/officeDocument/2006/relationships/slideLayout" Target="../slideLayouts/slideLayout2.xml"/><Relationship Id="rId4" Type="http://schemas.openxmlformats.org/officeDocument/2006/relationships/hyperlink" Target="https://imada.sdu.dk/u/marco/DM828/Slides/dm828-lec17.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06</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Adversarial Search</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a:p>
            <a:endParaRPr lang="en-US" dirty="0"/>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ampungan Konten 14">
            <a:extLst>
              <a:ext uri="{FF2B5EF4-FFF2-40B4-BE49-F238E27FC236}">
                <a16:creationId xmlns:a16="http://schemas.microsoft.com/office/drawing/2014/main" id="{0A335A92-8039-A0A2-F4C2-9AD9886F07E9}"/>
              </a:ext>
            </a:extLst>
          </p:cNvPr>
          <p:cNvSpPr txBox="1">
            <a:spLocks/>
          </p:cNvSpPr>
          <p:nvPr/>
        </p:nvSpPr>
        <p:spPr>
          <a:xfrm>
            <a:off x="466042" y="2557980"/>
            <a:ext cx="23380929" cy="111580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57150" indent="0" algn="just">
              <a:buFontTx/>
              <a:buNone/>
            </a:pPr>
            <a:r>
              <a:rPr lang="en-US" sz="4400">
                <a:latin typeface="+mj-lt"/>
              </a:rPr>
              <a:t>At the end of this session, students will be able to:</a:t>
            </a:r>
          </a:p>
          <a:p>
            <a:pPr marL="1549400" indent="-635000" algn="just"/>
            <a:r>
              <a:rPr lang="en-US" sz="4400">
                <a:latin typeface="+mj-lt"/>
              </a:rPr>
              <a:t>LO 2: Apply various search algorithms for agents to solve problems</a:t>
            </a:r>
            <a:endParaRPr lang="en-US" sz="4400" dirty="0">
              <a:latin typeface="+mj-lt"/>
            </a:endParaRPr>
          </a:p>
        </p:txBody>
      </p:sp>
      <p:sp>
        <p:nvSpPr>
          <p:cNvPr id="8" name="Title 1">
            <a:extLst>
              <a:ext uri="{FF2B5EF4-FFF2-40B4-BE49-F238E27FC236}">
                <a16:creationId xmlns:a16="http://schemas.microsoft.com/office/drawing/2014/main" id="{A0D4FA19-9100-83D6-998A-C1618EE61138}"/>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Learning Outcomes</a:t>
            </a:r>
          </a:p>
        </p:txBody>
      </p:sp>
      <p:sp>
        <p:nvSpPr>
          <p:cNvPr id="9" name="Text Placeholder 2">
            <a:extLst>
              <a:ext uri="{FF2B5EF4-FFF2-40B4-BE49-F238E27FC236}">
                <a16:creationId xmlns:a16="http://schemas.microsoft.com/office/drawing/2014/main" id="{16C2442A-E5CD-9EAD-5E0E-A5ECD659263B}"/>
              </a:ext>
            </a:extLst>
          </p:cNvPr>
          <p:cNvSpPr>
            <a:spLocks noGrp="1"/>
          </p:cNvSpPr>
          <p:nvPr>
            <p:ph type="body" sz="quarter" idx="10"/>
          </p:nvPr>
        </p:nvSpPr>
        <p:spPr>
          <a:xfrm>
            <a:off x="3996177" y="1437343"/>
            <a:ext cx="9768875" cy="803546"/>
          </a:xfrm>
        </p:spPr>
        <p:txBody>
          <a:bodyPr/>
          <a:lstStyle/>
          <a:p>
            <a:r>
              <a:rPr lang="en-ID" dirty="0"/>
              <a:t>Session 05</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158019"/>
          </a:xfrm>
        </p:spPr>
        <p:txBody>
          <a:bodyPr>
            <a:normAutofit/>
          </a:bodyPr>
          <a:lstStyle/>
          <a:p>
            <a:pPr marL="1773238" indent="-914400" algn="just"/>
            <a:r>
              <a:rPr lang="en-US" sz="5400" dirty="0">
                <a:latin typeface="+mj-lt"/>
              </a:rPr>
              <a:t>Introduction</a:t>
            </a:r>
          </a:p>
          <a:p>
            <a:pPr marL="1773238" indent="-914400" algn="just"/>
            <a:r>
              <a:rPr lang="en-US" sz="5400" dirty="0">
                <a:latin typeface="+mj-lt"/>
              </a:rPr>
              <a:t>Optimal Decision in game</a:t>
            </a:r>
          </a:p>
          <a:p>
            <a:pPr marL="1773238" indent="-914400" algn="just"/>
            <a:r>
              <a:rPr lang="en-US" sz="5400" dirty="0">
                <a:latin typeface="+mj-lt"/>
              </a:rPr>
              <a:t>Alpha-beta Pruning</a:t>
            </a:r>
          </a:p>
        </p:txBody>
      </p:sp>
      <p:sp>
        <p:nvSpPr>
          <p:cNvPr id="4" name="Title 1">
            <a:extLst>
              <a:ext uri="{FF2B5EF4-FFF2-40B4-BE49-F238E27FC236}">
                <a16:creationId xmlns:a16="http://schemas.microsoft.com/office/drawing/2014/main" id="{E40EBA90-5F73-A5D3-5DA1-22B1594F4924}"/>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Outline</a:t>
            </a:r>
          </a:p>
        </p:txBody>
      </p:sp>
      <p:sp>
        <p:nvSpPr>
          <p:cNvPr id="5" name="Text Placeholder 2">
            <a:extLst>
              <a:ext uri="{FF2B5EF4-FFF2-40B4-BE49-F238E27FC236}">
                <a16:creationId xmlns:a16="http://schemas.microsoft.com/office/drawing/2014/main" id="{99CA3BCE-E9DF-1088-B223-DAC3FD62E5FE}"/>
              </a:ext>
            </a:extLst>
          </p:cNvPr>
          <p:cNvSpPr>
            <a:spLocks noGrp="1"/>
          </p:cNvSpPr>
          <p:nvPr>
            <p:ph type="body" sz="quarter" idx="10"/>
          </p:nvPr>
        </p:nvSpPr>
        <p:spPr>
          <a:xfrm>
            <a:off x="3996177" y="1437343"/>
            <a:ext cx="9768875" cy="803546"/>
          </a:xfrm>
        </p:spPr>
        <p:txBody>
          <a:bodyPr/>
          <a:lstStyle/>
          <a:p>
            <a:r>
              <a:rPr lang="en-ID" dirty="0"/>
              <a:t>Session 05</a:t>
            </a:r>
          </a:p>
        </p:txBody>
      </p:sp>
    </p:spTree>
    <p:extLst>
      <p:ext uri="{BB962C8B-B14F-4D97-AF65-F5344CB8AC3E}">
        <p14:creationId xmlns:p14="http://schemas.microsoft.com/office/powerpoint/2010/main" val="226646014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Judul 4">
            <a:extLst>
              <a:ext uri="{FF2B5EF4-FFF2-40B4-BE49-F238E27FC236}">
                <a16:creationId xmlns:a16="http://schemas.microsoft.com/office/drawing/2014/main" id="{C5B773AD-3131-DABC-0943-3C804025A808}"/>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203854500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393993"/>
          </a:xfrm>
        </p:spPr>
        <p:txBody>
          <a:bodyPr>
            <a:normAutofit fontScale="85000" lnSpcReduction="20000"/>
          </a:bodyPr>
          <a:lstStyle/>
          <a:p>
            <a:pPr marL="1544638" indent="-685800" algn="just"/>
            <a:r>
              <a:rPr lang="en-US" sz="4800" dirty="0">
                <a:latin typeface="+mj-lt"/>
              </a:rPr>
              <a:t>Multi-agent environment:</a:t>
            </a:r>
          </a:p>
          <a:p>
            <a:pPr marL="2168526" lvl="1" indent="-685800" algn="just"/>
            <a:r>
              <a:rPr lang="en-US" sz="4800" dirty="0">
                <a:latin typeface="+mj-lt"/>
              </a:rPr>
              <a:t>Cooperative</a:t>
            </a:r>
          </a:p>
          <a:p>
            <a:pPr marL="2168526" lvl="1" indent="-685800" algn="just"/>
            <a:r>
              <a:rPr lang="en-US" sz="4800" dirty="0">
                <a:latin typeface="+mj-lt"/>
              </a:rPr>
              <a:t>Competitive </a:t>
            </a:r>
            <a:r>
              <a:rPr lang="en-US" sz="4800" dirty="0">
                <a:latin typeface="+mj-lt"/>
                <a:sym typeface="Wingdings" panose="05000000000000000000" pitchFamily="2" charset="2"/>
              </a:rPr>
              <a:t> Adversarial search in </a:t>
            </a:r>
            <a:r>
              <a:rPr lang="en-US" sz="4800" b="1" dirty="0">
                <a:solidFill>
                  <a:srgbClr val="FF0000"/>
                </a:solidFill>
                <a:latin typeface="+mj-lt"/>
                <a:sym typeface="Wingdings" panose="05000000000000000000" pitchFamily="2" charset="2"/>
              </a:rPr>
              <a:t>games</a:t>
            </a:r>
          </a:p>
          <a:p>
            <a:pPr marL="2168526" lvl="1" indent="-685800" algn="just"/>
            <a:endParaRPr lang="en-US" sz="4800" dirty="0">
              <a:latin typeface="+mj-lt"/>
              <a:sym typeface="Wingdings" panose="05000000000000000000" pitchFamily="2" charset="2"/>
            </a:endParaRPr>
          </a:p>
          <a:p>
            <a:pPr marL="1544638" indent="-685800" algn="just"/>
            <a:r>
              <a:rPr lang="en-US" sz="4800" b="1" dirty="0">
                <a:solidFill>
                  <a:srgbClr val="FF0000"/>
                </a:solidFill>
                <a:latin typeface="+mj-lt"/>
              </a:rPr>
              <a:t>AI Game theory </a:t>
            </a:r>
            <a:r>
              <a:rPr lang="en-US" sz="4800" dirty="0">
                <a:latin typeface="+mj-lt"/>
              </a:rPr>
              <a:t>(combinatorial game theory):</a:t>
            </a:r>
          </a:p>
          <a:p>
            <a:pPr marL="2168526" lvl="1" indent="-685800" algn="just"/>
            <a:r>
              <a:rPr lang="en-US" sz="4800" dirty="0">
                <a:latin typeface="+mj-lt"/>
              </a:rPr>
              <a:t>deterministic/ stochastic</a:t>
            </a:r>
          </a:p>
          <a:p>
            <a:pPr marL="2168526" lvl="1" indent="-685800" algn="just"/>
            <a:r>
              <a:rPr lang="en-US" sz="4800" dirty="0">
                <a:latin typeface="+mj-lt"/>
              </a:rPr>
              <a:t>Turn taking</a:t>
            </a:r>
          </a:p>
          <a:p>
            <a:pPr marL="2168526" lvl="1" indent="-685800" algn="just"/>
            <a:r>
              <a:rPr lang="en-US" sz="4800" dirty="0">
                <a:latin typeface="+mj-lt"/>
              </a:rPr>
              <a:t>Two players</a:t>
            </a:r>
          </a:p>
          <a:p>
            <a:pPr marL="2168526" lvl="1" indent="-685800" algn="just"/>
            <a:r>
              <a:rPr lang="en-US" sz="4800" dirty="0">
                <a:latin typeface="+mj-lt"/>
              </a:rPr>
              <a:t>Zero sum games = utility values equal and opposite</a:t>
            </a:r>
          </a:p>
          <a:p>
            <a:pPr marL="2168526" lvl="1" indent="-685800" algn="just"/>
            <a:r>
              <a:rPr lang="en-US" sz="4800" dirty="0">
                <a:latin typeface="+mj-lt"/>
              </a:rPr>
              <a:t>Perfect/ imperfect information</a:t>
            </a:r>
          </a:p>
          <a:p>
            <a:pPr marL="2168526" lvl="1" indent="-685800" algn="just"/>
            <a:r>
              <a:rPr lang="en-US" sz="4800" dirty="0">
                <a:latin typeface="+mj-lt"/>
              </a:rPr>
              <a:t>Agents are restricted to a small number of actions described by rules</a:t>
            </a:r>
          </a:p>
        </p:txBody>
      </p:sp>
      <p:sp>
        <p:nvSpPr>
          <p:cNvPr id="4" name="Title 1">
            <a:extLst>
              <a:ext uri="{FF2B5EF4-FFF2-40B4-BE49-F238E27FC236}">
                <a16:creationId xmlns:a16="http://schemas.microsoft.com/office/drawing/2014/main" id="{B5CC3B8B-E510-B288-FEAE-F30DCD504547}"/>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Introduction	</a:t>
            </a:r>
          </a:p>
        </p:txBody>
      </p:sp>
      <p:sp>
        <p:nvSpPr>
          <p:cNvPr id="5" name="Text Placeholder 2">
            <a:extLst>
              <a:ext uri="{FF2B5EF4-FFF2-40B4-BE49-F238E27FC236}">
                <a16:creationId xmlns:a16="http://schemas.microsoft.com/office/drawing/2014/main" id="{A48F8A60-3A54-2138-AEAE-27C9AFE01DEE}"/>
              </a:ext>
            </a:extLst>
          </p:cNvPr>
          <p:cNvSpPr>
            <a:spLocks noGrp="1"/>
          </p:cNvSpPr>
          <p:nvPr>
            <p:ph type="body" sz="quarter" idx="10"/>
          </p:nvPr>
        </p:nvSpPr>
        <p:spPr>
          <a:xfrm>
            <a:off x="3996177" y="1437343"/>
            <a:ext cx="9768875" cy="803546"/>
          </a:xfrm>
        </p:spPr>
        <p:txBody>
          <a:bodyPr/>
          <a:lstStyle/>
          <a:p>
            <a:r>
              <a:rPr lang="en-ID" dirty="0"/>
              <a:t>Definition</a:t>
            </a:r>
          </a:p>
        </p:txBody>
      </p:sp>
    </p:spTree>
    <p:extLst>
      <p:ext uri="{BB962C8B-B14F-4D97-AF65-F5344CB8AC3E}">
        <p14:creationId xmlns:p14="http://schemas.microsoft.com/office/powerpoint/2010/main" val="137835378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393993"/>
          </a:xfrm>
        </p:spPr>
        <p:txBody>
          <a:bodyPr>
            <a:normAutofit/>
          </a:bodyPr>
          <a:lstStyle/>
          <a:p>
            <a:pPr marL="1544638" indent="-685800" algn="just"/>
            <a:r>
              <a:rPr lang="en-US" sz="4800" b="1" dirty="0">
                <a:solidFill>
                  <a:srgbClr val="FF0000"/>
                </a:solidFill>
                <a:latin typeface="+mj-lt"/>
              </a:rPr>
              <a:t>Classical (economic) game theory</a:t>
            </a:r>
            <a:r>
              <a:rPr lang="en-US" sz="4800" dirty="0">
                <a:latin typeface="+mj-lt"/>
              </a:rPr>
              <a:t>:  includes cooperation, chance, imperfect knowledge, simultaneous moves and tends to represent real-life decision making situations.</a:t>
            </a:r>
          </a:p>
          <a:p>
            <a:pPr marL="1544638" indent="-685800" algn="just"/>
            <a:r>
              <a:rPr lang="en-US" sz="4800" dirty="0">
                <a:latin typeface="+mj-lt"/>
              </a:rPr>
              <a:t>Type of Games:</a:t>
            </a:r>
          </a:p>
          <a:p>
            <a:pPr marL="858838" indent="0" algn="just">
              <a:buNone/>
            </a:pPr>
            <a:endParaRPr lang="en-US" sz="4800" dirty="0">
              <a:latin typeface="+mj-lt"/>
            </a:endParaRPr>
          </a:p>
        </p:txBody>
      </p:sp>
      <p:graphicFrame>
        <p:nvGraphicFramePr>
          <p:cNvPr id="2" name="Table 1">
            <a:extLst>
              <a:ext uri="{FF2B5EF4-FFF2-40B4-BE49-F238E27FC236}">
                <a16:creationId xmlns:a16="http://schemas.microsoft.com/office/drawing/2014/main" id="{9D857CCD-8E34-CC50-494B-ED3188A69ACF}"/>
              </a:ext>
            </a:extLst>
          </p:cNvPr>
          <p:cNvGraphicFramePr>
            <a:graphicFrameLocks noGrp="1"/>
          </p:cNvGraphicFramePr>
          <p:nvPr>
            <p:extLst>
              <p:ext uri="{D42A27DB-BD31-4B8C-83A1-F6EECF244321}">
                <p14:modId xmlns:p14="http://schemas.microsoft.com/office/powerpoint/2010/main" val="1626686692"/>
              </p:ext>
            </p:extLst>
          </p:nvPr>
        </p:nvGraphicFramePr>
        <p:xfrm>
          <a:off x="3504969" y="6463959"/>
          <a:ext cx="16256001" cy="2468880"/>
        </p:xfrm>
        <a:graphic>
          <a:graphicData uri="http://schemas.openxmlformats.org/drawingml/2006/table">
            <a:tbl>
              <a:tblPr firstRow="1" bandRow="1">
                <a:tableStyleId>{5940675A-B579-460E-94D1-54222C63F5DA}</a:tableStyleId>
              </a:tblPr>
              <a:tblGrid>
                <a:gridCol w="5418667">
                  <a:extLst>
                    <a:ext uri="{9D8B030D-6E8A-4147-A177-3AD203B41FA5}">
                      <a16:colId xmlns:a16="http://schemas.microsoft.com/office/drawing/2014/main" val="522804539"/>
                    </a:ext>
                  </a:extLst>
                </a:gridCol>
                <a:gridCol w="5418667">
                  <a:extLst>
                    <a:ext uri="{9D8B030D-6E8A-4147-A177-3AD203B41FA5}">
                      <a16:colId xmlns:a16="http://schemas.microsoft.com/office/drawing/2014/main" val="1628364213"/>
                    </a:ext>
                  </a:extLst>
                </a:gridCol>
                <a:gridCol w="5418667">
                  <a:extLst>
                    <a:ext uri="{9D8B030D-6E8A-4147-A177-3AD203B41FA5}">
                      <a16:colId xmlns:a16="http://schemas.microsoft.com/office/drawing/2014/main" val="2050849522"/>
                    </a:ext>
                  </a:extLst>
                </a:gridCol>
              </a:tblGrid>
              <a:tr h="370840">
                <a:tc>
                  <a:txBody>
                    <a:bodyPr/>
                    <a:lstStyle/>
                    <a:p>
                      <a:pPr algn="just"/>
                      <a:endParaRPr lang="en-ID" sz="3600" dirty="0"/>
                    </a:p>
                  </a:txBody>
                  <a:tcPr/>
                </a:tc>
                <a:tc>
                  <a:txBody>
                    <a:bodyPr/>
                    <a:lstStyle/>
                    <a:p>
                      <a:pPr algn="just"/>
                      <a:r>
                        <a:rPr lang="en-US" sz="3600" b="1" dirty="0" err="1"/>
                        <a:t>deterministics</a:t>
                      </a:r>
                      <a:endParaRPr lang="en-ID" sz="3600" b="1" dirty="0"/>
                    </a:p>
                  </a:txBody>
                  <a:tcPr/>
                </a:tc>
                <a:tc>
                  <a:txBody>
                    <a:bodyPr/>
                    <a:lstStyle/>
                    <a:p>
                      <a:pPr algn="just"/>
                      <a:r>
                        <a:rPr lang="en-US" sz="3600" b="1" dirty="0"/>
                        <a:t>Chance</a:t>
                      </a:r>
                      <a:endParaRPr lang="en-ID" sz="3600" b="1" dirty="0"/>
                    </a:p>
                  </a:txBody>
                  <a:tcPr/>
                </a:tc>
                <a:extLst>
                  <a:ext uri="{0D108BD9-81ED-4DB2-BD59-A6C34878D82A}">
                    <a16:rowId xmlns:a16="http://schemas.microsoft.com/office/drawing/2014/main" val="3347153557"/>
                  </a:ext>
                </a:extLst>
              </a:tr>
              <a:tr h="370840">
                <a:tc>
                  <a:txBody>
                    <a:bodyPr/>
                    <a:lstStyle/>
                    <a:p>
                      <a:pPr algn="just"/>
                      <a:r>
                        <a:rPr lang="en-US" sz="3600" b="1"/>
                        <a:t>Perfect information</a:t>
                      </a:r>
                      <a:endParaRPr lang="en-US" sz="3600" b="1" dirty="0"/>
                    </a:p>
                  </a:txBody>
                  <a:tcPr/>
                </a:tc>
                <a:tc>
                  <a:txBody>
                    <a:bodyPr/>
                    <a:lstStyle/>
                    <a:p>
                      <a:pPr algn="just"/>
                      <a:r>
                        <a:rPr lang="en-US" sz="3600" dirty="0"/>
                        <a:t>Checkers, Othello, chess</a:t>
                      </a:r>
                      <a:endParaRPr lang="en-ID" sz="3600" dirty="0"/>
                    </a:p>
                  </a:txBody>
                  <a:tcPr/>
                </a:tc>
                <a:tc>
                  <a:txBody>
                    <a:bodyPr/>
                    <a:lstStyle/>
                    <a:p>
                      <a:pPr algn="just"/>
                      <a:r>
                        <a:rPr lang="en-US" sz="3600" dirty="0"/>
                        <a:t>Monopoly</a:t>
                      </a:r>
                      <a:endParaRPr lang="en-ID" sz="3600" dirty="0"/>
                    </a:p>
                  </a:txBody>
                  <a:tcPr/>
                </a:tc>
                <a:extLst>
                  <a:ext uri="{0D108BD9-81ED-4DB2-BD59-A6C34878D82A}">
                    <a16:rowId xmlns:a16="http://schemas.microsoft.com/office/drawing/2014/main" val="1150201656"/>
                  </a:ext>
                </a:extLst>
              </a:tr>
              <a:tr h="370840">
                <a:tc>
                  <a:txBody>
                    <a:bodyPr/>
                    <a:lstStyle/>
                    <a:p>
                      <a:pPr algn="just"/>
                      <a:r>
                        <a:rPr lang="en-US" sz="3600" b="1" dirty="0"/>
                        <a:t>Imperfect information</a:t>
                      </a:r>
                      <a:endParaRPr lang="en-ID" sz="3600" b="1" dirty="0"/>
                    </a:p>
                  </a:txBody>
                  <a:tcPr/>
                </a:tc>
                <a:tc>
                  <a:txBody>
                    <a:bodyPr/>
                    <a:lstStyle/>
                    <a:p>
                      <a:pPr algn="just"/>
                      <a:r>
                        <a:rPr lang="en-US" sz="3600" dirty="0"/>
                        <a:t>Battleship, blind tic tac toe</a:t>
                      </a:r>
                      <a:endParaRPr lang="en-ID" sz="3600" dirty="0"/>
                    </a:p>
                  </a:txBody>
                  <a:tcPr/>
                </a:tc>
                <a:tc>
                  <a:txBody>
                    <a:bodyPr/>
                    <a:lstStyle/>
                    <a:p>
                      <a:pPr algn="just"/>
                      <a:r>
                        <a:rPr lang="en-US" sz="3600" dirty="0"/>
                        <a:t>Bridge, poker, scrabble</a:t>
                      </a:r>
                      <a:endParaRPr lang="en-ID" sz="3600" dirty="0"/>
                    </a:p>
                  </a:txBody>
                  <a:tcPr/>
                </a:tc>
                <a:extLst>
                  <a:ext uri="{0D108BD9-81ED-4DB2-BD59-A6C34878D82A}">
                    <a16:rowId xmlns:a16="http://schemas.microsoft.com/office/drawing/2014/main" val="3856193946"/>
                  </a:ext>
                </a:extLst>
              </a:tr>
            </a:tbl>
          </a:graphicData>
        </a:graphic>
      </p:graphicFrame>
      <p:sp>
        <p:nvSpPr>
          <p:cNvPr id="11" name="Title 1">
            <a:extLst>
              <a:ext uri="{FF2B5EF4-FFF2-40B4-BE49-F238E27FC236}">
                <a16:creationId xmlns:a16="http://schemas.microsoft.com/office/drawing/2014/main" id="{B25F13C9-E1F4-E051-BB8E-5A5B56568874}"/>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Introduction</a:t>
            </a:r>
          </a:p>
        </p:txBody>
      </p:sp>
      <p:sp>
        <p:nvSpPr>
          <p:cNvPr id="12" name="Text Placeholder 2">
            <a:extLst>
              <a:ext uri="{FF2B5EF4-FFF2-40B4-BE49-F238E27FC236}">
                <a16:creationId xmlns:a16="http://schemas.microsoft.com/office/drawing/2014/main" id="{68F2DD39-65CC-6F64-3FB9-D86589047643}"/>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a:t>Definition</a:t>
            </a:r>
            <a:endParaRPr lang="en-ID" dirty="0"/>
          </a:p>
        </p:txBody>
      </p:sp>
    </p:spTree>
    <p:extLst>
      <p:ext uri="{BB962C8B-B14F-4D97-AF65-F5344CB8AC3E}">
        <p14:creationId xmlns:p14="http://schemas.microsoft.com/office/powerpoint/2010/main" val="21301304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393993"/>
          </a:xfrm>
        </p:spPr>
        <p:txBody>
          <a:bodyPr>
            <a:normAutofit/>
          </a:bodyPr>
          <a:lstStyle/>
          <a:p>
            <a:pPr marL="1544638" indent="-685800" algn="just">
              <a:spcBef>
                <a:spcPts val="600"/>
              </a:spcBef>
            </a:pPr>
            <a:r>
              <a:rPr lang="en-US" sz="3600" dirty="0">
                <a:latin typeface="+mj-lt"/>
              </a:rPr>
              <a:t>Unpredictable” opponent </a:t>
            </a:r>
            <a:r>
              <a:rPr lang="en-US" sz="3600" dirty="0">
                <a:latin typeface="+mj-lt"/>
                <a:sym typeface="Wingdings" panose="05000000000000000000" pitchFamily="2" charset="2"/>
              </a:rPr>
              <a:t></a:t>
            </a:r>
            <a:r>
              <a:rPr lang="en-US" sz="3600" dirty="0">
                <a:latin typeface="+mj-lt"/>
              </a:rPr>
              <a:t> solution is a </a:t>
            </a:r>
            <a:r>
              <a:rPr lang="en-US" sz="3600" b="1" dirty="0">
                <a:solidFill>
                  <a:srgbClr val="92D050"/>
                </a:solidFill>
                <a:latin typeface="+mj-lt"/>
              </a:rPr>
              <a:t>strategy</a:t>
            </a:r>
            <a:r>
              <a:rPr lang="en-US" sz="3600" b="1" dirty="0">
                <a:solidFill>
                  <a:srgbClr val="00B0F0"/>
                </a:solidFill>
                <a:latin typeface="+mj-lt"/>
              </a:rPr>
              <a:t>/policy </a:t>
            </a:r>
          </a:p>
          <a:p>
            <a:pPr marL="1544638" indent="-685800" algn="just">
              <a:spcBef>
                <a:spcPts val="600"/>
              </a:spcBef>
            </a:pPr>
            <a:r>
              <a:rPr lang="en-US" sz="3600" dirty="0">
                <a:latin typeface="+mj-lt"/>
              </a:rPr>
              <a:t>specifying a move for every possible opponent reply </a:t>
            </a:r>
            <a:r>
              <a:rPr lang="en-US" sz="3600" dirty="0">
                <a:latin typeface="+mj-lt"/>
                <a:sym typeface="Wingdings" panose="05000000000000000000" pitchFamily="2" charset="2"/>
              </a:rPr>
              <a:t></a:t>
            </a:r>
            <a:r>
              <a:rPr lang="en-US" sz="3600" dirty="0">
                <a:latin typeface="+mj-lt"/>
              </a:rPr>
              <a:t> </a:t>
            </a:r>
            <a:r>
              <a:rPr lang="en-US" sz="3600" b="1" dirty="0">
                <a:solidFill>
                  <a:srgbClr val="00B0F0"/>
                </a:solidFill>
                <a:latin typeface="+mj-lt"/>
              </a:rPr>
              <a:t>contingency strategy</a:t>
            </a:r>
          </a:p>
          <a:p>
            <a:pPr marL="2168526" lvl="1" indent="-685800" algn="just">
              <a:spcBef>
                <a:spcPts val="600"/>
              </a:spcBef>
            </a:pPr>
            <a:endParaRPr lang="en-US" sz="3600" b="1" dirty="0">
              <a:solidFill>
                <a:srgbClr val="00B0F0"/>
              </a:solidFill>
              <a:latin typeface="+mj-lt"/>
            </a:endParaRPr>
          </a:p>
          <a:p>
            <a:pPr marL="1544638" indent="-685800" algn="just">
              <a:spcBef>
                <a:spcPts val="600"/>
              </a:spcBef>
            </a:pPr>
            <a:r>
              <a:rPr lang="en-US" sz="3600" b="1" dirty="0">
                <a:solidFill>
                  <a:srgbClr val="00B0F0"/>
                </a:solidFill>
                <a:latin typeface="+mj-lt"/>
              </a:rPr>
              <a:t>Optimal Strategy: </a:t>
            </a:r>
            <a:r>
              <a:rPr lang="en-US" sz="3600" dirty="0">
                <a:latin typeface="+mj-lt"/>
              </a:rPr>
              <a:t>the one that leads to outcomes at least as good as any other strategy when one is playing an </a:t>
            </a:r>
            <a:r>
              <a:rPr lang="en-US" sz="3600" dirty="0" err="1">
                <a:latin typeface="+mj-lt"/>
              </a:rPr>
              <a:t>infallibile</a:t>
            </a:r>
            <a:r>
              <a:rPr lang="en-US" sz="3600" dirty="0">
                <a:latin typeface="+mj-lt"/>
              </a:rPr>
              <a:t> opponent</a:t>
            </a:r>
          </a:p>
          <a:p>
            <a:pPr marL="1544638" indent="-685800" algn="just">
              <a:spcBef>
                <a:spcPts val="600"/>
              </a:spcBef>
            </a:pPr>
            <a:endParaRPr lang="en-US" sz="3600" dirty="0">
              <a:latin typeface="+mj-lt"/>
            </a:endParaRPr>
          </a:p>
          <a:p>
            <a:pPr marL="1544638" indent="-685800" algn="just">
              <a:spcBef>
                <a:spcPts val="600"/>
              </a:spcBef>
            </a:pPr>
            <a:r>
              <a:rPr lang="en-US" sz="3600" dirty="0">
                <a:latin typeface="+mj-lt"/>
              </a:rPr>
              <a:t>Search problem: </a:t>
            </a:r>
            <a:r>
              <a:rPr lang="en-US" sz="3600" b="1" dirty="0">
                <a:latin typeface="+mj-lt"/>
              </a:rPr>
              <a:t>game tree</a:t>
            </a:r>
          </a:p>
          <a:p>
            <a:pPr marL="2168526" lvl="1" indent="-685800" algn="just">
              <a:spcBef>
                <a:spcPts val="600"/>
              </a:spcBef>
            </a:pPr>
            <a:r>
              <a:rPr lang="en-US" sz="3600" dirty="0">
                <a:latin typeface="+mj-lt"/>
              </a:rPr>
              <a:t>Initial state</a:t>
            </a:r>
          </a:p>
          <a:p>
            <a:pPr marL="2168526" lvl="1" indent="-685800" algn="just">
              <a:spcBef>
                <a:spcPts val="600"/>
              </a:spcBef>
            </a:pPr>
            <a:r>
              <a:rPr lang="en-US" sz="3600" dirty="0">
                <a:latin typeface="+mj-lt"/>
              </a:rPr>
              <a:t>Successor function: game rules</a:t>
            </a:r>
          </a:p>
          <a:p>
            <a:pPr marL="2168526" lvl="1" indent="-685800" algn="just">
              <a:spcBef>
                <a:spcPts val="600"/>
              </a:spcBef>
            </a:pPr>
            <a:r>
              <a:rPr lang="en-US" sz="3600" dirty="0">
                <a:latin typeface="+mj-lt"/>
              </a:rPr>
              <a:t>Terminal test ( is the game over?)</a:t>
            </a:r>
          </a:p>
          <a:p>
            <a:pPr marL="2168526" lvl="1" indent="-685800" algn="just">
              <a:spcBef>
                <a:spcPts val="600"/>
              </a:spcBef>
            </a:pPr>
            <a:r>
              <a:rPr lang="en-US" sz="3600" dirty="0">
                <a:latin typeface="+mj-lt"/>
              </a:rPr>
              <a:t>Utility function, gives a value for terminal </a:t>
            </a:r>
            <a:r>
              <a:rPr lang="en-US" sz="3600" dirty="0" err="1">
                <a:latin typeface="+mj-lt"/>
              </a:rPr>
              <a:t>noded</a:t>
            </a:r>
            <a:r>
              <a:rPr lang="en-US" sz="3600" dirty="0">
                <a:latin typeface="+mj-lt"/>
              </a:rPr>
              <a:t> (</a:t>
            </a:r>
            <a:r>
              <a:rPr lang="en-US" sz="3600" dirty="0" err="1">
                <a:latin typeface="+mj-lt"/>
              </a:rPr>
              <a:t>eg</a:t>
            </a:r>
            <a:r>
              <a:rPr lang="en-US" sz="3600" dirty="0">
                <a:latin typeface="+mj-lt"/>
              </a:rPr>
              <a:t>, +1, -1, 0)</a:t>
            </a:r>
          </a:p>
          <a:p>
            <a:pPr marL="2168526" lvl="1" indent="-685800" algn="just">
              <a:spcBef>
                <a:spcPts val="600"/>
              </a:spcBef>
            </a:pPr>
            <a:endParaRPr lang="en-US" sz="3600" dirty="0">
              <a:latin typeface="+mj-lt"/>
            </a:endParaRPr>
          </a:p>
          <a:p>
            <a:pPr marL="1544638" indent="-685800" algn="just">
              <a:spcBef>
                <a:spcPts val="600"/>
              </a:spcBef>
            </a:pPr>
            <a:r>
              <a:rPr lang="en-US" sz="3600" dirty="0">
                <a:latin typeface="+mj-lt"/>
              </a:rPr>
              <a:t>Terminology:</a:t>
            </a:r>
          </a:p>
          <a:p>
            <a:pPr marL="2168526" lvl="1" indent="-685800" algn="just">
              <a:spcBef>
                <a:spcPts val="600"/>
              </a:spcBef>
            </a:pPr>
            <a:r>
              <a:rPr lang="en-US" sz="3600" dirty="0">
                <a:latin typeface="+mj-lt"/>
              </a:rPr>
              <a:t>Two players called </a:t>
            </a:r>
            <a:r>
              <a:rPr lang="en-US" sz="3600" b="1" dirty="0">
                <a:solidFill>
                  <a:srgbClr val="00B0F0"/>
                </a:solidFill>
                <a:latin typeface="+mj-lt"/>
              </a:rPr>
              <a:t>Max</a:t>
            </a:r>
            <a:r>
              <a:rPr lang="en-US" sz="3600" dirty="0">
                <a:latin typeface="+mj-lt"/>
              </a:rPr>
              <a:t> and </a:t>
            </a:r>
            <a:r>
              <a:rPr lang="en-US" sz="3600" b="1" dirty="0">
                <a:solidFill>
                  <a:srgbClr val="00B0F0"/>
                </a:solidFill>
                <a:latin typeface="+mj-lt"/>
              </a:rPr>
              <a:t>Min</a:t>
            </a:r>
          </a:p>
          <a:p>
            <a:pPr marL="2168526" lvl="1" indent="-685800" algn="just">
              <a:spcBef>
                <a:spcPts val="600"/>
              </a:spcBef>
            </a:pPr>
            <a:r>
              <a:rPr lang="en-US" sz="3600" b="1" dirty="0">
                <a:solidFill>
                  <a:srgbClr val="00B0F0"/>
                </a:solidFill>
                <a:latin typeface="+mj-lt"/>
              </a:rPr>
              <a:t>Max</a:t>
            </a:r>
            <a:r>
              <a:rPr lang="en-US" sz="3600" dirty="0">
                <a:latin typeface="+mj-lt"/>
              </a:rPr>
              <a:t> searches the game tree</a:t>
            </a:r>
          </a:p>
          <a:p>
            <a:pPr marL="2168526" lvl="1" indent="-685800" algn="just">
              <a:spcBef>
                <a:spcPts val="600"/>
              </a:spcBef>
            </a:pPr>
            <a:r>
              <a:rPr lang="en-US" sz="3600" b="1" dirty="0">
                <a:solidFill>
                  <a:srgbClr val="00B0F0"/>
                </a:solidFill>
                <a:latin typeface="+mj-lt"/>
              </a:rPr>
              <a:t>Ply</a:t>
            </a:r>
            <a:r>
              <a:rPr lang="en-US" sz="3600" dirty="0">
                <a:latin typeface="+mj-lt"/>
              </a:rPr>
              <a:t>: one turn (every player moves once)</a:t>
            </a:r>
          </a:p>
          <a:p>
            <a:pPr marL="858838" indent="0" algn="just">
              <a:spcBef>
                <a:spcPts val="600"/>
              </a:spcBef>
              <a:buNone/>
            </a:pPr>
            <a:endParaRPr lang="en-US" sz="4800" dirty="0">
              <a:latin typeface="+mj-lt"/>
            </a:endParaRPr>
          </a:p>
        </p:txBody>
      </p:sp>
      <p:sp>
        <p:nvSpPr>
          <p:cNvPr id="5" name="Title 1">
            <a:extLst>
              <a:ext uri="{FF2B5EF4-FFF2-40B4-BE49-F238E27FC236}">
                <a16:creationId xmlns:a16="http://schemas.microsoft.com/office/drawing/2014/main" id="{3555CA93-BF09-4E5C-0DF6-13C6FEF370B2}"/>
              </a:ext>
            </a:extLst>
          </p:cNvPr>
          <p:cNvSpPr txBox="1">
            <a:spLocks/>
          </p:cNvSpPr>
          <p:nvPr/>
        </p:nvSpPr>
        <p:spPr>
          <a:xfrm>
            <a:off x="3996177" y="927062"/>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Introduction</a:t>
            </a:r>
          </a:p>
        </p:txBody>
      </p:sp>
      <p:sp>
        <p:nvSpPr>
          <p:cNvPr id="6" name="Text Placeholder 2">
            <a:extLst>
              <a:ext uri="{FF2B5EF4-FFF2-40B4-BE49-F238E27FC236}">
                <a16:creationId xmlns:a16="http://schemas.microsoft.com/office/drawing/2014/main" id="{087A8C8F-BC16-41FA-0BFA-3355725F5813}"/>
              </a:ext>
            </a:extLst>
          </p:cNvPr>
          <p:cNvSpPr txBox="1">
            <a:spLocks/>
          </p:cNvSpPr>
          <p:nvPr/>
        </p:nvSpPr>
        <p:spPr>
          <a:xfrm>
            <a:off x="3996177" y="1474732"/>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Games vs search Problem</a:t>
            </a:r>
          </a:p>
        </p:txBody>
      </p:sp>
    </p:spTree>
    <p:extLst>
      <p:ext uri="{BB962C8B-B14F-4D97-AF65-F5344CB8AC3E}">
        <p14:creationId xmlns:p14="http://schemas.microsoft.com/office/powerpoint/2010/main" val="176740303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Judul 4">
            <a:extLst>
              <a:ext uri="{FF2B5EF4-FFF2-40B4-BE49-F238E27FC236}">
                <a16:creationId xmlns:a16="http://schemas.microsoft.com/office/drawing/2014/main" id="{C5B773AD-3131-DABC-0943-3C804025A808}"/>
              </a:ext>
            </a:extLst>
          </p:cNvPr>
          <p:cNvSpPr>
            <a:spLocks noGrp="1"/>
          </p:cNvSpPr>
          <p:nvPr>
            <p:ph type="title"/>
          </p:nvPr>
        </p:nvSpPr>
        <p:spPr/>
        <p:txBody>
          <a:bodyPr/>
          <a:lstStyle/>
          <a:p>
            <a:r>
              <a:rPr lang="en-US" dirty="0"/>
              <a:t>Minimax Algorithm</a:t>
            </a:r>
          </a:p>
        </p:txBody>
      </p:sp>
    </p:spTree>
    <p:extLst>
      <p:ext uri="{BB962C8B-B14F-4D97-AF65-F5344CB8AC3E}">
        <p14:creationId xmlns:p14="http://schemas.microsoft.com/office/powerpoint/2010/main" val="148341657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284480" y="2339987"/>
            <a:ext cx="23380929" cy="11393993"/>
          </a:xfrm>
        </p:spPr>
        <p:txBody>
          <a:bodyPr>
            <a:normAutofit/>
          </a:bodyPr>
          <a:lstStyle/>
          <a:p>
            <a:pPr marL="1544638" indent="-685800" algn="just">
              <a:spcBef>
                <a:spcPts val="600"/>
              </a:spcBef>
            </a:pPr>
            <a:r>
              <a:rPr lang="en-US" sz="4800" dirty="0">
                <a:latin typeface="+mj-lt"/>
              </a:rPr>
              <a:t>In a </a:t>
            </a:r>
            <a:r>
              <a:rPr lang="en-US" sz="4800" b="1" dirty="0">
                <a:solidFill>
                  <a:srgbClr val="00B0F0"/>
                </a:solidFill>
                <a:latin typeface="+mj-lt"/>
              </a:rPr>
              <a:t>normal search problem</a:t>
            </a:r>
            <a:r>
              <a:rPr lang="en-US" sz="4800" dirty="0">
                <a:latin typeface="+mj-lt"/>
              </a:rPr>
              <a:t>, the optimal solution would be a sequence of actions leading to a goal state​</a:t>
            </a:r>
          </a:p>
          <a:p>
            <a:pPr marL="1544638" indent="-685800" algn="just">
              <a:spcBef>
                <a:spcPts val="600"/>
              </a:spcBef>
            </a:pPr>
            <a:endParaRPr lang="en-US" sz="4800" dirty="0">
              <a:latin typeface="+mj-lt"/>
            </a:endParaRPr>
          </a:p>
          <a:p>
            <a:pPr marL="1544638" indent="-685800" algn="just">
              <a:spcBef>
                <a:spcPts val="600"/>
              </a:spcBef>
            </a:pPr>
            <a:r>
              <a:rPr lang="en-US" sz="4800" dirty="0">
                <a:latin typeface="+mj-lt"/>
              </a:rPr>
              <a:t>In </a:t>
            </a:r>
            <a:r>
              <a:rPr lang="en-US" sz="4800" b="1" dirty="0">
                <a:solidFill>
                  <a:srgbClr val="00B0F0"/>
                </a:solidFill>
                <a:latin typeface="+mj-lt"/>
              </a:rPr>
              <a:t>adversarial search</a:t>
            </a:r>
            <a:r>
              <a:rPr lang="en-US" sz="4800" dirty="0">
                <a:latin typeface="+mj-lt"/>
              </a:rPr>
              <a:t>, MIN has something so say about it​</a:t>
            </a:r>
          </a:p>
          <a:p>
            <a:pPr marL="1544638" indent="-685800" algn="just">
              <a:spcBef>
                <a:spcPts val="600"/>
              </a:spcBef>
            </a:pPr>
            <a:endParaRPr lang="en-US" sz="4800" dirty="0">
              <a:latin typeface="+mj-lt"/>
            </a:endParaRPr>
          </a:p>
          <a:p>
            <a:pPr marL="2168526" lvl="1" indent="-685800" algn="just">
              <a:spcBef>
                <a:spcPts val="600"/>
              </a:spcBef>
            </a:pPr>
            <a:r>
              <a:rPr lang="en-US" sz="4800" dirty="0">
                <a:latin typeface="+mj-lt"/>
              </a:rPr>
              <a:t>MAX must find a </a:t>
            </a:r>
            <a:r>
              <a:rPr lang="en-US" sz="4800" b="1" dirty="0">
                <a:solidFill>
                  <a:srgbClr val="00B0F0"/>
                </a:solidFill>
                <a:latin typeface="+mj-lt"/>
              </a:rPr>
              <a:t>contingent</a:t>
            </a:r>
            <a:r>
              <a:rPr lang="en-US" sz="4800" dirty="0">
                <a:latin typeface="+mj-lt"/>
              </a:rPr>
              <a:t> strategy​</a:t>
            </a:r>
          </a:p>
          <a:p>
            <a:pPr marL="1544638" indent="-685800" algn="just">
              <a:spcBef>
                <a:spcPts val="600"/>
              </a:spcBef>
            </a:pPr>
            <a:endParaRPr lang="en-US" sz="4800" dirty="0">
              <a:latin typeface="+mj-lt"/>
            </a:endParaRPr>
          </a:p>
          <a:p>
            <a:pPr marL="2168526" lvl="1" indent="-685800" algn="just">
              <a:spcBef>
                <a:spcPts val="600"/>
              </a:spcBef>
            </a:pPr>
            <a:r>
              <a:rPr lang="en-US" sz="4800" dirty="0">
                <a:latin typeface="+mj-lt"/>
              </a:rPr>
              <a:t>An optimal solution of MAX is the move that MIN has the worst of optimal solutions​</a:t>
            </a:r>
          </a:p>
          <a:p>
            <a:pPr marL="1544638" indent="-685800" algn="just">
              <a:spcBef>
                <a:spcPts val="600"/>
              </a:spcBef>
            </a:pPr>
            <a:endParaRPr lang="en-US" sz="4800" dirty="0">
              <a:latin typeface="+mj-lt"/>
            </a:endParaRPr>
          </a:p>
          <a:p>
            <a:pPr marL="1544638" indent="-685800" algn="just">
              <a:spcBef>
                <a:spcPts val="600"/>
              </a:spcBef>
            </a:pPr>
            <a:r>
              <a:rPr lang="en-US" sz="4800" dirty="0">
                <a:latin typeface="+mj-lt"/>
              </a:rPr>
              <a:t>This </a:t>
            </a:r>
            <a:r>
              <a:rPr lang="en-US" sz="4800" b="1" dirty="0">
                <a:solidFill>
                  <a:srgbClr val="00B0F0"/>
                </a:solidFill>
                <a:latin typeface="+mj-lt"/>
              </a:rPr>
              <a:t>definition of optimal play </a:t>
            </a:r>
            <a:r>
              <a:rPr lang="en-US" sz="4800" dirty="0">
                <a:latin typeface="+mj-lt"/>
              </a:rPr>
              <a:t>for MAX assumes that MIN also plays optimally—it maximizes the worst-case outcome for MAX.​</a:t>
            </a:r>
          </a:p>
          <a:p>
            <a:pPr marL="1544638" indent="-685800" algn="just">
              <a:spcBef>
                <a:spcPts val="600"/>
              </a:spcBef>
            </a:pPr>
            <a:endParaRPr lang="en-US" sz="4800" dirty="0">
              <a:latin typeface="+mj-lt"/>
            </a:endParaRPr>
          </a:p>
          <a:p>
            <a:pPr marL="858838" indent="0" algn="just">
              <a:spcBef>
                <a:spcPts val="600"/>
              </a:spcBef>
              <a:buNone/>
            </a:pPr>
            <a:endParaRPr lang="en-US" sz="4800" dirty="0">
              <a:latin typeface="+mj-lt"/>
            </a:endParaRPr>
          </a:p>
        </p:txBody>
      </p:sp>
      <p:sp>
        <p:nvSpPr>
          <p:cNvPr id="2" name="Title 1">
            <a:extLst>
              <a:ext uri="{FF2B5EF4-FFF2-40B4-BE49-F238E27FC236}">
                <a16:creationId xmlns:a16="http://schemas.microsoft.com/office/drawing/2014/main" id="{21943E99-C9FD-19C2-AC33-A001206EE3D3}"/>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3" name="Text Placeholder 2">
            <a:extLst>
              <a:ext uri="{FF2B5EF4-FFF2-40B4-BE49-F238E27FC236}">
                <a16:creationId xmlns:a16="http://schemas.microsoft.com/office/drawing/2014/main" id="{2F8A3E78-ED24-AC53-1DD1-69CD297B0646}"/>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Optimal decisions in game</a:t>
            </a:r>
          </a:p>
        </p:txBody>
      </p:sp>
    </p:spTree>
    <p:extLst>
      <p:ext uri="{BB962C8B-B14F-4D97-AF65-F5344CB8AC3E}">
        <p14:creationId xmlns:p14="http://schemas.microsoft.com/office/powerpoint/2010/main" val="285000219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393993"/>
          </a:xfrm>
        </p:spPr>
        <p:txBody>
          <a:bodyPr>
            <a:normAutofit/>
          </a:bodyPr>
          <a:lstStyle/>
          <a:p>
            <a:pPr marL="1544638" indent="-685800" algn="just">
              <a:spcBef>
                <a:spcPts val="600"/>
              </a:spcBef>
            </a:pPr>
            <a:r>
              <a:rPr lang="en-US" sz="4800" b="1" dirty="0">
                <a:solidFill>
                  <a:srgbClr val="00B0F0"/>
                </a:solidFill>
                <a:latin typeface="+mj-lt"/>
              </a:rPr>
              <a:t>Terminal positions</a:t>
            </a:r>
            <a:r>
              <a:rPr lang="en-US" sz="4800" dirty="0">
                <a:latin typeface="+mj-lt"/>
              </a:rPr>
              <a:t>, where MAX wins (score: +infinity) or MIN wins (score: -infinity). ​</a:t>
            </a:r>
          </a:p>
          <a:p>
            <a:pPr marL="2168526" lvl="1" indent="-685800" algn="just">
              <a:spcBef>
                <a:spcPts val="600"/>
              </a:spcBef>
            </a:pPr>
            <a:r>
              <a:rPr lang="en-US" sz="4800" dirty="0">
                <a:latin typeface="+mj-lt"/>
              </a:rPr>
              <a:t>The </a:t>
            </a:r>
            <a:r>
              <a:rPr lang="en-US" sz="4800" b="1" dirty="0">
                <a:solidFill>
                  <a:srgbClr val="00B0F0"/>
                </a:solidFill>
                <a:latin typeface="+mj-lt"/>
              </a:rPr>
              <a:t>ply of a node </a:t>
            </a:r>
            <a:r>
              <a:rPr lang="en-US" sz="4800" dirty="0">
                <a:latin typeface="+mj-lt"/>
              </a:rPr>
              <a:t>is the number of moves needed to reach that node (i.e. arcs from the root of the tree).​</a:t>
            </a:r>
          </a:p>
          <a:p>
            <a:pPr marL="2168526" lvl="1" indent="-685800" algn="just">
              <a:spcBef>
                <a:spcPts val="600"/>
              </a:spcBef>
            </a:pPr>
            <a:r>
              <a:rPr lang="en-US" sz="4800" dirty="0">
                <a:latin typeface="+mj-lt"/>
              </a:rPr>
              <a:t>The </a:t>
            </a:r>
            <a:r>
              <a:rPr lang="en-US" sz="4800" b="1" dirty="0">
                <a:solidFill>
                  <a:srgbClr val="00B0F0"/>
                </a:solidFill>
                <a:latin typeface="+mj-lt"/>
              </a:rPr>
              <a:t>ply of a tree </a:t>
            </a:r>
            <a:r>
              <a:rPr lang="en-US" sz="4800" dirty="0">
                <a:latin typeface="+mj-lt"/>
              </a:rPr>
              <a:t>is the maximum of the plies of its nodes (or layer of nodes).​</a:t>
            </a:r>
          </a:p>
          <a:p>
            <a:pPr marL="1544638" indent="-685800" algn="just">
              <a:spcBef>
                <a:spcPts val="600"/>
              </a:spcBef>
            </a:pPr>
            <a:endParaRPr lang="en-US" sz="4800" dirty="0">
              <a:latin typeface="+mj-lt"/>
            </a:endParaRPr>
          </a:p>
          <a:p>
            <a:pPr marL="1544638" indent="-685800" algn="just">
              <a:spcBef>
                <a:spcPts val="600"/>
              </a:spcBef>
            </a:pPr>
            <a:r>
              <a:rPr lang="en-US" sz="4800" dirty="0">
                <a:latin typeface="+mj-lt"/>
              </a:rPr>
              <a:t>​</a:t>
            </a:r>
          </a:p>
        </p:txBody>
      </p:sp>
      <p:sp>
        <p:nvSpPr>
          <p:cNvPr id="5" name="Title 1">
            <a:extLst>
              <a:ext uri="{FF2B5EF4-FFF2-40B4-BE49-F238E27FC236}">
                <a16:creationId xmlns:a16="http://schemas.microsoft.com/office/drawing/2014/main" id="{04609AB5-754E-CC72-4801-6A985284643C}"/>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C568E2C1-8898-53FC-F58A-74EA2365B00B}"/>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Optimal decisions in game</a:t>
            </a:r>
          </a:p>
        </p:txBody>
      </p:sp>
    </p:spTree>
    <p:extLst>
      <p:ext uri="{BB962C8B-B14F-4D97-AF65-F5344CB8AC3E}">
        <p14:creationId xmlns:p14="http://schemas.microsoft.com/office/powerpoint/2010/main" val="25370243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393993"/>
          </a:xfrm>
        </p:spPr>
        <p:txBody>
          <a:bodyPr>
            <a:normAutofit/>
          </a:bodyPr>
          <a:lstStyle/>
          <a:p>
            <a:pPr marL="1544638" indent="-685800" algn="just"/>
            <a:r>
              <a:rPr lang="en-US" sz="4800" dirty="0">
                <a:latin typeface="+mj-lt"/>
              </a:rPr>
              <a:t>Considering</a:t>
            </a:r>
            <a:r>
              <a:rPr lang="en-US" sz="4800" b="1" dirty="0">
                <a:solidFill>
                  <a:srgbClr val="00B0F0"/>
                </a:solidFill>
                <a:latin typeface="+mj-lt"/>
              </a:rPr>
              <a:t> two-player</a:t>
            </a:r>
            <a:r>
              <a:rPr lang="en-US" sz="4800" dirty="0">
                <a:latin typeface="+mj-lt"/>
              </a:rPr>
              <a:t>, take turns and try respectively to maximize and minimize a scoring function and called MAX and MIN​</a:t>
            </a:r>
          </a:p>
          <a:p>
            <a:pPr marL="1544638" indent="-685800" algn="just"/>
            <a:endParaRPr lang="en-US" sz="4800" dirty="0">
              <a:latin typeface="+mj-lt"/>
            </a:endParaRPr>
          </a:p>
          <a:p>
            <a:pPr marL="1544638" indent="-685800" algn="just"/>
            <a:r>
              <a:rPr lang="en-US" sz="4800" dirty="0">
                <a:latin typeface="+mj-lt"/>
              </a:rPr>
              <a:t>We assume that the MAX player makes the first move​</a:t>
            </a:r>
          </a:p>
          <a:p>
            <a:pPr marL="1544638" indent="-685800" algn="just"/>
            <a:endParaRPr lang="en-US" sz="4800" dirty="0">
              <a:latin typeface="+mj-lt"/>
            </a:endParaRPr>
          </a:p>
          <a:p>
            <a:pPr marL="1544638" indent="-685800" algn="just"/>
            <a:r>
              <a:rPr lang="en-US" sz="4800" dirty="0">
                <a:latin typeface="+mj-lt"/>
              </a:rPr>
              <a:t>Represented the game as a </a:t>
            </a:r>
            <a:r>
              <a:rPr lang="en-US" sz="4800" b="1" dirty="0">
                <a:solidFill>
                  <a:srgbClr val="00B0F0"/>
                </a:solidFill>
                <a:latin typeface="+mj-lt"/>
              </a:rPr>
              <a:t>tree</a:t>
            </a:r>
            <a:r>
              <a:rPr lang="en-US" sz="4800" dirty="0">
                <a:latin typeface="+mj-lt"/>
              </a:rPr>
              <a:t> where the nodes represent the current position and the arcs represent moves​</a:t>
            </a:r>
          </a:p>
          <a:p>
            <a:pPr marL="1544638" indent="-685800" algn="just"/>
            <a:endParaRPr lang="en-US" sz="4800" dirty="0">
              <a:latin typeface="+mj-lt"/>
            </a:endParaRPr>
          </a:p>
          <a:p>
            <a:pPr marL="1544638" indent="-685800" algn="just"/>
            <a:r>
              <a:rPr lang="en-US" sz="4800" dirty="0">
                <a:latin typeface="+mj-lt"/>
              </a:rPr>
              <a:t>Since players take turns, successive nodes represent positions where different players must move​</a:t>
            </a:r>
          </a:p>
          <a:p>
            <a:pPr marL="1544638" indent="-685800" algn="just"/>
            <a:endParaRPr lang="en-US" sz="4800" dirty="0">
              <a:latin typeface="+mj-lt"/>
            </a:endParaRPr>
          </a:p>
          <a:p>
            <a:pPr marL="858838" indent="0" algn="just">
              <a:buNone/>
            </a:pPr>
            <a:endParaRPr lang="en-US" sz="4800" dirty="0">
              <a:latin typeface="+mj-lt"/>
            </a:endParaRPr>
          </a:p>
        </p:txBody>
      </p:sp>
      <p:sp>
        <p:nvSpPr>
          <p:cNvPr id="4" name="Title 1">
            <a:extLst>
              <a:ext uri="{FF2B5EF4-FFF2-40B4-BE49-F238E27FC236}">
                <a16:creationId xmlns:a16="http://schemas.microsoft.com/office/drawing/2014/main" id="{1FA9018E-E268-0F79-1ECE-2B4746EBC56B}"/>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5" name="Text Placeholder 2">
            <a:extLst>
              <a:ext uri="{FF2B5EF4-FFF2-40B4-BE49-F238E27FC236}">
                <a16:creationId xmlns:a16="http://schemas.microsoft.com/office/drawing/2014/main" id="{94713C7E-D482-B3C1-8D7A-D75CF5D6D6A9}"/>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The algorithm</a:t>
            </a:r>
          </a:p>
        </p:txBody>
      </p:sp>
    </p:spTree>
    <p:extLst>
      <p:ext uri="{BB962C8B-B14F-4D97-AF65-F5344CB8AC3E}">
        <p14:creationId xmlns:p14="http://schemas.microsoft.com/office/powerpoint/2010/main" val="372380533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393993"/>
          </a:xfrm>
        </p:spPr>
        <p:txBody>
          <a:bodyPr>
            <a:normAutofit/>
          </a:bodyPr>
          <a:lstStyle/>
          <a:p>
            <a:pPr marL="1544638" indent="-685800" algn="just"/>
            <a:r>
              <a:rPr lang="en-US" sz="4800" dirty="0">
                <a:latin typeface="+mj-lt"/>
              </a:rPr>
              <a:t>The </a:t>
            </a:r>
            <a:r>
              <a:rPr lang="en-US" sz="4800" b="1" dirty="0">
                <a:solidFill>
                  <a:srgbClr val="00B0F0"/>
                </a:solidFill>
                <a:latin typeface="+mj-lt"/>
              </a:rPr>
              <a:t>Minimax game strategy </a:t>
            </a:r>
            <a:r>
              <a:rPr lang="en-US" sz="4800" dirty="0">
                <a:latin typeface="+mj-lt"/>
              </a:rPr>
              <a:t>for the MAX (MIN) player is to select the move that leads to the successor node with the highest (lowest) score. ​</a:t>
            </a:r>
          </a:p>
          <a:p>
            <a:pPr marL="2747963" lvl="2" indent="-685800" algn="just"/>
            <a:r>
              <a:rPr lang="en-US" sz="4800" dirty="0">
                <a:latin typeface="+mj-lt"/>
              </a:rPr>
              <a:t>The scores are computed starting from the leaves of the tree and backing up their scores to their predecessor in accordance with the Minimax strategy. ​</a:t>
            </a:r>
          </a:p>
          <a:p>
            <a:pPr marL="1544638" indent="-685800" algn="just"/>
            <a:endParaRPr lang="en-US" sz="4800" dirty="0">
              <a:latin typeface="+mj-lt"/>
            </a:endParaRPr>
          </a:p>
          <a:p>
            <a:pPr marL="1544638" indent="-685800" algn="just"/>
            <a:r>
              <a:rPr lang="en-US" sz="4800" dirty="0">
                <a:latin typeface="+mj-lt"/>
              </a:rPr>
              <a:t>​</a:t>
            </a:r>
          </a:p>
        </p:txBody>
      </p:sp>
      <p:sp>
        <p:nvSpPr>
          <p:cNvPr id="4" name="Title 1">
            <a:extLst>
              <a:ext uri="{FF2B5EF4-FFF2-40B4-BE49-F238E27FC236}">
                <a16:creationId xmlns:a16="http://schemas.microsoft.com/office/drawing/2014/main" id="{CEA31E22-DAE5-EBC7-1FC0-508D1D584986}"/>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5" name="Text Placeholder 2">
            <a:extLst>
              <a:ext uri="{FF2B5EF4-FFF2-40B4-BE49-F238E27FC236}">
                <a16:creationId xmlns:a16="http://schemas.microsoft.com/office/drawing/2014/main" id="{25F063E8-4146-0B2E-F2BE-A175F415D4B5}"/>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The algorithm</a:t>
            </a:r>
          </a:p>
        </p:txBody>
      </p:sp>
    </p:spTree>
    <p:extLst>
      <p:ext uri="{BB962C8B-B14F-4D97-AF65-F5344CB8AC3E}">
        <p14:creationId xmlns:p14="http://schemas.microsoft.com/office/powerpoint/2010/main" val="28217394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393993"/>
          </a:xfrm>
        </p:spPr>
        <p:txBody>
          <a:bodyPr>
            <a:normAutofit/>
          </a:bodyPr>
          <a:lstStyle/>
          <a:p>
            <a:pPr marL="1544638" indent="-685800" algn="just"/>
            <a:r>
              <a:rPr lang="en-US" sz="4800" b="1" dirty="0">
                <a:latin typeface="+mj-lt"/>
              </a:rPr>
              <a:t>Basic Idea: </a:t>
            </a:r>
            <a:r>
              <a:rPr lang="en-US" sz="4800" dirty="0">
                <a:latin typeface="+mj-lt"/>
              </a:rPr>
              <a:t>choose move with highest minimax value​ = best achievable payoff against best play​</a:t>
            </a:r>
          </a:p>
          <a:p>
            <a:pPr marL="1544638" indent="-685800" algn="just"/>
            <a:endParaRPr lang="en-US" sz="4800" dirty="0">
              <a:latin typeface="+mj-lt"/>
            </a:endParaRPr>
          </a:p>
          <a:p>
            <a:pPr marL="1544638" indent="-685800" algn="just"/>
            <a:r>
              <a:rPr lang="en-US" sz="4800" b="1" dirty="0">
                <a:latin typeface="+mj-lt"/>
              </a:rPr>
              <a:t>Algorithm: ​</a:t>
            </a:r>
          </a:p>
          <a:p>
            <a:pPr marL="2168526" lvl="1" indent="-685800" algn="just"/>
            <a:r>
              <a:rPr lang="en-US" sz="4800" dirty="0">
                <a:latin typeface="+mj-lt"/>
              </a:rPr>
              <a:t>Generate game tree completely​</a:t>
            </a:r>
          </a:p>
          <a:p>
            <a:pPr marL="2168526" lvl="1" indent="-685800" algn="just"/>
            <a:r>
              <a:rPr lang="en-US" sz="4800" dirty="0">
                <a:latin typeface="+mj-lt"/>
              </a:rPr>
              <a:t>Determine utility of each terminal state​</a:t>
            </a:r>
          </a:p>
          <a:p>
            <a:pPr marL="2168526" lvl="1" indent="-685800" algn="just"/>
            <a:r>
              <a:rPr lang="en-US" sz="4800" dirty="0">
                <a:latin typeface="+mj-lt"/>
              </a:rPr>
              <a:t>Propagate the utility values upward in the three by applying MIN and MAX operators on the nodes in the current level​</a:t>
            </a:r>
          </a:p>
          <a:p>
            <a:pPr marL="2168526" lvl="1" indent="-685800" algn="just"/>
            <a:r>
              <a:rPr lang="en-US" sz="4800" dirty="0">
                <a:latin typeface="+mj-lt"/>
              </a:rPr>
              <a:t>At the root node use </a:t>
            </a:r>
            <a:r>
              <a:rPr lang="en-US" sz="4800" b="1" dirty="0">
                <a:solidFill>
                  <a:srgbClr val="00B0F0"/>
                </a:solidFill>
                <a:latin typeface="+mj-lt"/>
              </a:rPr>
              <a:t>minimax decision </a:t>
            </a:r>
            <a:r>
              <a:rPr lang="en-US" sz="4800" dirty="0">
                <a:latin typeface="+mj-lt"/>
              </a:rPr>
              <a:t>to select the move with the max (of the min) utility value​</a:t>
            </a:r>
          </a:p>
        </p:txBody>
      </p:sp>
      <p:sp>
        <p:nvSpPr>
          <p:cNvPr id="4" name="Title 1">
            <a:extLst>
              <a:ext uri="{FF2B5EF4-FFF2-40B4-BE49-F238E27FC236}">
                <a16:creationId xmlns:a16="http://schemas.microsoft.com/office/drawing/2014/main" id="{A684F1C9-3670-220E-1A2C-CF323D9B6D53}"/>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5" name="Text Placeholder 2">
            <a:extLst>
              <a:ext uri="{FF2B5EF4-FFF2-40B4-BE49-F238E27FC236}">
                <a16:creationId xmlns:a16="http://schemas.microsoft.com/office/drawing/2014/main" id="{B6BDDA01-59C6-C149-AAAE-B9FF5BC9D261}"/>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The algorithm</a:t>
            </a:r>
          </a:p>
        </p:txBody>
      </p:sp>
    </p:spTree>
    <p:extLst>
      <p:ext uri="{BB962C8B-B14F-4D97-AF65-F5344CB8AC3E}">
        <p14:creationId xmlns:p14="http://schemas.microsoft.com/office/powerpoint/2010/main" val="412616829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62C9A-EADD-D669-3E13-03F7287D2EFA}"/>
              </a:ext>
            </a:extLst>
          </p:cNvPr>
          <p:cNvSpPr>
            <a:spLocks noGrp="1"/>
          </p:cNvSpPr>
          <p:nvPr>
            <p:ph sz="quarter" idx="11"/>
          </p:nvPr>
        </p:nvSpPr>
        <p:spPr/>
        <p:txBody>
          <a:bodyPr/>
          <a:lstStyle/>
          <a:p>
            <a:endParaRPr lang="en-ID"/>
          </a:p>
        </p:txBody>
      </p:sp>
      <p:pic>
        <p:nvPicPr>
          <p:cNvPr id="1026" name="Picture 2">
            <a:extLst>
              <a:ext uri="{FF2B5EF4-FFF2-40B4-BE49-F238E27FC236}">
                <a16:creationId xmlns:a16="http://schemas.microsoft.com/office/drawing/2014/main" id="{8B926383-240F-F83E-C5D4-09528380F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0017" y="2754190"/>
            <a:ext cx="17310589" cy="1042426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9F90CF46-9F7E-C09A-47A3-7D3ED3485F65}"/>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BF365BDA-A86D-48C6-7C9C-037B78C722FA}"/>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The algorithm</a:t>
            </a:r>
          </a:p>
        </p:txBody>
      </p:sp>
    </p:spTree>
    <p:extLst>
      <p:ext uri="{BB962C8B-B14F-4D97-AF65-F5344CB8AC3E}">
        <p14:creationId xmlns:p14="http://schemas.microsoft.com/office/powerpoint/2010/main" val="319803463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62C9A-EADD-D669-3E13-03F7287D2EFA}"/>
              </a:ext>
            </a:extLst>
          </p:cNvPr>
          <p:cNvSpPr>
            <a:spLocks noGrp="1"/>
          </p:cNvSpPr>
          <p:nvPr>
            <p:ph sz="quarter" idx="11"/>
          </p:nvPr>
        </p:nvSpPr>
        <p:spPr/>
        <p:txBody>
          <a:bodyPr/>
          <a:lstStyle/>
          <a:p>
            <a:endParaRPr lang="en-ID"/>
          </a:p>
        </p:txBody>
      </p:sp>
      <p:pic>
        <p:nvPicPr>
          <p:cNvPr id="2050" name="Picture 2">
            <a:extLst>
              <a:ext uri="{FF2B5EF4-FFF2-40B4-BE49-F238E27FC236}">
                <a16:creationId xmlns:a16="http://schemas.microsoft.com/office/drawing/2014/main" id="{4EB79DFB-9652-FEFA-D783-464081FC5F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130" y="2473280"/>
            <a:ext cx="15246024" cy="1096119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C987284F-0B7E-AA19-B924-4C4550323AF4}"/>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85A7C479-C6B6-B491-43B2-0037B37EF97B}"/>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The algorithm</a:t>
            </a:r>
          </a:p>
        </p:txBody>
      </p:sp>
    </p:spTree>
    <p:extLst>
      <p:ext uri="{BB962C8B-B14F-4D97-AF65-F5344CB8AC3E}">
        <p14:creationId xmlns:p14="http://schemas.microsoft.com/office/powerpoint/2010/main" val="35100132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62C9A-EADD-D669-3E13-03F7287D2EFA}"/>
              </a:ext>
            </a:extLst>
          </p:cNvPr>
          <p:cNvSpPr>
            <a:spLocks noGrp="1"/>
          </p:cNvSpPr>
          <p:nvPr>
            <p:ph sz="quarter" idx="11"/>
          </p:nvPr>
        </p:nvSpPr>
        <p:spPr>
          <a:xfrm>
            <a:off x="2146749" y="2638124"/>
            <a:ext cx="13714940" cy="4522264"/>
          </a:xfrm>
        </p:spPr>
        <p:txBody>
          <a:bodyPr>
            <a:normAutofit/>
          </a:bodyPr>
          <a:lstStyle/>
          <a:p>
            <a:r>
              <a:rPr lang="en-US" sz="4000" dirty="0">
                <a:latin typeface="+mj-lt"/>
              </a:rPr>
              <a:t>Example: Generate game tree</a:t>
            </a:r>
            <a:endParaRPr lang="en-ID" sz="4000" dirty="0">
              <a:latin typeface="+mj-lt"/>
            </a:endParaRPr>
          </a:p>
        </p:txBody>
      </p:sp>
      <p:pic>
        <p:nvPicPr>
          <p:cNvPr id="3074" name="Picture 2">
            <a:extLst>
              <a:ext uri="{FF2B5EF4-FFF2-40B4-BE49-F238E27FC236}">
                <a16:creationId xmlns:a16="http://schemas.microsoft.com/office/drawing/2014/main" id="{AAE2D815-17B2-006F-D69A-23EE35D53B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1296" y="4198805"/>
            <a:ext cx="7339378" cy="531839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38181F90-35F2-B817-A812-1DC4460CF5E8}"/>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C3899D82-64FA-FE85-3457-8AA4E3B129A1}"/>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165586972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62C9A-EADD-D669-3E13-03F7287D2EFA}"/>
              </a:ext>
            </a:extLst>
          </p:cNvPr>
          <p:cNvSpPr>
            <a:spLocks noGrp="1"/>
          </p:cNvSpPr>
          <p:nvPr>
            <p:ph sz="quarter" idx="11"/>
          </p:nvPr>
        </p:nvSpPr>
        <p:spPr>
          <a:xfrm>
            <a:off x="2146749" y="2638124"/>
            <a:ext cx="13714940" cy="4522264"/>
          </a:xfrm>
        </p:spPr>
        <p:txBody>
          <a:bodyPr>
            <a:normAutofit/>
          </a:bodyPr>
          <a:lstStyle/>
          <a:p>
            <a:r>
              <a:rPr lang="en-US" sz="4000" dirty="0">
                <a:latin typeface="+mj-lt"/>
              </a:rPr>
              <a:t>Example: Generate game tree</a:t>
            </a:r>
            <a:endParaRPr lang="en-ID" sz="4000" dirty="0">
              <a:latin typeface="+mj-lt"/>
            </a:endParaRPr>
          </a:p>
        </p:txBody>
      </p:sp>
      <p:pic>
        <p:nvPicPr>
          <p:cNvPr id="4098" name="Picture 2">
            <a:extLst>
              <a:ext uri="{FF2B5EF4-FFF2-40B4-BE49-F238E27FC236}">
                <a16:creationId xmlns:a16="http://schemas.microsoft.com/office/drawing/2014/main" id="{A240C4CD-16B3-48C4-389B-9EEBB4AE8B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1679" y="4204707"/>
            <a:ext cx="11377821" cy="452226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7BA0A194-9F6C-B856-4E1B-A065059F26D9}"/>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3B8C431E-0566-484C-244E-0F0049335244}"/>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176315797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62C9A-EADD-D669-3E13-03F7287D2EFA}"/>
              </a:ext>
            </a:extLst>
          </p:cNvPr>
          <p:cNvSpPr>
            <a:spLocks noGrp="1"/>
          </p:cNvSpPr>
          <p:nvPr>
            <p:ph sz="quarter" idx="11"/>
          </p:nvPr>
        </p:nvSpPr>
        <p:spPr>
          <a:xfrm>
            <a:off x="2146749" y="2638124"/>
            <a:ext cx="13714940" cy="4522264"/>
          </a:xfrm>
        </p:spPr>
        <p:txBody>
          <a:bodyPr>
            <a:normAutofit/>
          </a:bodyPr>
          <a:lstStyle/>
          <a:p>
            <a:r>
              <a:rPr lang="en-US" sz="4000" dirty="0">
                <a:latin typeface="+mj-lt"/>
              </a:rPr>
              <a:t>Example: Generate game tree</a:t>
            </a:r>
            <a:endParaRPr lang="en-ID" sz="4000" dirty="0">
              <a:latin typeface="+mj-lt"/>
            </a:endParaRPr>
          </a:p>
        </p:txBody>
      </p:sp>
      <p:pic>
        <p:nvPicPr>
          <p:cNvPr id="5122" name="Picture 2">
            <a:extLst>
              <a:ext uri="{FF2B5EF4-FFF2-40B4-BE49-F238E27FC236}">
                <a16:creationId xmlns:a16="http://schemas.microsoft.com/office/drawing/2014/main" id="{F4E7C92C-BEC7-8987-6CDA-08A548007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1349" y="3606428"/>
            <a:ext cx="10052904" cy="943476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2514B5DB-3D06-DF3A-EFD2-C491C9F59893}"/>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3A91F32B-E99F-B171-1F64-7C7E9F784332}"/>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34975817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62C9A-EADD-D669-3E13-03F7287D2EFA}"/>
              </a:ext>
            </a:extLst>
          </p:cNvPr>
          <p:cNvSpPr>
            <a:spLocks noGrp="1"/>
          </p:cNvSpPr>
          <p:nvPr>
            <p:ph sz="quarter" idx="11"/>
          </p:nvPr>
        </p:nvSpPr>
        <p:spPr>
          <a:xfrm>
            <a:off x="2146749" y="2638124"/>
            <a:ext cx="13714940" cy="4522264"/>
          </a:xfrm>
        </p:spPr>
        <p:txBody>
          <a:bodyPr>
            <a:normAutofit/>
          </a:bodyPr>
          <a:lstStyle/>
          <a:p>
            <a:r>
              <a:rPr lang="en-US" sz="4000" dirty="0">
                <a:latin typeface="+mj-lt"/>
              </a:rPr>
              <a:t>Example: Generate game tree</a:t>
            </a:r>
            <a:endParaRPr lang="en-ID" sz="4000" dirty="0">
              <a:latin typeface="+mj-lt"/>
            </a:endParaRPr>
          </a:p>
        </p:txBody>
      </p:sp>
      <p:pic>
        <p:nvPicPr>
          <p:cNvPr id="6146" name="Picture 2">
            <a:extLst>
              <a:ext uri="{FF2B5EF4-FFF2-40B4-BE49-F238E27FC236}">
                <a16:creationId xmlns:a16="http://schemas.microsoft.com/office/drawing/2014/main" id="{6405E4A1-750C-DCB2-A980-C9DA64DB8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391" y="3943349"/>
            <a:ext cx="12063778" cy="8665531"/>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1D42EF7E-3BB4-C03E-2AC7-A92793638A0B}"/>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D6F9D819-CE5F-F174-75A8-24812F0F67B8}"/>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280992685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62C9A-EADD-D669-3E13-03F7287D2EFA}"/>
              </a:ext>
            </a:extLst>
          </p:cNvPr>
          <p:cNvSpPr>
            <a:spLocks noGrp="1"/>
          </p:cNvSpPr>
          <p:nvPr>
            <p:ph sz="quarter" idx="11"/>
          </p:nvPr>
        </p:nvSpPr>
        <p:spPr>
          <a:xfrm>
            <a:off x="2146749" y="2638124"/>
            <a:ext cx="13714940" cy="4522264"/>
          </a:xfrm>
        </p:spPr>
        <p:txBody>
          <a:bodyPr>
            <a:normAutofit/>
          </a:bodyPr>
          <a:lstStyle/>
          <a:p>
            <a:r>
              <a:rPr lang="en-US" sz="4000" dirty="0">
                <a:latin typeface="+mj-lt"/>
              </a:rPr>
              <a:t>Example: A sub tree of a game tree​</a:t>
            </a:r>
            <a:endParaRPr lang="en-ID" sz="4000" dirty="0">
              <a:latin typeface="+mj-lt"/>
            </a:endParaRPr>
          </a:p>
        </p:txBody>
      </p:sp>
      <p:pic>
        <p:nvPicPr>
          <p:cNvPr id="7170" name="Picture 2">
            <a:extLst>
              <a:ext uri="{FF2B5EF4-FFF2-40B4-BE49-F238E27FC236}">
                <a16:creationId xmlns:a16="http://schemas.microsoft.com/office/drawing/2014/main" id="{C6D08777-AF7B-C2B6-C0A1-D0DA898182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7187" y="3712550"/>
            <a:ext cx="10909625" cy="8850051"/>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8D605177-9D1B-8FA2-E595-8E4C8214A95B}"/>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52D7E235-A472-763B-F0D7-3A62EB170DC3}"/>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428835693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62C9A-EADD-D669-3E13-03F7287D2EFA}"/>
              </a:ext>
            </a:extLst>
          </p:cNvPr>
          <p:cNvSpPr>
            <a:spLocks noGrp="1"/>
          </p:cNvSpPr>
          <p:nvPr>
            <p:ph sz="quarter" idx="11"/>
          </p:nvPr>
        </p:nvSpPr>
        <p:spPr>
          <a:xfrm>
            <a:off x="2146749" y="2638124"/>
            <a:ext cx="13714940" cy="4522264"/>
          </a:xfrm>
        </p:spPr>
        <p:txBody>
          <a:bodyPr>
            <a:normAutofit/>
          </a:bodyPr>
          <a:lstStyle/>
          <a:p>
            <a:r>
              <a:rPr lang="en-US" sz="4000" dirty="0">
                <a:latin typeface="+mj-lt"/>
              </a:rPr>
              <a:t>Example: A sub tree of a game tree​</a:t>
            </a:r>
            <a:endParaRPr lang="en-ID" sz="4000" dirty="0">
              <a:latin typeface="+mj-lt"/>
            </a:endParaRPr>
          </a:p>
        </p:txBody>
      </p:sp>
      <p:pic>
        <p:nvPicPr>
          <p:cNvPr id="8194" name="Picture 2">
            <a:extLst>
              <a:ext uri="{FF2B5EF4-FFF2-40B4-BE49-F238E27FC236}">
                <a16:creationId xmlns:a16="http://schemas.microsoft.com/office/drawing/2014/main" id="{23392FD4-E998-AB3E-D9ED-923CEF0CDE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2235" y="3578077"/>
            <a:ext cx="12743351" cy="938346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AB7036E4-C0DC-F13F-EE71-EFFAA5E044A0}"/>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Minimax Algorithm</a:t>
            </a:r>
          </a:p>
        </p:txBody>
      </p:sp>
      <p:sp>
        <p:nvSpPr>
          <p:cNvPr id="6" name="Text Placeholder 2">
            <a:extLst>
              <a:ext uri="{FF2B5EF4-FFF2-40B4-BE49-F238E27FC236}">
                <a16:creationId xmlns:a16="http://schemas.microsoft.com/office/drawing/2014/main" id="{FE49F080-5BDE-685C-F671-77334611071A}"/>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13504593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Judul 4">
            <a:extLst>
              <a:ext uri="{FF2B5EF4-FFF2-40B4-BE49-F238E27FC236}">
                <a16:creationId xmlns:a16="http://schemas.microsoft.com/office/drawing/2014/main" id="{C5B773AD-3131-DABC-0943-3C804025A808}"/>
              </a:ext>
            </a:extLst>
          </p:cNvPr>
          <p:cNvSpPr>
            <a:spLocks noGrp="1"/>
          </p:cNvSpPr>
          <p:nvPr>
            <p:ph type="title"/>
          </p:nvPr>
        </p:nvSpPr>
        <p:spPr/>
        <p:txBody>
          <a:bodyPr/>
          <a:lstStyle/>
          <a:p>
            <a:r>
              <a:rPr lang="en-US" dirty="0"/>
              <a:t>Alpha-Beta Pruning</a:t>
            </a:r>
          </a:p>
        </p:txBody>
      </p:sp>
    </p:spTree>
    <p:extLst>
      <p:ext uri="{BB962C8B-B14F-4D97-AF65-F5344CB8AC3E}">
        <p14:creationId xmlns:p14="http://schemas.microsoft.com/office/powerpoint/2010/main" val="26036311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501535" y="2557980"/>
                <a:ext cx="23380929" cy="11393993"/>
              </a:xfrm>
            </p:spPr>
            <p:txBody>
              <a:bodyPr>
                <a:normAutofit/>
              </a:bodyPr>
              <a:lstStyle/>
              <a:p>
                <a:pPr marL="1544638" indent="-685800" algn="just"/>
                <a:r>
                  <a:rPr lang="en-US" sz="4800" b="1" dirty="0">
                    <a:solidFill>
                      <a:srgbClr val="00B0F0"/>
                    </a:solidFill>
                    <a:latin typeface="+mj-lt"/>
                  </a:rPr>
                  <a:t>Pruning</a:t>
                </a:r>
                <a:r>
                  <a:rPr lang="en-US" sz="4800" dirty="0">
                    <a:latin typeface="+mj-lt"/>
                  </a:rPr>
                  <a:t>: eliminating a branch of the search tree from consideration without exhaustive examination of each node​</a:t>
                </a:r>
              </a:p>
              <a:p>
                <a:pPr marL="1544638" indent="-685800" algn="just"/>
                <a14:m>
                  <m:oMath xmlns:m="http://schemas.openxmlformats.org/officeDocument/2006/math">
                    <m:r>
                      <a:rPr lang="en-US" sz="4800" b="1" i="1" smtClean="0">
                        <a:solidFill>
                          <a:srgbClr val="00B0F0"/>
                        </a:solidFill>
                        <a:latin typeface="Cambria Math" panose="02040503050406030204" pitchFamily="18" charset="0"/>
                      </a:rPr>
                      <m:t>𝜶</m:t>
                    </m:r>
                    <m:r>
                      <a:rPr lang="en-US" sz="4800" b="1" i="1" smtClean="0">
                        <a:solidFill>
                          <a:srgbClr val="00B0F0"/>
                        </a:solidFill>
                        <a:latin typeface="Cambria Math" panose="02040503050406030204" pitchFamily="18" charset="0"/>
                      </a:rPr>
                      <m:t>−</m:t>
                    </m:r>
                    <m:r>
                      <a:rPr lang="en-US" sz="4800" b="1" i="1" smtClean="0">
                        <a:solidFill>
                          <a:srgbClr val="00B0F0"/>
                        </a:solidFill>
                        <a:latin typeface="Cambria Math" panose="02040503050406030204" pitchFamily="18" charset="0"/>
                      </a:rPr>
                      <m:t>𝜷</m:t>
                    </m:r>
                  </m:oMath>
                </a14:m>
                <a:r>
                  <a:rPr lang="en-US" sz="4800" b="1" dirty="0">
                    <a:solidFill>
                      <a:srgbClr val="00B0F0"/>
                    </a:solidFill>
                    <a:latin typeface="+mj-lt"/>
                  </a:rPr>
                  <a:t> pruning</a:t>
                </a:r>
                <a:r>
                  <a:rPr lang="en-US" sz="4800" dirty="0">
                    <a:latin typeface="+mj-lt"/>
                  </a:rPr>
                  <a:t>: the basic idea is to prune portions of the search tree that cannot improve the utility value of the max or min node, by just considering the values of nodes seen so far​</a:t>
                </a:r>
              </a:p>
              <a:p>
                <a:pPr marL="1544638" indent="-685800" algn="just"/>
                <a14:m>
                  <m:oMath xmlns:m="http://schemas.openxmlformats.org/officeDocument/2006/math">
                    <m:r>
                      <a:rPr lang="en-US" sz="4800" b="0" i="1" smtClean="0">
                        <a:solidFill>
                          <a:srgbClr val="00B0F0"/>
                        </a:solidFill>
                        <a:latin typeface="Cambria Math" panose="02040503050406030204" pitchFamily="18" charset="0"/>
                      </a:rPr>
                      <m:t>𝛼</m:t>
                    </m:r>
                  </m:oMath>
                </a14:m>
                <a:r>
                  <a:rPr lang="en-US" sz="4800" dirty="0">
                    <a:solidFill>
                      <a:srgbClr val="00B0F0"/>
                    </a:solidFill>
                    <a:latin typeface="+mj-lt"/>
                  </a:rPr>
                  <a:t> = highest-value</a:t>
                </a:r>
                <a:r>
                  <a:rPr lang="en-US" sz="4800" dirty="0">
                    <a:latin typeface="+mj-lt"/>
                  </a:rPr>
                  <a:t>, choice point along the path for MAX​</a:t>
                </a:r>
              </a:p>
              <a:p>
                <a:pPr marL="1544638" indent="-685800" algn="just"/>
                <a14:m>
                  <m:oMath xmlns:m="http://schemas.openxmlformats.org/officeDocument/2006/math">
                    <m:r>
                      <a:rPr lang="en-US" sz="4800" b="0" i="1" smtClean="0">
                        <a:solidFill>
                          <a:srgbClr val="00B0F0"/>
                        </a:solidFill>
                        <a:latin typeface="Cambria Math" panose="02040503050406030204" pitchFamily="18" charset="0"/>
                      </a:rPr>
                      <m:t>𝛽</m:t>
                    </m:r>
                  </m:oMath>
                </a14:m>
                <a:r>
                  <a:rPr lang="en-US" sz="4800" dirty="0">
                    <a:solidFill>
                      <a:srgbClr val="00B0F0"/>
                    </a:solidFill>
                    <a:latin typeface="+mj-lt"/>
                  </a:rPr>
                  <a:t> = lowest-value</a:t>
                </a:r>
                <a:r>
                  <a:rPr lang="en-US" sz="4800" dirty="0">
                    <a:latin typeface="+mj-lt"/>
                  </a:rPr>
                  <a:t>, choice point along the path for MIN​</a:t>
                </a:r>
              </a:p>
              <a:p>
                <a:pPr marL="1544638" indent="-685800" algn="just"/>
                <a:endParaRPr lang="en-US" sz="4800" dirty="0">
                  <a:latin typeface="+mj-lt"/>
                </a:endParaRPr>
              </a:p>
              <a:p>
                <a:pPr marL="1544638" indent="-685800" algn="just"/>
                <a:r>
                  <a:rPr lang="en-US" sz="4800" dirty="0">
                    <a:latin typeface="+mj-lt"/>
                  </a:rPr>
                  <a:t>​</a:t>
                </a:r>
                <a:endParaRPr lang="en-US" sz="6000" b="1" dirty="0">
                  <a:solidFill>
                    <a:srgbClr val="FF0000"/>
                  </a:solidFill>
                  <a:latin typeface="+mj-lt"/>
                </a:endParaRPr>
              </a:p>
            </p:txBody>
          </p:sp>
        </mc:Choice>
        <mc:Fallback xmlns="">
          <p:sp>
            <p:nvSpPr>
              <p:cNvPr id="15" name="Tampungan Konten 14">
                <a:extLst>
                  <a:ext uri="{FF2B5EF4-FFF2-40B4-BE49-F238E27FC236}">
                    <a16:creationId xmlns:a16="http://schemas.microsoft.com/office/drawing/2014/main" id="{FC0F9715-3361-3A3E-A4CD-86B721291623}"/>
                  </a:ext>
                </a:extLst>
              </p:cNvPr>
              <p:cNvSpPr>
                <a:spLocks noGrp="1" noRot="1" noChangeAspect="1" noMove="1" noResize="1" noEditPoints="1" noAdjustHandles="1" noChangeArrowheads="1" noChangeShapeType="1" noTextEdit="1"/>
              </p:cNvSpPr>
              <p:nvPr>
                <p:ph sz="quarter" idx="11"/>
              </p:nvPr>
            </p:nvSpPr>
            <p:spPr>
              <a:xfrm>
                <a:off x="501535" y="2557980"/>
                <a:ext cx="23380929" cy="11393993"/>
              </a:xfrm>
              <a:blipFill>
                <a:blip r:embed="rId2"/>
                <a:stretch>
                  <a:fillRect t="-3799" r="-1356"/>
                </a:stretch>
              </a:blipFill>
            </p:spPr>
            <p:txBody>
              <a:bodyPr/>
              <a:lstStyle/>
              <a:p>
                <a:r>
                  <a:rPr lang="en-ID">
                    <a:noFill/>
                  </a:rPr>
                  <a:t> </a:t>
                </a:r>
              </a:p>
            </p:txBody>
          </p:sp>
        </mc:Fallback>
      </mc:AlternateContent>
      <p:sp>
        <p:nvSpPr>
          <p:cNvPr id="4" name="Title 1">
            <a:extLst>
              <a:ext uri="{FF2B5EF4-FFF2-40B4-BE49-F238E27FC236}">
                <a16:creationId xmlns:a16="http://schemas.microsoft.com/office/drawing/2014/main" id="{8C27102A-9226-F4A4-A512-458F3D38A2C2}"/>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Alpha Beta Pruning</a:t>
            </a:r>
          </a:p>
        </p:txBody>
      </p:sp>
      <p:sp>
        <p:nvSpPr>
          <p:cNvPr id="5" name="Text Placeholder 2">
            <a:extLst>
              <a:ext uri="{FF2B5EF4-FFF2-40B4-BE49-F238E27FC236}">
                <a16:creationId xmlns:a16="http://schemas.microsoft.com/office/drawing/2014/main" id="{4CB16382-78A5-2099-6272-0132A273E21D}"/>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Definition</a:t>
            </a:r>
          </a:p>
        </p:txBody>
      </p:sp>
    </p:spTree>
    <p:extLst>
      <p:ext uri="{BB962C8B-B14F-4D97-AF65-F5344CB8AC3E}">
        <p14:creationId xmlns:p14="http://schemas.microsoft.com/office/powerpoint/2010/main" val="257932425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CDC35761-35C1-4D62-7C90-0F208AD89EDA}"/>
              </a:ext>
            </a:extLst>
          </p:cNvPr>
          <p:cNvGrpSpPr/>
          <p:nvPr/>
        </p:nvGrpSpPr>
        <p:grpSpPr>
          <a:xfrm>
            <a:off x="1785970" y="2746801"/>
            <a:ext cx="9538521" cy="8065772"/>
            <a:chOff x="914400" y="1447800"/>
            <a:chExt cx="4908092" cy="3697038"/>
          </a:xfrm>
        </p:grpSpPr>
        <p:sp>
          <p:nvSpPr>
            <p:cNvPr id="42" name="AutoShape 5">
              <a:extLst>
                <a:ext uri="{FF2B5EF4-FFF2-40B4-BE49-F238E27FC236}">
                  <a16:creationId xmlns:a16="http://schemas.microsoft.com/office/drawing/2014/main" id="{29F8F6A5-B1B4-1EEA-17C2-DEB79B1E4232}"/>
                </a:ext>
              </a:extLst>
            </p:cNvPr>
            <p:cNvSpPr>
              <a:spLocks noChangeArrowheads="1"/>
            </p:cNvSpPr>
            <p:nvPr/>
          </p:nvSpPr>
          <p:spPr bwMode="auto">
            <a:xfrm>
              <a:off x="4884738" y="1489075"/>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ahoma" pitchFamily="34" charset="0"/>
                <a:cs typeface="Tahoma" pitchFamily="34" charset="0"/>
              </a:endParaRPr>
            </a:p>
          </p:txBody>
        </p:sp>
        <p:sp>
          <p:nvSpPr>
            <p:cNvPr id="43" name="AutoShape 6">
              <a:extLst>
                <a:ext uri="{FF2B5EF4-FFF2-40B4-BE49-F238E27FC236}">
                  <a16:creationId xmlns:a16="http://schemas.microsoft.com/office/drawing/2014/main" id="{7F555A14-D373-8FA0-B356-3E8E58AD2A94}"/>
                </a:ext>
              </a:extLst>
            </p:cNvPr>
            <p:cNvSpPr>
              <a:spLocks noChangeArrowheads="1"/>
            </p:cNvSpPr>
            <p:nvPr/>
          </p:nvSpPr>
          <p:spPr bwMode="auto">
            <a:xfrm>
              <a:off x="2457450" y="4343400"/>
              <a:ext cx="457200" cy="457200"/>
            </a:xfrm>
            <a:prstGeom prst="triangle">
              <a:avLst>
                <a:gd name="adj" fmla="val 50000"/>
              </a:avLst>
            </a:prstGeom>
            <a:solidFill>
              <a:srgbClr val="DDDDDD"/>
            </a:solidFill>
            <a:ln w="2857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ahoma" pitchFamily="34" charset="0"/>
                <a:cs typeface="Tahoma" pitchFamily="34" charset="0"/>
              </a:endParaRPr>
            </a:p>
          </p:txBody>
        </p:sp>
        <p:sp>
          <p:nvSpPr>
            <p:cNvPr id="44" name="AutoShape 7">
              <a:extLst>
                <a:ext uri="{FF2B5EF4-FFF2-40B4-BE49-F238E27FC236}">
                  <a16:creationId xmlns:a16="http://schemas.microsoft.com/office/drawing/2014/main" id="{28688AB1-23E3-B91D-38AC-69F1D4BC6DE2}"/>
                </a:ext>
              </a:extLst>
            </p:cNvPr>
            <p:cNvSpPr>
              <a:spLocks noChangeArrowheads="1"/>
            </p:cNvSpPr>
            <p:nvPr/>
          </p:nvSpPr>
          <p:spPr bwMode="auto">
            <a:xfrm>
              <a:off x="3124200" y="4343400"/>
              <a:ext cx="457200" cy="457200"/>
            </a:xfrm>
            <a:prstGeom prst="triangle">
              <a:avLst>
                <a:gd name="adj" fmla="val 50000"/>
              </a:avLst>
            </a:prstGeom>
            <a:solidFill>
              <a:srgbClr val="DDDDDD"/>
            </a:solidFill>
            <a:ln w="2857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ahoma" pitchFamily="34" charset="0"/>
                <a:cs typeface="Tahoma" pitchFamily="34" charset="0"/>
              </a:endParaRPr>
            </a:p>
          </p:txBody>
        </p:sp>
        <p:sp>
          <p:nvSpPr>
            <p:cNvPr id="45" name="AutoShape 8">
              <a:extLst>
                <a:ext uri="{FF2B5EF4-FFF2-40B4-BE49-F238E27FC236}">
                  <a16:creationId xmlns:a16="http://schemas.microsoft.com/office/drawing/2014/main" id="{112079C8-E6CB-C818-D06E-17987A8A3807}"/>
                </a:ext>
              </a:extLst>
            </p:cNvPr>
            <p:cNvSpPr>
              <a:spLocks noChangeArrowheads="1"/>
            </p:cNvSpPr>
            <p:nvPr/>
          </p:nvSpPr>
          <p:spPr bwMode="auto">
            <a:xfrm>
              <a:off x="1828800" y="4343400"/>
              <a:ext cx="457200" cy="457200"/>
            </a:xfrm>
            <a:prstGeom prst="triangle">
              <a:avLst>
                <a:gd name="adj" fmla="val 50000"/>
              </a:avLst>
            </a:prstGeom>
            <a:solidFill>
              <a:srgbClr val="DDDDDD"/>
            </a:solidFill>
            <a:ln w="2857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ahoma" pitchFamily="34" charset="0"/>
                <a:cs typeface="Tahoma" pitchFamily="34" charset="0"/>
              </a:endParaRPr>
            </a:p>
          </p:txBody>
        </p:sp>
        <p:sp>
          <p:nvSpPr>
            <p:cNvPr id="46" name="AutoShape 9">
              <a:extLst>
                <a:ext uri="{FF2B5EF4-FFF2-40B4-BE49-F238E27FC236}">
                  <a16:creationId xmlns:a16="http://schemas.microsoft.com/office/drawing/2014/main" id="{481AF729-728A-7048-115C-F04BF088368B}"/>
                </a:ext>
              </a:extLst>
            </p:cNvPr>
            <p:cNvSpPr>
              <a:spLocks noChangeArrowheads="1"/>
            </p:cNvSpPr>
            <p:nvPr/>
          </p:nvSpPr>
          <p:spPr bwMode="auto">
            <a:xfrm flipV="1">
              <a:off x="2457450" y="2895600"/>
              <a:ext cx="457200" cy="457200"/>
            </a:xfrm>
            <a:prstGeom prst="triangle">
              <a:avLst>
                <a:gd name="adj" fmla="val 50000"/>
              </a:avLst>
            </a:prstGeom>
            <a:solidFill>
              <a:srgbClr val="DDDDDD"/>
            </a:solidFill>
            <a:ln w="2857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ahoma" pitchFamily="34" charset="0"/>
                <a:cs typeface="Tahoma" pitchFamily="34" charset="0"/>
              </a:endParaRPr>
            </a:p>
          </p:txBody>
        </p:sp>
        <p:cxnSp>
          <p:nvCxnSpPr>
            <p:cNvPr id="47" name="AutoShape 10">
              <a:extLst>
                <a:ext uri="{FF2B5EF4-FFF2-40B4-BE49-F238E27FC236}">
                  <a16:creationId xmlns:a16="http://schemas.microsoft.com/office/drawing/2014/main" id="{75047AD7-8BA7-4EE3-70B8-D0D1733FEAD7}"/>
                </a:ext>
              </a:extLst>
            </p:cNvPr>
            <p:cNvCxnSpPr>
              <a:cxnSpLocks noChangeShapeType="1"/>
              <a:stCxn id="45" idx="3"/>
              <a:endCxn id="49" idx="3"/>
            </p:cNvCxnSpPr>
            <p:nvPr/>
          </p:nvCxnSpPr>
          <p:spPr bwMode="auto">
            <a:xfrm flipH="1">
              <a:off x="2684463" y="1946275"/>
              <a:ext cx="2428875" cy="935038"/>
            </a:xfrm>
            <a:prstGeom prst="straightConnector1">
              <a:avLst/>
            </a:prstGeom>
            <a:noFill/>
            <a:ln w="28575">
              <a:solidFill>
                <a:schemeClr val="tx1"/>
              </a:solidFill>
              <a:round/>
              <a:headEnd/>
              <a:tailEnd/>
            </a:ln>
          </p:spPr>
        </p:cxnSp>
        <p:cxnSp>
          <p:nvCxnSpPr>
            <p:cNvPr id="48" name="AutoShape 11">
              <a:extLst>
                <a:ext uri="{FF2B5EF4-FFF2-40B4-BE49-F238E27FC236}">
                  <a16:creationId xmlns:a16="http://schemas.microsoft.com/office/drawing/2014/main" id="{292FC609-EF30-97F1-F544-6E9937CCED3E}"/>
                </a:ext>
              </a:extLst>
            </p:cNvPr>
            <p:cNvCxnSpPr>
              <a:cxnSpLocks noChangeShapeType="1"/>
              <a:stCxn id="49" idx="0"/>
              <a:endCxn id="48" idx="0"/>
            </p:cNvCxnSpPr>
            <p:nvPr/>
          </p:nvCxnSpPr>
          <p:spPr bwMode="auto">
            <a:xfrm flipH="1">
              <a:off x="2057400" y="3367088"/>
              <a:ext cx="627063" cy="962025"/>
            </a:xfrm>
            <a:prstGeom prst="straightConnector1">
              <a:avLst/>
            </a:prstGeom>
            <a:noFill/>
            <a:ln w="28575">
              <a:solidFill>
                <a:schemeClr val="tx1"/>
              </a:solidFill>
              <a:round/>
              <a:headEnd/>
              <a:tailEnd/>
            </a:ln>
          </p:spPr>
        </p:cxnSp>
        <p:cxnSp>
          <p:nvCxnSpPr>
            <p:cNvPr id="49" name="AutoShape 12">
              <a:extLst>
                <a:ext uri="{FF2B5EF4-FFF2-40B4-BE49-F238E27FC236}">
                  <a16:creationId xmlns:a16="http://schemas.microsoft.com/office/drawing/2014/main" id="{82281FFD-176B-F2BD-DE6F-074AAF242A4D}"/>
                </a:ext>
              </a:extLst>
            </p:cNvPr>
            <p:cNvCxnSpPr>
              <a:cxnSpLocks noChangeShapeType="1"/>
              <a:stCxn id="49" idx="0"/>
              <a:endCxn id="46" idx="0"/>
            </p:cNvCxnSpPr>
            <p:nvPr/>
          </p:nvCxnSpPr>
          <p:spPr bwMode="auto">
            <a:xfrm>
              <a:off x="2684463" y="3367088"/>
              <a:ext cx="1587" cy="962025"/>
            </a:xfrm>
            <a:prstGeom prst="straightConnector1">
              <a:avLst/>
            </a:prstGeom>
            <a:noFill/>
            <a:ln w="28575">
              <a:solidFill>
                <a:schemeClr val="tx1"/>
              </a:solidFill>
              <a:round/>
              <a:headEnd/>
              <a:tailEnd/>
            </a:ln>
          </p:spPr>
        </p:cxnSp>
        <p:cxnSp>
          <p:nvCxnSpPr>
            <p:cNvPr id="50" name="AutoShape 13">
              <a:extLst>
                <a:ext uri="{FF2B5EF4-FFF2-40B4-BE49-F238E27FC236}">
                  <a16:creationId xmlns:a16="http://schemas.microsoft.com/office/drawing/2014/main" id="{921651A3-A8E0-BB2A-8897-057EA1B5FAE1}"/>
                </a:ext>
              </a:extLst>
            </p:cNvPr>
            <p:cNvCxnSpPr>
              <a:cxnSpLocks noChangeShapeType="1"/>
              <a:stCxn id="49" idx="0"/>
              <a:endCxn id="47" idx="0"/>
            </p:cNvCxnSpPr>
            <p:nvPr/>
          </p:nvCxnSpPr>
          <p:spPr bwMode="auto">
            <a:xfrm>
              <a:off x="2684463" y="3367088"/>
              <a:ext cx="668337" cy="962025"/>
            </a:xfrm>
            <a:prstGeom prst="straightConnector1">
              <a:avLst/>
            </a:prstGeom>
            <a:noFill/>
            <a:ln w="28575">
              <a:solidFill>
                <a:schemeClr val="tx1"/>
              </a:solidFill>
              <a:round/>
              <a:headEnd/>
              <a:tailEnd/>
            </a:ln>
          </p:spPr>
        </p:cxnSp>
        <p:sp>
          <p:nvSpPr>
            <p:cNvPr id="51" name="Text Box 14">
              <a:extLst>
                <a:ext uri="{FF2B5EF4-FFF2-40B4-BE49-F238E27FC236}">
                  <a16:creationId xmlns:a16="http://schemas.microsoft.com/office/drawing/2014/main" id="{5F6683DB-28B6-B5E4-F930-551BFF825A5C}"/>
                </a:ext>
              </a:extLst>
            </p:cNvPr>
            <p:cNvSpPr txBox="1">
              <a:spLocks noChangeArrowheads="1"/>
            </p:cNvSpPr>
            <p:nvPr/>
          </p:nvSpPr>
          <p:spPr bwMode="auto">
            <a:xfrm>
              <a:off x="5410200" y="1447800"/>
              <a:ext cx="412292" cy="276999"/>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dirty="0">
                  <a:latin typeface="Tahoma" pitchFamily="34" charset="0"/>
                  <a:cs typeface="Tahoma" pitchFamily="34" charset="0"/>
                  <a:sym typeface="Symbol" pitchFamily="18" charset="2"/>
                </a:rPr>
                <a:t> 6</a:t>
              </a:r>
              <a:endParaRPr lang="en-US" sz="3200" b="1" dirty="0">
                <a:latin typeface="Tahoma" pitchFamily="34" charset="0"/>
                <a:cs typeface="Tahoma" pitchFamily="34" charset="0"/>
              </a:endParaRPr>
            </a:p>
          </p:txBody>
        </p:sp>
        <p:sp>
          <p:nvSpPr>
            <p:cNvPr id="52" name="Text Box 16">
              <a:extLst>
                <a:ext uri="{FF2B5EF4-FFF2-40B4-BE49-F238E27FC236}">
                  <a16:creationId xmlns:a16="http://schemas.microsoft.com/office/drawing/2014/main" id="{301DBF2C-05DA-5267-5FB1-C9DC0B142717}"/>
                </a:ext>
              </a:extLst>
            </p:cNvPr>
            <p:cNvSpPr txBox="1">
              <a:spLocks noChangeArrowheads="1"/>
            </p:cNvSpPr>
            <p:nvPr/>
          </p:nvSpPr>
          <p:spPr bwMode="auto">
            <a:xfrm>
              <a:off x="2971800" y="2895600"/>
              <a:ext cx="229469" cy="268038"/>
            </a:xfrm>
            <a:prstGeom prst="rect">
              <a:avLst/>
            </a:prstGeom>
            <a:noFill/>
            <a:ln w="2857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dirty="0">
                  <a:latin typeface="Tahoma" pitchFamily="34" charset="0"/>
                  <a:cs typeface="Tahoma" pitchFamily="34" charset="0"/>
                  <a:sym typeface="Symbol" pitchFamily="18" charset="2"/>
                </a:rPr>
                <a:t>6</a:t>
              </a:r>
              <a:endParaRPr lang="en-US" sz="3200" b="1" dirty="0">
                <a:latin typeface="Tahoma" pitchFamily="34" charset="0"/>
                <a:cs typeface="Tahoma" pitchFamily="34" charset="0"/>
              </a:endParaRPr>
            </a:p>
          </p:txBody>
        </p:sp>
        <p:sp>
          <p:nvSpPr>
            <p:cNvPr id="53" name="Text Box 17">
              <a:extLst>
                <a:ext uri="{FF2B5EF4-FFF2-40B4-BE49-F238E27FC236}">
                  <a16:creationId xmlns:a16="http://schemas.microsoft.com/office/drawing/2014/main" id="{63D65A11-6CBA-0E9B-379A-5A52CCA6C79B}"/>
                </a:ext>
              </a:extLst>
            </p:cNvPr>
            <p:cNvSpPr txBox="1">
              <a:spLocks noChangeArrowheads="1"/>
            </p:cNvSpPr>
            <p:nvPr/>
          </p:nvSpPr>
          <p:spPr bwMode="auto">
            <a:xfrm>
              <a:off x="990600" y="1676400"/>
              <a:ext cx="534121" cy="276999"/>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latin typeface="Tahoma" pitchFamily="34" charset="0"/>
                  <a:cs typeface="Tahoma" pitchFamily="34" charset="0"/>
                  <a:sym typeface="Symbol" pitchFamily="18" charset="2"/>
                </a:rPr>
                <a:t>MAX</a:t>
              </a:r>
              <a:endParaRPr lang="en-US" b="1" dirty="0">
                <a:latin typeface="Tahoma" pitchFamily="34" charset="0"/>
                <a:cs typeface="Tahoma" pitchFamily="34" charset="0"/>
              </a:endParaRPr>
            </a:p>
          </p:txBody>
        </p:sp>
        <p:sp>
          <p:nvSpPr>
            <p:cNvPr id="54" name="Text Box 18">
              <a:extLst>
                <a:ext uri="{FF2B5EF4-FFF2-40B4-BE49-F238E27FC236}">
                  <a16:creationId xmlns:a16="http://schemas.microsoft.com/office/drawing/2014/main" id="{34C14786-D34D-C707-DF30-8AFD3F7077F2}"/>
                </a:ext>
              </a:extLst>
            </p:cNvPr>
            <p:cNvSpPr txBox="1">
              <a:spLocks noChangeArrowheads="1"/>
            </p:cNvSpPr>
            <p:nvPr/>
          </p:nvSpPr>
          <p:spPr bwMode="auto">
            <a:xfrm>
              <a:off x="1873250" y="4876800"/>
              <a:ext cx="229469" cy="268038"/>
            </a:xfrm>
            <a:prstGeom prst="rect">
              <a:avLst/>
            </a:prstGeom>
            <a:noFill/>
            <a:ln w="2857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latin typeface="Tahoma" pitchFamily="34" charset="0"/>
                  <a:cs typeface="Tahoma" pitchFamily="34" charset="0"/>
                  <a:sym typeface="Symbol" pitchFamily="18" charset="2"/>
                </a:rPr>
                <a:t>6</a:t>
              </a:r>
              <a:endParaRPr lang="en-US" sz="3200" b="1">
                <a:latin typeface="Tahoma" pitchFamily="34" charset="0"/>
                <a:cs typeface="Tahoma" pitchFamily="34" charset="0"/>
              </a:endParaRPr>
            </a:p>
          </p:txBody>
        </p:sp>
        <p:sp>
          <p:nvSpPr>
            <p:cNvPr id="55" name="Text Box 19">
              <a:extLst>
                <a:ext uri="{FF2B5EF4-FFF2-40B4-BE49-F238E27FC236}">
                  <a16:creationId xmlns:a16="http://schemas.microsoft.com/office/drawing/2014/main" id="{75ECD938-46BA-3BBF-E246-F3649C4A7528}"/>
                </a:ext>
              </a:extLst>
            </p:cNvPr>
            <p:cNvSpPr txBox="1">
              <a:spLocks noChangeArrowheads="1"/>
            </p:cNvSpPr>
            <p:nvPr/>
          </p:nvSpPr>
          <p:spPr bwMode="auto">
            <a:xfrm>
              <a:off x="2438400" y="4876800"/>
              <a:ext cx="363916" cy="268038"/>
            </a:xfrm>
            <a:prstGeom prst="rect">
              <a:avLst/>
            </a:prstGeom>
            <a:noFill/>
            <a:ln w="2857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latin typeface="Tahoma" pitchFamily="34" charset="0"/>
                  <a:cs typeface="Tahoma" pitchFamily="34" charset="0"/>
                  <a:sym typeface="Symbol" pitchFamily="18" charset="2"/>
                </a:rPr>
                <a:t>12</a:t>
              </a:r>
              <a:endParaRPr lang="en-US" sz="3200" b="1">
                <a:latin typeface="Tahoma" pitchFamily="34" charset="0"/>
                <a:cs typeface="Tahoma" pitchFamily="34" charset="0"/>
              </a:endParaRPr>
            </a:p>
          </p:txBody>
        </p:sp>
        <p:sp>
          <p:nvSpPr>
            <p:cNvPr id="56" name="Text Box 20">
              <a:extLst>
                <a:ext uri="{FF2B5EF4-FFF2-40B4-BE49-F238E27FC236}">
                  <a16:creationId xmlns:a16="http://schemas.microsoft.com/office/drawing/2014/main" id="{3244F1DD-331A-580D-100C-F5D59E537E3D}"/>
                </a:ext>
              </a:extLst>
            </p:cNvPr>
            <p:cNvSpPr txBox="1">
              <a:spLocks noChangeArrowheads="1"/>
            </p:cNvSpPr>
            <p:nvPr/>
          </p:nvSpPr>
          <p:spPr bwMode="auto">
            <a:xfrm>
              <a:off x="3200400" y="4876800"/>
              <a:ext cx="229469" cy="268038"/>
            </a:xfrm>
            <a:prstGeom prst="rect">
              <a:avLst/>
            </a:prstGeom>
            <a:noFill/>
            <a:ln w="2857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latin typeface="Tahoma" pitchFamily="34" charset="0"/>
                  <a:cs typeface="Tahoma" pitchFamily="34" charset="0"/>
                  <a:sym typeface="Symbol" pitchFamily="18" charset="2"/>
                </a:rPr>
                <a:t>8</a:t>
              </a:r>
              <a:endParaRPr lang="en-US" sz="3200" b="1">
                <a:latin typeface="Tahoma" pitchFamily="34" charset="0"/>
                <a:cs typeface="Tahoma" pitchFamily="34" charset="0"/>
              </a:endParaRPr>
            </a:p>
          </p:txBody>
        </p:sp>
        <p:sp>
          <p:nvSpPr>
            <p:cNvPr id="57" name="Text Box 56">
              <a:extLst>
                <a:ext uri="{FF2B5EF4-FFF2-40B4-BE49-F238E27FC236}">
                  <a16:creationId xmlns:a16="http://schemas.microsoft.com/office/drawing/2014/main" id="{3778B062-5A3D-DC3C-E0CF-E5072AC594CD}"/>
                </a:ext>
              </a:extLst>
            </p:cNvPr>
            <p:cNvSpPr txBox="1">
              <a:spLocks noChangeArrowheads="1"/>
            </p:cNvSpPr>
            <p:nvPr/>
          </p:nvSpPr>
          <p:spPr bwMode="auto">
            <a:xfrm>
              <a:off x="914400" y="2819400"/>
              <a:ext cx="514885" cy="276999"/>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latin typeface="Tahoma" pitchFamily="34" charset="0"/>
                  <a:cs typeface="Tahoma" pitchFamily="34" charset="0"/>
                  <a:sym typeface="Symbol" pitchFamily="18" charset="2"/>
                </a:rPr>
                <a:t>MIN</a:t>
              </a:r>
              <a:endParaRPr lang="en-US" b="1" dirty="0">
                <a:latin typeface="Tahoma" pitchFamily="34" charset="0"/>
                <a:cs typeface="Tahoma" pitchFamily="34" charset="0"/>
              </a:endParaRPr>
            </a:p>
          </p:txBody>
        </p:sp>
      </p:grpSp>
      <p:sp>
        <p:nvSpPr>
          <p:cNvPr id="58" name="TextBox 57">
            <a:extLst>
              <a:ext uri="{FF2B5EF4-FFF2-40B4-BE49-F238E27FC236}">
                <a16:creationId xmlns:a16="http://schemas.microsoft.com/office/drawing/2014/main" id="{1A266184-2A05-5906-CD19-E201290899D3}"/>
              </a:ext>
            </a:extLst>
          </p:cNvPr>
          <p:cNvSpPr txBox="1">
            <a:spLocks noChangeArrowheads="1"/>
          </p:cNvSpPr>
          <p:nvPr/>
        </p:nvSpPr>
        <p:spPr>
          <a:xfrm>
            <a:off x="13906500" y="6094116"/>
            <a:ext cx="5049086" cy="1371600"/>
          </a:xfrm>
          <a:prstGeom prst="rect">
            <a:avLst/>
          </a:prstGeom>
        </p:spPr>
        <p:txBody>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eaLnBrk="0" hangingPunct="0">
              <a:spcBef>
                <a:spcPct val="20000"/>
              </a:spcBef>
            </a:pPr>
            <a:r>
              <a:rPr lang="en-US" sz="4000" i="1" dirty="0">
                <a:latin typeface="Tahoma" pitchFamily="34" charset="0"/>
                <a:cs typeface="Tahoma" pitchFamily="34" charset="0"/>
                <a:sym typeface="Symbol" pitchFamily="18" charset="2"/>
              </a:rPr>
              <a:t> = </a:t>
            </a:r>
            <a:r>
              <a:rPr lang="en-US" sz="4000" dirty="0">
                <a:latin typeface="Tahoma" pitchFamily="34" charset="0"/>
                <a:cs typeface="Tahoma" pitchFamily="34" charset="0"/>
                <a:sym typeface="Symbol" pitchFamily="18" charset="2"/>
              </a:rPr>
              <a:t>highest value </a:t>
            </a:r>
          </a:p>
          <a:p>
            <a:pPr marL="342900" lvl="0" indent="-342900" eaLnBrk="0" hangingPunct="0">
              <a:spcBef>
                <a:spcPct val="20000"/>
              </a:spcBef>
            </a:pPr>
            <a:r>
              <a:rPr lang="en-US" sz="4000" i="1" dirty="0">
                <a:latin typeface="Tahoma" pitchFamily="34" charset="0"/>
                <a:cs typeface="Tahoma" pitchFamily="34" charset="0"/>
                <a:sym typeface="Symbol" pitchFamily="18" charset="2"/>
              </a:rPr>
              <a:t></a:t>
            </a:r>
            <a:r>
              <a:rPr lang="en-US" sz="4000" dirty="0">
                <a:latin typeface="Tahoma" pitchFamily="34" charset="0"/>
                <a:cs typeface="Tahoma" pitchFamily="34" charset="0"/>
              </a:rPr>
              <a:t> = lowest value</a:t>
            </a:r>
            <a:endParaRPr kumimoji="0" lang="en-US" sz="4000" b="1" i="0" u="none" strike="noStrike" kern="0" cap="none" spc="0" normalizeH="0" baseline="0" noProof="0" dirty="0">
              <a:ln>
                <a:noFill/>
              </a:ln>
              <a:solidFill>
                <a:schemeClr val="tx1"/>
              </a:solidFill>
              <a:effectLst/>
              <a:uLnTx/>
              <a:uFillTx/>
              <a:latin typeface="Tahoma" pitchFamily="34" charset="0"/>
              <a:cs typeface="Tahoma" pitchFamily="34" charset="0"/>
            </a:endParaRPr>
          </a:p>
        </p:txBody>
      </p:sp>
      <p:sp>
        <p:nvSpPr>
          <p:cNvPr id="3" name="Judul 2">
            <a:extLst>
              <a:ext uri="{FF2B5EF4-FFF2-40B4-BE49-F238E27FC236}">
                <a16:creationId xmlns:a16="http://schemas.microsoft.com/office/drawing/2014/main" id="{EB0C7FF0-C6AE-1CA7-7278-1015AFE4EEBF}"/>
              </a:ext>
            </a:extLst>
          </p:cNvPr>
          <p:cNvSpPr>
            <a:spLocks noGrp="1"/>
          </p:cNvSpPr>
          <p:nvPr>
            <p:ph type="title"/>
          </p:nvPr>
        </p:nvSpPr>
        <p:spPr/>
        <p:txBody>
          <a:bodyPr>
            <a:normAutofit fontScale="90000"/>
          </a:bodyPr>
          <a:lstStyle/>
          <a:p>
            <a:endParaRPr lang="en-US" dirty="0"/>
          </a:p>
        </p:txBody>
      </p:sp>
      <p:sp>
        <p:nvSpPr>
          <p:cNvPr id="4" name="Title 1">
            <a:extLst>
              <a:ext uri="{FF2B5EF4-FFF2-40B4-BE49-F238E27FC236}">
                <a16:creationId xmlns:a16="http://schemas.microsoft.com/office/drawing/2014/main" id="{AE6F0B50-2907-F224-DAA4-77D43545DE32}"/>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Alpha Beta Pruning</a:t>
            </a:r>
          </a:p>
        </p:txBody>
      </p:sp>
      <p:sp>
        <p:nvSpPr>
          <p:cNvPr id="5" name="Text Placeholder 2">
            <a:extLst>
              <a:ext uri="{FF2B5EF4-FFF2-40B4-BE49-F238E27FC236}">
                <a16:creationId xmlns:a16="http://schemas.microsoft.com/office/drawing/2014/main" id="{5AFC351B-B638-D86F-ABA5-4E0A9FEC81F8}"/>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Algorithm</a:t>
            </a:r>
          </a:p>
        </p:txBody>
      </p:sp>
    </p:spTree>
    <p:extLst>
      <p:ext uri="{BB962C8B-B14F-4D97-AF65-F5344CB8AC3E}">
        <p14:creationId xmlns:p14="http://schemas.microsoft.com/office/powerpoint/2010/main" val="320920726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1A266184-2A05-5906-CD19-E201290899D3}"/>
              </a:ext>
            </a:extLst>
          </p:cNvPr>
          <p:cNvSpPr txBox="1">
            <a:spLocks noChangeArrowheads="1"/>
          </p:cNvSpPr>
          <p:nvPr/>
        </p:nvSpPr>
        <p:spPr>
          <a:xfrm>
            <a:off x="13296900" y="3514934"/>
            <a:ext cx="8390792" cy="1371600"/>
          </a:xfrm>
          <a:prstGeom prst="rect">
            <a:avLst/>
          </a:prstGeom>
        </p:spPr>
        <p:txBody>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fontAlgn="base"/>
            <a:r>
              <a:rPr lang="en-ID" sz="4000" b="0" i="0" u="none" strike="noStrike" dirty="0">
                <a:solidFill>
                  <a:srgbClr val="000000"/>
                </a:solidFill>
                <a:effectLst/>
                <a:latin typeface="Calibri" panose="020F0502020204030204" pitchFamily="34" charset="0"/>
              </a:rPr>
              <a:t>Result = max(min(6,12,8),min(2,x,x))</a:t>
            </a:r>
            <a:r>
              <a:rPr lang="en-US" sz="4000" b="0" i="0" dirty="0">
                <a:solidFill>
                  <a:srgbClr val="000000"/>
                </a:solidFill>
                <a:effectLst/>
                <a:latin typeface="Calibri" panose="020F0502020204030204" pitchFamily="34" charset="0"/>
              </a:rPr>
              <a:t>​</a:t>
            </a:r>
            <a:endParaRPr lang="en-US" sz="4000" b="0" i="0" dirty="0">
              <a:solidFill>
                <a:srgbClr val="000000"/>
              </a:solidFill>
              <a:effectLst/>
              <a:latin typeface="Segoe UI" panose="020B0502040204020203" pitchFamily="34" charset="0"/>
            </a:endParaRPr>
          </a:p>
          <a:p>
            <a:pPr algn="l" rtl="0" fontAlgn="base"/>
            <a:r>
              <a:rPr lang="en-ID" sz="4000" b="0" i="0" u="none" strike="noStrike" dirty="0">
                <a:solidFill>
                  <a:srgbClr val="000000"/>
                </a:solidFill>
                <a:effectLst/>
                <a:latin typeface="Calibri" panose="020F0502020204030204" pitchFamily="34" charset="0"/>
              </a:rPr>
              <a:t>= max(12,min(2,x,x))</a:t>
            </a:r>
            <a:r>
              <a:rPr lang="en-US" sz="4000" b="0" i="0" dirty="0">
                <a:solidFill>
                  <a:srgbClr val="000000"/>
                </a:solidFill>
                <a:effectLst/>
                <a:latin typeface="Calibri" panose="020F0502020204030204" pitchFamily="34" charset="0"/>
              </a:rPr>
              <a:t>​</a:t>
            </a:r>
            <a:endParaRPr lang="en-US" sz="4000" b="0" i="0" dirty="0">
              <a:solidFill>
                <a:srgbClr val="000000"/>
              </a:solidFill>
              <a:effectLst/>
              <a:latin typeface="Segoe UI" panose="020B0502040204020203" pitchFamily="34" charset="0"/>
            </a:endParaRPr>
          </a:p>
          <a:p>
            <a:pPr algn="l" rtl="0" fontAlgn="base"/>
            <a:r>
              <a:rPr lang="en-ID" sz="4000" b="0" i="0" u="none" strike="noStrike" dirty="0">
                <a:solidFill>
                  <a:srgbClr val="000000"/>
                </a:solidFill>
                <a:effectLst/>
                <a:latin typeface="Calibri" panose="020F0502020204030204" pitchFamily="34" charset="0"/>
              </a:rPr>
              <a:t>= 12</a:t>
            </a:r>
            <a:r>
              <a:rPr lang="en-US" sz="4000" b="0" i="0" dirty="0">
                <a:solidFill>
                  <a:srgbClr val="000000"/>
                </a:solidFill>
                <a:effectLst/>
                <a:latin typeface="Calibri" panose="020F0502020204030204" pitchFamily="34" charset="0"/>
              </a:rPr>
              <a:t>​</a:t>
            </a:r>
            <a:endParaRPr lang="en-US" sz="4000" b="0" i="0" dirty="0">
              <a:solidFill>
                <a:srgbClr val="000000"/>
              </a:solidFill>
              <a:effectLst/>
              <a:latin typeface="Segoe UI" panose="020B0502040204020203" pitchFamily="34" charset="0"/>
            </a:endParaRPr>
          </a:p>
        </p:txBody>
      </p:sp>
      <p:pic>
        <p:nvPicPr>
          <p:cNvPr id="3" name="Picture 2">
            <a:extLst>
              <a:ext uri="{FF2B5EF4-FFF2-40B4-BE49-F238E27FC236}">
                <a16:creationId xmlns:a16="http://schemas.microsoft.com/office/drawing/2014/main" id="{8CBA1F42-8D39-8887-A8BD-AAD2F7EE28BF}"/>
              </a:ext>
            </a:extLst>
          </p:cNvPr>
          <p:cNvPicPr>
            <a:picLocks noChangeAspect="1"/>
          </p:cNvPicPr>
          <p:nvPr/>
        </p:nvPicPr>
        <p:blipFill>
          <a:blip r:embed="rId2"/>
          <a:stretch>
            <a:fillRect/>
          </a:stretch>
        </p:blipFill>
        <p:spPr>
          <a:xfrm>
            <a:off x="356087" y="2760680"/>
            <a:ext cx="10925231" cy="7391505"/>
          </a:xfrm>
          <a:prstGeom prst="rect">
            <a:avLst/>
          </a:prstGeom>
        </p:spPr>
      </p:pic>
      <p:sp>
        <p:nvSpPr>
          <p:cNvPr id="4" name="TextBox 1">
            <a:extLst>
              <a:ext uri="{FF2B5EF4-FFF2-40B4-BE49-F238E27FC236}">
                <a16:creationId xmlns:a16="http://schemas.microsoft.com/office/drawing/2014/main" id="{4E7C51F8-481D-7427-E8A4-BDE7514D5A4B}"/>
              </a:ext>
            </a:extLst>
          </p:cNvPr>
          <p:cNvSpPr txBox="1"/>
          <p:nvPr/>
        </p:nvSpPr>
        <p:spPr>
          <a:xfrm>
            <a:off x="13102684" y="5980837"/>
            <a:ext cx="8796024" cy="206210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D" sz="3200" dirty="0"/>
              <a:t>Note that whatever x value, it must be 2 or smaller than 2</a:t>
            </a:r>
          </a:p>
          <a:p>
            <a:endParaRPr lang="en-ID" sz="3200" dirty="0"/>
          </a:p>
          <a:p>
            <a:r>
              <a:rPr lang="en-ID" sz="3200" dirty="0"/>
              <a:t>Thus, it would not change the final result</a:t>
            </a:r>
          </a:p>
        </p:txBody>
      </p:sp>
      <p:sp>
        <p:nvSpPr>
          <p:cNvPr id="6" name="Title 1">
            <a:extLst>
              <a:ext uri="{FF2B5EF4-FFF2-40B4-BE49-F238E27FC236}">
                <a16:creationId xmlns:a16="http://schemas.microsoft.com/office/drawing/2014/main" id="{AA2CDE93-702A-C1DD-4218-B296D255DFCF}"/>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Alpha Beta Pruning</a:t>
            </a:r>
          </a:p>
        </p:txBody>
      </p:sp>
      <p:sp>
        <p:nvSpPr>
          <p:cNvPr id="7" name="Text Placeholder 2">
            <a:extLst>
              <a:ext uri="{FF2B5EF4-FFF2-40B4-BE49-F238E27FC236}">
                <a16:creationId xmlns:a16="http://schemas.microsoft.com/office/drawing/2014/main" id="{D378EBC3-99C6-CB82-60E5-EF21F6C2BEFC}"/>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354430194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33068C-76E1-BCEA-B230-78D4F51F8CD6}"/>
              </a:ext>
            </a:extLst>
          </p:cNvPr>
          <p:cNvPicPr>
            <a:picLocks noChangeAspect="1"/>
          </p:cNvPicPr>
          <p:nvPr/>
        </p:nvPicPr>
        <p:blipFill>
          <a:blip r:embed="rId2"/>
          <a:stretch>
            <a:fillRect/>
          </a:stretch>
        </p:blipFill>
        <p:spPr>
          <a:xfrm>
            <a:off x="1664310" y="2679730"/>
            <a:ext cx="19015198" cy="10776505"/>
          </a:xfrm>
          <a:prstGeom prst="rect">
            <a:avLst/>
          </a:prstGeom>
        </p:spPr>
      </p:pic>
      <p:sp>
        <p:nvSpPr>
          <p:cNvPr id="4" name="Title 1">
            <a:extLst>
              <a:ext uri="{FF2B5EF4-FFF2-40B4-BE49-F238E27FC236}">
                <a16:creationId xmlns:a16="http://schemas.microsoft.com/office/drawing/2014/main" id="{52544DE1-962A-EE13-1EB8-E93EC449A81E}"/>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Alpha Beta Pruning</a:t>
            </a:r>
          </a:p>
        </p:txBody>
      </p:sp>
      <p:sp>
        <p:nvSpPr>
          <p:cNvPr id="6" name="Text Placeholder 2">
            <a:extLst>
              <a:ext uri="{FF2B5EF4-FFF2-40B4-BE49-F238E27FC236}">
                <a16:creationId xmlns:a16="http://schemas.microsoft.com/office/drawing/2014/main" id="{5C9F5E66-FC77-DBC6-F6D6-AE83D28C3A21}"/>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16809239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EC26C77-B756-6BCD-292A-E31C36310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0547" y="3425922"/>
            <a:ext cx="18948120" cy="926810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F58E790E-E676-7253-CB11-70E966A28460}"/>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Alpha Beta Pruning</a:t>
            </a:r>
          </a:p>
        </p:txBody>
      </p:sp>
      <p:sp>
        <p:nvSpPr>
          <p:cNvPr id="6" name="Text Placeholder 2">
            <a:extLst>
              <a:ext uri="{FF2B5EF4-FFF2-40B4-BE49-F238E27FC236}">
                <a16:creationId xmlns:a16="http://schemas.microsoft.com/office/drawing/2014/main" id="{149DDC95-68DF-9069-C8C6-CB2C222680F6}"/>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60776765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BF43CA54-22BE-72FA-57AC-9030ECB3C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7524" y="2916330"/>
            <a:ext cx="18863982" cy="936364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439F828E-B0BA-283B-13B8-7B73E4B80448}"/>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Alpha Beta Pruning</a:t>
            </a:r>
          </a:p>
        </p:txBody>
      </p:sp>
      <p:sp>
        <p:nvSpPr>
          <p:cNvPr id="5" name="Text Placeholder 2">
            <a:extLst>
              <a:ext uri="{FF2B5EF4-FFF2-40B4-BE49-F238E27FC236}">
                <a16:creationId xmlns:a16="http://schemas.microsoft.com/office/drawing/2014/main" id="{A1E96A2B-4595-5EAA-E99E-48E93E603B0C}"/>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158395376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FD3C61D-97FE-2E37-C859-5E37610C93F3}"/>
              </a:ext>
            </a:extLst>
          </p:cNvPr>
          <p:cNvGrpSpPr/>
          <p:nvPr/>
        </p:nvGrpSpPr>
        <p:grpSpPr>
          <a:xfrm>
            <a:off x="3046482" y="3207966"/>
            <a:ext cx="17493320" cy="9089652"/>
            <a:chOff x="762000" y="1489075"/>
            <a:chExt cx="7010400" cy="3673837"/>
          </a:xfrm>
        </p:grpSpPr>
        <p:sp>
          <p:nvSpPr>
            <p:cNvPr id="3" name="AutoShape 3">
              <a:extLst>
                <a:ext uri="{FF2B5EF4-FFF2-40B4-BE49-F238E27FC236}">
                  <a16:creationId xmlns:a16="http://schemas.microsoft.com/office/drawing/2014/main" id="{1074449D-9F21-6BB5-2639-BE21FBA9C3DC}"/>
                </a:ext>
              </a:extLst>
            </p:cNvPr>
            <p:cNvSpPr>
              <a:spLocks noChangeArrowheads="1"/>
            </p:cNvSpPr>
            <p:nvPr/>
          </p:nvSpPr>
          <p:spPr bwMode="auto">
            <a:xfrm flipV="1">
              <a:off x="4427538" y="28956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 name="AutoShape 4">
              <a:extLst>
                <a:ext uri="{FF2B5EF4-FFF2-40B4-BE49-F238E27FC236}">
                  <a16:creationId xmlns:a16="http://schemas.microsoft.com/office/drawing/2014/main" id="{3C7329E7-3383-041F-5468-FFEF725EB767}"/>
                </a:ext>
              </a:extLst>
            </p:cNvPr>
            <p:cNvSpPr>
              <a:spLocks noChangeArrowheads="1"/>
            </p:cNvSpPr>
            <p:nvPr/>
          </p:nvSpPr>
          <p:spPr bwMode="auto">
            <a:xfrm>
              <a:off x="4427538" y="1489075"/>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5" name="AutoShape 5">
              <a:extLst>
                <a:ext uri="{FF2B5EF4-FFF2-40B4-BE49-F238E27FC236}">
                  <a16:creationId xmlns:a16="http://schemas.microsoft.com/office/drawing/2014/main" id="{46FA2524-A73D-8412-CB7B-C3AF6FA1F857}"/>
                </a:ext>
              </a:extLst>
            </p:cNvPr>
            <p:cNvSpPr>
              <a:spLocks noChangeArrowheads="1"/>
            </p:cNvSpPr>
            <p:nvPr/>
          </p:nvSpPr>
          <p:spPr bwMode="auto">
            <a:xfrm>
              <a:off x="2000250" y="43434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6" name="AutoShape 6">
              <a:extLst>
                <a:ext uri="{FF2B5EF4-FFF2-40B4-BE49-F238E27FC236}">
                  <a16:creationId xmlns:a16="http://schemas.microsoft.com/office/drawing/2014/main" id="{68918670-D5E6-0445-B5C5-B086957955C4}"/>
                </a:ext>
              </a:extLst>
            </p:cNvPr>
            <p:cNvSpPr>
              <a:spLocks noChangeArrowheads="1"/>
            </p:cNvSpPr>
            <p:nvPr/>
          </p:nvSpPr>
          <p:spPr bwMode="auto">
            <a:xfrm>
              <a:off x="2667000" y="43434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7" name="AutoShape 7">
              <a:extLst>
                <a:ext uri="{FF2B5EF4-FFF2-40B4-BE49-F238E27FC236}">
                  <a16:creationId xmlns:a16="http://schemas.microsoft.com/office/drawing/2014/main" id="{2E33B24D-3700-A3F3-DC94-428556A013E8}"/>
                </a:ext>
              </a:extLst>
            </p:cNvPr>
            <p:cNvSpPr>
              <a:spLocks noChangeArrowheads="1"/>
            </p:cNvSpPr>
            <p:nvPr/>
          </p:nvSpPr>
          <p:spPr bwMode="auto">
            <a:xfrm>
              <a:off x="1371600" y="43434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8" name="AutoShape 8">
              <a:extLst>
                <a:ext uri="{FF2B5EF4-FFF2-40B4-BE49-F238E27FC236}">
                  <a16:creationId xmlns:a16="http://schemas.microsoft.com/office/drawing/2014/main" id="{3157FFFE-842D-2B76-0197-6E1BE5DDE164}"/>
                </a:ext>
              </a:extLst>
            </p:cNvPr>
            <p:cNvSpPr>
              <a:spLocks noChangeArrowheads="1"/>
            </p:cNvSpPr>
            <p:nvPr/>
          </p:nvSpPr>
          <p:spPr bwMode="auto">
            <a:xfrm flipV="1">
              <a:off x="2000250" y="28956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cxnSp>
          <p:nvCxnSpPr>
            <p:cNvPr id="9" name="AutoShape 9">
              <a:extLst>
                <a:ext uri="{FF2B5EF4-FFF2-40B4-BE49-F238E27FC236}">
                  <a16:creationId xmlns:a16="http://schemas.microsoft.com/office/drawing/2014/main" id="{62E99C61-3A79-7386-BA5B-1A992BBF625B}"/>
                </a:ext>
              </a:extLst>
            </p:cNvPr>
            <p:cNvCxnSpPr>
              <a:cxnSpLocks noChangeShapeType="1"/>
              <a:stCxn id="7" idx="3"/>
              <a:endCxn id="11" idx="3"/>
            </p:cNvCxnSpPr>
            <p:nvPr/>
          </p:nvCxnSpPr>
          <p:spPr bwMode="auto">
            <a:xfrm flipH="1">
              <a:off x="2227263" y="1946275"/>
              <a:ext cx="2428875" cy="949325"/>
            </a:xfrm>
            <a:prstGeom prst="straightConnector1">
              <a:avLst/>
            </a:prstGeom>
            <a:noFill/>
            <a:ln w="28575">
              <a:solidFill>
                <a:schemeClr val="tx1"/>
              </a:solidFill>
              <a:round/>
              <a:headEnd/>
              <a:tailEnd/>
            </a:ln>
          </p:spPr>
        </p:cxnSp>
        <p:cxnSp>
          <p:nvCxnSpPr>
            <p:cNvPr id="10" name="AutoShape 10">
              <a:extLst>
                <a:ext uri="{FF2B5EF4-FFF2-40B4-BE49-F238E27FC236}">
                  <a16:creationId xmlns:a16="http://schemas.microsoft.com/office/drawing/2014/main" id="{30B1DA8D-947E-9DC8-5884-7878CAB1AAAC}"/>
                </a:ext>
              </a:extLst>
            </p:cNvPr>
            <p:cNvCxnSpPr>
              <a:cxnSpLocks noChangeShapeType="1"/>
              <a:stCxn id="11" idx="0"/>
              <a:endCxn id="10" idx="0"/>
            </p:cNvCxnSpPr>
            <p:nvPr/>
          </p:nvCxnSpPr>
          <p:spPr bwMode="auto">
            <a:xfrm flipH="1">
              <a:off x="1600200" y="3352800"/>
              <a:ext cx="627063" cy="990600"/>
            </a:xfrm>
            <a:prstGeom prst="straightConnector1">
              <a:avLst/>
            </a:prstGeom>
            <a:noFill/>
            <a:ln w="9525">
              <a:solidFill>
                <a:schemeClr val="tx1"/>
              </a:solidFill>
              <a:round/>
              <a:headEnd/>
              <a:tailEnd/>
            </a:ln>
          </p:spPr>
        </p:cxnSp>
        <p:cxnSp>
          <p:nvCxnSpPr>
            <p:cNvPr id="11" name="AutoShape 11">
              <a:extLst>
                <a:ext uri="{FF2B5EF4-FFF2-40B4-BE49-F238E27FC236}">
                  <a16:creationId xmlns:a16="http://schemas.microsoft.com/office/drawing/2014/main" id="{9539677D-1B81-B154-217F-E2E0E2B5C781}"/>
                </a:ext>
              </a:extLst>
            </p:cNvPr>
            <p:cNvCxnSpPr>
              <a:cxnSpLocks noChangeShapeType="1"/>
              <a:stCxn id="11" idx="0"/>
              <a:endCxn id="8" idx="0"/>
            </p:cNvCxnSpPr>
            <p:nvPr/>
          </p:nvCxnSpPr>
          <p:spPr bwMode="auto">
            <a:xfrm>
              <a:off x="2227263" y="3352800"/>
              <a:ext cx="1587" cy="990600"/>
            </a:xfrm>
            <a:prstGeom prst="straightConnector1">
              <a:avLst/>
            </a:prstGeom>
            <a:noFill/>
            <a:ln w="9525">
              <a:solidFill>
                <a:schemeClr val="tx1"/>
              </a:solidFill>
              <a:round/>
              <a:headEnd/>
              <a:tailEnd/>
            </a:ln>
          </p:spPr>
        </p:cxnSp>
        <p:cxnSp>
          <p:nvCxnSpPr>
            <p:cNvPr id="12" name="AutoShape 12">
              <a:extLst>
                <a:ext uri="{FF2B5EF4-FFF2-40B4-BE49-F238E27FC236}">
                  <a16:creationId xmlns:a16="http://schemas.microsoft.com/office/drawing/2014/main" id="{B1B14B5F-D580-B359-58EA-7F0E1A0BEE1A}"/>
                </a:ext>
              </a:extLst>
            </p:cNvPr>
            <p:cNvCxnSpPr>
              <a:cxnSpLocks noChangeShapeType="1"/>
              <a:stCxn id="11" idx="0"/>
              <a:endCxn id="9" idx="0"/>
            </p:cNvCxnSpPr>
            <p:nvPr/>
          </p:nvCxnSpPr>
          <p:spPr bwMode="auto">
            <a:xfrm>
              <a:off x="2227263" y="3352800"/>
              <a:ext cx="668337" cy="990600"/>
            </a:xfrm>
            <a:prstGeom prst="straightConnector1">
              <a:avLst/>
            </a:prstGeom>
            <a:noFill/>
            <a:ln w="9525">
              <a:solidFill>
                <a:schemeClr val="tx1"/>
              </a:solidFill>
              <a:round/>
              <a:headEnd/>
              <a:tailEnd/>
            </a:ln>
          </p:spPr>
        </p:cxnSp>
        <p:sp>
          <p:nvSpPr>
            <p:cNvPr id="14" name="Text Box 13">
              <a:extLst>
                <a:ext uri="{FF2B5EF4-FFF2-40B4-BE49-F238E27FC236}">
                  <a16:creationId xmlns:a16="http://schemas.microsoft.com/office/drawing/2014/main" id="{66562677-2BFC-9ACF-8229-942A39BCDFB2}"/>
                </a:ext>
              </a:extLst>
            </p:cNvPr>
            <p:cNvSpPr txBox="1">
              <a:spLocks noChangeArrowheads="1"/>
            </p:cNvSpPr>
            <p:nvPr/>
          </p:nvSpPr>
          <p:spPr bwMode="auto">
            <a:xfrm>
              <a:off x="4953000" y="1524000"/>
              <a:ext cx="533400" cy="286112"/>
            </a:xfrm>
            <a:prstGeom prst="rect">
              <a:avLst/>
            </a:prstGeom>
            <a:noFill/>
            <a:ln w="9525">
              <a:noFill/>
              <a:miter lim="800000"/>
              <a:headEnd/>
              <a:tailEnd/>
            </a:ln>
          </p:spPr>
          <p:txBody>
            <a:bodyPr wrap="squar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ym typeface="Symbol" pitchFamily="18" charset="2"/>
                </a:rPr>
                <a:t> 6</a:t>
              </a:r>
              <a:endParaRPr lang="en-US" sz="4000" b="1" dirty="0"/>
            </a:p>
          </p:txBody>
        </p:sp>
        <p:sp>
          <p:nvSpPr>
            <p:cNvPr id="15" name="Text Box 14">
              <a:extLst>
                <a:ext uri="{FF2B5EF4-FFF2-40B4-BE49-F238E27FC236}">
                  <a16:creationId xmlns:a16="http://schemas.microsoft.com/office/drawing/2014/main" id="{213EEA33-1171-EBC3-180A-24887FBF47CA}"/>
                </a:ext>
              </a:extLst>
            </p:cNvPr>
            <p:cNvSpPr txBox="1">
              <a:spLocks noChangeArrowheads="1"/>
            </p:cNvSpPr>
            <p:nvPr/>
          </p:nvSpPr>
          <p:spPr bwMode="auto">
            <a:xfrm>
              <a:off x="2514600" y="2895600"/>
              <a:ext cx="167794" cy="236353"/>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dirty="0">
                  <a:sym typeface="Symbol" pitchFamily="18" charset="2"/>
                </a:rPr>
                <a:t>6</a:t>
              </a:r>
              <a:endParaRPr lang="en-US" sz="3200" b="1" dirty="0"/>
            </a:p>
          </p:txBody>
        </p:sp>
        <p:sp>
          <p:nvSpPr>
            <p:cNvPr id="16" name="Text Box 15">
              <a:extLst>
                <a:ext uri="{FF2B5EF4-FFF2-40B4-BE49-F238E27FC236}">
                  <a16:creationId xmlns:a16="http://schemas.microsoft.com/office/drawing/2014/main" id="{CA995778-AECE-0B48-589A-A5D6AE560C7A}"/>
                </a:ext>
              </a:extLst>
            </p:cNvPr>
            <p:cNvSpPr txBox="1">
              <a:spLocks noChangeArrowheads="1"/>
            </p:cNvSpPr>
            <p:nvPr/>
          </p:nvSpPr>
          <p:spPr bwMode="auto">
            <a:xfrm>
              <a:off x="762000" y="1524000"/>
              <a:ext cx="912813" cy="457200"/>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ym typeface="Symbol" pitchFamily="18" charset="2"/>
                </a:rPr>
                <a:t>MAX</a:t>
              </a:r>
              <a:endParaRPr lang="en-US" b="1" dirty="0"/>
            </a:p>
          </p:txBody>
        </p:sp>
        <p:sp>
          <p:nvSpPr>
            <p:cNvPr id="17" name="Text Box 16">
              <a:extLst>
                <a:ext uri="{FF2B5EF4-FFF2-40B4-BE49-F238E27FC236}">
                  <a16:creationId xmlns:a16="http://schemas.microsoft.com/office/drawing/2014/main" id="{DF1CAF83-9454-4EC9-6317-7424F296F240}"/>
                </a:ext>
              </a:extLst>
            </p:cNvPr>
            <p:cNvSpPr txBox="1">
              <a:spLocks noChangeArrowheads="1"/>
            </p:cNvSpPr>
            <p:nvPr/>
          </p:nvSpPr>
          <p:spPr bwMode="auto">
            <a:xfrm>
              <a:off x="1416050" y="4876800"/>
              <a:ext cx="191564" cy="286112"/>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a:sym typeface="Symbol" pitchFamily="18" charset="2"/>
                </a:rPr>
                <a:t>6</a:t>
              </a:r>
              <a:endParaRPr lang="en-US" sz="4000" b="1"/>
            </a:p>
          </p:txBody>
        </p:sp>
        <p:sp>
          <p:nvSpPr>
            <p:cNvPr id="18" name="Text Box 17">
              <a:extLst>
                <a:ext uri="{FF2B5EF4-FFF2-40B4-BE49-F238E27FC236}">
                  <a16:creationId xmlns:a16="http://schemas.microsoft.com/office/drawing/2014/main" id="{5407A4A1-D721-6212-CAD3-072D82EC8E34}"/>
                </a:ext>
              </a:extLst>
            </p:cNvPr>
            <p:cNvSpPr txBox="1">
              <a:spLocks noChangeArrowheads="1"/>
            </p:cNvSpPr>
            <p:nvPr/>
          </p:nvSpPr>
          <p:spPr bwMode="auto">
            <a:xfrm>
              <a:off x="1981200" y="4876800"/>
              <a:ext cx="309122" cy="286112"/>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a:sym typeface="Symbol" pitchFamily="18" charset="2"/>
                </a:rPr>
                <a:t>12</a:t>
              </a:r>
              <a:endParaRPr lang="en-US" sz="4000" b="1"/>
            </a:p>
          </p:txBody>
        </p:sp>
        <p:sp>
          <p:nvSpPr>
            <p:cNvPr id="19" name="Text Box 18">
              <a:extLst>
                <a:ext uri="{FF2B5EF4-FFF2-40B4-BE49-F238E27FC236}">
                  <a16:creationId xmlns:a16="http://schemas.microsoft.com/office/drawing/2014/main" id="{BEAEAB36-793D-2FF8-CCB2-7845A1EB47BD}"/>
                </a:ext>
              </a:extLst>
            </p:cNvPr>
            <p:cNvSpPr txBox="1">
              <a:spLocks noChangeArrowheads="1"/>
            </p:cNvSpPr>
            <p:nvPr/>
          </p:nvSpPr>
          <p:spPr bwMode="auto">
            <a:xfrm>
              <a:off x="2743200" y="4876800"/>
              <a:ext cx="191564" cy="286112"/>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a:sym typeface="Symbol" pitchFamily="18" charset="2"/>
                </a:rPr>
                <a:t>8</a:t>
              </a:r>
              <a:endParaRPr lang="en-US" sz="4000" b="1"/>
            </a:p>
          </p:txBody>
        </p:sp>
        <p:sp>
          <p:nvSpPr>
            <p:cNvPr id="20" name="AutoShape 19">
              <a:extLst>
                <a:ext uri="{FF2B5EF4-FFF2-40B4-BE49-F238E27FC236}">
                  <a16:creationId xmlns:a16="http://schemas.microsoft.com/office/drawing/2014/main" id="{A00A532D-7F4B-0AAF-E56F-28DAE031942C}"/>
                </a:ext>
              </a:extLst>
            </p:cNvPr>
            <p:cNvSpPr>
              <a:spLocks noChangeArrowheads="1"/>
            </p:cNvSpPr>
            <p:nvPr/>
          </p:nvSpPr>
          <p:spPr bwMode="auto">
            <a:xfrm>
              <a:off x="3810000" y="43434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nvGrpSpPr>
            <p:cNvPr id="21" name="Group 20">
              <a:extLst>
                <a:ext uri="{FF2B5EF4-FFF2-40B4-BE49-F238E27FC236}">
                  <a16:creationId xmlns:a16="http://schemas.microsoft.com/office/drawing/2014/main" id="{7E415093-F20F-1287-E4C9-967E5F8CC966}"/>
                </a:ext>
              </a:extLst>
            </p:cNvPr>
            <p:cNvGrpSpPr>
              <a:grpSpLocks/>
            </p:cNvGrpSpPr>
            <p:nvPr/>
          </p:nvGrpSpPr>
          <p:grpSpPr bwMode="auto">
            <a:xfrm>
              <a:off x="4579938" y="4572000"/>
              <a:ext cx="152400" cy="152400"/>
              <a:chOff x="3600" y="2880"/>
              <a:chExt cx="96" cy="96"/>
            </a:xfrm>
          </p:grpSpPr>
          <p:sp>
            <p:nvSpPr>
              <p:cNvPr id="45" name="Line 21">
                <a:extLst>
                  <a:ext uri="{FF2B5EF4-FFF2-40B4-BE49-F238E27FC236}">
                    <a16:creationId xmlns:a16="http://schemas.microsoft.com/office/drawing/2014/main" id="{76B0D740-404E-4850-19F2-7CB669FA8AD6}"/>
                  </a:ext>
                </a:extLst>
              </p:cNvPr>
              <p:cNvSpPr>
                <a:spLocks noChangeShapeType="1"/>
              </p:cNvSpPr>
              <p:nvPr/>
            </p:nvSpPr>
            <p:spPr bwMode="auto">
              <a:xfrm>
                <a:off x="3600" y="2880"/>
                <a:ext cx="96" cy="96"/>
              </a:xfrm>
              <a:prstGeom prst="line">
                <a:avLst/>
              </a:prstGeom>
              <a:noFill/>
              <a:ln w="57150">
                <a:solidFill>
                  <a:schemeClr val="tx1"/>
                </a:solidFill>
                <a:round/>
                <a:headEnd/>
                <a:tailEnd/>
              </a:ln>
            </p:spPr>
            <p:txBody>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Line 22">
                <a:extLst>
                  <a:ext uri="{FF2B5EF4-FFF2-40B4-BE49-F238E27FC236}">
                    <a16:creationId xmlns:a16="http://schemas.microsoft.com/office/drawing/2014/main" id="{1915AF39-A249-3A59-CEB0-4037221F0CC6}"/>
                  </a:ext>
                </a:extLst>
              </p:cNvPr>
              <p:cNvSpPr>
                <a:spLocks noChangeShapeType="1"/>
              </p:cNvSpPr>
              <p:nvPr/>
            </p:nvSpPr>
            <p:spPr bwMode="auto">
              <a:xfrm rot="-5400000">
                <a:off x="3600" y="2880"/>
                <a:ext cx="96" cy="96"/>
              </a:xfrm>
              <a:prstGeom prst="line">
                <a:avLst/>
              </a:prstGeom>
              <a:noFill/>
              <a:ln w="57150">
                <a:solidFill>
                  <a:schemeClr val="tx1"/>
                </a:solidFill>
                <a:round/>
                <a:headEnd/>
                <a:tailEnd/>
              </a:ln>
            </p:spPr>
            <p:txBody>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22" name="Group 21">
              <a:extLst>
                <a:ext uri="{FF2B5EF4-FFF2-40B4-BE49-F238E27FC236}">
                  <a16:creationId xmlns:a16="http://schemas.microsoft.com/office/drawing/2014/main" id="{7F4E9584-18BC-9FCE-F3B9-0B2D38253136}"/>
                </a:ext>
              </a:extLst>
            </p:cNvPr>
            <p:cNvGrpSpPr>
              <a:grpSpLocks/>
            </p:cNvGrpSpPr>
            <p:nvPr/>
          </p:nvGrpSpPr>
          <p:grpSpPr bwMode="auto">
            <a:xfrm>
              <a:off x="5181600" y="4572000"/>
              <a:ext cx="152400" cy="152400"/>
              <a:chOff x="3600" y="2880"/>
              <a:chExt cx="96" cy="96"/>
            </a:xfrm>
          </p:grpSpPr>
          <p:sp>
            <p:nvSpPr>
              <p:cNvPr id="43" name="Line 24">
                <a:extLst>
                  <a:ext uri="{FF2B5EF4-FFF2-40B4-BE49-F238E27FC236}">
                    <a16:creationId xmlns:a16="http://schemas.microsoft.com/office/drawing/2014/main" id="{AFECD34A-B19B-45F3-C931-7B2E3920826F}"/>
                  </a:ext>
                </a:extLst>
              </p:cNvPr>
              <p:cNvSpPr>
                <a:spLocks noChangeShapeType="1"/>
              </p:cNvSpPr>
              <p:nvPr/>
            </p:nvSpPr>
            <p:spPr bwMode="auto">
              <a:xfrm>
                <a:off x="3600" y="2880"/>
                <a:ext cx="96" cy="96"/>
              </a:xfrm>
              <a:prstGeom prst="line">
                <a:avLst/>
              </a:prstGeom>
              <a:noFill/>
              <a:ln w="57150">
                <a:solidFill>
                  <a:schemeClr val="tx1"/>
                </a:solidFill>
                <a:round/>
                <a:headEnd/>
                <a:tailEnd/>
              </a:ln>
            </p:spPr>
            <p:txBody>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Line 25">
                <a:extLst>
                  <a:ext uri="{FF2B5EF4-FFF2-40B4-BE49-F238E27FC236}">
                    <a16:creationId xmlns:a16="http://schemas.microsoft.com/office/drawing/2014/main" id="{A3E24487-8731-B807-07AC-B4DF83794602}"/>
                  </a:ext>
                </a:extLst>
              </p:cNvPr>
              <p:cNvSpPr>
                <a:spLocks noChangeShapeType="1"/>
              </p:cNvSpPr>
              <p:nvPr/>
            </p:nvSpPr>
            <p:spPr bwMode="auto">
              <a:xfrm rot="-5400000">
                <a:off x="3600" y="2880"/>
                <a:ext cx="96" cy="96"/>
              </a:xfrm>
              <a:prstGeom prst="line">
                <a:avLst/>
              </a:prstGeom>
              <a:noFill/>
              <a:ln w="57150">
                <a:solidFill>
                  <a:schemeClr val="tx1"/>
                </a:solidFill>
                <a:round/>
                <a:headEnd/>
                <a:tailEnd/>
              </a:ln>
            </p:spPr>
            <p:txBody>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cxnSp>
          <p:nvCxnSpPr>
            <p:cNvPr id="23" name="AutoShape 26">
              <a:extLst>
                <a:ext uri="{FF2B5EF4-FFF2-40B4-BE49-F238E27FC236}">
                  <a16:creationId xmlns:a16="http://schemas.microsoft.com/office/drawing/2014/main" id="{053CBAA6-A018-65C7-E8E9-F7DB7A52EA77}"/>
                </a:ext>
              </a:extLst>
            </p:cNvPr>
            <p:cNvCxnSpPr>
              <a:cxnSpLocks noChangeShapeType="1"/>
              <a:stCxn id="6" idx="0"/>
              <a:endCxn id="23" idx="0"/>
            </p:cNvCxnSpPr>
            <p:nvPr/>
          </p:nvCxnSpPr>
          <p:spPr bwMode="auto">
            <a:xfrm flipH="1">
              <a:off x="4038600" y="3352800"/>
              <a:ext cx="615950" cy="990600"/>
            </a:xfrm>
            <a:prstGeom prst="straightConnector1">
              <a:avLst/>
            </a:prstGeom>
            <a:noFill/>
            <a:ln w="9525">
              <a:solidFill>
                <a:schemeClr val="tx1"/>
              </a:solidFill>
              <a:round/>
              <a:headEnd/>
              <a:tailEnd/>
            </a:ln>
          </p:spPr>
        </p:cxnSp>
        <p:cxnSp>
          <p:nvCxnSpPr>
            <p:cNvPr id="24" name="AutoShape 27">
              <a:extLst>
                <a:ext uri="{FF2B5EF4-FFF2-40B4-BE49-F238E27FC236}">
                  <a16:creationId xmlns:a16="http://schemas.microsoft.com/office/drawing/2014/main" id="{C7A12D8B-B5BC-8D37-E221-58D25D4984D2}"/>
                </a:ext>
              </a:extLst>
            </p:cNvPr>
            <p:cNvCxnSpPr>
              <a:cxnSpLocks noChangeShapeType="1"/>
              <a:stCxn id="6" idx="0"/>
            </p:cNvCxnSpPr>
            <p:nvPr/>
          </p:nvCxnSpPr>
          <p:spPr bwMode="auto">
            <a:xfrm flipH="1">
              <a:off x="4648200" y="3352800"/>
              <a:ext cx="6350" cy="990600"/>
            </a:xfrm>
            <a:prstGeom prst="straightConnector1">
              <a:avLst/>
            </a:prstGeom>
            <a:noFill/>
            <a:ln w="9525">
              <a:solidFill>
                <a:schemeClr val="tx1"/>
              </a:solidFill>
              <a:round/>
              <a:headEnd/>
              <a:tailEnd/>
            </a:ln>
          </p:spPr>
        </p:cxnSp>
        <p:cxnSp>
          <p:nvCxnSpPr>
            <p:cNvPr id="25" name="AutoShape 28">
              <a:extLst>
                <a:ext uri="{FF2B5EF4-FFF2-40B4-BE49-F238E27FC236}">
                  <a16:creationId xmlns:a16="http://schemas.microsoft.com/office/drawing/2014/main" id="{97FC7391-1D72-9339-A892-5209FC04ACF0}"/>
                </a:ext>
              </a:extLst>
            </p:cNvPr>
            <p:cNvCxnSpPr>
              <a:cxnSpLocks noChangeShapeType="1"/>
              <a:stCxn id="6" idx="0"/>
            </p:cNvCxnSpPr>
            <p:nvPr/>
          </p:nvCxnSpPr>
          <p:spPr bwMode="auto">
            <a:xfrm>
              <a:off x="4654550" y="3352800"/>
              <a:ext cx="527050" cy="990600"/>
            </a:xfrm>
            <a:prstGeom prst="straightConnector1">
              <a:avLst/>
            </a:prstGeom>
            <a:noFill/>
            <a:ln w="9525">
              <a:solidFill>
                <a:schemeClr val="tx1"/>
              </a:solidFill>
              <a:round/>
              <a:headEnd/>
              <a:tailEnd/>
            </a:ln>
          </p:spPr>
        </p:cxnSp>
        <p:cxnSp>
          <p:nvCxnSpPr>
            <p:cNvPr id="26" name="AutoShape 29">
              <a:extLst>
                <a:ext uri="{FF2B5EF4-FFF2-40B4-BE49-F238E27FC236}">
                  <a16:creationId xmlns:a16="http://schemas.microsoft.com/office/drawing/2014/main" id="{975EABF4-5206-A02D-E785-F352727548CC}"/>
                </a:ext>
              </a:extLst>
            </p:cNvPr>
            <p:cNvCxnSpPr>
              <a:cxnSpLocks noChangeShapeType="1"/>
              <a:stCxn id="7" idx="3"/>
              <a:endCxn id="6" idx="3"/>
            </p:cNvCxnSpPr>
            <p:nvPr/>
          </p:nvCxnSpPr>
          <p:spPr bwMode="auto">
            <a:xfrm flipH="1">
              <a:off x="4654550" y="1946275"/>
              <a:ext cx="1588" cy="949325"/>
            </a:xfrm>
            <a:prstGeom prst="straightConnector1">
              <a:avLst/>
            </a:prstGeom>
            <a:noFill/>
            <a:ln w="9525">
              <a:solidFill>
                <a:schemeClr val="tx1"/>
              </a:solidFill>
              <a:round/>
              <a:headEnd/>
              <a:tailEnd/>
            </a:ln>
          </p:spPr>
        </p:cxnSp>
        <p:sp>
          <p:nvSpPr>
            <p:cNvPr id="27" name="Text Box 30">
              <a:extLst>
                <a:ext uri="{FF2B5EF4-FFF2-40B4-BE49-F238E27FC236}">
                  <a16:creationId xmlns:a16="http://schemas.microsoft.com/office/drawing/2014/main" id="{DD1536D5-6366-1DE1-FF9D-C40264004328}"/>
                </a:ext>
              </a:extLst>
            </p:cNvPr>
            <p:cNvSpPr txBox="1">
              <a:spLocks noChangeArrowheads="1"/>
            </p:cNvSpPr>
            <p:nvPr/>
          </p:nvSpPr>
          <p:spPr bwMode="auto">
            <a:xfrm>
              <a:off x="3886200" y="4876800"/>
              <a:ext cx="191564" cy="286112"/>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a:sym typeface="Symbol" pitchFamily="18" charset="2"/>
                </a:rPr>
                <a:t>2</a:t>
              </a:r>
              <a:endParaRPr lang="en-US" sz="4000" b="1"/>
            </a:p>
          </p:txBody>
        </p:sp>
        <p:sp>
          <p:nvSpPr>
            <p:cNvPr id="28" name="Text Box 31">
              <a:extLst>
                <a:ext uri="{FF2B5EF4-FFF2-40B4-BE49-F238E27FC236}">
                  <a16:creationId xmlns:a16="http://schemas.microsoft.com/office/drawing/2014/main" id="{0AB6FE87-2163-1DFF-ED3F-F62350FABB8E}"/>
                </a:ext>
              </a:extLst>
            </p:cNvPr>
            <p:cNvSpPr txBox="1">
              <a:spLocks noChangeArrowheads="1"/>
            </p:cNvSpPr>
            <p:nvPr/>
          </p:nvSpPr>
          <p:spPr bwMode="auto">
            <a:xfrm flipH="1">
              <a:off x="4876800" y="2895600"/>
              <a:ext cx="301414" cy="236353"/>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ym typeface="Symbol" pitchFamily="18" charset="2"/>
                </a:rPr>
                <a:t> 2</a:t>
              </a:r>
              <a:endParaRPr lang="en-US" sz="3200" b="1"/>
            </a:p>
          </p:txBody>
        </p:sp>
        <p:sp>
          <p:nvSpPr>
            <p:cNvPr id="29" name="AutoShape 32">
              <a:extLst>
                <a:ext uri="{FF2B5EF4-FFF2-40B4-BE49-F238E27FC236}">
                  <a16:creationId xmlns:a16="http://schemas.microsoft.com/office/drawing/2014/main" id="{67EE4BB8-AA98-43E1-4C15-2CBB78B81E22}"/>
                </a:ext>
              </a:extLst>
            </p:cNvPr>
            <p:cNvSpPr>
              <a:spLocks noChangeArrowheads="1"/>
            </p:cNvSpPr>
            <p:nvPr/>
          </p:nvSpPr>
          <p:spPr bwMode="auto">
            <a:xfrm flipV="1">
              <a:off x="6629400" y="28956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0" name="AutoShape 33">
              <a:extLst>
                <a:ext uri="{FF2B5EF4-FFF2-40B4-BE49-F238E27FC236}">
                  <a16:creationId xmlns:a16="http://schemas.microsoft.com/office/drawing/2014/main" id="{C0ADBC9A-6A0E-E710-FA75-9EEC9C66B213}"/>
                </a:ext>
              </a:extLst>
            </p:cNvPr>
            <p:cNvSpPr>
              <a:spLocks noChangeArrowheads="1"/>
            </p:cNvSpPr>
            <p:nvPr/>
          </p:nvSpPr>
          <p:spPr bwMode="auto">
            <a:xfrm>
              <a:off x="5943600" y="43434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cxnSp>
          <p:nvCxnSpPr>
            <p:cNvPr id="31" name="AutoShape 34">
              <a:extLst>
                <a:ext uri="{FF2B5EF4-FFF2-40B4-BE49-F238E27FC236}">
                  <a16:creationId xmlns:a16="http://schemas.microsoft.com/office/drawing/2014/main" id="{40DC99DA-DA79-C814-C128-4D0C62106F05}"/>
                </a:ext>
              </a:extLst>
            </p:cNvPr>
            <p:cNvCxnSpPr>
              <a:cxnSpLocks noChangeShapeType="1"/>
              <a:stCxn id="7" idx="3"/>
              <a:endCxn id="32" idx="3"/>
            </p:cNvCxnSpPr>
            <p:nvPr/>
          </p:nvCxnSpPr>
          <p:spPr bwMode="auto">
            <a:xfrm>
              <a:off x="4656138" y="1946275"/>
              <a:ext cx="2200275" cy="949325"/>
            </a:xfrm>
            <a:prstGeom prst="straightConnector1">
              <a:avLst/>
            </a:prstGeom>
            <a:noFill/>
            <a:ln w="9525">
              <a:solidFill>
                <a:schemeClr val="tx1"/>
              </a:solidFill>
              <a:round/>
              <a:headEnd/>
              <a:tailEnd/>
            </a:ln>
          </p:spPr>
        </p:cxnSp>
        <p:cxnSp>
          <p:nvCxnSpPr>
            <p:cNvPr id="32" name="AutoShape 35">
              <a:extLst>
                <a:ext uri="{FF2B5EF4-FFF2-40B4-BE49-F238E27FC236}">
                  <a16:creationId xmlns:a16="http://schemas.microsoft.com/office/drawing/2014/main" id="{CD5C9ABA-41E0-2FAE-9E77-8E550FBF49AB}"/>
                </a:ext>
              </a:extLst>
            </p:cNvPr>
            <p:cNvCxnSpPr>
              <a:cxnSpLocks noChangeShapeType="1"/>
              <a:stCxn id="33" idx="0"/>
              <a:endCxn id="32" idx="0"/>
            </p:cNvCxnSpPr>
            <p:nvPr/>
          </p:nvCxnSpPr>
          <p:spPr bwMode="auto">
            <a:xfrm flipV="1">
              <a:off x="6172200" y="3352800"/>
              <a:ext cx="684213" cy="990600"/>
            </a:xfrm>
            <a:prstGeom prst="straightConnector1">
              <a:avLst/>
            </a:prstGeom>
            <a:noFill/>
            <a:ln w="9525">
              <a:solidFill>
                <a:schemeClr val="tx1"/>
              </a:solidFill>
              <a:round/>
              <a:headEnd/>
              <a:tailEnd/>
            </a:ln>
          </p:spPr>
        </p:cxnSp>
        <p:cxnSp>
          <p:nvCxnSpPr>
            <p:cNvPr id="33" name="AutoShape 36">
              <a:extLst>
                <a:ext uri="{FF2B5EF4-FFF2-40B4-BE49-F238E27FC236}">
                  <a16:creationId xmlns:a16="http://schemas.microsoft.com/office/drawing/2014/main" id="{ABD8F49F-753D-C18E-1DA7-554F6CF518D3}"/>
                </a:ext>
              </a:extLst>
            </p:cNvPr>
            <p:cNvCxnSpPr>
              <a:cxnSpLocks noChangeShapeType="1"/>
              <a:endCxn id="32" idx="0"/>
            </p:cNvCxnSpPr>
            <p:nvPr/>
          </p:nvCxnSpPr>
          <p:spPr bwMode="auto">
            <a:xfrm flipH="1" flipV="1">
              <a:off x="6856413" y="3352800"/>
              <a:ext cx="1587" cy="990600"/>
            </a:xfrm>
            <a:prstGeom prst="straightConnector1">
              <a:avLst/>
            </a:prstGeom>
            <a:noFill/>
            <a:ln w="9525">
              <a:solidFill>
                <a:schemeClr val="tx1"/>
              </a:solidFill>
              <a:round/>
              <a:headEnd/>
              <a:tailEnd/>
            </a:ln>
          </p:spPr>
        </p:cxnSp>
        <p:cxnSp>
          <p:nvCxnSpPr>
            <p:cNvPr id="34" name="AutoShape 37">
              <a:extLst>
                <a:ext uri="{FF2B5EF4-FFF2-40B4-BE49-F238E27FC236}">
                  <a16:creationId xmlns:a16="http://schemas.microsoft.com/office/drawing/2014/main" id="{1B4E2044-AD5F-4EEB-2252-BC35F5D14D86}"/>
                </a:ext>
              </a:extLst>
            </p:cNvPr>
            <p:cNvCxnSpPr>
              <a:cxnSpLocks noChangeShapeType="1"/>
              <a:endCxn id="32" idx="0"/>
            </p:cNvCxnSpPr>
            <p:nvPr/>
          </p:nvCxnSpPr>
          <p:spPr bwMode="auto">
            <a:xfrm flipH="1" flipV="1">
              <a:off x="6856413" y="3352800"/>
              <a:ext cx="687387" cy="990600"/>
            </a:xfrm>
            <a:prstGeom prst="straightConnector1">
              <a:avLst/>
            </a:prstGeom>
            <a:noFill/>
            <a:ln w="9525">
              <a:solidFill>
                <a:schemeClr val="tx1"/>
              </a:solidFill>
              <a:round/>
              <a:headEnd/>
              <a:tailEnd/>
            </a:ln>
          </p:spPr>
        </p:cxnSp>
        <p:sp>
          <p:nvSpPr>
            <p:cNvPr id="35" name="Text Box 38">
              <a:extLst>
                <a:ext uri="{FF2B5EF4-FFF2-40B4-BE49-F238E27FC236}">
                  <a16:creationId xmlns:a16="http://schemas.microsoft.com/office/drawing/2014/main" id="{DA6C5D4A-2ECD-B0E5-077B-E61B5AE45E80}"/>
                </a:ext>
              </a:extLst>
            </p:cNvPr>
            <p:cNvSpPr txBox="1">
              <a:spLocks noChangeArrowheads="1"/>
            </p:cNvSpPr>
            <p:nvPr/>
          </p:nvSpPr>
          <p:spPr bwMode="auto">
            <a:xfrm>
              <a:off x="6019800" y="4876800"/>
              <a:ext cx="381000" cy="286112"/>
            </a:xfrm>
            <a:prstGeom prst="rect">
              <a:avLst/>
            </a:prstGeom>
            <a:noFill/>
            <a:ln w="9525">
              <a:noFill/>
              <a:miter lim="800000"/>
              <a:headEnd/>
              <a:tailEnd/>
            </a:ln>
          </p:spPr>
          <p:txBody>
            <a:bodyPr wrap="squar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ym typeface="Symbol" pitchFamily="18" charset="2"/>
                </a:rPr>
                <a:t>14</a:t>
              </a:r>
              <a:endParaRPr lang="en-US" sz="4000" b="1" dirty="0"/>
            </a:p>
          </p:txBody>
        </p:sp>
        <p:sp>
          <p:nvSpPr>
            <p:cNvPr id="36" name="Text Box 39">
              <a:extLst>
                <a:ext uri="{FF2B5EF4-FFF2-40B4-BE49-F238E27FC236}">
                  <a16:creationId xmlns:a16="http://schemas.microsoft.com/office/drawing/2014/main" id="{87377183-D04D-FC9E-91F9-84E5558EC950}"/>
                </a:ext>
              </a:extLst>
            </p:cNvPr>
            <p:cNvSpPr txBox="1">
              <a:spLocks noChangeArrowheads="1"/>
            </p:cNvSpPr>
            <p:nvPr/>
          </p:nvSpPr>
          <p:spPr bwMode="auto">
            <a:xfrm>
              <a:off x="7239000" y="2889250"/>
              <a:ext cx="301414" cy="236353"/>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dirty="0">
                  <a:sym typeface="Symbol" pitchFamily="18" charset="2"/>
                </a:rPr>
                <a:t> 5</a:t>
              </a:r>
            </a:p>
          </p:txBody>
        </p:sp>
        <p:sp>
          <p:nvSpPr>
            <p:cNvPr id="37" name="Text Box 46">
              <a:extLst>
                <a:ext uri="{FF2B5EF4-FFF2-40B4-BE49-F238E27FC236}">
                  <a16:creationId xmlns:a16="http://schemas.microsoft.com/office/drawing/2014/main" id="{5E05F2E9-BF55-549F-10FA-AB84A6EC24FB}"/>
                </a:ext>
              </a:extLst>
            </p:cNvPr>
            <p:cNvSpPr txBox="1">
              <a:spLocks noChangeArrowheads="1"/>
            </p:cNvSpPr>
            <p:nvPr/>
          </p:nvSpPr>
          <p:spPr bwMode="auto">
            <a:xfrm>
              <a:off x="762000" y="2819400"/>
              <a:ext cx="811213" cy="457200"/>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ym typeface="Symbol" pitchFamily="18" charset="2"/>
                </a:rPr>
                <a:t>MIN</a:t>
              </a:r>
              <a:endParaRPr lang="en-US" b="1" dirty="0"/>
            </a:p>
          </p:txBody>
        </p:sp>
        <p:sp>
          <p:nvSpPr>
            <p:cNvPr id="38" name="Text Box 47">
              <a:extLst>
                <a:ext uri="{FF2B5EF4-FFF2-40B4-BE49-F238E27FC236}">
                  <a16:creationId xmlns:a16="http://schemas.microsoft.com/office/drawing/2014/main" id="{D7EB1011-22B6-F0C6-7A77-66E150860722}"/>
                </a:ext>
              </a:extLst>
            </p:cNvPr>
            <p:cNvSpPr txBox="1">
              <a:spLocks noChangeArrowheads="1"/>
            </p:cNvSpPr>
            <p:nvPr/>
          </p:nvSpPr>
          <p:spPr bwMode="auto">
            <a:xfrm>
              <a:off x="2789930" y="1722734"/>
              <a:ext cx="1035050" cy="534905"/>
            </a:xfrm>
            <a:prstGeom prst="rect">
              <a:avLst/>
            </a:prstGeom>
            <a:noFill/>
            <a:ln w="9525">
              <a:noFill/>
              <a:miter lim="800000"/>
              <a:headEnd/>
              <a:tailEnd/>
            </a:ln>
          </p:spPr>
          <p:txBody>
            <a:bodyPr wrap="squar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t>Selected move</a:t>
              </a:r>
            </a:p>
          </p:txBody>
        </p:sp>
        <p:sp>
          <p:nvSpPr>
            <p:cNvPr id="39" name="Text Box 38">
              <a:extLst>
                <a:ext uri="{FF2B5EF4-FFF2-40B4-BE49-F238E27FC236}">
                  <a16:creationId xmlns:a16="http://schemas.microsoft.com/office/drawing/2014/main" id="{83927423-6B7E-93D8-F9FD-76B5C2B4CAE0}"/>
                </a:ext>
              </a:extLst>
            </p:cNvPr>
            <p:cNvSpPr txBox="1">
              <a:spLocks noChangeArrowheads="1"/>
            </p:cNvSpPr>
            <p:nvPr/>
          </p:nvSpPr>
          <p:spPr bwMode="auto">
            <a:xfrm>
              <a:off x="7391400" y="4876800"/>
              <a:ext cx="191564" cy="286112"/>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ym typeface="Symbol" pitchFamily="18" charset="2"/>
                </a:rPr>
                <a:t>8</a:t>
              </a:r>
              <a:endParaRPr lang="en-US" sz="4000" b="1" dirty="0"/>
            </a:p>
          </p:txBody>
        </p:sp>
        <p:sp>
          <p:nvSpPr>
            <p:cNvPr id="40" name="Text Box 38">
              <a:extLst>
                <a:ext uri="{FF2B5EF4-FFF2-40B4-BE49-F238E27FC236}">
                  <a16:creationId xmlns:a16="http://schemas.microsoft.com/office/drawing/2014/main" id="{14D7955E-5437-C862-6E97-24F70CB3B795}"/>
                </a:ext>
              </a:extLst>
            </p:cNvPr>
            <p:cNvSpPr txBox="1">
              <a:spLocks noChangeArrowheads="1"/>
            </p:cNvSpPr>
            <p:nvPr/>
          </p:nvSpPr>
          <p:spPr bwMode="auto">
            <a:xfrm>
              <a:off x="6705600" y="4876800"/>
              <a:ext cx="191564" cy="286112"/>
            </a:xfrm>
            <a:prstGeom prst="rect">
              <a:avLst/>
            </a:prstGeom>
            <a:noFill/>
            <a:ln w="9525">
              <a:noFill/>
              <a:miter lim="800000"/>
              <a:headEnd/>
              <a:tailEnd/>
            </a:ln>
          </p:spPr>
          <p:txBody>
            <a:bodyPr wrap="none">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ym typeface="Symbol" pitchFamily="18" charset="2"/>
                </a:rPr>
                <a:t>5</a:t>
              </a:r>
              <a:endParaRPr lang="en-US" sz="4000" b="1" dirty="0"/>
            </a:p>
          </p:txBody>
        </p:sp>
        <p:sp>
          <p:nvSpPr>
            <p:cNvPr id="41" name="AutoShape 33">
              <a:extLst>
                <a:ext uri="{FF2B5EF4-FFF2-40B4-BE49-F238E27FC236}">
                  <a16:creationId xmlns:a16="http://schemas.microsoft.com/office/drawing/2014/main" id="{3C26A47F-5410-ED03-BE2C-EAC524F2766E}"/>
                </a:ext>
              </a:extLst>
            </p:cNvPr>
            <p:cNvSpPr>
              <a:spLocks noChangeArrowheads="1"/>
            </p:cNvSpPr>
            <p:nvPr/>
          </p:nvSpPr>
          <p:spPr bwMode="auto">
            <a:xfrm>
              <a:off x="6629400" y="43434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42" name="AutoShape 33">
              <a:extLst>
                <a:ext uri="{FF2B5EF4-FFF2-40B4-BE49-F238E27FC236}">
                  <a16:creationId xmlns:a16="http://schemas.microsoft.com/office/drawing/2014/main" id="{3424944C-2550-82E6-FC91-0991826D5B0D}"/>
                </a:ext>
              </a:extLst>
            </p:cNvPr>
            <p:cNvSpPr>
              <a:spLocks noChangeArrowheads="1"/>
            </p:cNvSpPr>
            <p:nvPr/>
          </p:nvSpPr>
          <p:spPr bwMode="auto">
            <a:xfrm>
              <a:off x="7315200" y="4343400"/>
              <a:ext cx="457200" cy="457200"/>
            </a:xfrm>
            <a:prstGeom prst="triangle">
              <a:avLst>
                <a:gd name="adj" fmla="val 50000"/>
              </a:avLst>
            </a:prstGeom>
            <a:solidFill>
              <a:srgbClr val="DDDDDD"/>
            </a:solidFill>
            <a:ln w="9525">
              <a:solidFill>
                <a:schemeClr val="tx1"/>
              </a:solidFill>
              <a:miter lim="800000"/>
              <a:headEnd/>
              <a:tailEnd/>
            </a:ln>
          </p:spPr>
          <p:txBody>
            <a:bodyPr wrap="none"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sp>
        <p:nvSpPr>
          <p:cNvPr id="49" name="Title 1">
            <a:extLst>
              <a:ext uri="{FF2B5EF4-FFF2-40B4-BE49-F238E27FC236}">
                <a16:creationId xmlns:a16="http://schemas.microsoft.com/office/drawing/2014/main" id="{E138B8ED-48BA-0A35-6E0D-52F91267220B}"/>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Alpha Beta Pruning</a:t>
            </a:r>
          </a:p>
        </p:txBody>
      </p:sp>
      <p:sp>
        <p:nvSpPr>
          <p:cNvPr id="50" name="Text Placeholder 2">
            <a:extLst>
              <a:ext uri="{FF2B5EF4-FFF2-40B4-BE49-F238E27FC236}">
                <a16:creationId xmlns:a16="http://schemas.microsoft.com/office/drawing/2014/main" id="{DB86C8C2-24E6-E9DB-BAEF-AEE5683430DE}"/>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Example</a:t>
            </a:r>
          </a:p>
        </p:txBody>
      </p:sp>
    </p:spTree>
    <p:extLst>
      <p:ext uri="{BB962C8B-B14F-4D97-AF65-F5344CB8AC3E}">
        <p14:creationId xmlns:p14="http://schemas.microsoft.com/office/powerpoint/2010/main" val="367928370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Judul 4">
            <a:extLst>
              <a:ext uri="{FF2B5EF4-FFF2-40B4-BE49-F238E27FC236}">
                <a16:creationId xmlns:a16="http://schemas.microsoft.com/office/drawing/2014/main" id="{C5B773AD-3131-DABC-0943-3C804025A808}"/>
              </a:ext>
            </a:extLst>
          </p:cNvPr>
          <p:cNvSpPr>
            <a:spLocks noGrp="1"/>
          </p:cNvSpPr>
          <p:nvPr>
            <p:ph type="title"/>
          </p:nvPr>
        </p:nvSpPr>
        <p:spPr/>
        <p:txBody>
          <a:bodyPr/>
          <a:lstStyle/>
          <a:p>
            <a:r>
              <a:rPr lang="en-US" dirty="0"/>
              <a:t>Exercise</a:t>
            </a:r>
          </a:p>
        </p:txBody>
      </p:sp>
    </p:spTree>
    <p:extLst>
      <p:ext uri="{BB962C8B-B14F-4D97-AF65-F5344CB8AC3E}">
        <p14:creationId xmlns:p14="http://schemas.microsoft.com/office/powerpoint/2010/main" val="1973261676"/>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B97D09A-D7A4-D09E-04A3-585B1F5732E5}"/>
              </a:ext>
            </a:extLst>
          </p:cNvPr>
          <p:cNvSpPr>
            <a:spLocks noGrp="1"/>
          </p:cNvSpPr>
          <p:nvPr>
            <p:ph sz="quarter" idx="11"/>
          </p:nvPr>
        </p:nvSpPr>
        <p:spPr>
          <a:xfrm>
            <a:off x="2725519" y="2725702"/>
            <a:ext cx="20726151" cy="4522264"/>
          </a:xfrm>
        </p:spPr>
        <p:txBody>
          <a:bodyPr>
            <a:normAutofit/>
          </a:bodyPr>
          <a:lstStyle/>
          <a:p>
            <a:r>
              <a:rPr lang="en-US" sz="3200" b="0" i="0" u="none" strike="noStrike" dirty="0">
                <a:solidFill>
                  <a:srgbClr val="000000"/>
                </a:solidFill>
                <a:effectLst/>
                <a:latin typeface="Open Sans" panose="020B0606030504020204" pitchFamily="34" charset="0"/>
              </a:rPr>
              <a:t>Given a </a:t>
            </a:r>
            <a:r>
              <a:rPr lang="en-US" sz="3200" b="1" i="0" u="none" strike="noStrike" dirty="0">
                <a:solidFill>
                  <a:srgbClr val="3399FF"/>
                </a:solidFill>
                <a:effectLst/>
                <a:latin typeface="Open Sans" panose="020B0606030504020204" pitchFamily="34" charset="0"/>
              </a:rPr>
              <a:t>Min-Max tree </a:t>
            </a:r>
            <a:r>
              <a:rPr lang="en-US" sz="3200" b="0" i="0" u="none" strike="noStrike" dirty="0">
                <a:solidFill>
                  <a:srgbClr val="000000"/>
                </a:solidFill>
                <a:effectLst/>
                <a:latin typeface="Open Sans" panose="020B0606030504020204" pitchFamily="34" charset="0"/>
              </a:rPr>
              <a:t>as below, describe in your own figure how the process of </a:t>
            </a:r>
            <a:r>
              <a:rPr lang="en-US" sz="3200" b="1" i="0" u="none" strike="noStrike" dirty="0">
                <a:solidFill>
                  <a:srgbClr val="3399FF"/>
                </a:solidFill>
                <a:effectLst/>
                <a:latin typeface="Open Sans" panose="020B0606030504020204" pitchFamily="34" charset="0"/>
              </a:rPr>
              <a:t>Alpha-Beta Pruning </a:t>
            </a:r>
            <a:r>
              <a:rPr lang="en-US" sz="3200" b="0" i="0" u="none" strike="noStrike" dirty="0">
                <a:solidFill>
                  <a:srgbClr val="000000"/>
                </a:solidFill>
                <a:effectLst/>
                <a:latin typeface="Open Sans" panose="020B0606030504020204" pitchFamily="34" charset="0"/>
              </a:rPr>
              <a:t>is executed to the tree!</a:t>
            </a:r>
            <a:r>
              <a:rPr lang="en-US" sz="3200" b="0" i="0" dirty="0">
                <a:solidFill>
                  <a:srgbClr val="000000"/>
                </a:solidFill>
                <a:effectLst/>
                <a:latin typeface="Open Sans" panose="020B0606030504020204" pitchFamily="34" charset="0"/>
              </a:rPr>
              <a:t>​</a:t>
            </a:r>
            <a:endParaRPr lang="en-ID" sz="4000" dirty="0"/>
          </a:p>
        </p:txBody>
      </p:sp>
      <p:pic>
        <p:nvPicPr>
          <p:cNvPr id="7" name="Picture 6">
            <a:extLst>
              <a:ext uri="{FF2B5EF4-FFF2-40B4-BE49-F238E27FC236}">
                <a16:creationId xmlns:a16="http://schemas.microsoft.com/office/drawing/2014/main" id="{D31E5504-CFF6-75A0-5E45-F40B34C8BC0E}"/>
              </a:ext>
            </a:extLst>
          </p:cNvPr>
          <p:cNvPicPr>
            <a:picLocks noChangeAspect="1"/>
          </p:cNvPicPr>
          <p:nvPr/>
        </p:nvPicPr>
        <p:blipFill>
          <a:blip r:embed="rId2"/>
          <a:stretch>
            <a:fillRect/>
          </a:stretch>
        </p:blipFill>
        <p:spPr>
          <a:xfrm>
            <a:off x="4396615" y="3978065"/>
            <a:ext cx="17472492" cy="9737935"/>
          </a:xfrm>
          <a:prstGeom prst="rect">
            <a:avLst/>
          </a:prstGeom>
        </p:spPr>
      </p:pic>
      <p:sp>
        <p:nvSpPr>
          <p:cNvPr id="4" name="Title 1">
            <a:extLst>
              <a:ext uri="{FF2B5EF4-FFF2-40B4-BE49-F238E27FC236}">
                <a16:creationId xmlns:a16="http://schemas.microsoft.com/office/drawing/2014/main" id="{295BFACA-A7A3-FD2F-EF73-CA426A498E8B}"/>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dirty="0"/>
              <a:t>Exercise</a:t>
            </a:r>
          </a:p>
        </p:txBody>
      </p:sp>
      <p:sp>
        <p:nvSpPr>
          <p:cNvPr id="6" name="Text Placeholder 2">
            <a:extLst>
              <a:ext uri="{FF2B5EF4-FFF2-40B4-BE49-F238E27FC236}">
                <a16:creationId xmlns:a16="http://schemas.microsoft.com/office/drawing/2014/main" id="{0AD86279-3923-13BE-0C97-6E82498DEC4B}"/>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Session 05</a:t>
            </a:r>
          </a:p>
        </p:txBody>
      </p:sp>
    </p:spTree>
    <p:extLst>
      <p:ext uri="{BB962C8B-B14F-4D97-AF65-F5344CB8AC3E}">
        <p14:creationId xmlns:p14="http://schemas.microsoft.com/office/powerpoint/2010/main" val="774778804"/>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Judul 4">
            <a:extLst>
              <a:ext uri="{FF2B5EF4-FFF2-40B4-BE49-F238E27FC236}">
                <a16:creationId xmlns:a16="http://schemas.microsoft.com/office/drawing/2014/main" id="{C5B773AD-3131-DABC-0943-3C804025A808}"/>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106397238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ampungan Konten 14">
            <a:extLst>
              <a:ext uri="{FF2B5EF4-FFF2-40B4-BE49-F238E27FC236}">
                <a16:creationId xmlns:a16="http://schemas.microsoft.com/office/drawing/2014/main" id="{FC0F9715-3361-3A3E-A4CD-86B721291623}"/>
              </a:ext>
            </a:extLst>
          </p:cNvPr>
          <p:cNvSpPr>
            <a:spLocks noGrp="1"/>
          </p:cNvSpPr>
          <p:nvPr>
            <p:ph sz="quarter" idx="11"/>
          </p:nvPr>
        </p:nvSpPr>
        <p:spPr>
          <a:xfrm>
            <a:off x="466042" y="2557980"/>
            <a:ext cx="23380929" cy="11158019"/>
          </a:xfrm>
        </p:spPr>
        <p:txBody>
          <a:bodyPr>
            <a:normAutofit/>
          </a:bodyPr>
          <a:lstStyle/>
          <a:p>
            <a:pPr marL="1544638" indent="-685800" algn="just"/>
            <a:r>
              <a:rPr lang="en-US" sz="4800" dirty="0">
                <a:latin typeface="+mj-lt"/>
              </a:rPr>
              <a:t>Stuart Russell, Peter Norvig. 2020. Artificial Intelligence : A Modern Approach. Pearson Education. New Jersey</a:t>
            </a:r>
          </a:p>
          <a:p>
            <a:pPr marL="1773238" indent="-914400" algn="just"/>
            <a:r>
              <a:rPr lang="en-US" sz="4800">
                <a:latin typeface="+mj-lt"/>
                <a:hlinkClick r:id="rId2"/>
              </a:rPr>
              <a:t>https</a:t>
            </a:r>
            <a:r>
              <a:rPr lang="en-US" sz="4800" dirty="0">
                <a:latin typeface="+mj-lt"/>
                <a:hlinkClick r:id="rId2"/>
              </a:rPr>
              <a:t>://inst.eecs.berkeley.edu/~cs188/fa18/assets/slides/lec6/FA18_cs188_lecture6_adversarial_search_1pp.pdf</a:t>
            </a:r>
            <a:endParaRPr lang="en-US" sz="4800" dirty="0">
              <a:latin typeface="+mj-lt"/>
            </a:endParaRPr>
          </a:p>
          <a:p>
            <a:pPr marL="1773238" indent="-914400" algn="just"/>
            <a:r>
              <a:rPr lang="en-US" sz="4800" dirty="0">
                <a:latin typeface="+mj-lt"/>
                <a:hlinkClick r:id="rId3"/>
              </a:rPr>
              <a:t>https://www2.cs.sfu.ca/CourseCentral/310/oschulte/mychapter5.pdf</a:t>
            </a:r>
            <a:endParaRPr lang="en-US" sz="4800" dirty="0">
              <a:latin typeface="+mj-lt"/>
            </a:endParaRPr>
          </a:p>
          <a:p>
            <a:pPr marL="1773238" indent="-914400" algn="just"/>
            <a:r>
              <a:rPr lang="en-US" sz="4800" dirty="0">
                <a:latin typeface="+mj-lt"/>
                <a:hlinkClick r:id="rId4"/>
              </a:rPr>
              <a:t>https://imada.sdu.dk/u/marco/DM828/Slides/dm828-lec17.pdf</a:t>
            </a:r>
            <a:endParaRPr lang="en-US" sz="4800" dirty="0">
              <a:latin typeface="+mj-lt"/>
            </a:endParaRPr>
          </a:p>
        </p:txBody>
      </p:sp>
      <p:sp>
        <p:nvSpPr>
          <p:cNvPr id="4" name="Title 1">
            <a:extLst>
              <a:ext uri="{FF2B5EF4-FFF2-40B4-BE49-F238E27FC236}">
                <a16:creationId xmlns:a16="http://schemas.microsoft.com/office/drawing/2014/main" id="{DFBA06CA-57F0-ED9A-F8D2-52D302C097C0}"/>
              </a:ext>
            </a:extLst>
          </p:cNvPr>
          <p:cNvSpPr txBox="1">
            <a:spLocks/>
          </p:cNvSpPr>
          <p:nvPr/>
        </p:nvSpPr>
        <p:spPr>
          <a:xfrm>
            <a:off x="3996177" y="889673"/>
            <a:ext cx="14715569" cy="5102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0000" lnSpcReduction="10000"/>
          </a:bodyPr>
          <a:lstStyle>
            <a:lvl1pPr marL="0" marR="0" indent="0" algn="l" defTabSz="2438338" rtl="0" eaLnBrk="1" latinLnBrk="0" hangingPunct="1">
              <a:lnSpc>
                <a:spcPct val="80000"/>
              </a:lnSpc>
              <a:spcBef>
                <a:spcPts val="0"/>
              </a:spcBef>
              <a:spcAft>
                <a:spcPts val="0"/>
              </a:spcAft>
              <a:buClrTx/>
              <a:buSzTx/>
              <a:buFontTx/>
              <a:buNone/>
              <a:tabLst/>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r>
              <a:rPr lang="en-US"/>
              <a:t>References</a:t>
            </a:r>
            <a:endParaRPr lang="en-US" dirty="0"/>
          </a:p>
        </p:txBody>
      </p:sp>
      <p:sp>
        <p:nvSpPr>
          <p:cNvPr id="5" name="Text Placeholder 2">
            <a:extLst>
              <a:ext uri="{FF2B5EF4-FFF2-40B4-BE49-F238E27FC236}">
                <a16:creationId xmlns:a16="http://schemas.microsoft.com/office/drawing/2014/main" id="{D090F2B1-9D13-20BB-FEC8-A04D78385335}"/>
              </a:ext>
            </a:extLst>
          </p:cNvPr>
          <p:cNvSpPr txBox="1">
            <a:spLocks/>
          </p:cNvSpPr>
          <p:nvPr/>
        </p:nvSpPr>
        <p:spPr>
          <a:xfrm>
            <a:off x="3996177" y="1437343"/>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t>Session 05</a:t>
            </a:r>
          </a:p>
        </p:txBody>
      </p:sp>
    </p:spTree>
    <p:extLst>
      <p:ext uri="{BB962C8B-B14F-4D97-AF65-F5344CB8AC3E}">
        <p14:creationId xmlns:p14="http://schemas.microsoft.com/office/powerpoint/2010/main" val="36968460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6e8e69d-8113-4c3e-a5da-839ebfcacd2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630A65A6BD14C4C833B6B2D3A63AAEA" ma:contentTypeVersion="17" ma:contentTypeDescription="Create a new document." ma:contentTypeScope="" ma:versionID="95d29aa1546c73cec687a190b47744f5">
  <xsd:schema xmlns:xsd="http://www.w3.org/2001/XMLSchema" xmlns:xs="http://www.w3.org/2001/XMLSchema" xmlns:p="http://schemas.microsoft.com/office/2006/metadata/properties" xmlns:ns3="36e8e69d-8113-4c3e-a5da-839ebfcacd27" xmlns:ns4="e52548ed-37be-42cc-88f6-9cd56f31ccf6" targetNamespace="http://schemas.microsoft.com/office/2006/metadata/properties" ma:root="true" ma:fieldsID="7da4afaee5709df5d5c1b10571a7cdd2" ns3:_="" ns4:_="">
    <xsd:import namespace="36e8e69d-8113-4c3e-a5da-839ebfcacd27"/>
    <xsd:import namespace="e52548ed-37be-42cc-88f6-9cd56f31ccf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8e69d-8113-4c3e-a5da-839ebfcacd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548ed-37be-42cc-88f6-9cd56f31ccf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38CD74-382B-4020-A314-A8789313F0DE}">
  <ds:schemaRefs>
    <ds:schemaRef ds:uri="http://purl.org/dc/terms/"/>
    <ds:schemaRef ds:uri="http://schemas.microsoft.com/office/2006/documentManagement/types"/>
    <ds:schemaRef ds:uri="36e8e69d-8113-4c3e-a5da-839ebfcacd27"/>
    <ds:schemaRef ds:uri="e52548ed-37be-42cc-88f6-9cd56f31ccf6"/>
    <ds:schemaRef ds:uri="http://schemas.openxmlformats.org/package/2006/metadata/core-properties"/>
    <ds:schemaRef ds:uri="http://schemas.microsoft.com/office/infopath/2007/PartnerControls"/>
    <ds:schemaRef ds:uri="http://www.w3.org/XML/1998/namespace"/>
    <ds:schemaRef ds:uri="http://schemas.microsoft.com/office/2006/metadata/properties"/>
    <ds:schemaRef ds:uri="http://purl.org/dc/dcmitype/"/>
    <ds:schemaRef ds:uri="http://purl.org/dc/elements/1.1/"/>
  </ds:schemaRefs>
</ds:datastoreItem>
</file>

<file path=customXml/itemProps2.xml><?xml version="1.0" encoding="utf-8"?>
<ds:datastoreItem xmlns:ds="http://schemas.openxmlformats.org/officeDocument/2006/customXml" ds:itemID="{0624DD04-62DE-447D-923F-044EAD2514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e8e69d-8113-4c3e-a5da-839ebfcacd27"/>
    <ds:schemaRef ds:uri="e52548ed-37be-42cc-88f6-9cd56f31cc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7F7FCA-73EE-4D22-8714-545892283DDC}">
  <ds:schemaRefs>
    <ds:schemaRef ds:uri="http://schemas.microsoft.com/sharepoint/v3/contenttype/forms"/>
  </ds:schemaRefs>
</ds:datastoreItem>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
  <TotalTime>1439</TotalTime>
  <Words>1051</Words>
  <Application>Microsoft Office PowerPoint</Application>
  <PresentationFormat>Custom</PresentationFormat>
  <Paragraphs>181</Paragraphs>
  <Slides>33</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Symbol</vt:lpstr>
      <vt:lpstr>Tahoma</vt:lpstr>
      <vt:lpstr>Segoe UI</vt:lpstr>
      <vt:lpstr>Calibri</vt:lpstr>
      <vt:lpstr>OCRB</vt:lpstr>
      <vt:lpstr>Cambria Math</vt:lpstr>
      <vt:lpstr>Open Sans ExtraBold</vt:lpstr>
      <vt:lpstr>Open Sans Light</vt:lpstr>
      <vt:lpstr>Open Sans Semibold</vt:lpstr>
      <vt:lpstr>Open Sans</vt:lpstr>
      <vt:lpstr>Arial</vt:lpstr>
      <vt:lpstr>21_BasicWhite</vt:lpstr>
      <vt:lpstr>Adversarial Search</vt:lpstr>
      <vt:lpstr>PowerPoint Presentation</vt:lpstr>
      <vt:lpstr>PowerPoint Presentation</vt:lpstr>
      <vt:lpstr>Introduction</vt:lpstr>
      <vt:lpstr>PowerPoint Presentation</vt:lpstr>
      <vt:lpstr>PowerPoint Presentation</vt:lpstr>
      <vt:lpstr>PowerPoint Presentation</vt:lpstr>
      <vt:lpstr>Minimax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Alpha-Beta Pruning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PowerPoint</dc:title>
  <dc:creator>Felix Indra Kurniadi</dc:creator>
  <cp:lastModifiedBy>Henry Lucky</cp:lastModifiedBy>
  <cp:revision>46</cp:revision>
  <dcterms:created xsi:type="dcterms:W3CDTF">2023-10-15T02:42:15Z</dcterms:created>
  <dcterms:modified xsi:type="dcterms:W3CDTF">2024-12-26T16:13:37Z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0x0101006630A65A6BD14C4C833B6B2D3A63AAEA</vt:lpwstr>
  </property>
</Properties>
</file>