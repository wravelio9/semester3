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8"/>
  </p:notesMasterIdLst>
  <p:sldIdLst>
    <p:sldId id="290" r:id="rId2"/>
    <p:sldId id="257" r:id="rId3"/>
    <p:sldId id="258" r:id="rId4"/>
    <p:sldId id="291" r:id="rId5"/>
    <p:sldId id="292" r:id="rId6"/>
    <p:sldId id="293" r:id="rId7"/>
    <p:sldId id="294" r:id="rId8"/>
    <p:sldId id="295" r:id="rId9"/>
    <p:sldId id="296" r:id="rId10"/>
    <p:sldId id="297" r:id="rId11"/>
    <p:sldId id="298" r:id="rId12"/>
    <p:sldId id="301" r:id="rId13"/>
    <p:sldId id="302" r:id="rId14"/>
    <p:sldId id="303" r:id="rId15"/>
    <p:sldId id="304" r:id="rId16"/>
    <p:sldId id="305" r:id="rId17"/>
    <p:sldId id="310" r:id="rId18"/>
    <p:sldId id="306" r:id="rId19"/>
    <p:sldId id="307" r:id="rId20"/>
    <p:sldId id="311" r:id="rId21"/>
    <p:sldId id="308" r:id="rId22"/>
    <p:sldId id="309" r:id="rId23"/>
    <p:sldId id="299" r:id="rId24"/>
    <p:sldId id="300" r:id="rId25"/>
    <p:sldId id="312" r:id="rId26"/>
    <p:sldId id="278" r:id="rId27"/>
  </p:sldIdLst>
  <p:sldSz cx="24384000" cy="13716000"/>
  <p:notesSz cx="6858000" cy="9144000"/>
  <p:embeddedFontLst>
    <p:embeddedFont>
      <p:font typeface="Calibri" panose="020F0502020204030204" pitchFamily="34" charset="0"/>
      <p:regular r:id="rId29"/>
      <p:bold r:id="rId30"/>
      <p:italic r:id="rId31"/>
      <p:boldItalic r:id="rId32"/>
    </p:embeddedFont>
    <p:embeddedFont>
      <p:font typeface="Cambria Math" panose="02040503050406030204" pitchFamily="18" charset="0"/>
      <p:regular r:id="rId33"/>
    </p:embeddedFont>
    <p:embeddedFont>
      <p:font typeface="OCRB" panose="020B0609020202020204" pitchFamily="49" charset="77"/>
      <p:regular r:id="rId34"/>
    </p:embeddedFont>
    <p:embeddedFont>
      <p:font typeface="Open Sans" panose="020B0606030504020204" pitchFamily="34" charset="0"/>
      <p:regular r:id="rId35"/>
      <p:bold r:id="rId36"/>
      <p:italic r:id="rId37"/>
      <p:boldItalic r:id="rId38"/>
    </p:embeddedFont>
    <p:embeddedFont>
      <p:font typeface="Open Sans ExtraBold" panose="020B0606030504020204" pitchFamily="34" charset="0"/>
      <p:bold r:id="rId39"/>
      <p:italic r:id="rId40"/>
      <p:boldItalic r:id="rId41"/>
    </p:embeddedFont>
    <p:embeddedFont>
      <p:font typeface="Open Sans Light" panose="020B0306030504020204" pitchFamily="34" charset="0"/>
      <p:regular r:id="rId42"/>
      <p:italic r:id="rId43"/>
    </p:embeddedFont>
    <p:embeddedFont>
      <p:font typeface="Open Sans Semibold" panose="020B0606030504020204" pitchFamily="34" charset="0"/>
      <p:regular r:id="rId44"/>
      <p:bold r:id="rId45"/>
      <p:italic r:id="rId46"/>
      <p:boldItalic r:id="rId47"/>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41" autoAdjust="0"/>
    <p:restoredTop sz="91003"/>
  </p:normalViewPr>
  <p:slideViewPr>
    <p:cSldViewPr snapToGrid="0" snapToObjects="1">
      <p:cViewPr>
        <p:scale>
          <a:sx n="42" d="100"/>
          <a:sy n="42" d="100"/>
        </p:scale>
        <p:origin x="1400" y="304"/>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3188" y="3260663"/>
            <a:ext cx="20057623" cy="8583279"/>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kdnuggets.com/2019/08/introduction-image-segmentation-k-means-clustering.html"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23</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K-Means</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543550" y="11538583"/>
            <a:ext cx="5286583" cy="745888"/>
          </a:xfrm>
        </p:spPr>
        <p:txBody>
          <a:bodyPr/>
          <a:lstStyle/>
          <a:p>
            <a:r>
              <a:rPr lang="en-US" dirty="0"/>
              <a:t>Felix Indra </a:t>
            </a:r>
            <a:r>
              <a:rPr lang="en-US" dirty="0" err="1"/>
              <a:t>Kurniadi</a:t>
            </a:r>
            <a:r>
              <a:rPr lang="en-US" dirty="0"/>
              <a:t>,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420577925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23</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0" indent="0">
              <a:buNone/>
            </a:pPr>
            <a:r>
              <a:rPr lang="en-ID" dirty="0"/>
              <a:t>At the end of this session, students will be able to:</a:t>
            </a:r>
          </a:p>
          <a:p>
            <a:r>
              <a:rPr lang="en-ID" dirty="0"/>
              <a:t>LO 5: Apply various learning algorithms for agents to solve problems  </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23</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Clustering</a:t>
            </a:r>
          </a:p>
          <a:p>
            <a:r>
              <a:rPr lang="en-ID" dirty="0"/>
              <a:t>K-Means Clustering</a:t>
            </a:r>
          </a:p>
          <a:p>
            <a:endParaRPr lang="en-ID" dirty="0"/>
          </a:p>
          <a:p>
            <a:endParaRPr lang="en-ID" dirty="0"/>
          </a:p>
          <a:p>
            <a:endParaRPr lang="en-ID" dirty="0"/>
          </a:p>
        </p:txBody>
      </p:sp>
    </p:spTree>
    <p:extLst>
      <p:ext uri="{BB962C8B-B14F-4D97-AF65-F5344CB8AC3E}">
        <p14:creationId xmlns:p14="http://schemas.microsoft.com/office/powerpoint/2010/main" val="18894624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4D857-FCFB-21AD-9BB3-AEB5F031135D}"/>
              </a:ext>
            </a:extLst>
          </p:cNvPr>
          <p:cNvSpPr>
            <a:spLocks noGrp="1"/>
          </p:cNvSpPr>
          <p:nvPr>
            <p:ph type="title"/>
          </p:nvPr>
        </p:nvSpPr>
        <p:spPr/>
        <p:txBody>
          <a:bodyPr>
            <a:normAutofit fontScale="90000"/>
          </a:bodyPr>
          <a:lstStyle/>
          <a:p>
            <a:r>
              <a:rPr lang="en-US" dirty="0"/>
              <a:t>Clustering</a:t>
            </a:r>
          </a:p>
        </p:txBody>
      </p:sp>
      <p:sp>
        <p:nvSpPr>
          <p:cNvPr id="3" name="Text Placeholder 2">
            <a:extLst>
              <a:ext uri="{FF2B5EF4-FFF2-40B4-BE49-F238E27FC236}">
                <a16:creationId xmlns:a16="http://schemas.microsoft.com/office/drawing/2014/main" id="{456A26D3-4C6B-767D-61F1-B36EA08A71BB}"/>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F8058191-0A84-BD64-3574-5D39FBAB2C3F}"/>
              </a:ext>
            </a:extLst>
          </p:cNvPr>
          <p:cNvSpPr>
            <a:spLocks noGrp="1"/>
          </p:cNvSpPr>
          <p:nvPr>
            <p:ph sz="quarter" idx="11"/>
          </p:nvPr>
        </p:nvSpPr>
        <p:spPr>
          <a:xfrm>
            <a:off x="2163189" y="3260663"/>
            <a:ext cx="8209536" cy="8583279"/>
          </a:xfrm>
        </p:spPr>
        <p:txBody>
          <a:bodyPr/>
          <a:lstStyle/>
          <a:p>
            <a:r>
              <a:rPr lang="en-US" dirty="0"/>
              <a:t>Sometimes the data form clusters, where examples within a cluster are similar to each other, and examples in different clusters are dissimilar</a:t>
            </a:r>
          </a:p>
          <a:p>
            <a:r>
              <a:rPr lang="en-US" dirty="0"/>
              <a:t>Grouping data points into clusters, with no labels, is called </a:t>
            </a:r>
            <a:r>
              <a:rPr lang="en-US" b="1" dirty="0"/>
              <a:t>clustering</a:t>
            </a:r>
          </a:p>
          <a:p>
            <a:endParaRPr lang="en-US" dirty="0"/>
          </a:p>
        </p:txBody>
      </p:sp>
      <p:pic>
        <p:nvPicPr>
          <p:cNvPr id="5" name="Picture 4">
            <a:extLst>
              <a:ext uri="{FF2B5EF4-FFF2-40B4-BE49-F238E27FC236}">
                <a16:creationId xmlns:a16="http://schemas.microsoft.com/office/drawing/2014/main" id="{DDF74C43-99E1-13E4-5F5A-747E0B989EA3}"/>
              </a:ext>
            </a:extLst>
          </p:cNvPr>
          <p:cNvPicPr>
            <a:picLocks noChangeAspect="1"/>
          </p:cNvPicPr>
          <p:nvPr/>
        </p:nvPicPr>
        <p:blipFill>
          <a:blip r:embed="rId2"/>
          <a:stretch>
            <a:fillRect/>
          </a:stretch>
        </p:blipFill>
        <p:spPr>
          <a:xfrm>
            <a:off x="10676100" y="2874133"/>
            <a:ext cx="11212350" cy="9356338"/>
          </a:xfrm>
          <a:prstGeom prst="rect">
            <a:avLst/>
          </a:prstGeom>
        </p:spPr>
      </p:pic>
    </p:spTree>
    <p:extLst>
      <p:ext uri="{BB962C8B-B14F-4D97-AF65-F5344CB8AC3E}">
        <p14:creationId xmlns:p14="http://schemas.microsoft.com/office/powerpoint/2010/main" val="297067497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7447C-D9FB-95FE-C886-2557AE550170}"/>
              </a:ext>
            </a:extLst>
          </p:cNvPr>
          <p:cNvSpPr>
            <a:spLocks noGrp="1"/>
          </p:cNvSpPr>
          <p:nvPr>
            <p:ph type="title"/>
          </p:nvPr>
        </p:nvSpPr>
        <p:spPr/>
        <p:txBody>
          <a:bodyPr>
            <a:normAutofit fontScale="90000"/>
          </a:bodyPr>
          <a:lstStyle/>
          <a:p>
            <a:r>
              <a:rPr lang="en-US" dirty="0"/>
              <a:t>clustering</a:t>
            </a:r>
          </a:p>
        </p:txBody>
      </p:sp>
      <p:sp>
        <p:nvSpPr>
          <p:cNvPr id="3" name="Text Placeholder 2">
            <a:extLst>
              <a:ext uri="{FF2B5EF4-FFF2-40B4-BE49-F238E27FC236}">
                <a16:creationId xmlns:a16="http://schemas.microsoft.com/office/drawing/2014/main" id="{89CAF26E-2A4E-8466-0BB1-F6352D8A3403}"/>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DF611D0C-3491-05F4-3617-69D8350E5378}"/>
              </a:ext>
            </a:extLst>
          </p:cNvPr>
          <p:cNvSpPr>
            <a:spLocks noGrp="1"/>
          </p:cNvSpPr>
          <p:nvPr>
            <p:ph sz="quarter" idx="11"/>
          </p:nvPr>
        </p:nvSpPr>
        <p:spPr/>
        <p:txBody>
          <a:bodyPr/>
          <a:lstStyle/>
          <a:p>
            <a:r>
              <a:rPr lang="en-US" dirty="0"/>
              <a:t>So, what is the clustering in General:</a:t>
            </a:r>
          </a:p>
          <a:p>
            <a:pPr lvl="1">
              <a:buFont typeface="Wingdings" pitchFamily="2" charset="2"/>
              <a:buChar char="Ø"/>
            </a:pPr>
            <a:r>
              <a:rPr lang="en-US" dirty="0"/>
              <a:t>Select and Employ an Appropriate Similarity/Dissimilarity Function</a:t>
            </a:r>
          </a:p>
          <a:p>
            <a:pPr lvl="1">
              <a:buFont typeface="Wingdings" pitchFamily="2" charset="2"/>
              <a:buChar char="Ø"/>
            </a:pPr>
            <a:r>
              <a:rPr lang="en-US" dirty="0"/>
              <a:t>The algorithm figures out the grouping of objects based on the chosen similarity/ dissimilarity function</a:t>
            </a:r>
          </a:p>
          <a:p>
            <a:pPr lvl="1">
              <a:buFont typeface="Wingdings" pitchFamily="2" charset="2"/>
              <a:buChar char="Ø"/>
            </a:pPr>
            <a:r>
              <a:rPr lang="en-US" dirty="0"/>
              <a:t>Points within a cluster is similar</a:t>
            </a:r>
          </a:p>
          <a:p>
            <a:pPr lvl="1">
              <a:buFont typeface="Wingdings" pitchFamily="2" charset="2"/>
              <a:buChar char="Ø"/>
            </a:pPr>
            <a:r>
              <a:rPr lang="en-US" dirty="0"/>
              <a:t>Points across cluster are not so similar </a:t>
            </a:r>
          </a:p>
          <a:p>
            <a:endParaRPr lang="en-US" dirty="0"/>
          </a:p>
          <a:p>
            <a:endParaRPr lang="en-US" dirty="0"/>
          </a:p>
          <a:p>
            <a:endParaRPr lang="en-US" dirty="0"/>
          </a:p>
        </p:txBody>
      </p:sp>
    </p:spTree>
    <p:extLst>
      <p:ext uri="{BB962C8B-B14F-4D97-AF65-F5344CB8AC3E}">
        <p14:creationId xmlns:p14="http://schemas.microsoft.com/office/powerpoint/2010/main" val="271588075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7447C-D9FB-95FE-C886-2557AE550170}"/>
              </a:ext>
            </a:extLst>
          </p:cNvPr>
          <p:cNvSpPr>
            <a:spLocks noGrp="1"/>
          </p:cNvSpPr>
          <p:nvPr>
            <p:ph type="title"/>
          </p:nvPr>
        </p:nvSpPr>
        <p:spPr/>
        <p:txBody>
          <a:bodyPr>
            <a:normAutofit fontScale="90000"/>
          </a:bodyPr>
          <a:lstStyle/>
          <a:p>
            <a:r>
              <a:rPr lang="en-US" dirty="0"/>
              <a:t>clustering</a:t>
            </a:r>
          </a:p>
        </p:txBody>
      </p:sp>
      <p:sp>
        <p:nvSpPr>
          <p:cNvPr id="3" name="Text Placeholder 2">
            <a:extLst>
              <a:ext uri="{FF2B5EF4-FFF2-40B4-BE49-F238E27FC236}">
                <a16:creationId xmlns:a16="http://schemas.microsoft.com/office/drawing/2014/main" id="{89CAF26E-2A4E-8466-0BB1-F6352D8A3403}"/>
              </a:ext>
            </a:extLst>
          </p:cNvPr>
          <p:cNvSpPr>
            <a:spLocks noGrp="1"/>
          </p:cNvSpPr>
          <p:nvPr>
            <p:ph type="body" sz="quarter" idx="10"/>
          </p:nvPr>
        </p:nvSpPr>
        <p:spPr/>
        <p:txBody>
          <a:bodyPr/>
          <a:lstStyle/>
          <a:p>
            <a:r>
              <a:rPr lang="en-US" dirty="0"/>
              <a:t>definition</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DF611D0C-3491-05F4-3617-69D8350E5378}"/>
                  </a:ext>
                </a:extLst>
              </p:cNvPr>
              <p:cNvSpPr>
                <a:spLocks noGrp="1"/>
              </p:cNvSpPr>
              <p:nvPr>
                <p:ph sz="quarter" idx="11"/>
              </p:nvPr>
            </p:nvSpPr>
            <p:spPr>
              <a:xfrm>
                <a:off x="2163190" y="3746438"/>
                <a:ext cx="12667236" cy="8583279"/>
              </a:xfrm>
            </p:spPr>
            <p:txBody>
              <a:bodyPr>
                <a:normAutofit/>
              </a:bodyPr>
              <a:lstStyle/>
              <a:p>
                <a:r>
                  <a:rPr lang="en-US" dirty="0"/>
                  <a:t>What could “similar” means?</a:t>
                </a:r>
              </a:p>
              <a:p>
                <a:r>
                  <a:rPr lang="en-US" dirty="0"/>
                  <a:t>One option: </a:t>
                </a:r>
                <a:r>
                  <a:rPr lang="en-US" b="1" dirty="0"/>
                  <a:t>Distance-based similarity</a:t>
                </a:r>
              </a:p>
              <a:p>
                <a:pPr>
                  <a:spcAft>
                    <a:spcPts val="2400"/>
                  </a:spcAft>
                </a:pPr>
                <a:r>
                  <a:rPr lang="en-US" dirty="0"/>
                  <a:t>There are many distance metrics, one of them is Euclidean distance:</a:t>
                </a:r>
              </a:p>
              <a:p>
                <a:pPr marL="756000" lvl="1" indent="0">
                  <a:buNone/>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𝑑</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𝑝</m:t>
                          </m:r>
                          <m:r>
                            <a:rPr lang="en-US" sz="4000" b="0" i="1" smtClean="0">
                              <a:latin typeface="Cambria Math" panose="02040503050406030204" pitchFamily="18" charset="0"/>
                            </a:rPr>
                            <m:t>, </m:t>
                          </m:r>
                          <m:r>
                            <a:rPr lang="en-US" sz="4000" b="0" i="1" smtClean="0">
                              <a:latin typeface="Cambria Math" panose="02040503050406030204" pitchFamily="18" charset="0"/>
                            </a:rPr>
                            <m:t>𝑞</m:t>
                          </m:r>
                        </m:e>
                      </m:d>
                      <m:r>
                        <a:rPr lang="en-US" sz="4000" b="0" i="1" smtClean="0">
                          <a:latin typeface="Cambria Math" panose="02040503050406030204" pitchFamily="18" charset="0"/>
                        </a:rPr>
                        <m:t>=</m:t>
                      </m:r>
                      <m:rad>
                        <m:radPr>
                          <m:ctrlPr>
                            <a:rPr lang="en-US" sz="4000" b="0" i="1" smtClean="0">
                              <a:latin typeface="Cambria Math" panose="02040503050406030204" pitchFamily="18" charset="0"/>
                            </a:rPr>
                          </m:ctrlPr>
                        </m:radPr>
                        <m:deg>
                          <m:r>
                            <a:rPr lang="en-US" sz="4000" b="0" i="1" smtClean="0">
                              <a:latin typeface="Cambria Math" panose="02040503050406030204" pitchFamily="18" charset="0"/>
                            </a:rPr>
                            <m:t>2</m:t>
                          </m:r>
                        </m:deg>
                        <m:e>
                          <m:sSup>
                            <m:sSupPr>
                              <m:ctrlPr>
                                <a:rPr lang="en-US" sz="4000" b="0" i="1" smtClean="0">
                                  <a:latin typeface="Cambria Math" panose="02040503050406030204" pitchFamily="18" charset="0"/>
                                </a:rPr>
                              </m:ctrlPr>
                            </m:sSupPr>
                            <m:e>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1</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𝑞</m:t>
                                      </m:r>
                                    </m:e>
                                    <m:sub>
                                      <m:r>
                                        <a:rPr lang="en-US" sz="4000" b="0" i="1" smtClean="0">
                                          <a:latin typeface="Cambria Math" panose="02040503050406030204" pitchFamily="18" charset="0"/>
                                        </a:rPr>
                                        <m:t>1</m:t>
                                      </m:r>
                                    </m:sub>
                                  </m:sSub>
                                </m:e>
                              </m:d>
                            </m:e>
                            <m:sup>
                              <m:r>
                                <a:rPr lang="en-US" sz="4000" b="0" i="1" smtClean="0">
                                  <a:latin typeface="Cambria Math" panose="02040503050406030204" pitchFamily="18" charset="0"/>
                                </a:rPr>
                                <m:t>2</m:t>
                              </m:r>
                            </m:sup>
                          </m:sSup>
                          <m:r>
                            <a:rPr lang="en-US" sz="4000" b="0" i="1" smtClean="0">
                              <a:latin typeface="Cambria Math" panose="02040503050406030204" pitchFamily="18" charset="0"/>
                            </a:rPr>
                            <m:t>+</m:t>
                          </m:r>
                          <m:sSup>
                            <m:sSupPr>
                              <m:ctrlPr>
                                <a:rPr lang="en-US" sz="4000" b="0" i="1" smtClean="0">
                                  <a:latin typeface="Cambria Math" panose="02040503050406030204" pitchFamily="18" charset="0"/>
                                </a:rPr>
                              </m:ctrlPr>
                            </m:sSupPr>
                            <m:e>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2</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𝑞</m:t>
                                      </m:r>
                                    </m:e>
                                    <m:sub>
                                      <m:r>
                                        <a:rPr lang="en-US" sz="4000" b="0" i="1" smtClean="0">
                                          <a:latin typeface="Cambria Math" panose="02040503050406030204" pitchFamily="18" charset="0"/>
                                        </a:rPr>
                                        <m:t>2</m:t>
                                      </m:r>
                                    </m:sub>
                                  </m:sSub>
                                </m:e>
                              </m:d>
                            </m:e>
                            <m:sup>
                              <m:r>
                                <a:rPr lang="en-US" sz="4000" b="0" i="1" smtClean="0">
                                  <a:latin typeface="Cambria Math" panose="02040503050406030204" pitchFamily="18" charset="0"/>
                                </a:rPr>
                                <m:t>2</m:t>
                              </m:r>
                            </m:sup>
                          </m:sSup>
                          <m:r>
                            <a:rPr lang="en-US" sz="4000" b="0" i="1" smtClean="0">
                              <a:latin typeface="Cambria Math" panose="02040503050406030204" pitchFamily="18" charset="0"/>
                            </a:rPr>
                            <m:t>+…+</m:t>
                          </m:r>
                          <m:sSup>
                            <m:sSupPr>
                              <m:ctrlPr>
                                <a:rPr lang="en-US" sz="4000" b="0" i="1" smtClean="0">
                                  <a:latin typeface="Cambria Math" panose="02040503050406030204" pitchFamily="18" charset="0"/>
                                </a:rPr>
                              </m:ctrlPr>
                            </m:sSupPr>
                            <m:e>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𝑛</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𝑞</m:t>
                                      </m:r>
                                    </m:e>
                                    <m:sub>
                                      <m:r>
                                        <a:rPr lang="en-US" sz="4000" b="0" i="1" smtClean="0">
                                          <a:latin typeface="Cambria Math" panose="02040503050406030204" pitchFamily="18" charset="0"/>
                                        </a:rPr>
                                        <m:t>𝑛</m:t>
                                      </m:r>
                                    </m:sub>
                                  </m:sSub>
                                </m:e>
                              </m:d>
                            </m:e>
                            <m:sup>
                              <m:r>
                                <a:rPr lang="en-US" sz="4000" b="0" i="1" smtClean="0">
                                  <a:latin typeface="Cambria Math" panose="02040503050406030204" pitchFamily="18" charset="0"/>
                                </a:rPr>
                                <m:t>2</m:t>
                              </m:r>
                            </m:sup>
                          </m:sSup>
                        </m:e>
                      </m:rad>
                    </m:oMath>
                  </m:oMathPara>
                </a14:m>
                <a:endParaRPr lang="en-US" dirty="0"/>
              </a:p>
              <a:p>
                <a:pPr marL="756000" lvl="1" indent="0" algn="ctr">
                  <a:buNone/>
                </a:pPr>
                <a:r>
                  <a:rPr lang="en-US" dirty="0"/>
                  <a:t>where </a:t>
                </a:r>
                <a:r>
                  <a:rPr lang="en-US" b="1" dirty="0">
                    <a:solidFill>
                      <a:srgbClr val="0070C0"/>
                    </a:solidFill>
                  </a:rPr>
                  <a:t>points</a:t>
                </a:r>
                <a:r>
                  <a:rPr lang="en-US" dirty="0"/>
                  <a:t> </a:t>
                </a:r>
                <a:r>
                  <a:rPr lang="en-US" b="1" dirty="0"/>
                  <a:t>p</a:t>
                </a:r>
                <a:r>
                  <a:rPr lang="en-US" dirty="0"/>
                  <a:t> and </a:t>
                </a:r>
                <a:r>
                  <a:rPr lang="en-US" b="1" dirty="0"/>
                  <a:t>q</a:t>
                </a:r>
                <a:r>
                  <a:rPr lang="en-US" dirty="0"/>
                  <a:t> each has </a:t>
                </a:r>
                <a:r>
                  <a:rPr lang="en-US" b="1" dirty="0">
                    <a:solidFill>
                      <a:srgbClr val="0070C0"/>
                    </a:solidFill>
                  </a:rPr>
                  <a:t>n dimensions</a:t>
                </a:r>
              </a:p>
              <a:p>
                <a:pPr lvl="1"/>
                <a:endParaRPr lang="en-US" dirty="0"/>
              </a:p>
              <a:p>
                <a:endParaRPr lang="en-US" dirty="0"/>
              </a:p>
              <a:p>
                <a:endParaRPr lang="en-US" dirty="0"/>
              </a:p>
            </p:txBody>
          </p:sp>
        </mc:Choice>
        <mc:Fallback>
          <p:sp>
            <p:nvSpPr>
              <p:cNvPr id="4" name="Content Placeholder 3">
                <a:extLst>
                  <a:ext uri="{FF2B5EF4-FFF2-40B4-BE49-F238E27FC236}">
                    <a16:creationId xmlns:a16="http://schemas.microsoft.com/office/drawing/2014/main" id="{DF611D0C-3491-05F4-3617-69D8350E5378}"/>
                  </a:ext>
                </a:extLst>
              </p:cNvPr>
              <p:cNvSpPr>
                <a:spLocks noGrp="1" noRot="1" noChangeAspect="1" noMove="1" noResize="1" noEditPoints="1" noAdjustHandles="1" noChangeArrowheads="1" noChangeShapeType="1" noTextEdit="1"/>
              </p:cNvSpPr>
              <p:nvPr>
                <p:ph sz="quarter" idx="11"/>
              </p:nvPr>
            </p:nvSpPr>
            <p:spPr>
              <a:xfrm>
                <a:off x="2163190" y="3746438"/>
                <a:ext cx="12667236" cy="8583279"/>
              </a:xfrm>
              <a:blipFill>
                <a:blip r:embed="rId2"/>
                <a:stretch>
                  <a:fillRect l="-2104" t="-1477"/>
                </a:stretch>
              </a:blipFill>
            </p:spPr>
            <p:txBody>
              <a:bodyPr/>
              <a:lstStyle/>
              <a:p>
                <a:r>
                  <a:rPr lang="en-US">
                    <a:noFill/>
                  </a:rPr>
                  <a:t> </a:t>
                </a:r>
              </a:p>
            </p:txBody>
          </p:sp>
        </mc:Fallback>
      </mc:AlternateContent>
      <p:pic>
        <p:nvPicPr>
          <p:cNvPr id="1028" name="Picture 4">
            <a:extLst>
              <a:ext uri="{FF2B5EF4-FFF2-40B4-BE49-F238E27FC236}">
                <a16:creationId xmlns:a16="http://schemas.microsoft.com/office/drawing/2014/main" id="{A8620A6F-5633-197A-477C-18EC1BC0B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30426" y="3897637"/>
            <a:ext cx="8580762" cy="59207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103A40-CF8E-30B9-C69F-9DC498B57704}"/>
              </a:ext>
            </a:extLst>
          </p:cNvPr>
          <p:cNvSpPr txBox="1"/>
          <p:nvPr/>
        </p:nvSpPr>
        <p:spPr>
          <a:xfrm>
            <a:off x="15177419" y="10273821"/>
            <a:ext cx="7886775"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mn-lt"/>
                <a:ea typeface="+mn-ea"/>
                <a:cs typeface="+mn-cs"/>
                <a:sym typeface="Helvetica Neue"/>
              </a:rPr>
              <a:t>Fig. Example of Euclidean distance where n = 2</a:t>
            </a:r>
          </a:p>
        </p:txBody>
      </p:sp>
    </p:spTree>
    <p:extLst>
      <p:ext uri="{BB962C8B-B14F-4D97-AF65-F5344CB8AC3E}">
        <p14:creationId xmlns:p14="http://schemas.microsoft.com/office/powerpoint/2010/main" val="157627447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D35D1-E4A0-83A8-773B-6D9DE335B0A8}"/>
              </a:ext>
            </a:extLst>
          </p:cNvPr>
          <p:cNvSpPr>
            <a:spLocks noGrp="1"/>
          </p:cNvSpPr>
          <p:nvPr>
            <p:ph type="title"/>
          </p:nvPr>
        </p:nvSpPr>
        <p:spPr/>
        <p:txBody>
          <a:bodyPr>
            <a:normAutofit fontScale="90000"/>
          </a:bodyPr>
          <a:lstStyle/>
          <a:p>
            <a:r>
              <a:rPr lang="en-US" dirty="0"/>
              <a:t>Clustering </a:t>
            </a:r>
          </a:p>
        </p:txBody>
      </p:sp>
      <p:sp>
        <p:nvSpPr>
          <p:cNvPr id="3" name="Text Placeholder 2">
            <a:extLst>
              <a:ext uri="{FF2B5EF4-FFF2-40B4-BE49-F238E27FC236}">
                <a16:creationId xmlns:a16="http://schemas.microsoft.com/office/drawing/2014/main" id="{EA4CAE37-B69D-1C4C-D427-DF32589E7A95}"/>
              </a:ext>
            </a:extLst>
          </p:cNvPr>
          <p:cNvSpPr>
            <a:spLocks noGrp="1"/>
          </p:cNvSpPr>
          <p:nvPr>
            <p:ph type="body" sz="quarter" idx="10"/>
          </p:nvPr>
        </p:nvSpPr>
        <p:spPr/>
        <p:txBody>
          <a:bodyPr/>
          <a:lstStyle/>
          <a:p>
            <a:r>
              <a:rPr lang="en-US" dirty="0"/>
              <a:t>applications</a:t>
            </a:r>
          </a:p>
        </p:txBody>
      </p:sp>
      <p:sp>
        <p:nvSpPr>
          <p:cNvPr id="4" name="Content Placeholder 3">
            <a:extLst>
              <a:ext uri="{FF2B5EF4-FFF2-40B4-BE49-F238E27FC236}">
                <a16:creationId xmlns:a16="http://schemas.microsoft.com/office/drawing/2014/main" id="{72DCC0EA-F69F-4DEB-2614-57E2095E2765}"/>
              </a:ext>
            </a:extLst>
          </p:cNvPr>
          <p:cNvSpPr>
            <a:spLocks noGrp="1"/>
          </p:cNvSpPr>
          <p:nvPr>
            <p:ph sz="quarter" idx="11"/>
          </p:nvPr>
        </p:nvSpPr>
        <p:spPr/>
        <p:txBody>
          <a:bodyPr/>
          <a:lstStyle/>
          <a:p>
            <a:r>
              <a:rPr lang="en-US" dirty="0"/>
              <a:t>Image Segmentation</a:t>
            </a:r>
          </a:p>
          <a:p>
            <a:r>
              <a:rPr lang="en-US" dirty="0"/>
              <a:t>Goal: Break up the image into meaningful or perceptually similar regions</a:t>
            </a:r>
          </a:p>
          <a:p>
            <a:endParaRPr lang="en-US" dirty="0"/>
          </a:p>
        </p:txBody>
      </p:sp>
      <p:pic>
        <p:nvPicPr>
          <p:cNvPr id="6" name="Picture 2" descr="Figure">
            <a:extLst>
              <a:ext uri="{FF2B5EF4-FFF2-40B4-BE49-F238E27FC236}">
                <a16:creationId xmlns:a16="http://schemas.microsoft.com/office/drawing/2014/main" id="{42CF7144-FDD4-54D5-0C2C-E59254E5C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4342" y="5403893"/>
            <a:ext cx="16975313" cy="70184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C1CB0B1-9376-AB43-0868-53DC24B6CE4A}"/>
              </a:ext>
            </a:extLst>
          </p:cNvPr>
          <p:cNvSpPr txBox="1"/>
          <p:nvPr/>
        </p:nvSpPr>
        <p:spPr>
          <a:xfrm>
            <a:off x="3861925" y="12486304"/>
            <a:ext cx="1614865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rgbClr val="5E5E5E"/>
                </a:solidFill>
                <a:effectLst/>
                <a:uFillTx/>
                <a:latin typeface="+mn-lt"/>
                <a:ea typeface="+mn-ea"/>
                <a:cs typeface="+mn-cs"/>
                <a:sym typeface="Helvetica Neue"/>
              </a:rPr>
              <a:t>Source image</a:t>
            </a:r>
            <a:r>
              <a:rPr kumimoji="0" lang="en-US" sz="2400" b="0" i="0" u="none" strike="noStrike" cap="none" spc="0" normalizeH="0" baseline="0" dirty="0">
                <a:ln>
                  <a:noFill/>
                </a:ln>
                <a:solidFill>
                  <a:srgbClr val="5E5E5E"/>
                </a:solidFill>
                <a:effectLst/>
                <a:uFillTx/>
                <a:latin typeface="+mn-lt"/>
                <a:ea typeface="+mn-ea"/>
                <a:cs typeface="+mn-cs"/>
                <a:sym typeface="Helvetica Neue"/>
              </a:rPr>
              <a:t>: </a:t>
            </a:r>
            <a:r>
              <a:rPr kumimoji="0" lang="en-US" sz="2400" b="0" i="0" u="none" strike="noStrike" cap="none" spc="0" normalizeH="0" baseline="0" dirty="0">
                <a:ln>
                  <a:noFill/>
                </a:ln>
                <a:solidFill>
                  <a:srgbClr val="5E5E5E"/>
                </a:solidFill>
                <a:effectLst/>
                <a:uFillTx/>
                <a:latin typeface="+mn-lt"/>
                <a:ea typeface="+mn-ea"/>
                <a:cs typeface="+mn-cs"/>
                <a:sym typeface="Helvetica Neue"/>
                <a:hlinkClick r:id="rId3"/>
              </a:rPr>
              <a:t>https://www.kdnuggets.com/2019/08/introduction-image-segmentation-k-means-clustering.html</a:t>
            </a:r>
            <a:r>
              <a:rPr kumimoji="0" lang="en-US" sz="2400" b="0" i="0" u="none" strike="noStrike" cap="none" spc="0" normalizeH="0" baseline="0" dirty="0">
                <a:ln>
                  <a:noFill/>
                </a:ln>
                <a:solidFill>
                  <a:srgbClr val="5E5E5E"/>
                </a:solidFill>
                <a:effectLst/>
                <a:uFillTx/>
                <a:latin typeface="+mn-lt"/>
                <a:ea typeface="+mn-ea"/>
                <a:cs typeface="+mn-cs"/>
                <a:sym typeface="Helvetica Neue"/>
              </a:rPr>
              <a:t> </a:t>
            </a:r>
            <a:endParaRPr kumimoji="0" lang="en-ID"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231101601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BA515-44CC-72B0-962A-EA787FF8EA44}"/>
              </a:ext>
            </a:extLst>
          </p:cNvPr>
          <p:cNvSpPr>
            <a:spLocks noGrp="1"/>
          </p:cNvSpPr>
          <p:nvPr>
            <p:ph type="title"/>
          </p:nvPr>
        </p:nvSpPr>
        <p:spPr/>
        <p:txBody>
          <a:bodyPr>
            <a:normAutofit fontScale="90000"/>
          </a:bodyPr>
          <a:lstStyle/>
          <a:p>
            <a:r>
              <a:rPr lang="en-US" dirty="0"/>
              <a:t>Clustering</a:t>
            </a:r>
          </a:p>
        </p:txBody>
      </p:sp>
      <p:sp>
        <p:nvSpPr>
          <p:cNvPr id="3" name="Text Placeholder 2">
            <a:extLst>
              <a:ext uri="{FF2B5EF4-FFF2-40B4-BE49-F238E27FC236}">
                <a16:creationId xmlns:a16="http://schemas.microsoft.com/office/drawing/2014/main" id="{196451DB-1D35-49BA-D20B-2AA6A43FF624}"/>
              </a:ext>
            </a:extLst>
          </p:cNvPr>
          <p:cNvSpPr>
            <a:spLocks noGrp="1"/>
          </p:cNvSpPr>
          <p:nvPr>
            <p:ph type="body" sz="quarter" idx="10"/>
          </p:nvPr>
        </p:nvSpPr>
        <p:spPr/>
        <p:txBody>
          <a:bodyPr/>
          <a:lstStyle/>
          <a:p>
            <a:r>
              <a:rPr lang="en-US" dirty="0"/>
              <a:t>applications</a:t>
            </a:r>
          </a:p>
        </p:txBody>
      </p:sp>
      <p:sp>
        <p:nvSpPr>
          <p:cNvPr id="4" name="Content Placeholder 3">
            <a:extLst>
              <a:ext uri="{FF2B5EF4-FFF2-40B4-BE49-F238E27FC236}">
                <a16:creationId xmlns:a16="http://schemas.microsoft.com/office/drawing/2014/main" id="{D875FBFD-83AE-A417-2DB8-217F1DD51680}"/>
              </a:ext>
            </a:extLst>
          </p:cNvPr>
          <p:cNvSpPr>
            <a:spLocks noGrp="1"/>
          </p:cNvSpPr>
          <p:nvPr>
            <p:ph sz="quarter" idx="11"/>
          </p:nvPr>
        </p:nvSpPr>
        <p:spPr/>
        <p:txBody>
          <a:bodyPr/>
          <a:lstStyle/>
          <a:p>
            <a:r>
              <a:rPr lang="en-US" dirty="0"/>
              <a:t>Clustering gene expression data</a:t>
            </a:r>
          </a:p>
        </p:txBody>
      </p:sp>
      <p:pic>
        <p:nvPicPr>
          <p:cNvPr id="5" name="Picture 4" descr="Unsupervised and supervised clustering of gene expression profiles of purified D4 CD20 low CD38 2 and CD20 2 CD38 2 prePBs and of D4 CD20 high CD38 2 B cells. MBCs from five donors (numbered 1-5) were cultured for 4 d with sCD40L, CpG ODN, and IL-2 plus IL-10 plus IL-15 cytokines. D4 CD20 high CD38 2 , CD20 low CD38 2 , and CD20 2 CD38 2 cells were FACS sorted and their gene expression profiling was assayed with Affymetrix U133 Plus 2.0 microarrays. A, An unsupervised hierarchical clustering was run with the 5000 probe sets with the highest SD (log transform, center genes and arrays, uncentered correlation, and average linkage). The dendogram shows that CD20 high CD38 2 samples and CD20 low/2 CD38 2 samples are grouped in two separate clades (r = 0.44). In the CD20 low/2 CD38 2 clade, CD20 low CD38 2 and CD20 2 CD38 2 cells originating from the same donor cluster together for three of five donors, indicating that these two populations are close. B, The probe sets differentially expressed between D4 CD20 high CD38 2 and CD20 2 CD38 2 cells were determined with a SAM supervised analysis for pairs (Wilcoxon statistic, 2-fold ratio, 0% false discovery rate), identifying 495 unique genes. When a gene was assayed by several probe sets, the probe set with the highest variance was used. An unsupervised hierarchical clustering was run on this 495 unique gene list. The normalized expression value for each gene is indicated by a color, with red representing high expression and green representing low expression. ">
            <a:extLst>
              <a:ext uri="{FF2B5EF4-FFF2-40B4-BE49-F238E27FC236}">
                <a16:creationId xmlns:a16="http://schemas.microsoft.com/office/drawing/2014/main" id="{7231EAE3-3E2A-9A8D-87AB-CA9F90CA57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47750" y="1872058"/>
            <a:ext cx="7909399" cy="1021951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2579365-7D30-74E8-BCF4-C82C0EC8CBE8}"/>
              </a:ext>
            </a:extLst>
          </p:cNvPr>
          <p:cNvSpPr txBox="1"/>
          <p:nvPr/>
        </p:nvSpPr>
        <p:spPr>
          <a:xfrm>
            <a:off x="9829054" y="12531014"/>
            <a:ext cx="13146789"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rgbClr val="5E5E5E"/>
                </a:solidFill>
                <a:effectLst/>
                <a:uFillTx/>
                <a:latin typeface="+mn-lt"/>
                <a:ea typeface="+mn-ea"/>
                <a:cs typeface="+mn-cs"/>
                <a:sym typeface="Helvetica Neue"/>
              </a:rPr>
              <a:t>Source image: </a:t>
            </a:r>
            <a:r>
              <a:rPr kumimoji="0" lang="en-US" sz="2400" b="0" i="0" u="none" strike="noStrike" cap="none" spc="0" normalizeH="0" baseline="0" dirty="0">
                <a:ln>
                  <a:noFill/>
                </a:ln>
                <a:solidFill>
                  <a:srgbClr val="5E5E5E"/>
                </a:solidFill>
                <a:effectLst/>
                <a:uFillTx/>
                <a:latin typeface="+mn-lt"/>
                <a:ea typeface="+mn-ea"/>
                <a:cs typeface="+mn-cs"/>
                <a:sym typeface="Helvetica Neue"/>
              </a:rPr>
              <a:t>https://www.researchgate.net/figure/Unsupervised-and-supervised-clustering-of-gene-expression-profiles-of-purified-D4-CD20_fig4_51643539</a:t>
            </a:r>
            <a:endParaRPr kumimoji="0" lang="en-ID"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301699367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B043E-CE41-25AA-BAB9-A9BA50D752A0}"/>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C387DD67-1795-099F-88E3-55F23C39CE8B}"/>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AA8D3F59-93EB-7A9F-8E98-82F5C0BD22B4}"/>
              </a:ext>
            </a:extLst>
          </p:cNvPr>
          <p:cNvSpPr>
            <a:spLocks noGrp="1"/>
          </p:cNvSpPr>
          <p:nvPr>
            <p:ph sz="quarter" idx="11"/>
          </p:nvPr>
        </p:nvSpPr>
        <p:spPr>
          <a:xfrm>
            <a:off x="2163188" y="3260663"/>
            <a:ext cx="20057623" cy="9683812"/>
          </a:xfrm>
        </p:spPr>
        <p:txBody>
          <a:bodyPr>
            <a:normAutofit fontScale="85000" lnSpcReduction="10000"/>
          </a:bodyPr>
          <a:lstStyle/>
          <a:p>
            <a:r>
              <a:rPr lang="en-US" altLang="zh-CN" dirty="0"/>
              <a:t>K-Means (MacQueen’67, Lloyd’57/’82)</a:t>
            </a:r>
          </a:p>
          <a:p>
            <a:pPr lvl="1">
              <a:buFont typeface="Wingdings" pitchFamily="2" charset="2"/>
              <a:buChar char="Ø"/>
            </a:pPr>
            <a:r>
              <a:rPr lang="en-US" altLang="zh-CN" dirty="0"/>
              <a:t>Each cluster is represented by the center of the cluster (centroid)</a:t>
            </a:r>
          </a:p>
          <a:p>
            <a:r>
              <a:rPr lang="en-US" altLang="zh-CN" dirty="0"/>
              <a:t>Given </a:t>
            </a:r>
            <a:r>
              <a:rPr lang="en-US" altLang="zh-CN" b="1" dirty="0"/>
              <a:t>K, the number of clusters</a:t>
            </a:r>
            <a:r>
              <a:rPr lang="en-US" altLang="zh-CN" dirty="0"/>
              <a:t>, the clustering algorithm is outlined as follows</a:t>
            </a:r>
          </a:p>
          <a:p>
            <a:pPr lvl="2">
              <a:buFont typeface="Wingdings" pitchFamily="2" charset="2"/>
              <a:buChar char="Ø"/>
            </a:pPr>
            <a:r>
              <a:rPr lang="en-US" altLang="zh-CN" dirty="0"/>
              <a:t>Select random </a:t>
            </a:r>
            <a:r>
              <a:rPr lang="en-US" altLang="zh-CN" b="1" dirty="0"/>
              <a:t>K points </a:t>
            </a:r>
            <a:r>
              <a:rPr lang="en-US" altLang="zh-CN" dirty="0"/>
              <a:t>as initial </a:t>
            </a:r>
            <a:r>
              <a:rPr lang="en-US" altLang="zh-CN" b="1" dirty="0"/>
              <a:t>centroids</a:t>
            </a:r>
          </a:p>
          <a:p>
            <a:pPr lvl="2">
              <a:buFont typeface="Wingdings" pitchFamily="2" charset="2"/>
              <a:buChar char="Ø"/>
            </a:pPr>
            <a:r>
              <a:rPr lang="en-US" altLang="zh-CN" dirty="0"/>
              <a:t>Repeat:</a:t>
            </a:r>
          </a:p>
          <a:p>
            <a:pPr lvl="3">
              <a:buFont typeface="Wingdings" pitchFamily="2" charset="2"/>
              <a:buChar char="q"/>
            </a:pPr>
            <a:r>
              <a:rPr lang="en-US" altLang="zh-CN" dirty="0"/>
              <a:t>Form K clusters by </a:t>
            </a:r>
            <a:r>
              <a:rPr lang="en-US" altLang="zh-CN" b="1" dirty="0"/>
              <a:t>assigning</a:t>
            </a:r>
            <a:r>
              <a:rPr lang="en-US" altLang="zh-CN" dirty="0"/>
              <a:t> each point to its </a:t>
            </a:r>
            <a:r>
              <a:rPr lang="en-US" altLang="zh-CN" b="1" dirty="0"/>
              <a:t>closest</a:t>
            </a:r>
            <a:r>
              <a:rPr lang="en-US" altLang="zh-CN" dirty="0"/>
              <a:t> centroid</a:t>
            </a:r>
          </a:p>
          <a:p>
            <a:pPr lvl="3">
              <a:buFont typeface="Wingdings" pitchFamily="2" charset="2"/>
              <a:buChar char="q"/>
            </a:pPr>
            <a:r>
              <a:rPr lang="en-US" altLang="zh-CN" b="1" dirty="0"/>
              <a:t>Re-compute the centroids </a:t>
            </a:r>
            <a:r>
              <a:rPr lang="en-US" altLang="zh-CN" dirty="0"/>
              <a:t>(i.e., mean point) of each cluster</a:t>
            </a:r>
          </a:p>
          <a:p>
            <a:pPr lvl="2">
              <a:buFont typeface="Wingdings" pitchFamily="2" charset="2"/>
              <a:buChar char="Ø"/>
            </a:pPr>
            <a:r>
              <a:rPr lang="en-US" altLang="zh-CN" dirty="0"/>
              <a:t>Until convergence criterion is satisfied</a:t>
            </a:r>
          </a:p>
          <a:p>
            <a:r>
              <a:rPr lang="en-US" altLang="zh-CN" dirty="0"/>
              <a:t>Different kinds of measures can be used</a:t>
            </a:r>
          </a:p>
          <a:p>
            <a:pPr lvl="1">
              <a:buFont typeface="Wingdings" pitchFamily="2" charset="2"/>
              <a:buChar char="Ø"/>
            </a:pPr>
            <a:r>
              <a:rPr lang="en-US" altLang="zh-CN" dirty="0"/>
              <a:t>Manhattan distance (L1 norm), </a:t>
            </a:r>
            <a:r>
              <a:rPr lang="en-US" altLang="zh-CN" b="1" dirty="0"/>
              <a:t>Euclidean distance (L2 norm)</a:t>
            </a:r>
            <a:r>
              <a:rPr lang="en-US" altLang="zh-CN" dirty="0"/>
              <a:t>, Cosine similarity</a:t>
            </a:r>
          </a:p>
          <a:p>
            <a:endParaRPr lang="en-US" dirty="0"/>
          </a:p>
        </p:txBody>
      </p:sp>
    </p:spTree>
    <p:extLst>
      <p:ext uri="{BB962C8B-B14F-4D97-AF65-F5344CB8AC3E}">
        <p14:creationId xmlns:p14="http://schemas.microsoft.com/office/powerpoint/2010/main" val="396468805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B043E-CE41-25AA-BAB9-A9BA50D752A0}"/>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C387DD67-1795-099F-88E3-55F23C39CE8B}"/>
              </a:ext>
            </a:extLst>
          </p:cNvPr>
          <p:cNvSpPr>
            <a:spLocks noGrp="1"/>
          </p:cNvSpPr>
          <p:nvPr>
            <p:ph type="body" sz="quarter" idx="10"/>
          </p:nvPr>
        </p:nvSpPr>
        <p:spPr/>
        <p:txBody>
          <a:bodyPr/>
          <a:lstStyle/>
          <a:p>
            <a:r>
              <a:rPr lang="en-US" dirty="0"/>
              <a:t>Visual example</a:t>
            </a:r>
          </a:p>
        </p:txBody>
      </p:sp>
      <p:pic>
        <p:nvPicPr>
          <p:cNvPr id="24" name="Content Placeholder 23">
            <a:extLst>
              <a:ext uri="{FF2B5EF4-FFF2-40B4-BE49-F238E27FC236}">
                <a16:creationId xmlns:a16="http://schemas.microsoft.com/office/drawing/2014/main" id="{42C85922-D1BD-2B50-6231-4FD9C584F08A}"/>
              </a:ext>
            </a:extLst>
          </p:cNvPr>
          <p:cNvPicPr>
            <a:picLocks noGrp="1" noChangeAspect="1"/>
          </p:cNvPicPr>
          <p:nvPr>
            <p:ph sz="quarter" idx="11"/>
          </p:nvPr>
        </p:nvPicPr>
        <p:blipFill>
          <a:blip r:embed="rId2"/>
          <a:stretch>
            <a:fillRect/>
          </a:stretch>
        </p:blipFill>
        <p:spPr>
          <a:xfrm>
            <a:off x="1326423" y="3012775"/>
            <a:ext cx="21731153" cy="9903125"/>
          </a:xfrm>
          <a:prstGeom prst="rect">
            <a:avLst/>
          </a:prstGeom>
        </p:spPr>
      </p:pic>
    </p:spTree>
    <p:extLst>
      <p:ext uri="{BB962C8B-B14F-4D97-AF65-F5344CB8AC3E}">
        <p14:creationId xmlns:p14="http://schemas.microsoft.com/office/powerpoint/2010/main" val="256014411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B043E-CE41-25AA-BAB9-A9BA50D752A0}"/>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C387DD67-1795-099F-88E3-55F23C39CE8B}"/>
              </a:ext>
            </a:extLst>
          </p:cNvPr>
          <p:cNvSpPr>
            <a:spLocks noGrp="1"/>
          </p:cNvSpPr>
          <p:nvPr>
            <p:ph type="body" sz="quarter" idx="10"/>
          </p:nvPr>
        </p:nvSpPr>
        <p:spPr/>
        <p:txBody>
          <a:bodyPr/>
          <a:lstStyle/>
          <a:p>
            <a:r>
              <a:rPr lang="en-US" dirty="0"/>
              <a:t>Visual example</a:t>
            </a:r>
          </a:p>
        </p:txBody>
      </p:sp>
      <p:pic>
        <p:nvPicPr>
          <p:cNvPr id="5" name="Content Placeholder 4">
            <a:extLst>
              <a:ext uri="{FF2B5EF4-FFF2-40B4-BE49-F238E27FC236}">
                <a16:creationId xmlns:a16="http://schemas.microsoft.com/office/drawing/2014/main" id="{9A35463A-38E1-F257-060F-09E5A5987D73}"/>
              </a:ext>
            </a:extLst>
          </p:cNvPr>
          <p:cNvPicPr>
            <a:picLocks noGrp="1" noChangeAspect="1"/>
          </p:cNvPicPr>
          <p:nvPr>
            <p:ph sz="quarter" idx="11"/>
          </p:nvPr>
        </p:nvPicPr>
        <p:blipFill>
          <a:blip r:embed="rId2"/>
          <a:stretch>
            <a:fillRect/>
          </a:stretch>
        </p:blipFill>
        <p:spPr>
          <a:xfrm>
            <a:off x="6021205" y="3260663"/>
            <a:ext cx="12323946" cy="9670028"/>
          </a:xfrm>
          <a:prstGeom prst="rect">
            <a:avLst/>
          </a:prstGeom>
        </p:spPr>
      </p:pic>
    </p:spTree>
    <p:extLst>
      <p:ext uri="{BB962C8B-B14F-4D97-AF65-F5344CB8AC3E}">
        <p14:creationId xmlns:p14="http://schemas.microsoft.com/office/powerpoint/2010/main" val="93857821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D3B2B-0260-9A8A-B72D-F26D293C8C2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F6D5C51A-99A2-7D08-6E33-653A105FD8EF}"/>
              </a:ext>
            </a:extLst>
          </p:cNvPr>
          <p:cNvSpPr>
            <a:spLocks noGrp="1"/>
          </p:cNvSpPr>
          <p:nvPr>
            <p:ph type="body" sz="quarter" idx="10"/>
          </p:nvPr>
        </p:nvSpPr>
        <p:spPr/>
        <p:txBody>
          <a:bodyPr/>
          <a:lstStyle/>
          <a:p>
            <a:r>
              <a:rPr lang="en-US" dirty="0"/>
              <a:t>Calculation example</a:t>
            </a:r>
          </a:p>
        </p:txBody>
      </p:sp>
      <p:sp>
        <p:nvSpPr>
          <p:cNvPr id="4" name="Content Placeholder 3">
            <a:extLst>
              <a:ext uri="{FF2B5EF4-FFF2-40B4-BE49-F238E27FC236}">
                <a16:creationId xmlns:a16="http://schemas.microsoft.com/office/drawing/2014/main" id="{71E44C99-BEC5-CAA8-C078-9E536EC12EB7}"/>
              </a:ext>
            </a:extLst>
          </p:cNvPr>
          <p:cNvSpPr>
            <a:spLocks noGrp="1"/>
          </p:cNvSpPr>
          <p:nvPr>
            <p:ph sz="quarter" idx="11"/>
          </p:nvPr>
        </p:nvSpPr>
        <p:spPr>
          <a:xfrm>
            <a:off x="2163188" y="3260663"/>
            <a:ext cx="7638037" cy="8583279"/>
          </a:xfrm>
        </p:spPr>
        <p:txBody>
          <a:bodyPr/>
          <a:lstStyle/>
          <a:p>
            <a:r>
              <a:rPr lang="en-US" dirty="0"/>
              <a:t>We will calculate K-Means clustering using this dataset which has 7 points of data with 2 dimensions.</a:t>
            </a:r>
          </a:p>
          <a:p>
            <a:r>
              <a:rPr lang="en-US" dirty="0"/>
              <a:t>We use K = 2, which means there will be 2 clusters</a:t>
            </a:r>
          </a:p>
        </p:txBody>
      </p:sp>
      <p:pic>
        <p:nvPicPr>
          <p:cNvPr id="13" name="Picture 12">
            <a:extLst>
              <a:ext uri="{FF2B5EF4-FFF2-40B4-BE49-F238E27FC236}">
                <a16:creationId xmlns:a16="http://schemas.microsoft.com/office/drawing/2014/main" id="{BCACF4C4-2515-D4B5-FBF4-90F8BA0F9213}"/>
              </a:ext>
            </a:extLst>
          </p:cNvPr>
          <p:cNvPicPr>
            <a:picLocks noChangeAspect="1"/>
          </p:cNvPicPr>
          <p:nvPr/>
        </p:nvPicPr>
        <p:blipFill>
          <a:blip r:embed="rId2"/>
          <a:stretch>
            <a:fillRect/>
          </a:stretch>
        </p:blipFill>
        <p:spPr>
          <a:xfrm>
            <a:off x="11894700" y="2821501"/>
            <a:ext cx="9768874" cy="9702868"/>
          </a:xfrm>
          <a:prstGeom prst="rect">
            <a:avLst/>
          </a:prstGeom>
        </p:spPr>
      </p:pic>
    </p:spTree>
    <p:extLst>
      <p:ext uri="{BB962C8B-B14F-4D97-AF65-F5344CB8AC3E}">
        <p14:creationId xmlns:p14="http://schemas.microsoft.com/office/powerpoint/2010/main" val="296856027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A0B-49A8-B3AC-8963-D4F0C56B717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E9E7F2AF-99BA-526A-2D3D-4DB156E5F2FA}"/>
              </a:ext>
            </a:extLst>
          </p:cNvPr>
          <p:cNvSpPr>
            <a:spLocks noGrp="1"/>
          </p:cNvSpPr>
          <p:nvPr>
            <p:ph type="body" sz="quarter" idx="10"/>
          </p:nvPr>
        </p:nvSpPr>
        <p:spPr/>
        <p:txBody>
          <a:bodyPr/>
          <a:lstStyle/>
          <a:p>
            <a:r>
              <a:rPr lang="en-US" dirty="0"/>
              <a:t>Assigning random centroid</a:t>
            </a:r>
          </a:p>
        </p:txBody>
      </p:sp>
      <p:sp>
        <p:nvSpPr>
          <p:cNvPr id="4" name="Content Placeholder 3">
            <a:extLst>
              <a:ext uri="{FF2B5EF4-FFF2-40B4-BE49-F238E27FC236}">
                <a16:creationId xmlns:a16="http://schemas.microsoft.com/office/drawing/2014/main" id="{3AD2B7B0-7BFB-6520-1C2B-7A12EED7388E}"/>
              </a:ext>
            </a:extLst>
          </p:cNvPr>
          <p:cNvSpPr>
            <a:spLocks noGrp="1"/>
          </p:cNvSpPr>
          <p:nvPr>
            <p:ph sz="quarter" idx="11"/>
          </p:nvPr>
        </p:nvSpPr>
        <p:spPr>
          <a:xfrm>
            <a:off x="2163189" y="3260663"/>
            <a:ext cx="7609462" cy="9598087"/>
          </a:xfrm>
        </p:spPr>
        <p:txBody>
          <a:bodyPr>
            <a:normAutofit/>
          </a:bodyPr>
          <a:lstStyle/>
          <a:p>
            <a:r>
              <a:rPr lang="en-US" dirty="0"/>
              <a:t>Choose random K centroid for initialization.</a:t>
            </a:r>
          </a:p>
          <a:p>
            <a:r>
              <a:rPr lang="en-US" dirty="0"/>
              <a:t>In this example, data 1 and 4 are chosen to be the centroid.</a:t>
            </a:r>
          </a:p>
          <a:p>
            <a:r>
              <a:rPr lang="en-US" dirty="0"/>
              <a:t>Therefore, </a:t>
            </a:r>
            <a:r>
              <a:rPr lang="en-US" b="1" dirty="0"/>
              <a:t>Centroid 1 = (1, 1) and Centroid 2 = (5, 7)</a:t>
            </a:r>
          </a:p>
          <a:p>
            <a:r>
              <a:rPr lang="en-US" dirty="0"/>
              <a:t>Centroids can be any point, doesn’t have to be from any data points available.</a:t>
            </a:r>
          </a:p>
        </p:txBody>
      </p:sp>
      <p:pic>
        <p:nvPicPr>
          <p:cNvPr id="9" name="Picture 8">
            <a:extLst>
              <a:ext uri="{FF2B5EF4-FFF2-40B4-BE49-F238E27FC236}">
                <a16:creationId xmlns:a16="http://schemas.microsoft.com/office/drawing/2014/main" id="{C025838E-348B-C49B-6080-AA93A935CA45}"/>
              </a:ext>
            </a:extLst>
          </p:cNvPr>
          <p:cNvPicPr>
            <a:picLocks noChangeAspect="1"/>
          </p:cNvPicPr>
          <p:nvPr/>
        </p:nvPicPr>
        <p:blipFill>
          <a:blip r:embed="rId2"/>
          <a:stretch>
            <a:fillRect/>
          </a:stretch>
        </p:blipFill>
        <p:spPr>
          <a:xfrm>
            <a:off x="11907676" y="2821500"/>
            <a:ext cx="9768873" cy="9702867"/>
          </a:xfrm>
          <a:prstGeom prst="rect">
            <a:avLst/>
          </a:prstGeom>
        </p:spPr>
      </p:pic>
    </p:spTree>
    <p:extLst>
      <p:ext uri="{BB962C8B-B14F-4D97-AF65-F5344CB8AC3E}">
        <p14:creationId xmlns:p14="http://schemas.microsoft.com/office/powerpoint/2010/main" val="189103204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A0B-49A8-B3AC-8963-D4F0C56B717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E9E7F2AF-99BA-526A-2D3D-4DB156E5F2FA}"/>
              </a:ext>
            </a:extLst>
          </p:cNvPr>
          <p:cNvSpPr>
            <a:spLocks noGrp="1"/>
          </p:cNvSpPr>
          <p:nvPr>
            <p:ph type="body" sz="quarter" idx="10"/>
          </p:nvPr>
        </p:nvSpPr>
        <p:spPr>
          <a:xfrm>
            <a:off x="2167377" y="2419728"/>
            <a:ext cx="15634848" cy="803546"/>
          </a:xfrm>
        </p:spPr>
        <p:txBody>
          <a:bodyPr>
            <a:normAutofit/>
          </a:bodyPr>
          <a:lstStyle/>
          <a:p>
            <a:r>
              <a:rPr lang="en-US" altLang="zh-CN" dirty="0"/>
              <a:t>Iteration 1: Assign each point to closest centroid</a:t>
            </a:r>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3AD2B7B0-7BFB-6520-1C2B-7A12EED7388E}"/>
                  </a:ext>
                </a:extLst>
              </p:cNvPr>
              <p:cNvSpPr>
                <a:spLocks noGrp="1"/>
              </p:cNvSpPr>
              <p:nvPr>
                <p:ph sz="quarter" idx="11"/>
              </p:nvPr>
            </p:nvSpPr>
            <p:spPr>
              <a:xfrm>
                <a:off x="2163188" y="3260663"/>
                <a:ext cx="19439511" cy="9998137"/>
              </a:xfrm>
            </p:spPr>
            <p:txBody>
              <a:bodyPr>
                <a:normAutofit/>
              </a:bodyPr>
              <a:lstStyle/>
              <a:p>
                <a:pPr>
                  <a:spcAft>
                    <a:spcPts val="2400"/>
                  </a:spcAft>
                </a:pPr>
                <a:r>
                  <a:rPr lang="en-US" dirty="0"/>
                  <a:t>Calculate the distance of each data to the centroids using Euclidean:</a:t>
                </a:r>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𝑝</m:t>
                          </m:r>
                          <m:r>
                            <a:rPr lang="en-US" sz="4400" b="0" i="1" smtClean="0">
                              <a:latin typeface="Cambria Math" panose="02040503050406030204" pitchFamily="18" charset="0"/>
                            </a:rPr>
                            <m:t>, </m:t>
                          </m:r>
                          <m:r>
                            <a:rPr lang="en-US" sz="4400" b="0" i="1" smtClean="0">
                              <a:latin typeface="Cambria Math" panose="02040503050406030204" pitchFamily="18" charset="0"/>
                            </a:rPr>
                            <m:t>𝑞</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𝑝</m:t>
                                      </m:r>
                                    </m:e>
                                    <m:sub>
                                      <m:r>
                                        <a:rPr lang="en-US" sz="4400" b="0" i="1" smtClean="0">
                                          <a:latin typeface="Cambria Math" panose="02040503050406030204" pitchFamily="18" charset="0"/>
                                        </a:rPr>
                                        <m:t>1</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𝑞</m:t>
                                      </m:r>
                                    </m:e>
                                    <m:sub>
                                      <m:r>
                                        <a:rPr lang="en-US" sz="4400" b="0" i="1" smtClean="0">
                                          <a:latin typeface="Cambria Math" panose="02040503050406030204" pitchFamily="18" charset="0"/>
                                        </a:rPr>
                                        <m:t>1</m:t>
                                      </m:r>
                                    </m:sub>
                                  </m:sSub>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𝑝</m:t>
                                      </m:r>
                                    </m:e>
                                    <m:sub>
                                      <m:r>
                                        <a:rPr lang="en-US" sz="4400" b="0" i="1" smtClean="0">
                                          <a:latin typeface="Cambria Math" panose="02040503050406030204" pitchFamily="18" charset="0"/>
                                        </a:rPr>
                                        <m:t>2</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𝑞</m:t>
                                      </m:r>
                                    </m:e>
                                    <m:sub>
                                      <m:r>
                                        <a:rPr lang="en-US" sz="4400" b="0" i="1" smtClean="0">
                                          <a:latin typeface="Cambria Math" panose="02040503050406030204" pitchFamily="18" charset="0"/>
                                        </a:rPr>
                                        <m:t>2</m:t>
                                      </m:r>
                                    </m:sub>
                                  </m:sSub>
                                </m:e>
                              </m:d>
                            </m:e>
                            <m:sup>
                              <m:r>
                                <a:rPr lang="en-US" sz="4400" b="0" i="1" smtClean="0">
                                  <a:latin typeface="Cambria Math" panose="02040503050406030204" pitchFamily="18" charset="0"/>
                                </a:rPr>
                                <m:t>2</m:t>
                              </m:r>
                            </m:sup>
                          </m:sSup>
                        </m:e>
                      </m:rad>
                    </m:oMath>
                  </m:oMathPara>
                </a14:m>
                <a:endParaRPr lang="en-US" dirty="0"/>
              </a:p>
              <a:p>
                <a:r>
                  <a:rPr lang="en-US" dirty="0"/>
                  <a:t>Example:</a:t>
                </a:r>
              </a:p>
              <a:p>
                <a:pPr lvl="1">
                  <a:buFont typeface="Wingdings" pitchFamily="2" charset="2"/>
                  <a:buChar char="Ø"/>
                </a:pPr>
                <a:r>
                  <a:rPr lang="en-US" dirty="0"/>
                  <a:t>Distance from Data 2 to Centroid 1:</a:t>
                </a:r>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1</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𝑥</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1</m:t>
                                      </m:r>
                                    </m:e>
                                    <m:sub>
                                      <m:r>
                                        <a:rPr lang="en-US" sz="4400" b="0" i="1" smtClean="0">
                                          <a:latin typeface="Cambria Math" panose="02040503050406030204" pitchFamily="18" charset="0"/>
                                        </a:rPr>
                                        <m:t>𝑥</m:t>
                                      </m:r>
                                    </m:sub>
                                  </m:sSub>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𝑦</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1</m:t>
                                      </m:r>
                                    </m:e>
                                    <m:sub>
                                      <m:r>
                                        <a:rPr lang="en-US" sz="4400" b="0" i="1" smtClean="0">
                                          <a:latin typeface="Cambria Math" panose="02040503050406030204" pitchFamily="18" charset="0"/>
                                        </a:rPr>
                                        <m:t>𝑦</m:t>
                                      </m:r>
                                    </m:sub>
                                  </m:sSub>
                                </m:e>
                              </m:d>
                            </m:e>
                            <m:sup>
                              <m:r>
                                <a:rPr lang="en-US" sz="4400" b="0" i="1" smtClean="0">
                                  <a:latin typeface="Cambria Math" panose="02040503050406030204" pitchFamily="18" charset="0"/>
                                </a:rPr>
                                <m:t>2</m:t>
                              </m:r>
                            </m:sup>
                          </m:sSup>
                        </m:e>
                      </m:ra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1</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1.5</m:t>
                                  </m:r>
                                  <m:r>
                                    <a:rPr lang="en-US" sz="4400" b="0" i="1" smtClean="0">
                                      <a:latin typeface="Cambria Math" panose="02040503050406030204" pitchFamily="18" charset="0"/>
                                    </a:rPr>
                                    <m:t>−</m:t>
                                  </m:r>
                                  <m:r>
                                    <a:rPr lang="en-US" sz="4400" b="0" i="1" smtClean="0">
                                      <a:latin typeface="Cambria Math" panose="02040503050406030204" pitchFamily="18" charset="0"/>
                                    </a:rPr>
                                    <m:t>1</m:t>
                                  </m:r>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2</m:t>
                                  </m:r>
                                  <m:r>
                                    <a:rPr lang="en-US" sz="4400" b="0" i="1" smtClean="0">
                                      <a:latin typeface="Cambria Math" panose="02040503050406030204" pitchFamily="18" charset="0"/>
                                    </a:rPr>
                                    <m:t>−</m:t>
                                  </m:r>
                                  <m:r>
                                    <a:rPr lang="en-US" sz="4400" b="0" i="1" smtClean="0">
                                      <a:latin typeface="Cambria Math" panose="02040503050406030204" pitchFamily="18" charset="0"/>
                                    </a:rPr>
                                    <m:t>1</m:t>
                                  </m:r>
                                </m:e>
                              </m:d>
                            </m:e>
                            <m:sup>
                              <m:r>
                                <a:rPr lang="en-US" sz="4400" b="0" i="1" smtClean="0">
                                  <a:latin typeface="Cambria Math" panose="02040503050406030204" pitchFamily="18" charset="0"/>
                                </a:rPr>
                                <m:t>2</m:t>
                              </m:r>
                            </m:sup>
                          </m:sSup>
                        </m:e>
                      </m:rad>
                      <m:r>
                        <a:rPr lang="en-US" sz="4400" b="0" i="1" smtClean="0">
                          <a:latin typeface="Cambria Math" panose="02040503050406030204" pitchFamily="18" charset="0"/>
                        </a:rPr>
                        <m:t>=1.12</m:t>
                      </m:r>
                    </m:oMath>
                  </m:oMathPara>
                </a14:m>
                <a:endParaRPr lang="en-US" dirty="0"/>
              </a:p>
              <a:p>
                <a:pPr lvl="1">
                  <a:buFont typeface="Wingdings" pitchFamily="2" charset="2"/>
                  <a:buChar char="Ø"/>
                </a:pPr>
                <a:r>
                  <a:rPr lang="en-US" dirty="0"/>
                  <a:t>Distance from Data 2 to Centroid 2:</a:t>
                </a:r>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2</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𝑥</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2</m:t>
                                      </m:r>
                                    </m:e>
                                    <m:sub>
                                      <m:r>
                                        <a:rPr lang="en-US" sz="4400" b="0" i="1" smtClean="0">
                                          <a:latin typeface="Cambria Math" panose="02040503050406030204" pitchFamily="18" charset="0"/>
                                        </a:rPr>
                                        <m:t>𝑥</m:t>
                                      </m:r>
                                    </m:sub>
                                  </m:sSub>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𝑦</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2</m:t>
                                      </m:r>
                                    </m:e>
                                    <m:sub>
                                      <m:r>
                                        <a:rPr lang="en-US" sz="4400" b="0" i="1" smtClean="0">
                                          <a:latin typeface="Cambria Math" panose="02040503050406030204" pitchFamily="18" charset="0"/>
                                        </a:rPr>
                                        <m:t>𝑦</m:t>
                                      </m:r>
                                    </m:sub>
                                  </m:sSub>
                                </m:e>
                              </m:d>
                            </m:e>
                            <m:sup>
                              <m:r>
                                <a:rPr lang="en-US" sz="4400" b="0" i="1" smtClean="0">
                                  <a:latin typeface="Cambria Math" panose="02040503050406030204" pitchFamily="18" charset="0"/>
                                </a:rPr>
                                <m:t>2</m:t>
                              </m:r>
                            </m:sup>
                          </m:sSup>
                        </m:e>
                      </m:ra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2</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1.5−</m:t>
                                  </m:r>
                                  <m:r>
                                    <a:rPr lang="en-US" sz="4400" b="0" i="1" smtClean="0">
                                      <a:latin typeface="Cambria Math" panose="02040503050406030204" pitchFamily="18" charset="0"/>
                                    </a:rPr>
                                    <m:t>5</m:t>
                                  </m:r>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2−</m:t>
                                  </m:r>
                                  <m:r>
                                    <a:rPr lang="en-US" sz="4400" b="0" i="1" smtClean="0">
                                      <a:latin typeface="Cambria Math" panose="02040503050406030204" pitchFamily="18" charset="0"/>
                                    </a:rPr>
                                    <m:t>7</m:t>
                                  </m:r>
                                </m:e>
                              </m:d>
                            </m:e>
                            <m:sup>
                              <m:r>
                                <a:rPr lang="en-US" sz="4400" b="0" i="1" smtClean="0">
                                  <a:latin typeface="Cambria Math" panose="02040503050406030204" pitchFamily="18" charset="0"/>
                                </a:rPr>
                                <m:t>2</m:t>
                              </m:r>
                            </m:sup>
                          </m:sSup>
                        </m:e>
                      </m:rad>
                      <m:r>
                        <a:rPr lang="en-US" sz="4400" b="0" i="1" smtClean="0">
                          <a:latin typeface="Cambria Math" panose="02040503050406030204" pitchFamily="18" charset="0"/>
                        </a:rPr>
                        <m:t>=</m:t>
                      </m:r>
                      <m:r>
                        <a:rPr lang="en-US" sz="4400" b="0" i="1" smtClean="0">
                          <a:latin typeface="Cambria Math" panose="02040503050406030204" pitchFamily="18" charset="0"/>
                        </a:rPr>
                        <m:t>7.88</m:t>
                      </m:r>
                    </m:oMath>
                  </m:oMathPara>
                </a14:m>
                <a:endParaRPr lang="en-US" dirty="0"/>
              </a:p>
              <a:p>
                <a:pPr marL="0" indent="0">
                  <a:buNone/>
                </a:pPr>
                <a:endParaRPr lang="en-US" dirty="0"/>
              </a:p>
            </p:txBody>
          </p:sp>
        </mc:Choice>
        <mc:Fallback>
          <p:sp>
            <p:nvSpPr>
              <p:cNvPr id="4" name="Content Placeholder 3">
                <a:extLst>
                  <a:ext uri="{FF2B5EF4-FFF2-40B4-BE49-F238E27FC236}">
                    <a16:creationId xmlns:a16="http://schemas.microsoft.com/office/drawing/2014/main" id="{3AD2B7B0-7BFB-6520-1C2B-7A12EED7388E}"/>
                  </a:ext>
                </a:extLst>
              </p:cNvPr>
              <p:cNvSpPr>
                <a:spLocks noGrp="1" noRot="1" noChangeAspect="1" noMove="1" noResize="1" noEditPoints="1" noAdjustHandles="1" noChangeArrowheads="1" noChangeShapeType="1" noTextEdit="1"/>
              </p:cNvSpPr>
              <p:nvPr>
                <p:ph sz="quarter" idx="11"/>
              </p:nvPr>
            </p:nvSpPr>
            <p:spPr>
              <a:xfrm>
                <a:off x="2163188" y="3260663"/>
                <a:ext cx="19439511" cy="9998137"/>
              </a:xfrm>
              <a:blipFill>
                <a:blip r:embed="rId2"/>
                <a:stretch>
                  <a:fillRect l="-1371" t="-1142"/>
                </a:stretch>
              </a:blipFill>
            </p:spPr>
            <p:txBody>
              <a:bodyPr/>
              <a:lstStyle/>
              <a:p>
                <a:r>
                  <a:rPr lang="en-US">
                    <a:noFill/>
                  </a:rPr>
                  <a:t> </a:t>
                </a:r>
              </a:p>
            </p:txBody>
          </p:sp>
        </mc:Fallback>
      </mc:AlternateContent>
    </p:spTree>
    <p:extLst>
      <p:ext uri="{BB962C8B-B14F-4D97-AF65-F5344CB8AC3E}">
        <p14:creationId xmlns:p14="http://schemas.microsoft.com/office/powerpoint/2010/main" val="246539718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A0B-49A8-B3AC-8963-D4F0C56B717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E9E7F2AF-99BA-526A-2D3D-4DB156E5F2FA}"/>
              </a:ext>
            </a:extLst>
          </p:cNvPr>
          <p:cNvSpPr>
            <a:spLocks noGrp="1"/>
          </p:cNvSpPr>
          <p:nvPr>
            <p:ph type="body" sz="quarter" idx="10"/>
          </p:nvPr>
        </p:nvSpPr>
        <p:spPr>
          <a:xfrm>
            <a:off x="2167377" y="2419728"/>
            <a:ext cx="15634848" cy="803546"/>
          </a:xfrm>
        </p:spPr>
        <p:txBody>
          <a:bodyPr>
            <a:normAutofit/>
          </a:bodyPr>
          <a:lstStyle/>
          <a:p>
            <a:r>
              <a:rPr lang="en-US" altLang="zh-CN" dirty="0"/>
              <a:t>Iteration 1: Assign each point to closest centroid</a:t>
            </a:r>
            <a:endParaRPr lang="en-US" dirty="0"/>
          </a:p>
        </p:txBody>
      </p:sp>
      <p:pic>
        <p:nvPicPr>
          <p:cNvPr id="12" name="Content Placeholder 11">
            <a:extLst>
              <a:ext uri="{FF2B5EF4-FFF2-40B4-BE49-F238E27FC236}">
                <a16:creationId xmlns:a16="http://schemas.microsoft.com/office/drawing/2014/main" id="{190ABEAB-2145-6715-896C-1C9D1701C293}"/>
              </a:ext>
            </a:extLst>
          </p:cNvPr>
          <p:cNvPicPr>
            <a:picLocks noGrp="1" noChangeAspect="1"/>
          </p:cNvPicPr>
          <p:nvPr>
            <p:ph sz="quarter" idx="11"/>
          </p:nvPr>
        </p:nvPicPr>
        <p:blipFill>
          <a:blip r:embed="rId2"/>
          <a:stretch>
            <a:fillRect/>
          </a:stretch>
        </p:blipFill>
        <p:spPr>
          <a:xfrm>
            <a:off x="2167377" y="3627739"/>
            <a:ext cx="20037915" cy="8587678"/>
          </a:xfrm>
          <a:prstGeom prst="rect">
            <a:avLst/>
          </a:prstGeom>
        </p:spPr>
      </p:pic>
    </p:spTree>
    <p:extLst>
      <p:ext uri="{BB962C8B-B14F-4D97-AF65-F5344CB8AC3E}">
        <p14:creationId xmlns:p14="http://schemas.microsoft.com/office/powerpoint/2010/main" val="332498550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A0B-49A8-B3AC-8963-D4F0C56B717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E9E7F2AF-99BA-526A-2D3D-4DB156E5F2FA}"/>
              </a:ext>
            </a:extLst>
          </p:cNvPr>
          <p:cNvSpPr>
            <a:spLocks noGrp="1"/>
          </p:cNvSpPr>
          <p:nvPr>
            <p:ph type="body" sz="quarter" idx="10"/>
          </p:nvPr>
        </p:nvSpPr>
        <p:spPr>
          <a:xfrm>
            <a:off x="2167377" y="2419728"/>
            <a:ext cx="15634848" cy="803546"/>
          </a:xfrm>
        </p:spPr>
        <p:txBody>
          <a:bodyPr>
            <a:normAutofit/>
          </a:bodyPr>
          <a:lstStyle/>
          <a:p>
            <a:r>
              <a:rPr lang="en-US" altLang="zh-CN" dirty="0"/>
              <a:t>Iteration 1: Re-compute the centroid (mean)</a:t>
            </a:r>
            <a:endParaRPr lang="en-US" dirty="0"/>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21290716-BCBE-1034-64FC-97D2DEC495AC}"/>
                  </a:ext>
                </a:extLst>
              </p:cNvPr>
              <p:cNvSpPr>
                <a:spLocks noGrp="1"/>
              </p:cNvSpPr>
              <p:nvPr>
                <p:ph sz="quarter" idx="11"/>
              </p:nvPr>
            </p:nvSpPr>
            <p:spPr/>
            <p:txBody>
              <a:bodyPr/>
              <a:lstStyle/>
              <a:p>
                <a:r>
                  <a:rPr lang="en-US" dirty="0"/>
                  <a:t>Compute the mean of each dimension for </a:t>
                </a:r>
                <a:r>
                  <a:rPr lang="en-US" b="1" dirty="0"/>
                  <a:t>Cluster 1</a:t>
                </a:r>
                <a:r>
                  <a:rPr lang="en-US" dirty="0"/>
                  <a:t>’s centroid:</a:t>
                </a:r>
              </a:p>
              <a:p>
                <a:pPr marL="0" indent="0" algn="ctr">
                  <a:buNone/>
                </a:pPr>
                <a14:m>
                  <m:oMath xmlns:m="http://schemas.openxmlformats.org/officeDocument/2006/math">
                    <m:r>
                      <a:rPr lang="en-US" b="0" i="1" smtClean="0">
                        <a:latin typeface="Cambria Math" panose="02040503050406030204" pitchFamily="18" charset="0"/>
                      </a:rPr>
                      <m:t>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3</m:t>
                            </m:r>
                          </m:e>
                          <m:sub>
                            <m:r>
                              <a:rPr lang="en-US" b="0" i="1" smtClean="0">
                                <a:latin typeface="Cambria Math" panose="02040503050406030204" pitchFamily="18" charset="0"/>
                              </a:rPr>
                              <m:t>𝑥</m:t>
                            </m:r>
                          </m:sub>
                        </m:sSub>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1+1.5+3</m:t>
                        </m:r>
                      </m:num>
                      <m:den>
                        <m:r>
                          <a:rPr lang="en-US" b="0" i="1" smtClean="0">
                            <a:latin typeface="Cambria Math" panose="02040503050406030204" pitchFamily="18" charset="0"/>
                          </a:rPr>
                          <m:t>3</m:t>
                        </m:r>
                      </m:den>
                    </m:f>
                    <m:r>
                      <a:rPr lang="en-US" b="0" i="1" smtClean="0">
                        <a:latin typeface="Cambria Math" panose="02040503050406030204" pitchFamily="18" charset="0"/>
                      </a:rPr>
                      <m:t>=1.83</m:t>
                    </m:r>
                  </m:oMath>
                </a14:m>
                <a:r>
                  <a:rPr lang="en-US" dirty="0"/>
                  <a:t> </a:t>
                </a:r>
              </a:p>
              <a:p>
                <a:pPr marL="0" indent="0" algn="ctr">
                  <a:spcAft>
                    <a:spcPts val="2400"/>
                  </a:spcAft>
                  <a:buNone/>
                </a:pPr>
                <a14:m>
                  <m:oMath xmlns:m="http://schemas.openxmlformats.org/officeDocument/2006/math">
                    <m:r>
                      <a:rPr lang="en-US" b="0" i="1" smtClean="0">
                        <a:latin typeface="Cambria Math" panose="02040503050406030204" pitchFamily="18" charset="0"/>
                      </a:rPr>
                      <m:t>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𝑦</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𝑦</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e>
                          <m:sub>
                            <m:r>
                              <a:rPr lang="en-US" b="0" i="1" smtClean="0">
                                <a:latin typeface="Cambria Math" panose="02040503050406030204" pitchFamily="18" charset="0"/>
                              </a:rPr>
                              <m:t>𝑦</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3</m:t>
                            </m:r>
                          </m:e>
                          <m:sub>
                            <m:r>
                              <a:rPr lang="en-US" b="0" i="1" smtClean="0">
                                <a:latin typeface="Cambria Math" panose="02040503050406030204" pitchFamily="18" charset="0"/>
                              </a:rPr>
                              <m:t>𝑦</m:t>
                            </m:r>
                          </m:sub>
                        </m:sSub>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1+2+4</m:t>
                        </m:r>
                      </m:num>
                      <m:den>
                        <m:r>
                          <a:rPr lang="en-US" b="0" i="1" smtClean="0">
                            <a:latin typeface="Cambria Math" panose="02040503050406030204" pitchFamily="18" charset="0"/>
                          </a:rPr>
                          <m:t>3</m:t>
                        </m:r>
                      </m:den>
                    </m:f>
                    <m:r>
                      <a:rPr lang="en-US" b="0" i="1" smtClean="0">
                        <a:latin typeface="Cambria Math" panose="02040503050406030204" pitchFamily="18" charset="0"/>
                      </a:rPr>
                      <m:t>=2.33</m:t>
                    </m:r>
                  </m:oMath>
                </a14:m>
                <a:r>
                  <a:rPr lang="en-US" dirty="0"/>
                  <a:t> </a:t>
                </a:r>
              </a:p>
              <a:p>
                <a:r>
                  <a:rPr lang="en-US" dirty="0"/>
                  <a:t>Compute the mean of each dimension for </a:t>
                </a:r>
                <a:r>
                  <a:rPr lang="en-US" b="1" dirty="0"/>
                  <a:t>Cluster 2</a:t>
                </a:r>
                <a:r>
                  <a:rPr lang="en-US" dirty="0"/>
                  <a:t>’s centroid:</a:t>
                </a:r>
              </a:p>
              <a:p>
                <a:pPr marL="0" indent="0" algn="ctr">
                  <a:buNone/>
                </a:pPr>
                <a14:m>
                  <m:oMath xmlns:m="http://schemas.openxmlformats.org/officeDocument/2006/math">
                    <m:r>
                      <a:rPr lang="en-US" b="0" i="1" smtClean="0">
                        <a:latin typeface="Cambria Math" panose="02040503050406030204" pitchFamily="18" charset="0"/>
                      </a:rPr>
                      <m:t>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4</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5</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6</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7</m:t>
                            </m:r>
                          </m:e>
                          <m:sub>
                            <m:r>
                              <a:rPr lang="en-US" b="0" i="1" smtClean="0">
                                <a:latin typeface="Cambria Math" panose="02040503050406030204" pitchFamily="18" charset="0"/>
                              </a:rPr>
                              <m:t>𝑥</m:t>
                            </m:r>
                          </m:sub>
                        </m:sSub>
                      </m:num>
                      <m:den>
                        <m:r>
                          <a:rPr lang="en-US" b="0" i="1" smtClean="0">
                            <a:latin typeface="Cambria Math" panose="02040503050406030204" pitchFamily="18" charset="0"/>
                          </a:rPr>
                          <m:t>4</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5+3.5+4.5+3.5</m:t>
                        </m:r>
                      </m:num>
                      <m:den>
                        <m:r>
                          <a:rPr lang="en-US" b="0" i="1" smtClean="0">
                            <a:latin typeface="Cambria Math" panose="02040503050406030204" pitchFamily="18" charset="0"/>
                          </a:rPr>
                          <m:t>4</m:t>
                        </m:r>
                      </m:den>
                    </m:f>
                    <m:r>
                      <a:rPr lang="en-US" b="0" i="1" smtClean="0">
                        <a:latin typeface="Cambria Math" panose="02040503050406030204" pitchFamily="18" charset="0"/>
                      </a:rPr>
                      <m:t>=</m:t>
                    </m:r>
                    <m:r>
                      <a:rPr lang="en-US" b="0" i="1" smtClean="0">
                        <a:latin typeface="Cambria Math" panose="02040503050406030204" pitchFamily="18" charset="0"/>
                      </a:rPr>
                      <m:t>4.13</m:t>
                    </m:r>
                  </m:oMath>
                </a14:m>
                <a:r>
                  <a:rPr lang="en-US" dirty="0"/>
                  <a:t> </a:t>
                </a:r>
              </a:p>
              <a:p>
                <a:pPr marL="0" indent="0" algn="ctr">
                  <a:spcAft>
                    <a:spcPts val="2400"/>
                  </a:spcAft>
                  <a:buNone/>
                </a:pPr>
                <a14:m>
                  <m:oMath xmlns:m="http://schemas.openxmlformats.org/officeDocument/2006/math">
                    <m:r>
                      <a:rPr lang="en-US" b="0" i="1" smtClean="0">
                        <a:latin typeface="Cambria Math" panose="02040503050406030204" pitchFamily="18" charset="0"/>
                      </a:rPr>
                      <m:t>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e>
                      <m:sub>
                        <m:r>
                          <a:rPr lang="en-US" b="0" i="1" smtClean="0">
                            <a:latin typeface="Cambria Math" panose="02040503050406030204" pitchFamily="18" charset="0"/>
                          </a:rPr>
                          <m:t>𝑦</m:t>
                        </m:r>
                      </m:sub>
                    </m:sSub>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𝐷</m:t>
                        </m:r>
                        <m:sSub>
                          <m:sSubPr>
                            <m:ctrlPr>
                              <a:rPr lang="en-US" i="1">
                                <a:latin typeface="Cambria Math" panose="02040503050406030204" pitchFamily="18" charset="0"/>
                              </a:rPr>
                            </m:ctrlPr>
                          </m:sSubPr>
                          <m:e>
                            <m:r>
                              <a:rPr lang="en-US" i="1">
                                <a:latin typeface="Cambria Math" panose="02040503050406030204" pitchFamily="18" charset="0"/>
                              </a:rPr>
                              <m:t>4</m:t>
                            </m:r>
                          </m:e>
                          <m:sub>
                            <m:r>
                              <a:rPr lang="en-US" i="1">
                                <a:latin typeface="Cambria Math" panose="02040503050406030204" pitchFamily="18" charset="0"/>
                              </a:rPr>
                              <m:t>𝑥</m:t>
                            </m:r>
                          </m:sub>
                        </m:sSub>
                        <m:r>
                          <a:rPr lang="en-US" i="1">
                            <a:latin typeface="Cambria Math" panose="02040503050406030204" pitchFamily="18" charset="0"/>
                          </a:rPr>
                          <m:t>+</m:t>
                        </m:r>
                        <m:r>
                          <a:rPr lang="en-US" i="1">
                            <a:latin typeface="Cambria Math" panose="02040503050406030204" pitchFamily="18" charset="0"/>
                          </a:rPr>
                          <m:t>𝐷</m:t>
                        </m:r>
                        <m:sSub>
                          <m:sSubPr>
                            <m:ctrlPr>
                              <a:rPr lang="en-US" i="1">
                                <a:latin typeface="Cambria Math" panose="02040503050406030204" pitchFamily="18" charset="0"/>
                              </a:rPr>
                            </m:ctrlPr>
                          </m:sSubPr>
                          <m:e>
                            <m:r>
                              <a:rPr lang="en-US" i="1">
                                <a:latin typeface="Cambria Math" panose="02040503050406030204" pitchFamily="18" charset="0"/>
                              </a:rPr>
                              <m:t>5</m:t>
                            </m:r>
                          </m:e>
                          <m:sub>
                            <m:r>
                              <a:rPr lang="en-US" i="1">
                                <a:latin typeface="Cambria Math" panose="02040503050406030204" pitchFamily="18" charset="0"/>
                              </a:rPr>
                              <m:t>𝑥</m:t>
                            </m:r>
                          </m:sub>
                        </m:sSub>
                        <m:r>
                          <a:rPr lang="en-US" i="1">
                            <a:latin typeface="Cambria Math" panose="02040503050406030204" pitchFamily="18" charset="0"/>
                          </a:rPr>
                          <m:t>+</m:t>
                        </m:r>
                        <m:r>
                          <a:rPr lang="en-US" i="1">
                            <a:latin typeface="Cambria Math" panose="02040503050406030204" pitchFamily="18" charset="0"/>
                          </a:rPr>
                          <m:t>𝐷</m:t>
                        </m:r>
                        <m:sSub>
                          <m:sSubPr>
                            <m:ctrlPr>
                              <a:rPr lang="en-US" i="1">
                                <a:latin typeface="Cambria Math" panose="02040503050406030204" pitchFamily="18" charset="0"/>
                              </a:rPr>
                            </m:ctrlPr>
                          </m:sSubPr>
                          <m:e>
                            <m:r>
                              <a:rPr lang="en-US" i="1">
                                <a:latin typeface="Cambria Math" panose="02040503050406030204" pitchFamily="18" charset="0"/>
                              </a:rPr>
                              <m:t>6</m:t>
                            </m:r>
                          </m:e>
                          <m:sub>
                            <m:r>
                              <a:rPr lang="en-US" i="1">
                                <a:latin typeface="Cambria Math" panose="02040503050406030204" pitchFamily="18" charset="0"/>
                              </a:rPr>
                              <m:t>𝑥</m:t>
                            </m:r>
                          </m:sub>
                        </m:sSub>
                        <m:r>
                          <a:rPr lang="en-US" i="1">
                            <a:latin typeface="Cambria Math" panose="02040503050406030204" pitchFamily="18" charset="0"/>
                          </a:rPr>
                          <m:t>+</m:t>
                        </m:r>
                        <m:r>
                          <a:rPr lang="en-US" i="1">
                            <a:latin typeface="Cambria Math" panose="02040503050406030204" pitchFamily="18" charset="0"/>
                          </a:rPr>
                          <m:t>𝐷</m:t>
                        </m:r>
                        <m:sSub>
                          <m:sSubPr>
                            <m:ctrlPr>
                              <a:rPr lang="en-US" i="1">
                                <a:latin typeface="Cambria Math" panose="02040503050406030204" pitchFamily="18" charset="0"/>
                              </a:rPr>
                            </m:ctrlPr>
                          </m:sSubPr>
                          <m:e>
                            <m:r>
                              <a:rPr lang="en-US" i="1">
                                <a:latin typeface="Cambria Math" panose="02040503050406030204" pitchFamily="18" charset="0"/>
                              </a:rPr>
                              <m:t>7</m:t>
                            </m:r>
                          </m:e>
                          <m:sub>
                            <m:r>
                              <a:rPr lang="en-US" i="1">
                                <a:latin typeface="Cambria Math" panose="02040503050406030204" pitchFamily="18" charset="0"/>
                              </a:rPr>
                              <m:t>𝑥</m:t>
                            </m:r>
                          </m:sub>
                        </m:sSub>
                      </m:num>
                      <m:den>
                        <m:r>
                          <a:rPr lang="en-US" i="1">
                            <a:latin typeface="Cambria Math" panose="02040503050406030204" pitchFamily="18" charset="0"/>
                          </a:rPr>
                          <m:t>4</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7+5+5+4.5</m:t>
                        </m:r>
                      </m:num>
                      <m:den>
                        <m:r>
                          <a:rPr lang="en-US" b="0" i="1" smtClean="0">
                            <a:latin typeface="Cambria Math" panose="02040503050406030204" pitchFamily="18" charset="0"/>
                          </a:rPr>
                          <m:t>4</m:t>
                        </m:r>
                      </m:den>
                    </m:f>
                    <m:r>
                      <a:rPr lang="en-US" b="0" i="1" smtClean="0">
                        <a:latin typeface="Cambria Math" panose="02040503050406030204" pitchFamily="18" charset="0"/>
                      </a:rPr>
                      <m:t>=</m:t>
                    </m:r>
                    <m:r>
                      <a:rPr lang="en-US" b="0" i="1" smtClean="0">
                        <a:latin typeface="Cambria Math" panose="02040503050406030204" pitchFamily="18" charset="0"/>
                      </a:rPr>
                      <m:t>5.38</m:t>
                    </m:r>
                  </m:oMath>
                </a14:m>
                <a:r>
                  <a:rPr lang="en-US" dirty="0"/>
                  <a:t> </a:t>
                </a:r>
              </a:p>
              <a:p>
                <a:pPr>
                  <a:spcAft>
                    <a:spcPts val="2400"/>
                  </a:spcAft>
                </a:pPr>
                <a:endParaRPr lang="en-US" dirty="0"/>
              </a:p>
            </p:txBody>
          </p:sp>
        </mc:Choice>
        <mc:Fallback>
          <p:sp>
            <p:nvSpPr>
              <p:cNvPr id="5" name="Content Placeholder 4">
                <a:extLst>
                  <a:ext uri="{FF2B5EF4-FFF2-40B4-BE49-F238E27FC236}">
                    <a16:creationId xmlns:a16="http://schemas.microsoft.com/office/drawing/2014/main" id="{21290716-BCBE-1034-64FC-97D2DEC495AC}"/>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a:stretch>
              </a:blipFill>
            </p:spPr>
            <p:txBody>
              <a:bodyPr/>
              <a:lstStyle/>
              <a:p>
                <a:r>
                  <a:rPr lang="en-US">
                    <a:noFill/>
                  </a:rPr>
                  <a:t> </a:t>
                </a:r>
              </a:p>
            </p:txBody>
          </p:sp>
        </mc:Fallback>
      </mc:AlternateContent>
    </p:spTree>
    <p:extLst>
      <p:ext uri="{BB962C8B-B14F-4D97-AF65-F5344CB8AC3E}">
        <p14:creationId xmlns:p14="http://schemas.microsoft.com/office/powerpoint/2010/main" val="92784692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A0B-49A8-B3AC-8963-D4F0C56B717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E9E7F2AF-99BA-526A-2D3D-4DB156E5F2FA}"/>
              </a:ext>
            </a:extLst>
          </p:cNvPr>
          <p:cNvSpPr>
            <a:spLocks noGrp="1"/>
          </p:cNvSpPr>
          <p:nvPr>
            <p:ph type="body" sz="quarter" idx="10"/>
          </p:nvPr>
        </p:nvSpPr>
        <p:spPr>
          <a:xfrm>
            <a:off x="2167377" y="2419728"/>
            <a:ext cx="15634848" cy="803546"/>
          </a:xfrm>
        </p:spPr>
        <p:txBody>
          <a:bodyPr>
            <a:normAutofit/>
          </a:bodyPr>
          <a:lstStyle/>
          <a:p>
            <a:r>
              <a:rPr lang="en-US" altLang="zh-CN" dirty="0"/>
              <a:t>Iteration 2: Assign each point to closest centroid</a:t>
            </a:r>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3AD2B7B0-7BFB-6520-1C2B-7A12EED7388E}"/>
                  </a:ext>
                </a:extLst>
              </p:cNvPr>
              <p:cNvSpPr>
                <a:spLocks noGrp="1"/>
              </p:cNvSpPr>
              <p:nvPr>
                <p:ph sz="quarter" idx="11"/>
              </p:nvPr>
            </p:nvSpPr>
            <p:spPr>
              <a:xfrm>
                <a:off x="2163188" y="3260663"/>
                <a:ext cx="19439511" cy="9998137"/>
              </a:xfrm>
            </p:spPr>
            <p:txBody>
              <a:bodyPr>
                <a:normAutofit/>
              </a:bodyPr>
              <a:lstStyle/>
              <a:p>
                <a:pPr>
                  <a:spcAft>
                    <a:spcPts val="2400"/>
                  </a:spcAft>
                </a:pPr>
                <a:r>
                  <a:rPr lang="en-US" dirty="0"/>
                  <a:t>Calculate the distance of each data to the centroids using Euclidean:</a:t>
                </a:r>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𝑝</m:t>
                          </m:r>
                          <m:r>
                            <a:rPr lang="en-US" sz="4400" b="0" i="1" smtClean="0">
                              <a:latin typeface="Cambria Math" panose="02040503050406030204" pitchFamily="18" charset="0"/>
                            </a:rPr>
                            <m:t>, </m:t>
                          </m:r>
                          <m:r>
                            <a:rPr lang="en-US" sz="4400" b="0" i="1" smtClean="0">
                              <a:latin typeface="Cambria Math" panose="02040503050406030204" pitchFamily="18" charset="0"/>
                            </a:rPr>
                            <m:t>𝑞</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𝑝</m:t>
                                      </m:r>
                                    </m:e>
                                    <m:sub>
                                      <m:r>
                                        <a:rPr lang="en-US" sz="4400" b="0" i="1" smtClean="0">
                                          <a:latin typeface="Cambria Math" panose="02040503050406030204" pitchFamily="18" charset="0"/>
                                        </a:rPr>
                                        <m:t>1</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𝑞</m:t>
                                      </m:r>
                                    </m:e>
                                    <m:sub>
                                      <m:r>
                                        <a:rPr lang="en-US" sz="4400" b="0" i="1" smtClean="0">
                                          <a:latin typeface="Cambria Math" panose="02040503050406030204" pitchFamily="18" charset="0"/>
                                        </a:rPr>
                                        <m:t>1</m:t>
                                      </m:r>
                                    </m:sub>
                                  </m:sSub>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𝑝</m:t>
                                      </m:r>
                                    </m:e>
                                    <m:sub>
                                      <m:r>
                                        <a:rPr lang="en-US" sz="4400" b="0" i="1" smtClean="0">
                                          <a:latin typeface="Cambria Math" panose="02040503050406030204" pitchFamily="18" charset="0"/>
                                        </a:rPr>
                                        <m:t>2</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𝑞</m:t>
                                      </m:r>
                                    </m:e>
                                    <m:sub>
                                      <m:r>
                                        <a:rPr lang="en-US" sz="4400" b="0" i="1" smtClean="0">
                                          <a:latin typeface="Cambria Math" panose="02040503050406030204" pitchFamily="18" charset="0"/>
                                        </a:rPr>
                                        <m:t>2</m:t>
                                      </m:r>
                                    </m:sub>
                                  </m:sSub>
                                </m:e>
                              </m:d>
                            </m:e>
                            <m:sup>
                              <m:r>
                                <a:rPr lang="en-US" sz="4400" b="0" i="1" smtClean="0">
                                  <a:latin typeface="Cambria Math" panose="02040503050406030204" pitchFamily="18" charset="0"/>
                                </a:rPr>
                                <m:t>2</m:t>
                              </m:r>
                            </m:sup>
                          </m:sSup>
                        </m:e>
                      </m:rad>
                    </m:oMath>
                  </m:oMathPara>
                </a14:m>
                <a:endParaRPr lang="en-US" dirty="0"/>
              </a:p>
              <a:p>
                <a:r>
                  <a:rPr lang="en-US" dirty="0"/>
                  <a:t>Example:</a:t>
                </a:r>
              </a:p>
              <a:p>
                <a:pPr lvl="1">
                  <a:buFont typeface="Wingdings" pitchFamily="2" charset="2"/>
                  <a:buChar char="Ø"/>
                </a:pPr>
                <a:r>
                  <a:rPr lang="en-US" dirty="0"/>
                  <a:t>Distance from Data 2 to Centroid 1:</a:t>
                </a:r>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1</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𝑥</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1</m:t>
                                      </m:r>
                                    </m:e>
                                    <m:sub>
                                      <m:r>
                                        <a:rPr lang="en-US" sz="4400" b="0" i="1" smtClean="0">
                                          <a:latin typeface="Cambria Math" panose="02040503050406030204" pitchFamily="18" charset="0"/>
                                        </a:rPr>
                                        <m:t>𝑥</m:t>
                                      </m:r>
                                    </m:sub>
                                  </m:sSub>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𝑦</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1</m:t>
                                      </m:r>
                                    </m:e>
                                    <m:sub>
                                      <m:r>
                                        <a:rPr lang="en-US" sz="4400" b="0" i="1" smtClean="0">
                                          <a:latin typeface="Cambria Math" panose="02040503050406030204" pitchFamily="18" charset="0"/>
                                        </a:rPr>
                                        <m:t>𝑦</m:t>
                                      </m:r>
                                    </m:sub>
                                  </m:sSub>
                                </m:e>
                              </m:d>
                            </m:e>
                            <m:sup>
                              <m:r>
                                <a:rPr lang="en-US" sz="4400" b="0" i="1" smtClean="0">
                                  <a:latin typeface="Cambria Math" panose="02040503050406030204" pitchFamily="18" charset="0"/>
                                </a:rPr>
                                <m:t>2</m:t>
                              </m:r>
                            </m:sup>
                          </m:sSup>
                        </m:e>
                      </m:ra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1</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1.5</m:t>
                                  </m:r>
                                  <m:r>
                                    <a:rPr lang="en-US" sz="4400" b="0" i="1" smtClean="0">
                                      <a:latin typeface="Cambria Math" panose="02040503050406030204" pitchFamily="18" charset="0"/>
                                    </a:rPr>
                                    <m:t>−</m:t>
                                  </m:r>
                                  <m:r>
                                    <a:rPr lang="en-US" sz="4400" b="0" i="1" smtClean="0">
                                      <a:latin typeface="Cambria Math" panose="02040503050406030204" pitchFamily="18" charset="0"/>
                                    </a:rPr>
                                    <m:t>1.83</m:t>
                                  </m:r>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2</m:t>
                                  </m:r>
                                  <m:r>
                                    <a:rPr lang="en-US" sz="4400" b="0" i="1" smtClean="0">
                                      <a:latin typeface="Cambria Math" panose="02040503050406030204" pitchFamily="18" charset="0"/>
                                    </a:rPr>
                                    <m:t>−</m:t>
                                  </m:r>
                                  <m:r>
                                    <a:rPr lang="en-US" sz="4400" b="0" i="1" smtClean="0">
                                      <a:latin typeface="Cambria Math" panose="02040503050406030204" pitchFamily="18" charset="0"/>
                                    </a:rPr>
                                    <m:t>2.33</m:t>
                                  </m:r>
                                </m:e>
                              </m:d>
                            </m:e>
                            <m:sup>
                              <m:r>
                                <a:rPr lang="en-US" sz="4400" b="0" i="1" smtClean="0">
                                  <a:latin typeface="Cambria Math" panose="02040503050406030204" pitchFamily="18" charset="0"/>
                                </a:rPr>
                                <m:t>2</m:t>
                              </m:r>
                            </m:sup>
                          </m:sSup>
                        </m:e>
                      </m:rad>
                      <m:r>
                        <a:rPr lang="en-US" sz="4400" b="0" i="1" smtClean="0">
                          <a:latin typeface="Cambria Math" panose="02040503050406030204" pitchFamily="18" charset="0"/>
                        </a:rPr>
                        <m:t>=0.47</m:t>
                      </m:r>
                    </m:oMath>
                  </m:oMathPara>
                </a14:m>
                <a:endParaRPr lang="en-US" dirty="0"/>
              </a:p>
              <a:p>
                <a:pPr lvl="1">
                  <a:buFont typeface="Wingdings" pitchFamily="2" charset="2"/>
                  <a:buChar char="Ø"/>
                </a:pPr>
                <a:r>
                  <a:rPr lang="en-US" dirty="0"/>
                  <a:t>Distance from Data 2 to Centroid 2:</a:t>
                </a:r>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2</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𝑥</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2</m:t>
                                      </m:r>
                                    </m:e>
                                    <m:sub>
                                      <m:r>
                                        <a:rPr lang="en-US" sz="4400" b="0" i="1" smtClean="0">
                                          <a:latin typeface="Cambria Math" panose="02040503050406030204" pitchFamily="18" charset="0"/>
                                        </a:rPr>
                                        <m:t>𝑥</m:t>
                                      </m:r>
                                    </m:sub>
                                  </m:sSub>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𝑦</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2</m:t>
                                      </m:r>
                                    </m:e>
                                    <m:sub>
                                      <m:r>
                                        <a:rPr lang="en-US" sz="4400" b="0" i="1" smtClean="0">
                                          <a:latin typeface="Cambria Math" panose="02040503050406030204" pitchFamily="18" charset="0"/>
                                        </a:rPr>
                                        <m:t>𝑦</m:t>
                                      </m:r>
                                    </m:sub>
                                  </m:sSub>
                                </m:e>
                              </m:d>
                            </m:e>
                            <m:sup>
                              <m:r>
                                <a:rPr lang="en-US" sz="4400" b="0" i="1" smtClean="0">
                                  <a:latin typeface="Cambria Math" panose="02040503050406030204" pitchFamily="18" charset="0"/>
                                </a:rPr>
                                <m:t>2</m:t>
                              </m:r>
                            </m:sup>
                          </m:sSup>
                        </m:e>
                      </m:ra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2</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1.5−</m:t>
                                  </m:r>
                                  <m:r>
                                    <a:rPr lang="en-US" sz="4400" b="0" i="1" smtClean="0">
                                      <a:latin typeface="Cambria Math" panose="02040503050406030204" pitchFamily="18" charset="0"/>
                                    </a:rPr>
                                    <m:t>4.13</m:t>
                                  </m:r>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2−</m:t>
                                  </m:r>
                                  <m:r>
                                    <a:rPr lang="en-US" sz="4400" b="0" i="1" smtClean="0">
                                      <a:latin typeface="Cambria Math" panose="02040503050406030204" pitchFamily="18" charset="0"/>
                                    </a:rPr>
                                    <m:t>5.38</m:t>
                                  </m:r>
                                </m:e>
                              </m:d>
                            </m:e>
                            <m:sup>
                              <m:r>
                                <a:rPr lang="en-US" sz="4400" b="0" i="1" smtClean="0">
                                  <a:latin typeface="Cambria Math" panose="02040503050406030204" pitchFamily="18" charset="0"/>
                                </a:rPr>
                                <m:t>2</m:t>
                              </m:r>
                            </m:sup>
                          </m:sSup>
                        </m:e>
                      </m:rad>
                      <m:r>
                        <a:rPr lang="en-US" sz="4400" b="0" i="1" smtClean="0">
                          <a:latin typeface="Cambria Math" panose="02040503050406030204" pitchFamily="18" charset="0"/>
                        </a:rPr>
                        <m:t>=</m:t>
                      </m:r>
                      <m:r>
                        <a:rPr lang="en-US" sz="4400" b="0" i="1" smtClean="0">
                          <a:latin typeface="Cambria Math" panose="02040503050406030204" pitchFamily="18" charset="0"/>
                        </a:rPr>
                        <m:t>4.28</m:t>
                      </m:r>
                    </m:oMath>
                  </m:oMathPara>
                </a14:m>
                <a:endParaRPr lang="en-US" dirty="0"/>
              </a:p>
              <a:p>
                <a:pPr marL="0" indent="0">
                  <a:buNone/>
                </a:pPr>
                <a:endParaRPr lang="en-US" dirty="0"/>
              </a:p>
            </p:txBody>
          </p:sp>
        </mc:Choice>
        <mc:Fallback>
          <p:sp>
            <p:nvSpPr>
              <p:cNvPr id="4" name="Content Placeholder 3">
                <a:extLst>
                  <a:ext uri="{FF2B5EF4-FFF2-40B4-BE49-F238E27FC236}">
                    <a16:creationId xmlns:a16="http://schemas.microsoft.com/office/drawing/2014/main" id="{3AD2B7B0-7BFB-6520-1C2B-7A12EED7388E}"/>
                  </a:ext>
                </a:extLst>
              </p:cNvPr>
              <p:cNvSpPr>
                <a:spLocks noGrp="1" noRot="1" noChangeAspect="1" noMove="1" noResize="1" noEditPoints="1" noAdjustHandles="1" noChangeArrowheads="1" noChangeShapeType="1" noTextEdit="1"/>
              </p:cNvSpPr>
              <p:nvPr>
                <p:ph sz="quarter" idx="11"/>
              </p:nvPr>
            </p:nvSpPr>
            <p:spPr>
              <a:xfrm>
                <a:off x="2163188" y="3260663"/>
                <a:ext cx="19439511" cy="9998137"/>
              </a:xfrm>
              <a:blipFill>
                <a:blip r:embed="rId2"/>
                <a:stretch>
                  <a:fillRect l="-1371" t="-1142"/>
                </a:stretch>
              </a:blipFill>
            </p:spPr>
            <p:txBody>
              <a:bodyPr/>
              <a:lstStyle/>
              <a:p>
                <a:r>
                  <a:rPr lang="en-US">
                    <a:noFill/>
                  </a:rPr>
                  <a:t> </a:t>
                </a:r>
              </a:p>
            </p:txBody>
          </p:sp>
        </mc:Fallback>
      </mc:AlternateContent>
    </p:spTree>
    <p:extLst>
      <p:ext uri="{BB962C8B-B14F-4D97-AF65-F5344CB8AC3E}">
        <p14:creationId xmlns:p14="http://schemas.microsoft.com/office/powerpoint/2010/main" val="264245252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A0B-49A8-B3AC-8963-D4F0C56B717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E9E7F2AF-99BA-526A-2D3D-4DB156E5F2FA}"/>
              </a:ext>
            </a:extLst>
          </p:cNvPr>
          <p:cNvSpPr>
            <a:spLocks noGrp="1"/>
          </p:cNvSpPr>
          <p:nvPr>
            <p:ph type="body" sz="quarter" idx="10"/>
          </p:nvPr>
        </p:nvSpPr>
        <p:spPr>
          <a:xfrm>
            <a:off x="2167377" y="2419728"/>
            <a:ext cx="15634848" cy="803546"/>
          </a:xfrm>
        </p:spPr>
        <p:txBody>
          <a:bodyPr>
            <a:normAutofit/>
          </a:bodyPr>
          <a:lstStyle/>
          <a:p>
            <a:r>
              <a:rPr lang="en-US" altLang="zh-CN" dirty="0"/>
              <a:t>Iteration 2: Assign each point to closest centroid</a:t>
            </a:r>
            <a:endParaRPr lang="en-US" dirty="0"/>
          </a:p>
        </p:txBody>
      </p:sp>
      <p:pic>
        <p:nvPicPr>
          <p:cNvPr id="8" name="Content Placeholder 7">
            <a:extLst>
              <a:ext uri="{FF2B5EF4-FFF2-40B4-BE49-F238E27FC236}">
                <a16:creationId xmlns:a16="http://schemas.microsoft.com/office/drawing/2014/main" id="{2B17821C-3E48-90F6-8786-3A6167C73DA3}"/>
              </a:ext>
            </a:extLst>
          </p:cNvPr>
          <p:cNvPicPr>
            <a:picLocks noGrp="1" noChangeAspect="1"/>
          </p:cNvPicPr>
          <p:nvPr>
            <p:ph sz="quarter" idx="11"/>
          </p:nvPr>
        </p:nvPicPr>
        <p:blipFill>
          <a:blip r:embed="rId2"/>
          <a:stretch>
            <a:fillRect/>
          </a:stretch>
        </p:blipFill>
        <p:spPr>
          <a:xfrm>
            <a:off x="2167377" y="3904940"/>
            <a:ext cx="19912799" cy="8153709"/>
          </a:xfrm>
          <a:prstGeom prst="rect">
            <a:avLst/>
          </a:prstGeom>
        </p:spPr>
      </p:pic>
    </p:spTree>
    <p:extLst>
      <p:ext uri="{BB962C8B-B14F-4D97-AF65-F5344CB8AC3E}">
        <p14:creationId xmlns:p14="http://schemas.microsoft.com/office/powerpoint/2010/main" val="28216068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A0B-49A8-B3AC-8963-D4F0C56B717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E9E7F2AF-99BA-526A-2D3D-4DB156E5F2FA}"/>
              </a:ext>
            </a:extLst>
          </p:cNvPr>
          <p:cNvSpPr>
            <a:spLocks noGrp="1"/>
          </p:cNvSpPr>
          <p:nvPr>
            <p:ph type="body" sz="quarter" idx="10"/>
          </p:nvPr>
        </p:nvSpPr>
        <p:spPr>
          <a:xfrm>
            <a:off x="2167377" y="2419728"/>
            <a:ext cx="15634848" cy="803546"/>
          </a:xfrm>
        </p:spPr>
        <p:txBody>
          <a:bodyPr>
            <a:normAutofit/>
          </a:bodyPr>
          <a:lstStyle/>
          <a:p>
            <a:r>
              <a:rPr lang="en-US" altLang="zh-CN" dirty="0"/>
              <a:t>Iteration 2: Re-compute the centroid (mean)</a:t>
            </a:r>
            <a:endParaRPr lang="en-US" dirty="0"/>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21290716-BCBE-1034-64FC-97D2DEC495AC}"/>
                  </a:ext>
                </a:extLst>
              </p:cNvPr>
              <p:cNvSpPr>
                <a:spLocks noGrp="1"/>
              </p:cNvSpPr>
              <p:nvPr>
                <p:ph sz="quarter" idx="11"/>
              </p:nvPr>
            </p:nvSpPr>
            <p:spPr/>
            <p:txBody>
              <a:bodyPr/>
              <a:lstStyle/>
              <a:p>
                <a:r>
                  <a:rPr lang="en-US" dirty="0"/>
                  <a:t>Compute the mean of each dimension for </a:t>
                </a:r>
                <a:r>
                  <a:rPr lang="en-US" b="1" dirty="0"/>
                  <a:t>Cluster 1</a:t>
                </a:r>
                <a:r>
                  <a:rPr lang="en-US" dirty="0"/>
                  <a:t>’s centroid:</a:t>
                </a:r>
              </a:p>
              <a:p>
                <a:pPr marL="0" indent="0" algn="ctr">
                  <a:buNone/>
                </a:pPr>
                <a14:m>
                  <m:oMath xmlns:m="http://schemas.openxmlformats.org/officeDocument/2006/math">
                    <m:r>
                      <a:rPr lang="en-US" b="0" i="1" smtClean="0">
                        <a:latin typeface="Cambria Math" panose="02040503050406030204" pitchFamily="18" charset="0"/>
                      </a:rPr>
                      <m:t>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e>
                          <m:sub>
                            <m:r>
                              <a:rPr lang="en-US" b="0" i="1" smtClean="0">
                                <a:latin typeface="Cambria Math" panose="02040503050406030204" pitchFamily="18" charset="0"/>
                              </a:rPr>
                              <m:t>𝑥</m:t>
                            </m:r>
                          </m:sub>
                        </m:sSub>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1+1.5</m:t>
                        </m:r>
                      </m:num>
                      <m:den>
                        <m:r>
                          <a:rPr lang="en-US" b="0" i="1" smtClean="0">
                            <a:latin typeface="Cambria Math" panose="02040503050406030204" pitchFamily="18" charset="0"/>
                          </a:rPr>
                          <m:t>2</m:t>
                        </m:r>
                      </m:den>
                    </m:f>
                    <m:r>
                      <a:rPr lang="en-US" b="0" i="1" smtClean="0">
                        <a:latin typeface="Cambria Math" panose="02040503050406030204" pitchFamily="18" charset="0"/>
                      </a:rPr>
                      <m:t>=1.25</m:t>
                    </m:r>
                  </m:oMath>
                </a14:m>
                <a:r>
                  <a:rPr lang="en-US" dirty="0"/>
                  <a:t> </a:t>
                </a:r>
              </a:p>
              <a:p>
                <a:pPr marL="0" indent="0" algn="ctr">
                  <a:spcAft>
                    <a:spcPts val="2400"/>
                  </a:spcAft>
                  <a:buNone/>
                </a:pPr>
                <a14:m>
                  <m:oMath xmlns:m="http://schemas.openxmlformats.org/officeDocument/2006/math">
                    <m:r>
                      <a:rPr lang="en-US" b="0" i="1" smtClean="0">
                        <a:latin typeface="Cambria Math" panose="02040503050406030204" pitchFamily="18" charset="0"/>
                      </a:rPr>
                      <m:t>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𝑦</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𝑦</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e>
                          <m:sub>
                            <m:r>
                              <a:rPr lang="en-US" b="0" i="1" smtClean="0">
                                <a:latin typeface="Cambria Math" panose="02040503050406030204" pitchFamily="18" charset="0"/>
                              </a:rPr>
                              <m:t>𝑦</m:t>
                            </m:r>
                          </m:sub>
                        </m:sSub>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1+2</m:t>
                        </m:r>
                      </m:num>
                      <m:den>
                        <m:r>
                          <a:rPr lang="en-US" b="0" i="1" smtClean="0">
                            <a:latin typeface="Cambria Math" panose="02040503050406030204" pitchFamily="18" charset="0"/>
                          </a:rPr>
                          <m:t>2</m:t>
                        </m:r>
                      </m:den>
                    </m:f>
                    <m:r>
                      <a:rPr lang="en-US" b="0" i="1" smtClean="0">
                        <a:latin typeface="Cambria Math" panose="02040503050406030204" pitchFamily="18" charset="0"/>
                      </a:rPr>
                      <m:t>=1.5</m:t>
                    </m:r>
                  </m:oMath>
                </a14:m>
                <a:r>
                  <a:rPr lang="en-US" dirty="0"/>
                  <a:t> </a:t>
                </a:r>
              </a:p>
              <a:p>
                <a:r>
                  <a:rPr lang="en-US" dirty="0"/>
                  <a:t>Compute the mean of each dimension for </a:t>
                </a:r>
                <a:r>
                  <a:rPr lang="en-US" b="1" dirty="0"/>
                  <a:t>Cluster 2</a:t>
                </a:r>
                <a:r>
                  <a:rPr lang="en-US" dirty="0"/>
                  <a:t>’s centroid:</a:t>
                </a:r>
              </a:p>
              <a:p>
                <a:pPr marL="0" indent="0" algn="ctr">
                  <a:buNone/>
                </a:pPr>
                <a14:m>
                  <m:oMath xmlns:m="http://schemas.openxmlformats.org/officeDocument/2006/math">
                    <m:r>
                      <a:rPr lang="en-US" b="0" i="1" smtClean="0">
                        <a:latin typeface="Cambria Math" panose="02040503050406030204" pitchFamily="18" charset="0"/>
                      </a:rPr>
                      <m:t>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3</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4</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5</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6</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7</m:t>
                            </m:r>
                          </m:e>
                          <m:sub>
                            <m:r>
                              <a:rPr lang="en-US" b="0" i="1" smtClean="0">
                                <a:latin typeface="Cambria Math" panose="02040503050406030204" pitchFamily="18" charset="0"/>
                              </a:rPr>
                              <m:t>𝑥</m:t>
                            </m:r>
                          </m:sub>
                        </m:sSub>
                      </m:num>
                      <m:den>
                        <m:r>
                          <a:rPr lang="en-US" b="0" i="1" smtClean="0">
                            <a:latin typeface="Cambria Math" panose="02040503050406030204" pitchFamily="18" charset="0"/>
                          </a:rPr>
                          <m:t>5</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3+5+3.5+4.5+3.5</m:t>
                        </m:r>
                      </m:num>
                      <m:den>
                        <m:r>
                          <a:rPr lang="en-US" b="0" i="1" smtClean="0">
                            <a:latin typeface="Cambria Math" panose="02040503050406030204" pitchFamily="18" charset="0"/>
                          </a:rPr>
                          <m:t>5</m:t>
                        </m:r>
                      </m:den>
                    </m:f>
                    <m:r>
                      <a:rPr lang="en-US" b="0" i="1" smtClean="0">
                        <a:latin typeface="Cambria Math" panose="02040503050406030204" pitchFamily="18" charset="0"/>
                      </a:rPr>
                      <m:t>=</m:t>
                    </m:r>
                    <m:r>
                      <a:rPr lang="en-US" b="0" i="1" smtClean="0">
                        <a:latin typeface="Cambria Math" panose="02040503050406030204" pitchFamily="18" charset="0"/>
                      </a:rPr>
                      <m:t>3.9</m:t>
                    </m:r>
                  </m:oMath>
                </a14:m>
                <a:r>
                  <a:rPr lang="en-US" dirty="0"/>
                  <a:t> </a:t>
                </a:r>
              </a:p>
              <a:p>
                <a:pPr marL="0" indent="0" algn="ctr">
                  <a:spcAft>
                    <a:spcPts val="2400"/>
                  </a:spcAft>
                  <a:buNone/>
                </a:pPr>
                <a14:m>
                  <m:oMath xmlns:m="http://schemas.openxmlformats.org/officeDocument/2006/math">
                    <m:r>
                      <a:rPr lang="en-US" b="0" i="1" smtClean="0">
                        <a:latin typeface="Cambria Math" panose="02040503050406030204" pitchFamily="18" charset="0"/>
                      </a:rPr>
                      <m:t>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e>
                      <m:sub>
                        <m:r>
                          <a:rPr lang="en-US" b="0" i="1" smtClean="0">
                            <a:latin typeface="Cambria Math" panose="02040503050406030204" pitchFamily="18" charset="0"/>
                          </a:rPr>
                          <m:t>𝑦</m:t>
                        </m:r>
                      </m:sub>
                    </m:sSub>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3</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i="1">
                            <a:latin typeface="Cambria Math" panose="02040503050406030204" pitchFamily="18" charset="0"/>
                          </a:rPr>
                          <m:t>𝐷</m:t>
                        </m:r>
                        <m:sSub>
                          <m:sSubPr>
                            <m:ctrlPr>
                              <a:rPr lang="en-US" i="1">
                                <a:latin typeface="Cambria Math" panose="02040503050406030204" pitchFamily="18" charset="0"/>
                              </a:rPr>
                            </m:ctrlPr>
                          </m:sSubPr>
                          <m:e>
                            <m:r>
                              <a:rPr lang="en-US" i="1">
                                <a:latin typeface="Cambria Math" panose="02040503050406030204" pitchFamily="18" charset="0"/>
                              </a:rPr>
                              <m:t>4</m:t>
                            </m:r>
                          </m:e>
                          <m:sub>
                            <m:r>
                              <a:rPr lang="en-US" i="1">
                                <a:latin typeface="Cambria Math" panose="02040503050406030204" pitchFamily="18" charset="0"/>
                              </a:rPr>
                              <m:t>𝑥</m:t>
                            </m:r>
                          </m:sub>
                        </m:sSub>
                        <m:r>
                          <a:rPr lang="en-US" i="1">
                            <a:latin typeface="Cambria Math" panose="02040503050406030204" pitchFamily="18" charset="0"/>
                          </a:rPr>
                          <m:t>+</m:t>
                        </m:r>
                        <m:r>
                          <a:rPr lang="en-US" i="1">
                            <a:latin typeface="Cambria Math" panose="02040503050406030204" pitchFamily="18" charset="0"/>
                          </a:rPr>
                          <m:t>𝐷</m:t>
                        </m:r>
                        <m:sSub>
                          <m:sSubPr>
                            <m:ctrlPr>
                              <a:rPr lang="en-US" i="1">
                                <a:latin typeface="Cambria Math" panose="02040503050406030204" pitchFamily="18" charset="0"/>
                              </a:rPr>
                            </m:ctrlPr>
                          </m:sSubPr>
                          <m:e>
                            <m:r>
                              <a:rPr lang="en-US" i="1">
                                <a:latin typeface="Cambria Math" panose="02040503050406030204" pitchFamily="18" charset="0"/>
                              </a:rPr>
                              <m:t>5</m:t>
                            </m:r>
                          </m:e>
                          <m:sub>
                            <m:r>
                              <a:rPr lang="en-US" i="1">
                                <a:latin typeface="Cambria Math" panose="02040503050406030204" pitchFamily="18" charset="0"/>
                              </a:rPr>
                              <m:t>𝑥</m:t>
                            </m:r>
                          </m:sub>
                        </m:sSub>
                        <m:r>
                          <a:rPr lang="en-US" i="1">
                            <a:latin typeface="Cambria Math" panose="02040503050406030204" pitchFamily="18" charset="0"/>
                          </a:rPr>
                          <m:t>+</m:t>
                        </m:r>
                        <m:r>
                          <a:rPr lang="en-US" i="1">
                            <a:latin typeface="Cambria Math" panose="02040503050406030204" pitchFamily="18" charset="0"/>
                          </a:rPr>
                          <m:t>𝐷</m:t>
                        </m:r>
                        <m:sSub>
                          <m:sSubPr>
                            <m:ctrlPr>
                              <a:rPr lang="en-US" i="1">
                                <a:latin typeface="Cambria Math" panose="02040503050406030204" pitchFamily="18" charset="0"/>
                              </a:rPr>
                            </m:ctrlPr>
                          </m:sSubPr>
                          <m:e>
                            <m:r>
                              <a:rPr lang="en-US" i="1">
                                <a:latin typeface="Cambria Math" panose="02040503050406030204" pitchFamily="18" charset="0"/>
                              </a:rPr>
                              <m:t>6</m:t>
                            </m:r>
                          </m:e>
                          <m:sub>
                            <m:r>
                              <a:rPr lang="en-US" i="1">
                                <a:latin typeface="Cambria Math" panose="02040503050406030204" pitchFamily="18" charset="0"/>
                              </a:rPr>
                              <m:t>𝑥</m:t>
                            </m:r>
                          </m:sub>
                        </m:sSub>
                        <m:r>
                          <a:rPr lang="en-US" i="1">
                            <a:latin typeface="Cambria Math" panose="02040503050406030204" pitchFamily="18" charset="0"/>
                          </a:rPr>
                          <m:t>+</m:t>
                        </m:r>
                        <m:r>
                          <a:rPr lang="en-US" i="1">
                            <a:latin typeface="Cambria Math" panose="02040503050406030204" pitchFamily="18" charset="0"/>
                          </a:rPr>
                          <m:t>𝐷</m:t>
                        </m:r>
                        <m:sSub>
                          <m:sSubPr>
                            <m:ctrlPr>
                              <a:rPr lang="en-US" i="1">
                                <a:latin typeface="Cambria Math" panose="02040503050406030204" pitchFamily="18" charset="0"/>
                              </a:rPr>
                            </m:ctrlPr>
                          </m:sSubPr>
                          <m:e>
                            <m:r>
                              <a:rPr lang="en-US" i="1">
                                <a:latin typeface="Cambria Math" panose="02040503050406030204" pitchFamily="18" charset="0"/>
                              </a:rPr>
                              <m:t>7</m:t>
                            </m:r>
                          </m:e>
                          <m:sub>
                            <m:r>
                              <a:rPr lang="en-US" i="1">
                                <a:latin typeface="Cambria Math" panose="02040503050406030204" pitchFamily="18" charset="0"/>
                              </a:rPr>
                              <m:t>𝑥</m:t>
                            </m:r>
                          </m:sub>
                        </m:sSub>
                      </m:num>
                      <m:den>
                        <m:r>
                          <a:rPr lang="en-US" b="0" i="1" smtClean="0">
                            <a:latin typeface="Cambria Math" panose="02040503050406030204" pitchFamily="18" charset="0"/>
                          </a:rPr>
                          <m:t>5</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4+7+5+5+4.5</m:t>
                        </m:r>
                      </m:num>
                      <m:den>
                        <m:r>
                          <a:rPr lang="en-US" b="0" i="1" smtClean="0">
                            <a:latin typeface="Cambria Math" panose="02040503050406030204" pitchFamily="18" charset="0"/>
                          </a:rPr>
                          <m:t>5</m:t>
                        </m:r>
                      </m:den>
                    </m:f>
                    <m:r>
                      <a:rPr lang="en-US" b="0" i="1" smtClean="0">
                        <a:latin typeface="Cambria Math" panose="02040503050406030204" pitchFamily="18" charset="0"/>
                      </a:rPr>
                      <m:t>=</m:t>
                    </m:r>
                    <m:r>
                      <a:rPr lang="en-US" b="0" i="1" smtClean="0">
                        <a:latin typeface="Cambria Math" panose="02040503050406030204" pitchFamily="18" charset="0"/>
                      </a:rPr>
                      <m:t>5.1</m:t>
                    </m:r>
                  </m:oMath>
                </a14:m>
                <a:r>
                  <a:rPr lang="en-US" dirty="0"/>
                  <a:t> </a:t>
                </a:r>
              </a:p>
              <a:p>
                <a:pPr>
                  <a:spcAft>
                    <a:spcPts val="2400"/>
                  </a:spcAft>
                </a:pPr>
                <a:endParaRPr lang="en-US" dirty="0"/>
              </a:p>
            </p:txBody>
          </p:sp>
        </mc:Choice>
        <mc:Fallback>
          <p:sp>
            <p:nvSpPr>
              <p:cNvPr id="5" name="Content Placeholder 4">
                <a:extLst>
                  <a:ext uri="{FF2B5EF4-FFF2-40B4-BE49-F238E27FC236}">
                    <a16:creationId xmlns:a16="http://schemas.microsoft.com/office/drawing/2014/main" id="{21290716-BCBE-1034-64FC-97D2DEC495AC}"/>
                  </a:ext>
                </a:extLst>
              </p:cNvPr>
              <p:cNvSpPr>
                <a:spLocks noGrp="1" noRot="1" noChangeAspect="1" noMove="1" noResize="1" noEditPoints="1" noAdjustHandles="1" noChangeArrowheads="1" noChangeShapeType="1" noTextEdit="1"/>
              </p:cNvSpPr>
              <p:nvPr>
                <p:ph sz="quarter" idx="11"/>
              </p:nvPr>
            </p:nvSpPr>
            <p:spPr>
              <a:blipFill>
                <a:blip r:embed="rId2"/>
                <a:stretch>
                  <a:fillRect l="-1329" t="-1329"/>
                </a:stretch>
              </a:blipFill>
            </p:spPr>
            <p:txBody>
              <a:bodyPr/>
              <a:lstStyle/>
              <a:p>
                <a:r>
                  <a:rPr lang="en-US">
                    <a:noFill/>
                  </a:rPr>
                  <a:t> </a:t>
                </a:r>
              </a:p>
            </p:txBody>
          </p:sp>
        </mc:Fallback>
      </mc:AlternateContent>
    </p:spTree>
    <p:extLst>
      <p:ext uri="{BB962C8B-B14F-4D97-AF65-F5344CB8AC3E}">
        <p14:creationId xmlns:p14="http://schemas.microsoft.com/office/powerpoint/2010/main" val="13450027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A0B-49A8-B3AC-8963-D4F0C56B717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E9E7F2AF-99BA-526A-2D3D-4DB156E5F2FA}"/>
              </a:ext>
            </a:extLst>
          </p:cNvPr>
          <p:cNvSpPr>
            <a:spLocks noGrp="1"/>
          </p:cNvSpPr>
          <p:nvPr>
            <p:ph type="body" sz="quarter" idx="10"/>
          </p:nvPr>
        </p:nvSpPr>
        <p:spPr>
          <a:xfrm>
            <a:off x="2167377" y="2419728"/>
            <a:ext cx="15634848" cy="803546"/>
          </a:xfrm>
        </p:spPr>
        <p:txBody>
          <a:bodyPr>
            <a:normAutofit/>
          </a:bodyPr>
          <a:lstStyle/>
          <a:p>
            <a:r>
              <a:rPr lang="en-US" altLang="zh-CN" dirty="0"/>
              <a:t>Iteration 3: Assign each point to closest centroid</a:t>
            </a:r>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3AD2B7B0-7BFB-6520-1C2B-7A12EED7388E}"/>
                  </a:ext>
                </a:extLst>
              </p:cNvPr>
              <p:cNvSpPr>
                <a:spLocks noGrp="1"/>
              </p:cNvSpPr>
              <p:nvPr>
                <p:ph sz="quarter" idx="11"/>
              </p:nvPr>
            </p:nvSpPr>
            <p:spPr>
              <a:xfrm>
                <a:off x="2163188" y="3260663"/>
                <a:ext cx="19439511" cy="9998137"/>
              </a:xfrm>
            </p:spPr>
            <p:txBody>
              <a:bodyPr>
                <a:normAutofit/>
              </a:bodyPr>
              <a:lstStyle/>
              <a:p>
                <a:pPr>
                  <a:spcAft>
                    <a:spcPts val="2400"/>
                  </a:spcAft>
                </a:pPr>
                <a:r>
                  <a:rPr lang="en-US" dirty="0"/>
                  <a:t>Calculate the distance of each data to the centroids using Euclidean:</a:t>
                </a:r>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𝑝</m:t>
                          </m:r>
                          <m:r>
                            <a:rPr lang="en-US" sz="4400" b="0" i="1" smtClean="0">
                              <a:latin typeface="Cambria Math" panose="02040503050406030204" pitchFamily="18" charset="0"/>
                            </a:rPr>
                            <m:t>, </m:t>
                          </m:r>
                          <m:r>
                            <a:rPr lang="en-US" sz="4400" b="0" i="1" smtClean="0">
                              <a:latin typeface="Cambria Math" panose="02040503050406030204" pitchFamily="18" charset="0"/>
                            </a:rPr>
                            <m:t>𝑞</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𝑝</m:t>
                                      </m:r>
                                    </m:e>
                                    <m:sub>
                                      <m:r>
                                        <a:rPr lang="en-US" sz="4400" b="0" i="1" smtClean="0">
                                          <a:latin typeface="Cambria Math" panose="02040503050406030204" pitchFamily="18" charset="0"/>
                                        </a:rPr>
                                        <m:t>1</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𝑞</m:t>
                                      </m:r>
                                    </m:e>
                                    <m:sub>
                                      <m:r>
                                        <a:rPr lang="en-US" sz="4400" b="0" i="1" smtClean="0">
                                          <a:latin typeface="Cambria Math" panose="02040503050406030204" pitchFamily="18" charset="0"/>
                                        </a:rPr>
                                        <m:t>1</m:t>
                                      </m:r>
                                    </m:sub>
                                  </m:sSub>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𝑝</m:t>
                                      </m:r>
                                    </m:e>
                                    <m:sub>
                                      <m:r>
                                        <a:rPr lang="en-US" sz="4400" b="0" i="1" smtClean="0">
                                          <a:latin typeface="Cambria Math" panose="02040503050406030204" pitchFamily="18" charset="0"/>
                                        </a:rPr>
                                        <m:t>2</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𝑞</m:t>
                                      </m:r>
                                    </m:e>
                                    <m:sub>
                                      <m:r>
                                        <a:rPr lang="en-US" sz="4400" b="0" i="1" smtClean="0">
                                          <a:latin typeface="Cambria Math" panose="02040503050406030204" pitchFamily="18" charset="0"/>
                                        </a:rPr>
                                        <m:t>2</m:t>
                                      </m:r>
                                    </m:sub>
                                  </m:sSub>
                                </m:e>
                              </m:d>
                            </m:e>
                            <m:sup>
                              <m:r>
                                <a:rPr lang="en-US" sz="4400" b="0" i="1" smtClean="0">
                                  <a:latin typeface="Cambria Math" panose="02040503050406030204" pitchFamily="18" charset="0"/>
                                </a:rPr>
                                <m:t>2</m:t>
                              </m:r>
                            </m:sup>
                          </m:sSup>
                        </m:e>
                      </m:rad>
                    </m:oMath>
                  </m:oMathPara>
                </a14:m>
                <a:endParaRPr lang="en-US" dirty="0"/>
              </a:p>
              <a:p>
                <a:r>
                  <a:rPr lang="en-US" dirty="0"/>
                  <a:t>Example:</a:t>
                </a:r>
              </a:p>
              <a:p>
                <a:pPr lvl="1">
                  <a:buFont typeface="Wingdings" pitchFamily="2" charset="2"/>
                  <a:buChar char="Ø"/>
                </a:pPr>
                <a:r>
                  <a:rPr lang="en-US" dirty="0"/>
                  <a:t>Distance from Data 2 to Centroid 1:</a:t>
                </a:r>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1</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𝑥</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1</m:t>
                                      </m:r>
                                    </m:e>
                                    <m:sub>
                                      <m:r>
                                        <a:rPr lang="en-US" sz="4400" b="0" i="1" smtClean="0">
                                          <a:latin typeface="Cambria Math" panose="02040503050406030204" pitchFamily="18" charset="0"/>
                                        </a:rPr>
                                        <m:t>𝑥</m:t>
                                      </m:r>
                                    </m:sub>
                                  </m:sSub>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𝑦</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1</m:t>
                                      </m:r>
                                    </m:e>
                                    <m:sub>
                                      <m:r>
                                        <a:rPr lang="en-US" sz="4400" b="0" i="1" smtClean="0">
                                          <a:latin typeface="Cambria Math" panose="02040503050406030204" pitchFamily="18" charset="0"/>
                                        </a:rPr>
                                        <m:t>𝑦</m:t>
                                      </m:r>
                                    </m:sub>
                                  </m:sSub>
                                </m:e>
                              </m:d>
                            </m:e>
                            <m:sup>
                              <m:r>
                                <a:rPr lang="en-US" sz="4400" b="0" i="1" smtClean="0">
                                  <a:latin typeface="Cambria Math" panose="02040503050406030204" pitchFamily="18" charset="0"/>
                                </a:rPr>
                                <m:t>2</m:t>
                              </m:r>
                            </m:sup>
                          </m:sSup>
                        </m:e>
                      </m:ra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1</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1.5</m:t>
                                  </m:r>
                                  <m:r>
                                    <a:rPr lang="en-US" sz="4400" b="0" i="1" smtClean="0">
                                      <a:latin typeface="Cambria Math" panose="02040503050406030204" pitchFamily="18" charset="0"/>
                                    </a:rPr>
                                    <m:t>−</m:t>
                                  </m:r>
                                  <m:r>
                                    <a:rPr lang="en-US" sz="4400" b="0" i="1" smtClean="0">
                                      <a:latin typeface="Cambria Math" panose="02040503050406030204" pitchFamily="18" charset="0"/>
                                    </a:rPr>
                                    <m:t>1.25</m:t>
                                  </m:r>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2</m:t>
                                  </m:r>
                                  <m:r>
                                    <a:rPr lang="en-US" sz="4400" b="0" i="1" smtClean="0">
                                      <a:latin typeface="Cambria Math" panose="02040503050406030204" pitchFamily="18" charset="0"/>
                                    </a:rPr>
                                    <m:t>−</m:t>
                                  </m:r>
                                  <m:r>
                                    <a:rPr lang="en-US" sz="4400" b="0" i="1" smtClean="0">
                                      <a:latin typeface="Cambria Math" panose="02040503050406030204" pitchFamily="18" charset="0"/>
                                    </a:rPr>
                                    <m:t>1.5</m:t>
                                  </m:r>
                                </m:e>
                              </m:d>
                            </m:e>
                            <m:sup>
                              <m:r>
                                <a:rPr lang="en-US" sz="4400" b="0" i="1" smtClean="0">
                                  <a:latin typeface="Cambria Math" panose="02040503050406030204" pitchFamily="18" charset="0"/>
                                </a:rPr>
                                <m:t>2</m:t>
                              </m:r>
                            </m:sup>
                          </m:sSup>
                        </m:e>
                      </m:rad>
                      <m:r>
                        <a:rPr lang="en-US" sz="4400" b="0" i="1" smtClean="0">
                          <a:latin typeface="Cambria Math" panose="02040503050406030204" pitchFamily="18" charset="0"/>
                        </a:rPr>
                        <m:t>=0.56</m:t>
                      </m:r>
                    </m:oMath>
                  </m:oMathPara>
                </a14:m>
                <a:endParaRPr lang="en-US" dirty="0"/>
              </a:p>
              <a:p>
                <a:pPr lvl="1">
                  <a:buFont typeface="Wingdings" pitchFamily="2" charset="2"/>
                  <a:buChar char="Ø"/>
                </a:pPr>
                <a:r>
                  <a:rPr lang="en-US" dirty="0"/>
                  <a:t>Distance from Data 2 to Centroid 2:</a:t>
                </a:r>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2</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𝑥</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2</m:t>
                                      </m:r>
                                    </m:e>
                                    <m:sub>
                                      <m:r>
                                        <a:rPr lang="en-US" sz="4400" b="0" i="1" smtClean="0">
                                          <a:latin typeface="Cambria Math" panose="02040503050406030204" pitchFamily="18" charset="0"/>
                                        </a:rPr>
                                        <m:t>𝑥</m:t>
                                      </m:r>
                                    </m:sub>
                                  </m:sSub>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𝐷</m:t>
                                      </m:r>
                                      <m:r>
                                        <a:rPr lang="en-US" sz="4400" b="0" i="1" smtClean="0">
                                          <a:latin typeface="Cambria Math" panose="02040503050406030204" pitchFamily="18" charset="0"/>
                                        </a:rPr>
                                        <m:t>2</m:t>
                                      </m:r>
                                    </m:e>
                                    <m:sub>
                                      <m:r>
                                        <a:rPr lang="en-US" sz="4400" b="0" i="1" smtClean="0">
                                          <a:latin typeface="Cambria Math" panose="02040503050406030204" pitchFamily="18" charset="0"/>
                                        </a:rPr>
                                        <m:t>𝑦</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𝐶</m:t>
                                      </m:r>
                                      <m:r>
                                        <a:rPr lang="en-US" sz="4400" b="0" i="1" smtClean="0">
                                          <a:latin typeface="Cambria Math" panose="02040503050406030204" pitchFamily="18" charset="0"/>
                                        </a:rPr>
                                        <m:t>2</m:t>
                                      </m:r>
                                    </m:e>
                                    <m:sub>
                                      <m:r>
                                        <a:rPr lang="en-US" sz="4400" b="0" i="1" smtClean="0">
                                          <a:latin typeface="Cambria Math" panose="02040503050406030204" pitchFamily="18" charset="0"/>
                                        </a:rPr>
                                        <m:t>𝑦</m:t>
                                      </m:r>
                                    </m:sub>
                                  </m:sSub>
                                </m:e>
                              </m:d>
                            </m:e>
                            <m:sup>
                              <m:r>
                                <a:rPr lang="en-US" sz="4400" b="0" i="1" smtClean="0">
                                  <a:latin typeface="Cambria Math" panose="02040503050406030204" pitchFamily="18" charset="0"/>
                                </a:rPr>
                                <m:t>2</m:t>
                              </m:r>
                            </m:sup>
                          </m:sSup>
                        </m:e>
                      </m:ra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𝑑</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𝐷</m:t>
                          </m:r>
                          <m:r>
                            <a:rPr lang="en-US" sz="4400" b="0" i="1" smtClean="0">
                              <a:latin typeface="Cambria Math" panose="02040503050406030204" pitchFamily="18" charset="0"/>
                            </a:rPr>
                            <m:t>2, </m:t>
                          </m:r>
                          <m:r>
                            <a:rPr lang="en-US" sz="4400" b="0" i="1" smtClean="0">
                              <a:latin typeface="Cambria Math" panose="02040503050406030204" pitchFamily="18" charset="0"/>
                            </a:rPr>
                            <m:t>𝐶</m:t>
                          </m:r>
                          <m:r>
                            <a:rPr lang="en-US" sz="4400" b="0" i="1" smtClean="0">
                              <a:latin typeface="Cambria Math" panose="02040503050406030204" pitchFamily="18" charset="0"/>
                            </a:rPr>
                            <m:t>2</m:t>
                          </m:r>
                        </m:e>
                      </m:d>
                      <m:r>
                        <a:rPr lang="en-US" sz="4400" b="0" i="1" smtClean="0">
                          <a:latin typeface="Cambria Math" panose="02040503050406030204" pitchFamily="18" charset="0"/>
                        </a:rPr>
                        <m:t>=</m:t>
                      </m:r>
                      <m:rad>
                        <m:radPr>
                          <m:ctrlPr>
                            <a:rPr lang="en-US" sz="4400" b="0" i="1" smtClean="0">
                              <a:latin typeface="Cambria Math" panose="02040503050406030204" pitchFamily="18" charset="0"/>
                            </a:rPr>
                          </m:ctrlPr>
                        </m:radPr>
                        <m:deg>
                          <m:r>
                            <a:rPr lang="en-US" sz="4400" b="0" i="1" smtClean="0">
                              <a:latin typeface="Cambria Math" panose="02040503050406030204" pitchFamily="18" charset="0"/>
                            </a:rPr>
                            <m:t>2</m:t>
                          </m:r>
                        </m:deg>
                        <m:e>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1.5−</m:t>
                                  </m:r>
                                  <m:r>
                                    <a:rPr lang="en-US" sz="4400" b="0" i="1" smtClean="0">
                                      <a:latin typeface="Cambria Math" panose="02040503050406030204" pitchFamily="18" charset="0"/>
                                    </a:rPr>
                                    <m:t>3.9</m:t>
                                  </m:r>
                                </m:e>
                              </m:d>
                            </m:e>
                            <m:sup>
                              <m:r>
                                <a:rPr lang="en-US" sz="4400" b="0" i="1" smtClean="0">
                                  <a:latin typeface="Cambria Math" panose="02040503050406030204" pitchFamily="18" charset="0"/>
                                </a:rPr>
                                <m:t>2</m:t>
                              </m:r>
                            </m:sup>
                          </m:sSup>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panose="02040503050406030204" pitchFamily="18" charset="0"/>
                                    </a:rPr>
                                    <m:t>2−</m:t>
                                  </m:r>
                                  <m:r>
                                    <a:rPr lang="en-US" sz="4400" b="0" i="1" smtClean="0">
                                      <a:latin typeface="Cambria Math" panose="02040503050406030204" pitchFamily="18" charset="0"/>
                                    </a:rPr>
                                    <m:t>5.1</m:t>
                                  </m:r>
                                </m:e>
                              </m:d>
                            </m:e>
                            <m:sup>
                              <m:r>
                                <a:rPr lang="en-US" sz="4400" b="0" i="1" smtClean="0">
                                  <a:latin typeface="Cambria Math" panose="02040503050406030204" pitchFamily="18" charset="0"/>
                                </a:rPr>
                                <m:t>2</m:t>
                              </m:r>
                            </m:sup>
                          </m:sSup>
                        </m:e>
                      </m:rad>
                      <m:r>
                        <a:rPr lang="en-US" sz="4400" b="0" i="1" smtClean="0">
                          <a:latin typeface="Cambria Math" panose="02040503050406030204" pitchFamily="18" charset="0"/>
                        </a:rPr>
                        <m:t>=</m:t>
                      </m:r>
                      <m:r>
                        <a:rPr lang="en-US" sz="4400" b="0" i="1" smtClean="0">
                          <a:latin typeface="Cambria Math" panose="02040503050406030204" pitchFamily="18" charset="0"/>
                        </a:rPr>
                        <m:t>3.92</m:t>
                      </m:r>
                    </m:oMath>
                  </m:oMathPara>
                </a14:m>
                <a:endParaRPr lang="en-US" dirty="0"/>
              </a:p>
              <a:p>
                <a:pPr marL="0" indent="0">
                  <a:buNone/>
                </a:pPr>
                <a:endParaRPr lang="en-US" dirty="0"/>
              </a:p>
            </p:txBody>
          </p:sp>
        </mc:Choice>
        <mc:Fallback>
          <p:sp>
            <p:nvSpPr>
              <p:cNvPr id="4" name="Content Placeholder 3">
                <a:extLst>
                  <a:ext uri="{FF2B5EF4-FFF2-40B4-BE49-F238E27FC236}">
                    <a16:creationId xmlns:a16="http://schemas.microsoft.com/office/drawing/2014/main" id="{3AD2B7B0-7BFB-6520-1C2B-7A12EED7388E}"/>
                  </a:ext>
                </a:extLst>
              </p:cNvPr>
              <p:cNvSpPr>
                <a:spLocks noGrp="1" noRot="1" noChangeAspect="1" noMove="1" noResize="1" noEditPoints="1" noAdjustHandles="1" noChangeArrowheads="1" noChangeShapeType="1" noTextEdit="1"/>
              </p:cNvSpPr>
              <p:nvPr>
                <p:ph sz="quarter" idx="11"/>
              </p:nvPr>
            </p:nvSpPr>
            <p:spPr>
              <a:xfrm>
                <a:off x="2163188" y="3260663"/>
                <a:ext cx="19439511" cy="9998137"/>
              </a:xfrm>
              <a:blipFill>
                <a:blip r:embed="rId2"/>
                <a:stretch>
                  <a:fillRect l="-1371" t="-1142"/>
                </a:stretch>
              </a:blipFill>
            </p:spPr>
            <p:txBody>
              <a:bodyPr/>
              <a:lstStyle/>
              <a:p>
                <a:r>
                  <a:rPr lang="en-US">
                    <a:noFill/>
                  </a:rPr>
                  <a:t> </a:t>
                </a:r>
              </a:p>
            </p:txBody>
          </p:sp>
        </mc:Fallback>
      </mc:AlternateContent>
    </p:spTree>
    <p:extLst>
      <p:ext uri="{BB962C8B-B14F-4D97-AF65-F5344CB8AC3E}">
        <p14:creationId xmlns:p14="http://schemas.microsoft.com/office/powerpoint/2010/main" val="167362428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A0B-49A8-B3AC-8963-D4F0C56B717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E9E7F2AF-99BA-526A-2D3D-4DB156E5F2FA}"/>
              </a:ext>
            </a:extLst>
          </p:cNvPr>
          <p:cNvSpPr>
            <a:spLocks noGrp="1"/>
          </p:cNvSpPr>
          <p:nvPr>
            <p:ph type="body" sz="quarter" idx="10"/>
          </p:nvPr>
        </p:nvSpPr>
        <p:spPr>
          <a:xfrm>
            <a:off x="2167377" y="2419728"/>
            <a:ext cx="15634848" cy="803546"/>
          </a:xfrm>
        </p:spPr>
        <p:txBody>
          <a:bodyPr>
            <a:normAutofit/>
          </a:bodyPr>
          <a:lstStyle/>
          <a:p>
            <a:r>
              <a:rPr lang="en-US" altLang="zh-CN" dirty="0"/>
              <a:t>Iteration 3: Assign each point to closest centroid</a:t>
            </a:r>
            <a:endParaRPr lang="en-US" dirty="0"/>
          </a:p>
        </p:txBody>
      </p:sp>
      <p:pic>
        <p:nvPicPr>
          <p:cNvPr id="8" name="Content Placeholder 7">
            <a:extLst>
              <a:ext uri="{FF2B5EF4-FFF2-40B4-BE49-F238E27FC236}">
                <a16:creationId xmlns:a16="http://schemas.microsoft.com/office/drawing/2014/main" id="{E5627AC4-4996-B696-1AD9-963F99E45BE3}"/>
              </a:ext>
            </a:extLst>
          </p:cNvPr>
          <p:cNvPicPr>
            <a:picLocks noGrp="1" noChangeAspect="1"/>
          </p:cNvPicPr>
          <p:nvPr>
            <p:ph sz="quarter" idx="11"/>
          </p:nvPr>
        </p:nvPicPr>
        <p:blipFill>
          <a:blip r:embed="rId2"/>
          <a:stretch>
            <a:fillRect/>
          </a:stretch>
        </p:blipFill>
        <p:spPr>
          <a:xfrm>
            <a:off x="2167377" y="3757217"/>
            <a:ext cx="19749212" cy="8086725"/>
          </a:xfrm>
          <a:prstGeom prst="rect">
            <a:avLst/>
          </a:prstGeom>
        </p:spPr>
      </p:pic>
    </p:spTree>
    <p:extLst>
      <p:ext uri="{BB962C8B-B14F-4D97-AF65-F5344CB8AC3E}">
        <p14:creationId xmlns:p14="http://schemas.microsoft.com/office/powerpoint/2010/main" val="43356750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0A0B-49A8-B3AC-8963-D4F0C56B717E}"/>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E9E7F2AF-99BA-526A-2D3D-4DB156E5F2FA}"/>
              </a:ext>
            </a:extLst>
          </p:cNvPr>
          <p:cNvSpPr>
            <a:spLocks noGrp="1"/>
          </p:cNvSpPr>
          <p:nvPr>
            <p:ph type="body" sz="quarter" idx="10"/>
          </p:nvPr>
        </p:nvSpPr>
        <p:spPr>
          <a:xfrm>
            <a:off x="2167377" y="2419728"/>
            <a:ext cx="15634848" cy="803546"/>
          </a:xfrm>
        </p:spPr>
        <p:txBody>
          <a:bodyPr>
            <a:normAutofit/>
          </a:bodyPr>
          <a:lstStyle/>
          <a:p>
            <a:r>
              <a:rPr lang="en-US" altLang="zh-CN" dirty="0"/>
              <a:t>Iteration 3</a:t>
            </a:r>
            <a:endParaRPr lang="en-US" dirty="0"/>
          </a:p>
        </p:txBody>
      </p:sp>
      <p:sp>
        <p:nvSpPr>
          <p:cNvPr id="5" name="Content Placeholder 4">
            <a:extLst>
              <a:ext uri="{FF2B5EF4-FFF2-40B4-BE49-F238E27FC236}">
                <a16:creationId xmlns:a16="http://schemas.microsoft.com/office/drawing/2014/main" id="{21290716-BCBE-1034-64FC-97D2DEC495AC}"/>
              </a:ext>
            </a:extLst>
          </p:cNvPr>
          <p:cNvSpPr>
            <a:spLocks noGrp="1"/>
          </p:cNvSpPr>
          <p:nvPr>
            <p:ph sz="quarter" idx="11"/>
          </p:nvPr>
        </p:nvSpPr>
        <p:spPr/>
        <p:txBody>
          <a:bodyPr/>
          <a:lstStyle/>
          <a:p>
            <a:r>
              <a:rPr lang="en-US" dirty="0"/>
              <a:t>There is no change in the cluster members from iteration 2.</a:t>
            </a:r>
          </a:p>
          <a:p>
            <a:r>
              <a:rPr lang="en-US" dirty="0"/>
              <a:t>Thus, the algorithm comes to a halt here and the result consist of 2 clusters: </a:t>
            </a:r>
          </a:p>
          <a:p>
            <a:pPr lvl="1">
              <a:buFont typeface="Wingdings" pitchFamily="2" charset="2"/>
              <a:buChar char="Ø"/>
            </a:pPr>
            <a:r>
              <a:rPr lang="en-US" b="1" dirty="0"/>
              <a:t>Cluster 1: </a:t>
            </a:r>
            <a:r>
              <a:rPr lang="en-US" dirty="0"/>
              <a:t>{1, 2}</a:t>
            </a:r>
          </a:p>
          <a:p>
            <a:pPr lvl="1">
              <a:buFont typeface="Wingdings" pitchFamily="2" charset="2"/>
              <a:buChar char="Ø"/>
            </a:pPr>
            <a:r>
              <a:rPr lang="en-US" b="1" dirty="0"/>
              <a:t>Cluster 2: </a:t>
            </a:r>
            <a:r>
              <a:rPr lang="en-US" dirty="0"/>
              <a:t>{3, 4, 5, 6, 7}</a:t>
            </a:r>
          </a:p>
        </p:txBody>
      </p:sp>
      <p:pic>
        <p:nvPicPr>
          <p:cNvPr id="7" name="Picture 6">
            <a:extLst>
              <a:ext uri="{FF2B5EF4-FFF2-40B4-BE49-F238E27FC236}">
                <a16:creationId xmlns:a16="http://schemas.microsoft.com/office/drawing/2014/main" id="{69B445C1-3806-ED55-E62F-61AA24AE41AC}"/>
              </a:ext>
            </a:extLst>
          </p:cNvPr>
          <p:cNvPicPr>
            <a:picLocks noChangeAspect="1"/>
          </p:cNvPicPr>
          <p:nvPr/>
        </p:nvPicPr>
        <p:blipFill>
          <a:blip r:embed="rId2"/>
          <a:stretch>
            <a:fillRect/>
          </a:stretch>
        </p:blipFill>
        <p:spPr>
          <a:xfrm>
            <a:off x="10217452" y="5473700"/>
            <a:ext cx="12003359" cy="7248566"/>
          </a:xfrm>
          <a:prstGeom prst="rect">
            <a:avLst/>
          </a:prstGeom>
        </p:spPr>
      </p:pic>
      <p:sp>
        <p:nvSpPr>
          <p:cNvPr id="8" name="Oval 7">
            <a:extLst>
              <a:ext uri="{FF2B5EF4-FFF2-40B4-BE49-F238E27FC236}">
                <a16:creationId xmlns:a16="http://schemas.microsoft.com/office/drawing/2014/main" id="{23E12F0E-2C4C-BDDC-DAC4-07E61ED84F40}"/>
              </a:ext>
            </a:extLst>
          </p:cNvPr>
          <p:cNvSpPr/>
          <p:nvPr/>
        </p:nvSpPr>
        <p:spPr>
          <a:xfrm>
            <a:off x="12954000" y="10600411"/>
            <a:ext cx="346013" cy="360660"/>
          </a:xfrm>
          <a:prstGeom prst="ellipse">
            <a:avLst/>
          </a:prstGeom>
          <a:solidFill>
            <a:schemeClr val="accent3">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1000" b="0" i="0" u="none" strike="noStrike" cap="none" spc="0" normalizeH="0" baseline="0" dirty="0">
              <a:ln>
                <a:noFill/>
              </a:ln>
              <a:solidFill>
                <a:srgbClr val="FFFFFF"/>
              </a:solidFill>
              <a:effectLst/>
              <a:uFillTx/>
              <a:latin typeface="Calibri" panose="020F0502020204030204" pitchFamily="34" charset="0"/>
              <a:ea typeface="Helvetica Neue Medium"/>
              <a:cs typeface="Calibri" panose="020F0502020204030204" pitchFamily="34" charset="0"/>
              <a:sym typeface="Helvetica Neue Medium"/>
            </a:endParaRPr>
          </a:p>
        </p:txBody>
      </p:sp>
      <p:sp>
        <p:nvSpPr>
          <p:cNvPr id="9" name="Oval 8">
            <a:extLst>
              <a:ext uri="{FF2B5EF4-FFF2-40B4-BE49-F238E27FC236}">
                <a16:creationId xmlns:a16="http://schemas.microsoft.com/office/drawing/2014/main" id="{6C6D901D-0783-FDA8-D389-851F7C5CCEF2}"/>
              </a:ext>
            </a:extLst>
          </p:cNvPr>
          <p:cNvSpPr/>
          <p:nvPr/>
        </p:nvSpPr>
        <p:spPr>
          <a:xfrm>
            <a:off x="17907000" y="7876264"/>
            <a:ext cx="346013" cy="360660"/>
          </a:xfrm>
          <a:prstGeom prst="ellipse">
            <a:avLst/>
          </a:prstGeom>
          <a:solidFill>
            <a:schemeClr val="accent5">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1000" b="0" i="0" u="none" strike="noStrike" cap="none" spc="0" normalizeH="0" baseline="0" dirty="0">
              <a:ln>
                <a:noFill/>
              </a:ln>
              <a:solidFill>
                <a:srgbClr val="FFFFFF"/>
              </a:solidFill>
              <a:effectLst/>
              <a:uFillTx/>
              <a:latin typeface="Calibri" panose="020F0502020204030204" pitchFamily="34" charset="0"/>
              <a:ea typeface="Helvetica Neue Medium"/>
              <a:cs typeface="Calibri" panose="020F0502020204030204" pitchFamily="34" charset="0"/>
              <a:sym typeface="Helvetica Neue Medium"/>
            </a:endParaRPr>
          </a:p>
        </p:txBody>
      </p:sp>
      <p:sp>
        <p:nvSpPr>
          <p:cNvPr id="10" name="Oval 9">
            <a:extLst>
              <a:ext uri="{FF2B5EF4-FFF2-40B4-BE49-F238E27FC236}">
                <a16:creationId xmlns:a16="http://schemas.microsoft.com/office/drawing/2014/main" id="{42DFF42C-2676-C533-4492-5FE06F07E31D}"/>
              </a:ext>
            </a:extLst>
          </p:cNvPr>
          <p:cNvSpPr/>
          <p:nvPr/>
        </p:nvSpPr>
        <p:spPr>
          <a:xfrm>
            <a:off x="12191999" y="10074499"/>
            <a:ext cx="1936956" cy="1442641"/>
          </a:xfrm>
          <a:prstGeom prst="ellipse">
            <a:avLst/>
          </a:prstGeom>
          <a:noFill/>
          <a:ln>
            <a:solidFill>
              <a:schemeClr val="accent3">
                <a:lumMod val="40000"/>
                <a:lumOff val="60000"/>
              </a:schemeClr>
            </a:solidFill>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60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11" name="Oval 10">
            <a:extLst>
              <a:ext uri="{FF2B5EF4-FFF2-40B4-BE49-F238E27FC236}">
                <a16:creationId xmlns:a16="http://schemas.microsoft.com/office/drawing/2014/main" id="{5E3A2350-9DC6-26C5-9507-D8B222E39884}"/>
              </a:ext>
            </a:extLst>
          </p:cNvPr>
          <p:cNvSpPr/>
          <p:nvPr/>
        </p:nvSpPr>
        <p:spPr>
          <a:xfrm rot="20344769">
            <a:off x="15620106" y="6086190"/>
            <a:ext cx="5261109" cy="3736439"/>
          </a:xfrm>
          <a:prstGeom prst="ellipse">
            <a:avLst/>
          </a:prstGeom>
          <a:noFill/>
          <a:ln>
            <a:solidFill>
              <a:schemeClr val="accent5">
                <a:lumMod val="40000"/>
                <a:lumOff val="60000"/>
              </a:schemeClr>
            </a:solidFill>
          </a:ln>
        </p:spPr>
        <p:style>
          <a:lnRef idx="2">
            <a:schemeClr val="accent2"/>
          </a:lnRef>
          <a:fillRef idx="1">
            <a:schemeClr val="lt1"/>
          </a:fillRef>
          <a:effectRef idx="0">
            <a:schemeClr val="accent2"/>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166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Tree>
    <p:extLst>
      <p:ext uri="{BB962C8B-B14F-4D97-AF65-F5344CB8AC3E}">
        <p14:creationId xmlns:p14="http://schemas.microsoft.com/office/powerpoint/2010/main" val="74617179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E3A50-6D45-8A73-97B2-5EFB6D66AE9A}"/>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D143A30C-74B0-7818-C353-AC73E347484D}"/>
              </a:ext>
            </a:extLst>
          </p:cNvPr>
          <p:cNvSpPr>
            <a:spLocks noGrp="1"/>
          </p:cNvSpPr>
          <p:nvPr>
            <p:ph type="body" sz="quarter" idx="10"/>
          </p:nvPr>
        </p:nvSpPr>
        <p:spPr/>
        <p:txBody>
          <a:bodyPr/>
          <a:lstStyle/>
          <a:p>
            <a:r>
              <a:rPr lang="en-US" dirty="0"/>
              <a:t>discussion</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F603235F-0491-A2D1-7257-BCDDE948EB65}"/>
                  </a:ext>
                </a:extLst>
              </p:cNvPr>
              <p:cNvSpPr>
                <a:spLocks noGrp="1"/>
              </p:cNvSpPr>
              <p:nvPr>
                <p:ph sz="quarter" idx="11"/>
              </p:nvPr>
            </p:nvSpPr>
            <p:spPr>
              <a:xfrm>
                <a:off x="2163188" y="3260663"/>
                <a:ext cx="20611087" cy="9483787"/>
              </a:xfrm>
            </p:spPr>
            <p:txBody>
              <a:bodyPr>
                <a:noAutofit/>
              </a:bodyPr>
              <a:lstStyle/>
              <a:p>
                <a:pPr>
                  <a:spcBef>
                    <a:spcPts val="500"/>
                  </a:spcBef>
                </a:pPr>
                <a:r>
                  <a:rPr lang="en-US" altLang="zh-CN" sz="4000" b="1" dirty="0"/>
                  <a:t>Efficiency: </a:t>
                </a:r>
                <a14:m>
                  <m:oMath xmlns:m="http://schemas.openxmlformats.org/officeDocument/2006/math">
                    <m:r>
                      <a:rPr lang="en-US" altLang="zh-CN" sz="4000" b="1" i="1" dirty="0" smtClean="0">
                        <a:latin typeface="Cambria Math" panose="02040503050406030204" pitchFamily="18" charset="0"/>
                      </a:rPr>
                      <m:t>𝑶</m:t>
                    </m:r>
                    <m:r>
                      <a:rPr lang="en-US" altLang="zh-CN" sz="4000" b="1" i="1" dirty="0" smtClean="0">
                        <a:latin typeface="Cambria Math" panose="02040503050406030204" pitchFamily="18" charset="0"/>
                      </a:rPr>
                      <m:t>(</m:t>
                    </m:r>
                    <m:r>
                      <a:rPr lang="en-US" altLang="zh-CN" sz="4000" b="1" i="1" dirty="0" err="1">
                        <a:latin typeface="Cambria Math" panose="02040503050406030204" pitchFamily="18" charset="0"/>
                      </a:rPr>
                      <m:t>𝒕𝑲𝒏</m:t>
                    </m:r>
                    <m:r>
                      <a:rPr lang="en-US" altLang="zh-CN" sz="4000" b="1" i="1" dirty="0">
                        <a:latin typeface="Cambria Math" panose="02040503050406030204" pitchFamily="18" charset="0"/>
                      </a:rPr>
                      <m:t>) </m:t>
                    </m:r>
                  </m:oMath>
                </a14:m>
                <a:r>
                  <a:rPr lang="en-US" altLang="zh-CN" sz="4000" b="1" dirty="0"/>
                  <a:t>where n: # of objects, K: # of clusters, and t: # of iterations</a:t>
                </a:r>
              </a:p>
              <a:p>
                <a:pPr lvl="1">
                  <a:spcBef>
                    <a:spcPts val="500"/>
                  </a:spcBef>
                  <a:buFont typeface="Wingdings" pitchFamily="2" charset="2"/>
                  <a:buChar char="Ø"/>
                </a:pPr>
                <a:r>
                  <a:rPr lang="en-US" altLang="zh-CN" sz="3600" dirty="0"/>
                  <a:t>Normally, K, t &lt;&lt; n; thus, an efficient method</a:t>
                </a:r>
              </a:p>
              <a:p>
                <a:pPr>
                  <a:spcBef>
                    <a:spcPts val="1100"/>
                  </a:spcBef>
                </a:pPr>
                <a:r>
                  <a:rPr lang="en-US" altLang="zh-CN" sz="4000" b="1" dirty="0"/>
                  <a:t>K-means clustering often terminates at a local optimal</a:t>
                </a:r>
              </a:p>
              <a:p>
                <a:pPr lvl="1">
                  <a:spcBef>
                    <a:spcPts val="500"/>
                  </a:spcBef>
                  <a:buFont typeface="Wingdings" pitchFamily="2" charset="2"/>
                  <a:buChar char="Ø"/>
                </a:pPr>
                <a:r>
                  <a:rPr lang="en-US" altLang="zh-CN" sz="3600" dirty="0"/>
                  <a:t>Initialization can be important to find high-quality clusters</a:t>
                </a:r>
              </a:p>
              <a:p>
                <a:pPr>
                  <a:spcBef>
                    <a:spcPts val="1100"/>
                  </a:spcBef>
                </a:pPr>
                <a:r>
                  <a:rPr lang="en-US" altLang="zh-CN" sz="4000" b="1" dirty="0"/>
                  <a:t>Need to specify K, the number of clusters, in advance </a:t>
                </a:r>
              </a:p>
              <a:p>
                <a:pPr lvl="1">
                  <a:spcBef>
                    <a:spcPts val="500"/>
                  </a:spcBef>
                  <a:buFont typeface="Wingdings" pitchFamily="2" charset="2"/>
                  <a:buChar char="Ø"/>
                </a:pPr>
                <a:r>
                  <a:rPr lang="en-US" altLang="zh-CN" sz="3600" dirty="0"/>
                  <a:t>There are ways to automatically determine the “best” K</a:t>
                </a:r>
              </a:p>
              <a:p>
                <a:pPr lvl="1">
                  <a:spcBef>
                    <a:spcPts val="500"/>
                  </a:spcBef>
                  <a:buFont typeface="Wingdings" pitchFamily="2" charset="2"/>
                  <a:buChar char="Ø"/>
                </a:pPr>
                <a:r>
                  <a:rPr lang="en-US" altLang="zh-CN" sz="3600" dirty="0"/>
                  <a:t>In practice, one often runs a range of values and selected the “best” K value</a:t>
                </a:r>
              </a:p>
              <a:p>
                <a:pPr>
                  <a:spcBef>
                    <a:spcPts val="1100"/>
                  </a:spcBef>
                </a:pPr>
                <a:r>
                  <a:rPr lang="en-US" altLang="zh-CN" sz="4000" b="1" dirty="0"/>
                  <a:t>Sensitive to noisy data and outliers</a:t>
                </a:r>
              </a:p>
              <a:p>
                <a:pPr lvl="1">
                  <a:spcBef>
                    <a:spcPts val="500"/>
                  </a:spcBef>
                  <a:buFont typeface="Wingdings" pitchFamily="2" charset="2"/>
                  <a:buChar char="Ø"/>
                </a:pPr>
                <a:r>
                  <a:rPr lang="en-US" altLang="zh-CN" sz="3600" dirty="0"/>
                  <a:t>Variations: Using K-medians, K-medoids, etc.</a:t>
                </a:r>
              </a:p>
              <a:p>
                <a:pPr>
                  <a:spcBef>
                    <a:spcPts val="1100"/>
                  </a:spcBef>
                </a:pPr>
                <a:r>
                  <a:rPr lang="en-US" altLang="zh-CN" sz="4000" b="1" dirty="0"/>
                  <a:t>K-means is applicable only to objects in a continuous n-dimensional space </a:t>
                </a:r>
              </a:p>
              <a:p>
                <a:pPr lvl="1">
                  <a:spcBef>
                    <a:spcPts val="500"/>
                  </a:spcBef>
                  <a:buFont typeface="Wingdings" pitchFamily="2" charset="2"/>
                  <a:buChar char="Ø"/>
                </a:pPr>
                <a:r>
                  <a:rPr lang="en-US" altLang="zh-CN" sz="3600" dirty="0"/>
                  <a:t>Using the K-modes for categorical data</a:t>
                </a:r>
              </a:p>
              <a:p>
                <a:pPr>
                  <a:spcBef>
                    <a:spcPts val="1100"/>
                  </a:spcBef>
                </a:pPr>
                <a:r>
                  <a:rPr lang="en-US" altLang="zh-CN" sz="4000" b="1" dirty="0"/>
                  <a:t>Not suitable to discover clusters with non-convex shapes</a:t>
                </a:r>
              </a:p>
              <a:p>
                <a:pPr lvl="1">
                  <a:spcBef>
                    <a:spcPts val="500"/>
                  </a:spcBef>
                  <a:buFont typeface="Wingdings" pitchFamily="2" charset="2"/>
                  <a:buChar char="Ø"/>
                </a:pPr>
                <a:r>
                  <a:rPr lang="en-US" altLang="zh-CN" sz="3600" dirty="0"/>
                  <a:t>Using density-based clustering, kernel K-means, etc.</a:t>
                </a:r>
              </a:p>
            </p:txBody>
          </p:sp>
        </mc:Choice>
        <mc:Fallback>
          <p:sp>
            <p:nvSpPr>
              <p:cNvPr id="4" name="Content Placeholder 3">
                <a:extLst>
                  <a:ext uri="{FF2B5EF4-FFF2-40B4-BE49-F238E27FC236}">
                    <a16:creationId xmlns:a16="http://schemas.microsoft.com/office/drawing/2014/main" id="{F603235F-0491-A2D1-7257-BCDDE948EB65}"/>
                  </a:ext>
                </a:extLst>
              </p:cNvPr>
              <p:cNvSpPr>
                <a:spLocks noGrp="1" noRot="1" noChangeAspect="1" noMove="1" noResize="1" noEditPoints="1" noAdjustHandles="1" noChangeArrowheads="1" noChangeShapeType="1" noTextEdit="1"/>
              </p:cNvSpPr>
              <p:nvPr>
                <p:ph sz="quarter" idx="11"/>
              </p:nvPr>
            </p:nvSpPr>
            <p:spPr>
              <a:xfrm>
                <a:off x="2163188" y="3260663"/>
                <a:ext cx="20611087" cy="9483787"/>
              </a:xfrm>
              <a:blipFill>
                <a:blip r:embed="rId2"/>
                <a:stretch>
                  <a:fillRect l="-1170" t="-1070"/>
                </a:stretch>
              </a:blipFill>
            </p:spPr>
            <p:txBody>
              <a:bodyPr/>
              <a:lstStyle/>
              <a:p>
                <a:r>
                  <a:rPr lang="en-US">
                    <a:noFill/>
                  </a:rPr>
                  <a:t> </a:t>
                </a:r>
              </a:p>
            </p:txBody>
          </p:sp>
        </mc:Fallback>
      </mc:AlternateContent>
    </p:spTree>
    <p:extLst>
      <p:ext uri="{BB962C8B-B14F-4D97-AF65-F5344CB8AC3E}">
        <p14:creationId xmlns:p14="http://schemas.microsoft.com/office/powerpoint/2010/main" val="319935207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B043E-CE41-25AA-BAB9-A9BA50D752A0}"/>
              </a:ext>
            </a:extLst>
          </p:cNvPr>
          <p:cNvSpPr>
            <a:spLocks noGrp="1"/>
          </p:cNvSpPr>
          <p:nvPr>
            <p:ph type="title"/>
          </p:nvPr>
        </p:nvSpPr>
        <p:spPr/>
        <p:txBody>
          <a:bodyPr>
            <a:normAutofit fontScale="90000"/>
          </a:bodyPr>
          <a:lstStyle/>
          <a:p>
            <a:r>
              <a:rPr lang="en-US" dirty="0"/>
              <a:t>K-Means clustering</a:t>
            </a:r>
          </a:p>
        </p:txBody>
      </p:sp>
      <p:sp>
        <p:nvSpPr>
          <p:cNvPr id="3" name="Text Placeholder 2">
            <a:extLst>
              <a:ext uri="{FF2B5EF4-FFF2-40B4-BE49-F238E27FC236}">
                <a16:creationId xmlns:a16="http://schemas.microsoft.com/office/drawing/2014/main" id="{C387DD67-1795-099F-88E3-55F23C39CE8B}"/>
              </a:ext>
            </a:extLst>
          </p:cNvPr>
          <p:cNvSpPr>
            <a:spLocks noGrp="1"/>
          </p:cNvSpPr>
          <p:nvPr>
            <p:ph type="body" sz="quarter" idx="10"/>
          </p:nvPr>
        </p:nvSpPr>
        <p:spPr>
          <a:xfrm>
            <a:off x="2167377" y="2419728"/>
            <a:ext cx="21206973" cy="803546"/>
          </a:xfrm>
        </p:spPr>
        <p:txBody>
          <a:bodyPr/>
          <a:lstStyle/>
          <a:p>
            <a:r>
              <a:rPr lang="en-US" dirty="0"/>
              <a:t>discussion: </a:t>
            </a:r>
            <a:r>
              <a:rPr lang="en-US" altLang="zh-CN" dirty="0"/>
              <a:t>Poor Initialization May Lead to Poor Clustering</a:t>
            </a:r>
            <a:endParaRPr lang="en-US" dirty="0"/>
          </a:p>
        </p:txBody>
      </p:sp>
      <p:pic>
        <p:nvPicPr>
          <p:cNvPr id="6" name="Content Placeholder 5">
            <a:extLst>
              <a:ext uri="{FF2B5EF4-FFF2-40B4-BE49-F238E27FC236}">
                <a16:creationId xmlns:a16="http://schemas.microsoft.com/office/drawing/2014/main" id="{CB782E9A-918D-726B-B74B-934754C77E31}"/>
              </a:ext>
            </a:extLst>
          </p:cNvPr>
          <p:cNvPicPr>
            <a:picLocks noGrp="1" noChangeAspect="1"/>
          </p:cNvPicPr>
          <p:nvPr>
            <p:ph sz="quarter" idx="11"/>
          </p:nvPr>
        </p:nvPicPr>
        <p:blipFill>
          <a:blip r:embed="rId2"/>
          <a:stretch>
            <a:fillRect/>
          </a:stretch>
        </p:blipFill>
        <p:spPr>
          <a:xfrm>
            <a:off x="2167377" y="3505169"/>
            <a:ext cx="21206973" cy="9641640"/>
          </a:xfrm>
          <a:prstGeom prst="rect">
            <a:avLst/>
          </a:prstGeom>
        </p:spPr>
      </p:pic>
    </p:spTree>
    <p:extLst>
      <p:ext uri="{BB962C8B-B14F-4D97-AF65-F5344CB8AC3E}">
        <p14:creationId xmlns:p14="http://schemas.microsoft.com/office/powerpoint/2010/main" val="367737475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DA023-8794-CD00-8194-4D48C7E6FDD1}"/>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8FD5F7EF-33FB-B78E-29FC-242CF3CE4EFC}"/>
              </a:ext>
            </a:extLst>
          </p:cNvPr>
          <p:cNvSpPr>
            <a:spLocks noGrp="1"/>
          </p:cNvSpPr>
          <p:nvPr>
            <p:ph type="body" sz="quarter" idx="10"/>
          </p:nvPr>
        </p:nvSpPr>
        <p:spPr/>
        <p:txBody>
          <a:bodyPr/>
          <a:lstStyle/>
          <a:p>
            <a:r>
              <a:rPr lang="en-US" dirty="0"/>
              <a:t>K-Means Clustering</a:t>
            </a:r>
          </a:p>
        </p:txBody>
      </p:sp>
      <p:sp>
        <p:nvSpPr>
          <p:cNvPr id="4" name="Content Placeholder 3">
            <a:extLst>
              <a:ext uri="{FF2B5EF4-FFF2-40B4-BE49-F238E27FC236}">
                <a16:creationId xmlns:a16="http://schemas.microsoft.com/office/drawing/2014/main" id="{96DBF6DF-5137-1CF7-7B1D-D6699FBDD219}"/>
              </a:ext>
            </a:extLst>
          </p:cNvPr>
          <p:cNvSpPr>
            <a:spLocks noGrp="1"/>
          </p:cNvSpPr>
          <p:nvPr>
            <p:ph sz="quarter" idx="11"/>
          </p:nvPr>
        </p:nvSpPr>
        <p:spPr>
          <a:xfrm>
            <a:off x="2163188" y="3260663"/>
            <a:ext cx="10667909" cy="8583279"/>
          </a:xfrm>
        </p:spPr>
        <p:txBody>
          <a:bodyPr/>
          <a:lstStyle/>
          <a:p>
            <a:r>
              <a:rPr lang="en-US" dirty="0"/>
              <a:t>A </a:t>
            </a:r>
            <a:r>
              <a:rPr lang="en-US" sz="4400" dirty="0">
                <a:latin typeface="+mj-lt"/>
              </a:rPr>
              <a:t>department store in Jakarta area, would want to make sure that their sale campaigns are right on target. In order to do that, they have to cluster their customers based on total item bought and arrival frequency.</a:t>
            </a:r>
          </a:p>
          <a:p>
            <a:r>
              <a:rPr lang="en-US" dirty="0">
                <a:latin typeface="+mj-lt"/>
              </a:rPr>
              <a:t>You are asked to cluster the customer into 3 clusters (K = 3).</a:t>
            </a:r>
          </a:p>
          <a:p>
            <a:r>
              <a:rPr lang="en-US" dirty="0">
                <a:latin typeface="+mj-lt"/>
              </a:rPr>
              <a:t>The initial centroids are: (2, 10), (5, 8), and (1, 2)</a:t>
            </a:r>
            <a:endParaRPr lang="en-US" dirty="0"/>
          </a:p>
        </p:txBody>
      </p:sp>
      <p:pic>
        <p:nvPicPr>
          <p:cNvPr id="6" name="Picture 5">
            <a:extLst>
              <a:ext uri="{FF2B5EF4-FFF2-40B4-BE49-F238E27FC236}">
                <a16:creationId xmlns:a16="http://schemas.microsoft.com/office/drawing/2014/main" id="{F55862E2-3E4B-6A99-C8EC-57464074A2A4}"/>
              </a:ext>
            </a:extLst>
          </p:cNvPr>
          <p:cNvPicPr>
            <a:picLocks noChangeAspect="1"/>
          </p:cNvPicPr>
          <p:nvPr/>
        </p:nvPicPr>
        <p:blipFill>
          <a:blip r:embed="rId2"/>
          <a:stretch>
            <a:fillRect/>
          </a:stretch>
        </p:blipFill>
        <p:spPr>
          <a:xfrm>
            <a:off x="13146595" y="3227456"/>
            <a:ext cx="9074216" cy="8649691"/>
          </a:xfrm>
          <a:prstGeom prst="rect">
            <a:avLst/>
          </a:prstGeom>
        </p:spPr>
      </p:pic>
    </p:spTree>
    <p:extLst>
      <p:ext uri="{BB962C8B-B14F-4D97-AF65-F5344CB8AC3E}">
        <p14:creationId xmlns:p14="http://schemas.microsoft.com/office/powerpoint/2010/main" val="343717684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23</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260663"/>
            <a:ext cx="20149698" cy="9798111"/>
          </a:xfrm>
        </p:spPr>
        <p:txBody>
          <a:bodyPr>
            <a:normAutofit/>
          </a:bodyPr>
          <a:lstStyle/>
          <a:p>
            <a:pPr>
              <a:spcBef>
                <a:spcPts val="600"/>
              </a:spcBef>
            </a:pPr>
            <a:r>
              <a:rPr lang="en-US" sz="4000" dirty="0"/>
              <a:t>Bishop, C. M. (2006). Pattern recognition and machine learning. Springer.</a:t>
            </a:r>
          </a:p>
          <a:p>
            <a:pPr>
              <a:spcBef>
                <a:spcPts val="600"/>
              </a:spcBef>
            </a:pPr>
            <a:r>
              <a:rPr lang="en-US" sz="4000" dirty="0"/>
              <a:t>Grosse, R., </a:t>
            </a:r>
            <a:r>
              <a:rPr lang="en-US" sz="4000" dirty="0" err="1"/>
              <a:t>Farahmand</a:t>
            </a:r>
            <a:r>
              <a:rPr lang="en-US" sz="4000" dirty="0"/>
              <a:t>, A., &amp; </a:t>
            </a:r>
            <a:r>
              <a:rPr lang="en-US" sz="4000" dirty="0" err="1"/>
              <a:t>Carrasquilla</a:t>
            </a:r>
            <a:r>
              <a:rPr lang="en-US" sz="4000" dirty="0"/>
              <a:t>, J. (2018). K-Means Clustering. CSC 411 Fall 2018 Machine Learning and Data Mining. https://</a:t>
            </a:r>
            <a:r>
              <a:rPr lang="en-US" sz="4000" dirty="0" err="1"/>
              <a:t>www.cs.toronto.edu</a:t>
            </a:r>
            <a:r>
              <a:rPr lang="en-US" sz="4000" dirty="0"/>
              <a:t>/~</a:t>
            </a:r>
            <a:r>
              <a:rPr lang="en-US" sz="4000" dirty="0" err="1"/>
              <a:t>rgrosse</a:t>
            </a:r>
            <a:r>
              <a:rPr lang="en-US" sz="4000" dirty="0"/>
              <a:t>/courses/csc411_f18/slides/lec15-slides.pdf</a:t>
            </a:r>
          </a:p>
          <a:p>
            <a:pPr>
              <a:spcBef>
                <a:spcPts val="600"/>
              </a:spcBef>
            </a:pPr>
            <a:r>
              <a:rPr lang="en-US" sz="4000" dirty="0"/>
              <a:t>James, G., Witten, D., Hastie, T., </a:t>
            </a:r>
            <a:r>
              <a:rPr lang="en-US" sz="4000" dirty="0" err="1"/>
              <a:t>Tibshirani</a:t>
            </a:r>
            <a:r>
              <a:rPr lang="en-US" sz="4000" dirty="0"/>
              <a:t>, R., &amp; Taylor, J. (2023). An introduction to statistical learning: With applications in Python. Springer.</a:t>
            </a:r>
          </a:p>
          <a:p>
            <a:pPr>
              <a:spcBef>
                <a:spcPts val="600"/>
              </a:spcBef>
            </a:pPr>
            <a:r>
              <a:rPr lang="en-US" sz="4000" dirty="0"/>
              <a:t>Ng, A. (2021). K-Means Clustering. CS229: Machine Learning. https://cs229.stanford.edu/notes2021fall/cs229-notes7a.pdf </a:t>
            </a:r>
          </a:p>
          <a:p>
            <a:pPr>
              <a:spcBef>
                <a:spcPts val="600"/>
              </a:spcBef>
            </a:pPr>
            <a:r>
              <a:rPr lang="en-US" sz="4000" dirty="0"/>
              <a:t>Sontag, D. (2012). Clustering. Introduction To Machine Learning. https://</a:t>
            </a:r>
            <a:r>
              <a:rPr lang="en-US" sz="4000" dirty="0" err="1"/>
              <a:t>people.csail.mit.edu</a:t>
            </a:r>
            <a:r>
              <a:rPr lang="en-US" sz="4000" dirty="0"/>
              <a:t>/</a:t>
            </a:r>
            <a:r>
              <a:rPr lang="en-US" sz="4000" dirty="0" err="1"/>
              <a:t>dsontag</a:t>
            </a:r>
            <a:r>
              <a:rPr lang="en-US" sz="4000" dirty="0"/>
              <a:t>/courses/ml12/slides/lecture14.pdf </a:t>
            </a:r>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4633</TotalTime>
  <Words>1270</Words>
  <Application>Microsoft Macintosh PowerPoint</Application>
  <PresentationFormat>Custom</PresentationFormat>
  <Paragraphs>158</Paragraphs>
  <Slides>26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Wingdings</vt:lpstr>
      <vt:lpstr>OCRB</vt:lpstr>
      <vt:lpstr>Open Sans Semibold</vt:lpstr>
      <vt:lpstr>Open Sans Light</vt:lpstr>
      <vt:lpstr>Arial</vt:lpstr>
      <vt:lpstr>Open Sans</vt:lpstr>
      <vt:lpstr>Open Sans ExtraBold</vt:lpstr>
      <vt:lpstr>Cambria Math</vt:lpstr>
      <vt:lpstr>Calibri</vt:lpstr>
      <vt:lpstr>21_BasicWhite</vt:lpstr>
      <vt:lpstr>K-Means</vt:lpstr>
      <vt:lpstr>Learning Outcomes</vt:lpstr>
      <vt:lpstr>outline</vt:lpstr>
      <vt:lpstr>Clustering</vt:lpstr>
      <vt:lpstr>clustering</vt:lpstr>
      <vt:lpstr>clustering</vt:lpstr>
      <vt:lpstr>Clustering </vt:lpstr>
      <vt:lpstr>Clustering</vt:lpstr>
      <vt:lpstr>K-Means clustering</vt:lpstr>
      <vt:lpstr>K-Means clustering</vt:lpstr>
      <vt:lpstr>K-Means clustering</vt:lpstr>
      <vt:lpstr>K-means clustering</vt:lpstr>
      <vt:lpstr>K-means clustering</vt:lpstr>
      <vt:lpstr>K-means clustering</vt:lpstr>
      <vt:lpstr>K-means clustering</vt:lpstr>
      <vt:lpstr>K-means clustering</vt:lpstr>
      <vt:lpstr>K-means clustering</vt:lpstr>
      <vt:lpstr>K-means clustering</vt:lpstr>
      <vt:lpstr>K-means clustering</vt:lpstr>
      <vt:lpstr>K-means clustering</vt:lpstr>
      <vt:lpstr>K-means clustering</vt:lpstr>
      <vt:lpstr>K-means clustering</vt:lpstr>
      <vt:lpstr>K-means clustering</vt:lpstr>
      <vt:lpstr>K-Means clustering</vt:lpstr>
      <vt:lpstr>Exercise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60</cp:revision>
  <dcterms:created xsi:type="dcterms:W3CDTF">2023-11-17T02:51:40Z</dcterms:created>
  <dcterms:modified xsi:type="dcterms:W3CDTF">2024-07-19T08:06:51Z</dcterms:modified>
</cp:coreProperties>
</file>