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sldIdLst>
    <p:sldId id="290" r:id="rId2"/>
    <p:sldId id="257" r:id="rId3"/>
    <p:sldId id="258" r:id="rId4"/>
    <p:sldId id="298" r:id="rId5"/>
    <p:sldId id="388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80" r:id="rId15"/>
    <p:sldId id="389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90" r:id="rId24"/>
    <p:sldId id="392" r:id="rId25"/>
    <p:sldId id="391" r:id="rId26"/>
    <p:sldId id="393" r:id="rId27"/>
    <p:sldId id="394" r:id="rId28"/>
    <p:sldId id="310" r:id="rId29"/>
    <p:sldId id="379" r:id="rId30"/>
    <p:sldId id="278" r:id="rId31"/>
  </p:sldIdLst>
  <p:sldSz cx="24384000" cy="13716000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OCRB" panose="020B0609020202020204" pitchFamily="49" charset="0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Open Sans ExtraBold" panose="020B0906030804020204" pitchFamily="34" charset="0"/>
      <p:bold r:id="rId39"/>
      <p:italic r:id="rId40"/>
      <p:boldItalic r:id="rId41"/>
    </p:embeddedFont>
    <p:embeddedFont>
      <p:font typeface="Open Sans Light" panose="020B0306030504020204" pitchFamily="34" charset="0"/>
      <p:regular r:id="rId42"/>
      <p:italic r:id="rId43"/>
    </p:embeddedFont>
    <p:embeddedFont>
      <p:font typeface="Open Sans Semibold" panose="020B0706030804020204" pitchFamily="34" charset="0"/>
      <p:regular r:id="rId44"/>
      <p:bold r:id="rId45"/>
      <p:italic r:id="rId46"/>
      <p:boldItalic r:id="rId47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35" autoAdjust="0"/>
    <p:restoredTop sz="96197"/>
  </p:normalViewPr>
  <p:slideViewPr>
    <p:cSldViewPr snapToGrid="0" snapToObjects="1">
      <p:cViewPr varScale="1">
        <p:scale>
          <a:sx n="38" d="100"/>
          <a:sy n="38" d="100"/>
        </p:scale>
        <p:origin x="76" y="8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01342" y="7499913"/>
            <a:ext cx="21971001" cy="1905001"/>
          </a:xfrm>
        </p:spPr>
        <p:txBody>
          <a:bodyPr/>
          <a:lstStyle/>
          <a:p>
            <a:r>
              <a:rPr lang="en-US" dirty="0"/>
              <a:t>Session 04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3320056"/>
            <a:ext cx="21971004" cy="3917819"/>
          </a:xfrm>
        </p:spPr>
        <p:txBody>
          <a:bodyPr/>
          <a:lstStyle/>
          <a:p>
            <a:r>
              <a:rPr lang="en-US" dirty="0"/>
              <a:t>Search Strategy: Uninformed Search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US" sz="4400" dirty="0">
                <a:latin typeface="+mj-lt"/>
              </a:rPr>
              <a:t>LO 2: Apply various search algorithms for agents to solve problems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Search heuristics</a:t>
            </a:r>
          </a:p>
          <a:p>
            <a:r>
              <a:rPr lang="en-ID" dirty="0"/>
              <a:t>Informed Search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B2D0-A502-25DC-43C6-3AAE3B82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Search heuristics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8653-74A2-18A3-6DE3-CFFC50358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Heuristics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BC58F-6D42-1721-F9AA-169D2FB16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900857"/>
          </a:xfrm>
        </p:spPr>
        <p:txBody>
          <a:bodyPr>
            <a:normAutofit/>
          </a:bodyPr>
          <a:lstStyle/>
          <a:p>
            <a:r>
              <a:rPr lang="en-US" dirty="0"/>
              <a:t>A heuristic is a practical approach or problem-solving method designed to produce a solution that is "good enough" for the problem at hand,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particularly when finding an optimal or exact solution is impractical or computationally expensive. </a:t>
            </a:r>
          </a:p>
          <a:p>
            <a:r>
              <a:rPr lang="en-US" dirty="0"/>
              <a:t>Heuristics rely on experience, intuition, or rules of thumb to simplify the decision-making process.</a:t>
            </a:r>
          </a:p>
        </p:txBody>
      </p:sp>
    </p:spTree>
    <p:extLst>
      <p:ext uri="{BB962C8B-B14F-4D97-AF65-F5344CB8AC3E}">
        <p14:creationId xmlns:p14="http://schemas.microsoft.com/office/powerpoint/2010/main" val="14717593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8E291-60E4-14DC-AD9D-7D75ADEB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E7328-F421-AD2C-7069-8208202A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Search heuristics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EAF36-028E-329F-81C2-CF1A77F81B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Heuristics in 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709AE-33A3-8DE1-B10F-5C11469EB3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0299745" cy="8900857"/>
          </a:xfrm>
        </p:spPr>
        <p:txBody>
          <a:bodyPr>
            <a:normAutofit/>
          </a:bodyPr>
          <a:lstStyle/>
          <a:p>
            <a:r>
              <a:rPr lang="en-US" dirty="0"/>
              <a:t>In searching, a heuristic is: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 function that estimates how close a state is to a goal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Straight line distance between a point to a goal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Designed for a particular search problem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Examples: Manhattan distance, Euclidean distance for pathing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1365A-77E8-D56C-0572-0E42576A6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2933" y="4456678"/>
            <a:ext cx="11211917" cy="514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277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63C39-7068-082D-DFA2-19F0B80A0B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655237"/>
          </a:xfrm>
        </p:spPr>
        <p:txBody>
          <a:bodyPr>
            <a:normAutofit/>
          </a:bodyPr>
          <a:lstStyle/>
          <a:p>
            <a:r>
              <a:rPr lang="en-US" dirty="0"/>
              <a:t>Uninformed search strategies look for solutions by systematically generating new states and checking each of them against the goal</a:t>
            </a:r>
          </a:p>
          <a:p>
            <a:r>
              <a:rPr lang="en-US" dirty="0"/>
              <a:t>This approach is very inefficient in most cases</a:t>
            </a:r>
          </a:p>
          <a:p>
            <a:r>
              <a:rPr lang="en-US" dirty="0"/>
              <a:t>Most successor states are “obviously” a bad choice</a:t>
            </a:r>
          </a:p>
          <a:p>
            <a:r>
              <a:rPr lang="en-US" dirty="0"/>
              <a:t>Such strategies do not know that because they have minimal problem-specific knowledge</a:t>
            </a:r>
          </a:p>
          <a:p>
            <a:r>
              <a:rPr lang="en-US" dirty="0"/>
              <a:t>Informed search strategies exploit problem-specific knowledge as much as possible to drive the search</a:t>
            </a:r>
          </a:p>
          <a:p>
            <a:r>
              <a:rPr lang="en-US" dirty="0"/>
              <a:t>They are almost always more efficient than uninformed searches and often also optimal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7360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63C39-7068-082D-DFA2-19F0B80A0B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655237"/>
          </a:xfrm>
        </p:spPr>
        <p:txBody>
          <a:bodyPr>
            <a:normAutofit/>
          </a:bodyPr>
          <a:lstStyle/>
          <a:p>
            <a:r>
              <a:rPr lang="en-US" dirty="0"/>
              <a:t>Main Idea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Use the knowledge of the problem domain to build an evaluation function 𝑓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For every node n in the search space, 𝑓(𝑛) quantifies the desirability of expanding 𝑛 in order to reach the goal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Then use the desirability value of the nodes in the fringe to decide which node to expand next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68891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363C39-7068-082D-DFA2-19F0B80A0BD9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6552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Greedy best-first search tries to expand the node that is closest to the goal.​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Thus,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We use straight line distance heuristic (</a:t>
                </a:r>
                <a:r>
                  <a:rPr lang="en-US" dirty="0" err="1"/>
                  <a:t>hSLD</a:t>
                </a:r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4363C39-7068-082D-DFA2-19F0B80A0B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655237"/>
              </a:xfrm>
              <a:blipFill>
                <a:blip r:embed="rId2"/>
                <a:stretch>
                  <a:fillRect l="-1329" t="-1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41669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584D7E-51A5-0478-ABB8-F4EE8C00FB3A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673" y="3223274"/>
            <a:ext cx="19030950" cy="9855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3897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00A99BB-9A84-A877-F6B5-AC5F1EBC1C99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0" t="3912" r="1489" b="2928"/>
          <a:stretch/>
        </p:blipFill>
        <p:spPr bwMode="auto">
          <a:xfrm>
            <a:off x="742950" y="3800475"/>
            <a:ext cx="23260050" cy="920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44989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CF95BCD-ABB2-2178-B160-6BE4C05DE3A1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9" t="5249" r="925" b="2608"/>
          <a:stretch/>
        </p:blipFill>
        <p:spPr bwMode="auto">
          <a:xfrm>
            <a:off x="2828925" y="4143376"/>
            <a:ext cx="19288125" cy="812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2155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2382184-8644-779C-DAF0-A6301E6E0D1C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" t="3644" r="861" b="6969"/>
          <a:stretch/>
        </p:blipFill>
        <p:spPr bwMode="auto">
          <a:xfrm>
            <a:off x="1657350" y="4200526"/>
            <a:ext cx="20842504" cy="73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18235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6DD9BD5-52A8-4B0F-9BFB-B0AA0FB39B79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" t="3096" r="860" b="1989"/>
          <a:stretch/>
        </p:blipFill>
        <p:spPr bwMode="auto">
          <a:xfrm>
            <a:off x="1743075" y="3971926"/>
            <a:ext cx="20688300" cy="823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84596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2FB8E-F1B4-5340-2951-6FB5936BDF3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Greedy best-first search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Minimizes estimated cost h(n) from current node n to goal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Is informed but almost always suboptimal and incomplete</a:t>
            </a:r>
          </a:p>
          <a:p>
            <a:r>
              <a:rPr lang="en-US" b="1" dirty="0"/>
              <a:t>Uniform Cost Search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Minimize actual cost g(n) to current node 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Is, in most cases, optimal and complete but uninformed</a:t>
            </a:r>
          </a:p>
          <a:p>
            <a:r>
              <a:rPr lang="en-US" b="1" dirty="0"/>
              <a:t>A* search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Combine the two by minimizing f(n)=g(n) +h(n)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Is, under reasonable assumptions, optimal and complete, and also informed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03166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7393D-5AEE-0CD3-6612-2BCA3AC2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FF6F-3686-6CB6-E887-F2794AC1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6D310-2FE0-9864-BD07-60E4586F9F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8D6BE0-6896-3981-1D2A-27575B3E0B7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387350" y="2884911"/>
            <a:ext cx="13609299" cy="9950555"/>
          </a:xfrm>
        </p:spPr>
      </p:pic>
    </p:spTree>
    <p:extLst>
      <p:ext uri="{BB962C8B-B14F-4D97-AF65-F5344CB8AC3E}">
        <p14:creationId xmlns:p14="http://schemas.microsoft.com/office/powerpoint/2010/main" val="228490993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2FB8E-F1B4-5340-2951-6FB5936BDF3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Idea</a:t>
            </a:r>
            <a:r>
              <a:rPr lang="en-US" dirty="0"/>
              <a:t>: avoid expanding path that are already expensive</a:t>
            </a:r>
          </a:p>
          <a:p>
            <a:r>
              <a:rPr lang="en-US" dirty="0"/>
              <a:t>Evaluate function: 𝑓(𝑛) = </a:t>
            </a:r>
            <a:r>
              <a:rPr lang="en-US" dirty="0" err="1"/>
              <a:t>ℎ</a:t>
            </a:r>
            <a:r>
              <a:rPr lang="en-US" dirty="0"/>
              <a:t>(𝑛) + 𝑔(𝑛)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𝑓(𝑛)  : estimated total cost of path through n to goal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/>
              <a:t>ℎ</a:t>
            </a:r>
            <a:r>
              <a:rPr lang="en-US" dirty="0"/>
              <a:t>(𝑛)  : estimated cost to goal from 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𝑔(𝑛) : cost so far to reach 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90531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5FB755C-6564-5555-6DDB-D4E4B1B675F5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6199981"/>
            <a:ext cx="71120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E97277B-B250-D351-3CD9-A7C9D5BEE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00" y="3772853"/>
            <a:ext cx="19800000" cy="755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64780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CA4FF70-C358-1B08-9FD3-BAC6752D1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00" y="4130040"/>
            <a:ext cx="19800000" cy="720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91464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5FB755C-6564-5555-6DDB-D4E4B1B675F5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6199981"/>
            <a:ext cx="71120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C3497CA-882F-A7E6-F70B-D4BE78E4E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00" y="4140518"/>
            <a:ext cx="19800000" cy="766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66636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5FB755C-6564-5555-6DDB-D4E4B1B675F5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6199981"/>
            <a:ext cx="71120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976DAD7-86DA-6CC6-7A4B-ED450F877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00" y="3620452"/>
            <a:ext cx="19800000" cy="834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40796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5FB755C-6564-5555-6DDB-D4E4B1B675F5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6199981"/>
            <a:ext cx="71120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31CFA25F-3C27-3F35-03E8-8CB5A7869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00" y="3870008"/>
            <a:ext cx="19800000" cy="797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18643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E75E-0F71-46BB-D27A-90A98ABF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3B795-358A-8D87-4691-50D4808360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5FB755C-6564-5555-6DDB-D4E4B1B675F5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6199981"/>
            <a:ext cx="71120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06B5CA3-3675-29C0-5314-216A408FB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00" y="3686175"/>
            <a:ext cx="19800000" cy="832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53858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97E4C-E979-7E61-FD61-8AAE964C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C86A-653F-BAAD-5A77-5092E641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1DA2A-8751-2F21-82B5-C09F61D0AF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73BA5-9F10-DB62-AC28-8D8A0BE14DC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10048937"/>
          </a:xfrm>
        </p:spPr>
        <p:txBody>
          <a:bodyPr>
            <a:normAutofit/>
          </a:bodyPr>
          <a:lstStyle/>
          <a:p>
            <a:r>
              <a:rPr lang="en-US" dirty="0"/>
              <a:t>Now, consider this graph: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A*, should it output the path S-&gt;B-&gt;G or S-&gt;A-&gt;G?</a:t>
            </a:r>
          </a:p>
          <a:p>
            <a:r>
              <a:rPr lang="en-US" u="sng" dirty="0"/>
              <a:t>It should output </a:t>
            </a:r>
            <a:r>
              <a:rPr lang="en-US" b="1" u="sng" dirty="0"/>
              <a:t>S-&gt;A-&gt;G </a:t>
            </a:r>
            <a:r>
              <a:rPr lang="en-US" u="sng" dirty="0"/>
              <a:t>with total cost of 4, because the algorithm only terminates once the Goal is dequeued, not enqueued.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EC2494-E77E-FC90-FC54-9EE9B2CE7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159" y="4015999"/>
            <a:ext cx="10053682" cy="56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06458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233E4-384B-24B7-6CC3-58A1922A9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DB75-F99F-BBDA-3504-9CC2DC77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DBA6F-851F-A4D7-EA28-9E58052B95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6D2E0-B867-8521-0271-22A1C244A77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10048937"/>
          </a:xfrm>
        </p:spPr>
        <p:txBody>
          <a:bodyPr>
            <a:normAutofit/>
          </a:bodyPr>
          <a:lstStyle/>
          <a:p>
            <a:r>
              <a:rPr lang="en-US" dirty="0"/>
              <a:t>Another consideration: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A*, how much is the cost found to go from S to G?</a:t>
            </a:r>
          </a:p>
          <a:p>
            <a:r>
              <a:rPr lang="en-US" dirty="0"/>
              <a:t>What do you think is the optimal cost? </a:t>
            </a:r>
            <a:r>
              <a:rPr lang="en-US" b="1" i="1" dirty="0"/>
              <a:t>It should be 4.</a:t>
            </a:r>
          </a:p>
          <a:p>
            <a:r>
              <a:rPr lang="en-US" dirty="0"/>
              <a:t>Does it mean A* is not optimal? What’s wrong with the graph?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35B8CA-7902-77A1-2340-EDBD93952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898" y="4318000"/>
            <a:ext cx="11488809" cy="524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0464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D7EB7-B160-B579-9B81-CDA35A2AF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BBBB-8766-DB91-8925-E3DD9B3C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523C1-800E-B5C8-D4CB-2C34CEF71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A*: Admissible heuristic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5A1437-ACFD-00C9-774E-345E59C29F14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order for A* to be </a:t>
                </a:r>
                <a:r>
                  <a:rPr lang="en-US" b="1" dirty="0"/>
                  <a:t>optimal</a:t>
                </a:r>
                <a:r>
                  <a:rPr lang="en-US" dirty="0"/>
                  <a:t>, it needs to use an </a:t>
                </a:r>
                <a:r>
                  <a:rPr lang="en-US" b="1" dirty="0"/>
                  <a:t>admissible</a:t>
                </a:r>
                <a:r>
                  <a:rPr lang="en-US" dirty="0"/>
                  <a:t> heuristic:</a:t>
                </a:r>
              </a:p>
              <a:p>
                <a:pPr marL="0" indent="0" algn="ctr">
                  <a:buNone/>
                </a:pPr>
                <a:r>
                  <a:rPr lang="en-US" sz="4400" b="1" i="1" dirty="0">
                    <a:solidFill>
                      <a:schemeClr val="bg2">
                        <a:lumMod val="10000"/>
                      </a:schemeClr>
                    </a:solidFill>
                    <a:latin typeface="+mj-lt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44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44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US" sz="4400" b="1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44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4400" b="1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sz="4400" b="1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4400" b="1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4400" b="1" i="1" dirty="0">
                    <a:solidFill>
                      <a:schemeClr val="bg2">
                        <a:lumMod val="10000"/>
                      </a:schemeClr>
                    </a:solidFill>
                    <a:latin typeface="+mj-lt"/>
                  </a:rPr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1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sz="4400" b="1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4400" b="1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4400" b="1" i="1" dirty="0">
                    <a:solidFill>
                      <a:schemeClr val="bg2">
                        <a:lumMod val="10000"/>
                      </a:schemeClr>
                    </a:solidFill>
                    <a:latin typeface="+mj-lt"/>
                  </a:rPr>
                  <a:t> is the true cost from n</a:t>
                </a:r>
              </a:p>
              <a:p>
                <a:endParaRPr lang="en-US" dirty="0"/>
              </a:p>
              <a:p>
                <a:r>
                  <a:rPr lang="en-US" dirty="0"/>
                  <a:t>h*(n) represents the </a:t>
                </a:r>
                <a:r>
                  <a:rPr lang="en-US" b="1" dirty="0"/>
                  <a:t>actual cost</a:t>
                </a:r>
                <a:r>
                  <a:rPr lang="en-US" dirty="0"/>
                  <a:t> of the </a:t>
                </a:r>
                <a:r>
                  <a:rPr lang="en-US" b="1" dirty="0"/>
                  <a:t>least expensive path </a:t>
                </a:r>
                <a:r>
                  <a:rPr lang="en-US" dirty="0"/>
                  <a:t>from node n to the goal.</a:t>
                </a:r>
              </a:p>
              <a:p>
                <a:r>
                  <a:rPr lang="en-US" dirty="0"/>
                  <a:t>Coming up with admissible heuristics is most of what’s involved in using A* in practice.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5A1437-ACFD-00C9-774E-345E59C29F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07" t="-1420" r="-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3228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49E3A-39BD-5D6C-1EE9-47EDAFDB0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803D-E7FB-CA36-DB11-BBCF8F15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1980F-2FB8-A67F-B4F1-55728C2443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A*: Admissible heuristic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2119C-0DAA-1AE3-9CF9-F3EF0769A5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710270"/>
          </a:xfrm>
        </p:spPr>
        <p:txBody>
          <a:bodyPr>
            <a:normAutofit/>
          </a:bodyPr>
          <a:lstStyle/>
          <a:p>
            <a:r>
              <a:rPr lang="en-US" dirty="0"/>
              <a:t>Using the same graph, let’s see how to make the heuristic admissible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Firstly, h(S) cannot be 7 because the true cost h*(S) is 4. So, h(S) should be &lt;= 4 to be admissible.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0FC59-2F01-E8A0-429F-D76B9F55F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594" y="4927635"/>
            <a:ext cx="11488809" cy="524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5718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CB106-A5B3-E1BD-DBAA-3CB0E9DD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2A61-E084-563E-645B-F383DB00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722C4-A176-5EC5-E101-0CBBF33E0F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A*: Admissible heuristic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36557-DCFB-F125-8B13-C372F1396E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710270"/>
          </a:xfrm>
        </p:spPr>
        <p:txBody>
          <a:bodyPr>
            <a:normAutofit/>
          </a:bodyPr>
          <a:lstStyle/>
          <a:p>
            <a:r>
              <a:rPr lang="en-US" dirty="0"/>
              <a:t>Using the same graph, let’s see how to make the heuristic admissible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Secondly, h(A) cannot be 6 because the true cost h*(A) is 3. So, h(A) should be &lt;= 3 to be admissible.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FBAF9-F88E-FA2B-0B91-61EE1A35C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594" y="4927635"/>
            <a:ext cx="11488809" cy="524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1561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Simulating searching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C2FA1526-0BDD-D64F-3D2B-7F45E36D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227" y="3480083"/>
            <a:ext cx="15376326" cy="72895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AC3A7-21F2-3CD1-DC30-75B1AED7D600}"/>
              </a:ext>
            </a:extLst>
          </p:cNvPr>
          <p:cNvSpPr txBox="1"/>
          <p:nvPr/>
        </p:nvSpPr>
        <p:spPr>
          <a:xfrm>
            <a:off x="18220267" y="4201132"/>
            <a:ext cx="4773602" cy="68634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</a:rPr>
              <a:t>h(A) = 8.0</a:t>
            </a:r>
          </a:p>
          <a:p>
            <a:pPr>
              <a:buFont typeface="Arial" pitchFamily="34" charset="0"/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</a:rPr>
              <a:t>h(B) = 9.0</a:t>
            </a:r>
          </a:p>
          <a:p>
            <a:pPr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</a:rPr>
              <a:t>h(C) = 7.0</a:t>
            </a:r>
          </a:p>
          <a:p>
            <a:pPr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</a:rPr>
              <a:t>h(D) = 5.0</a:t>
            </a:r>
          </a:p>
          <a:p>
            <a:pPr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</a:rPr>
              <a:t>h(F) = 4.0</a:t>
            </a:r>
          </a:p>
          <a:p>
            <a:pPr>
              <a:buFont typeface="Arial" pitchFamily="34" charset="0"/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</a:rPr>
              <a:t>h(H) = 2.0</a:t>
            </a:r>
          </a:p>
          <a:p>
            <a:pPr>
              <a:buFont typeface="Arial" pitchFamily="34" charset="0"/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</a:rPr>
              <a:t>h(G) = 0</a:t>
            </a:r>
          </a:p>
          <a:p>
            <a:pPr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</a:rPr>
              <a:t>h(J) = 3.0</a:t>
            </a:r>
          </a:p>
          <a:p>
            <a:pPr>
              <a:buNone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</a:rPr>
              <a:t>h(I) = 1.0</a:t>
            </a:r>
          </a:p>
          <a:p>
            <a:pPr>
              <a:buNone/>
            </a:pPr>
            <a:endParaRPr lang="en-US" sz="4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23647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Simulating searching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Simulate the node expansion from start state (S) to reach goal state (G)​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Using Greedy, A*​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 you think the heuristic function is admissible? Why?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0B5476-8CB4-A1CA-3681-65525A896892}"/>
              </a:ext>
            </a:extLst>
          </p:cNvPr>
          <p:cNvSpPr txBox="1">
            <a:spLocks/>
          </p:cNvSpPr>
          <p:nvPr/>
        </p:nvSpPr>
        <p:spPr>
          <a:xfrm>
            <a:off x="6395235" y="6454146"/>
            <a:ext cx="10212662" cy="4819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sz="5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BE85843-B1E7-A58A-7D4F-61486AC74867}"/>
              </a:ext>
            </a:extLst>
          </p:cNvPr>
          <p:cNvSpPr txBox="1">
            <a:spLocks/>
          </p:cNvSpPr>
          <p:nvPr/>
        </p:nvSpPr>
        <p:spPr>
          <a:xfrm>
            <a:off x="11193792" y="6491535"/>
            <a:ext cx="7761794" cy="4819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endParaRPr lang="en-US" sz="5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9884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Russell, S. J., Norvig, P., Chang, M., Devlin, J., Dragan, A., Forsyth, D., Goodfellow, I., Malik, J.,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Mansinghka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, V., Pearl, J., &amp; Wooldridge, M. J. (2022). Artificial intelligence: A modern approach (Fourth edition, global edition). Pearson.</a:t>
            </a:r>
          </a:p>
          <a:p>
            <a:pPr>
              <a:spcBef>
                <a:spcPts val="600"/>
              </a:spcBef>
            </a:pP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Tinelli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, C. (2017). Informed Search. CS:4420 Artificial Intelligence. https://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homepage.cs.uiowa.edu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/~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tinelli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/classes/4420/Spring17/notes/3b-informed-search.pdf </a:t>
            </a:r>
          </a:p>
          <a:p>
            <a:pPr>
              <a:spcBef>
                <a:spcPts val="6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Bacchus, F. (n.d.). Search. CSC384 Introduction to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</a:rPr>
              <a:t>Artficial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 Intelligence. Retrieved October 20, 2023, from https://www.cs.toronto.edu/~fbacchus/csc384/Lectures/csc384-Lecture02-Search.pdf </a:t>
            </a:r>
          </a:p>
          <a:p>
            <a:pPr>
              <a:spcBef>
                <a:spcPts val="6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Cohen, M., Allen, C.. Search: Informed Search - A* and Heuristics (Cam). CS188: Artificial Intelligence. https://inst.eecs.berkeley.edu/~cs188/sp24/assets/lectures/cs188-sp24-lec03.pdf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747</TotalTime>
  <Words>1140</Words>
  <Application>Microsoft Office PowerPoint</Application>
  <PresentationFormat>Custom</PresentationFormat>
  <Paragraphs>161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Cambria Math</vt:lpstr>
      <vt:lpstr>Open Sans Light</vt:lpstr>
      <vt:lpstr>Open Sans ExtraBold</vt:lpstr>
      <vt:lpstr>Open Sans</vt:lpstr>
      <vt:lpstr>Open Sans Semibold</vt:lpstr>
      <vt:lpstr>Arial</vt:lpstr>
      <vt:lpstr>Wingdings</vt:lpstr>
      <vt:lpstr>OCRB</vt:lpstr>
      <vt:lpstr>21_BasicWhite</vt:lpstr>
      <vt:lpstr>Search Strategy: Uninformed Search</vt:lpstr>
      <vt:lpstr>Learning Outcomes</vt:lpstr>
      <vt:lpstr>outline</vt:lpstr>
      <vt:lpstr>Search heuristics</vt:lpstr>
      <vt:lpstr>Search heuristics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Informed Search</vt:lpstr>
      <vt:lpstr>Case study</vt:lpstr>
      <vt:lpstr>Case study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43</cp:revision>
  <dcterms:created xsi:type="dcterms:W3CDTF">2023-11-17T02:51:40Z</dcterms:created>
  <dcterms:modified xsi:type="dcterms:W3CDTF">2024-12-26T16:11:07Z</dcterms:modified>
</cp:coreProperties>
</file>