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8"/>
  </p:notesMasterIdLst>
  <p:sldIdLst>
    <p:sldId id="290" r:id="rId2"/>
    <p:sldId id="257" r:id="rId3"/>
    <p:sldId id="258" r:id="rId4"/>
    <p:sldId id="298" r:id="rId5"/>
    <p:sldId id="329" r:id="rId6"/>
    <p:sldId id="321" r:id="rId7"/>
    <p:sldId id="322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0" r:id="rId19"/>
    <p:sldId id="342" r:id="rId20"/>
    <p:sldId id="341" r:id="rId21"/>
    <p:sldId id="345" r:id="rId22"/>
    <p:sldId id="346" r:id="rId23"/>
    <p:sldId id="347" r:id="rId24"/>
    <p:sldId id="348" r:id="rId25"/>
    <p:sldId id="349" r:id="rId26"/>
    <p:sldId id="343" r:id="rId27"/>
    <p:sldId id="344" r:id="rId28"/>
    <p:sldId id="350" r:id="rId29"/>
    <p:sldId id="351" r:id="rId30"/>
    <p:sldId id="352" r:id="rId31"/>
    <p:sldId id="359" r:id="rId32"/>
    <p:sldId id="353" r:id="rId33"/>
    <p:sldId id="360" r:id="rId34"/>
    <p:sldId id="361" r:id="rId35"/>
    <p:sldId id="362" r:id="rId36"/>
    <p:sldId id="363" r:id="rId37"/>
    <p:sldId id="364" r:id="rId38"/>
    <p:sldId id="365" r:id="rId39"/>
    <p:sldId id="366" r:id="rId40"/>
    <p:sldId id="367" r:id="rId41"/>
    <p:sldId id="368" r:id="rId42"/>
    <p:sldId id="369" r:id="rId43"/>
    <p:sldId id="370" r:id="rId44"/>
    <p:sldId id="310" r:id="rId45"/>
    <p:sldId id="379" r:id="rId46"/>
    <p:sldId id="278" r:id="rId47"/>
  </p:sldIdLst>
  <p:sldSz cx="24384000" cy="13716000"/>
  <p:notesSz cx="6858000" cy="9144000"/>
  <p:embeddedFontLst>
    <p:embeddedFont>
      <p:font typeface="Cambria Math" panose="02040503050406030204" pitchFamily="18" charset="0"/>
      <p:regular r:id="rId49"/>
    </p:embeddedFont>
    <p:embeddedFont>
      <p:font typeface="OCRB" panose="020B0609020202020204" pitchFamily="49" charset="0"/>
      <p:regular r:id="rId50"/>
    </p:embeddedFont>
    <p:embeddedFont>
      <p:font typeface="Open Sans" panose="020B0606030504020204" pitchFamily="34" charset="0"/>
      <p:regular r:id="rId51"/>
      <p:bold r:id="rId52"/>
      <p:italic r:id="rId53"/>
      <p:boldItalic r:id="rId54"/>
    </p:embeddedFont>
    <p:embeddedFont>
      <p:font typeface="Open Sans ExtraBold" panose="020B0906030804020204" pitchFamily="34" charset="0"/>
      <p:bold r:id="rId55"/>
      <p:italic r:id="rId56"/>
      <p:boldItalic r:id="rId57"/>
    </p:embeddedFont>
    <p:embeddedFont>
      <p:font typeface="Open Sans Light" panose="020B0306030504020204" pitchFamily="34" charset="0"/>
      <p:regular r:id="rId58"/>
      <p:italic r:id="rId59"/>
    </p:embeddedFont>
    <p:embeddedFont>
      <p:font typeface="Open Sans Semibold" panose="020B0706030804020204" pitchFamily="34" charset="0"/>
      <p:regular r:id="rId60"/>
      <p:bold r:id="rId61"/>
      <p:italic r:id="rId62"/>
      <p:boldItalic r:id="rId63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435" autoAdjust="0"/>
    <p:restoredTop sz="96197"/>
  </p:normalViewPr>
  <p:slideViewPr>
    <p:cSldViewPr snapToGrid="0" snapToObjects="1">
      <p:cViewPr varScale="1">
        <p:scale>
          <a:sx n="38" d="100"/>
          <a:sy n="38" d="100"/>
        </p:scale>
        <p:origin x="76" y="8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63" Type="http://schemas.openxmlformats.org/officeDocument/2006/relationships/font" Target="fonts/font1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1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1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62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583279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201342" y="7838581"/>
            <a:ext cx="21971001" cy="1905001"/>
          </a:xfrm>
        </p:spPr>
        <p:txBody>
          <a:bodyPr/>
          <a:lstStyle/>
          <a:p>
            <a:r>
              <a:rPr lang="en-US" dirty="0"/>
              <a:t>Session 03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96" y="3658724"/>
            <a:ext cx="21971004" cy="3917819"/>
          </a:xfrm>
        </p:spPr>
        <p:txBody>
          <a:bodyPr/>
          <a:lstStyle/>
          <a:p>
            <a:r>
              <a:rPr lang="en-US" dirty="0"/>
              <a:t>Search: State Space, Uninformed search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43550" y="11538583"/>
            <a:ext cx="5286583" cy="745888"/>
          </a:xfrm>
        </p:spPr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577925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r>
              <a:rPr lang="en-US" sz="4400" dirty="0">
                <a:latin typeface="+mj-lt"/>
              </a:rPr>
              <a:t>LO 2: Apply various search algorithms for agents to solve problems</a:t>
            </a:r>
          </a:p>
          <a:p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/>
              <a:t>Search</a:t>
            </a:r>
          </a:p>
          <a:p>
            <a:r>
              <a:rPr lang="en-ID" dirty="0"/>
              <a:t>Representing a problem: The Formalism</a:t>
            </a:r>
          </a:p>
          <a:p>
            <a:r>
              <a:rPr lang="en-ID" dirty="0"/>
              <a:t>Problem solving as search</a:t>
            </a:r>
          </a:p>
          <a:p>
            <a:r>
              <a:rPr lang="en-ID" dirty="0"/>
              <a:t>Uninformed Search</a:t>
            </a:r>
          </a:p>
          <a:p>
            <a:endParaRPr lang="en-ID" dirty="0"/>
          </a:p>
          <a:p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FB2D0-A502-25DC-43C6-3AAE3B82C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28653-74A2-18A3-6DE3-CFFC503585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do we plan our holiday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BC58F-6D42-1721-F9AA-169D2FB16F2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90085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must consider various preferences and constraints to develop a schedule</a:t>
            </a:r>
          </a:p>
          <a:p>
            <a:r>
              <a:rPr lang="en-US" dirty="0"/>
              <a:t>One crucial method in formulating such a plan involves the utilization of "hypothetical" thinking.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Example: On holiday in England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/>
              <a:t>Currently in Edinburgh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/>
              <a:t>Flight leaves tomorrow from London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/>
              <a:t>Need plan to get to your plan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/>
              <a:t>If I take a 6 A.M train where will I be at 2 P.M? Will I be still able to get to the airport on time?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75936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FB2D0-A502-25DC-43C6-3AAE3B82C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28653-74A2-18A3-6DE3-CFFC503585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do we plan our holiday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BC58F-6D42-1721-F9AA-169D2FB16F2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900857"/>
          </a:xfrm>
        </p:spPr>
        <p:txBody>
          <a:bodyPr>
            <a:normAutofit/>
          </a:bodyPr>
          <a:lstStyle/>
          <a:p>
            <a:r>
              <a:rPr lang="en-US" dirty="0"/>
              <a:t>This kind of hypothetical reasoning involves asking: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“What state will I be in after taking certain actions, or after certain sequence of events?”</a:t>
            </a:r>
          </a:p>
          <a:p>
            <a:r>
              <a:rPr lang="en-US" dirty="0"/>
              <a:t>From this we can reason about particular sequences of events or actions one should try to bring about to achieve a desirable state</a:t>
            </a:r>
          </a:p>
          <a:p>
            <a:r>
              <a:rPr lang="en-US" dirty="0"/>
              <a:t>Search is a computational method for capturing a particular version of this kind of reasoning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24783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FB2D0-A502-25DC-43C6-3AAE3B82C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28653-74A2-18A3-6DE3-CFFC503585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Why search?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BC58F-6D42-1721-F9AA-169D2FB16F2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540937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ü"/>
            </a:pPr>
            <a:r>
              <a:rPr lang="en-US" b="1" dirty="0"/>
              <a:t>Successful</a:t>
            </a:r>
          </a:p>
          <a:p>
            <a:pPr lvl="1"/>
            <a:r>
              <a:rPr lang="en-US" dirty="0"/>
              <a:t>Success in game playing programs based on search</a:t>
            </a:r>
          </a:p>
          <a:p>
            <a:pPr lvl="1"/>
            <a:r>
              <a:rPr lang="en-US" dirty="0"/>
              <a:t>Many other AI problems can be successfully solved by search</a:t>
            </a:r>
          </a:p>
          <a:p>
            <a:pPr>
              <a:buFont typeface="Wingdings" pitchFamily="2" charset="2"/>
              <a:buChar char="ü"/>
            </a:pPr>
            <a:r>
              <a:rPr lang="en-US" b="1" dirty="0"/>
              <a:t>Practical</a:t>
            </a:r>
          </a:p>
          <a:p>
            <a:pPr lvl="1"/>
            <a:r>
              <a:rPr lang="en-US" dirty="0"/>
              <a:t>Many problems don’t have specific algorithms for solving them. Casting as search problems is often the easiest way of solving them</a:t>
            </a:r>
          </a:p>
          <a:p>
            <a:pPr lvl="1"/>
            <a:r>
              <a:rPr lang="en-US" dirty="0"/>
              <a:t>Search can also be useful in approximation</a:t>
            </a:r>
          </a:p>
          <a:p>
            <a:pPr lvl="1"/>
            <a:r>
              <a:rPr lang="en-US" dirty="0"/>
              <a:t>Problem specific heuristics provides search with a way of exploiting extra knowledge </a:t>
            </a:r>
          </a:p>
          <a:p>
            <a:pPr>
              <a:buFont typeface="Wingdings" pitchFamily="2" charset="2"/>
              <a:buChar char="ü"/>
            </a:pPr>
            <a:r>
              <a:rPr lang="en-US" b="1" dirty="0"/>
              <a:t>Some critical aspects of intelligent behavior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52857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FB2D0-A502-25DC-43C6-3AAE3B82C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28653-74A2-18A3-6DE3-CFFC503585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Limitation of search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BC58F-6D42-1721-F9AA-169D2FB16F2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329279"/>
          </a:xfrm>
        </p:spPr>
        <p:txBody>
          <a:bodyPr>
            <a:normAutofit/>
          </a:bodyPr>
          <a:lstStyle/>
          <a:p>
            <a:r>
              <a:rPr lang="en-US" dirty="0"/>
              <a:t>There are many difficult question that are not resolved by search. </a:t>
            </a:r>
          </a:p>
          <a:p>
            <a:r>
              <a:rPr lang="en-US" dirty="0"/>
              <a:t>In particular, the whole question of how does an intelligent system formulate the problem it wants to solve as a search problem is not addressed by search.</a:t>
            </a:r>
          </a:p>
          <a:p>
            <a:r>
              <a:rPr lang="en-US" dirty="0"/>
              <a:t>Search only shows how to solve the problem once we have it correctly formulated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78533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FB2D0-A502-25DC-43C6-3AAE3B82C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Representing a problem: the formalism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28653-74A2-18A3-6DE3-CFFC503585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State space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BC58F-6D42-1721-F9AA-169D2FB16F2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329279"/>
          </a:xfrm>
        </p:spPr>
        <p:txBody>
          <a:bodyPr>
            <a:normAutofit/>
          </a:bodyPr>
          <a:lstStyle/>
          <a:p>
            <a:r>
              <a:rPr lang="en-US" dirty="0"/>
              <a:t>To formulate a problem as a search problem we need the following components: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The initial state	: The state where the agent starts​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Actions		: Possible actions available to the agents​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Transition model	: A description what an action does​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Goal test		: Check if a given state is a goal state​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Path cost		: Measure the cost to achieve the goal</a:t>
            </a:r>
          </a:p>
        </p:txBody>
      </p:sp>
    </p:spTree>
    <p:extLst>
      <p:ext uri="{BB962C8B-B14F-4D97-AF65-F5344CB8AC3E}">
        <p14:creationId xmlns:p14="http://schemas.microsoft.com/office/powerpoint/2010/main" val="17693534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FB2D0-A502-25DC-43C6-3AAE3B82C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Representing a problem: the formalism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28653-74A2-18A3-6DE3-CFFC503585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State </a:t>
            </a:r>
            <a:r>
              <a:rPr lang="en-US" dirty="0" err="1"/>
              <a:t>sPace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BC58F-6D42-1721-F9AA-169D2FB16F2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329279"/>
          </a:xfrm>
        </p:spPr>
        <p:txBody>
          <a:bodyPr>
            <a:normAutofit/>
          </a:bodyPr>
          <a:lstStyle/>
          <a:p>
            <a:r>
              <a:rPr lang="en-US" dirty="0"/>
              <a:t>Once the problem has been formulated as a state space search, various algorithm can be utilized to solve the problem</a:t>
            </a:r>
          </a:p>
          <a:p>
            <a:r>
              <a:rPr lang="en-US" dirty="0"/>
              <a:t>Solution to the problem will be a sequence of actions/ moves that can transform your current state into a state where your desired condition holds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61945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FB2D0-A502-25DC-43C6-3AAE3B82C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Representing a problem: the formalism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28653-74A2-18A3-6DE3-CFFC503585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Romania travel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BC58F-6D42-1721-F9AA-169D2FB16F2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5677792" cy="8329279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j-lt"/>
              </a:rPr>
              <a:t>Currently in </a:t>
            </a:r>
            <a:r>
              <a:rPr lang="en-US" sz="4400" dirty="0">
                <a:solidFill>
                  <a:srgbClr val="FF0000"/>
                </a:solidFill>
                <a:latin typeface="+mj-lt"/>
              </a:rPr>
              <a:t>Arad</a:t>
            </a:r>
            <a:r>
              <a:rPr lang="en-US" sz="4400" dirty="0">
                <a:latin typeface="+mj-lt"/>
              </a:rPr>
              <a:t>, need to get to </a:t>
            </a:r>
            <a:r>
              <a:rPr lang="en-US" sz="4400" dirty="0">
                <a:solidFill>
                  <a:srgbClr val="00B050"/>
                </a:solidFill>
                <a:latin typeface="+mj-lt"/>
              </a:rPr>
              <a:t>Bucharest</a:t>
            </a:r>
            <a:r>
              <a:rPr lang="en-US" sz="4400" dirty="0">
                <a:latin typeface="+mj-lt"/>
              </a:rPr>
              <a:t> by tomorrow to catch a flight. </a:t>
            </a:r>
          </a:p>
          <a:p>
            <a:r>
              <a:rPr lang="en-US" sz="4400" dirty="0">
                <a:latin typeface="+mj-lt"/>
              </a:rPr>
              <a:t>What is the State Space?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E76AD7-6C3B-311C-0024-BAC4FF555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981" y="3260663"/>
            <a:ext cx="14929606" cy="924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88963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FB2D0-A502-25DC-43C6-3AAE3B82C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Representing a problem: the formalism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28653-74A2-18A3-6DE3-CFFC503585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Romania travel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BC58F-6D42-1721-F9AA-169D2FB16F2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329279"/>
          </a:xfrm>
        </p:spPr>
        <p:txBody>
          <a:bodyPr>
            <a:normAutofit/>
          </a:bodyPr>
          <a:lstStyle/>
          <a:p>
            <a:r>
              <a:rPr lang="en-US" dirty="0"/>
              <a:t>State space: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The initial state	: In (Arad)​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Actions		: Go (</a:t>
            </a:r>
            <a:r>
              <a:rPr lang="en-US" dirty="0" err="1"/>
              <a:t>Zerind</a:t>
            </a:r>
            <a:r>
              <a:rPr lang="en-US" dirty="0"/>
              <a:t>), Go (</a:t>
            </a:r>
            <a:r>
              <a:rPr lang="en-US" dirty="0" err="1"/>
              <a:t>Zibiu</a:t>
            </a:r>
            <a:r>
              <a:rPr lang="en-US" dirty="0"/>
              <a:t>), </a:t>
            </a:r>
            <a:r>
              <a:rPr lang="en-US" dirty="0" err="1"/>
              <a:t>etc</a:t>
            </a:r>
            <a:r>
              <a:rPr lang="en-US" dirty="0"/>
              <a:t>​.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Transition model	: Results (In (Arad), Go (</a:t>
            </a:r>
            <a:r>
              <a:rPr lang="en-US" dirty="0" err="1"/>
              <a:t>Zerind</a:t>
            </a:r>
            <a:r>
              <a:rPr lang="en-US" dirty="0"/>
              <a:t>)) = In(</a:t>
            </a:r>
            <a:r>
              <a:rPr lang="en-US" dirty="0" err="1"/>
              <a:t>Zerind</a:t>
            </a:r>
            <a:r>
              <a:rPr lang="en-US" dirty="0"/>
              <a:t>)​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Goal test		: In (Bucharest)​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Path cost		: Path length in kilometers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45557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FB2D0-A502-25DC-43C6-3AAE3B82C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Representing a problem: the formalism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28653-74A2-18A3-6DE3-CFFC503585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BC58F-6D42-1721-F9AA-169D2FB16F2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329279"/>
          </a:xfrm>
        </p:spPr>
        <p:txBody>
          <a:bodyPr>
            <a:normAutofit/>
          </a:bodyPr>
          <a:lstStyle/>
          <a:p>
            <a:r>
              <a:rPr lang="en-US" dirty="0"/>
              <a:t>Search tree: models the sequence of actions​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Root: initial state​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Branches: actions​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Nodes: results from actions​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Expanding:​ Process of generating child nodes (performing an action)​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71026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FB2D0-A502-25DC-43C6-3AAE3B82C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Representing a problem: the formalism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28653-74A2-18A3-6DE3-CFFC503585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Tree pseudocode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B326E3-3A4F-6FA7-27D7-8A26BC71F693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010" y="4274820"/>
            <a:ext cx="19784292" cy="6217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508776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FB2D0-A502-25DC-43C6-3AAE3B82C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Representing a problem: the formalism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28653-74A2-18A3-6DE3-CFFC503585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Searching 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BC58F-6D42-1721-F9AA-169D2FB16F2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329279"/>
          </a:xfrm>
        </p:spPr>
        <p:txBody>
          <a:bodyPr>
            <a:normAutofit/>
          </a:bodyPr>
          <a:lstStyle/>
          <a:p>
            <a:r>
              <a:rPr lang="en-US" dirty="0"/>
              <a:t>Measuring problem-solving performance​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Completeness: Is the algorithm guaranteed to find a solution when there is one?​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Optimality: Does the strategy find the optimal solution?​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Time complexity: How long does it take to find a solution?​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Space complexity: How much memory is needed to perform the search?​</a:t>
            </a:r>
          </a:p>
        </p:txBody>
      </p:sp>
    </p:spTree>
    <p:extLst>
      <p:ext uri="{BB962C8B-B14F-4D97-AF65-F5344CB8AC3E}">
        <p14:creationId xmlns:p14="http://schemas.microsoft.com/office/powerpoint/2010/main" val="394199013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FB2D0-A502-25DC-43C6-3AAE3B82C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solving as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28653-74A2-18A3-6DE3-CFFC503585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BC58F-6D42-1721-F9AA-169D2FB16F2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329279"/>
          </a:xfrm>
        </p:spPr>
        <p:txBody>
          <a:bodyPr>
            <a:normAutofit/>
          </a:bodyPr>
          <a:lstStyle/>
          <a:p>
            <a:r>
              <a:rPr lang="en-US" dirty="0"/>
              <a:t>Problem solving</a:t>
            </a:r>
          </a:p>
          <a:p>
            <a:pPr lvl="1"/>
            <a:r>
              <a:rPr lang="en-US" dirty="0"/>
              <a:t>Finding any solution (goal-driven)</a:t>
            </a:r>
          </a:p>
          <a:p>
            <a:pPr lvl="1"/>
            <a:r>
              <a:rPr lang="en-US" dirty="0"/>
              <a:t>Finding the cheapest solution (utility-driven)</a:t>
            </a:r>
          </a:p>
          <a:p>
            <a:r>
              <a:rPr lang="en-US" dirty="0"/>
              <a:t>Uninformed (blind) search (goal-driven)</a:t>
            </a:r>
          </a:p>
          <a:p>
            <a:pPr lvl="1"/>
            <a:r>
              <a:rPr lang="en-US" dirty="0"/>
              <a:t>Algorithms: Breadth-first search, Uniform-cost search, Depth-first search, Depth-limited search, Iterative-deepening search</a:t>
            </a:r>
          </a:p>
          <a:p>
            <a:r>
              <a:rPr lang="en-US" dirty="0"/>
              <a:t>Informed search (utility-driven):</a:t>
            </a:r>
          </a:p>
          <a:p>
            <a:pPr lvl="1"/>
            <a:r>
              <a:rPr lang="en-US" dirty="0"/>
              <a:t>Algorithms: (greedy) Best-first search, A* search</a:t>
            </a:r>
          </a:p>
        </p:txBody>
      </p:sp>
    </p:spTree>
    <p:extLst>
      <p:ext uri="{BB962C8B-B14F-4D97-AF65-F5344CB8AC3E}">
        <p14:creationId xmlns:p14="http://schemas.microsoft.com/office/powerpoint/2010/main" val="204539133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A0FE8-BC5B-0F7D-0B51-8FA9A75C7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925D7-497C-6E68-5C12-D1F49F0C4B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0FCD4-E8C7-8376-4903-B2C1B2BEF2F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These are strategies that adopt a fixed rule for selecting the next state to be expanded</a:t>
            </a:r>
          </a:p>
          <a:p>
            <a:r>
              <a:rPr lang="en-US" dirty="0"/>
              <a:t>The rule does not change irrespective of the search problem being solved</a:t>
            </a:r>
          </a:p>
          <a:p>
            <a:r>
              <a:rPr lang="en-US" dirty="0"/>
              <a:t>These strategies do not consider any domain specific information about the particular search problem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23437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A0FE8-BC5B-0F7D-0B51-8FA9A75C7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925D7-497C-6E68-5C12-D1F49F0C4B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Breadth first search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0FCD4-E8C7-8376-4903-B2C1B2BEF2F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19553811" cy="8583279"/>
          </a:xfrm>
        </p:spPr>
        <p:txBody>
          <a:bodyPr/>
          <a:lstStyle/>
          <a:p>
            <a:r>
              <a:rPr lang="en-US" dirty="0"/>
              <a:t>Expand shallowest unexpanded node​</a:t>
            </a:r>
          </a:p>
          <a:p>
            <a:r>
              <a:rPr lang="en-US" dirty="0"/>
              <a:t>Implementation: a FIFO queue​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26861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A0FE8-BC5B-0F7D-0B51-8FA9A75C7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925D7-497C-6E68-5C12-D1F49F0C4B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Breadth first search</a:t>
            </a:r>
          </a:p>
        </p:txBody>
      </p:sp>
      <p:pic>
        <p:nvPicPr>
          <p:cNvPr id="5" name="Content Placeholder 4" descr="Breadth-First Search Using a Queue">
            <a:extLst>
              <a:ext uri="{FF2B5EF4-FFF2-40B4-BE49-F238E27FC236}">
                <a16:creationId xmlns:a16="http://schemas.microsoft.com/office/drawing/2014/main" id="{5309093A-ED91-DEAE-7044-5964CBAEAFC8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377" y="3260663"/>
            <a:ext cx="19033712" cy="958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302280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A7D10-3DDC-9171-6CEE-44219E843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BB1E2-737A-BE57-A880-76AB9E303E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Uniform cost search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8401B-C28A-82F0-2DEE-C991CE18136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Instead of expanding the shallowest node, it expands the node n with the lowest path cost g(n)​</a:t>
            </a:r>
          </a:p>
          <a:p>
            <a:r>
              <a:rPr lang="en-US" dirty="0"/>
              <a:t>Instead of queue (FIFO), it utilize priority queue based on g(n)​</a:t>
            </a:r>
          </a:p>
          <a:p>
            <a:r>
              <a:rPr lang="en-US" dirty="0"/>
              <a:t>Also called Dijkstra’s algorithm by the theoretical computer science community.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49325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A7D10-3DDC-9171-6CEE-44219E843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BB1E2-737A-BE57-A880-76AB9E303E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Uniform cost search</a:t>
            </a:r>
          </a:p>
        </p:txBody>
      </p:sp>
      <p:pic>
        <p:nvPicPr>
          <p:cNvPr id="3074" name="Picture 2" descr="IF Inteligencia Futura Blog 22">
            <a:extLst>
              <a:ext uri="{FF2B5EF4-FFF2-40B4-BE49-F238E27FC236}">
                <a16:creationId xmlns:a16="http://schemas.microsoft.com/office/drawing/2014/main" id="{CCFF00C8-6D0D-884B-2D1F-25FBBF71C1D4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81"/>
          <a:stretch/>
        </p:blipFill>
        <p:spPr bwMode="auto">
          <a:xfrm>
            <a:off x="2681386" y="3260663"/>
            <a:ext cx="19021228" cy="8714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B780F8-378B-873A-EB57-E270087E4293}"/>
              </a:ext>
            </a:extLst>
          </p:cNvPr>
          <p:cNvSpPr txBox="1"/>
          <p:nvPr/>
        </p:nvSpPr>
        <p:spPr>
          <a:xfrm>
            <a:off x="7520849" y="11843942"/>
            <a:ext cx="9342301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Example of UCS, searching from A to G</a:t>
            </a:r>
          </a:p>
        </p:txBody>
      </p:sp>
    </p:spTree>
    <p:extLst>
      <p:ext uri="{BB962C8B-B14F-4D97-AF65-F5344CB8AC3E}">
        <p14:creationId xmlns:p14="http://schemas.microsoft.com/office/powerpoint/2010/main" val="62267894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A7D10-3DDC-9171-6CEE-44219E843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BB1E2-737A-BE57-A880-76AB9E303E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Uniform cost search: Example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F6324E5-B1EA-36E6-E2BD-B6F8841C22CA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377" y="3260663"/>
            <a:ext cx="13555980" cy="9023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0A652E-5EA0-F899-84F9-C8AD1C592389}"/>
              </a:ext>
            </a:extLst>
          </p:cNvPr>
          <p:cNvSpPr txBox="1"/>
          <p:nvPr/>
        </p:nvSpPr>
        <p:spPr>
          <a:xfrm>
            <a:off x="16129601" y="3260663"/>
            <a:ext cx="6456080" cy="14568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Search the optimal path from Sibiu to Bucharest!</a:t>
            </a:r>
          </a:p>
        </p:txBody>
      </p:sp>
    </p:spTree>
    <p:extLst>
      <p:ext uri="{BB962C8B-B14F-4D97-AF65-F5344CB8AC3E}">
        <p14:creationId xmlns:p14="http://schemas.microsoft.com/office/powerpoint/2010/main" val="319602301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A7D10-3DDC-9171-6CEE-44219E843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BB1E2-737A-BE57-A880-76AB9E303E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Uniform cost search: 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5F9B57A-E86D-E119-7C83-B7EE26460EA4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5571211" y="3260662"/>
            <a:ext cx="12396018" cy="803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06960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A7D10-3DDC-9171-6CEE-44219E843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BB1E2-737A-BE57-A880-76AB9E303E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Uniform cost search: 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5F9B57A-E86D-E119-7C83-B7EE26460EA4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5571211" y="3260662"/>
            <a:ext cx="12396018" cy="80356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351882-596A-C1FB-AE32-9C348AA37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271" y="3260662"/>
            <a:ext cx="12359958" cy="965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464232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A7D10-3DDC-9171-6CEE-44219E843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BB1E2-737A-BE57-A880-76AB9E303E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Uniform cost search: 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5F9B57A-E86D-E119-7C83-B7EE26460EA4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5571211" y="3260662"/>
            <a:ext cx="12396018" cy="80356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351882-596A-C1FB-AE32-9C348AA37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271" y="3260662"/>
            <a:ext cx="12359958" cy="96505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F5A745-7CF6-7E47-740D-CEC045649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211" y="3291347"/>
            <a:ext cx="12359958" cy="855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145777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A7D10-3DDC-9171-6CEE-44219E843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BB1E2-737A-BE57-A880-76AB9E303E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Uniform cost search: 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5F9B57A-E86D-E119-7C83-B7EE26460EA4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5571211" y="3260662"/>
            <a:ext cx="12396018" cy="80356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351882-596A-C1FB-AE32-9C348AA37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271" y="3260662"/>
            <a:ext cx="12359958" cy="96505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F5A745-7CF6-7E47-740D-CEC045649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211" y="3291347"/>
            <a:ext cx="12359958" cy="85529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EBB4ED-DDBD-782F-49BC-248CE09DC5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6308" y="3291347"/>
            <a:ext cx="12390592" cy="961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00162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8D5C6-611D-94B2-C275-63E9D73DA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1E689-6ED4-0823-7CDB-5945E95AC9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Depth first search</a:t>
            </a:r>
          </a:p>
        </p:txBody>
      </p:sp>
      <p:pic>
        <p:nvPicPr>
          <p:cNvPr id="5122" name="Picture 2" descr="Depth-First Search Using a Stack">
            <a:extLst>
              <a:ext uri="{FF2B5EF4-FFF2-40B4-BE49-F238E27FC236}">
                <a16:creationId xmlns:a16="http://schemas.microsoft.com/office/drawing/2014/main" id="{C8FE3F42-9135-19DE-744E-79D4E0628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8140" y="3048416"/>
            <a:ext cx="15910560" cy="966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764A0-BBF8-9378-9753-034D0C137C9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889351"/>
            <a:ext cx="6769796" cy="7954591"/>
          </a:xfrm>
        </p:spPr>
        <p:txBody>
          <a:bodyPr>
            <a:normAutofit/>
          </a:bodyPr>
          <a:lstStyle/>
          <a:p>
            <a:r>
              <a:rPr lang="en-US" dirty="0"/>
              <a:t>Expand deepest unexpanded node</a:t>
            </a:r>
          </a:p>
          <a:p>
            <a:r>
              <a:rPr lang="en-US" dirty="0"/>
              <a:t>Implementation: LIFO</a:t>
            </a:r>
          </a:p>
          <a:p>
            <a:r>
              <a:rPr lang="en-US" dirty="0"/>
              <a:t>Depth-first search is not cost-optimal</a:t>
            </a:r>
          </a:p>
          <a:p>
            <a:r>
              <a:rPr lang="en-US" dirty="0"/>
              <a:t>it returns the first solution it finds, even if it is not cheapest.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063646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4D51-46E5-DD70-AB7D-2F8F3C7C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E94E0-EC2F-7094-AD04-6477863B22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615423" cy="803546"/>
          </a:xfrm>
        </p:spPr>
        <p:txBody>
          <a:bodyPr>
            <a:normAutofit/>
          </a:bodyPr>
          <a:lstStyle/>
          <a:p>
            <a:r>
              <a:rPr lang="en-US" dirty="0"/>
              <a:t>Depth limited search &amp; Iterative deepening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56836F-1501-0CF5-1AEF-5561219DCE6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To keep depth-first search from wandering down an infinite path, we can use depth-limited search</a:t>
            </a:r>
          </a:p>
          <a:p>
            <a:r>
              <a:rPr lang="en-US" dirty="0"/>
              <a:t>It is a version of depth-first search in which we supply a </a:t>
            </a:r>
            <a:r>
              <a:rPr lang="en-US" b="1" dirty="0"/>
              <a:t>depth limit, l</a:t>
            </a:r>
            <a:r>
              <a:rPr lang="en-US" dirty="0"/>
              <a:t>, and treat all nodes at depth l as if they had no successors.</a:t>
            </a:r>
          </a:p>
          <a:p>
            <a:r>
              <a:rPr lang="en-US" dirty="0"/>
              <a:t>However, for most problems we will </a:t>
            </a:r>
            <a:r>
              <a:rPr lang="en-US" b="1" dirty="0"/>
              <a:t>not know a good depth limit </a:t>
            </a:r>
            <a:r>
              <a:rPr lang="en-US" dirty="0"/>
              <a:t>until we have solved the problem. </a:t>
            </a:r>
          </a:p>
          <a:p>
            <a:r>
              <a:rPr lang="en-US" b="1" dirty="0"/>
              <a:t>Iterative deepening search </a:t>
            </a:r>
            <a:r>
              <a:rPr lang="en-US" dirty="0"/>
              <a:t>solves the problem of picking a good value for l by trying all values: first 0, then 1, then 2, and so on—until either a solution is found, or the depth-limited search returns the failure value rather than the cutoff value.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585456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4D51-46E5-DD70-AB7D-2F8F3C7C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E94E0-EC2F-7094-AD04-6477863B22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615423" cy="803546"/>
          </a:xfrm>
        </p:spPr>
        <p:txBody>
          <a:bodyPr>
            <a:normAutofit/>
          </a:bodyPr>
          <a:lstStyle/>
          <a:p>
            <a:r>
              <a:rPr lang="en-US" dirty="0"/>
              <a:t>Depth limited search &amp; Iterative deepening</a:t>
            </a:r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6079A783-A7C6-0091-701F-A0B82CB6FF2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114" b="90639"/>
          <a:stretch/>
        </p:blipFill>
        <p:spPr>
          <a:xfrm>
            <a:off x="2167377" y="5389562"/>
            <a:ext cx="20840487" cy="29368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29DCAF-8CB2-E7CA-F9D6-4156A458433A}"/>
              </a:ext>
            </a:extLst>
          </p:cNvPr>
          <p:cNvSpPr txBox="1"/>
          <p:nvPr/>
        </p:nvSpPr>
        <p:spPr>
          <a:xfrm>
            <a:off x="2167377" y="3840421"/>
            <a:ext cx="18635223" cy="16414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Example of iterative deepening search for goal </a:t>
            </a:r>
            <a:r>
              <a:rPr kumimoji="0" lang="en-US" sz="3600" b="1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M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on a binary tree, with the depth limit varying from 0 to 3. </a:t>
            </a:r>
          </a:p>
          <a:p>
            <a:pPr algn="l"/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572662159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4D51-46E5-DD70-AB7D-2F8F3C7C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E94E0-EC2F-7094-AD04-6477863B22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615423" cy="803546"/>
          </a:xfrm>
        </p:spPr>
        <p:txBody>
          <a:bodyPr>
            <a:normAutofit/>
          </a:bodyPr>
          <a:lstStyle/>
          <a:p>
            <a:r>
              <a:rPr lang="en-US" dirty="0"/>
              <a:t>Depth limited search &amp; Iterative deepening</a:t>
            </a:r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6079A783-A7C6-0091-701F-A0B82CB6FF2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87" r="48956" b="80877"/>
          <a:stretch/>
        </p:blipFill>
        <p:spPr>
          <a:xfrm>
            <a:off x="2167377" y="3920854"/>
            <a:ext cx="16620099" cy="3648346"/>
          </a:xfrm>
          <a:prstGeom prst="rect">
            <a:avLst/>
          </a:prstGeom>
        </p:spPr>
      </p:pic>
      <p:pic>
        <p:nvPicPr>
          <p:cNvPr id="4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635AB022-CFF7-A888-BC4B-FA0FBD7D21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69" t="7287" b="80877"/>
          <a:stretch/>
        </p:blipFill>
        <p:spPr>
          <a:xfrm>
            <a:off x="3568279" y="8266780"/>
            <a:ext cx="16192517" cy="3648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63F5D6-8C7F-4E29-416B-8F35864C505C}"/>
                  </a:ext>
                </a:extLst>
              </p:cNvPr>
              <p:cNvSpPr txBox="1"/>
              <p:nvPr/>
            </p:nvSpPr>
            <p:spPr>
              <a:xfrm>
                <a:off x="4866132" y="4731012"/>
                <a:ext cx="768095" cy="6565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i="1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36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63F5D6-8C7F-4E29-416B-8F35864C5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6132" y="4731012"/>
                <a:ext cx="768095" cy="656590"/>
              </a:xfrm>
              <a:prstGeom prst="rect">
                <a:avLst/>
              </a:prstGeom>
              <a:blipFill>
                <a:blip r:embed="rId3"/>
                <a:stretch>
                  <a:fillRect l="-21311" r="-4918" b="-2075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032CBA-5861-FB21-F5D2-74C8E26A2F45}"/>
                  </a:ext>
                </a:extLst>
              </p:cNvPr>
              <p:cNvSpPr txBox="1"/>
              <p:nvPr/>
            </p:nvSpPr>
            <p:spPr>
              <a:xfrm>
                <a:off x="12119064" y="4559744"/>
                <a:ext cx="913968" cy="6565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i="1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3600" b="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36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032CBA-5861-FB21-F5D2-74C8E26A2F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9064" y="4559744"/>
                <a:ext cx="913968" cy="656590"/>
              </a:xfrm>
              <a:prstGeom prst="rect">
                <a:avLst/>
              </a:prstGeom>
              <a:blipFill>
                <a:blip r:embed="rId4"/>
                <a:stretch>
                  <a:fillRect l="-17808" r="-4110" b="-2115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8E5C79-A143-5AAF-072B-FE9EF0363F50}"/>
                  </a:ext>
                </a:extLst>
              </p:cNvPr>
              <p:cNvSpPr txBox="1"/>
              <p:nvPr/>
            </p:nvSpPr>
            <p:spPr>
              <a:xfrm>
                <a:off x="12066741" y="9104495"/>
                <a:ext cx="1018612" cy="6565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i="1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3600" b="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36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8E5C79-A143-5AAF-072B-FE9EF0363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6741" y="9104495"/>
                <a:ext cx="1018612" cy="656590"/>
              </a:xfrm>
              <a:prstGeom prst="rect">
                <a:avLst/>
              </a:prstGeom>
              <a:blipFill>
                <a:blip r:embed="rId5"/>
                <a:stretch>
                  <a:fillRect l="-14634" r="-3659" b="-2115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BAE67E-EE01-3747-BB31-212D600F3DAF}"/>
                  </a:ext>
                </a:extLst>
              </p:cNvPr>
              <p:cNvSpPr txBox="1"/>
              <p:nvPr/>
            </p:nvSpPr>
            <p:spPr>
              <a:xfrm>
                <a:off x="4716177" y="9089747"/>
                <a:ext cx="1059842" cy="6565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i="1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3600" b="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𝑖𝑖</m:t>
                      </m:r>
                      <m:r>
                        <a:rPr lang="en-US" sz="36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BAE67E-EE01-3747-BB31-212D600F3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177" y="9089747"/>
                <a:ext cx="1059842" cy="656590"/>
              </a:xfrm>
              <a:prstGeom prst="rect">
                <a:avLst/>
              </a:prstGeom>
              <a:blipFill>
                <a:blip r:embed="rId6"/>
                <a:stretch>
                  <a:fillRect l="-14118" r="-2353" b="-2075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6259893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4D51-46E5-DD70-AB7D-2F8F3C7C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E94E0-EC2F-7094-AD04-6477863B22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615423" cy="803546"/>
          </a:xfrm>
        </p:spPr>
        <p:txBody>
          <a:bodyPr>
            <a:normAutofit/>
          </a:bodyPr>
          <a:lstStyle/>
          <a:p>
            <a:r>
              <a:rPr lang="en-US" dirty="0"/>
              <a:t>Depth limited search &amp; Iterative deepening</a:t>
            </a:r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6079A783-A7C6-0091-701F-A0B82CB6FF2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20" r="49438" b="65156"/>
          <a:stretch/>
        </p:blipFill>
        <p:spPr>
          <a:xfrm>
            <a:off x="2824602" y="2821501"/>
            <a:ext cx="17806548" cy="5142116"/>
          </a:xfrm>
          <a:prstGeom prst="rect">
            <a:avLst/>
          </a:prstGeom>
        </p:spPr>
      </p:pic>
      <p:pic>
        <p:nvPicPr>
          <p:cNvPr id="4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121312CE-61D7-D051-AC1C-9A45001C10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62" t="19420" b="65156"/>
          <a:stretch/>
        </p:blipFill>
        <p:spPr>
          <a:xfrm>
            <a:off x="4196878" y="7574105"/>
            <a:ext cx="17304694" cy="5110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F0039E-7436-38BF-DA41-E34609D6365F}"/>
                  </a:ext>
                </a:extLst>
              </p:cNvPr>
              <p:cNvSpPr txBox="1"/>
              <p:nvPr/>
            </p:nvSpPr>
            <p:spPr>
              <a:xfrm>
                <a:off x="5637657" y="4044044"/>
                <a:ext cx="768095" cy="6565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i="1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36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F0039E-7436-38BF-DA41-E34609D63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657" y="4044044"/>
                <a:ext cx="768095" cy="656590"/>
              </a:xfrm>
              <a:prstGeom prst="rect">
                <a:avLst/>
              </a:prstGeom>
              <a:blipFill>
                <a:blip r:embed="rId3"/>
                <a:stretch>
                  <a:fillRect l="-21311" r="-4918" b="-2075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E4958B-8DC9-38AF-D116-96E170D63929}"/>
                  </a:ext>
                </a:extLst>
              </p:cNvPr>
              <p:cNvSpPr txBox="1"/>
              <p:nvPr/>
            </p:nvSpPr>
            <p:spPr>
              <a:xfrm>
                <a:off x="12890589" y="3872776"/>
                <a:ext cx="913968" cy="6565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i="1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3600" b="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36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E4958B-8DC9-38AF-D116-96E170D63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0589" y="3872776"/>
                <a:ext cx="913968" cy="656590"/>
              </a:xfrm>
              <a:prstGeom prst="rect">
                <a:avLst/>
              </a:prstGeom>
              <a:blipFill>
                <a:blip r:embed="rId4"/>
                <a:stretch>
                  <a:fillRect l="-17808" r="-4110" b="-2264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6AB009-D071-355A-4E8B-731DBF24DF30}"/>
                  </a:ext>
                </a:extLst>
              </p:cNvPr>
              <p:cNvSpPr txBox="1"/>
              <p:nvPr/>
            </p:nvSpPr>
            <p:spPr>
              <a:xfrm>
                <a:off x="12838266" y="8417527"/>
                <a:ext cx="1018612" cy="6565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i="1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3600" b="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36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6AB009-D071-355A-4E8B-731DBF24D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8266" y="8417527"/>
                <a:ext cx="1018612" cy="656590"/>
              </a:xfrm>
              <a:prstGeom prst="rect">
                <a:avLst/>
              </a:prstGeom>
              <a:blipFill>
                <a:blip r:embed="rId5"/>
                <a:stretch>
                  <a:fillRect l="-14634" r="-2439" b="-2075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408843B-2B38-DCE4-2C70-4E27226BD627}"/>
                  </a:ext>
                </a:extLst>
              </p:cNvPr>
              <p:cNvSpPr txBox="1"/>
              <p:nvPr/>
            </p:nvSpPr>
            <p:spPr>
              <a:xfrm>
                <a:off x="5487702" y="8402779"/>
                <a:ext cx="1059842" cy="6565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i="1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3600" b="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𝑖𝑖</m:t>
                      </m:r>
                      <m:r>
                        <a:rPr lang="en-US" sz="36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408843B-2B38-DCE4-2C70-4E27226BD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7702" y="8402779"/>
                <a:ext cx="1059842" cy="656590"/>
              </a:xfrm>
              <a:prstGeom prst="rect">
                <a:avLst/>
              </a:prstGeom>
              <a:blipFill>
                <a:blip r:embed="rId6"/>
                <a:stretch>
                  <a:fillRect l="-14286" r="-3571" b="-2075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7664515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4D51-46E5-DD70-AB7D-2F8F3C7C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E94E0-EC2F-7094-AD04-6477863B22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615423" cy="803546"/>
          </a:xfrm>
        </p:spPr>
        <p:txBody>
          <a:bodyPr>
            <a:normAutofit/>
          </a:bodyPr>
          <a:lstStyle/>
          <a:p>
            <a:r>
              <a:rPr lang="en-US" dirty="0"/>
              <a:t>Depth limited search &amp; Iterative deepening</a:t>
            </a:r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6079A783-A7C6-0091-701F-A0B82CB6FF2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44" r="48482" b="50101"/>
          <a:stretch/>
        </p:blipFill>
        <p:spPr>
          <a:xfrm>
            <a:off x="2724150" y="4055017"/>
            <a:ext cx="18378048" cy="5084016"/>
          </a:xfrm>
          <a:prstGeom prst="rect">
            <a:avLst/>
          </a:prstGeom>
        </p:spPr>
      </p:pic>
      <p:pic>
        <p:nvPicPr>
          <p:cNvPr id="4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36DA3C7E-775C-F4B4-E3B5-0117C9C2B1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18" t="34844" b="50101"/>
          <a:stretch/>
        </p:blipFill>
        <p:spPr>
          <a:xfrm>
            <a:off x="4740802" y="8742454"/>
            <a:ext cx="16919048" cy="4973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D4C389-88E9-6AD3-29F0-16865C1C7A4A}"/>
                  </a:ext>
                </a:extLst>
              </p:cNvPr>
              <p:cNvSpPr txBox="1"/>
              <p:nvPr/>
            </p:nvSpPr>
            <p:spPr>
              <a:xfrm>
                <a:off x="5585335" y="4738925"/>
                <a:ext cx="872739" cy="6565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36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D4C389-88E9-6AD3-29F0-16865C1C7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335" y="4738925"/>
                <a:ext cx="872739" cy="656590"/>
              </a:xfrm>
              <a:prstGeom prst="rect">
                <a:avLst/>
              </a:prstGeom>
              <a:blipFill>
                <a:blip r:embed="rId3"/>
                <a:stretch>
                  <a:fillRect l="-17143" r="-4286" b="-2264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0DDCBE-8FEE-B6AE-5205-04667E36FA82}"/>
                  </a:ext>
                </a:extLst>
              </p:cNvPr>
              <p:cNvSpPr txBox="1"/>
              <p:nvPr/>
            </p:nvSpPr>
            <p:spPr>
              <a:xfrm>
                <a:off x="12837690" y="4567657"/>
                <a:ext cx="1019766" cy="6565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𝑣𝑖</m:t>
                      </m:r>
                      <m:r>
                        <a:rPr lang="en-US" sz="36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0DDCBE-8FEE-B6AE-5205-04667E36F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7690" y="4567657"/>
                <a:ext cx="1019766" cy="656590"/>
              </a:xfrm>
              <a:prstGeom prst="rect">
                <a:avLst/>
              </a:prstGeom>
              <a:blipFill>
                <a:blip r:embed="rId4"/>
                <a:stretch>
                  <a:fillRect l="-14634" r="-2439" b="-2075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7EA736-C550-99B8-4DF0-A68E27E8EC43}"/>
                  </a:ext>
                </a:extLst>
              </p:cNvPr>
              <p:cNvSpPr txBox="1"/>
              <p:nvPr/>
            </p:nvSpPr>
            <p:spPr>
              <a:xfrm>
                <a:off x="12691816" y="9112408"/>
                <a:ext cx="1311513" cy="6565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𝑣𝑖𝑖𝑖</m:t>
                      </m:r>
                      <m:r>
                        <a:rPr lang="en-US" sz="36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7EA736-C550-99B8-4DF0-A68E27E8E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1816" y="9112408"/>
                <a:ext cx="1311513" cy="656590"/>
              </a:xfrm>
              <a:prstGeom prst="rect">
                <a:avLst/>
              </a:prstGeom>
              <a:blipFill>
                <a:blip r:embed="rId5"/>
                <a:stretch>
                  <a:fillRect l="-12500" r="-2885" b="-2075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3CD6B5-636B-2BD7-2688-5F9DBFF302FD}"/>
                  </a:ext>
                </a:extLst>
              </p:cNvPr>
              <p:cNvSpPr txBox="1"/>
              <p:nvPr/>
            </p:nvSpPr>
            <p:spPr>
              <a:xfrm>
                <a:off x="5434803" y="9097660"/>
                <a:ext cx="1165640" cy="6565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𝑣𝑖𝑖</m:t>
                      </m:r>
                      <m:r>
                        <a:rPr lang="en-US" sz="36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3CD6B5-636B-2BD7-2688-5F9DBFF30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803" y="9097660"/>
                <a:ext cx="1165640" cy="656590"/>
              </a:xfrm>
              <a:prstGeom prst="rect">
                <a:avLst/>
              </a:prstGeom>
              <a:blipFill>
                <a:blip r:embed="rId6"/>
                <a:stretch>
                  <a:fillRect l="-14130" r="-3261" b="-2307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6624222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4D51-46E5-DD70-AB7D-2F8F3C7C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E94E0-EC2F-7094-AD04-6477863B22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615423" cy="803546"/>
          </a:xfrm>
        </p:spPr>
        <p:txBody>
          <a:bodyPr>
            <a:normAutofit/>
          </a:bodyPr>
          <a:lstStyle/>
          <a:p>
            <a:r>
              <a:rPr lang="en-US" dirty="0"/>
              <a:t>Depth limited search &amp; Iterative deepening</a:t>
            </a:r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6079A783-A7C6-0091-701F-A0B82CB6FF2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564" r="72032" b="32219"/>
          <a:stretch/>
        </p:blipFill>
        <p:spPr>
          <a:xfrm>
            <a:off x="2853176" y="3223274"/>
            <a:ext cx="16034899" cy="934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995705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4D51-46E5-DD70-AB7D-2F8F3C7C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E94E0-EC2F-7094-AD04-6477863B22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615423" cy="803546"/>
          </a:xfrm>
        </p:spPr>
        <p:txBody>
          <a:bodyPr>
            <a:normAutofit/>
          </a:bodyPr>
          <a:lstStyle/>
          <a:p>
            <a:r>
              <a:rPr lang="en-US" dirty="0"/>
              <a:t>Depth limited search &amp; Iterative deepening</a:t>
            </a:r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6079A783-A7C6-0091-701F-A0B82CB6FF2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45" t="50564" r="48908" b="31619"/>
          <a:stretch/>
        </p:blipFill>
        <p:spPr>
          <a:xfrm>
            <a:off x="4535853" y="3223274"/>
            <a:ext cx="13747268" cy="960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367739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4D51-46E5-DD70-AB7D-2F8F3C7C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E94E0-EC2F-7094-AD04-6477863B22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615423" cy="803546"/>
          </a:xfrm>
        </p:spPr>
        <p:txBody>
          <a:bodyPr>
            <a:normAutofit/>
          </a:bodyPr>
          <a:lstStyle/>
          <a:p>
            <a:r>
              <a:rPr lang="en-US" dirty="0"/>
              <a:t>Depth limited search &amp; Iterative deepening</a:t>
            </a:r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6079A783-A7C6-0091-701F-A0B82CB6FF2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49" t="50564" r="26326" b="31769"/>
          <a:stretch/>
        </p:blipFill>
        <p:spPr>
          <a:xfrm>
            <a:off x="5272405" y="3223274"/>
            <a:ext cx="13839190" cy="1018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833559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4D51-46E5-DD70-AB7D-2F8F3C7C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E94E0-EC2F-7094-AD04-6477863B22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615423" cy="803546"/>
          </a:xfrm>
        </p:spPr>
        <p:txBody>
          <a:bodyPr>
            <a:normAutofit/>
          </a:bodyPr>
          <a:lstStyle/>
          <a:p>
            <a:r>
              <a:rPr lang="en-US" dirty="0"/>
              <a:t>Depth limited search &amp; Iterative deepening</a:t>
            </a:r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6079A783-A7C6-0091-701F-A0B82CB6FF2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40" t="50564" r="1" b="32069"/>
          <a:stretch/>
        </p:blipFill>
        <p:spPr>
          <a:xfrm>
            <a:off x="4629150" y="3223274"/>
            <a:ext cx="16689242" cy="1036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235022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4D51-46E5-DD70-AB7D-2F8F3C7C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E94E0-EC2F-7094-AD04-6477863B22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615423" cy="803546"/>
          </a:xfrm>
        </p:spPr>
        <p:txBody>
          <a:bodyPr>
            <a:normAutofit/>
          </a:bodyPr>
          <a:lstStyle/>
          <a:p>
            <a:r>
              <a:rPr lang="en-US" dirty="0"/>
              <a:t>Depth limited search &amp; Iterative deepening</a:t>
            </a:r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6079A783-A7C6-0091-701F-A0B82CB6FF2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074" r="72174" b="16035"/>
          <a:stretch/>
        </p:blipFill>
        <p:spPr>
          <a:xfrm>
            <a:off x="2167377" y="4343400"/>
            <a:ext cx="17336486" cy="937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50416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4D51-46E5-DD70-AB7D-2F8F3C7C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E94E0-EC2F-7094-AD04-6477863B22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615423" cy="803546"/>
          </a:xfrm>
        </p:spPr>
        <p:txBody>
          <a:bodyPr>
            <a:normAutofit/>
          </a:bodyPr>
          <a:lstStyle/>
          <a:p>
            <a:r>
              <a:rPr lang="en-US" dirty="0"/>
              <a:t>Depth limited search &amp; Iterative deepening</a:t>
            </a:r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6079A783-A7C6-0091-701F-A0B82CB6FF2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68" t="67631" r="49192" b="16184"/>
          <a:stretch/>
        </p:blipFill>
        <p:spPr>
          <a:xfrm>
            <a:off x="4834215" y="3844687"/>
            <a:ext cx="14715569" cy="987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271052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4D51-46E5-DD70-AB7D-2F8F3C7C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E94E0-EC2F-7094-AD04-6477863B22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615423" cy="803546"/>
          </a:xfrm>
        </p:spPr>
        <p:txBody>
          <a:bodyPr>
            <a:normAutofit/>
          </a:bodyPr>
          <a:lstStyle/>
          <a:p>
            <a:r>
              <a:rPr lang="en-US" dirty="0"/>
              <a:t>Depth limited search &amp; Iterative deepening</a:t>
            </a:r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6079A783-A7C6-0091-701F-A0B82CB6FF2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91" t="67631" r="25785" b="16184"/>
          <a:stretch/>
        </p:blipFill>
        <p:spPr>
          <a:xfrm>
            <a:off x="4619625" y="3681442"/>
            <a:ext cx="15144750" cy="1003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775026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4D51-46E5-DD70-AB7D-2F8F3C7C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E94E0-EC2F-7094-AD04-6477863B22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615423" cy="803546"/>
          </a:xfrm>
        </p:spPr>
        <p:txBody>
          <a:bodyPr>
            <a:normAutofit/>
          </a:bodyPr>
          <a:lstStyle/>
          <a:p>
            <a:r>
              <a:rPr lang="en-US" dirty="0"/>
              <a:t>Depth limited search &amp; Iterative deepening</a:t>
            </a:r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6079A783-A7C6-0091-701F-A0B82CB6FF2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73" t="67931" r="2378" b="16184"/>
          <a:stretch/>
        </p:blipFill>
        <p:spPr>
          <a:xfrm>
            <a:off x="4319587" y="3662076"/>
            <a:ext cx="15744826" cy="1005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833065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4D51-46E5-DD70-AB7D-2F8F3C7C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E94E0-EC2F-7094-AD04-6477863B22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615423" cy="803546"/>
          </a:xfrm>
        </p:spPr>
        <p:txBody>
          <a:bodyPr>
            <a:normAutofit/>
          </a:bodyPr>
          <a:lstStyle/>
          <a:p>
            <a:r>
              <a:rPr lang="en-US" dirty="0"/>
              <a:t>Depth limited search &amp; Iterative deepening</a:t>
            </a:r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6079A783-A7C6-0091-701F-A0B82CB6FF2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367" r="72032" b="-1"/>
          <a:stretch/>
        </p:blipFill>
        <p:spPr>
          <a:xfrm>
            <a:off x="1281552" y="3403538"/>
            <a:ext cx="17806548" cy="1002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735426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4D51-46E5-DD70-AB7D-2F8F3C7C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E94E0-EC2F-7094-AD04-6477863B22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615423" cy="803546"/>
          </a:xfrm>
        </p:spPr>
        <p:txBody>
          <a:bodyPr>
            <a:normAutofit/>
          </a:bodyPr>
          <a:lstStyle/>
          <a:p>
            <a:r>
              <a:rPr lang="en-US" dirty="0"/>
              <a:t>Depth limited search &amp; Iterative deepening</a:t>
            </a:r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6079A783-A7C6-0091-701F-A0B82CB6FF2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68" t="83367" r="49051" b="-1"/>
          <a:stretch/>
        </p:blipFill>
        <p:spPr>
          <a:xfrm>
            <a:off x="4655150" y="3387727"/>
            <a:ext cx="15073700" cy="1032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98948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4D51-46E5-DD70-AB7D-2F8F3C7C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E94E0-EC2F-7094-AD04-6477863B22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615423" cy="803546"/>
          </a:xfrm>
        </p:spPr>
        <p:txBody>
          <a:bodyPr>
            <a:normAutofit/>
          </a:bodyPr>
          <a:lstStyle/>
          <a:p>
            <a:r>
              <a:rPr lang="en-US" dirty="0"/>
              <a:t>Depth limited search &amp; Iterative deepening</a:t>
            </a:r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6079A783-A7C6-0091-701F-A0B82CB6FF2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07" t="83666" r="25928"/>
          <a:stretch/>
        </p:blipFill>
        <p:spPr>
          <a:xfrm>
            <a:off x="4562475" y="3574317"/>
            <a:ext cx="15259050" cy="1014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141813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4D51-46E5-DD70-AB7D-2F8F3C7C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E94E0-EC2F-7094-AD04-6477863B22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615423" cy="803546"/>
          </a:xfrm>
        </p:spPr>
        <p:txBody>
          <a:bodyPr>
            <a:normAutofit/>
          </a:bodyPr>
          <a:lstStyle/>
          <a:p>
            <a:r>
              <a:rPr lang="en-US" dirty="0"/>
              <a:t>Depth limited search &amp; Iterative deepening</a:t>
            </a:r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6079A783-A7C6-0091-701F-A0B82CB6FF2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15" t="83367" r="1812" b="-1"/>
          <a:stretch/>
        </p:blipFill>
        <p:spPr>
          <a:xfrm>
            <a:off x="4419600" y="3260663"/>
            <a:ext cx="15544800" cy="10209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518715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Case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Simulating searching</a:t>
            </a: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C2FA1526-0BDD-D64F-3D2B-7F45E36DD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226" y="3480083"/>
            <a:ext cx="18999547" cy="900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236476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Case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Simulating searching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Simulate the node expansion from start state (S) to reach goal state (G)​ using: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BFS,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DFS,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UCS​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C0B5476-8CB4-A1CA-3681-65525A896892}"/>
              </a:ext>
            </a:extLst>
          </p:cNvPr>
          <p:cNvSpPr txBox="1">
            <a:spLocks/>
          </p:cNvSpPr>
          <p:nvPr/>
        </p:nvSpPr>
        <p:spPr>
          <a:xfrm>
            <a:off x="6395235" y="7902470"/>
            <a:ext cx="10212662" cy="4819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endParaRPr lang="en-US" sz="54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BE85843-B1E7-A58A-7D4F-61486AC74867}"/>
              </a:ext>
            </a:extLst>
          </p:cNvPr>
          <p:cNvSpPr txBox="1">
            <a:spLocks/>
          </p:cNvSpPr>
          <p:nvPr/>
        </p:nvSpPr>
        <p:spPr>
          <a:xfrm>
            <a:off x="11193792" y="7902469"/>
            <a:ext cx="7761794" cy="4819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endParaRPr lang="en-US" sz="54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098845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3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149698" cy="979811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Russell, S. J., Norvig, P., Chang, M., Devlin, J., Dragan, A., Forsyth, D., Goodfellow, I., Malik, J.,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</a:rPr>
              <a:t>Mansinghka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, V., Pearl, J., &amp; Wooldridge, M. J. (2022). Artificial intelligence: A modern approach (Fourth edition, global edition). Pearson.</a:t>
            </a:r>
          </a:p>
          <a:p>
            <a:pPr>
              <a:spcBef>
                <a:spcPts val="600"/>
              </a:spcBef>
            </a:pPr>
            <a:r>
              <a:rPr lang="en-US" sz="3600" dirty="0" err="1">
                <a:solidFill>
                  <a:schemeClr val="bg2">
                    <a:lumMod val="10000"/>
                  </a:schemeClr>
                </a:solidFill>
              </a:rPr>
              <a:t>Tinelli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, C. (2017). Problem Solving by Search. CS:4420 Artificial Intelligence. https://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</a:rPr>
              <a:t>homepage.cs.uiowa.edu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/~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</a:rPr>
              <a:t>tinelli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/classes/4420/Spring17/notes/3-problem-solving.pdf</a:t>
            </a:r>
          </a:p>
          <a:p>
            <a:pPr>
              <a:spcBef>
                <a:spcPts val="600"/>
              </a:spcBef>
            </a:pPr>
            <a:r>
              <a:rPr lang="en-US" sz="3600" dirty="0" err="1">
                <a:solidFill>
                  <a:schemeClr val="bg2">
                    <a:lumMod val="10000"/>
                  </a:schemeClr>
                </a:solidFill>
              </a:rPr>
              <a:t>Tinelli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, C. (2017). Uninformed Search. CS:4420 Artificial Intelligence. https://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</a:rPr>
              <a:t>homepage.cs.uiowa.edu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/~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</a:rPr>
              <a:t>tinelli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/classes/4420/Spring17/notes/3a-uninformed-search.pdf</a:t>
            </a:r>
          </a:p>
          <a:p>
            <a:pPr>
              <a:spcBef>
                <a:spcPts val="600"/>
              </a:spcBef>
            </a:pPr>
            <a:r>
              <a:rPr lang="en-US" sz="3600" dirty="0" err="1">
                <a:solidFill>
                  <a:schemeClr val="bg2">
                    <a:lumMod val="10000"/>
                  </a:schemeClr>
                </a:solidFill>
              </a:rPr>
              <a:t>Tinelli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, C. (2017). Informed Search. CS:4420 Artificial Intelligence. https://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</a:rPr>
              <a:t>homepage.cs.uiowa.edu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/~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</a:rPr>
              <a:t>tinelli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/classes/4420/Spring17/notes/3b-informed-search.pdf </a:t>
            </a:r>
          </a:p>
          <a:p>
            <a:pPr>
              <a:spcBef>
                <a:spcPts val="6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Bacchus, F. (n.d.). Search. CSC384 Introduction to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</a:rPr>
              <a:t>Artficial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 Intelligence. Retrieved October 20, 2023, from https://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</a:rPr>
              <a:t>www.cs.toronto.edu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/~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</a:rPr>
              <a:t>fbacchus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/csc384/Lectures/csc384-Lecture02-Search.pdf </a:t>
            </a:r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670</TotalTime>
  <Words>1573</Words>
  <Application>Microsoft Office PowerPoint</Application>
  <PresentationFormat>Custom</PresentationFormat>
  <Paragraphs>195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7" baseType="lpstr">
      <vt:lpstr>Open Sans Light</vt:lpstr>
      <vt:lpstr>Open Sans</vt:lpstr>
      <vt:lpstr>Wingdings</vt:lpstr>
      <vt:lpstr>OCRB</vt:lpstr>
      <vt:lpstr>Cambria Math</vt:lpstr>
      <vt:lpstr>Courier New</vt:lpstr>
      <vt:lpstr>Helvetica Neue</vt:lpstr>
      <vt:lpstr>Arial</vt:lpstr>
      <vt:lpstr>Open Sans ExtraBold</vt:lpstr>
      <vt:lpstr>Open Sans Semibold</vt:lpstr>
      <vt:lpstr>21_BasicWhite</vt:lpstr>
      <vt:lpstr>Search: State Space, Uninformed search</vt:lpstr>
      <vt:lpstr>Learning Outcomes</vt:lpstr>
      <vt:lpstr>outline</vt:lpstr>
      <vt:lpstr>Search</vt:lpstr>
      <vt:lpstr>Search</vt:lpstr>
      <vt:lpstr>Search</vt:lpstr>
      <vt:lpstr>Search</vt:lpstr>
      <vt:lpstr>Representing a problem: the formalism</vt:lpstr>
      <vt:lpstr>Representing a problem: the formalism</vt:lpstr>
      <vt:lpstr>Representing a problem: the formalism</vt:lpstr>
      <vt:lpstr>Representing a problem: the formalism</vt:lpstr>
      <vt:lpstr>Representing a problem: the formalism</vt:lpstr>
      <vt:lpstr>Representing a problem: the formalism</vt:lpstr>
      <vt:lpstr>Representing a problem: the formalism</vt:lpstr>
      <vt:lpstr>Problem solving as search</vt:lpstr>
      <vt:lpstr>Uninformed search</vt:lpstr>
      <vt:lpstr>Uninformed search</vt:lpstr>
      <vt:lpstr>Uninformed search</vt:lpstr>
      <vt:lpstr>Uninformed search</vt:lpstr>
      <vt:lpstr>Uninformed search</vt:lpstr>
      <vt:lpstr>Uninformed search</vt:lpstr>
      <vt:lpstr>Uninformed search</vt:lpstr>
      <vt:lpstr>Uninformed search</vt:lpstr>
      <vt:lpstr>Uninformed search</vt:lpstr>
      <vt:lpstr>Uninformed search</vt:lpstr>
      <vt:lpstr>Uninformed search</vt:lpstr>
      <vt:lpstr>Uninformed search</vt:lpstr>
      <vt:lpstr>Uninformed search</vt:lpstr>
      <vt:lpstr>Uninformed search</vt:lpstr>
      <vt:lpstr>Uninformed search</vt:lpstr>
      <vt:lpstr>Uninformed search</vt:lpstr>
      <vt:lpstr>Uninformed search</vt:lpstr>
      <vt:lpstr>Uninformed search</vt:lpstr>
      <vt:lpstr>Uninformed search</vt:lpstr>
      <vt:lpstr>Uninformed search</vt:lpstr>
      <vt:lpstr>Uninformed search</vt:lpstr>
      <vt:lpstr>Uninformed search</vt:lpstr>
      <vt:lpstr>Uninformed search</vt:lpstr>
      <vt:lpstr>Uninformed search</vt:lpstr>
      <vt:lpstr>Uninformed search</vt:lpstr>
      <vt:lpstr>Uninformed search</vt:lpstr>
      <vt:lpstr>Uninformed search</vt:lpstr>
      <vt:lpstr>Uninformed search</vt:lpstr>
      <vt:lpstr>Case study</vt:lpstr>
      <vt:lpstr>Case study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Henry Lucky</cp:lastModifiedBy>
  <cp:revision>42</cp:revision>
  <dcterms:created xsi:type="dcterms:W3CDTF">2023-11-17T02:51:40Z</dcterms:created>
  <dcterms:modified xsi:type="dcterms:W3CDTF">2024-12-14T04:37:00Z</dcterms:modified>
</cp:coreProperties>
</file>