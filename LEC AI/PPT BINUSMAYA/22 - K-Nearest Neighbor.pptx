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21"/>
  </p:notesMasterIdLst>
  <p:sldIdLst>
    <p:sldId id="290" r:id="rId2"/>
    <p:sldId id="257" r:id="rId3"/>
    <p:sldId id="258" r:id="rId4"/>
    <p:sldId id="291" r:id="rId5"/>
    <p:sldId id="292" r:id="rId6"/>
    <p:sldId id="293" r:id="rId7"/>
    <p:sldId id="294" r:id="rId8"/>
    <p:sldId id="295" r:id="rId9"/>
    <p:sldId id="299" r:id="rId10"/>
    <p:sldId id="300" r:id="rId11"/>
    <p:sldId id="298" r:id="rId12"/>
    <p:sldId id="301" r:id="rId13"/>
    <p:sldId id="302" r:id="rId14"/>
    <p:sldId id="303" r:id="rId15"/>
    <p:sldId id="304" r:id="rId16"/>
    <p:sldId id="305" r:id="rId17"/>
    <p:sldId id="296" r:id="rId18"/>
    <p:sldId id="306" r:id="rId19"/>
    <p:sldId id="278" r:id="rId20"/>
  </p:sldIdLst>
  <p:sldSz cx="24384000" cy="13716000"/>
  <p:notesSz cx="6858000" cy="9144000"/>
  <p:embeddedFontLst>
    <p:embeddedFont>
      <p:font typeface="Cambria Math" panose="02040503050406030204" pitchFamily="18" charset="0"/>
      <p:regular r:id="rId22"/>
    </p:embeddedFont>
    <p:embeddedFont>
      <p:font typeface="OCRB" panose="020B0609020202020204" pitchFamily="49" charset="0"/>
      <p:regular r:id="rId23"/>
    </p:embeddedFont>
    <p:embeddedFont>
      <p:font typeface="Open Sans" panose="020B0606030504020204" pitchFamily="34" charset="0"/>
      <p:regular r:id="rId24"/>
      <p:bold r:id="rId25"/>
      <p:italic r:id="rId26"/>
      <p:boldItalic r:id="rId27"/>
    </p:embeddedFont>
    <p:embeddedFont>
      <p:font typeface="Open Sans ExtraBold" panose="020B0906030804020204" pitchFamily="34" charset="0"/>
      <p:bold r:id="rId28"/>
      <p:italic r:id="rId29"/>
      <p:boldItalic r:id="rId30"/>
    </p:embeddedFont>
    <p:embeddedFont>
      <p:font typeface="Open Sans Light" panose="020B0306030504020204" pitchFamily="34" charset="0"/>
      <p:regular r:id="rId31"/>
      <p:italic r:id="rId32"/>
    </p:embeddedFont>
    <p:embeddedFont>
      <p:font typeface="Open Sans Semibold" panose="020B0706030804020204" pitchFamily="34" charset="0"/>
      <p:regular r:id="rId33"/>
      <p:bold r:id="rId34"/>
      <p:italic r:id="rId35"/>
      <p:boldItalic r:id="rId36"/>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B5FF"/>
    <a:srgbClr val="F5AF36"/>
    <a:srgbClr val="314F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41" autoAdjust="0"/>
    <p:restoredTop sz="91003"/>
  </p:normalViewPr>
  <p:slideViewPr>
    <p:cSldViewPr snapToGrid="0" snapToObjects="1">
      <p:cViewPr varScale="1">
        <p:scale>
          <a:sx n="31" d="100"/>
          <a:sy n="31" d="100"/>
        </p:scale>
        <p:origin x="1080" y="102"/>
      </p:cViewPr>
      <p:guideLst>
        <p:guide orient="horz" pos="4320"/>
        <p:guide pos="76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9" Type="http://schemas.openxmlformats.org/officeDocument/2006/relationships/theme" Target="theme/theme1.xml"/><Relationship Id="rId21" Type="http://schemas.openxmlformats.org/officeDocument/2006/relationships/notesMaster" Target="notesMasters/notesMaster1.xml"/><Relationship Id="rId34" Type="http://schemas.openxmlformats.org/officeDocument/2006/relationships/font" Target="fonts/font1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font" Target="fonts/font1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font" Target="fonts/font14.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svg"/><Relationship Id="rId7" Type="http://schemas.openxmlformats.org/officeDocument/2006/relationships/image" Target="../media/image13.svg"/><Relationship Id="rId12"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12.png"/><Relationship Id="rId11" Type="http://schemas.openxmlformats.org/officeDocument/2006/relationships/image" Target="../media/image5.png"/><Relationship Id="rId5" Type="http://schemas.openxmlformats.org/officeDocument/2006/relationships/image" Target="../media/image11.svg"/><Relationship Id="rId10" Type="http://schemas.openxmlformats.org/officeDocument/2006/relationships/image" Target="../media/image4.png"/><Relationship Id="rId4" Type="http://schemas.openxmlformats.org/officeDocument/2006/relationships/image" Target="../media/image10.png"/><Relationship Id="rId9" Type="http://schemas.openxmlformats.org/officeDocument/2006/relationships/image" Target="../media/image15.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9.svg"/><Relationship Id="rId7" Type="http://schemas.openxmlformats.org/officeDocument/2006/relationships/image" Target="../media/image5.png"/><Relationship Id="rId2" Type="http://schemas.openxmlformats.org/officeDocument/2006/relationships/image" Target="../media/image18.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21.svg"/><Relationship Id="rId4" Type="http://schemas.openxmlformats.org/officeDocument/2006/relationships/image" Target="../media/image20.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US" dirty="0"/>
              <a:t>Title</a:t>
            </a:r>
            <a:endParaRPr dirty="0"/>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5" name="Picture 4">
            <a:extLst>
              <a:ext uri="{FF2B5EF4-FFF2-40B4-BE49-F238E27FC236}">
                <a16:creationId xmlns:a16="http://schemas.microsoft.com/office/drawing/2014/main" id="{7D72B8CD-2B60-168D-460C-3FFD38B69D8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1009027" y="758208"/>
            <a:ext cx="2698754" cy="1143002"/>
          </a:xfrm>
          <a:prstGeom prst="rect">
            <a:avLst/>
          </a:prstGeom>
        </p:spPr>
      </p:pic>
      <p:pic>
        <p:nvPicPr>
          <p:cNvPr id="7" name="Image" descr="Image">
            <a:extLst>
              <a:ext uri="{FF2B5EF4-FFF2-40B4-BE49-F238E27FC236}">
                <a16:creationId xmlns:a16="http://schemas.microsoft.com/office/drawing/2014/main" id="{69A49E29-524D-6392-0485-9DF63C0D6D3D}"/>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409412486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1" name="Content Placeholder 7">
            <a:extLst>
              <a:ext uri="{FF2B5EF4-FFF2-40B4-BE49-F238E27FC236}">
                <a16:creationId xmlns:a16="http://schemas.microsoft.com/office/drawing/2014/main" id="{CCD29839-25B4-3D48-8D8C-B1D859A74A9A}"/>
              </a:ext>
            </a:extLst>
          </p:cNvPr>
          <p:cNvSpPr>
            <a:spLocks noGrp="1"/>
          </p:cNvSpPr>
          <p:nvPr>
            <p:ph sz="quarter" idx="11"/>
          </p:nvPr>
        </p:nvSpPr>
        <p:spPr>
          <a:xfrm>
            <a:off x="2163188" y="3260663"/>
            <a:ext cx="20057623" cy="8583279"/>
          </a:xfrm>
        </p:spPr>
        <p:txBody>
          <a:bodyPr>
            <a:normAutofit/>
          </a:bodyPr>
          <a:lstStyle>
            <a:lvl1pPr marL="742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7pPr marL="3657600" indent="0">
              <a:buNone/>
              <a:defRPr/>
            </a:lvl7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a:extLst>
              <a:ext uri="{FF2B5EF4-FFF2-40B4-BE49-F238E27FC236}">
                <a16:creationId xmlns:a16="http://schemas.microsoft.com/office/drawing/2014/main" id="{2CB39841-01E8-3B46-1169-9D75B18B74D3}"/>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2" name="Group">
            <a:extLst>
              <a:ext uri="{FF2B5EF4-FFF2-40B4-BE49-F238E27FC236}">
                <a16:creationId xmlns:a16="http://schemas.microsoft.com/office/drawing/2014/main" id="{AC8C371E-C0F6-4081-3D3F-D6E3528C4285}"/>
              </a:ext>
            </a:extLst>
          </p:cNvPr>
          <p:cNvGrpSpPr/>
          <p:nvPr userDrawn="1"/>
        </p:nvGrpSpPr>
        <p:grpSpPr>
          <a:xfrm>
            <a:off x="756659" y="-3867"/>
            <a:ext cx="2783909" cy="2014172"/>
            <a:chOff x="-2864397" y="0"/>
            <a:chExt cx="2783907" cy="2014171"/>
          </a:xfrm>
        </p:grpSpPr>
        <p:pic>
          <p:nvPicPr>
            <p:cNvPr id="4" name="Image" descr="Image">
              <a:extLst>
                <a:ext uri="{FF2B5EF4-FFF2-40B4-BE49-F238E27FC236}">
                  <a16:creationId xmlns:a16="http://schemas.microsoft.com/office/drawing/2014/main" id="{521B05C9-D576-5C9F-B6FD-5FB48D1A784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6" name="Image" descr="Image">
              <a:extLst>
                <a:ext uri="{FF2B5EF4-FFF2-40B4-BE49-F238E27FC236}">
                  <a16:creationId xmlns:a16="http://schemas.microsoft.com/office/drawing/2014/main" id="{BAAB4BAE-E916-72F8-967D-ECE287538CAD}"/>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7" name="Image" descr="Image">
              <a:extLst>
                <a:ext uri="{FF2B5EF4-FFF2-40B4-BE49-F238E27FC236}">
                  <a16:creationId xmlns:a16="http://schemas.microsoft.com/office/drawing/2014/main" id="{4B27BB17-04E8-65DD-1C87-6ECA478DD2AB}"/>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0902452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ID" dirty="0"/>
              <a:t>Title</a:t>
            </a:r>
            <a:endParaRPr dirty="0"/>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4" name="Picture 3">
            <a:extLst>
              <a:ext uri="{FF2B5EF4-FFF2-40B4-BE49-F238E27FC236}">
                <a16:creationId xmlns:a16="http://schemas.microsoft.com/office/drawing/2014/main" id="{22412E04-E7E5-6907-9DD0-CE975EF3839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1009028" y="758208"/>
            <a:ext cx="2698754" cy="1143002"/>
          </a:xfrm>
          <a:prstGeom prst="rect">
            <a:avLst/>
          </a:prstGeom>
        </p:spPr>
      </p:pic>
      <p:pic>
        <p:nvPicPr>
          <p:cNvPr id="5" name="Image" descr="Image">
            <a:extLst>
              <a:ext uri="{FF2B5EF4-FFF2-40B4-BE49-F238E27FC236}">
                <a16:creationId xmlns:a16="http://schemas.microsoft.com/office/drawing/2014/main" id="{926A66CA-CC36-3D53-1A6D-2BBE35B859D5}"/>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500318571"/>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C493109-42AD-F678-F34A-9DA73287D10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01451" y="758208"/>
            <a:ext cx="2698754" cy="1143002"/>
          </a:xfrm>
          <a:prstGeom prst="rect">
            <a:avLst/>
          </a:prstGeom>
        </p:spPr>
      </p:pic>
      <p:pic>
        <p:nvPicPr>
          <p:cNvPr id="3" name="Image" descr="Image">
            <a:extLst>
              <a:ext uri="{FF2B5EF4-FFF2-40B4-BE49-F238E27FC236}">
                <a16:creationId xmlns:a16="http://schemas.microsoft.com/office/drawing/2014/main" id="{B64D7030-BF7A-6737-0471-B16F6A5E9140}"/>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8262084"/>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pic>
        <p:nvPicPr>
          <p:cNvPr id="4" name="Picture 3">
            <a:extLst>
              <a:ext uri="{FF2B5EF4-FFF2-40B4-BE49-F238E27FC236}">
                <a16:creationId xmlns:a16="http://schemas.microsoft.com/office/drawing/2014/main" id="{76F37568-0478-FF67-A2F0-B1647C1EC99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24" y="758208"/>
            <a:ext cx="2698754" cy="1143002"/>
          </a:xfrm>
          <a:prstGeom prst="rect">
            <a:avLst/>
          </a:prstGeom>
        </p:spPr>
      </p:pic>
      <p:pic>
        <p:nvPicPr>
          <p:cNvPr id="6" name="Image" descr="Image">
            <a:extLst>
              <a:ext uri="{FF2B5EF4-FFF2-40B4-BE49-F238E27FC236}">
                <a16:creationId xmlns:a16="http://schemas.microsoft.com/office/drawing/2014/main" id="{97B52BDB-6F34-5E38-95B5-002D2E4627EA}"/>
              </a:ext>
            </a:extLst>
          </p:cNvPr>
          <p:cNvPicPr>
            <a:picLocks noChangeAspect="1"/>
          </p:cNvPicPr>
          <p:nvPr userDrawn="1"/>
        </p:nvPicPr>
        <p:blipFill>
          <a:blip r:embed="rId4"/>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182120862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8174CAF-8FC8-EDAE-768D-30BF9014380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24" y="758208"/>
            <a:ext cx="2698754" cy="1143002"/>
          </a:xfrm>
          <a:prstGeom prst="rect">
            <a:avLst/>
          </a:prstGeom>
        </p:spPr>
      </p:pic>
      <p:pic>
        <p:nvPicPr>
          <p:cNvPr id="3" name="Image" descr="Image">
            <a:extLst>
              <a:ext uri="{FF2B5EF4-FFF2-40B4-BE49-F238E27FC236}">
                <a16:creationId xmlns:a16="http://schemas.microsoft.com/office/drawing/2014/main" id="{023E32AF-B055-2D80-60DC-AD951FFC6ECA}"/>
              </a:ext>
            </a:extLst>
          </p:cNvPr>
          <p:cNvPicPr>
            <a:picLocks noChangeAspect="1"/>
          </p:cNvPicPr>
          <p:nvPr userDrawn="1"/>
        </p:nvPicPr>
        <p:blipFill>
          <a:blip r:embed="rId4"/>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402990515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2E3F9842-C644-B204-B6FB-F1DB2194706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3" name="Image" descr="Image">
            <a:extLst>
              <a:ext uri="{FF2B5EF4-FFF2-40B4-BE49-F238E27FC236}">
                <a16:creationId xmlns:a16="http://schemas.microsoft.com/office/drawing/2014/main" id="{171C5759-0A99-760B-64A0-C6156603CACB}"/>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48888290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4CFBCE66-A5E8-A158-9B31-BA9AFC1032C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F25DF897-C0D1-81DA-05D2-9D6EC69E200F}"/>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120730222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0"/>
            <a:ext cx="24497688" cy="13766800"/>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643DC583-F6CD-401E-7E06-373CCF95240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B18B5FE2-77F7-8983-B96D-E39C876C98D9}"/>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51268309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0"/>
            <a:ext cx="24497688" cy="13766800"/>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7353EC82-39FF-16C4-642C-2070D4989D3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479D2E17-CD2E-3750-65DE-315E0C44F517}"/>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3579463584"/>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3" name="Picture 2">
            <a:extLst>
              <a:ext uri="{FF2B5EF4-FFF2-40B4-BE49-F238E27FC236}">
                <a16:creationId xmlns:a16="http://schemas.microsoft.com/office/drawing/2014/main" id="{18947DDD-26C7-6643-F78E-7D846EE6166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4" name="Group">
            <a:extLst>
              <a:ext uri="{FF2B5EF4-FFF2-40B4-BE49-F238E27FC236}">
                <a16:creationId xmlns:a16="http://schemas.microsoft.com/office/drawing/2014/main" id="{7ECEA5DF-6E18-3A6E-8D5B-83F815F6641C}"/>
              </a:ext>
            </a:extLst>
          </p:cNvPr>
          <p:cNvGrpSpPr/>
          <p:nvPr userDrawn="1"/>
        </p:nvGrpSpPr>
        <p:grpSpPr>
          <a:xfrm>
            <a:off x="756659" y="-3867"/>
            <a:ext cx="2783909" cy="2014172"/>
            <a:chOff x="-2864397" y="0"/>
            <a:chExt cx="2783907" cy="2014171"/>
          </a:xfrm>
        </p:grpSpPr>
        <p:pic>
          <p:nvPicPr>
            <p:cNvPr id="7" name="Image" descr="Image">
              <a:extLst>
                <a:ext uri="{FF2B5EF4-FFF2-40B4-BE49-F238E27FC236}">
                  <a16:creationId xmlns:a16="http://schemas.microsoft.com/office/drawing/2014/main" id="{7091168A-CF21-90B0-E317-4D5837F6741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13" name="Image" descr="Image">
              <a:extLst>
                <a:ext uri="{FF2B5EF4-FFF2-40B4-BE49-F238E27FC236}">
                  <a16:creationId xmlns:a16="http://schemas.microsoft.com/office/drawing/2014/main" id="{66F1D347-8887-50E1-404D-81CA8EA95453}"/>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9" name="Image" descr="Image">
              <a:extLst>
                <a:ext uri="{FF2B5EF4-FFF2-40B4-BE49-F238E27FC236}">
                  <a16:creationId xmlns:a16="http://schemas.microsoft.com/office/drawing/2014/main" id="{31815DE4-517D-1DFD-DEB0-EFAEBDA0E36C}"/>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99810271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4" name="Picture 3">
            <a:extLst>
              <a:ext uri="{FF2B5EF4-FFF2-40B4-BE49-F238E27FC236}">
                <a16:creationId xmlns:a16="http://schemas.microsoft.com/office/drawing/2014/main" id="{4DA99AE5-3E66-BB3F-4028-3D48CC999F2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5" name="Group">
            <a:extLst>
              <a:ext uri="{FF2B5EF4-FFF2-40B4-BE49-F238E27FC236}">
                <a16:creationId xmlns:a16="http://schemas.microsoft.com/office/drawing/2014/main" id="{394FDA65-5E81-1098-0941-1FB18BED14DD}"/>
              </a:ext>
            </a:extLst>
          </p:cNvPr>
          <p:cNvGrpSpPr/>
          <p:nvPr userDrawn="1"/>
        </p:nvGrpSpPr>
        <p:grpSpPr>
          <a:xfrm>
            <a:off x="756659" y="-3867"/>
            <a:ext cx="2783909" cy="2014172"/>
            <a:chOff x="-2864397" y="0"/>
            <a:chExt cx="2783907" cy="2014171"/>
          </a:xfrm>
        </p:grpSpPr>
        <p:pic>
          <p:nvPicPr>
            <p:cNvPr id="6" name="Image" descr="Image">
              <a:extLst>
                <a:ext uri="{FF2B5EF4-FFF2-40B4-BE49-F238E27FC236}">
                  <a16:creationId xmlns:a16="http://schemas.microsoft.com/office/drawing/2014/main" id="{38BA09D8-F8B2-19A8-B70A-1A73ACE241C6}"/>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7" name="Image" descr="Image">
              <a:extLst>
                <a:ext uri="{FF2B5EF4-FFF2-40B4-BE49-F238E27FC236}">
                  <a16:creationId xmlns:a16="http://schemas.microsoft.com/office/drawing/2014/main" id="{C8189981-CA8D-3F41-4C71-452D07E52915}"/>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8" name="Image" descr="Image">
              <a:extLst>
                <a:ext uri="{FF2B5EF4-FFF2-40B4-BE49-F238E27FC236}">
                  <a16:creationId xmlns:a16="http://schemas.microsoft.com/office/drawing/2014/main" id="{F2CA1978-1D7F-9FBC-1610-A6CA7FFAA5B4}"/>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
        <p:nvSpPr>
          <p:cNvPr id="2" name="Content Placeholder 7">
            <a:extLst>
              <a:ext uri="{FF2B5EF4-FFF2-40B4-BE49-F238E27FC236}">
                <a16:creationId xmlns:a16="http://schemas.microsoft.com/office/drawing/2014/main" id="{23987A6D-AD04-0FF1-0C66-3D62A8BBD97B}"/>
              </a:ext>
            </a:extLst>
          </p:cNvPr>
          <p:cNvSpPr>
            <a:spLocks noGrp="1"/>
          </p:cNvSpPr>
          <p:nvPr>
            <p:ph sz="quarter" idx="11"/>
          </p:nvPr>
        </p:nvSpPr>
        <p:spPr>
          <a:xfrm>
            <a:off x="2167377" y="3714224"/>
            <a:ext cx="19309300" cy="8129718"/>
          </a:xfrm>
        </p:spPr>
        <p:txBody>
          <a:bodyPr>
            <a:normAutofit/>
          </a:bodyPr>
          <a:lstStyle>
            <a:lvl1pPr marL="742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7pPr marL="3657600" indent="0">
              <a:buNone/>
              <a:defRPr/>
            </a:lvl7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3405103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en-US"/>
              <a:t>Click icon to add picture</a:t>
            </a:r>
            <a:endParaRPr lang="en-US" dirty="0"/>
          </a:p>
        </p:txBody>
      </p:sp>
      <p:pic>
        <p:nvPicPr>
          <p:cNvPr id="4" name="Picture 3">
            <a:extLst>
              <a:ext uri="{FF2B5EF4-FFF2-40B4-BE49-F238E27FC236}">
                <a16:creationId xmlns:a16="http://schemas.microsoft.com/office/drawing/2014/main" id="{80B8984F-75C1-9D5B-FF38-2151D7714128}"/>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14440FB6-864F-EC32-9C12-F5781DD839A1}"/>
              </a:ext>
            </a:extLst>
          </p:cNvPr>
          <p:cNvGrpSpPr/>
          <p:nvPr userDrawn="1"/>
        </p:nvGrpSpPr>
        <p:grpSpPr>
          <a:xfrm>
            <a:off x="756659" y="-3867"/>
            <a:ext cx="2783909" cy="2014172"/>
            <a:chOff x="-2864397" y="0"/>
            <a:chExt cx="2783907" cy="2014171"/>
          </a:xfrm>
        </p:grpSpPr>
        <p:pic>
          <p:nvPicPr>
            <p:cNvPr id="7" name="Image" descr="Image">
              <a:extLst>
                <a:ext uri="{FF2B5EF4-FFF2-40B4-BE49-F238E27FC236}">
                  <a16:creationId xmlns:a16="http://schemas.microsoft.com/office/drawing/2014/main" id="{FD2AEEAF-7ADA-0233-2FB3-A724EEF0325B}"/>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8" name="Image" descr="Image">
              <a:extLst>
                <a:ext uri="{FF2B5EF4-FFF2-40B4-BE49-F238E27FC236}">
                  <a16:creationId xmlns:a16="http://schemas.microsoft.com/office/drawing/2014/main" id="{27230D68-4A71-B42E-9C59-8EFE95EE533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9" name="Image" descr="Image">
              <a:extLst>
                <a:ext uri="{FF2B5EF4-FFF2-40B4-BE49-F238E27FC236}">
                  <a16:creationId xmlns:a16="http://schemas.microsoft.com/office/drawing/2014/main" id="{6FA4D137-12D3-04A4-6F7D-A965125F6540}"/>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50518920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pic>
        <p:nvPicPr>
          <p:cNvPr id="7" name="Picture 6">
            <a:extLst>
              <a:ext uri="{FF2B5EF4-FFF2-40B4-BE49-F238E27FC236}">
                <a16:creationId xmlns:a16="http://schemas.microsoft.com/office/drawing/2014/main" id="{5EC48672-F1E2-A230-B095-57E67183FCA6}"/>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9" name="Group">
            <a:extLst>
              <a:ext uri="{FF2B5EF4-FFF2-40B4-BE49-F238E27FC236}">
                <a16:creationId xmlns:a16="http://schemas.microsoft.com/office/drawing/2014/main" id="{8D3FDAF8-012C-4D3A-C949-6317F6E219D0}"/>
              </a:ext>
            </a:extLst>
          </p:cNvPr>
          <p:cNvGrpSpPr/>
          <p:nvPr userDrawn="1"/>
        </p:nvGrpSpPr>
        <p:grpSpPr>
          <a:xfrm>
            <a:off x="756659" y="-3867"/>
            <a:ext cx="2783909" cy="2014172"/>
            <a:chOff x="-2864397" y="0"/>
            <a:chExt cx="2783907" cy="2014171"/>
          </a:xfrm>
        </p:grpSpPr>
        <p:pic>
          <p:nvPicPr>
            <p:cNvPr id="11" name="Image" descr="Image">
              <a:extLst>
                <a:ext uri="{FF2B5EF4-FFF2-40B4-BE49-F238E27FC236}">
                  <a16:creationId xmlns:a16="http://schemas.microsoft.com/office/drawing/2014/main" id="{56EB9265-9B68-78E9-B5B8-F2C39D9134A2}"/>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12" name="Image" descr="Image">
              <a:extLst>
                <a:ext uri="{FF2B5EF4-FFF2-40B4-BE49-F238E27FC236}">
                  <a16:creationId xmlns:a16="http://schemas.microsoft.com/office/drawing/2014/main" id="{E445F39B-125D-DE62-15D6-B4FE5E3C4A7D}"/>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5" name="Image" descr="Image">
              <a:extLst>
                <a:ext uri="{FF2B5EF4-FFF2-40B4-BE49-F238E27FC236}">
                  <a16:creationId xmlns:a16="http://schemas.microsoft.com/office/drawing/2014/main" id="{CC8E73D5-72F6-77A3-C650-62976C858480}"/>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80928499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5" name="Picture 4">
            <a:extLst>
              <a:ext uri="{FF2B5EF4-FFF2-40B4-BE49-F238E27FC236}">
                <a16:creationId xmlns:a16="http://schemas.microsoft.com/office/drawing/2014/main" id="{D5CD14E8-DE1C-14FC-FEA7-30EAAA9BB930}"/>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7" name="Group">
            <a:extLst>
              <a:ext uri="{FF2B5EF4-FFF2-40B4-BE49-F238E27FC236}">
                <a16:creationId xmlns:a16="http://schemas.microsoft.com/office/drawing/2014/main" id="{E62B7B4A-4960-D224-2BB3-BD1A6C05E12C}"/>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6F2D1DB1-7918-B846-534B-BCACC79082A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A33628EC-398A-85C8-EA60-202449B367CC}"/>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4EE2131F-630C-FF89-05AC-61DFC8071803}"/>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208532981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2837038" y="9711819"/>
            <a:ext cx="1700105" cy="1700105"/>
          </a:xfrm>
          <a:prstGeom prst="rect">
            <a:avLst/>
          </a:prstGeom>
        </p:spPr>
      </p:pic>
      <p:pic>
        <p:nvPicPr>
          <p:cNvPr id="5" name="Picture 4">
            <a:extLst>
              <a:ext uri="{FF2B5EF4-FFF2-40B4-BE49-F238E27FC236}">
                <a16:creationId xmlns:a16="http://schemas.microsoft.com/office/drawing/2014/main" id="{C97FCB3B-92B7-9A04-09DB-5667129A353E}"/>
              </a:ext>
              <a:ext uri="{C183D7F6-B498-43B3-948B-1728B52AA6E4}">
                <adec:decorative xmlns:adec="http://schemas.microsoft.com/office/drawing/2017/decorative" val="1"/>
              </a:ext>
            </a:extLst>
          </p:cNvPr>
          <p:cNvPicPr>
            <a:picLocks noChangeAspect="1"/>
          </p:cNvPicPr>
          <p:nvPr userDrawn="1"/>
        </p:nvPicPr>
        <p:blipFill rotWithShape="1">
          <a:blip r:embed="rId10">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805F1785-290C-1641-A96F-184692C72980}"/>
              </a:ext>
            </a:extLst>
          </p:cNvPr>
          <p:cNvGrpSpPr/>
          <p:nvPr userDrawn="1"/>
        </p:nvGrpSpPr>
        <p:grpSpPr>
          <a:xfrm>
            <a:off x="756659" y="-3867"/>
            <a:ext cx="2783909" cy="2014172"/>
            <a:chOff x="-2864397" y="0"/>
            <a:chExt cx="2783907" cy="2014171"/>
          </a:xfrm>
        </p:grpSpPr>
        <p:pic>
          <p:nvPicPr>
            <p:cNvPr id="9" name="Image" descr="Image">
              <a:extLst>
                <a:ext uri="{FF2B5EF4-FFF2-40B4-BE49-F238E27FC236}">
                  <a16:creationId xmlns:a16="http://schemas.microsoft.com/office/drawing/2014/main" id="{DE051A88-BFBF-58FB-0D20-AA66E50B943F}"/>
                </a:ext>
              </a:extLst>
            </p:cNvPr>
            <p:cNvPicPr>
              <a:picLocks noChangeAspect="1"/>
            </p:cNvPicPr>
            <p:nvPr/>
          </p:nvPicPr>
          <p:blipFill>
            <a:blip r:embed="rId11"/>
            <a:stretch>
              <a:fillRect/>
            </a:stretch>
          </p:blipFill>
          <p:spPr>
            <a:xfrm>
              <a:off x="-2864398" y="-1"/>
              <a:ext cx="630382" cy="1359672"/>
            </a:xfrm>
            <a:prstGeom prst="rect">
              <a:avLst/>
            </a:prstGeom>
            <a:ln w="12700" cap="flat">
              <a:noFill/>
              <a:miter lim="400000"/>
            </a:ln>
            <a:effectLst/>
          </p:spPr>
        </p:pic>
        <p:pic>
          <p:nvPicPr>
            <p:cNvPr id="10" name="Image" descr="Image">
              <a:extLst>
                <a:ext uri="{FF2B5EF4-FFF2-40B4-BE49-F238E27FC236}">
                  <a16:creationId xmlns:a16="http://schemas.microsoft.com/office/drawing/2014/main" id="{FF606EC9-F598-701C-CF2B-AC339348BD1A}"/>
                </a:ext>
              </a:extLst>
            </p:cNvPr>
            <p:cNvPicPr>
              <a:picLocks noChangeAspect="1"/>
            </p:cNvPicPr>
            <p:nvPr/>
          </p:nvPicPr>
          <p:blipFill>
            <a:blip r:embed="rId12"/>
            <a:srcRect t="88153" r="78332"/>
            <a:stretch>
              <a:fillRect/>
            </a:stretch>
          </p:blipFill>
          <p:spPr>
            <a:xfrm>
              <a:off x="-2850027" y="1390294"/>
              <a:ext cx="601633" cy="623878"/>
            </a:xfrm>
            <a:prstGeom prst="rect">
              <a:avLst/>
            </a:prstGeom>
            <a:ln w="12700" cap="flat">
              <a:noFill/>
              <a:miter lim="400000"/>
            </a:ln>
            <a:effectLst/>
          </p:spPr>
        </p:pic>
        <p:pic>
          <p:nvPicPr>
            <p:cNvPr id="11" name="Image" descr="Image">
              <a:extLst>
                <a:ext uri="{FF2B5EF4-FFF2-40B4-BE49-F238E27FC236}">
                  <a16:creationId xmlns:a16="http://schemas.microsoft.com/office/drawing/2014/main" id="{1DD6A07B-1CB5-B903-09DB-950559FCE4E0}"/>
                </a:ext>
              </a:extLst>
            </p:cNvPr>
            <p:cNvPicPr>
              <a:picLocks noChangeAspect="1"/>
            </p:cNvPicPr>
            <p:nvPr/>
          </p:nvPicPr>
          <p:blipFill>
            <a:blip r:embed="rId12"/>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07010292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240000" y="4320116"/>
            <a:ext cx="3535680" cy="3535680"/>
          </a:xfrm>
          <a:prstGeom prst="rect">
            <a:avLst/>
          </a:prstGeom>
        </p:spPr>
      </p:pic>
      <p:pic>
        <p:nvPicPr>
          <p:cNvPr id="6" name="Picture 5">
            <a:extLst>
              <a:ext uri="{FF2B5EF4-FFF2-40B4-BE49-F238E27FC236}">
                <a16:creationId xmlns:a16="http://schemas.microsoft.com/office/drawing/2014/main" id="{8D1F61AE-0C1A-636C-687E-207E2A2A70F6}"/>
              </a:ext>
              <a:ext uri="{C183D7F6-B498-43B3-948B-1728B52AA6E4}">
                <adec:decorative xmlns:adec="http://schemas.microsoft.com/office/drawing/2017/decorative" val="1"/>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7" name="Group">
            <a:extLst>
              <a:ext uri="{FF2B5EF4-FFF2-40B4-BE49-F238E27FC236}">
                <a16:creationId xmlns:a16="http://schemas.microsoft.com/office/drawing/2014/main" id="{A734540B-EB64-130D-3523-93575103ED02}"/>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5953221E-8F74-C3B9-7C70-CFB02A3B7E6C}"/>
                </a:ext>
              </a:extLst>
            </p:cNvPr>
            <p:cNvPicPr>
              <a:picLocks noChangeAspect="1"/>
            </p:cNvPicPr>
            <p:nvPr/>
          </p:nvPicPr>
          <p:blipFill>
            <a:blip r:embed="rId5"/>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49A2096B-323B-F3EF-7CC9-DF562AC8C228}"/>
                </a:ext>
              </a:extLst>
            </p:cNvPr>
            <p:cNvPicPr>
              <a:picLocks noChangeAspect="1"/>
            </p:cNvPicPr>
            <p:nvPr/>
          </p:nvPicPr>
          <p:blipFill>
            <a:blip r:embed="rId6"/>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8B7EE6C9-8BC7-CD09-089B-BA35D919D1CC}"/>
                </a:ext>
              </a:extLst>
            </p:cNvPr>
            <p:cNvPicPr>
              <a:picLocks noChangeAspect="1"/>
            </p:cNvPicPr>
            <p:nvPr/>
          </p:nvPicPr>
          <p:blipFill>
            <a:blip r:embed="rId6"/>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222704086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en-US"/>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en-US"/>
              <a:t>Click icon to add picture</a:t>
            </a:r>
            <a:endParaRPr lang="en-US" dirty="0"/>
          </a:p>
        </p:txBody>
      </p:sp>
      <p:pic>
        <p:nvPicPr>
          <p:cNvPr id="4" name="Picture 3">
            <a:extLst>
              <a:ext uri="{FF2B5EF4-FFF2-40B4-BE49-F238E27FC236}">
                <a16:creationId xmlns:a16="http://schemas.microsoft.com/office/drawing/2014/main" id="{D5210B6C-2009-3AB9-2B36-C9C111BD1FBB}"/>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5" name="Group">
            <a:extLst>
              <a:ext uri="{FF2B5EF4-FFF2-40B4-BE49-F238E27FC236}">
                <a16:creationId xmlns:a16="http://schemas.microsoft.com/office/drawing/2014/main" id="{6BFD5909-E19C-D820-5C51-280C15B09CBC}"/>
              </a:ext>
            </a:extLst>
          </p:cNvPr>
          <p:cNvGrpSpPr/>
          <p:nvPr userDrawn="1"/>
        </p:nvGrpSpPr>
        <p:grpSpPr>
          <a:xfrm>
            <a:off x="756659" y="-3867"/>
            <a:ext cx="2783909" cy="2014172"/>
            <a:chOff x="-2864397" y="0"/>
            <a:chExt cx="2783907" cy="2014171"/>
          </a:xfrm>
        </p:grpSpPr>
        <p:pic>
          <p:nvPicPr>
            <p:cNvPr id="6" name="Image" descr="Image">
              <a:extLst>
                <a:ext uri="{FF2B5EF4-FFF2-40B4-BE49-F238E27FC236}">
                  <a16:creationId xmlns:a16="http://schemas.microsoft.com/office/drawing/2014/main" id="{8B08C927-B7A0-43BA-4100-83612BFB59A9}"/>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7" name="Image" descr="Image">
              <a:extLst>
                <a:ext uri="{FF2B5EF4-FFF2-40B4-BE49-F238E27FC236}">
                  <a16:creationId xmlns:a16="http://schemas.microsoft.com/office/drawing/2014/main" id="{6AFC5A1D-896A-4BE5-A25A-A0172137210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8" name="Image" descr="Image">
              <a:extLst>
                <a:ext uri="{FF2B5EF4-FFF2-40B4-BE49-F238E27FC236}">
                  <a16:creationId xmlns:a16="http://schemas.microsoft.com/office/drawing/2014/main" id="{58C85CFC-A584-60C9-398C-FC5F3B10CF07}"/>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77924557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287110" y="8648744"/>
            <a:ext cx="1403521" cy="1403521"/>
          </a:xfrm>
          <a:prstGeom prst="rect">
            <a:avLst/>
          </a:prstGeom>
        </p:spPr>
      </p:pic>
      <p:pic>
        <p:nvPicPr>
          <p:cNvPr id="7" name="Picture 6">
            <a:extLst>
              <a:ext uri="{FF2B5EF4-FFF2-40B4-BE49-F238E27FC236}">
                <a16:creationId xmlns:a16="http://schemas.microsoft.com/office/drawing/2014/main" id="{D0C22165-28E5-078B-D527-EB85E34E9D08}"/>
              </a:ext>
              <a:ext uri="{C183D7F6-B498-43B3-948B-1728B52AA6E4}">
                <adec:decorative xmlns:adec="http://schemas.microsoft.com/office/drawing/2017/decorative" val="1"/>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8" name="Group">
            <a:extLst>
              <a:ext uri="{FF2B5EF4-FFF2-40B4-BE49-F238E27FC236}">
                <a16:creationId xmlns:a16="http://schemas.microsoft.com/office/drawing/2014/main" id="{1AB01AB1-EADC-77A2-A940-2DE69B7ABE8E}"/>
              </a:ext>
            </a:extLst>
          </p:cNvPr>
          <p:cNvGrpSpPr/>
          <p:nvPr userDrawn="1"/>
        </p:nvGrpSpPr>
        <p:grpSpPr>
          <a:xfrm>
            <a:off x="756659" y="-3867"/>
            <a:ext cx="2783909" cy="2014172"/>
            <a:chOff x="-2864397" y="0"/>
            <a:chExt cx="2783907" cy="2014171"/>
          </a:xfrm>
        </p:grpSpPr>
        <p:pic>
          <p:nvPicPr>
            <p:cNvPr id="10" name="Image" descr="Image">
              <a:extLst>
                <a:ext uri="{FF2B5EF4-FFF2-40B4-BE49-F238E27FC236}">
                  <a16:creationId xmlns:a16="http://schemas.microsoft.com/office/drawing/2014/main" id="{3B174F11-D671-E0EF-C5C9-332FF7B2255D}"/>
                </a:ext>
              </a:extLst>
            </p:cNvPr>
            <p:cNvPicPr>
              <a:picLocks noChangeAspect="1"/>
            </p:cNvPicPr>
            <p:nvPr/>
          </p:nvPicPr>
          <p:blipFill>
            <a:blip r:embed="rId7"/>
            <a:stretch>
              <a:fillRect/>
            </a:stretch>
          </p:blipFill>
          <p:spPr>
            <a:xfrm>
              <a:off x="-2864398" y="-1"/>
              <a:ext cx="630382" cy="1359672"/>
            </a:xfrm>
            <a:prstGeom prst="rect">
              <a:avLst/>
            </a:prstGeom>
            <a:ln w="12700" cap="flat">
              <a:noFill/>
              <a:miter lim="400000"/>
            </a:ln>
            <a:effectLst/>
          </p:spPr>
        </p:pic>
        <p:pic>
          <p:nvPicPr>
            <p:cNvPr id="12" name="Image" descr="Image">
              <a:extLst>
                <a:ext uri="{FF2B5EF4-FFF2-40B4-BE49-F238E27FC236}">
                  <a16:creationId xmlns:a16="http://schemas.microsoft.com/office/drawing/2014/main" id="{B2D60E6B-CEFB-1201-1ABC-A47A5C6DEDA7}"/>
                </a:ext>
              </a:extLst>
            </p:cNvPr>
            <p:cNvPicPr>
              <a:picLocks noChangeAspect="1"/>
            </p:cNvPicPr>
            <p:nvPr/>
          </p:nvPicPr>
          <p:blipFill>
            <a:blip r:embed="rId8"/>
            <a:srcRect t="88153" r="78332"/>
            <a:stretch>
              <a:fillRect/>
            </a:stretch>
          </p:blipFill>
          <p:spPr>
            <a:xfrm>
              <a:off x="-2850027" y="1390294"/>
              <a:ext cx="601633" cy="623878"/>
            </a:xfrm>
            <a:prstGeom prst="rect">
              <a:avLst/>
            </a:prstGeom>
            <a:ln w="12700" cap="flat">
              <a:noFill/>
              <a:miter lim="400000"/>
            </a:ln>
            <a:effectLst/>
          </p:spPr>
        </p:pic>
        <p:pic>
          <p:nvPicPr>
            <p:cNvPr id="14" name="Image" descr="Image">
              <a:extLst>
                <a:ext uri="{FF2B5EF4-FFF2-40B4-BE49-F238E27FC236}">
                  <a16:creationId xmlns:a16="http://schemas.microsoft.com/office/drawing/2014/main" id="{3ECE39F8-02C5-64A7-9AC5-4BDC8C44E368}"/>
                </a:ext>
              </a:extLst>
            </p:cNvPr>
            <p:cNvPicPr>
              <a:picLocks noChangeAspect="1"/>
            </p:cNvPicPr>
            <p:nvPr/>
          </p:nvPicPr>
          <p:blipFill>
            <a:blip r:embed="rId8"/>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81101224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en-US"/>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5" name="Picture 4">
            <a:extLst>
              <a:ext uri="{FF2B5EF4-FFF2-40B4-BE49-F238E27FC236}">
                <a16:creationId xmlns:a16="http://schemas.microsoft.com/office/drawing/2014/main" id="{0079C9F5-AAFF-0002-246E-C6EBF2351B3C}"/>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19954499-52C9-37B8-CE68-E31F97D9B97E}"/>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1827E7EE-F7D7-B912-1873-48F271C754AF}"/>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97CC2254-DB2F-2222-3ACB-0F4D49DF246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1DEA3358-B0D8-2D88-2DDF-CD2824CEACE3}"/>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13404523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570897"/>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270476"/>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949262"/>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628048"/>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306834"/>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7" name="Picture 6">
            <a:extLst>
              <a:ext uri="{FF2B5EF4-FFF2-40B4-BE49-F238E27FC236}">
                <a16:creationId xmlns:a16="http://schemas.microsoft.com/office/drawing/2014/main" id="{9F9AF533-B5F6-1F4C-DB2A-D5C619F6972D}"/>
              </a:ext>
              <a:ext uri="{C183D7F6-B498-43B3-948B-1728B52AA6E4}">
                <adec:decorative xmlns:adec="http://schemas.microsoft.com/office/drawing/2017/decorative" val="1"/>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9" name="Group">
            <a:extLst>
              <a:ext uri="{FF2B5EF4-FFF2-40B4-BE49-F238E27FC236}">
                <a16:creationId xmlns:a16="http://schemas.microsoft.com/office/drawing/2014/main" id="{CACAE48A-1410-60E4-FCE8-EBA95AD9A7D1}"/>
              </a:ext>
            </a:extLst>
          </p:cNvPr>
          <p:cNvGrpSpPr/>
          <p:nvPr userDrawn="1"/>
        </p:nvGrpSpPr>
        <p:grpSpPr>
          <a:xfrm>
            <a:off x="756659" y="-3867"/>
            <a:ext cx="2783909" cy="2014172"/>
            <a:chOff x="-2864397" y="0"/>
            <a:chExt cx="2783907" cy="2014171"/>
          </a:xfrm>
        </p:grpSpPr>
        <p:pic>
          <p:nvPicPr>
            <p:cNvPr id="10" name="Image" descr="Image">
              <a:extLst>
                <a:ext uri="{FF2B5EF4-FFF2-40B4-BE49-F238E27FC236}">
                  <a16:creationId xmlns:a16="http://schemas.microsoft.com/office/drawing/2014/main" id="{835D3321-F5AB-7B39-240A-709C3EABC96A}"/>
                </a:ext>
              </a:extLst>
            </p:cNvPr>
            <p:cNvPicPr>
              <a:picLocks noChangeAspect="1"/>
            </p:cNvPicPr>
            <p:nvPr/>
          </p:nvPicPr>
          <p:blipFill>
            <a:blip r:embed="rId5"/>
            <a:stretch>
              <a:fillRect/>
            </a:stretch>
          </p:blipFill>
          <p:spPr>
            <a:xfrm>
              <a:off x="-2864398" y="-1"/>
              <a:ext cx="630382" cy="1359672"/>
            </a:xfrm>
            <a:prstGeom prst="rect">
              <a:avLst/>
            </a:prstGeom>
            <a:ln w="12700" cap="flat">
              <a:noFill/>
              <a:miter lim="400000"/>
            </a:ln>
            <a:effectLst/>
          </p:spPr>
        </p:pic>
        <p:pic>
          <p:nvPicPr>
            <p:cNvPr id="11" name="Image" descr="Image">
              <a:extLst>
                <a:ext uri="{FF2B5EF4-FFF2-40B4-BE49-F238E27FC236}">
                  <a16:creationId xmlns:a16="http://schemas.microsoft.com/office/drawing/2014/main" id="{9A5045C5-E6D9-0C02-A60D-808D1A46D9CC}"/>
                </a:ext>
              </a:extLst>
            </p:cNvPr>
            <p:cNvPicPr>
              <a:picLocks noChangeAspect="1"/>
            </p:cNvPicPr>
            <p:nvPr/>
          </p:nvPicPr>
          <p:blipFill>
            <a:blip r:embed="rId6"/>
            <a:srcRect t="88153" r="78332"/>
            <a:stretch>
              <a:fillRect/>
            </a:stretch>
          </p:blipFill>
          <p:spPr>
            <a:xfrm>
              <a:off x="-2850027" y="1390294"/>
              <a:ext cx="601633" cy="623878"/>
            </a:xfrm>
            <a:prstGeom prst="rect">
              <a:avLst/>
            </a:prstGeom>
            <a:ln w="12700" cap="flat">
              <a:noFill/>
              <a:miter lim="400000"/>
            </a:ln>
            <a:effectLst/>
          </p:spPr>
        </p:pic>
        <p:pic>
          <p:nvPicPr>
            <p:cNvPr id="12" name="Image" descr="Image">
              <a:extLst>
                <a:ext uri="{FF2B5EF4-FFF2-40B4-BE49-F238E27FC236}">
                  <a16:creationId xmlns:a16="http://schemas.microsoft.com/office/drawing/2014/main" id="{5C378790-9194-7CF7-64F2-DCDC541DE747}"/>
                </a:ext>
              </a:extLst>
            </p:cNvPr>
            <p:cNvPicPr>
              <a:picLocks noChangeAspect="1"/>
            </p:cNvPicPr>
            <p:nvPr/>
          </p:nvPicPr>
          <p:blipFill>
            <a:blip r:embed="rId6"/>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151361529"/>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3" name="Picture 2">
            <a:extLst>
              <a:ext uri="{FF2B5EF4-FFF2-40B4-BE49-F238E27FC236}">
                <a16:creationId xmlns:a16="http://schemas.microsoft.com/office/drawing/2014/main" id="{8EBE46FE-17DA-131C-25CA-513E1EB2D6D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49D08008-1FC5-26A6-E9A3-347420006839}"/>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27320987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3" name="Picture 2">
            <a:extLst>
              <a:ext uri="{FF2B5EF4-FFF2-40B4-BE49-F238E27FC236}">
                <a16:creationId xmlns:a16="http://schemas.microsoft.com/office/drawing/2014/main" id="{C5851190-1E16-8731-05F7-9E415A2E72A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16478055-4CD9-7AD2-1E0C-062019F0D612}"/>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10994172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6.tmp"/><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0F9371B-F92F-AED8-457A-F4BAE6779B8C}"/>
              </a:ext>
            </a:extLst>
          </p:cNvPr>
          <p:cNvSpPr>
            <a:spLocks noGrp="1"/>
          </p:cNvSpPr>
          <p:nvPr>
            <p:ph type="body" sz="quarter" idx="1"/>
          </p:nvPr>
        </p:nvSpPr>
        <p:spPr/>
        <p:txBody>
          <a:bodyPr/>
          <a:lstStyle/>
          <a:p>
            <a:r>
              <a:rPr lang="en-US" dirty="0"/>
              <a:t>Session 22</a:t>
            </a:r>
          </a:p>
        </p:txBody>
      </p:sp>
      <p:sp>
        <p:nvSpPr>
          <p:cNvPr id="3" name="Title 2">
            <a:extLst>
              <a:ext uri="{FF2B5EF4-FFF2-40B4-BE49-F238E27FC236}">
                <a16:creationId xmlns:a16="http://schemas.microsoft.com/office/drawing/2014/main" id="{05C0E2BF-BBBC-BF27-4255-C5149D193112}"/>
              </a:ext>
            </a:extLst>
          </p:cNvPr>
          <p:cNvSpPr>
            <a:spLocks noGrp="1"/>
          </p:cNvSpPr>
          <p:nvPr>
            <p:ph type="title"/>
          </p:nvPr>
        </p:nvSpPr>
        <p:spPr/>
        <p:txBody>
          <a:bodyPr/>
          <a:lstStyle/>
          <a:p>
            <a:r>
              <a:rPr lang="en-US" dirty="0"/>
              <a:t>K-Nearest </a:t>
            </a:r>
            <a:r>
              <a:rPr lang="en-US" dirty="0" err="1"/>
              <a:t>Neighbour</a:t>
            </a:r>
            <a:endParaRPr lang="en-US" dirty="0"/>
          </a:p>
        </p:txBody>
      </p:sp>
      <p:sp>
        <p:nvSpPr>
          <p:cNvPr id="4" name="Text Placeholder 3">
            <a:extLst>
              <a:ext uri="{FF2B5EF4-FFF2-40B4-BE49-F238E27FC236}">
                <a16:creationId xmlns:a16="http://schemas.microsoft.com/office/drawing/2014/main" id="{319DA326-32BB-7EBF-F49C-D0308881B79F}"/>
              </a:ext>
            </a:extLst>
          </p:cNvPr>
          <p:cNvSpPr>
            <a:spLocks noGrp="1"/>
          </p:cNvSpPr>
          <p:nvPr>
            <p:ph type="body" sz="quarter" idx="11"/>
          </p:nvPr>
        </p:nvSpPr>
        <p:spPr>
          <a:xfrm>
            <a:off x="9543550" y="11538583"/>
            <a:ext cx="5286583" cy="745888"/>
          </a:xfrm>
        </p:spPr>
        <p:txBody>
          <a:bodyPr/>
          <a:lstStyle/>
          <a:p>
            <a:r>
              <a:rPr lang="en-US" dirty="0"/>
              <a:t>Henry Lucky, </a:t>
            </a:r>
            <a:r>
              <a:rPr lang="en-US" dirty="0" err="1"/>
              <a:t>S.Kom</a:t>
            </a:r>
            <a:r>
              <a:rPr lang="en-US" dirty="0"/>
              <a:t>., </a:t>
            </a:r>
            <a:r>
              <a:rPr lang="en-US" dirty="0" err="1"/>
              <a:t>M.Kom</a:t>
            </a:r>
            <a:r>
              <a:rPr lang="en-US" dirty="0"/>
              <a:t>.</a:t>
            </a:r>
          </a:p>
        </p:txBody>
      </p:sp>
    </p:spTree>
    <p:extLst>
      <p:ext uri="{BB962C8B-B14F-4D97-AF65-F5344CB8AC3E}">
        <p14:creationId xmlns:p14="http://schemas.microsoft.com/office/powerpoint/2010/main" val="4205779256"/>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EE913-EE39-C321-5882-05A506DB3444}"/>
              </a:ext>
            </a:extLst>
          </p:cNvPr>
          <p:cNvSpPr>
            <a:spLocks noGrp="1"/>
          </p:cNvSpPr>
          <p:nvPr>
            <p:ph type="title"/>
          </p:nvPr>
        </p:nvSpPr>
        <p:spPr/>
        <p:txBody>
          <a:bodyPr>
            <a:normAutofit fontScale="90000"/>
          </a:bodyPr>
          <a:lstStyle/>
          <a:p>
            <a:r>
              <a:rPr lang="en-US" dirty="0"/>
              <a:t>Learning Outcomes</a:t>
            </a:r>
            <a:endParaRPr lang="en-ID" dirty="0"/>
          </a:p>
        </p:txBody>
      </p:sp>
      <p:sp>
        <p:nvSpPr>
          <p:cNvPr id="3" name="Text Placeholder 2">
            <a:extLst>
              <a:ext uri="{FF2B5EF4-FFF2-40B4-BE49-F238E27FC236}">
                <a16:creationId xmlns:a16="http://schemas.microsoft.com/office/drawing/2014/main" id="{0002D373-5BC5-C51D-92C2-C090C3857861}"/>
              </a:ext>
            </a:extLst>
          </p:cNvPr>
          <p:cNvSpPr>
            <a:spLocks noGrp="1"/>
          </p:cNvSpPr>
          <p:nvPr>
            <p:ph type="body" sz="quarter" idx="10"/>
          </p:nvPr>
        </p:nvSpPr>
        <p:spPr/>
        <p:txBody>
          <a:bodyPr/>
          <a:lstStyle/>
          <a:p>
            <a:r>
              <a:rPr lang="en-ID" dirty="0"/>
              <a:t>Session 22</a:t>
            </a:r>
          </a:p>
        </p:txBody>
      </p:sp>
      <p:sp>
        <p:nvSpPr>
          <p:cNvPr id="4" name="Content Placeholder 3">
            <a:extLst>
              <a:ext uri="{FF2B5EF4-FFF2-40B4-BE49-F238E27FC236}">
                <a16:creationId xmlns:a16="http://schemas.microsoft.com/office/drawing/2014/main" id="{72B426B6-A02E-F758-7A2B-554FFF354A1A}"/>
              </a:ext>
            </a:extLst>
          </p:cNvPr>
          <p:cNvSpPr>
            <a:spLocks noGrp="1"/>
          </p:cNvSpPr>
          <p:nvPr>
            <p:ph sz="quarter" idx="11"/>
          </p:nvPr>
        </p:nvSpPr>
        <p:spPr/>
        <p:txBody>
          <a:bodyPr>
            <a:normAutofit/>
          </a:bodyPr>
          <a:lstStyle/>
          <a:p>
            <a:pPr marL="0" indent="0">
              <a:buNone/>
            </a:pPr>
            <a:r>
              <a:rPr lang="en-ID" dirty="0"/>
              <a:t>At the end of this session, students will be able to:</a:t>
            </a:r>
          </a:p>
          <a:p>
            <a:r>
              <a:rPr lang="en-ID" dirty="0"/>
              <a:t>LO 5: Apply various learning algorithms for agents to solve problems  </a:t>
            </a:r>
          </a:p>
        </p:txBody>
      </p:sp>
    </p:spTree>
    <p:extLst>
      <p:ext uri="{BB962C8B-B14F-4D97-AF65-F5344CB8AC3E}">
        <p14:creationId xmlns:p14="http://schemas.microsoft.com/office/powerpoint/2010/main" val="2766454393"/>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EE913-EE39-C321-5882-05A506DB3444}"/>
              </a:ext>
            </a:extLst>
          </p:cNvPr>
          <p:cNvSpPr>
            <a:spLocks noGrp="1"/>
          </p:cNvSpPr>
          <p:nvPr>
            <p:ph type="title"/>
          </p:nvPr>
        </p:nvSpPr>
        <p:spPr/>
        <p:txBody>
          <a:bodyPr>
            <a:normAutofit fontScale="90000"/>
          </a:bodyPr>
          <a:lstStyle/>
          <a:p>
            <a:r>
              <a:rPr lang="en-US" dirty="0"/>
              <a:t>outline</a:t>
            </a:r>
            <a:endParaRPr lang="en-ID" dirty="0"/>
          </a:p>
        </p:txBody>
      </p:sp>
      <p:sp>
        <p:nvSpPr>
          <p:cNvPr id="3" name="Text Placeholder 2">
            <a:extLst>
              <a:ext uri="{FF2B5EF4-FFF2-40B4-BE49-F238E27FC236}">
                <a16:creationId xmlns:a16="http://schemas.microsoft.com/office/drawing/2014/main" id="{0002D373-5BC5-C51D-92C2-C090C3857861}"/>
              </a:ext>
            </a:extLst>
          </p:cNvPr>
          <p:cNvSpPr>
            <a:spLocks noGrp="1"/>
          </p:cNvSpPr>
          <p:nvPr>
            <p:ph type="body" sz="quarter" idx="10"/>
          </p:nvPr>
        </p:nvSpPr>
        <p:spPr/>
        <p:txBody>
          <a:bodyPr/>
          <a:lstStyle/>
          <a:p>
            <a:r>
              <a:rPr lang="en-ID" dirty="0"/>
              <a:t>Session 22</a:t>
            </a:r>
          </a:p>
        </p:txBody>
      </p:sp>
      <p:sp>
        <p:nvSpPr>
          <p:cNvPr id="4" name="Content Placeholder 3">
            <a:extLst>
              <a:ext uri="{FF2B5EF4-FFF2-40B4-BE49-F238E27FC236}">
                <a16:creationId xmlns:a16="http://schemas.microsoft.com/office/drawing/2014/main" id="{72B426B6-A02E-F758-7A2B-554FFF354A1A}"/>
              </a:ext>
            </a:extLst>
          </p:cNvPr>
          <p:cNvSpPr>
            <a:spLocks noGrp="1"/>
          </p:cNvSpPr>
          <p:nvPr>
            <p:ph sz="quarter" idx="11"/>
          </p:nvPr>
        </p:nvSpPr>
        <p:spPr/>
        <p:txBody>
          <a:bodyPr>
            <a:normAutofit/>
          </a:bodyPr>
          <a:lstStyle/>
          <a:p>
            <a:r>
              <a:rPr lang="en-ID" dirty="0"/>
              <a:t>Instance Based Learning</a:t>
            </a:r>
          </a:p>
          <a:p>
            <a:r>
              <a:rPr lang="en-ID" dirty="0"/>
              <a:t>Non-parametric model</a:t>
            </a:r>
          </a:p>
          <a:p>
            <a:r>
              <a:rPr lang="en-ID" dirty="0"/>
              <a:t>K-Nearest Neighbour</a:t>
            </a:r>
          </a:p>
          <a:p>
            <a:endParaRPr lang="en-ID" dirty="0"/>
          </a:p>
          <a:p>
            <a:endParaRPr lang="en-ID" dirty="0"/>
          </a:p>
          <a:p>
            <a:endParaRPr lang="en-ID" dirty="0"/>
          </a:p>
        </p:txBody>
      </p:sp>
    </p:spTree>
    <p:extLst>
      <p:ext uri="{BB962C8B-B14F-4D97-AF65-F5344CB8AC3E}">
        <p14:creationId xmlns:p14="http://schemas.microsoft.com/office/powerpoint/2010/main" val="1889462471"/>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80AED-3A48-3BE2-793F-ED095C2B73A3}"/>
              </a:ext>
            </a:extLst>
          </p:cNvPr>
          <p:cNvSpPr>
            <a:spLocks noGrp="1"/>
          </p:cNvSpPr>
          <p:nvPr>
            <p:ph type="title"/>
          </p:nvPr>
        </p:nvSpPr>
        <p:spPr/>
        <p:txBody>
          <a:bodyPr>
            <a:normAutofit fontScale="90000"/>
          </a:bodyPr>
          <a:lstStyle/>
          <a:p>
            <a:r>
              <a:rPr lang="en-US" dirty="0"/>
              <a:t>Instance-based Learning</a:t>
            </a:r>
          </a:p>
        </p:txBody>
      </p:sp>
      <p:sp>
        <p:nvSpPr>
          <p:cNvPr id="3" name="Text Placeholder 2">
            <a:extLst>
              <a:ext uri="{FF2B5EF4-FFF2-40B4-BE49-F238E27FC236}">
                <a16:creationId xmlns:a16="http://schemas.microsoft.com/office/drawing/2014/main" id="{8FC06E98-77DF-98D7-4806-082D40F32B98}"/>
              </a:ext>
            </a:extLst>
          </p:cNvPr>
          <p:cNvSpPr>
            <a:spLocks noGrp="1"/>
          </p:cNvSpPr>
          <p:nvPr>
            <p:ph type="body" sz="quarter" idx="10"/>
          </p:nvPr>
        </p:nvSpPr>
        <p:spPr/>
        <p:txBody>
          <a:bodyPr/>
          <a:lstStyle/>
          <a:p>
            <a:r>
              <a:rPr lang="en-US" dirty="0"/>
              <a:t>Lazy vs. Eager Learning</a:t>
            </a:r>
          </a:p>
        </p:txBody>
      </p:sp>
      <p:sp>
        <p:nvSpPr>
          <p:cNvPr id="4" name="Content Placeholder 3">
            <a:extLst>
              <a:ext uri="{FF2B5EF4-FFF2-40B4-BE49-F238E27FC236}">
                <a16:creationId xmlns:a16="http://schemas.microsoft.com/office/drawing/2014/main" id="{21661ABB-F290-D3F5-E682-40DDED7B60E3}"/>
              </a:ext>
            </a:extLst>
          </p:cNvPr>
          <p:cNvSpPr>
            <a:spLocks noGrp="1"/>
          </p:cNvSpPr>
          <p:nvPr>
            <p:ph sz="quarter" idx="11"/>
          </p:nvPr>
        </p:nvSpPr>
        <p:spPr>
          <a:xfrm>
            <a:off x="2163188" y="3260663"/>
            <a:ext cx="20057623" cy="9226612"/>
          </a:xfrm>
        </p:spPr>
        <p:txBody>
          <a:bodyPr>
            <a:normAutofit/>
          </a:bodyPr>
          <a:lstStyle/>
          <a:p>
            <a:pPr>
              <a:spcBef>
                <a:spcPts val="1100"/>
              </a:spcBef>
            </a:pPr>
            <a:r>
              <a:rPr lang="en-US" dirty="0"/>
              <a:t>Lazy vs. eager learning</a:t>
            </a:r>
          </a:p>
          <a:p>
            <a:pPr lvl="1">
              <a:spcBef>
                <a:spcPts val="1100"/>
              </a:spcBef>
              <a:buFont typeface="Wingdings" pitchFamily="2" charset="2"/>
              <a:buChar char="Ø"/>
            </a:pPr>
            <a:r>
              <a:rPr lang="en-US" dirty="0"/>
              <a:t>Lazy learning (e.g., instance-based learning): Simply stores training data (or only minor processing) and waits until it is given a test tuple</a:t>
            </a:r>
          </a:p>
          <a:p>
            <a:pPr lvl="1">
              <a:spcBef>
                <a:spcPts val="1100"/>
              </a:spcBef>
              <a:buFont typeface="Wingdings" pitchFamily="2" charset="2"/>
              <a:buChar char="Ø"/>
            </a:pPr>
            <a:r>
              <a:rPr lang="en-US" dirty="0"/>
              <a:t>Eager learning: Given a set of training tuples, constructs a classification model before receiving new (e.g., test) data to classify</a:t>
            </a:r>
          </a:p>
          <a:p>
            <a:pPr>
              <a:spcBef>
                <a:spcPts val="1100"/>
              </a:spcBef>
            </a:pPr>
            <a:r>
              <a:rPr lang="en-US" dirty="0"/>
              <a:t>Lazy: less time in training but more time in predicting</a:t>
            </a:r>
          </a:p>
          <a:p>
            <a:pPr>
              <a:spcBef>
                <a:spcPts val="1100"/>
              </a:spcBef>
            </a:pPr>
            <a:r>
              <a:rPr lang="en-US" dirty="0"/>
              <a:t>Accuracy</a:t>
            </a:r>
          </a:p>
          <a:p>
            <a:pPr lvl="1">
              <a:spcBef>
                <a:spcPts val="1100"/>
              </a:spcBef>
              <a:buFont typeface="Wingdings" pitchFamily="2" charset="2"/>
              <a:buChar char="Ø"/>
            </a:pPr>
            <a:r>
              <a:rPr lang="en-US" dirty="0"/>
              <a:t>Lazy method effectively uses a richer hypothesis space since it uses many local linear functions to form an implicit global approximation to the target function</a:t>
            </a:r>
          </a:p>
          <a:p>
            <a:pPr lvl="1">
              <a:spcBef>
                <a:spcPts val="1100"/>
              </a:spcBef>
              <a:buFont typeface="Wingdings" pitchFamily="2" charset="2"/>
              <a:buChar char="Ø"/>
            </a:pPr>
            <a:r>
              <a:rPr lang="en-US" dirty="0"/>
              <a:t>Eager: must commit to a single hypothesis that covers the entire instance space</a:t>
            </a:r>
          </a:p>
          <a:p>
            <a:pPr>
              <a:spcBef>
                <a:spcPts val="1100"/>
              </a:spcBef>
            </a:pPr>
            <a:endParaRPr lang="en-US" dirty="0"/>
          </a:p>
        </p:txBody>
      </p:sp>
    </p:spTree>
    <p:extLst>
      <p:ext uri="{BB962C8B-B14F-4D97-AF65-F5344CB8AC3E}">
        <p14:creationId xmlns:p14="http://schemas.microsoft.com/office/powerpoint/2010/main" val="1522499647"/>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80AED-3A48-3BE2-793F-ED095C2B73A3}"/>
              </a:ext>
            </a:extLst>
          </p:cNvPr>
          <p:cNvSpPr>
            <a:spLocks noGrp="1"/>
          </p:cNvSpPr>
          <p:nvPr>
            <p:ph type="title"/>
          </p:nvPr>
        </p:nvSpPr>
        <p:spPr/>
        <p:txBody>
          <a:bodyPr>
            <a:normAutofit fontScale="90000"/>
          </a:bodyPr>
          <a:lstStyle/>
          <a:p>
            <a:r>
              <a:rPr lang="en-US" dirty="0"/>
              <a:t>Instance-based Learning</a:t>
            </a:r>
          </a:p>
        </p:txBody>
      </p:sp>
      <p:sp>
        <p:nvSpPr>
          <p:cNvPr id="3" name="Text Placeholder 2">
            <a:extLst>
              <a:ext uri="{FF2B5EF4-FFF2-40B4-BE49-F238E27FC236}">
                <a16:creationId xmlns:a16="http://schemas.microsoft.com/office/drawing/2014/main" id="{8FC06E98-77DF-98D7-4806-082D40F32B98}"/>
              </a:ext>
            </a:extLst>
          </p:cNvPr>
          <p:cNvSpPr>
            <a:spLocks noGrp="1"/>
          </p:cNvSpPr>
          <p:nvPr>
            <p:ph type="body" sz="quarter" idx="10"/>
          </p:nvPr>
        </p:nvSpPr>
        <p:spPr/>
        <p:txBody>
          <a:bodyPr/>
          <a:lstStyle/>
          <a:p>
            <a:r>
              <a:rPr lang="en-US" dirty="0"/>
              <a:t>Definition</a:t>
            </a:r>
          </a:p>
        </p:txBody>
      </p:sp>
      <p:sp>
        <p:nvSpPr>
          <p:cNvPr id="4" name="Content Placeholder 3">
            <a:extLst>
              <a:ext uri="{FF2B5EF4-FFF2-40B4-BE49-F238E27FC236}">
                <a16:creationId xmlns:a16="http://schemas.microsoft.com/office/drawing/2014/main" id="{21661ABB-F290-D3F5-E682-40DDED7B60E3}"/>
              </a:ext>
            </a:extLst>
          </p:cNvPr>
          <p:cNvSpPr>
            <a:spLocks noGrp="1"/>
          </p:cNvSpPr>
          <p:nvPr>
            <p:ph sz="quarter" idx="11"/>
          </p:nvPr>
        </p:nvSpPr>
        <p:spPr>
          <a:xfrm>
            <a:off x="2163188" y="3260663"/>
            <a:ext cx="20057623" cy="9226612"/>
          </a:xfrm>
        </p:spPr>
        <p:txBody>
          <a:bodyPr>
            <a:normAutofit/>
          </a:bodyPr>
          <a:lstStyle/>
          <a:p>
            <a:pPr>
              <a:spcBef>
                <a:spcPts val="1700"/>
              </a:spcBef>
            </a:pPr>
            <a:r>
              <a:rPr lang="en-US" dirty="0"/>
              <a:t>Instance-based learning: </a:t>
            </a:r>
          </a:p>
          <a:p>
            <a:pPr lvl="1">
              <a:spcBef>
                <a:spcPts val="1700"/>
              </a:spcBef>
              <a:buFont typeface="Wingdings" pitchFamily="2" charset="2"/>
              <a:buChar char="Ø"/>
            </a:pPr>
            <a:r>
              <a:rPr lang="en-US" dirty="0"/>
              <a:t>Store training examples and delay the processing (“lazy evaluation”) until a new instance must be classified</a:t>
            </a:r>
          </a:p>
          <a:p>
            <a:pPr>
              <a:spcBef>
                <a:spcPts val="1700"/>
              </a:spcBef>
            </a:pPr>
            <a:r>
              <a:rPr lang="en-US" dirty="0"/>
              <a:t>Typical approaches</a:t>
            </a:r>
          </a:p>
          <a:p>
            <a:pPr lvl="1">
              <a:spcBef>
                <a:spcPts val="1700"/>
              </a:spcBef>
              <a:buFont typeface="Wingdings" pitchFamily="2" charset="2"/>
              <a:buChar char="Ø"/>
            </a:pPr>
            <a:r>
              <a:rPr lang="en-US" u="sng" dirty="0"/>
              <a:t>k-nearest neighbor approach</a:t>
            </a:r>
          </a:p>
          <a:p>
            <a:pPr lvl="2">
              <a:spcBef>
                <a:spcPts val="1700"/>
              </a:spcBef>
              <a:buFont typeface="Wingdings" pitchFamily="2" charset="2"/>
              <a:buChar char="q"/>
            </a:pPr>
            <a:r>
              <a:rPr lang="en-US" dirty="0"/>
              <a:t>Instances represented as points in a Euclidean space.</a:t>
            </a:r>
          </a:p>
          <a:p>
            <a:pPr lvl="1">
              <a:spcBef>
                <a:spcPts val="1700"/>
              </a:spcBef>
              <a:buFont typeface="Wingdings" pitchFamily="2" charset="2"/>
              <a:buChar char="Ø"/>
            </a:pPr>
            <a:r>
              <a:rPr lang="en-US" u="sng" dirty="0"/>
              <a:t>Locally weighted regression</a:t>
            </a:r>
          </a:p>
          <a:p>
            <a:pPr lvl="2">
              <a:spcBef>
                <a:spcPts val="1700"/>
              </a:spcBef>
              <a:buFont typeface="Wingdings" pitchFamily="2" charset="2"/>
              <a:buChar char="q"/>
            </a:pPr>
            <a:r>
              <a:rPr lang="en-US" dirty="0"/>
              <a:t>Constructs local approximation</a:t>
            </a:r>
          </a:p>
          <a:p>
            <a:pPr lvl="1">
              <a:spcBef>
                <a:spcPts val="1700"/>
              </a:spcBef>
              <a:buFont typeface="Wingdings" pitchFamily="2" charset="2"/>
              <a:buChar char="Ø"/>
            </a:pPr>
            <a:r>
              <a:rPr lang="en-US" u="sng" dirty="0"/>
              <a:t>Case-based reasoning</a:t>
            </a:r>
          </a:p>
          <a:p>
            <a:pPr lvl="2">
              <a:spcBef>
                <a:spcPts val="1700"/>
              </a:spcBef>
              <a:buFont typeface="Wingdings" pitchFamily="2" charset="2"/>
              <a:buChar char="q"/>
            </a:pPr>
            <a:r>
              <a:rPr lang="en-US" dirty="0"/>
              <a:t>Uses symbolic representations and knowledge-based inference</a:t>
            </a:r>
          </a:p>
          <a:p>
            <a:pPr>
              <a:spcBef>
                <a:spcPts val="1700"/>
              </a:spcBef>
            </a:pPr>
            <a:endParaRPr lang="en-US" dirty="0"/>
          </a:p>
        </p:txBody>
      </p:sp>
    </p:spTree>
    <p:extLst>
      <p:ext uri="{BB962C8B-B14F-4D97-AF65-F5344CB8AC3E}">
        <p14:creationId xmlns:p14="http://schemas.microsoft.com/office/powerpoint/2010/main" val="1293128266"/>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EBCB3-F066-CF81-FD88-8A813588E712}"/>
              </a:ext>
            </a:extLst>
          </p:cNvPr>
          <p:cNvSpPr>
            <a:spLocks noGrp="1"/>
          </p:cNvSpPr>
          <p:nvPr>
            <p:ph type="title"/>
          </p:nvPr>
        </p:nvSpPr>
        <p:spPr/>
        <p:txBody>
          <a:bodyPr>
            <a:normAutofit fontScale="90000"/>
          </a:bodyPr>
          <a:lstStyle/>
          <a:p>
            <a:r>
              <a:rPr lang="en-US" dirty="0"/>
              <a:t>Non-parametric model</a:t>
            </a:r>
          </a:p>
        </p:txBody>
      </p:sp>
      <p:sp>
        <p:nvSpPr>
          <p:cNvPr id="3" name="Text Placeholder 2">
            <a:extLst>
              <a:ext uri="{FF2B5EF4-FFF2-40B4-BE49-F238E27FC236}">
                <a16:creationId xmlns:a16="http://schemas.microsoft.com/office/drawing/2014/main" id="{58BFFD7E-8815-28FF-05A0-D3107AF7CEC5}"/>
              </a:ext>
            </a:extLst>
          </p:cNvPr>
          <p:cNvSpPr>
            <a:spLocks noGrp="1"/>
          </p:cNvSpPr>
          <p:nvPr>
            <p:ph type="body" sz="quarter" idx="10"/>
          </p:nvPr>
        </p:nvSpPr>
        <p:spPr/>
        <p:txBody>
          <a:bodyPr/>
          <a:lstStyle/>
          <a:p>
            <a:r>
              <a:rPr lang="en-US" dirty="0"/>
              <a:t>Definition</a:t>
            </a:r>
          </a:p>
        </p:txBody>
      </p:sp>
      <p:sp>
        <p:nvSpPr>
          <p:cNvPr id="4" name="Content Placeholder 3">
            <a:extLst>
              <a:ext uri="{FF2B5EF4-FFF2-40B4-BE49-F238E27FC236}">
                <a16:creationId xmlns:a16="http://schemas.microsoft.com/office/drawing/2014/main" id="{82E7D895-B311-A0A0-15FB-EA232FFA65E1}"/>
              </a:ext>
            </a:extLst>
          </p:cNvPr>
          <p:cNvSpPr>
            <a:spLocks noGrp="1"/>
          </p:cNvSpPr>
          <p:nvPr>
            <p:ph sz="quarter" idx="11"/>
          </p:nvPr>
        </p:nvSpPr>
        <p:spPr/>
        <p:txBody>
          <a:bodyPr>
            <a:normAutofit/>
          </a:bodyPr>
          <a:lstStyle/>
          <a:p>
            <a:r>
              <a:rPr lang="en-US" dirty="0"/>
              <a:t>A non-parametric model is a type of model used in statistics and machine learning that does not assume any specific form for the relationship between independent and dependent variables. </a:t>
            </a:r>
          </a:p>
          <a:p>
            <a:r>
              <a:rPr lang="en-US" dirty="0"/>
              <a:t>Unlike parametric models, which are characterized by a finite set of parameters and a predetermined functional form, non-parametric models are more flexible as they do not require the underlying distribution or structure to be defined in advance.</a:t>
            </a:r>
          </a:p>
          <a:p>
            <a:r>
              <a:rPr lang="en-US" dirty="0"/>
              <a:t>This flexibility allows non-parametric models to adapt to the shape of the data, making them particularly useful when there is little or no prior knowledge about the distribution of the data or when the data structure is complex and does not fit well with common parametric models.</a:t>
            </a:r>
          </a:p>
        </p:txBody>
      </p:sp>
    </p:spTree>
    <p:extLst>
      <p:ext uri="{BB962C8B-B14F-4D97-AF65-F5344CB8AC3E}">
        <p14:creationId xmlns:p14="http://schemas.microsoft.com/office/powerpoint/2010/main" val="3489762653"/>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EBCB3-F066-CF81-FD88-8A813588E712}"/>
              </a:ext>
            </a:extLst>
          </p:cNvPr>
          <p:cNvSpPr>
            <a:spLocks noGrp="1"/>
          </p:cNvSpPr>
          <p:nvPr>
            <p:ph type="title"/>
          </p:nvPr>
        </p:nvSpPr>
        <p:spPr/>
        <p:txBody>
          <a:bodyPr>
            <a:normAutofit fontScale="90000"/>
          </a:bodyPr>
          <a:lstStyle/>
          <a:p>
            <a:r>
              <a:rPr lang="en-US" dirty="0"/>
              <a:t>Non-parametric model</a:t>
            </a:r>
          </a:p>
        </p:txBody>
      </p:sp>
      <p:sp>
        <p:nvSpPr>
          <p:cNvPr id="3" name="Text Placeholder 2">
            <a:extLst>
              <a:ext uri="{FF2B5EF4-FFF2-40B4-BE49-F238E27FC236}">
                <a16:creationId xmlns:a16="http://schemas.microsoft.com/office/drawing/2014/main" id="{58BFFD7E-8815-28FF-05A0-D3107AF7CEC5}"/>
              </a:ext>
            </a:extLst>
          </p:cNvPr>
          <p:cNvSpPr>
            <a:spLocks noGrp="1"/>
          </p:cNvSpPr>
          <p:nvPr>
            <p:ph type="body" sz="quarter" idx="10"/>
          </p:nvPr>
        </p:nvSpPr>
        <p:spPr/>
        <p:txBody>
          <a:bodyPr/>
          <a:lstStyle/>
          <a:p>
            <a:r>
              <a:rPr lang="en-US" dirty="0"/>
              <a:t>example</a:t>
            </a:r>
          </a:p>
        </p:txBody>
      </p:sp>
      <p:sp>
        <p:nvSpPr>
          <p:cNvPr id="4" name="Content Placeholder 3">
            <a:extLst>
              <a:ext uri="{FF2B5EF4-FFF2-40B4-BE49-F238E27FC236}">
                <a16:creationId xmlns:a16="http://schemas.microsoft.com/office/drawing/2014/main" id="{82E7D895-B311-A0A0-15FB-EA232FFA65E1}"/>
              </a:ext>
            </a:extLst>
          </p:cNvPr>
          <p:cNvSpPr>
            <a:spLocks noGrp="1"/>
          </p:cNvSpPr>
          <p:nvPr>
            <p:ph sz="quarter" idx="11"/>
          </p:nvPr>
        </p:nvSpPr>
        <p:spPr/>
        <p:txBody>
          <a:bodyPr>
            <a:normAutofit fontScale="92500" lnSpcReduction="10000"/>
          </a:bodyPr>
          <a:lstStyle/>
          <a:p>
            <a:r>
              <a:rPr lang="en-ID" dirty="0"/>
              <a:t>There are several types of non-parametric models used in various statistical and machine learning tasks. Some common examples include:</a:t>
            </a:r>
          </a:p>
          <a:p>
            <a:pPr lvl="1">
              <a:buFont typeface="Wingdings" pitchFamily="2" charset="2"/>
              <a:buChar char="Ø"/>
            </a:pPr>
            <a:r>
              <a:rPr lang="en-ID" dirty="0">
                <a:effectLst/>
              </a:rPr>
              <a:t>Kernel Density Estimation (KDE):A non-parametric way to estimate the probability density function of a random variable.</a:t>
            </a:r>
          </a:p>
          <a:p>
            <a:pPr lvl="1">
              <a:buFont typeface="Wingdings" pitchFamily="2" charset="2"/>
              <a:buChar char="Ø"/>
            </a:pPr>
            <a:r>
              <a:rPr lang="en-ID" dirty="0">
                <a:effectLst/>
              </a:rPr>
              <a:t>K-Nearest </a:t>
            </a:r>
            <a:r>
              <a:rPr lang="en-ID" dirty="0" err="1">
                <a:effectLst/>
              </a:rPr>
              <a:t>Neighbors</a:t>
            </a:r>
            <a:r>
              <a:rPr lang="en-ID" dirty="0">
                <a:effectLst/>
              </a:rPr>
              <a:t> (KNN): A simple algorithm that stores all available cases and classifies new cases based on a similarity measure (e.g., distance functions).</a:t>
            </a:r>
          </a:p>
          <a:p>
            <a:pPr lvl="1">
              <a:buFont typeface="Wingdings" pitchFamily="2" charset="2"/>
              <a:buChar char="Ø"/>
            </a:pPr>
            <a:r>
              <a:rPr lang="en-ID" dirty="0">
                <a:effectLst/>
              </a:rPr>
              <a:t>Decision Trees: A model that predicts the value of a target variable by learning simple decision rules inferred from the data features.</a:t>
            </a:r>
          </a:p>
          <a:p>
            <a:pPr marL="0" indent="0">
              <a:buNone/>
            </a:pPr>
            <a:br>
              <a:rPr lang="en-ID" dirty="0">
                <a:effectLst/>
              </a:rPr>
            </a:br>
            <a:endParaRPr lang="en-ID" dirty="0">
              <a:effectLst/>
            </a:endParaRPr>
          </a:p>
        </p:txBody>
      </p:sp>
    </p:spTree>
    <p:extLst>
      <p:ext uri="{BB962C8B-B14F-4D97-AF65-F5344CB8AC3E}">
        <p14:creationId xmlns:p14="http://schemas.microsoft.com/office/powerpoint/2010/main" val="2142750863"/>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71253-7465-8277-70CC-488CE5750C4C}"/>
              </a:ext>
            </a:extLst>
          </p:cNvPr>
          <p:cNvSpPr>
            <a:spLocks noGrp="1"/>
          </p:cNvSpPr>
          <p:nvPr>
            <p:ph type="title"/>
          </p:nvPr>
        </p:nvSpPr>
        <p:spPr/>
        <p:txBody>
          <a:bodyPr>
            <a:normAutofit fontScale="90000"/>
          </a:bodyPr>
          <a:lstStyle/>
          <a:p>
            <a:r>
              <a:rPr lang="en-US" dirty="0"/>
              <a:t>K-nearest neighbor</a:t>
            </a:r>
          </a:p>
        </p:txBody>
      </p:sp>
      <p:sp>
        <p:nvSpPr>
          <p:cNvPr id="3" name="Text Placeholder 2">
            <a:extLst>
              <a:ext uri="{FF2B5EF4-FFF2-40B4-BE49-F238E27FC236}">
                <a16:creationId xmlns:a16="http://schemas.microsoft.com/office/drawing/2014/main" id="{CE9CDD05-15EF-2B1B-96BA-733976E0A128}"/>
              </a:ext>
            </a:extLst>
          </p:cNvPr>
          <p:cNvSpPr>
            <a:spLocks noGrp="1"/>
          </p:cNvSpPr>
          <p:nvPr>
            <p:ph type="body" sz="quarter" idx="10"/>
          </p:nvPr>
        </p:nvSpPr>
        <p:spPr/>
        <p:txBody>
          <a:bodyPr/>
          <a:lstStyle/>
          <a:p>
            <a:r>
              <a:rPr lang="en-US" dirty="0"/>
              <a:t>definition</a:t>
            </a:r>
          </a:p>
        </p:txBody>
      </p:sp>
      <p:sp>
        <p:nvSpPr>
          <p:cNvPr id="4" name="Content Placeholder 3">
            <a:extLst>
              <a:ext uri="{FF2B5EF4-FFF2-40B4-BE49-F238E27FC236}">
                <a16:creationId xmlns:a16="http://schemas.microsoft.com/office/drawing/2014/main" id="{F4BF1C15-9C9C-FABF-6BE7-AF7E1CC12062}"/>
              </a:ext>
            </a:extLst>
          </p:cNvPr>
          <p:cNvSpPr>
            <a:spLocks noGrp="1"/>
          </p:cNvSpPr>
          <p:nvPr>
            <p:ph sz="quarter" idx="11"/>
          </p:nvPr>
        </p:nvSpPr>
        <p:spPr/>
        <p:txBody>
          <a:bodyPr/>
          <a:lstStyle/>
          <a:p>
            <a:r>
              <a:rPr lang="en-US" dirty="0"/>
              <a:t>All instances correspond to points in the n-D space</a:t>
            </a:r>
          </a:p>
          <a:p>
            <a:r>
              <a:rPr lang="en-US" dirty="0"/>
              <a:t>The nearest neighbor are defined in terms of Euclidean distance, </a:t>
            </a:r>
            <a:r>
              <a:rPr lang="en-US" dirty="0" err="1"/>
              <a:t>dist</a:t>
            </a:r>
            <a:r>
              <a:rPr lang="en-US" dirty="0"/>
              <a:t>(X1, X2)</a:t>
            </a:r>
          </a:p>
          <a:p>
            <a:r>
              <a:rPr lang="en-US" dirty="0"/>
              <a:t>Target function could be discrete- or real- valued</a:t>
            </a:r>
          </a:p>
          <a:p>
            <a:r>
              <a:rPr lang="en-US" dirty="0"/>
              <a:t>For discrete-valued, k-NN returns the most common value among the k training examples nearest to </a:t>
            </a:r>
            <a:r>
              <a:rPr lang="en-US" dirty="0" err="1"/>
              <a:t>xq</a:t>
            </a:r>
            <a:endParaRPr lang="en-US" dirty="0"/>
          </a:p>
          <a:p>
            <a:endParaRPr lang="en-US" dirty="0"/>
          </a:p>
        </p:txBody>
      </p:sp>
    </p:spTree>
    <p:extLst>
      <p:ext uri="{BB962C8B-B14F-4D97-AF65-F5344CB8AC3E}">
        <p14:creationId xmlns:p14="http://schemas.microsoft.com/office/powerpoint/2010/main" val="653730104"/>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EB19F-3FD3-2484-9169-56E4556B3B82}"/>
              </a:ext>
            </a:extLst>
          </p:cNvPr>
          <p:cNvSpPr>
            <a:spLocks noGrp="1"/>
          </p:cNvSpPr>
          <p:nvPr>
            <p:ph type="title"/>
          </p:nvPr>
        </p:nvSpPr>
        <p:spPr/>
        <p:txBody>
          <a:bodyPr>
            <a:normAutofit fontScale="90000"/>
          </a:bodyPr>
          <a:lstStyle/>
          <a:p>
            <a:r>
              <a:rPr lang="en-US" dirty="0"/>
              <a:t>K-Nearest neighbor</a:t>
            </a:r>
          </a:p>
        </p:txBody>
      </p:sp>
      <p:sp>
        <p:nvSpPr>
          <p:cNvPr id="3" name="Text Placeholder 2">
            <a:extLst>
              <a:ext uri="{FF2B5EF4-FFF2-40B4-BE49-F238E27FC236}">
                <a16:creationId xmlns:a16="http://schemas.microsoft.com/office/drawing/2014/main" id="{466F05BF-E9F7-D563-BFC3-4855B146DF16}"/>
              </a:ext>
            </a:extLst>
          </p:cNvPr>
          <p:cNvSpPr>
            <a:spLocks noGrp="1"/>
          </p:cNvSpPr>
          <p:nvPr>
            <p:ph type="body" sz="quarter" idx="10"/>
          </p:nvPr>
        </p:nvSpPr>
        <p:spPr/>
        <p:txBody>
          <a:bodyPr/>
          <a:lstStyle/>
          <a:p>
            <a:r>
              <a:rPr lang="en-US" dirty="0"/>
              <a:t>Algorithm</a:t>
            </a:r>
          </a:p>
        </p:txBody>
      </p:sp>
      <p:pic>
        <p:nvPicPr>
          <p:cNvPr id="5" name="Gambar 2">
            <a:extLst>
              <a:ext uri="{FF2B5EF4-FFF2-40B4-BE49-F238E27FC236}">
                <a16:creationId xmlns:a16="http://schemas.microsoft.com/office/drawing/2014/main" id="{D8E2937F-0F62-72A7-C970-D17EDCC67DA2}"/>
              </a:ext>
            </a:extLst>
          </p:cNvPr>
          <p:cNvPicPr>
            <a:picLocks noGrp="1" noChangeAspect="1"/>
          </p:cNvPicPr>
          <p:nvPr>
            <p:ph sz="quarter" idx="11"/>
          </p:nvPr>
        </p:nvPicPr>
        <p:blipFill rotWithShape="1">
          <a:blip r:embed="rId2"/>
          <a:srcRect t="17291"/>
          <a:stretch/>
        </p:blipFill>
        <p:spPr>
          <a:xfrm>
            <a:off x="2167377" y="4117913"/>
            <a:ext cx="20349037" cy="7522408"/>
          </a:xfrm>
          <a:prstGeom prst="rect">
            <a:avLst/>
          </a:prstGeom>
        </p:spPr>
      </p:pic>
    </p:spTree>
    <p:extLst>
      <p:ext uri="{BB962C8B-B14F-4D97-AF65-F5344CB8AC3E}">
        <p14:creationId xmlns:p14="http://schemas.microsoft.com/office/powerpoint/2010/main" val="2707197080"/>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EB19F-3FD3-2484-9169-56E4556B3B82}"/>
              </a:ext>
            </a:extLst>
          </p:cNvPr>
          <p:cNvSpPr>
            <a:spLocks noGrp="1"/>
          </p:cNvSpPr>
          <p:nvPr>
            <p:ph type="title"/>
          </p:nvPr>
        </p:nvSpPr>
        <p:spPr/>
        <p:txBody>
          <a:bodyPr>
            <a:normAutofit fontScale="90000"/>
          </a:bodyPr>
          <a:lstStyle/>
          <a:p>
            <a:r>
              <a:rPr lang="en-US" dirty="0"/>
              <a:t>K-Nearest neighbor</a:t>
            </a:r>
          </a:p>
        </p:txBody>
      </p:sp>
      <p:sp>
        <p:nvSpPr>
          <p:cNvPr id="3" name="Text Placeholder 2">
            <a:extLst>
              <a:ext uri="{FF2B5EF4-FFF2-40B4-BE49-F238E27FC236}">
                <a16:creationId xmlns:a16="http://schemas.microsoft.com/office/drawing/2014/main" id="{466F05BF-E9F7-D563-BFC3-4855B146DF16}"/>
              </a:ext>
            </a:extLst>
          </p:cNvPr>
          <p:cNvSpPr>
            <a:spLocks noGrp="1"/>
          </p:cNvSpPr>
          <p:nvPr>
            <p:ph type="body" sz="quarter" idx="10"/>
          </p:nvPr>
        </p:nvSpPr>
        <p:spPr/>
        <p:txBody>
          <a:bodyPr/>
          <a:lstStyle/>
          <a:p>
            <a:r>
              <a:rPr lang="en-US" dirty="0"/>
              <a:t>Algorithm</a:t>
            </a:r>
          </a:p>
        </p:txBody>
      </p:sp>
      <p:pic>
        <p:nvPicPr>
          <p:cNvPr id="7" name="Gambar 1">
            <a:extLst>
              <a:ext uri="{FF2B5EF4-FFF2-40B4-BE49-F238E27FC236}">
                <a16:creationId xmlns:a16="http://schemas.microsoft.com/office/drawing/2014/main" id="{660B6B6F-7CBC-C0AF-6F14-7BFA33CC29F2}"/>
              </a:ext>
            </a:extLst>
          </p:cNvPr>
          <p:cNvPicPr>
            <a:picLocks noGrp="1" noChangeAspect="1"/>
          </p:cNvPicPr>
          <p:nvPr>
            <p:ph sz="quarter" idx="11"/>
          </p:nvPr>
        </p:nvPicPr>
        <p:blipFill>
          <a:blip r:embed="rId2"/>
          <a:stretch>
            <a:fillRect/>
          </a:stretch>
        </p:blipFill>
        <p:spPr>
          <a:xfrm>
            <a:off x="1155710" y="4600574"/>
            <a:ext cx="22000174" cy="5884545"/>
          </a:xfrm>
          <a:prstGeom prst="rect">
            <a:avLst/>
          </a:prstGeom>
        </p:spPr>
      </p:pic>
    </p:spTree>
    <p:extLst>
      <p:ext uri="{BB962C8B-B14F-4D97-AF65-F5344CB8AC3E}">
        <p14:creationId xmlns:p14="http://schemas.microsoft.com/office/powerpoint/2010/main" val="770518957"/>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71253-7465-8277-70CC-488CE5750C4C}"/>
              </a:ext>
            </a:extLst>
          </p:cNvPr>
          <p:cNvSpPr>
            <a:spLocks noGrp="1"/>
          </p:cNvSpPr>
          <p:nvPr>
            <p:ph type="title"/>
          </p:nvPr>
        </p:nvSpPr>
        <p:spPr/>
        <p:txBody>
          <a:bodyPr>
            <a:normAutofit fontScale="90000"/>
          </a:bodyPr>
          <a:lstStyle/>
          <a:p>
            <a:r>
              <a:rPr lang="en-US" dirty="0"/>
              <a:t>K-nearest neighbor</a:t>
            </a:r>
          </a:p>
        </p:txBody>
      </p:sp>
      <p:sp>
        <p:nvSpPr>
          <p:cNvPr id="3" name="Text Placeholder 2">
            <a:extLst>
              <a:ext uri="{FF2B5EF4-FFF2-40B4-BE49-F238E27FC236}">
                <a16:creationId xmlns:a16="http://schemas.microsoft.com/office/drawing/2014/main" id="{CE9CDD05-15EF-2B1B-96BA-733976E0A128}"/>
              </a:ext>
            </a:extLst>
          </p:cNvPr>
          <p:cNvSpPr>
            <a:spLocks noGrp="1"/>
          </p:cNvSpPr>
          <p:nvPr>
            <p:ph type="body" sz="quarter" idx="10"/>
          </p:nvPr>
        </p:nvSpPr>
        <p:spPr/>
        <p:txBody>
          <a:bodyPr/>
          <a:lstStyle/>
          <a:p>
            <a:r>
              <a:rPr lang="en-US" dirty="0"/>
              <a:t>Selection of k for k-NN</a:t>
            </a:r>
          </a:p>
        </p:txBody>
      </p:sp>
      <p:sp>
        <p:nvSpPr>
          <p:cNvPr id="4" name="Content Placeholder 3">
            <a:extLst>
              <a:ext uri="{FF2B5EF4-FFF2-40B4-BE49-F238E27FC236}">
                <a16:creationId xmlns:a16="http://schemas.microsoft.com/office/drawing/2014/main" id="{F4BF1C15-9C9C-FABF-6BE7-AF7E1CC12062}"/>
              </a:ext>
            </a:extLst>
          </p:cNvPr>
          <p:cNvSpPr>
            <a:spLocks noGrp="1"/>
          </p:cNvSpPr>
          <p:nvPr>
            <p:ph sz="quarter" idx="11"/>
          </p:nvPr>
        </p:nvSpPr>
        <p:spPr/>
        <p:txBody>
          <a:bodyPr>
            <a:normAutofit/>
          </a:bodyPr>
          <a:lstStyle/>
          <a:p>
            <a:pPr>
              <a:spcBef>
                <a:spcPts val="1700"/>
              </a:spcBef>
            </a:pPr>
            <a:r>
              <a:rPr lang="en-US" dirty="0"/>
              <a:t>The number of neighbors k should be </a:t>
            </a:r>
            <a:r>
              <a:rPr lang="en-US" b="1" dirty="0"/>
              <a:t>odd</a:t>
            </a:r>
            <a:r>
              <a:rPr lang="en-US" dirty="0"/>
              <a:t> </a:t>
            </a:r>
          </a:p>
          <a:p>
            <a:pPr>
              <a:spcBef>
                <a:spcPts val="1700"/>
              </a:spcBef>
            </a:pPr>
            <a:r>
              <a:rPr lang="en-US" dirty="0"/>
              <a:t>Small k: overfitting (high variance, low bias) </a:t>
            </a:r>
          </a:p>
          <a:p>
            <a:pPr>
              <a:spcBef>
                <a:spcPts val="1700"/>
              </a:spcBef>
            </a:pPr>
            <a:r>
              <a:rPr lang="en-US" dirty="0"/>
              <a:t>Big k: bringing too many irrelevant points (high bias, low variance)</a:t>
            </a:r>
          </a:p>
        </p:txBody>
      </p:sp>
      <p:pic>
        <p:nvPicPr>
          <p:cNvPr id="6" name="Picture 5">
            <a:extLst>
              <a:ext uri="{FF2B5EF4-FFF2-40B4-BE49-F238E27FC236}">
                <a16:creationId xmlns:a16="http://schemas.microsoft.com/office/drawing/2014/main" id="{47E5AE6A-3129-5A69-7710-78D893190348}"/>
              </a:ext>
            </a:extLst>
          </p:cNvPr>
          <p:cNvPicPr>
            <a:picLocks noChangeAspect="1"/>
          </p:cNvPicPr>
          <p:nvPr/>
        </p:nvPicPr>
        <p:blipFill>
          <a:blip r:embed="rId2"/>
          <a:stretch>
            <a:fillRect/>
          </a:stretch>
        </p:blipFill>
        <p:spPr>
          <a:xfrm>
            <a:off x="1802158" y="6057255"/>
            <a:ext cx="20268187" cy="6665011"/>
          </a:xfrm>
          <a:prstGeom prst="rect">
            <a:avLst/>
          </a:prstGeom>
        </p:spPr>
      </p:pic>
      <p:sp>
        <p:nvSpPr>
          <p:cNvPr id="7" name="Rectangle 6">
            <a:extLst>
              <a:ext uri="{FF2B5EF4-FFF2-40B4-BE49-F238E27FC236}">
                <a16:creationId xmlns:a16="http://schemas.microsoft.com/office/drawing/2014/main" id="{17530B3C-FA52-5129-2185-BD703CB464CD}"/>
              </a:ext>
            </a:extLst>
          </p:cNvPr>
          <p:cNvSpPr/>
          <p:nvPr/>
        </p:nvSpPr>
        <p:spPr>
          <a:xfrm>
            <a:off x="12128713" y="12807991"/>
            <a:ext cx="9941632" cy="553998"/>
          </a:xfrm>
          <a:prstGeom prst="rect">
            <a:avLst/>
          </a:prstGeom>
        </p:spPr>
        <p:txBody>
          <a:bodyPr wrap="none">
            <a:spAutoFit/>
          </a:bodyPr>
          <a:lstStyle/>
          <a:p>
            <a:pPr marL="0" marR="0" lvl="0" indent="0" algn="l" defTabSz="457178" rtl="0" eaLnBrk="1" fontAlgn="auto" latinLnBrk="0" hangingPunct="1">
              <a:lnSpc>
                <a:spcPct val="100000"/>
              </a:lnSpc>
              <a:spcBef>
                <a:spcPts val="0"/>
              </a:spcBef>
              <a:spcAft>
                <a:spcPts val="0"/>
              </a:spcAft>
              <a:buClrTx/>
              <a:buSzTx/>
              <a:buFontTx/>
              <a:buNone/>
              <a:tabLst/>
              <a:defRPr/>
            </a:pPr>
            <a:r>
              <a:rPr kumimoji="0" lang="en-US" sz="3000" b="0" i="0" u="none" strike="noStrike" kern="1200" cap="none" spc="0" normalizeH="0" baseline="0" noProof="0" dirty="0">
                <a:ln>
                  <a:noFill/>
                </a:ln>
                <a:solidFill>
                  <a:srgbClr val="000000"/>
                </a:solidFill>
                <a:effectLst/>
                <a:uLnTx/>
                <a:uFillTx/>
                <a:latin typeface="Calibri"/>
                <a:ea typeface="+mn-ea"/>
                <a:cs typeface="+mn-cs"/>
              </a:rPr>
              <a:t>Source: http://scott.fortmann-roe.com/docs/BiasVariance.html</a:t>
            </a:r>
          </a:p>
        </p:txBody>
      </p:sp>
    </p:spTree>
    <p:extLst>
      <p:ext uri="{BB962C8B-B14F-4D97-AF65-F5344CB8AC3E}">
        <p14:creationId xmlns:p14="http://schemas.microsoft.com/office/powerpoint/2010/main" val="3179019740"/>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45BBF-80CB-BA34-4E7A-3C5BA381DB17}"/>
              </a:ext>
            </a:extLst>
          </p:cNvPr>
          <p:cNvSpPr>
            <a:spLocks noGrp="1"/>
          </p:cNvSpPr>
          <p:nvPr>
            <p:ph type="title"/>
          </p:nvPr>
        </p:nvSpPr>
        <p:spPr/>
        <p:txBody>
          <a:bodyPr>
            <a:normAutofit fontScale="90000"/>
          </a:bodyPr>
          <a:lstStyle/>
          <a:p>
            <a:r>
              <a:rPr lang="en-US" dirty="0"/>
              <a:t>K-nearest neighbor</a:t>
            </a:r>
          </a:p>
        </p:txBody>
      </p:sp>
      <p:sp>
        <p:nvSpPr>
          <p:cNvPr id="3" name="Text Placeholder 2">
            <a:extLst>
              <a:ext uri="{FF2B5EF4-FFF2-40B4-BE49-F238E27FC236}">
                <a16:creationId xmlns:a16="http://schemas.microsoft.com/office/drawing/2014/main" id="{E6D57F2B-77B8-93FE-2A85-BB752CDDA89E}"/>
              </a:ext>
            </a:extLst>
          </p:cNvPr>
          <p:cNvSpPr>
            <a:spLocks noGrp="1"/>
          </p:cNvSpPr>
          <p:nvPr>
            <p:ph type="body" sz="quarter" idx="10"/>
          </p:nvPr>
        </p:nvSpPr>
        <p:spPr/>
        <p:txBody>
          <a:bodyPr/>
          <a:lstStyle/>
          <a:p>
            <a:r>
              <a:rPr lang="en-US" dirty="0"/>
              <a:t>Distance metrics</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62EF3CE8-7BFA-5A2A-72CD-8FA5B00E813E}"/>
                  </a:ext>
                </a:extLst>
              </p:cNvPr>
              <p:cNvSpPr>
                <a:spLocks noGrp="1"/>
              </p:cNvSpPr>
              <p:nvPr>
                <p:ph sz="quarter" idx="11"/>
              </p:nvPr>
            </p:nvSpPr>
            <p:spPr/>
            <p:txBody>
              <a:bodyPr>
                <a:normAutofit/>
              </a:bodyPr>
              <a:lstStyle/>
              <a:p>
                <a:pPr>
                  <a:spcAft>
                    <a:spcPts val="2400"/>
                  </a:spcAft>
                </a:pPr>
                <a:r>
                  <a:rPr lang="en-US" dirty="0"/>
                  <a:t>Manhattan distance:</a:t>
                </a:r>
              </a:p>
              <a:p>
                <a:pPr marL="0" indent="0">
                  <a:buNone/>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𝑑</m:t>
                      </m:r>
                      <m:d>
                        <m:dPr>
                          <m:ctrlPr>
                            <a:rPr lang="en-US" sz="4000" b="0" i="1" smtClean="0">
                              <a:latin typeface="Cambria Math" panose="02040503050406030204" pitchFamily="18" charset="0"/>
                            </a:rPr>
                          </m:ctrlPr>
                        </m:dPr>
                        <m:e>
                          <m:r>
                            <a:rPr lang="en-US" sz="4000" b="0" i="1" smtClean="0">
                              <a:latin typeface="Cambria Math" panose="02040503050406030204" pitchFamily="18" charset="0"/>
                            </a:rPr>
                            <m:t>𝑝</m:t>
                          </m:r>
                          <m:r>
                            <a:rPr lang="en-US" sz="4000" b="0" i="1" smtClean="0">
                              <a:latin typeface="Cambria Math" panose="02040503050406030204" pitchFamily="18" charset="0"/>
                            </a:rPr>
                            <m:t>, </m:t>
                          </m:r>
                          <m:r>
                            <a:rPr lang="en-US" sz="4000" b="0" i="1" smtClean="0">
                              <a:latin typeface="Cambria Math" panose="02040503050406030204" pitchFamily="18" charset="0"/>
                            </a:rPr>
                            <m:t>𝑞</m:t>
                          </m:r>
                        </m:e>
                      </m:d>
                      <m:r>
                        <a:rPr lang="en-US" sz="4000" b="0" i="1" smtClean="0">
                          <a:latin typeface="Cambria Math" panose="02040503050406030204" pitchFamily="18" charset="0"/>
                        </a:rPr>
                        <m:t>=</m:t>
                      </m:r>
                      <m:d>
                        <m:dPr>
                          <m:begChr m:val="|"/>
                          <m:endChr m:val="|"/>
                          <m:ctrlPr>
                            <a:rPr lang="en-US" sz="4000" i="1">
                              <a:latin typeface="Cambria Math" panose="02040503050406030204" pitchFamily="18" charset="0"/>
                            </a:rPr>
                          </m:ctrlPr>
                        </m:dPr>
                        <m:e>
                          <m:r>
                            <a:rPr lang="en-US" sz="4000" i="1">
                              <a:latin typeface="Cambria Math" panose="02040503050406030204" pitchFamily="18" charset="0"/>
                            </a:rPr>
                            <m:t> </m:t>
                          </m:r>
                          <m:sSub>
                            <m:sSubPr>
                              <m:ctrlPr>
                                <a:rPr lang="en-US" sz="4000" i="1">
                                  <a:latin typeface="Cambria Math" panose="02040503050406030204" pitchFamily="18" charset="0"/>
                                </a:rPr>
                              </m:ctrlPr>
                            </m:sSubPr>
                            <m:e>
                              <m:r>
                                <a:rPr lang="en-US" sz="4000" i="1">
                                  <a:latin typeface="Cambria Math" panose="02040503050406030204" pitchFamily="18" charset="0"/>
                                </a:rPr>
                                <m:t>𝑝</m:t>
                              </m:r>
                            </m:e>
                            <m:sub>
                              <m:r>
                                <a:rPr lang="en-US" sz="4000" b="0" i="1" smtClean="0">
                                  <a:latin typeface="Cambria Math" panose="02040503050406030204" pitchFamily="18" charset="0"/>
                                </a:rPr>
                                <m:t>1</m:t>
                              </m:r>
                            </m:sub>
                          </m:sSub>
                          <m:r>
                            <a:rPr lang="en-US" sz="4000" i="1">
                              <a:latin typeface="Cambria Math" panose="02040503050406030204" pitchFamily="18" charset="0"/>
                            </a:rPr>
                            <m:t>−</m:t>
                          </m:r>
                          <m:sSub>
                            <m:sSubPr>
                              <m:ctrlPr>
                                <a:rPr lang="en-US" sz="4000" i="1">
                                  <a:latin typeface="Cambria Math" panose="02040503050406030204" pitchFamily="18" charset="0"/>
                                </a:rPr>
                              </m:ctrlPr>
                            </m:sSubPr>
                            <m:e>
                              <m:r>
                                <a:rPr lang="en-US" sz="4000" i="1">
                                  <a:latin typeface="Cambria Math" panose="02040503050406030204" pitchFamily="18" charset="0"/>
                                </a:rPr>
                                <m:t>𝑞</m:t>
                              </m:r>
                            </m:e>
                            <m:sub>
                              <m:r>
                                <a:rPr lang="en-US" sz="4000" b="0" i="1" smtClean="0">
                                  <a:latin typeface="Cambria Math" panose="02040503050406030204" pitchFamily="18" charset="0"/>
                                </a:rPr>
                                <m:t>1</m:t>
                              </m:r>
                            </m:sub>
                          </m:sSub>
                        </m:e>
                      </m:d>
                      <m:r>
                        <a:rPr lang="en-US" sz="4000" i="1">
                          <a:latin typeface="Cambria Math" panose="02040503050406030204" pitchFamily="18" charset="0"/>
                        </a:rPr>
                        <m:t>+</m:t>
                      </m:r>
                      <m:d>
                        <m:dPr>
                          <m:begChr m:val="|"/>
                          <m:endChr m:val="|"/>
                          <m:ctrlPr>
                            <a:rPr lang="en-US" sz="4000" i="1">
                              <a:latin typeface="Cambria Math" panose="02040503050406030204" pitchFamily="18" charset="0"/>
                            </a:rPr>
                          </m:ctrlPr>
                        </m:dPr>
                        <m:e>
                          <m:r>
                            <a:rPr lang="en-US" sz="4000" i="1">
                              <a:latin typeface="Cambria Math" panose="02040503050406030204" pitchFamily="18" charset="0"/>
                            </a:rPr>
                            <m:t> </m:t>
                          </m:r>
                          <m:sSub>
                            <m:sSubPr>
                              <m:ctrlPr>
                                <a:rPr lang="en-US" sz="4000" i="1">
                                  <a:latin typeface="Cambria Math" panose="02040503050406030204" pitchFamily="18" charset="0"/>
                                </a:rPr>
                              </m:ctrlPr>
                            </m:sSubPr>
                            <m:e>
                              <m:r>
                                <a:rPr lang="en-US" sz="4000" i="1">
                                  <a:latin typeface="Cambria Math" panose="02040503050406030204" pitchFamily="18" charset="0"/>
                                </a:rPr>
                                <m:t>𝑝</m:t>
                              </m:r>
                            </m:e>
                            <m:sub>
                              <m:r>
                                <a:rPr lang="en-US" sz="4000" b="0" i="1" smtClean="0">
                                  <a:latin typeface="Cambria Math" panose="02040503050406030204" pitchFamily="18" charset="0"/>
                                </a:rPr>
                                <m:t>2</m:t>
                              </m:r>
                            </m:sub>
                          </m:sSub>
                          <m:r>
                            <a:rPr lang="en-US" sz="4000" i="1">
                              <a:latin typeface="Cambria Math" panose="02040503050406030204" pitchFamily="18" charset="0"/>
                            </a:rPr>
                            <m:t>−</m:t>
                          </m:r>
                          <m:sSub>
                            <m:sSubPr>
                              <m:ctrlPr>
                                <a:rPr lang="en-US" sz="4000" i="1">
                                  <a:latin typeface="Cambria Math" panose="02040503050406030204" pitchFamily="18" charset="0"/>
                                </a:rPr>
                              </m:ctrlPr>
                            </m:sSubPr>
                            <m:e>
                              <m:r>
                                <a:rPr lang="en-US" sz="4000" i="1">
                                  <a:latin typeface="Cambria Math" panose="02040503050406030204" pitchFamily="18" charset="0"/>
                                </a:rPr>
                                <m:t>𝑞</m:t>
                              </m:r>
                            </m:e>
                            <m:sub>
                              <m:r>
                                <a:rPr lang="en-US" sz="4000" b="0" i="1" smtClean="0">
                                  <a:latin typeface="Cambria Math" panose="02040503050406030204" pitchFamily="18" charset="0"/>
                                </a:rPr>
                                <m:t>2</m:t>
                              </m:r>
                            </m:sub>
                          </m:sSub>
                        </m:e>
                      </m:d>
                      <m:r>
                        <a:rPr lang="en-US" sz="4000" i="1">
                          <a:latin typeface="Cambria Math" panose="02040503050406030204" pitchFamily="18" charset="0"/>
                        </a:rPr>
                        <m:t>+…+</m:t>
                      </m:r>
                      <m:d>
                        <m:dPr>
                          <m:begChr m:val="|"/>
                          <m:endChr m:val="|"/>
                          <m:ctrlPr>
                            <a:rPr lang="en-US" sz="4000" b="0" i="1" smtClean="0">
                              <a:latin typeface="Cambria Math" panose="02040503050406030204" pitchFamily="18" charset="0"/>
                            </a:rPr>
                          </m:ctrlPr>
                        </m:dPr>
                        <m:e>
                          <m:r>
                            <a:rPr lang="en-US" sz="4000" b="0" i="1" smtClean="0">
                              <a:latin typeface="Cambria Math" panose="02040503050406030204" pitchFamily="18" charset="0"/>
                            </a:rPr>
                            <m:t> </m:t>
                          </m:r>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𝑝</m:t>
                              </m:r>
                            </m:e>
                            <m:sub>
                              <m:r>
                                <a:rPr lang="en-US" sz="4000" b="0" i="1" smtClean="0">
                                  <a:latin typeface="Cambria Math" panose="02040503050406030204" pitchFamily="18" charset="0"/>
                                </a:rPr>
                                <m:t>𝑛</m:t>
                              </m:r>
                            </m:sub>
                          </m:sSub>
                          <m:r>
                            <a:rPr lang="en-US" sz="4000" b="0" i="1" smtClean="0">
                              <a:latin typeface="Cambria Math" panose="02040503050406030204" pitchFamily="18" charset="0"/>
                            </a:rPr>
                            <m:t>−</m:t>
                          </m:r>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𝑞</m:t>
                              </m:r>
                            </m:e>
                            <m:sub>
                              <m:r>
                                <a:rPr lang="en-US" sz="4000" b="0" i="1" smtClean="0">
                                  <a:latin typeface="Cambria Math" panose="02040503050406030204" pitchFamily="18" charset="0"/>
                                </a:rPr>
                                <m:t>𝑛</m:t>
                              </m:r>
                            </m:sub>
                          </m:sSub>
                        </m:e>
                      </m:d>
                    </m:oMath>
                  </m:oMathPara>
                </a14:m>
                <a:endParaRPr lang="en-US" sz="4000" dirty="0"/>
              </a:p>
              <a:p>
                <a:pPr>
                  <a:spcAft>
                    <a:spcPts val="2400"/>
                  </a:spcAft>
                </a:pPr>
                <a:r>
                  <a:rPr lang="en-US" dirty="0"/>
                  <a:t>Euclidean distance:</a:t>
                </a:r>
              </a:p>
              <a:p>
                <a:pPr marL="0" indent="0">
                  <a:buNone/>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𝑑</m:t>
                      </m:r>
                      <m:d>
                        <m:dPr>
                          <m:ctrlPr>
                            <a:rPr lang="en-US" sz="4000" b="0" i="1" smtClean="0">
                              <a:latin typeface="Cambria Math" panose="02040503050406030204" pitchFamily="18" charset="0"/>
                            </a:rPr>
                          </m:ctrlPr>
                        </m:dPr>
                        <m:e>
                          <m:r>
                            <a:rPr lang="en-US" sz="4000" b="0" i="1" smtClean="0">
                              <a:latin typeface="Cambria Math" panose="02040503050406030204" pitchFamily="18" charset="0"/>
                            </a:rPr>
                            <m:t>𝑝</m:t>
                          </m:r>
                          <m:r>
                            <a:rPr lang="en-US" sz="4000" b="0" i="1" smtClean="0">
                              <a:latin typeface="Cambria Math" panose="02040503050406030204" pitchFamily="18" charset="0"/>
                            </a:rPr>
                            <m:t>, </m:t>
                          </m:r>
                          <m:r>
                            <a:rPr lang="en-US" sz="4000" b="0" i="1" smtClean="0">
                              <a:latin typeface="Cambria Math" panose="02040503050406030204" pitchFamily="18" charset="0"/>
                            </a:rPr>
                            <m:t>𝑞</m:t>
                          </m:r>
                        </m:e>
                      </m:d>
                      <m:r>
                        <a:rPr lang="en-US" sz="4000" b="0" i="1" smtClean="0">
                          <a:latin typeface="Cambria Math" panose="02040503050406030204" pitchFamily="18" charset="0"/>
                        </a:rPr>
                        <m:t>=</m:t>
                      </m:r>
                      <m:rad>
                        <m:radPr>
                          <m:ctrlPr>
                            <a:rPr lang="en-US" sz="4000" b="0" i="1" smtClean="0">
                              <a:latin typeface="Cambria Math" panose="02040503050406030204" pitchFamily="18" charset="0"/>
                            </a:rPr>
                          </m:ctrlPr>
                        </m:radPr>
                        <m:deg>
                          <m:r>
                            <a:rPr lang="en-US" sz="4000" b="0" i="1" smtClean="0">
                              <a:latin typeface="Cambria Math" panose="02040503050406030204" pitchFamily="18" charset="0"/>
                            </a:rPr>
                            <m:t>2</m:t>
                          </m:r>
                        </m:deg>
                        <m:e>
                          <m:sSup>
                            <m:sSupPr>
                              <m:ctrlPr>
                                <a:rPr lang="en-US" sz="4000" b="0" i="1" smtClean="0">
                                  <a:latin typeface="Cambria Math" panose="02040503050406030204" pitchFamily="18" charset="0"/>
                                </a:rPr>
                              </m:ctrlPr>
                            </m:sSupPr>
                            <m:e>
                              <m:d>
                                <m:dPr>
                                  <m:ctrlPr>
                                    <a:rPr lang="en-US" sz="4000" b="0" i="1" smtClean="0">
                                      <a:latin typeface="Cambria Math" panose="02040503050406030204" pitchFamily="18" charset="0"/>
                                    </a:rPr>
                                  </m:ctrlPr>
                                </m:dPr>
                                <m:e>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𝑝</m:t>
                                      </m:r>
                                    </m:e>
                                    <m:sub>
                                      <m:r>
                                        <a:rPr lang="en-US" sz="4000" b="0" i="1" smtClean="0">
                                          <a:latin typeface="Cambria Math" panose="02040503050406030204" pitchFamily="18" charset="0"/>
                                        </a:rPr>
                                        <m:t>1</m:t>
                                      </m:r>
                                    </m:sub>
                                  </m:sSub>
                                  <m:r>
                                    <a:rPr lang="en-US" sz="4000" b="0" i="1" smtClean="0">
                                      <a:latin typeface="Cambria Math" panose="02040503050406030204" pitchFamily="18" charset="0"/>
                                    </a:rPr>
                                    <m:t>−</m:t>
                                  </m:r>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𝑞</m:t>
                                      </m:r>
                                    </m:e>
                                    <m:sub>
                                      <m:r>
                                        <a:rPr lang="en-US" sz="4000" b="0" i="1" smtClean="0">
                                          <a:latin typeface="Cambria Math" panose="02040503050406030204" pitchFamily="18" charset="0"/>
                                        </a:rPr>
                                        <m:t>1</m:t>
                                      </m:r>
                                    </m:sub>
                                  </m:sSub>
                                </m:e>
                              </m:d>
                            </m:e>
                            <m:sup>
                              <m:r>
                                <a:rPr lang="en-US" sz="4000" b="0" i="1" smtClean="0">
                                  <a:latin typeface="Cambria Math" panose="02040503050406030204" pitchFamily="18" charset="0"/>
                                </a:rPr>
                                <m:t>2</m:t>
                              </m:r>
                            </m:sup>
                          </m:sSup>
                          <m:r>
                            <a:rPr lang="en-US" sz="4000" b="0" i="1" smtClean="0">
                              <a:latin typeface="Cambria Math" panose="02040503050406030204" pitchFamily="18" charset="0"/>
                            </a:rPr>
                            <m:t>+</m:t>
                          </m:r>
                          <m:sSup>
                            <m:sSupPr>
                              <m:ctrlPr>
                                <a:rPr lang="en-US" sz="4000" b="0" i="1" smtClean="0">
                                  <a:latin typeface="Cambria Math" panose="02040503050406030204" pitchFamily="18" charset="0"/>
                                </a:rPr>
                              </m:ctrlPr>
                            </m:sSupPr>
                            <m:e>
                              <m:d>
                                <m:dPr>
                                  <m:ctrlPr>
                                    <a:rPr lang="en-US" sz="4000" b="0" i="1" smtClean="0">
                                      <a:latin typeface="Cambria Math" panose="02040503050406030204" pitchFamily="18" charset="0"/>
                                    </a:rPr>
                                  </m:ctrlPr>
                                </m:dPr>
                                <m:e>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𝑝</m:t>
                                      </m:r>
                                    </m:e>
                                    <m:sub>
                                      <m:r>
                                        <a:rPr lang="en-US" sz="4000" b="0" i="1" smtClean="0">
                                          <a:latin typeface="Cambria Math" panose="02040503050406030204" pitchFamily="18" charset="0"/>
                                        </a:rPr>
                                        <m:t>2</m:t>
                                      </m:r>
                                    </m:sub>
                                  </m:sSub>
                                  <m:r>
                                    <a:rPr lang="en-US" sz="4000" b="0" i="1" smtClean="0">
                                      <a:latin typeface="Cambria Math" panose="02040503050406030204" pitchFamily="18" charset="0"/>
                                    </a:rPr>
                                    <m:t>−</m:t>
                                  </m:r>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𝑞</m:t>
                                      </m:r>
                                    </m:e>
                                    <m:sub>
                                      <m:r>
                                        <a:rPr lang="en-US" sz="4000" b="0" i="1" smtClean="0">
                                          <a:latin typeface="Cambria Math" panose="02040503050406030204" pitchFamily="18" charset="0"/>
                                        </a:rPr>
                                        <m:t>2</m:t>
                                      </m:r>
                                    </m:sub>
                                  </m:sSub>
                                </m:e>
                              </m:d>
                            </m:e>
                            <m:sup>
                              <m:r>
                                <a:rPr lang="en-US" sz="4000" b="0" i="1" smtClean="0">
                                  <a:latin typeface="Cambria Math" panose="02040503050406030204" pitchFamily="18" charset="0"/>
                                </a:rPr>
                                <m:t>2</m:t>
                              </m:r>
                            </m:sup>
                          </m:sSup>
                          <m:r>
                            <a:rPr lang="en-US" sz="4000" b="0" i="1" smtClean="0">
                              <a:latin typeface="Cambria Math" panose="02040503050406030204" pitchFamily="18" charset="0"/>
                            </a:rPr>
                            <m:t>+…+</m:t>
                          </m:r>
                          <m:sSup>
                            <m:sSupPr>
                              <m:ctrlPr>
                                <a:rPr lang="en-US" sz="4000" b="0" i="1" smtClean="0">
                                  <a:latin typeface="Cambria Math" panose="02040503050406030204" pitchFamily="18" charset="0"/>
                                </a:rPr>
                              </m:ctrlPr>
                            </m:sSupPr>
                            <m:e>
                              <m:d>
                                <m:dPr>
                                  <m:ctrlPr>
                                    <a:rPr lang="en-US" sz="4000" b="0" i="1" smtClean="0">
                                      <a:latin typeface="Cambria Math" panose="02040503050406030204" pitchFamily="18" charset="0"/>
                                    </a:rPr>
                                  </m:ctrlPr>
                                </m:dPr>
                                <m:e>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𝑝</m:t>
                                      </m:r>
                                    </m:e>
                                    <m:sub>
                                      <m:r>
                                        <a:rPr lang="en-US" sz="4000" b="0" i="1" smtClean="0">
                                          <a:latin typeface="Cambria Math" panose="02040503050406030204" pitchFamily="18" charset="0"/>
                                        </a:rPr>
                                        <m:t>𝑛</m:t>
                                      </m:r>
                                    </m:sub>
                                  </m:sSub>
                                  <m:r>
                                    <a:rPr lang="en-US" sz="4000" b="0" i="1" smtClean="0">
                                      <a:latin typeface="Cambria Math" panose="02040503050406030204" pitchFamily="18" charset="0"/>
                                    </a:rPr>
                                    <m:t>−</m:t>
                                  </m:r>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𝑞</m:t>
                                      </m:r>
                                    </m:e>
                                    <m:sub>
                                      <m:r>
                                        <a:rPr lang="en-US" sz="4000" b="0" i="1" smtClean="0">
                                          <a:latin typeface="Cambria Math" panose="02040503050406030204" pitchFamily="18" charset="0"/>
                                        </a:rPr>
                                        <m:t>𝑛</m:t>
                                      </m:r>
                                    </m:sub>
                                  </m:sSub>
                                </m:e>
                              </m:d>
                            </m:e>
                            <m:sup>
                              <m:r>
                                <a:rPr lang="en-US" sz="4000" b="0" i="1" smtClean="0">
                                  <a:latin typeface="Cambria Math" panose="02040503050406030204" pitchFamily="18" charset="0"/>
                                </a:rPr>
                                <m:t>2</m:t>
                              </m:r>
                            </m:sup>
                          </m:sSup>
                        </m:e>
                      </m:rad>
                    </m:oMath>
                  </m:oMathPara>
                </a14:m>
                <a:endParaRPr lang="en-US" sz="4000" dirty="0"/>
              </a:p>
              <a:p>
                <a:pPr>
                  <a:spcAft>
                    <a:spcPts val="2400"/>
                  </a:spcAft>
                </a:pPr>
                <a:r>
                  <a:rPr lang="en-US" dirty="0" err="1"/>
                  <a:t>Minkowski</a:t>
                </a:r>
                <a:r>
                  <a:rPr lang="en-US" dirty="0"/>
                  <a:t> distance:</a:t>
                </a:r>
              </a:p>
              <a:p>
                <a:pPr marL="0" indent="0">
                  <a:buNone/>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𝑑</m:t>
                      </m:r>
                      <m:d>
                        <m:dPr>
                          <m:ctrlPr>
                            <a:rPr lang="en-US" sz="4000" b="0" i="1" smtClean="0">
                              <a:latin typeface="Cambria Math" panose="02040503050406030204" pitchFamily="18" charset="0"/>
                            </a:rPr>
                          </m:ctrlPr>
                        </m:dPr>
                        <m:e>
                          <m:r>
                            <a:rPr lang="en-US" sz="4000" b="0" i="1" smtClean="0">
                              <a:latin typeface="Cambria Math" panose="02040503050406030204" pitchFamily="18" charset="0"/>
                            </a:rPr>
                            <m:t>𝑝</m:t>
                          </m:r>
                          <m:r>
                            <a:rPr lang="en-US" sz="4000" b="0" i="1" smtClean="0">
                              <a:latin typeface="Cambria Math" panose="02040503050406030204" pitchFamily="18" charset="0"/>
                            </a:rPr>
                            <m:t>, </m:t>
                          </m:r>
                          <m:r>
                            <a:rPr lang="en-US" sz="4000" b="0" i="1" smtClean="0">
                              <a:latin typeface="Cambria Math" panose="02040503050406030204" pitchFamily="18" charset="0"/>
                            </a:rPr>
                            <m:t>𝑞</m:t>
                          </m:r>
                        </m:e>
                      </m:d>
                      <m:r>
                        <a:rPr lang="en-US" sz="4000" b="0" i="1" smtClean="0">
                          <a:latin typeface="Cambria Math" panose="02040503050406030204" pitchFamily="18" charset="0"/>
                        </a:rPr>
                        <m:t>=</m:t>
                      </m:r>
                      <m:rad>
                        <m:radPr>
                          <m:ctrlPr>
                            <a:rPr lang="en-US" sz="4000" b="0" i="1" smtClean="0">
                              <a:latin typeface="Cambria Math" panose="02040503050406030204" pitchFamily="18" charset="0"/>
                            </a:rPr>
                          </m:ctrlPr>
                        </m:radPr>
                        <m:deg>
                          <m:r>
                            <a:rPr lang="en-US" sz="4000" b="0" i="1" smtClean="0">
                              <a:latin typeface="Cambria Math" panose="02040503050406030204" pitchFamily="18" charset="0"/>
                            </a:rPr>
                            <m:t>𝑘</m:t>
                          </m:r>
                        </m:deg>
                        <m:e>
                          <m:sSup>
                            <m:sSupPr>
                              <m:ctrlPr>
                                <a:rPr lang="en-US" sz="4000" b="0" i="1" smtClean="0">
                                  <a:latin typeface="Cambria Math" panose="02040503050406030204" pitchFamily="18" charset="0"/>
                                </a:rPr>
                              </m:ctrlPr>
                            </m:sSupPr>
                            <m:e>
                              <m:d>
                                <m:dPr>
                                  <m:ctrlPr>
                                    <a:rPr lang="en-US" sz="4000" b="0" i="1" smtClean="0">
                                      <a:latin typeface="Cambria Math" panose="02040503050406030204" pitchFamily="18" charset="0"/>
                                    </a:rPr>
                                  </m:ctrlPr>
                                </m:dPr>
                                <m:e>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𝑝</m:t>
                                      </m:r>
                                    </m:e>
                                    <m:sub>
                                      <m:r>
                                        <a:rPr lang="en-US" sz="4000" b="0" i="1" smtClean="0">
                                          <a:latin typeface="Cambria Math" panose="02040503050406030204" pitchFamily="18" charset="0"/>
                                        </a:rPr>
                                        <m:t>1</m:t>
                                      </m:r>
                                    </m:sub>
                                  </m:sSub>
                                  <m:r>
                                    <a:rPr lang="en-US" sz="4000" b="0" i="1" smtClean="0">
                                      <a:latin typeface="Cambria Math" panose="02040503050406030204" pitchFamily="18" charset="0"/>
                                    </a:rPr>
                                    <m:t>−</m:t>
                                  </m:r>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𝑞</m:t>
                                      </m:r>
                                    </m:e>
                                    <m:sub>
                                      <m:r>
                                        <a:rPr lang="en-US" sz="4000" b="0" i="1" smtClean="0">
                                          <a:latin typeface="Cambria Math" panose="02040503050406030204" pitchFamily="18" charset="0"/>
                                        </a:rPr>
                                        <m:t>1</m:t>
                                      </m:r>
                                    </m:sub>
                                  </m:sSub>
                                </m:e>
                              </m:d>
                            </m:e>
                            <m:sup>
                              <m:r>
                                <a:rPr lang="en-US" sz="4000" b="0" i="1" smtClean="0">
                                  <a:latin typeface="Cambria Math" panose="02040503050406030204" pitchFamily="18" charset="0"/>
                                </a:rPr>
                                <m:t>𝑘</m:t>
                              </m:r>
                            </m:sup>
                          </m:sSup>
                          <m:r>
                            <a:rPr lang="en-US" sz="4000" b="0" i="1" smtClean="0">
                              <a:latin typeface="Cambria Math" panose="02040503050406030204" pitchFamily="18" charset="0"/>
                            </a:rPr>
                            <m:t>+</m:t>
                          </m:r>
                          <m:sSup>
                            <m:sSupPr>
                              <m:ctrlPr>
                                <a:rPr lang="en-US" sz="4000" b="0" i="1" smtClean="0">
                                  <a:latin typeface="Cambria Math" panose="02040503050406030204" pitchFamily="18" charset="0"/>
                                </a:rPr>
                              </m:ctrlPr>
                            </m:sSupPr>
                            <m:e>
                              <m:d>
                                <m:dPr>
                                  <m:ctrlPr>
                                    <a:rPr lang="en-US" sz="4000" b="0" i="1" smtClean="0">
                                      <a:latin typeface="Cambria Math" panose="02040503050406030204" pitchFamily="18" charset="0"/>
                                    </a:rPr>
                                  </m:ctrlPr>
                                </m:dPr>
                                <m:e>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𝑝</m:t>
                                      </m:r>
                                    </m:e>
                                    <m:sub>
                                      <m:r>
                                        <a:rPr lang="en-US" sz="4000" b="0" i="1" smtClean="0">
                                          <a:latin typeface="Cambria Math" panose="02040503050406030204" pitchFamily="18" charset="0"/>
                                        </a:rPr>
                                        <m:t>2</m:t>
                                      </m:r>
                                    </m:sub>
                                  </m:sSub>
                                  <m:r>
                                    <a:rPr lang="en-US" sz="4000" b="0" i="1" smtClean="0">
                                      <a:latin typeface="Cambria Math" panose="02040503050406030204" pitchFamily="18" charset="0"/>
                                    </a:rPr>
                                    <m:t>−</m:t>
                                  </m:r>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𝑞</m:t>
                                      </m:r>
                                    </m:e>
                                    <m:sub>
                                      <m:r>
                                        <a:rPr lang="en-US" sz="4000" b="0" i="1" smtClean="0">
                                          <a:latin typeface="Cambria Math" panose="02040503050406030204" pitchFamily="18" charset="0"/>
                                        </a:rPr>
                                        <m:t>2</m:t>
                                      </m:r>
                                    </m:sub>
                                  </m:sSub>
                                </m:e>
                              </m:d>
                            </m:e>
                            <m:sup>
                              <m:r>
                                <a:rPr lang="en-US" sz="4000" b="0" i="1" smtClean="0">
                                  <a:latin typeface="Cambria Math" panose="02040503050406030204" pitchFamily="18" charset="0"/>
                                </a:rPr>
                                <m:t>𝑘</m:t>
                              </m:r>
                            </m:sup>
                          </m:sSup>
                          <m:r>
                            <a:rPr lang="en-US" sz="4000" b="0" i="1" smtClean="0">
                              <a:latin typeface="Cambria Math" panose="02040503050406030204" pitchFamily="18" charset="0"/>
                            </a:rPr>
                            <m:t>+…+</m:t>
                          </m:r>
                          <m:sSup>
                            <m:sSupPr>
                              <m:ctrlPr>
                                <a:rPr lang="en-US" sz="4000" b="0" i="1" smtClean="0">
                                  <a:latin typeface="Cambria Math" panose="02040503050406030204" pitchFamily="18" charset="0"/>
                                </a:rPr>
                              </m:ctrlPr>
                            </m:sSupPr>
                            <m:e>
                              <m:d>
                                <m:dPr>
                                  <m:ctrlPr>
                                    <a:rPr lang="en-US" sz="4000" b="0" i="1" smtClean="0">
                                      <a:latin typeface="Cambria Math" panose="02040503050406030204" pitchFamily="18" charset="0"/>
                                    </a:rPr>
                                  </m:ctrlPr>
                                </m:dPr>
                                <m:e>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𝑝</m:t>
                                      </m:r>
                                    </m:e>
                                    <m:sub>
                                      <m:r>
                                        <a:rPr lang="en-US" sz="4000" b="0" i="1" smtClean="0">
                                          <a:latin typeface="Cambria Math" panose="02040503050406030204" pitchFamily="18" charset="0"/>
                                        </a:rPr>
                                        <m:t>𝑛</m:t>
                                      </m:r>
                                    </m:sub>
                                  </m:sSub>
                                  <m:r>
                                    <a:rPr lang="en-US" sz="4000" b="0" i="1" smtClean="0">
                                      <a:latin typeface="Cambria Math" panose="02040503050406030204" pitchFamily="18" charset="0"/>
                                    </a:rPr>
                                    <m:t>−</m:t>
                                  </m:r>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𝑞</m:t>
                                      </m:r>
                                    </m:e>
                                    <m:sub>
                                      <m:r>
                                        <a:rPr lang="en-US" sz="4000" b="0" i="1" smtClean="0">
                                          <a:latin typeface="Cambria Math" panose="02040503050406030204" pitchFamily="18" charset="0"/>
                                        </a:rPr>
                                        <m:t>𝑛</m:t>
                                      </m:r>
                                    </m:sub>
                                  </m:sSub>
                                </m:e>
                              </m:d>
                            </m:e>
                            <m:sup>
                              <m:r>
                                <a:rPr lang="en-US" sz="4000" b="0" i="1" smtClean="0">
                                  <a:latin typeface="Cambria Math" panose="02040503050406030204" pitchFamily="18" charset="0"/>
                                </a:rPr>
                                <m:t>𝑘</m:t>
                              </m:r>
                            </m:sup>
                          </m:sSup>
                        </m:e>
                      </m:rad>
                    </m:oMath>
                  </m:oMathPara>
                </a14:m>
                <a:endParaRPr lang="en-US" sz="4000" dirty="0"/>
              </a:p>
              <a:p>
                <a:pPr>
                  <a:spcAft>
                    <a:spcPts val="2400"/>
                  </a:spcAft>
                </a:pPr>
                <a:r>
                  <a:rPr lang="en-US" dirty="0"/>
                  <a:t>Hamming distance:</a:t>
                </a:r>
              </a:p>
              <a:p>
                <a:pPr marL="0" indent="0">
                  <a:buNone/>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𝑑</m:t>
                      </m:r>
                      <m:d>
                        <m:dPr>
                          <m:ctrlPr>
                            <a:rPr lang="en-US" sz="4000" b="0" i="1" smtClean="0">
                              <a:latin typeface="Cambria Math" panose="02040503050406030204" pitchFamily="18" charset="0"/>
                            </a:rPr>
                          </m:ctrlPr>
                        </m:dPr>
                        <m:e>
                          <m:r>
                            <a:rPr lang="en-US" sz="4000" b="0" i="1" smtClean="0">
                              <a:latin typeface="Cambria Math" panose="02040503050406030204" pitchFamily="18" charset="0"/>
                            </a:rPr>
                            <m:t>𝑝</m:t>
                          </m:r>
                          <m:r>
                            <a:rPr lang="en-US" sz="4000" b="0" i="1" smtClean="0">
                              <a:latin typeface="Cambria Math" panose="02040503050406030204" pitchFamily="18" charset="0"/>
                            </a:rPr>
                            <m:t>, </m:t>
                          </m:r>
                          <m:r>
                            <a:rPr lang="en-US" sz="4000" b="0" i="1" smtClean="0">
                              <a:latin typeface="Cambria Math" panose="02040503050406030204" pitchFamily="18" charset="0"/>
                            </a:rPr>
                            <m:t>𝑞</m:t>
                          </m:r>
                        </m:e>
                      </m:d>
                      <m:r>
                        <a:rPr lang="en-US" sz="4000" b="0" i="1" smtClean="0">
                          <a:latin typeface="Cambria Math" panose="02040503050406030204" pitchFamily="18" charset="0"/>
                        </a:rPr>
                        <m:t>=</m:t>
                      </m:r>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1</m:t>
                          </m:r>
                        </m:e>
                        <m:sub>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𝑝</m:t>
                              </m:r>
                            </m:e>
                            <m:sub>
                              <m:r>
                                <a:rPr lang="en-US" sz="4000" b="0" i="1" smtClean="0">
                                  <a:latin typeface="Cambria Math" panose="02040503050406030204" pitchFamily="18" charset="0"/>
                                </a:rPr>
                                <m:t>1</m:t>
                              </m:r>
                            </m:sub>
                          </m:sSub>
                          <m:r>
                            <a:rPr lang="en-US" sz="4000" i="1">
                              <a:latin typeface="Cambria Math" panose="02040503050406030204" pitchFamily="18" charset="0"/>
                              <a:ea typeface="Cambria Math" panose="02040503050406030204" pitchFamily="18" charset="0"/>
                            </a:rPr>
                            <m:t>≠</m:t>
                          </m:r>
                          <m:sSub>
                            <m:sSubPr>
                              <m:ctrlPr>
                                <a:rPr lang="en-US" sz="4000" b="0" i="1" smtClean="0">
                                  <a:latin typeface="Cambria Math" panose="02040503050406030204" pitchFamily="18" charset="0"/>
                                  <a:ea typeface="Cambria Math" panose="02040503050406030204" pitchFamily="18" charset="0"/>
                                </a:rPr>
                              </m:ctrlPr>
                            </m:sSubPr>
                            <m:e>
                              <m:r>
                                <a:rPr lang="en-US" sz="4000" b="0" i="1" smtClean="0">
                                  <a:latin typeface="Cambria Math" panose="02040503050406030204" pitchFamily="18" charset="0"/>
                                  <a:ea typeface="Cambria Math" panose="02040503050406030204" pitchFamily="18" charset="0"/>
                                </a:rPr>
                                <m:t>𝑞</m:t>
                              </m:r>
                            </m:e>
                            <m:sub>
                              <m:r>
                                <a:rPr lang="en-US" sz="4000" b="0" i="1" smtClean="0">
                                  <a:latin typeface="Cambria Math" panose="02040503050406030204" pitchFamily="18" charset="0"/>
                                  <a:ea typeface="Cambria Math" panose="02040503050406030204" pitchFamily="18" charset="0"/>
                                </a:rPr>
                                <m:t>1</m:t>
                              </m:r>
                            </m:sub>
                          </m:sSub>
                        </m:sub>
                      </m:sSub>
                      <m:r>
                        <a:rPr lang="en-US" sz="4000" b="0" i="1" smtClean="0">
                          <a:latin typeface="Cambria Math" panose="02040503050406030204" pitchFamily="18" charset="0"/>
                          <a:ea typeface="Cambria Math" panose="02040503050406030204" pitchFamily="18" charset="0"/>
                        </a:rPr>
                        <m:t>+</m:t>
                      </m:r>
                      <m:sSub>
                        <m:sSubPr>
                          <m:ctrlPr>
                            <a:rPr lang="en-US" sz="4000" i="1">
                              <a:latin typeface="Cambria Math" panose="02040503050406030204" pitchFamily="18" charset="0"/>
                            </a:rPr>
                          </m:ctrlPr>
                        </m:sSubPr>
                        <m:e>
                          <m:r>
                            <a:rPr lang="en-US" sz="4000" i="1">
                              <a:latin typeface="Cambria Math" panose="02040503050406030204" pitchFamily="18" charset="0"/>
                            </a:rPr>
                            <m:t>1</m:t>
                          </m:r>
                        </m:e>
                        <m:sub>
                          <m:sSub>
                            <m:sSubPr>
                              <m:ctrlPr>
                                <a:rPr lang="en-US" sz="4000" i="1">
                                  <a:latin typeface="Cambria Math" panose="02040503050406030204" pitchFamily="18" charset="0"/>
                                </a:rPr>
                              </m:ctrlPr>
                            </m:sSubPr>
                            <m:e>
                              <m:r>
                                <a:rPr lang="en-US" sz="4000" i="1">
                                  <a:latin typeface="Cambria Math" panose="02040503050406030204" pitchFamily="18" charset="0"/>
                                </a:rPr>
                                <m:t>𝑝</m:t>
                              </m:r>
                            </m:e>
                            <m:sub>
                              <m:r>
                                <a:rPr lang="en-US" sz="4000" b="0" i="1" smtClean="0">
                                  <a:latin typeface="Cambria Math" panose="02040503050406030204" pitchFamily="18" charset="0"/>
                                </a:rPr>
                                <m:t>2</m:t>
                              </m:r>
                            </m:sub>
                          </m:sSub>
                          <m:r>
                            <a:rPr lang="en-US" sz="4000" i="1">
                              <a:latin typeface="Cambria Math" panose="02040503050406030204" pitchFamily="18" charset="0"/>
                              <a:ea typeface="Cambria Math" panose="02040503050406030204" pitchFamily="18" charset="0"/>
                            </a:rPr>
                            <m:t>≠</m:t>
                          </m:r>
                          <m:sSub>
                            <m:sSubPr>
                              <m:ctrlPr>
                                <a:rPr lang="en-US" sz="4000" i="1">
                                  <a:latin typeface="Cambria Math" panose="02040503050406030204" pitchFamily="18" charset="0"/>
                                  <a:ea typeface="Cambria Math" panose="02040503050406030204" pitchFamily="18" charset="0"/>
                                </a:rPr>
                              </m:ctrlPr>
                            </m:sSubPr>
                            <m:e>
                              <m:r>
                                <a:rPr lang="en-US" sz="4000" i="1">
                                  <a:latin typeface="Cambria Math" panose="02040503050406030204" pitchFamily="18" charset="0"/>
                                  <a:ea typeface="Cambria Math" panose="02040503050406030204" pitchFamily="18" charset="0"/>
                                </a:rPr>
                                <m:t>𝑞</m:t>
                              </m:r>
                            </m:e>
                            <m:sub>
                              <m:r>
                                <a:rPr lang="en-US" sz="4000" b="0" i="1" smtClean="0">
                                  <a:latin typeface="Cambria Math" panose="02040503050406030204" pitchFamily="18" charset="0"/>
                                  <a:ea typeface="Cambria Math" panose="02040503050406030204" pitchFamily="18" charset="0"/>
                                </a:rPr>
                                <m:t>2</m:t>
                              </m:r>
                            </m:sub>
                          </m:sSub>
                        </m:sub>
                      </m:sSub>
                      <m:r>
                        <a:rPr lang="en-US" sz="4000" b="0" i="1" smtClean="0">
                          <a:latin typeface="Cambria Math" panose="02040503050406030204" pitchFamily="18" charset="0"/>
                          <a:ea typeface="Cambria Math" panose="02040503050406030204" pitchFamily="18" charset="0"/>
                        </a:rPr>
                        <m:t>+…+</m:t>
                      </m:r>
                      <m:sSub>
                        <m:sSubPr>
                          <m:ctrlPr>
                            <a:rPr lang="en-US" sz="4000" i="1">
                              <a:latin typeface="Cambria Math" panose="02040503050406030204" pitchFamily="18" charset="0"/>
                            </a:rPr>
                          </m:ctrlPr>
                        </m:sSubPr>
                        <m:e>
                          <m:r>
                            <a:rPr lang="en-US" sz="4000" i="1">
                              <a:latin typeface="Cambria Math" panose="02040503050406030204" pitchFamily="18" charset="0"/>
                            </a:rPr>
                            <m:t>1</m:t>
                          </m:r>
                        </m:e>
                        <m:sub>
                          <m:sSub>
                            <m:sSubPr>
                              <m:ctrlPr>
                                <a:rPr lang="en-US" sz="4000" i="1">
                                  <a:latin typeface="Cambria Math" panose="02040503050406030204" pitchFamily="18" charset="0"/>
                                </a:rPr>
                              </m:ctrlPr>
                            </m:sSubPr>
                            <m:e>
                              <m:r>
                                <a:rPr lang="en-US" sz="4000" i="1">
                                  <a:latin typeface="Cambria Math" panose="02040503050406030204" pitchFamily="18" charset="0"/>
                                </a:rPr>
                                <m:t>𝑝</m:t>
                              </m:r>
                            </m:e>
                            <m:sub>
                              <m:r>
                                <a:rPr lang="en-US" sz="4000" b="0" i="1" smtClean="0">
                                  <a:latin typeface="Cambria Math" panose="02040503050406030204" pitchFamily="18" charset="0"/>
                                </a:rPr>
                                <m:t>𝑛</m:t>
                              </m:r>
                            </m:sub>
                          </m:sSub>
                          <m:r>
                            <a:rPr lang="en-US" sz="4000" i="1">
                              <a:latin typeface="Cambria Math" panose="02040503050406030204" pitchFamily="18" charset="0"/>
                              <a:ea typeface="Cambria Math" panose="02040503050406030204" pitchFamily="18" charset="0"/>
                            </a:rPr>
                            <m:t>≠</m:t>
                          </m:r>
                          <m:sSub>
                            <m:sSubPr>
                              <m:ctrlPr>
                                <a:rPr lang="en-US" sz="4000" i="1">
                                  <a:latin typeface="Cambria Math" panose="02040503050406030204" pitchFamily="18" charset="0"/>
                                  <a:ea typeface="Cambria Math" panose="02040503050406030204" pitchFamily="18" charset="0"/>
                                </a:rPr>
                              </m:ctrlPr>
                            </m:sSubPr>
                            <m:e>
                              <m:r>
                                <a:rPr lang="en-US" sz="4000" i="1">
                                  <a:latin typeface="Cambria Math" panose="02040503050406030204" pitchFamily="18" charset="0"/>
                                  <a:ea typeface="Cambria Math" panose="02040503050406030204" pitchFamily="18" charset="0"/>
                                </a:rPr>
                                <m:t>𝑞</m:t>
                              </m:r>
                            </m:e>
                            <m:sub>
                              <m:r>
                                <a:rPr lang="en-US" sz="4000" b="0" i="1" smtClean="0">
                                  <a:latin typeface="Cambria Math" panose="02040503050406030204" pitchFamily="18" charset="0"/>
                                  <a:ea typeface="Cambria Math" panose="02040503050406030204" pitchFamily="18" charset="0"/>
                                </a:rPr>
                                <m:t>𝑛</m:t>
                              </m:r>
                            </m:sub>
                          </m:sSub>
                        </m:sub>
                      </m:sSub>
                    </m:oMath>
                  </m:oMathPara>
                </a14:m>
                <a:endParaRPr lang="en-US" sz="4000" dirty="0"/>
              </a:p>
              <a:p>
                <a:pPr marL="0" indent="0">
                  <a:buNone/>
                </a:pPr>
                <a:endParaRPr lang="en-US" dirty="0"/>
              </a:p>
            </p:txBody>
          </p:sp>
        </mc:Choice>
        <mc:Fallback xmlns="">
          <p:sp>
            <p:nvSpPr>
              <p:cNvPr id="4" name="Content Placeholder 3">
                <a:extLst>
                  <a:ext uri="{FF2B5EF4-FFF2-40B4-BE49-F238E27FC236}">
                    <a16:creationId xmlns:a16="http://schemas.microsoft.com/office/drawing/2014/main" id="{62EF3CE8-7BFA-5A2A-72CD-8FA5B00E813E}"/>
                  </a:ext>
                </a:extLst>
              </p:cNvPr>
              <p:cNvSpPr>
                <a:spLocks noGrp="1" noRot="1" noChangeAspect="1" noMove="1" noResize="1" noEditPoints="1" noAdjustHandles="1" noChangeArrowheads="1" noChangeShapeType="1" noTextEdit="1"/>
              </p:cNvSpPr>
              <p:nvPr>
                <p:ph sz="quarter" idx="11"/>
              </p:nvPr>
            </p:nvSpPr>
            <p:spPr>
              <a:blipFill>
                <a:blip r:embed="rId2"/>
                <a:stretch>
                  <a:fillRect l="-1329" t="-1329"/>
                </a:stretch>
              </a:blipFill>
            </p:spPr>
            <p:txBody>
              <a:bodyPr/>
              <a:lstStyle/>
              <a:p>
                <a:r>
                  <a:rPr lang="en-US">
                    <a:noFill/>
                  </a:rPr>
                  <a:t> </a:t>
                </a:r>
              </a:p>
            </p:txBody>
          </p:sp>
        </mc:Fallback>
      </mc:AlternateContent>
    </p:spTree>
    <p:extLst>
      <p:ext uri="{BB962C8B-B14F-4D97-AF65-F5344CB8AC3E}">
        <p14:creationId xmlns:p14="http://schemas.microsoft.com/office/powerpoint/2010/main" val="1702522219"/>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2FEE7-F6D2-D352-C55F-03B3D704475B}"/>
              </a:ext>
            </a:extLst>
          </p:cNvPr>
          <p:cNvSpPr>
            <a:spLocks noGrp="1"/>
          </p:cNvSpPr>
          <p:nvPr>
            <p:ph type="title"/>
          </p:nvPr>
        </p:nvSpPr>
        <p:spPr/>
        <p:txBody>
          <a:bodyPr>
            <a:normAutofit fontScale="90000"/>
          </a:bodyPr>
          <a:lstStyle/>
          <a:p>
            <a:r>
              <a:rPr lang="en-US" dirty="0"/>
              <a:t>K-nearest neighbor</a:t>
            </a:r>
          </a:p>
        </p:txBody>
      </p:sp>
      <p:sp>
        <p:nvSpPr>
          <p:cNvPr id="3" name="Text Placeholder 2">
            <a:extLst>
              <a:ext uri="{FF2B5EF4-FFF2-40B4-BE49-F238E27FC236}">
                <a16:creationId xmlns:a16="http://schemas.microsoft.com/office/drawing/2014/main" id="{C4A4B5B2-FAB5-EAFF-C999-2AECDCFAC7E3}"/>
              </a:ext>
            </a:extLst>
          </p:cNvPr>
          <p:cNvSpPr>
            <a:spLocks noGrp="1"/>
          </p:cNvSpPr>
          <p:nvPr>
            <p:ph type="body" sz="quarter" idx="10"/>
          </p:nvPr>
        </p:nvSpPr>
        <p:spPr/>
        <p:txBody>
          <a:bodyPr/>
          <a:lstStyle/>
          <a:p>
            <a:r>
              <a:rPr lang="en-US" dirty="0"/>
              <a:t>Example</a:t>
            </a:r>
          </a:p>
        </p:txBody>
      </p:sp>
      <p:sp>
        <p:nvSpPr>
          <p:cNvPr id="4" name="Content Placeholder 3">
            <a:extLst>
              <a:ext uri="{FF2B5EF4-FFF2-40B4-BE49-F238E27FC236}">
                <a16:creationId xmlns:a16="http://schemas.microsoft.com/office/drawing/2014/main" id="{AD22B4E7-F5D0-9217-077F-E612E4583124}"/>
              </a:ext>
            </a:extLst>
          </p:cNvPr>
          <p:cNvSpPr>
            <a:spLocks noGrp="1"/>
          </p:cNvSpPr>
          <p:nvPr>
            <p:ph sz="quarter" idx="11"/>
          </p:nvPr>
        </p:nvSpPr>
        <p:spPr>
          <a:xfrm>
            <a:off x="2163189" y="3260663"/>
            <a:ext cx="8923912" cy="8583279"/>
          </a:xfrm>
        </p:spPr>
        <p:txBody>
          <a:bodyPr/>
          <a:lstStyle/>
          <a:p>
            <a:r>
              <a:rPr lang="en-US" dirty="0"/>
              <a:t>Find the class when temp = 16 and wind velocity = 3</a:t>
            </a:r>
          </a:p>
        </p:txBody>
      </p:sp>
      <p:pic>
        <p:nvPicPr>
          <p:cNvPr id="5" name="Gambar 2">
            <a:extLst>
              <a:ext uri="{FF2B5EF4-FFF2-40B4-BE49-F238E27FC236}">
                <a16:creationId xmlns:a16="http://schemas.microsoft.com/office/drawing/2014/main" id="{659959CD-E195-CD92-20FD-1DB4FA2BFF52}"/>
              </a:ext>
            </a:extLst>
          </p:cNvPr>
          <p:cNvPicPr>
            <a:picLocks noChangeAspect="1"/>
          </p:cNvPicPr>
          <p:nvPr/>
        </p:nvPicPr>
        <p:blipFill>
          <a:blip r:embed="rId2"/>
          <a:stretch>
            <a:fillRect/>
          </a:stretch>
        </p:blipFill>
        <p:spPr>
          <a:xfrm>
            <a:off x="11936252" y="2821501"/>
            <a:ext cx="10641656" cy="10387733"/>
          </a:xfrm>
          <a:prstGeom prst="rect">
            <a:avLst/>
          </a:prstGeom>
        </p:spPr>
      </p:pic>
    </p:spTree>
    <p:extLst>
      <p:ext uri="{BB962C8B-B14F-4D97-AF65-F5344CB8AC3E}">
        <p14:creationId xmlns:p14="http://schemas.microsoft.com/office/powerpoint/2010/main" val="3251068231"/>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2FEE7-F6D2-D352-C55F-03B3D704475B}"/>
              </a:ext>
            </a:extLst>
          </p:cNvPr>
          <p:cNvSpPr>
            <a:spLocks noGrp="1"/>
          </p:cNvSpPr>
          <p:nvPr>
            <p:ph type="title"/>
          </p:nvPr>
        </p:nvSpPr>
        <p:spPr/>
        <p:txBody>
          <a:bodyPr>
            <a:normAutofit fontScale="90000"/>
          </a:bodyPr>
          <a:lstStyle/>
          <a:p>
            <a:r>
              <a:rPr lang="en-US" dirty="0"/>
              <a:t>K-nearest neighbor</a:t>
            </a:r>
          </a:p>
        </p:txBody>
      </p:sp>
      <p:sp>
        <p:nvSpPr>
          <p:cNvPr id="3" name="Text Placeholder 2">
            <a:extLst>
              <a:ext uri="{FF2B5EF4-FFF2-40B4-BE49-F238E27FC236}">
                <a16:creationId xmlns:a16="http://schemas.microsoft.com/office/drawing/2014/main" id="{C4A4B5B2-FAB5-EAFF-C999-2AECDCFAC7E3}"/>
              </a:ext>
            </a:extLst>
          </p:cNvPr>
          <p:cNvSpPr>
            <a:spLocks noGrp="1"/>
          </p:cNvSpPr>
          <p:nvPr>
            <p:ph type="body" sz="quarter" idx="10"/>
          </p:nvPr>
        </p:nvSpPr>
        <p:spPr/>
        <p:txBody>
          <a:bodyPr/>
          <a:lstStyle/>
          <a:p>
            <a:r>
              <a:rPr lang="en-US" dirty="0"/>
              <a:t>Example</a:t>
            </a:r>
          </a:p>
        </p:txBody>
      </p:sp>
      <p:sp>
        <p:nvSpPr>
          <p:cNvPr id="4" name="Content Placeholder 3">
            <a:extLst>
              <a:ext uri="{FF2B5EF4-FFF2-40B4-BE49-F238E27FC236}">
                <a16:creationId xmlns:a16="http://schemas.microsoft.com/office/drawing/2014/main" id="{AD22B4E7-F5D0-9217-077F-E612E4583124}"/>
              </a:ext>
            </a:extLst>
          </p:cNvPr>
          <p:cNvSpPr>
            <a:spLocks noGrp="1"/>
          </p:cNvSpPr>
          <p:nvPr>
            <p:ph sz="quarter" idx="11"/>
          </p:nvPr>
        </p:nvSpPr>
        <p:spPr>
          <a:xfrm>
            <a:off x="2163189" y="3260663"/>
            <a:ext cx="8923912" cy="8583279"/>
          </a:xfrm>
        </p:spPr>
        <p:txBody>
          <a:bodyPr/>
          <a:lstStyle/>
          <a:p>
            <a:r>
              <a:rPr lang="en-US" dirty="0"/>
              <a:t>Let’s say K = 3</a:t>
            </a:r>
          </a:p>
          <a:p>
            <a:r>
              <a:rPr lang="en-US" dirty="0"/>
              <a:t>Calculate the distance of the new object to all points (data)</a:t>
            </a:r>
          </a:p>
        </p:txBody>
      </p:sp>
      <p:pic>
        <p:nvPicPr>
          <p:cNvPr id="6" name="Gambar 3">
            <a:extLst>
              <a:ext uri="{FF2B5EF4-FFF2-40B4-BE49-F238E27FC236}">
                <a16:creationId xmlns:a16="http://schemas.microsoft.com/office/drawing/2014/main" id="{FE93EEDC-FEAB-5A62-246C-A76D7E87784E}"/>
              </a:ext>
            </a:extLst>
          </p:cNvPr>
          <p:cNvPicPr>
            <a:picLocks noChangeAspect="1"/>
          </p:cNvPicPr>
          <p:nvPr/>
        </p:nvPicPr>
        <p:blipFill>
          <a:blip r:embed="rId2"/>
          <a:stretch>
            <a:fillRect/>
          </a:stretch>
        </p:blipFill>
        <p:spPr>
          <a:xfrm>
            <a:off x="11001376" y="2562603"/>
            <a:ext cx="12220823" cy="8035609"/>
          </a:xfrm>
          <a:prstGeom prst="rect">
            <a:avLst/>
          </a:prstGeom>
        </p:spPr>
      </p:pic>
    </p:spTree>
    <p:extLst>
      <p:ext uri="{BB962C8B-B14F-4D97-AF65-F5344CB8AC3E}">
        <p14:creationId xmlns:p14="http://schemas.microsoft.com/office/powerpoint/2010/main" val="384295527"/>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2FEE7-F6D2-D352-C55F-03B3D704475B}"/>
              </a:ext>
            </a:extLst>
          </p:cNvPr>
          <p:cNvSpPr>
            <a:spLocks noGrp="1"/>
          </p:cNvSpPr>
          <p:nvPr>
            <p:ph type="title"/>
          </p:nvPr>
        </p:nvSpPr>
        <p:spPr/>
        <p:txBody>
          <a:bodyPr>
            <a:normAutofit fontScale="90000"/>
          </a:bodyPr>
          <a:lstStyle/>
          <a:p>
            <a:r>
              <a:rPr lang="en-US" dirty="0"/>
              <a:t>K-nearest neighbor</a:t>
            </a:r>
          </a:p>
        </p:txBody>
      </p:sp>
      <p:sp>
        <p:nvSpPr>
          <p:cNvPr id="3" name="Text Placeholder 2">
            <a:extLst>
              <a:ext uri="{FF2B5EF4-FFF2-40B4-BE49-F238E27FC236}">
                <a16:creationId xmlns:a16="http://schemas.microsoft.com/office/drawing/2014/main" id="{C4A4B5B2-FAB5-EAFF-C999-2AECDCFAC7E3}"/>
              </a:ext>
            </a:extLst>
          </p:cNvPr>
          <p:cNvSpPr>
            <a:spLocks noGrp="1"/>
          </p:cNvSpPr>
          <p:nvPr>
            <p:ph type="body" sz="quarter" idx="10"/>
          </p:nvPr>
        </p:nvSpPr>
        <p:spPr/>
        <p:txBody>
          <a:bodyPr/>
          <a:lstStyle/>
          <a:p>
            <a:r>
              <a:rPr lang="en-US" dirty="0"/>
              <a:t>Example</a:t>
            </a:r>
          </a:p>
        </p:txBody>
      </p:sp>
      <p:pic>
        <p:nvPicPr>
          <p:cNvPr id="5" name="Gambar 4">
            <a:extLst>
              <a:ext uri="{FF2B5EF4-FFF2-40B4-BE49-F238E27FC236}">
                <a16:creationId xmlns:a16="http://schemas.microsoft.com/office/drawing/2014/main" id="{EF825234-B978-82C9-2659-A5B1F3A45C62}"/>
              </a:ext>
            </a:extLst>
          </p:cNvPr>
          <p:cNvPicPr>
            <a:picLocks noGrp="1" noChangeAspect="1"/>
          </p:cNvPicPr>
          <p:nvPr>
            <p:ph sz="quarter" idx="11"/>
          </p:nvPr>
        </p:nvPicPr>
        <p:blipFill>
          <a:blip r:embed="rId2"/>
          <a:stretch>
            <a:fillRect/>
          </a:stretch>
        </p:blipFill>
        <p:spPr>
          <a:xfrm>
            <a:off x="6746784" y="3260663"/>
            <a:ext cx="10378936" cy="9970138"/>
          </a:xfrm>
          <a:prstGeom prst="rect">
            <a:avLst/>
          </a:prstGeom>
        </p:spPr>
      </p:pic>
    </p:spTree>
    <p:extLst>
      <p:ext uri="{BB962C8B-B14F-4D97-AF65-F5344CB8AC3E}">
        <p14:creationId xmlns:p14="http://schemas.microsoft.com/office/powerpoint/2010/main" val="1211502763"/>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2FEE7-F6D2-D352-C55F-03B3D704475B}"/>
              </a:ext>
            </a:extLst>
          </p:cNvPr>
          <p:cNvSpPr>
            <a:spLocks noGrp="1"/>
          </p:cNvSpPr>
          <p:nvPr>
            <p:ph type="title"/>
          </p:nvPr>
        </p:nvSpPr>
        <p:spPr/>
        <p:txBody>
          <a:bodyPr>
            <a:normAutofit fontScale="90000"/>
          </a:bodyPr>
          <a:lstStyle/>
          <a:p>
            <a:r>
              <a:rPr lang="en-US" dirty="0"/>
              <a:t>K-nearest neighbor</a:t>
            </a:r>
          </a:p>
        </p:txBody>
      </p:sp>
      <p:sp>
        <p:nvSpPr>
          <p:cNvPr id="3" name="Text Placeholder 2">
            <a:extLst>
              <a:ext uri="{FF2B5EF4-FFF2-40B4-BE49-F238E27FC236}">
                <a16:creationId xmlns:a16="http://schemas.microsoft.com/office/drawing/2014/main" id="{C4A4B5B2-FAB5-EAFF-C999-2AECDCFAC7E3}"/>
              </a:ext>
            </a:extLst>
          </p:cNvPr>
          <p:cNvSpPr>
            <a:spLocks noGrp="1"/>
          </p:cNvSpPr>
          <p:nvPr>
            <p:ph type="body" sz="quarter" idx="10"/>
          </p:nvPr>
        </p:nvSpPr>
        <p:spPr/>
        <p:txBody>
          <a:bodyPr/>
          <a:lstStyle/>
          <a:p>
            <a:r>
              <a:rPr lang="en-US" dirty="0"/>
              <a:t>Example</a:t>
            </a:r>
          </a:p>
        </p:txBody>
      </p:sp>
      <p:sp>
        <p:nvSpPr>
          <p:cNvPr id="4" name="Content Placeholder 3">
            <a:extLst>
              <a:ext uri="{FF2B5EF4-FFF2-40B4-BE49-F238E27FC236}">
                <a16:creationId xmlns:a16="http://schemas.microsoft.com/office/drawing/2014/main" id="{AD22B4E7-F5D0-9217-077F-E612E4583124}"/>
              </a:ext>
            </a:extLst>
          </p:cNvPr>
          <p:cNvSpPr>
            <a:spLocks noGrp="1"/>
          </p:cNvSpPr>
          <p:nvPr>
            <p:ph sz="quarter" idx="11"/>
          </p:nvPr>
        </p:nvSpPr>
        <p:spPr>
          <a:xfrm>
            <a:off x="2163189" y="3260663"/>
            <a:ext cx="8923912" cy="8583279"/>
          </a:xfrm>
        </p:spPr>
        <p:txBody>
          <a:bodyPr>
            <a:normAutofit lnSpcReduction="10000"/>
          </a:bodyPr>
          <a:lstStyle/>
          <a:p>
            <a:r>
              <a:rPr lang="en-US" dirty="0"/>
              <a:t>Let’s say k = 3</a:t>
            </a:r>
          </a:p>
          <a:p>
            <a:r>
              <a:rPr lang="en-US" dirty="0"/>
              <a:t>Calculate the distance of the new object to all points (data)</a:t>
            </a:r>
          </a:p>
          <a:p>
            <a:r>
              <a:rPr lang="en-US" dirty="0"/>
              <a:t>Sort distance from the nearest to the farthest.</a:t>
            </a:r>
          </a:p>
          <a:p>
            <a:r>
              <a:rPr lang="en-US" dirty="0"/>
              <a:t>Choose the first 3 nearest neighbors</a:t>
            </a:r>
          </a:p>
          <a:p>
            <a:r>
              <a:rPr lang="en-US" dirty="0"/>
              <a:t>Assign new object to the class which appears more frequently </a:t>
            </a:r>
            <a:r>
              <a:rPr lang="en-US" b="1" dirty="0"/>
              <a:t>(Cool)</a:t>
            </a:r>
          </a:p>
        </p:txBody>
      </p:sp>
      <p:pic>
        <p:nvPicPr>
          <p:cNvPr id="5" name="table">
            <a:extLst>
              <a:ext uri="{FF2B5EF4-FFF2-40B4-BE49-F238E27FC236}">
                <a16:creationId xmlns:a16="http://schemas.microsoft.com/office/drawing/2014/main" id="{BDE4CAD5-1A30-2882-2FF6-9986FEB0881E}"/>
              </a:ext>
            </a:extLst>
          </p:cNvPr>
          <p:cNvPicPr>
            <a:picLocks noChangeAspect="1"/>
          </p:cNvPicPr>
          <p:nvPr/>
        </p:nvPicPr>
        <p:blipFill>
          <a:blip r:embed="rId2"/>
          <a:stretch>
            <a:fillRect/>
          </a:stretch>
        </p:blipFill>
        <p:spPr>
          <a:xfrm>
            <a:off x="11936252" y="1967838"/>
            <a:ext cx="10723723" cy="11168928"/>
          </a:xfrm>
          <a:prstGeom prst="rect">
            <a:avLst/>
          </a:prstGeom>
        </p:spPr>
      </p:pic>
    </p:spTree>
    <p:extLst>
      <p:ext uri="{BB962C8B-B14F-4D97-AF65-F5344CB8AC3E}">
        <p14:creationId xmlns:p14="http://schemas.microsoft.com/office/powerpoint/2010/main" val="741867202"/>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71253-7465-8277-70CC-488CE5750C4C}"/>
              </a:ext>
            </a:extLst>
          </p:cNvPr>
          <p:cNvSpPr>
            <a:spLocks noGrp="1"/>
          </p:cNvSpPr>
          <p:nvPr>
            <p:ph type="title"/>
          </p:nvPr>
        </p:nvSpPr>
        <p:spPr/>
        <p:txBody>
          <a:bodyPr>
            <a:normAutofit fontScale="90000"/>
          </a:bodyPr>
          <a:lstStyle/>
          <a:p>
            <a:r>
              <a:rPr lang="en-US" dirty="0"/>
              <a:t>K-nearest neighbor</a:t>
            </a:r>
          </a:p>
        </p:txBody>
      </p:sp>
      <p:sp>
        <p:nvSpPr>
          <p:cNvPr id="3" name="Text Placeholder 2">
            <a:extLst>
              <a:ext uri="{FF2B5EF4-FFF2-40B4-BE49-F238E27FC236}">
                <a16:creationId xmlns:a16="http://schemas.microsoft.com/office/drawing/2014/main" id="{CE9CDD05-15EF-2B1B-96BA-733976E0A128}"/>
              </a:ext>
            </a:extLst>
          </p:cNvPr>
          <p:cNvSpPr>
            <a:spLocks noGrp="1"/>
          </p:cNvSpPr>
          <p:nvPr>
            <p:ph type="body" sz="quarter" idx="10"/>
          </p:nvPr>
        </p:nvSpPr>
        <p:spPr/>
        <p:txBody>
          <a:bodyPr/>
          <a:lstStyle/>
          <a:p>
            <a:r>
              <a:rPr lang="en-US" dirty="0"/>
              <a:t>discussion</a:t>
            </a:r>
          </a:p>
        </p:txBody>
      </p:sp>
      <p:sp>
        <p:nvSpPr>
          <p:cNvPr id="4" name="Content Placeholder 3">
            <a:extLst>
              <a:ext uri="{FF2B5EF4-FFF2-40B4-BE49-F238E27FC236}">
                <a16:creationId xmlns:a16="http://schemas.microsoft.com/office/drawing/2014/main" id="{F4BF1C15-9C9C-FABF-6BE7-AF7E1CC12062}"/>
              </a:ext>
            </a:extLst>
          </p:cNvPr>
          <p:cNvSpPr>
            <a:spLocks noGrp="1"/>
          </p:cNvSpPr>
          <p:nvPr>
            <p:ph sz="quarter" idx="11"/>
          </p:nvPr>
        </p:nvSpPr>
        <p:spPr/>
        <p:txBody>
          <a:bodyPr>
            <a:normAutofit lnSpcReduction="10000"/>
          </a:bodyPr>
          <a:lstStyle/>
          <a:p>
            <a:pPr>
              <a:spcBef>
                <a:spcPts val="1700"/>
              </a:spcBef>
            </a:pPr>
            <a:r>
              <a:rPr lang="en-US" dirty="0"/>
              <a:t>k-NN for </a:t>
            </a:r>
            <a:r>
              <a:rPr lang="en-US" u="sng" dirty="0"/>
              <a:t>real-valued prediction</a:t>
            </a:r>
            <a:r>
              <a:rPr lang="en-US" dirty="0"/>
              <a:t> for a given unknown tuple</a:t>
            </a:r>
          </a:p>
          <a:p>
            <a:pPr lvl="1">
              <a:spcBef>
                <a:spcPts val="1700"/>
              </a:spcBef>
              <a:buFont typeface="Wingdings" pitchFamily="2" charset="2"/>
              <a:buChar char="Ø"/>
            </a:pPr>
            <a:r>
              <a:rPr lang="en-US" dirty="0"/>
              <a:t>Returns the mean values of the k nearest neighbors</a:t>
            </a:r>
          </a:p>
          <a:p>
            <a:pPr>
              <a:spcBef>
                <a:spcPts val="1700"/>
              </a:spcBef>
            </a:pPr>
            <a:r>
              <a:rPr lang="en-US" u="sng" dirty="0"/>
              <a:t>Distance-weighted</a:t>
            </a:r>
            <a:r>
              <a:rPr lang="en-US" dirty="0"/>
              <a:t> nearest neighbor algorithm</a:t>
            </a:r>
          </a:p>
          <a:p>
            <a:pPr lvl="1">
              <a:spcBef>
                <a:spcPts val="1700"/>
              </a:spcBef>
              <a:buFont typeface="Wingdings" pitchFamily="2" charset="2"/>
              <a:buChar char="Ø"/>
            </a:pPr>
            <a:r>
              <a:rPr lang="en-US" dirty="0"/>
              <a:t>Weight the contribution of each of the k neighbors according to their distance to the query </a:t>
            </a:r>
            <a:r>
              <a:rPr lang="en-US" dirty="0" err="1"/>
              <a:t>xq</a:t>
            </a:r>
            <a:endParaRPr lang="en-US" dirty="0"/>
          </a:p>
          <a:p>
            <a:pPr lvl="2">
              <a:spcBef>
                <a:spcPts val="1700"/>
              </a:spcBef>
              <a:buFont typeface="Wingdings" pitchFamily="2" charset="2"/>
              <a:buChar char="q"/>
            </a:pPr>
            <a:r>
              <a:rPr lang="en-US" dirty="0"/>
              <a:t>Give greater weight to closer neighbors</a:t>
            </a:r>
          </a:p>
          <a:p>
            <a:pPr>
              <a:spcBef>
                <a:spcPts val="1700"/>
              </a:spcBef>
            </a:pPr>
            <a:r>
              <a:rPr lang="en-US" u="sng" dirty="0"/>
              <a:t>Robust</a:t>
            </a:r>
            <a:r>
              <a:rPr lang="en-US" dirty="0"/>
              <a:t> to noisy data by averaging k-nearest neighbors</a:t>
            </a:r>
          </a:p>
          <a:p>
            <a:pPr>
              <a:spcBef>
                <a:spcPts val="1700"/>
              </a:spcBef>
            </a:pPr>
            <a:r>
              <a:rPr lang="en-US" u="sng" dirty="0"/>
              <a:t>Curse of dimensionality</a:t>
            </a:r>
            <a:r>
              <a:rPr lang="en-US" dirty="0"/>
              <a:t>: distance between neighbors could be dominated by irrelevant attributes   </a:t>
            </a:r>
          </a:p>
          <a:p>
            <a:pPr lvl="1">
              <a:spcBef>
                <a:spcPts val="1700"/>
              </a:spcBef>
              <a:buFont typeface="Wingdings" pitchFamily="2" charset="2"/>
              <a:buChar char="Ø"/>
            </a:pPr>
            <a:r>
              <a:rPr lang="en-US" dirty="0"/>
              <a:t>To overcome it, axes stretch or elimination of the least relevant attributes</a:t>
            </a:r>
          </a:p>
          <a:p>
            <a:pPr>
              <a:spcBef>
                <a:spcPts val="1700"/>
              </a:spcBef>
            </a:pPr>
            <a:endParaRPr lang="en-US" dirty="0"/>
          </a:p>
        </p:txBody>
      </p:sp>
      <mc:AlternateContent xmlns:mc="http://schemas.openxmlformats.org/markup-compatibility/2006" xmlns:a14="http://schemas.microsoft.com/office/drawing/2010/main">
        <mc:Choice Requires="a14">
          <p:sp>
            <p:nvSpPr>
              <p:cNvPr id="5" name="Object 4">
                <a:extLst>
                  <a:ext uri="{FF2B5EF4-FFF2-40B4-BE49-F238E27FC236}">
                    <a16:creationId xmlns:a16="http://schemas.microsoft.com/office/drawing/2014/main" id="{31966AEB-38D8-AF77-CB38-6D2EB1BB66B8}"/>
                  </a:ext>
                </a:extLst>
              </p:cNvPr>
              <p:cNvSpPr txBox="1"/>
              <p:nvPr/>
            </p:nvSpPr>
            <p:spPr bwMode="auto">
              <a:xfrm>
                <a:off x="18680341" y="6419620"/>
                <a:ext cx="3540470" cy="1552805"/>
              </a:xfrm>
              <a:prstGeom prst="rect">
                <a:avLst/>
              </a:prstGeom>
              <a:noFill/>
              <a:ln>
                <a:noFill/>
              </a:ln>
              <a:effectLst/>
            </p:spPr>
            <p:txBody>
              <a:bodyPr>
                <a:noAutofit/>
              </a:bodyPr>
              <a:lstStyle/>
              <a:p>
                <a:pPr marL="0" marR="0" lvl="0" indent="0" algn="l" defTabSz="457178"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kumimoji="0" lang="en-US" sz="4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𝑤</m:t>
                      </m:r>
                      <m:r>
                        <a:rPr kumimoji="0" lang="en-US" sz="4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f>
                        <m:fPr>
                          <m:ctrlPr>
                            <a:rPr kumimoji="0" lang="en-US" sz="40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r>
                            <a:rPr kumimoji="0" lang="en-US" sz="40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1</m:t>
                          </m:r>
                        </m:num>
                        <m:den>
                          <m:r>
                            <a:rPr kumimoji="0" lang="en-US" sz="40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𝑑</m:t>
                          </m:r>
                          <m:r>
                            <a:rPr kumimoji="0" lang="en-US" sz="40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Sub>
                            <m:sSubPr>
                              <m:ctrlPr>
                                <a:rPr kumimoji="0" lang="en-US" sz="40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40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𝑥</m:t>
                              </m:r>
                            </m:e>
                            <m:sub>
                              <m:r>
                                <a:rPr kumimoji="0" lang="en-US" sz="40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𝑞</m:t>
                              </m:r>
                            </m:sub>
                          </m:sSub>
                          <m:r>
                            <a:rPr kumimoji="0" lang="en-US" sz="40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Sub>
                            <m:sSubPr>
                              <m:ctrlPr>
                                <a:rPr kumimoji="0" lang="en-US" sz="40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40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𝑥</m:t>
                              </m:r>
                            </m:e>
                            <m:sub>
                              <m:r>
                                <a:rPr kumimoji="0" lang="en-US" sz="40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𝑖</m:t>
                              </m:r>
                            </m:sub>
                          </m:sSub>
                          <m:sSup>
                            <m:sSupPr>
                              <m:ctrlPr>
                                <a:rPr kumimoji="0" lang="en-US" sz="40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pPr>
                            <m:e>
                              <m:r>
                                <a:rPr kumimoji="0" lang="en-US" sz="40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e>
                            <m:sup>
                              <m:r>
                                <a:rPr kumimoji="0" lang="en-US" sz="40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2</m:t>
                              </m:r>
                            </m:sup>
                          </m:sSup>
                        </m:den>
                      </m:f>
                    </m:oMath>
                  </m:oMathPara>
                </a14:m>
                <a:endParaRPr kumimoji="0" lang="en-US" sz="3600" b="0" i="0" u="none" strike="noStrike" kern="1200" cap="none" spc="0" normalizeH="0" baseline="0" noProof="0" dirty="0">
                  <a:ln>
                    <a:noFill/>
                  </a:ln>
                  <a:solidFill>
                    <a:srgbClr val="000000"/>
                  </a:solidFill>
                  <a:effectLst/>
                  <a:uLnTx/>
                  <a:uFillTx/>
                  <a:latin typeface="Calibri"/>
                  <a:ea typeface="+mn-ea"/>
                  <a:cs typeface="+mn-cs"/>
                </a:endParaRPr>
              </a:p>
            </p:txBody>
          </p:sp>
        </mc:Choice>
        <mc:Fallback xmlns="">
          <p:sp>
            <p:nvSpPr>
              <p:cNvPr id="5" name="Object 4">
                <a:extLst>
                  <a:ext uri="{FF2B5EF4-FFF2-40B4-BE49-F238E27FC236}">
                    <a16:creationId xmlns:a16="http://schemas.microsoft.com/office/drawing/2014/main" id="{31966AEB-38D8-AF77-CB38-6D2EB1BB66B8}"/>
                  </a:ext>
                </a:extLst>
              </p:cNvPr>
              <p:cNvSpPr txBox="1">
                <a:spLocks noRot="1" noChangeAspect="1" noMove="1" noResize="1" noEditPoints="1" noAdjustHandles="1" noChangeArrowheads="1" noChangeShapeType="1" noTextEdit="1"/>
              </p:cNvSpPr>
              <p:nvPr/>
            </p:nvSpPr>
            <p:spPr bwMode="auto">
              <a:xfrm>
                <a:off x="18680341" y="6419620"/>
                <a:ext cx="3540470" cy="1552805"/>
              </a:xfrm>
              <a:prstGeom prst="rect">
                <a:avLst/>
              </a:prstGeom>
              <a:blipFill>
                <a:blip r:embed="rId2"/>
                <a:stretch>
                  <a:fillRect l="-714"/>
                </a:stretch>
              </a:blipFill>
              <a:ln>
                <a:noFill/>
              </a:ln>
              <a:effectLst/>
            </p:spPr>
            <p:txBody>
              <a:bodyPr/>
              <a:lstStyle/>
              <a:p>
                <a:r>
                  <a:rPr lang="en-US">
                    <a:noFill/>
                  </a:rPr>
                  <a:t> </a:t>
                </a:r>
              </a:p>
            </p:txBody>
          </p:sp>
        </mc:Fallback>
      </mc:AlternateContent>
    </p:spTree>
    <p:extLst>
      <p:ext uri="{BB962C8B-B14F-4D97-AF65-F5344CB8AC3E}">
        <p14:creationId xmlns:p14="http://schemas.microsoft.com/office/powerpoint/2010/main" val="2193243779"/>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7F2E2-FF0E-687E-6241-5FDC4327990B}"/>
              </a:ext>
            </a:extLst>
          </p:cNvPr>
          <p:cNvSpPr>
            <a:spLocks noGrp="1"/>
          </p:cNvSpPr>
          <p:nvPr>
            <p:ph type="title"/>
          </p:nvPr>
        </p:nvSpPr>
        <p:spPr/>
        <p:txBody>
          <a:bodyPr>
            <a:normAutofit fontScale="90000"/>
          </a:bodyPr>
          <a:lstStyle/>
          <a:p>
            <a:r>
              <a:rPr lang="en-US" dirty="0"/>
              <a:t>Exercise</a:t>
            </a:r>
          </a:p>
        </p:txBody>
      </p:sp>
      <p:sp>
        <p:nvSpPr>
          <p:cNvPr id="3" name="Text Placeholder 2">
            <a:extLst>
              <a:ext uri="{FF2B5EF4-FFF2-40B4-BE49-F238E27FC236}">
                <a16:creationId xmlns:a16="http://schemas.microsoft.com/office/drawing/2014/main" id="{19977F09-483D-C172-DCD8-E7035177BAD9}"/>
              </a:ext>
            </a:extLst>
          </p:cNvPr>
          <p:cNvSpPr>
            <a:spLocks noGrp="1"/>
          </p:cNvSpPr>
          <p:nvPr>
            <p:ph type="body" sz="quarter" idx="10"/>
          </p:nvPr>
        </p:nvSpPr>
        <p:spPr/>
        <p:txBody>
          <a:bodyPr/>
          <a:lstStyle/>
          <a:p>
            <a:r>
              <a:rPr lang="en-US" dirty="0"/>
              <a:t>Session 22</a:t>
            </a:r>
          </a:p>
        </p:txBody>
      </p:sp>
      <p:sp>
        <p:nvSpPr>
          <p:cNvPr id="4" name="Content Placeholder 3">
            <a:extLst>
              <a:ext uri="{FF2B5EF4-FFF2-40B4-BE49-F238E27FC236}">
                <a16:creationId xmlns:a16="http://schemas.microsoft.com/office/drawing/2014/main" id="{0B529BA7-920A-5338-EDEB-C2D5B8B5E226}"/>
              </a:ext>
            </a:extLst>
          </p:cNvPr>
          <p:cNvSpPr>
            <a:spLocks noGrp="1"/>
          </p:cNvSpPr>
          <p:nvPr>
            <p:ph sz="quarter" idx="11"/>
          </p:nvPr>
        </p:nvSpPr>
        <p:spPr>
          <a:xfrm>
            <a:off x="2163188" y="3260663"/>
            <a:ext cx="7237987" cy="8583279"/>
          </a:xfrm>
        </p:spPr>
        <p:txBody>
          <a:bodyPr/>
          <a:lstStyle/>
          <a:p>
            <a:r>
              <a:rPr lang="en-US" sz="4400" dirty="0"/>
              <a:t>Find the class, if it is known that a person has a </a:t>
            </a:r>
            <a:r>
              <a:rPr lang="en-US" sz="4400" b="1" dirty="0"/>
              <a:t>height of 170 cm</a:t>
            </a:r>
            <a:r>
              <a:rPr lang="en-US" sz="4400" dirty="0"/>
              <a:t> and a </a:t>
            </a:r>
            <a:r>
              <a:rPr lang="en-US" sz="4400" b="1" dirty="0"/>
              <a:t>weight of 55 kg</a:t>
            </a:r>
          </a:p>
        </p:txBody>
      </p:sp>
      <p:sp>
        <p:nvSpPr>
          <p:cNvPr id="5" name="TextBox 4">
            <a:extLst>
              <a:ext uri="{FF2B5EF4-FFF2-40B4-BE49-F238E27FC236}">
                <a16:creationId xmlns:a16="http://schemas.microsoft.com/office/drawing/2014/main" id="{C938035F-3F2A-9856-B6F1-BCDF09931DE5}"/>
              </a:ext>
            </a:extLst>
          </p:cNvPr>
          <p:cNvSpPr txBox="1"/>
          <p:nvPr/>
        </p:nvSpPr>
        <p:spPr>
          <a:xfrm>
            <a:off x="13321772" y="4021713"/>
            <a:ext cx="102657"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endParaRPr kumimoji="0" lang="en-US" sz="2400" b="0" i="0" u="none" strike="noStrike" cap="none" spc="0" normalizeH="0" baseline="0" dirty="0">
              <a:ln>
                <a:noFill/>
              </a:ln>
              <a:solidFill>
                <a:srgbClr val="5E5E5E"/>
              </a:solidFill>
              <a:effectLst/>
              <a:uFillTx/>
              <a:latin typeface="+mn-lt"/>
              <a:ea typeface="+mn-ea"/>
              <a:cs typeface="+mn-cs"/>
              <a:sym typeface="Helvetica Neue"/>
            </a:endParaRPr>
          </a:p>
        </p:txBody>
      </p:sp>
      <p:pic>
        <p:nvPicPr>
          <p:cNvPr id="7" name="Picture 6">
            <a:extLst>
              <a:ext uri="{FF2B5EF4-FFF2-40B4-BE49-F238E27FC236}">
                <a16:creationId xmlns:a16="http://schemas.microsoft.com/office/drawing/2014/main" id="{40D09136-FE2A-D6EA-05CC-815720C0A5F6}"/>
              </a:ext>
            </a:extLst>
          </p:cNvPr>
          <p:cNvPicPr>
            <a:picLocks noChangeAspect="1"/>
          </p:cNvPicPr>
          <p:nvPr/>
        </p:nvPicPr>
        <p:blipFill>
          <a:blip r:embed="rId2"/>
          <a:stretch>
            <a:fillRect/>
          </a:stretch>
        </p:blipFill>
        <p:spPr>
          <a:xfrm>
            <a:off x="10377048" y="3260663"/>
            <a:ext cx="10753725" cy="9624652"/>
          </a:xfrm>
          <a:prstGeom prst="rect">
            <a:avLst/>
          </a:prstGeom>
        </p:spPr>
      </p:pic>
    </p:spTree>
    <p:extLst>
      <p:ext uri="{BB962C8B-B14F-4D97-AF65-F5344CB8AC3E}">
        <p14:creationId xmlns:p14="http://schemas.microsoft.com/office/powerpoint/2010/main" val="1363423196"/>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References</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Session 22</a:t>
            </a:r>
          </a:p>
        </p:txBody>
      </p:sp>
      <p:sp>
        <p:nvSpPr>
          <p:cNvPr id="6" name="Content Placeholder 5">
            <a:extLst>
              <a:ext uri="{FF2B5EF4-FFF2-40B4-BE49-F238E27FC236}">
                <a16:creationId xmlns:a16="http://schemas.microsoft.com/office/drawing/2014/main" id="{CFC03F54-B3BC-80AB-98AC-C3ABDC8D86EE}"/>
              </a:ext>
            </a:extLst>
          </p:cNvPr>
          <p:cNvSpPr>
            <a:spLocks noGrp="1"/>
          </p:cNvSpPr>
          <p:nvPr>
            <p:ph sz="quarter" idx="11"/>
          </p:nvPr>
        </p:nvSpPr>
        <p:spPr>
          <a:xfrm>
            <a:off x="2167377" y="3260663"/>
            <a:ext cx="20149698" cy="9798111"/>
          </a:xfrm>
        </p:spPr>
        <p:txBody>
          <a:bodyPr>
            <a:normAutofit/>
          </a:bodyPr>
          <a:lstStyle/>
          <a:p>
            <a:pPr>
              <a:spcBef>
                <a:spcPts val="600"/>
              </a:spcBef>
            </a:pPr>
            <a:r>
              <a:rPr lang="en-US" sz="4000" dirty="0" err="1">
                <a:latin typeface="+mj-lt"/>
              </a:rPr>
              <a:t>Areibi</a:t>
            </a:r>
            <a:r>
              <a:rPr lang="en-US" sz="4000" dirty="0">
                <a:latin typeface="+mj-lt"/>
              </a:rPr>
              <a:t>, S. (n.d.). K-Nearest Neighbor [Lecture in Advanced Machine Learning].</a:t>
            </a:r>
          </a:p>
          <a:p>
            <a:pPr>
              <a:spcBef>
                <a:spcPts val="600"/>
              </a:spcBef>
            </a:pPr>
            <a:r>
              <a:rPr lang="en-US" sz="4000" dirty="0">
                <a:latin typeface="+mj-lt"/>
              </a:rPr>
              <a:t>James, G., Witten, D., Hastie, T., </a:t>
            </a:r>
            <a:r>
              <a:rPr lang="en-US" sz="4000" dirty="0" err="1">
                <a:latin typeface="+mj-lt"/>
              </a:rPr>
              <a:t>Tibshirani</a:t>
            </a:r>
            <a:r>
              <a:rPr lang="en-US" sz="4000" dirty="0">
                <a:latin typeface="+mj-lt"/>
              </a:rPr>
              <a:t>, R., &amp; Taylor, J. (2023). An introduction to statistical learning: With applications in Python. Springer.</a:t>
            </a:r>
          </a:p>
          <a:p>
            <a:pPr>
              <a:spcBef>
                <a:spcPts val="600"/>
              </a:spcBef>
            </a:pPr>
            <a:r>
              <a:rPr lang="en-US" sz="4000" dirty="0" err="1">
                <a:latin typeface="+mj-lt"/>
              </a:rPr>
              <a:t>Raschka</a:t>
            </a:r>
            <a:r>
              <a:rPr lang="en-US" sz="4000" dirty="0">
                <a:latin typeface="+mj-lt"/>
              </a:rPr>
              <a:t>, S. (2018). Nearest Neighbor Method. STAT 479: Machine Learning Lecture Notes. https://</a:t>
            </a:r>
            <a:r>
              <a:rPr lang="en-US" sz="4000" dirty="0" err="1">
                <a:latin typeface="+mj-lt"/>
              </a:rPr>
              <a:t>sebastianraschka.com</a:t>
            </a:r>
            <a:r>
              <a:rPr lang="en-US" sz="4000" dirty="0">
                <a:latin typeface="+mj-lt"/>
              </a:rPr>
              <a:t>/pdf/lecture-notes/stat479fs18/02_knn_notes.pdf</a:t>
            </a:r>
          </a:p>
          <a:p>
            <a:pPr>
              <a:spcBef>
                <a:spcPts val="600"/>
              </a:spcBef>
            </a:pPr>
            <a:endParaRPr lang="en-US" sz="4000" dirty="0">
              <a:latin typeface="+mj-lt"/>
            </a:endParaRPr>
          </a:p>
          <a:p>
            <a:pPr>
              <a:spcBef>
                <a:spcPts val="600"/>
              </a:spcBef>
            </a:pPr>
            <a:endParaRPr lang="en-US" sz="4000" dirty="0">
              <a:latin typeface="+mj-lt"/>
            </a:endParaRPr>
          </a:p>
          <a:p>
            <a:pPr>
              <a:spcBef>
                <a:spcPts val="600"/>
              </a:spcBef>
            </a:pPr>
            <a:endParaRPr lang="en-US" sz="4000" dirty="0">
              <a:latin typeface="+mj-lt"/>
            </a:endParaRPr>
          </a:p>
          <a:p>
            <a:pPr>
              <a:spcBef>
                <a:spcPts val="600"/>
              </a:spcBef>
            </a:pPr>
            <a:endParaRPr lang="en-US" sz="4000" dirty="0">
              <a:latin typeface="+mj-lt"/>
            </a:endParaRPr>
          </a:p>
          <a:p>
            <a:pPr>
              <a:spcBef>
                <a:spcPts val="600"/>
              </a:spcBef>
            </a:pPr>
            <a:endParaRPr lang="en-US" sz="4000" dirty="0"/>
          </a:p>
          <a:p>
            <a:pPr>
              <a:spcBef>
                <a:spcPts val="600"/>
              </a:spcBef>
            </a:pPr>
            <a:endParaRPr lang="en-US" sz="4000" dirty="0"/>
          </a:p>
          <a:p>
            <a:pPr>
              <a:spcBef>
                <a:spcPts val="600"/>
              </a:spcBef>
            </a:pPr>
            <a:endParaRPr lang="en-US" sz="4000" dirty="0"/>
          </a:p>
          <a:p>
            <a:pPr>
              <a:spcBef>
                <a:spcPts val="600"/>
              </a:spcBef>
            </a:pPr>
            <a:endParaRPr lang="en-US" sz="4000" dirty="0"/>
          </a:p>
          <a:p>
            <a:pPr>
              <a:spcBef>
                <a:spcPts val="600"/>
              </a:spcBef>
            </a:pPr>
            <a:endParaRPr lang="en-US" sz="4000" dirty="0"/>
          </a:p>
        </p:txBody>
      </p:sp>
    </p:spTree>
    <p:extLst>
      <p:ext uri="{BB962C8B-B14F-4D97-AF65-F5344CB8AC3E}">
        <p14:creationId xmlns:p14="http://schemas.microsoft.com/office/powerpoint/2010/main" val="3774771954"/>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Custom 1">
      <a:majorFont>
        <a:latin typeface="Open Sans"/>
        <a:ea typeface=""/>
        <a:cs typeface=""/>
      </a:majorFont>
      <a:minorFont>
        <a:latin typeface="Open Sans"/>
        <a:ea typeface=""/>
        <a:cs typefac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BINUS Learning Object Slide Template 2023  -  Read-Only" id="{0B9ADDDE-C7FD-42D8-83B7-6621693F3C5D}" vid="{472DF894-1FEC-4319-A5F3-1F8BDBEC1F3D}"/>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21_BasicWhite</Template>
  <TotalTime>4402</TotalTime>
  <Words>895</Words>
  <Application>Microsoft Office PowerPoint</Application>
  <PresentationFormat>Custom</PresentationFormat>
  <Paragraphs>113</Paragraphs>
  <Slides>19</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19</vt:i4>
      </vt:variant>
    </vt:vector>
  </HeadingPairs>
  <TitlesOfParts>
    <vt:vector size="29" baseType="lpstr">
      <vt:lpstr>Cambria Math</vt:lpstr>
      <vt:lpstr>OCRB</vt:lpstr>
      <vt:lpstr>Open Sans ExtraBold</vt:lpstr>
      <vt:lpstr>Open Sans Light</vt:lpstr>
      <vt:lpstr>Open Sans Semibold</vt:lpstr>
      <vt:lpstr>Calibri</vt:lpstr>
      <vt:lpstr>Arial</vt:lpstr>
      <vt:lpstr>Open Sans</vt:lpstr>
      <vt:lpstr>Wingdings</vt:lpstr>
      <vt:lpstr>21_BasicWhite</vt:lpstr>
      <vt:lpstr>K-Nearest Neighbour</vt:lpstr>
      <vt:lpstr>Learning Outcomes</vt:lpstr>
      <vt:lpstr>outline</vt:lpstr>
      <vt:lpstr>Instance-based Learning</vt:lpstr>
      <vt:lpstr>Instance-based Learning</vt:lpstr>
      <vt:lpstr>Non-parametric model</vt:lpstr>
      <vt:lpstr>Non-parametric model</vt:lpstr>
      <vt:lpstr>K-nearest neighbor</vt:lpstr>
      <vt:lpstr>K-Nearest neighbor</vt:lpstr>
      <vt:lpstr>K-Nearest neighbor</vt:lpstr>
      <vt:lpstr>K-nearest neighbor</vt:lpstr>
      <vt:lpstr>K-nearest neighbor</vt:lpstr>
      <vt:lpstr>K-nearest neighbor</vt:lpstr>
      <vt:lpstr>K-nearest neighbor</vt:lpstr>
      <vt:lpstr>K-nearest neighbor</vt:lpstr>
      <vt:lpstr>K-nearest neighbor</vt:lpstr>
      <vt:lpstr>K-nearest neighbor</vt:lpstr>
      <vt:lpstr>Exercise</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HENRY LUCKY</dc:creator>
  <cp:lastModifiedBy>Henry Lucky</cp:lastModifiedBy>
  <cp:revision>57</cp:revision>
  <dcterms:created xsi:type="dcterms:W3CDTF">2023-11-17T02:51:40Z</dcterms:created>
  <dcterms:modified xsi:type="dcterms:W3CDTF">2024-12-27T07:57:43Z</dcterms:modified>
</cp:coreProperties>
</file>