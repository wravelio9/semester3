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9"/>
  </p:notesMasterIdLst>
  <p:sldIdLst>
    <p:sldId id="290" r:id="rId2"/>
    <p:sldId id="257" r:id="rId3"/>
    <p:sldId id="258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6" r:id="rId15"/>
    <p:sldId id="292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293" r:id="rId24"/>
    <p:sldId id="314" r:id="rId25"/>
    <p:sldId id="315" r:id="rId26"/>
    <p:sldId id="316" r:id="rId27"/>
    <p:sldId id="317" r:id="rId28"/>
    <p:sldId id="322" r:id="rId29"/>
    <p:sldId id="294" r:id="rId30"/>
    <p:sldId id="320" r:id="rId31"/>
    <p:sldId id="319" r:id="rId32"/>
    <p:sldId id="321" r:id="rId33"/>
    <p:sldId id="318" r:id="rId34"/>
    <p:sldId id="351" r:id="rId35"/>
    <p:sldId id="353" r:id="rId36"/>
    <p:sldId id="352" r:id="rId37"/>
    <p:sldId id="278" r:id="rId38"/>
  </p:sldIdLst>
  <p:sldSz cx="24384000" cy="13716000"/>
  <p:notesSz cx="6858000" cy="9144000"/>
  <p:embeddedFontLst>
    <p:embeddedFont>
      <p:font typeface="Cambria Math" panose="02040503050406030204" pitchFamily="18" charset="0"/>
      <p:regular r:id="rId40"/>
    </p:embeddedFont>
    <p:embeddedFont>
      <p:font typeface="OCRB" panose="020B0609020202020204" pitchFamily="49" charset="0"/>
      <p:regular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  <p:embeddedFont>
      <p:font typeface="Open Sans ExtraBold" panose="020B0906030804020204" pitchFamily="34" charset="0"/>
      <p:bold r:id="rId46"/>
      <p:italic r:id="rId47"/>
      <p:boldItalic r:id="rId48"/>
    </p:embeddedFont>
    <p:embeddedFont>
      <p:font typeface="Open Sans Light" panose="020B0306030504020204" pitchFamily="34" charset="0"/>
      <p:regular r:id="rId49"/>
      <p:italic r:id="rId50"/>
    </p:embeddedFont>
    <p:embeddedFont>
      <p:font typeface="Open Sans Semibold" panose="020B0706030804020204" pitchFamily="34" charset="0"/>
      <p:regular r:id="rId51"/>
      <p:bold r:id="rId52"/>
      <p:italic r:id="rId53"/>
      <p:boldItalic r:id="rId54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91002"/>
  </p:normalViewPr>
  <p:slideViewPr>
    <p:cSldViewPr snapToGrid="0" snapToObjects="1">
      <p:cViewPr varScale="1">
        <p:scale>
          <a:sx n="31" d="100"/>
          <a:sy n="31" d="100"/>
        </p:scale>
        <p:origin x="1050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4T11:07:35.12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1716 1,'-80'0,"0"0,-9 0,-1 0,-4 0,-1 0,-8 0,8 0,-3 0,44 0,0 0,-34 0,30 0,-5 0,-16 0,-3 0,2 0,3 0,15 0,4 0,-35 0,55 0,33 0,72 0,19 0,-3 0,10 0,-20 0,4 0,4 0,-6 0,4 0,3 0,0 0,6 0,3 0,0 0,-1 0,-2 0,0 0,-1 0,-4 0,13 0,-4 0,-7 0,12 0,-11 0,-30 0,-7 0,10 0,-27 0,-15 0,-7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4T11:07:44.3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4T11:08:25.7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 24575,'89'0'0,"0"0"0,-20 0 0,3-1 0,1 1 0,5 2 0,1 1 0,-1 2 0,-9-2 0,-2 2 0,-3 0 0,17 4 0,-8 5 0,12 18 0,-28-9 0,-15 1 0,-22-6 0,-10-7 0,-7-2 0,6-5 0,1-3 0,5-1 0,-3 0 0,-1 0 0,0 1 0,0 8 0,-5-6 0,-1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465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846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233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852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144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789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0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customXml" Target="../ink/ink2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4: Apply various techniques to an agent when acting under uncertainty  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Strict and Conditional Independence</a:t>
            </a:r>
          </a:p>
          <a:p>
            <a:r>
              <a:rPr lang="en-ID" dirty="0"/>
              <a:t>Bayesian Network</a:t>
            </a:r>
          </a:p>
          <a:p>
            <a:r>
              <a:rPr lang="en-ID" dirty="0"/>
              <a:t>Bayesian Network Syntax and Semantics</a:t>
            </a:r>
          </a:p>
          <a:p>
            <a:r>
              <a:rPr lang="en-ID" dirty="0"/>
              <a:t>Causality in Bayesian Network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Strict and 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Strict independence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838871F-C3CC-E6D5-2D60-8E864888C9F5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86937"/>
              </a:xfrm>
            </p:spPr>
            <p:txBody>
              <a:bodyPr>
                <a:normAutofit lnSpcReduction="10000"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dirty="0"/>
                  <a:t>Two variables X and Y are absolutely </a:t>
                </a:r>
                <a:r>
                  <a:rPr lang="en-US" b="1" dirty="0">
                    <a:solidFill>
                      <a:srgbClr val="0070C0"/>
                    </a:solidFill>
                  </a:rPr>
                  <a:t>independent</a:t>
                </a:r>
                <a:r>
                  <a:rPr lang="en-US" dirty="0"/>
                  <a:t> if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The joint distribution </a:t>
                </a:r>
                <a:r>
                  <a:rPr lang="en-US" b="1" dirty="0"/>
                  <a:t>factors</a:t>
                </a:r>
                <a:r>
                  <a:rPr lang="en-US" dirty="0"/>
                  <a:t> into a product of two simpler distributions </a:t>
                </a:r>
              </a:p>
              <a:p>
                <a:pPr>
                  <a:spcAft>
                    <a:spcPts val="2400"/>
                  </a:spcAft>
                </a:pPr>
                <a:r>
                  <a:rPr lang="en-US" dirty="0"/>
                  <a:t>Equivalently, via the product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Example: two dice rolls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𝑅𝑜𝑙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𝑅𝑜𝑙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𝑅𝑜𝑙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=5,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𝑅𝑜𝑙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𝑅𝑜𝑙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𝑅𝑜𝑙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𝑅𝑜𝑙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=3 |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𝑅𝑜𝑙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𝑅𝑜𝑙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838871F-C3CC-E6D5-2D60-8E864888C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86937"/>
              </a:xfrm>
              <a:blipFill>
                <a:blip r:embed="rId2"/>
                <a:stretch>
                  <a:fillRect l="-1329" t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6427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Strict and 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Strict independence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871F-C3CC-E6D5-2D60-8E864888C9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86937"/>
          </a:xfrm>
        </p:spPr>
        <p:txBody>
          <a:bodyPr>
            <a:normAutofit/>
          </a:bodyPr>
          <a:lstStyle/>
          <a:p>
            <a:r>
              <a:rPr lang="en-US" dirty="0"/>
              <a:t>Another example of strict independence: Coin Flip</a:t>
            </a:r>
          </a:p>
          <a:p>
            <a:pPr lvl="1">
              <a:spcAft>
                <a:spcPts val="2400"/>
              </a:spcAft>
              <a:buFont typeface="Wingdings" pitchFamily="2" charset="2"/>
              <a:buChar char="Ø"/>
            </a:pPr>
            <a:r>
              <a:rPr lang="en-US" dirty="0"/>
              <a:t>Doesn’t matter how many times you flip a coin; the probabilities are independent of each other.</a:t>
            </a:r>
          </a:p>
          <a:p>
            <a:r>
              <a:rPr lang="en-US" dirty="0"/>
              <a:t>What about other case?</a:t>
            </a:r>
          </a:p>
          <a:p>
            <a:pPr lvl="1">
              <a:spcAft>
                <a:spcPts val="2400"/>
              </a:spcAft>
              <a:buFont typeface="Wingdings" pitchFamily="2" charset="2"/>
              <a:buChar char="Ø"/>
            </a:pPr>
            <a:r>
              <a:rPr lang="en-US" dirty="0"/>
              <a:t>Probability of Rain, Traffic, and bringing Umbrella</a:t>
            </a:r>
          </a:p>
          <a:p>
            <a:pPr lvl="1">
              <a:buFont typeface="Wingdings" pitchFamily="2" charset="2"/>
              <a:buChar char="Ø"/>
            </a:pPr>
            <a:endParaRPr lang="en-US" dirty="0"/>
          </a:p>
          <a:p>
            <a:pPr lvl="1">
              <a:buFont typeface="Wingdings" pitchFamily="2" charset="2"/>
              <a:buChar char="Ø"/>
            </a:pPr>
            <a:endParaRPr lang="en-US" dirty="0"/>
          </a:p>
          <a:p>
            <a:pPr lvl="1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7205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5259-968E-8D1E-1D35-AEFB799A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Strict and 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0748-3071-4D4F-5C56-82EBE0E06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Strict independence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dirty="0"/>
                  <a:t>Given these probabilities: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we calculate the full joint </a:t>
                </a:r>
                <a:r>
                  <a:rPr lang="en-US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distributions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𝑃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(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𝑅𝑎𝑖𝑛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, 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𝑇𝑟𝑎𝑓𝑓𝑖𝑐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, 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𝑈𝑚𝑏𝑟𝑒𝑙𝑙𝑎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)</m:t>
                    </m:r>
                  </m:oMath>
                </a14:m>
                <a:r>
                  <a:rPr lang="en-US" dirty="0"/>
                  <a:t> independently?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𝑃</m:t>
                    </m:r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(</m:t>
                    </m:r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𝑅𝑎𝑖𝑛</m:t>
                    </m:r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)∗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𝑇𝑟𝑎𝑓𝑓𝑖𝑐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𝑈𝑚𝑏𝑟𝑒𝑙𝑙𝑎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C7CD2E-EEFA-5005-B61D-8ADE5E473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24784"/>
              </p:ext>
            </p:extLst>
          </p:nvPr>
        </p:nvGraphicFramePr>
        <p:xfrm>
          <a:off x="3052188" y="5334000"/>
          <a:ext cx="3399412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9706">
                  <a:extLst>
                    <a:ext uri="{9D8B030D-6E8A-4147-A177-3AD203B41FA5}">
                      <a16:colId xmlns:a16="http://schemas.microsoft.com/office/drawing/2014/main" val="3903700372"/>
                    </a:ext>
                  </a:extLst>
                </a:gridCol>
                <a:gridCol w="1699706">
                  <a:extLst>
                    <a:ext uri="{9D8B030D-6E8A-4147-A177-3AD203B41FA5}">
                      <a16:colId xmlns:a16="http://schemas.microsoft.com/office/drawing/2014/main" val="730801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16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0.7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0.3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4934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BA442-121F-AF23-021F-5B1EDA21D956}"/>
                  </a:ext>
                </a:extLst>
              </p:cNvPr>
              <p:cNvSpPr txBox="1"/>
              <p:nvPr/>
            </p:nvSpPr>
            <p:spPr>
              <a:xfrm>
                <a:off x="3716931" y="4492328"/>
                <a:ext cx="2069926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𝑃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(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𝑅𝑎𝑖𝑛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000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BA442-121F-AF23-021F-5B1EDA21D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931" y="4492328"/>
                <a:ext cx="2069926" cy="718145"/>
              </a:xfrm>
              <a:prstGeom prst="rect">
                <a:avLst/>
              </a:prstGeom>
              <a:blipFill>
                <a:blip r:embed="rId3"/>
                <a:stretch>
                  <a:fillRect l="-5488" r="-2439" b="-2241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161851F-70AB-71D9-E341-B75E6D22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380762"/>
              </p:ext>
            </p:extLst>
          </p:nvPr>
        </p:nvGraphicFramePr>
        <p:xfrm>
          <a:off x="10236546" y="5334000"/>
          <a:ext cx="3399412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9706">
                  <a:extLst>
                    <a:ext uri="{9D8B030D-6E8A-4147-A177-3AD203B41FA5}">
                      <a16:colId xmlns:a16="http://schemas.microsoft.com/office/drawing/2014/main" val="3903700372"/>
                    </a:ext>
                  </a:extLst>
                </a:gridCol>
                <a:gridCol w="1699706">
                  <a:extLst>
                    <a:ext uri="{9D8B030D-6E8A-4147-A177-3AD203B41FA5}">
                      <a16:colId xmlns:a16="http://schemas.microsoft.com/office/drawing/2014/main" val="730801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16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0.65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0.35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4934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F8C161-F420-EF3F-3590-1CD5C1DABE69}"/>
                  </a:ext>
                </a:extLst>
              </p:cNvPr>
              <p:cNvSpPr txBox="1"/>
              <p:nvPr/>
            </p:nvSpPr>
            <p:spPr>
              <a:xfrm>
                <a:off x="10534459" y="4492328"/>
                <a:ext cx="2803588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𝑃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(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𝑇𝑟𝑎𝑓𝑓𝑖𝑐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000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F8C161-F420-EF3F-3590-1CD5C1DAB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4459" y="4492328"/>
                <a:ext cx="2803588" cy="718145"/>
              </a:xfrm>
              <a:prstGeom prst="rect">
                <a:avLst/>
              </a:prstGeom>
              <a:blipFill>
                <a:blip r:embed="rId4"/>
                <a:stretch>
                  <a:fillRect l="-4054" r="-1351" b="-2241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0F5B363-44C4-B65A-A249-D7C6F8E0C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431471"/>
              </p:ext>
            </p:extLst>
          </p:nvPr>
        </p:nvGraphicFramePr>
        <p:xfrm>
          <a:off x="16756161" y="5300048"/>
          <a:ext cx="3399412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9706">
                  <a:extLst>
                    <a:ext uri="{9D8B030D-6E8A-4147-A177-3AD203B41FA5}">
                      <a16:colId xmlns:a16="http://schemas.microsoft.com/office/drawing/2014/main" val="3903700372"/>
                    </a:ext>
                  </a:extLst>
                </a:gridCol>
                <a:gridCol w="1699706">
                  <a:extLst>
                    <a:ext uri="{9D8B030D-6E8A-4147-A177-3AD203B41FA5}">
                      <a16:colId xmlns:a16="http://schemas.microsoft.com/office/drawing/2014/main" val="730801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16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0.69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0.31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4934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FAEB78-3327-FF41-D7CE-735809B2E332}"/>
                  </a:ext>
                </a:extLst>
              </p:cNvPr>
              <p:cNvSpPr txBox="1"/>
              <p:nvPr/>
            </p:nvSpPr>
            <p:spPr>
              <a:xfrm>
                <a:off x="16870819" y="4458376"/>
                <a:ext cx="3170099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𝑃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(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𝑈𝑚𝑏𝑟𝑒𝑙𝑙𝑎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000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FAEB78-3327-FF41-D7CE-735809B2E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0819" y="4458376"/>
                <a:ext cx="3170099" cy="718145"/>
              </a:xfrm>
              <a:prstGeom prst="rect">
                <a:avLst/>
              </a:prstGeom>
              <a:blipFill>
                <a:blip r:embed="rId5"/>
                <a:stretch>
                  <a:fillRect l="-3187" r="-1195" b="-2241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26774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5259-968E-8D1E-1D35-AEFB799A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Strict and 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0748-3071-4D4F-5C56-82EBE0E06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Strict independence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3BA27D7-52F1-C3D7-99CB-2F091743491B}"/>
                  </a:ext>
                </a:extLst>
              </p:cNvPr>
              <p:cNvGraphicFramePr>
                <a:graphicFrameLocks noGrp="1"/>
              </p:cNvGraphicFramePr>
              <p:nvPr>
                <p:ph sz="quarter" idx="11"/>
                <p:extLst>
                  <p:ext uri="{D42A27DB-BD31-4B8C-83A1-F6EECF244321}">
                    <p14:modId xmlns:p14="http://schemas.microsoft.com/office/powerpoint/2010/main" val="3043512496"/>
                  </p:ext>
                </p:extLst>
              </p:nvPr>
            </p:nvGraphicFramePr>
            <p:xfrm>
              <a:off x="2167377" y="4492327"/>
              <a:ext cx="20056471" cy="7406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290741">
                      <a:extLst>
                        <a:ext uri="{9D8B030D-6E8A-4147-A177-3AD203B41FA5}">
                          <a16:colId xmlns:a16="http://schemas.microsoft.com/office/drawing/2014/main" val="2039051240"/>
                        </a:ext>
                      </a:extLst>
                    </a:gridCol>
                    <a:gridCol w="3290741">
                      <a:extLst>
                        <a:ext uri="{9D8B030D-6E8A-4147-A177-3AD203B41FA5}">
                          <a16:colId xmlns:a16="http://schemas.microsoft.com/office/drawing/2014/main" val="2236463242"/>
                        </a:ext>
                      </a:extLst>
                    </a:gridCol>
                    <a:gridCol w="3290741">
                      <a:extLst>
                        <a:ext uri="{9D8B030D-6E8A-4147-A177-3AD203B41FA5}">
                          <a16:colId xmlns:a16="http://schemas.microsoft.com/office/drawing/2014/main" val="3217692301"/>
                        </a:ext>
                      </a:extLst>
                    </a:gridCol>
                    <a:gridCol w="5092124">
                      <a:extLst>
                        <a:ext uri="{9D8B030D-6E8A-4147-A177-3AD203B41FA5}">
                          <a16:colId xmlns:a16="http://schemas.microsoft.com/office/drawing/2014/main" val="2549904760"/>
                        </a:ext>
                      </a:extLst>
                    </a:gridCol>
                    <a:gridCol w="5092124">
                      <a:extLst>
                        <a:ext uri="{9D8B030D-6E8A-4147-A177-3AD203B41FA5}">
                          <a16:colId xmlns:a16="http://schemas.microsoft.com/office/drawing/2014/main" val="5548923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Rain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Traffic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Umbrella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3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6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6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𝑠𝑡𝑟𝑖𝑐𝑡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78354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0.504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0.314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102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0.056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0.141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1718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0.126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0.169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609946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0.014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0.076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68779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0.018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0.135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564260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0.072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0.060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79648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0.042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0.072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9717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0.168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0.033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018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3BA27D7-52F1-C3D7-99CB-2F091743491B}"/>
                  </a:ext>
                </a:extLst>
              </p:cNvPr>
              <p:cNvGraphicFramePr>
                <a:graphicFrameLocks noGrp="1"/>
              </p:cNvGraphicFramePr>
              <p:nvPr>
                <p:ph sz="quarter" idx="11"/>
                <p:extLst>
                  <p:ext uri="{D42A27DB-BD31-4B8C-83A1-F6EECF244321}">
                    <p14:modId xmlns:p14="http://schemas.microsoft.com/office/powerpoint/2010/main" val="3043512496"/>
                  </p:ext>
                </p:extLst>
              </p:nvPr>
            </p:nvGraphicFramePr>
            <p:xfrm>
              <a:off x="2167377" y="4492327"/>
              <a:ext cx="20056471" cy="7406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290741">
                      <a:extLst>
                        <a:ext uri="{9D8B030D-6E8A-4147-A177-3AD203B41FA5}">
                          <a16:colId xmlns:a16="http://schemas.microsoft.com/office/drawing/2014/main" val="2039051240"/>
                        </a:ext>
                      </a:extLst>
                    </a:gridCol>
                    <a:gridCol w="3290741">
                      <a:extLst>
                        <a:ext uri="{9D8B030D-6E8A-4147-A177-3AD203B41FA5}">
                          <a16:colId xmlns:a16="http://schemas.microsoft.com/office/drawing/2014/main" val="2236463242"/>
                        </a:ext>
                      </a:extLst>
                    </a:gridCol>
                    <a:gridCol w="3290741">
                      <a:extLst>
                        <a:ext uri="{9D8B030D-6E8A-4147-A177-3AD203B41FA5}">
                          <a16:colId xmlns:a16="http://schemas.microsoft.com/office/drawing/2014/main" val="3217692301"/>
                        </a:ext>
                      </a:extLst>
                    </a:gridCol>
                    <a:gridCol w="5092124">
                      <a:extLst>
                        <a:ext uri="{9D8B030D-6E8A-4147-A177-3AD203B41FA5}">
                          <a16:colId xmlns:a16="http://schemas.microsoft.com/office/drawing/2014/main" val="2549904760"/>
                        </a:ext>
                      </a:extLst>
                    </a:gridCol>
                    <a:gridCol w="5092124">
                      <a:extLst>
                        <a:ext uri="{9D8B030D-6E8A-4147-A177-3AD203B41FA5}">
                          <a16:colId xmlns:a16="http://schemas.microsoft.com/office/drawing/2014/main" val="554892319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Rain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Traffic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Umbrella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4514" t="-3077" r="-100748" b="-8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4514" t="-3077" r="-748" b="-8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835464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0.504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0.314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102065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0.056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0.141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171809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0.126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0.169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60994686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0.014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0.076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6877960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0.018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0.135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56426046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0.072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0.060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79648323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0.042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0.072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9717211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0.168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0.033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0182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BA442-121F-AF23-021F-5B1EDA21D956}"/>
                  </a:ext>
                </a:extLst>
              </p:cNvPr>
              <p:cNvSpPr txBox="1"/>
              <p:nvPr/>
            </p:nvSpPr>
            <p:spPr>
              <a:xfrm>
                <a:off x="8715114" y="3498728"/>
                <a:ext cx="6442276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𝑃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(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𝑅𝑎𝑖𝑛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, 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𝑇𝑟𝑎𝑓𝑓𝑖𝑐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, 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𝑈𝑚𝑏𝑟𝑒𝑙𝑙𝑎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000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BA442-121F-AF23-021F-5B1EDA21D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114" y="3498728"/>
                <a:ext cx="6442276" cy="718145"/>
              </a:xfrm>
              <a:prstGeom prst="rect">
                <a:avLst/>
              </a:prstGeom>
              <a:blipFill>
                <a:blip r:embed="rId3"/>
                <a:stretch>
                  <a:fillRect l="-1575" r="-394" b="-2241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4C81907-0409-FCCB-6B01-8AB5E652F2DA}"/>
              </a:ext>
            </a:extLst>
          </p:cNvPr>
          <p:cNvSpPr txBox="1"/>
          <p:nvPr/>
        </p:nvSpPr>
        <p:spPr>
          <a:xfrm>
            <a:off x="21435172" y="11238267"/>
            <a:ext cx="1577355" cy="18723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5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FFFF7-A217-37CA-735C-F9B9959EA78E}"/>
              </a:ext>
            </a:extLst>
          </p:cNvPr>
          <p:cNvSpPr txBox="1"/>
          <p:nvPr/>
        </p:nvSpPr>
        <p:spPr>
          <a:xfrm>
            <a:off x="10408114" y="12174420"/>
            <a:ext cx="11027058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Not equal to the actual probability = Not strict</a:t>
            </a:r>
          </a:p>
        </p:txBody>
      </p:sp>
    </p:spTree>
    <p:extLst>
      <p:ext uri="{BB962C8B-B14F-4D97-AF65-F5344CB8AC3E}">
        <p14:creationId xmlns:p14="http://schemas.microsoft.com/office/powerpoint/2010/main" val="248668593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5259-968E-8D1E-1D35-AEFB799A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Strict and 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0748-3071-4D4F-5C56-82EBE0E06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dirty="0"/>
                  <a:t>Can we calculate </a:t>
                </a:r>
                <a14:m>
                  <m:oMath xmlns:m="http://schemas.openxmlformats.org/officeDocument/2006/math"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𝑃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(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𝑅𝑎𝑖𝑛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, 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𝑇𝑟𝑎𝑓𝑓𝑖𝑐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, 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𝑈𝑚𝑏𝑟𝑒𝑙𝑙𝑎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)</m:t>
                    </m:r>
                  </m:oMath>
                </a14:m>
                <a:r>
                  <a:rPr lang="en-US" dirty="0"/>
                  <a:t> independently (strict)? </a:t>
                </a:r>
                <a:r>
                  <a:rPr lang="en-US" b="1" dirty="0"/>
                  <a:t>We can’t as they are not strictly independent </a:t>
                </a:r>
              </a:p>
              <a:p>
                <a:r>
                  <a:rPr lang="en-US" dirty="0"/>
                  <a:t>Using our knowledge, we know that usually Traffic is </a:t>
                </a:r>
                <a:r>
                  <a:rPr lang="en-US" b="1" dirty="0">
                    <a:solidFill>
                      <a:srgbClr val="0070C0"/>
                    </a:solidFill>
                  </a:rPr>
                  <a:t>caused by </a:t>
                </a:r>
                <a:r>
                  <a:rPr lang="en-US" dirty="0"/>
                  <a:t>Rain, and whether we bring umbrella is </a:t>
                </a:r>
                <a:r>
                  <a:rPr lang="en-US" b="1" dirty="0">
                    <a:solidFill>
                      <a:srgbClr val="0070C0"/>
                    </a:solidFill>
                  </a:rPr>
                  <a:t>decided by</a:t>
                </a:r>
                <a:r>
                  <a:rPr lang="en-US" dirty="0"/>
                  <a:t> Rain.</a:t>
                </a:r>
              </a:p>
              <a:p>
                <a:r>
                  <a:rPr lang="en-US" dirty="0"/>
                  <a:t>Therefore, the probability that we have is (Using chain rule):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3"/>
                <a:stretch>
                  <a:fillRect l="-1329" t="-1182" r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C7CD2E-EEFA-5005-B61D-8ADE5E473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272079"/>
              </p:ext>
            </p:extLst>
          </p:nvPr>
        </p:nvGraphicFramePr>
        <p:xfrm>
          <a:off x="3114962" y="8809417"/>
          <a:ext cx="3399412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9706">
                  <a:extLst>
                    <a:ext uri="{9D8B030D-6E8A-4147-A177-3AD203B41FA5}">
                      <a16:colId xmlns:a16="http://schemas.microsoft.com/office/drawing/2014/main" val="3903700372"/>
                    </a:ext>
                  </a:extLst>
                </a:gridCol>
                <a:gridCol w="1699706">
                  <a:extLst>
                    <a:ext uri="{9D8B030D-6E8A-4147-A177-3AD203B41FA5}">
                      <a16:colId xmlns:a16="http://schemas.microsoft.com/office/drawing/2014/main" val="730801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16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0.7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0.3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4934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BA442-121F-AF23-021F-5B1EDA21D956}"/>
                  </a:ext>
                </a:extLst>
              </p:cNvPr>
              <p:cNvSpPr txBox="1"/>
              <p:nvPr/>
            </p:nvSpPr>
            <p:spPr>
              <a:xfrm>
                <a:off x="3779705" y="7967745"/>
                <a:ext cx="2069926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𝑃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(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𝑅𝑎𝑖𝑛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000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BA442-121F-AF23-021F-5B1EDA21D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705" y="7967745"/>
                <a:ext cx="2069926" cy="718145"/>
              </a:xfrm>
              <a:prstGeom prst="rect">
                <a:avLst/>
              </a:prstGeom>
              <a:blipFill>
                <a:blip r:embed="rId4"/>
                <a:stretch>
                  <a:fillRect l="-5488" r="-2439" b="-2456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47577E-4DA1-5408-D327-86A4BA983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104253"/>
              </p:ext>
            </p:extLst>
          </p:nvPr>
        </p:nvGraphicFramePr>
        <p:xfrm>
          <a:off x="8299356" y="8802832"/>
          <a:ext cx="4327386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2462">
                  <a:extLst>
                    <a:ext uri="{9D8B030D-6E8A-4147-A177-3AD203B41FA5}">
                      <a16:colId xmlns:a16="http://schemas.microsoft.com/office/drawing/2014/main" val="54855478"/>
                    </a:ext>
                  </a:extLst>
                </a:gridCol>
                <a:gridCol w="1442462">
                  <a:extLst>
                    <a:ext uri="{9D8B030D-6E8A-4147-A177-3AD203B41FA5}">
                      <a16:colId xmlns:a16="http://schemas.microsoft.com/office/drawing/2014/main" val="667803851"/>
                    </a:ext>
                  </a:extLst>
                </a:gridCol>
                <a:gridCol w="1442462">
                  <a:extLst>
                    <a:ext uri="{9D8B030D-6E8A-4147-A177-3AD203B41FA5}">
                      <a16:colId xmlns:a16="http://schemas.microsoft.com/office/drawing/2014/main" val="3916006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3600">
                        <a:solidFill>
                          <a:srgbClr val="000000"/>
                        </a:solidFill>
                      </a:endParaRP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Traffic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3600" dirty="0"/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562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Rain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98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0.8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0.2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91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0.3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0.7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532908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12A9A5-3926-77E9-92BE-FABDAC309231}"/>
                  </a:ext>
                </a:extLst>
              </p:cNvPr>
              <p:cNvSpPr txBox="1"/>
              <p:nvPr/>
            </p:nvSpPr>
            <p:spPr>
              <a:xfrm>
                <a:off x="8329070" y="7971098"/>
                <a:ext cx="4267963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dPr>
                        <m:e>
                          <m: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𝑇𝑟𝑎𝑓𝑓𝑖𝑐</m:t>
                          </m:r>
                          <m: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 </m:t>
                          </m:r>
                        </m:e>
                      </m:d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 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𝑅𝑎𝑖𝑛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000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12A9A5-3926-77E9-92BE-FABDAC309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070" y="7971098"/>
                <a:ext cx="4267963" cy="718145"/>
              </a:xfrm>
              <a:prstGeom prst="rect">
                <a:avLst/>
              </a:prstGeom>
              <a:blipFill>
                <a:blip r:embed="rId5"/>
                <a:stretch>
                  <a:fillRect l="-2374" r="-890" b="-2631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2794DE-C73D-0BE2-14D3-294E51D76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009194"/>
              </p:ext>
            </p:extLst>
          </p:nvPr>
        </p:nvGraphicFramePr>
        <p:xfrm>
          <a:off x="14439026" y="8824022"/>
          <a:ext cx="5931776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2944">
                  <a:extLst>
                    <a:ext uri="{9D8B030D-6E8A-4147-A177-3AD203B41FA5}">
                      <a16:colId xmlns:a16="http://schemas.microsoft.com/office/drawing/2014/main" val="4268989562"/>
                    </a:ext>
                  </a:extLst>
                </a:gridCol>
                <a:gridCol w="1482944">
                  <a:extLst>
                    <a:ext uri="{9D8B030D-6E8A-4147-A177-3AD203B41FA5}">
                      <a16:colId xmlns:a16="http://schemas.microsoft.com/office/drawing/2014/main" val="1512441719"/>
                    </a:ext>
                  </a:extLst>
                </a:gridCol>
                <a:gridCol w="1482944">
                  <a:extLst>
                    <a:ext uri="{9D8B030D-6E8A-4147-A177-3AD203B41FA5}">
                      <a16:colId xmlns:a16="http://schemas.microsoft.com/office/drawing/2014/main" val="7689593"/>
                    </a:ext>
                  </a:extLst>
                </a:gridCol>
                <a:gridCol w="1482944">
                  <a:extLst>
                    <a:ext uri="{9D8B030D-6E8A-4147-A177-3AD203B41FA5}">
                      <a16:colId xmlns:a16="http://schemas.microsoft.com/office/drawing/2014/main" val="181074390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endParaRPr lang="en-US" sz="2800" dirty="0">
                        <a:solidFill>
                          <a:srgbClr val="000000"/>
                        </a:solidFill>
                      </a:endParaRPr>
                    </a:p>
                  </a:txBody>
                  <a:tcPr marL="137160" marR="137160" marT="137160" marB="137160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800" dirty="0"/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Umbrella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800" dirty="0"/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10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Rain</a:t>
                      </a:r>
                    </a:p>
                  </a:txBody>
                  <a:tcPr marL="137160" marR="137160" marT="137160" marB="137160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Traffic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9772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0.9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0.1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296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0.9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0.1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59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0.2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0.8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60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0.2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0.8</a:t>
                      </a:r>
                    </a:p>
                  </a:txBody>
                  <a:tcPr marL="137160" marR="137160" marT="137160" marB="137160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38588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9E94E7-18A4-0398-925B-DC13A96E2FE5}"/>
                  </a:ext>
                </a:extLst>
              </p:cNvPr>
              <p:cNvSpPr txBox="1"/>
              <p:nvPr/>
            </p:nvSpPr>
            <p:spPr>
              <a:xfrm>
                <a:off x="14058026" y="7912443"/>
                <a:ext cx="6637394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dPr>
                        <m:e>
                          <m: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𝑈𝑚𝑏𝑟𝑒𝑙𝑙𝑎</m:t>
                          </m:r>
                          <m: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 </m:t>
                          </m:r>
                        </m:e>
                      </m:d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 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𝑅𝑎𝑖𝑛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, 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𝑇𝑟𝑎𝑓𝑓𝑖𝑐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000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9E94E7-18A4-0398-925B-DC13A96E2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8026" y="7912443"/>
                <a:ext cx="6637394" cy="718145"/>
              </a:xfrm>
              <a:prstGeom prst="rect">
                <a:avLst/>
              </a:prstGeom>
              <a:blipFill>
                <a:blip r:embed="rId6"/>
                <a:stretch>
                  <a:fillRect l="-1336" r="-382" b="-2631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58268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5259-968E-8D1E-1D35-AEFB799A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Strict and 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0748-3071-4D4F-5C56-82EBE0E06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4553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see that Traffic doesn’t really matter in </a:t>
                </a:r>
                <a14:m>
                  <m:oMath xmlns:m="http://schemas.openxmlformats.org/officeDocument/2006/math"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𝑃</m:t>
                    </m:r>
                    <m:d>
                      <m:dPr>
                        <m:endChr m:val="|"/>
                        <m:ctrlPr>
                          <a:rPr kumimoji="0" lang="en-US" sz="44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</m:ctrlPr>
                      </m:dPr>
                      <m:e>
                        <m:r>
                          <a:rPr kumimoji="0" lang="en-US" sz="44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𝑈𝑚𝑏𝑟𝑒𝑙𝑙𝑎</m:t>
                        </m:r>
                        <m:r>
                          <a:rPr kumimoji="0" lang="en-US" sz="44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 </m:t>
                        </m:r>
                      </m:e>
                    </m:d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 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𝑅𝑎𝑖𝑛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, 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𝑇𝑟𝑎𝑓𝑓𝑖𝑐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)</m:t>
                    </m:r>
                  </m:oMath>
                </a14:m>
                <a:r>
                  <a:rPr lang="en-US" dirty="0"/>
                  <a:t>, so we can as well remove it: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is called </a:t>
                </a:r>
                <a:r>
                  <a:rPr lang="en-US" b="1" dirty="0">
                    <a:solidFill>
                      <a:srgbClr val="0070C0"/>
                    </a:solidFill>
                  </a:rPr>
                  <a:t>Conditional Independence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By using chain rule, now we can calculate full joint </a:t>
                </a:r>
                <a:r>
                  <a:rPr lang="en-US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distributions</a:t>
                </a:r>
                <a:r>
                  <a:rPr lang="en-US" dirty="0"/>
                  <a:t> table of </a:t>
                </a:r>
                <a14:m>
                  <m:oMath xmlns:m="http://schemas.openxmlformats.org/officeDocument/2006/math"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𝑃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(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𝑅𝑎𝑖𝑛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, 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𝑇𝑟𝑎𝑓𝑓𝑖𝑐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, 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𝑈𝑚𝑏𝑟𝑒𝑙𝑙𝑎</m:t>
                    </m:r>
                    <m:r>
                      <a:rPr kumimoji="0" lang="en-US" sz="44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455337"/>
              </a:xfrm>
              <a:blipFill>
                <a:blip r:embed="rId3"/>
                <a:stretch>
                  <a:fillRect l="-1329" t="-1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C7CD2E-EEFA-5005-B61D-8ADE5E473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801243"/>
              </p:ext>
            </p:extLst>
          </p:nvPr>
        </p:nvGraphicFramePr>
        <p:xfrm>
          <a:off x="3038762" y="5939217"/>
          <a:ext cx="3399412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9706">
                  <a:extLst>
                    <a:ext uri="{9D8B030D-6E8A-4147-A177-3AD203B41FA5}">
                      <a16:colId xmlns:a16="http://schemas.microsoft.com/office/drawing/2014/main" val="3903700372"/>
                    </a:ext>
                  </a:extLst>
                </a:gridCol>
                <a:gridCol w="1699706">
                  <a:extLst>
                    <a:ext uri="{9D8B030D-6E8A-4147-A177-3AD203B41FA5}">
                      <a16:colId xmlns:a16="http://schemas.microsoft.com/office/drawing/2014/main" val="730801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16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0.7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0.3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4934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BA442-121F-AF23-021F-5B1EDA21D956}"/>
                  </a:ext>
                </a:extLst>
              </p:cNvPr>
              <p:cNvSpPr txBox="1"/>
              <p:nvPr/>
            </p:nvSpPr>
            <p:spPr>
              <a:xfrm>
                <a:off x="3703505" y="5097545"/>
                <a:ext cx="2069926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𝑃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(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𝑅𝑎𝑖𝑛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000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BA442-121F-AF23-021F-5B1EDA21D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505" y="5097545"/>
                <a:ext cx="2069926" cy="718145"/>
              </a:xfrm>
              <a:prstGeom prst="rect">
                <a:avLst/>
              </a:prstGeom>
              <a:blipFill>
                <a:blip r:embed="rId4"/>
                <a:stretch>
                  <a:fillRect l="-5488" r="-2439" b="-2456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47577E-4DA1-5408-D327-86A4BA983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530426"/>
              </p:ext>
            </p:extLst>
          </p:nvPr>
        </p:nvGraphicFramePr>
        <p:xfrm>
          <a:off x="8223156" y="5932632"/>
          <a:ext cx="4327386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2462">
                  <a:extLst>
                    <a:ext uri="{9D8B030D-6E8A-4147-A177-3AD203B41FA5}">
                      <a16:colId xmlns:a16="http://schemas.microsoft.com/office/drawing/2014/main" val="54855478"/>
                    </a:ext>
                  </a:extLst>
                </a:gridCol>
                <a:gridCol w="1442462">
                  <a:extLst>
                    <a:ext uri="{9D8B030D-6E8A-4147-A177-3AD203B41FA5}">
                      <a16:colId xmlns:a16="http://schemas.microsoft.com/office/drawing/2014/main" val="667803851"/>
                    </a:ext>
                  </a:extLst>
                </a:gridCol>
                <a:gridCol w="1442462">
                  <a:extLst>
                    <a:ext uri="{9D8B030D-6E8A-4147-A177-3AD203B41FA5}">
                      <a16:colId xmlns:a16="http://schemas.microsoft.com/office/drawing/2014/main" val="3916006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3600">
                        <a:solidFill>
                          <a:srgbClr val="000000"/>
                        </a:solidFill>
                      </a:endParaRP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Traffic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3600" dirty="0"/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562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Rain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98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0.8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0.2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91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0.3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0.7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532908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12A9A5-3926-77E9-92BE-FABDAC309231}"/>
                  </a:ext>
                </a:extLst>
              </p:cNvPr>
              <p:cNvSpPr txBox="1"/>
              <p:nvPr/>
            </p:nvSpPr>
            <p:spPr>
              <a:xfrm>
                <a:off x="8252870" y="5100898"/>
                <a:ext cx="4267963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dPr>
                        <m:e>
                          <m: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𝑇𝑟𝑎𝑓𝑓𝑖𝑐</m:t>
                          </m:r>
                          <m: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 </m:t>
                          </m:r>
                        </m:e>
                      </m:d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 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𝑅𝑎𝑖𝑛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000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12A9A5-3926-77E9-92BE-FABDAC309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870" y="5100898"/>
                <a:ext cx="4267963" cy="718145"/>
              </a:xfrm>
              <a:prstGeom prst="rect">
                <a:avLst/>
              </a:prstGeom>
              <a:blipFill>
                <a:blip r:embed="rId5"/>
                <a:stretch>
                  <a:fillRect l="-2374" r="-890" b="-2586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9E94E7-18A4-0398-925B-DC13A96E2FE5}"/>
                  </a:ext>
                </a:extLst>
              </p:cNvPr>
              <p:cNvSpPr txBox="1"/>
              <p:nvPr/>
            </p:nvSpPr>
            <p:spPr>
              <a:xfrm>
                <a:off x="14983286" y="5042243"/>
                <a:ext cx="4634474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dPr>
                        <m:e>
                          <m: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𝑈𝑚𝑏𝑟𝑒𝑙𝑙𝑎</m:t>
                          </m:r>
                          <m:r>
                            <a:rPr kumimoji="0" lang="en-US" sz="40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 </m:t>
                          </m:r>
                        </m:e>
                      </m:d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 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𝑅𝑎𝑖𝑛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000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9E94E7-18A4-0398-925B-DC13A96E2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3286" y="5042243"/>
                <a:ext cx="4634474" cy="718145"/>
              </a:xfrm>
              <a:prstGeom prst="rect">
                <a:avLst/>
              </a:prstGeom>
              <a:blipFill>
                <a:blip r:embed="rId6"/>
                <a:stretch>
                  <a:fillRect l="-2186" r="-820" b="-2586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FFC71F-E0A7-0421-BBB1-F9CA6E72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516206"/>
              </p:ext>
            </p:extLst>
          </p:nvPr>
        </p:nvGraphicFramePr>
        <p:xfrm>
          <a:off x="15136830" y="5932632"/>
          <a:ext cx="4327386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2462">
                  <a:extLst>
                    <a:ext uri="{9D8B030D-6E8A-4147-A177-3AD203B41FA5}">
                      <a16:colId xmlns:a16="http://schemas.microsoft.com/office/drawing/2014/main" val="54855478"/>
                    </a:ext>
                  </a:extLst>
                </a:gridCol>
                <a:gridCol w="1442462">
                  <a:extLst>
                    <a:ext uri="{9D8B030D-6E8A-4147-A177-3AD203B41FA5}">
                      <a16:colId xmlns:a16="http://schemas.microsoft.com/office/drawing/2014/main" val="667803851"/>
                    </a:ext>
                  </a:extLst>
                </a:gridCol>
                <a:gridCol w="1442462">
                  <a:extLst>
                    <a:ext uri="{9D8B030D-6E8A-4147-A177-3AD203B41FA5}">
                      <a16:colId xmlns:a16="http://schemas.microsoft.com/office/drawing/2014/main" val="3916006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3600">
                        <a:solidFill>
                          <a:srgbClr val="000000"/>
                        </a:solidFill>
                      </a:endParaRP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Umbrella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3600" dirty="0"/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562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Rain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98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F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0.9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0.1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91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T</a:t>
                      </a:r>
                    </a:p>
                  </a:txBody>
                  <a:tcPr marL="137160" marR="137160" marT="137160" marB="137160"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0.2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0000"/>
                          </a:solidFill>
                        </a:rPr>
                        <a:t>0.8</a:t>
                      </a:r>
                    </a:p>
                  </a:txBody>
                  <a:tcPr marL="137160" marR="137160" marT="137160" marB="137160"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5329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34493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5259-968E-8D1E-1D35-AEFB799A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Strict and 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0748-3071-4D4F-5C56-82EBE0E06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4553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 of Chain Rule:</a:t>
                </a:r>
              </a:p>
              <a:p>
                <a:pPr marL="756000" lvl="1" indent="0">
                  <a:buNone/>
                </a:pPr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𝑃</m:t>
                    </m:r>
                    <m:d>
                      <m:d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Helvetica Neue"/>
                          </a:rPr>
                          <m:t>𝑟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𝑎𝑖𝑛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,¬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Helvetica Neue"/>
                          </a:rPr>
                          <m:t>𝑡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𝑟𝑎𝑓𝑓𝑖𝑐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,¬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Helvetica Neue"/>
                          </a:rPr>
                          <m:t>𝑢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𝑚𝑏𝑟𝑒𝑙𝑙𝑎</m:t>
                        </m:r>
                      </m:e>
                    </m:d>
                  </m:oMath>
                </a14:m>
                <a:r>
                  <a:rPr kumimoji="0" lang="en-US" b="0" i="1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Cambria Math" panose="02040503050406030204" pitchFamily="18" charset="0"/>
                    <a:ea typeface="+mn-ea"/>
                    <a:cs typeface="+mn-cs"/>
                    <a:sym typeface="Helvetica Neue"/>
                  </a:rPr>
                  <a:t> </a:t>
                </a:r>
              </a:p>
              <a:p>
                <a:pPr marL="756000" lvl="1" indent="0">
                  <a:buNone/>
                </a:pPr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=</m:t>
                    </m:r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𝑃</m:t>
                    </m:r>
                    <m:d>
                      <m:d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Helvetica Neue"/>
                          </a:rPr>
                          <m:t>𝑟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𝑎𝑖𝑛</m:t>
                        </m:r>
                      </m:e>
                    </m:d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Helvetica Neue"/>
                      </a:rPr>
                      <m:t>∗</m:t>
                    </m:r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Helvetica Neue"/>
                      </a:rPr>
                      <m:t>𝑃</m:t>
                    </m:r>
                    <m:d>
                      <m:dPr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Helvetica Neue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Helvetica Neue"/>
                          </a:rPr>
                          <m:t>𝑟𝑎𝑓𝑓𝑖𝑐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Helvetica Neue"/>
                          </a:rPr>
                          <m:t> 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Helvetica Neue"/>
                          </a:rPr>
                          <m:t>𝑎𝑖𝑛</m:t>
                        </m:r>
                      </m:e>
                    </m:d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Helvetica Neue"/>
                      </a:rPr>
                      <m:t>∗</m:t>
                    </m:r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Helvetica Neue"/>
                      </a:rPr>
                      <m:t>𝑃</m:t>
                    </m:r>
                    <m:d>
                      <m:dPr>
                        <m:endChr m:val="|"/>
                        <m:ctrlP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Helvetica Neue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Helvetica Neue"/>
                          </a:rPr>
                          <m:t>𝑚𝑏𝑟𝑒𝑙𝑙𝑎</m:t>
                        </m:r>
                        <m:r>
                          <a:rPr kumimoji="0" lang="en-US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  <a:sym typeface="Helvetica Neue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Helvetica Neue"/>
                      </a:rPr>
                      <m:t>𝑎𝑖𝑛</m:t>
                    </m:r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Helvetica Neue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756000" lvl="1" indent="0">
                  <a:buNone/>
                </a:pPr>
                <a14:m>
                  <m:oMath xmlns:m="http://schemas.openxmlformats.org/officeDocument/2006/math"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=0.7</m:t>
                    </m:r>
                    <m:r>
                      <a:rPr kumimoji="0" lang="en-US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Helvetica Neue"/>
                      </a:rPr>
                      <m:t>∗0.8∗0.9=0.504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a typeface="Cambria Math" panose="02040503050406030204" pitchFamily="18" charset="0"/>
                    <a:cs typeface="+mn-cs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4400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455337"/>
              </a:xfrm>
              <a:blipFill>
                <a:blip r:embed="rId3"/>
                <a:stretch>
                  <a:fillRect l="-1329" t="-1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31136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5259-968E-8D1E-1D35-AEFB799A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Strict and 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0748-3071-4D4F-5C56-82EBE0E06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3BA27D7-52F1-C3D7-99CB-2F091743491B}"/>
                  </a:ext>
                </a:extLst>
              </p:cNvPr>
              <p:cNvGraphicFramePr>
                <a:graphicFrameLocks noGrp="1"/>
              </p:cNvGraphicFramePr>
              <p:nvPr>
                <p:ph sz="quarter" idx="11"/>
                <p:extLst>
                  <p:ext uri="{D42A27DB-BD31-4B8C-83A1-F6EECF244321}">
                    <p14:modId xmlns:p14="http://schemas.microsoft.com/office/powerpoint/2010/main" val="2873335869"/>
                  </p:ext>
                </p:extLst>
              </p:nvPr>
            </p:nvGraphicFramePr>
            <p:xfrm>
              <a:off x="2167377" y="4492327"/>
              <a:ext cx="20056473" cy="7406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91408">
                      <a:extLst>
                        <a:ext uri="{9D8B030D-6E8A-4147-A177-3AD203B41FA5}">
                          <a16:colId xmlns:a16="http://schemas.microsoft.com/office/drawing/2014/main" val="2039051240"/>
                        </a:ext>
                      </a:extLst>
                    </a:gridCol>
                    <a:gridCol w="4391408">
                      <a:extLst>
                        <a:ext uri="{9D8B030D-6E8A-4147-A177-3AD203B41FA5}">
                          <a16:colId xmlns:a16="http://schemas.microsoft.com/office/drawing/2014/main" val="2236463242"/>
                        </a:ext>
                      </a:extLst>
                    </a:gridCol>
                    <a:gridCol w="4391408">
                      <a:extLst>
                        <a:ext uri="{9D8B030D-6E8A-4147-A177-3AD203B41FA5}">
                          <a16:colId xmlns:a16="http://schemas.microsoft.com/office/drawing/2014/main" val="3217692301"/>
                        </a:ext>
                      </a:extLst>
                    </a:gridCol>
                    <a:gridCol w="6882249">
                      <a:extLst>
                        <a:ext uri="{9D8B030D-6E8A-4147-A177-3AD203B41FA5}">
                          <a16:colId xmlns:a16="http://schemas.microsoft.com/office/drawing/2014/main" val="5548923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Rain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Traffic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Umbrella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360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60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𝑅𝑎𝑖𝑛</m:t>
                                </m:r>
                                <m:r>
                                  <a:rPr lang="en-US" sz="360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360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𝑇𝑟𝑎𝑓𝑓𝑖𝑐</m:t>
                                </m:r>
                                <m:r>
                                  <a:rPr lang="en-US" sz="360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360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𝑈𝑚𝑏𝑟𝑒𝑙𝑙𝑎</m:t>
                                </m:r>
                                <m:r>
                                  <a:rPr lang="en-US" sz="360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78354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0.504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102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0.056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1718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0.126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609946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0.014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687796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0.018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564260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0.072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79648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0.042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9717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0.168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018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3BA27D7-52F1-C3D7-99CB-2F091743491B}"/>
                  </a:ext>
                </a:extLst>
              </p:cNvPr>
              <p:cNvGraphicFramePr>
                <a:graphicFrameLocks noGrp="1"/>
              </p:cNvGraphicFramePr>
              <p:nvPr>
                <p:ph sz="quarter" idx="11"/>
                <p:extLst>
                  <p:ext uri="{D42A27DB-BD31-4B8C-83A1-F6EECF244321}">
                    <p14:modId xmlns:p14="http://schemas.microsoft.com/office/powerpoint/2010/main" val="2873335869"/>
                  </p:ext>
                </p:extLst>
              </p:nvPr>
            </p:nvGraphicFramePr>
            <p:xfrm>
              <a:off x="2167377" y="4492327"/>
              <a:ext cx="20056473" cy="7406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91408">
                      <a:extLst>
                        <a:ext uri="{9D8B030D-6E8A-4147-A177-3AD203B41FA5}">
                          <a16:colId xmlns:a16="http://schemas.microsoft.com/office/drawing/2014/main" val="2039051240"/>
                        </a:ext>
                      </a:extLst>
                    </a:gridCol>
                    <a:gridCol w="4391408">
                      <a:extLst>
                        <a:ext uri="{9D8B030D-6E8A-4147-A177-3AD203B41FA5}">
                          <a16:colId xmlns:a16="http://schemas.microsoft.com/office/drawing/2014/main" val="2236463242"/>
                        </a:ext>
                      </a:extLst>
                    </a:gridCol>
                    <a:gridCol w="4391408">
                      <a:extLst>
                        <a:ext uri="{9D8B030D-6E8A-4147-A177-3AD203B41FA5}">
                          <a16:colId xmlns:a16="http://schemas.microsoft.com/office/drawing/2014/main" val="3217692301"/>
                        </a:ext>
                      </a:extLst>
                    </a:gridCol>
                    <a:gridCol w="6882249">
                      <a:extLst>
                        <a:ext uri="{9D8B030D-6E8A-4147-A177-3AD203B41FA5}">
                          <a16:colId xmlns:a16="http://schemas.microsoft.com/office/drawing/2014/main" val="554892319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Rain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Traffic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Umbrella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1882" t="-3077" r="-554" b="-8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835464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0.504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78102065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0.056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171809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0.126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60994686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0.014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6877960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0.018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56426046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0.072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79648323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F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0.042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9717211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T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3600" dirty="0">
                              <a:solidFill>
                                <a:srgbClr val="000000"/>
                              </a:solidFill>
                            </a:rPr>
                            <a:t>0.168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0182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BA442-121F-AF23-021F-5B1EDA21D956}"/>
                  </a:ext>
                </a:extLst>
              </p:cNvPr>
              <p:cNvSpPr txBox="1"/>
              <p:nvPr/>
            </p:nvSpPr>
            <p:spPr>
              <a:xfrm>
                <a:off x="8715114" y="3498728"/>
                <a:ext cx="6442276" cy="7181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𝑃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(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𝑅𝑎𝑖𝑛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, 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𝑇𝑟𝑎𝑓𝑓𝑖𝑐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, 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𝑈𝑚𝑏𝑟𝑒𝑙𝑙𝑎</m:t>
                      </m:r>
                      <m:r>
                        <a:rPr kumimoji="0" lang="en-US" sz="40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000" b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BA442-121F-AF23-021F-5B1EDA21D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114" y="3498728"/>
                <a:ext cx="6442276" cy="718145"/>
              </a:xfrm>
              <a:prstGeom prst="rect">
                <a:avLst/>
              </a:prstGeom>
              <a:blipFill>
                <a:blip r:embed="rId3"/>
                <a:stretch>
                  <a:fillRect l="-1575" r="-394" b="-2241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4C81907-0409-FCCB-6B01-8AB5E652F2DA}"/>
              </a:ext>
            </a:extLst>
          </p:cNvPr>
          <p:cNvSpPr txBox="1"/>
          <p:nvPr/>
        </p:nvSpPr>
        <p:spPr>
          <a:xfrm>
            <a:off x="21435172" y="11238267"/>
            <a:ext cx="1577355" cy="18723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5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1BFC6-563B-B3CD-CEB6-3539FBE1071D}"/>
              </a:ext>
            </a:extLst>
          </p:cNvPr>
          <p:cNvSpPr txBox="1"/>
          <p:nvPr/>
        </p:nvSpPr>
        <p:spPr>
          <a:xfrm>
            <a:off x="11187174" y="12114920"/>
            <a:ext cx="10247998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Reminder: Joint distribution sums to 1!</a:t>
            </a:r>
          </a:p>
        </p:txBody>
      </p:sp>
    </p:spTree>
    <p:extLst>
      <p:ext uri="{BB962C8B-B14F-4D97-AF65-F5344CB8AC3E}">
        <p14:creationId xmlns:p14="http://schemas.microsoft.com/office/powerpoint/2010/main" val="341070672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5259-968E-8D1E-1D35-AEFB799A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Strict and 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0748-3071-4D4F-5C56-82EBE0E06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88297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Conditional Independence is our most basic and robust form of knowledge about uncertain environments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Strict independence is rare!</a:t>
                </a:r>
              </a:p>
              <a:p>
                <a:pPr>
                  <a:spcAft>
                    <a:spcPts val="2400"/>
                  </a:spcAft>
                </a:pPr>
                <a:r>
                  <a:rPr lang="en-US" dirty="0">
                    <a:solidFill>
                      <a:srgbClr val="000000"/>
                    </a:solidFill>
                    <a:ea typeface="Cambria Math" panose="02040503050406030204" pitchFamily="18" charset="0"/>
                    <a:cs typeface="+mn-cs"/>
                  </a:rPr>
                  <a:t>X is conditionally independent of Y given Z if and only if: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Aft>
                    <a:spcPts val="2400"/>
                  </a:spcAft>
                </a:pPr>
                <a:r>
                  <a:rPr lang="en-US" dirty="0"/>
                  <a:t>Or equivalently, if and only if: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440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8829737"/>
              </a:xfrm>
              <a:blipFill>
                <a:blip r:embed="rId3"/>
                <a:stretch>
                  <a:fillRect l="-1329" t="-1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58617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5259-968E-8D1E-1D35-AEFB799A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Strict and 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0748-3071-4D4F-5C56-82EBE0E06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45533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𝑇𝑜𝑜𝑡h𝑎𝑐h𝑒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𝐶𝑎𝑣𝑖𝑡𝑦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𝐶𝑎𝑡𝑐h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If I have a cavity, the probability that the steel probe catches in it doesn't depend on whether I have a toothache:</a:t>
                </a:r>
              </a:p>
              <a:p>
                <a:pPr lvl="1"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𝑐𝑎𝑡𝑐h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𝑡𝑜𝑜𝑡h𝑎𝑐h𝑒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𝑐𝑎𝑣𝑖𝑡𝑦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𝑐𝑎𝑡𝑐h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𝑐𝑎𝑣𝑖𝑡𝑦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same independence holds if I don’t have a cavity:</a:t>
                </a:r>
              </a:p>
              <a:p>
                <a:pPr lvl="1"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𝑐𝑎𝑡𝑐h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𝑡𝑜𝑜𝑡h𝑎𝑐h𝑒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𝑐𝑎𝑣𝑖𝑡𝑦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𝑐𝑎𝑡𝑐h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𝑐𝑎𝑣𝑖𝑡𝑦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Catch is conditionally independent of Toothache given Cavity</a:t>
                </a:r>
              </a:p>
              <a:p>
                <a:pPr lvl="1"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𝐶𝑎𝑡𝑐h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𝑜𝑜𝑡h𝑎𝑐h𝑒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𝑎𝑣𝑖𝑡𝑦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𝑎𝑡𝑐h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𝑎𝑣𝑖𝑡𝑦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455337"/>
              </a:xfrm>
              <a:blipFill>
                <a:blip r:embed="rId3"/>
                <a:stretch>
                  <a:fillRect l="-1329" t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44244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5259-968E-8D1E-1D35-AEFB799A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Strict and 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0748-3071-4D4F-5C56-82EBE0E06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45533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𝑇𝑜𝑜𝑡h𝑎𝑐h𝑒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𝐶𝑎𝑣𝑖𝑡𝑦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𝐶𝑎𝑡𝑐h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Equivalent statements: </a:t>
                </a:r>
              </a:p>
              <a:p>
                <a:pPr lvl="1"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𝑇𝑜𝑜𝑡h𝑎𝑐h𝑒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𝐶𝑎𝑣𝑖𝑡𝑦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𝐶𝑎𝑡𝑐h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𝑇𝑜𝑜𝑡h𝑎𝑐h𝑒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𝐶𝑎𝑣𝑖𝑡𝑦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𝑇𝑜𝑜𝑡h𝑎𝑐h𝑒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𝐶𝑎𝑡𝑐h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𝐶𝑎𝑣𝑖𝑡𝑦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𝑇𝑜𝑜𝑡h𝑎𝑐h𝑒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𝐶𝑎𝑣𝑖𝑡𝑦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𝐶𝑎𝑡𝑐h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𝐶𝑎𝑣𝑖𝑡𝑦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>
                  <a:buFont typeface="Wingdings" pitchFamily="2" charset="2"/>
                  <a:buChar char="v"/>
                </a:pPr>
                <a:r>
                  <a:rPr lang="en-US" dirty="0">
                    <a:ea typeface="Cambria Math" panose="02040503050406030204" pitchFamily="18" charset="0"/>
                  </a:rPr>
                  <a:t>One can be derived from the other easily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2617FBC-039C-B422-6378-BFDCEFEFB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455337"/>
              </a:xfrm>
              <a:blipFill>
                <a:blip r:embed="rId3"/>
                <a:stretch>
                  <a:fillRect l="-1329" t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939082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Big picture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871F-C3CC-E6D5-2D60-8E864888C9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10201337"/>
          </a:xfrm>
        </p:spPr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b="1" dirty="0"/>
              <a:t>Full Joint Distributions Table </a:t>
            </a:r>
            <a:r>
              <a:rPr lang="en-US" dirty="0"/>
              <a:t>as our probabilistic model has two problems: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Unless there are only a few variables, the joint is WAY too big to represent explicitly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Hard to learn (estimate) anything empirically about more than a few variables at a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36494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Big picture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871F-C3CC-E6D5-2D60-8E864888C9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804337"/>
          </a:xfrm>
        </p:spPr>
        <p:txBody>
          <a:bodyPr>
            <a:normAutofit/>
          </a:bodyPr>
          <a:lstStyle/>
          <a:p>
            <a:r>
              <a:rPr lang="en-US" b="1" dirty="0"/>
              <a:t>Bayesian Network</a:t>
            </a:r>
            <a:r>
              <a:rPr lang="en-US" dirty="0"/>
              <a:t>: A technique for describing </a:t>
            </a:r>
            <a:r>
              <a:rPr lang="en-US" b="1" dirty="0"/>
              <a:t>complex joint distributions</a:t>
            </a:r>
            <a:r>
              <a:rPr lang="en-US" dirty="0"/>
              <a:t> using </a:t>
            </a:r>
            <a:r>
              <a:rPr lang="en-US" b="1" dirty="0"/>
              <a:t>simple, conditional distributions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A type of probabilistic graphical models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We describe how variables locally interact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Local interactions chain together to give global, indirect interactions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79336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Graphical model notation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871F-C3CC-E6D5-2D60-8E864888C9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2543412" cy="8804337"/>
          </a:xfrm>
        </p:spPr>
        <p:txBody>
          <a:bodyPr>
            <a:normAutofit/>
          </a:bodyPr>
          <a:lstStyle/>
          <a:p>
            <a:r>
              <a:rPr lang="en-US" dirty="0"/>
              <a:t>Nodes: variables (with domain)</a:t>
            </a:r>
          </a:p>
          <a:p>
            <a:r>
              <a:rPr lang="en-US" dirty="0"/>
              <a:t>Arcs/Links: interactions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Indicate “direct influence” between variables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Formally: absence of arc encodes conditional independence (more later) </a:t>
            </a:r>
          </a:p>
          <a:p>
            <a:pPr>
              <a:buFont typeface="Wingdings" pitchFamily="2" charset="2"/>
              <a:buChar char="v"/>
            </a:pPr>
            <a:r>
              <a:rPr lang="en-US" i="1" dirty="0"/>
              <a:t>For now: imagine that arrows mean direct causation (in general, they don’t!) </a:t>
            </a:r>
          </a:p>
          <a:p>
            <a:pPr lvl="1">
              <a:buFont typeface="Wingdings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F170C92-FA0B-0E6A-09E7-CA3E723E75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8748" b="48638"/>
          <a:stretch/>
        </p:blipFill>
        <p:spPr>
          <a:xfrm>
            <a:off x="16982200" y="3677533"/>
            <a:ext cx="3612520" cy="22772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8D86028-C5E1-D76F-C470-4F6532CE966B}"/>
                  </a:ext>
                </a:extLst>
              </p14:cNvPr>
              <p14:cNvContentPartPr/>
              <p14:nvPr/>
            </p14:nvContentPartPr>
            <p14:xfrm>
              <a:off x="14842000" y="8535560"/>
              <a:ext cx="8154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8D86028-C5E1-D76F-C470-4F6532CE96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52360" y="8355920"/>
                <a:ext cx="9950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D84BF84-7C50-35BF-038B-0B1643F60C4E}"/>
                  </a:ext>
                </a:extLst>
              </p14:cNvPr>
              <p14:cNvContentPartPr/>
              <p14:nvPr/>
            </p14:nvContentPartPr>
            <p14:xfrm>
              <a:off x="18374320" y="77842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D84BF84-7C50-35BF-038B-0B1643F60C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11320" y="772124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22BD7CA-AF5C-05FA-02A6-CAD5838964A1}"/>
                  </a:ext>
                </a:extLst>
              </p14:cNvPr>
              <p14:cNvContentPartPr/>
              <p14:nvPr/>
            </p14:nvContentPartPr>
            <p14:xfrm>
              <a:off x="16982200" y="8312000"/>
              <a:ext cx="464400" cy="68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22BD7CA-AF5C-05FA-02A6-CAD5838964A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19560" y="8249360"/>
                <a:ext cx="590040" cy="19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1C58A3D-912F-4695-13E2-BAD991679D12}"/>
              </a:ext>
            </a:extLst>
          </p:cNvPr>
          <p:cNvGrpSpPr/>
          <p:nvPr/>
        </p:nvGrpSpPr>
        <p:grpSpPr>
          <a:xfrm>
            <a:off x="14539800" y="6899197"/>
            <a:ext cx="7329617" cy="4977049"/>
            <a:chOff x="14539800" y="6899197"/>
            <a:chExt cx="7329617" cy="4977049"/>
          </a:xfrm>
        </p:grpSpPr>
        <p:pic>
          <p:nvPicPr>
            <p:cNvPr id="5" name="Content Placeholder 4">
              <a:extLst>
                <a:ext uri="{FF2B5EF4-FFF2-40B4-BE49-F238E27FC236}">
                  <a16:creationId xmlns:a16="http://schemas.microsoft.com/office/drawing/2014/main" id="{29B198D4-DEC8-B0F7-613B-52822EF123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5176"/>
            <a:stretch/>
          </p:blipFill>
          <p:spPr>
            <a:xfrm>
              <a:off x="14621527" y="6899197"/>
              <a:ext cx="7247890" cy="4977049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7358EE-1C58-3F6E-B02E-C5AB21025E7E}"/>
                </a:ext>
              </a:extLst>
            </p:cNvPr>
            <p:cNvSpPr/>
            <p:nvPr/>
          </p:nvSpPr>
          <p:spPr>
            <a:xfrm>
              <a:off x="14539800" y="6899197"/>
              <a:ext cx="2235200" cy="1872307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5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43751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Coin flips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9BB185-1CF4-F09F-1CEE-CEC17A20CB5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n independent coin flips</a:t>
            </a:r>
          </a:p>
          <a:p>
            <a:r>
              <a:rPr lang="en-US" dirty="0"/>
              <a:t>No interactions between variables: strict independence </a:t>
            </a:r>
          </a:p>
          <a:p>
            <a:endParaRPr lang="en-US" dirty="0"/>
          </a:p>
        </p:txBody>
      </p:sp>
      <p:pic>
        <p:nvPicPr>
          <p:cNvPr id="9" name="Content Placeholder 5" descr="A black circle with a black dot&#10;&#10;Description automatically generated">
            <a:extLst>
              <a:ext uri="{FF2B5EF4-FFF2-40B4-BE49-F238E27FC236}">
                <a16:creationId xmlns:a16="http://schemas.microsoft.com/office/drawing/2014/main" id="{8865F51D-F303-CABA-108F-F43BA6E16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297" y="5844946"/>
            <a:ext cx="14517404" cy="3414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83319898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Traffic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9BB185-1CF4-F09F-1CEE-CEC17A20CB5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Variables: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T: There is traffic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U: I’m bringing my umbrella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R: It rains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A3A0D8-AEA5-E52E-4499-69977DCCB68E}"/>
              </a:ext>
            </a:extLst>
          </p:cNvPr>
          <p:cNvGrpSpPr/>
          <p:nvPr/>
        </p:nvGrpSpPr>
        <p:grpSpPr>
          <a:xfrm>
            <a:off x="11734800" y="3842682"/>
            <a:ext cx="9957067" cy="5952444"/>
            <a:chOff x="11734800" y="3842682"/>
            <a:chExt cx="9957067" cy="5952444"/>
          </a:xfrm>
        </p:grpSpPr>
        <p:pic>
          <p:nvPicPr>
            <p:cNvPr id="5" name="Picture 4" descr="A diagram of a network&#10;&#10;Description automatically generated">
              <a:extLst>
                <a:ext uri="{FF2B5EF4-FFF2-40B4-BE49-F238E27FC236}">
                  <a16:creationId xmlns:a16="http://schemas.microsoft.com/office/drawing/2014/main" id="{FAE7ADA9-7361-88A5-78C2-A760C5392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74024" y="3920874"/>
              <a:ext cx="9617843" cy="587425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8620FE-8EEE-E6C6-7DD0-719D92770A2A}"/>
                </a:ext>
              </a:extLst>
            </p:cNvPr>
            <p:cNvSpPr/>
            <p:nvPr/>
          </p:nvSpPr>
          <p:spPr>
            <a:xfrm>
              <a:off x="11734800" y="3842682"/>
              <a:ext cx="1752600" cy="595035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778D90-53A3-CA57-63C4-99F42AE7FAC6}"/>
                </a:ext>
              </a:extLst>
            </p:cNvPr>
            <p:cNvSpPr/>
            <p:nvPr/>
          </p:nvSpPr>
          <p:spPr>
            <a:xfrm>
              <a:off x="14182725" y="8360708"/>
              <a:ext cx="5381625" cy="595035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921651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Smoke alarm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9BB185-1CF4-F09F-1CEE-CEC17A20CB5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Variables: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F: There is fire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S: There is smoke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A: Alarm sounds</a:t>
            </a:r>
          </a:p>
        </p:txBody>
      </p:sp>
      <p:pic>
        <p:nvPicPr>
          <p:cNvPr id="9" name="Picture 8" descr="A diagram of a circle with a circle and a circle with a circle and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C6D1179C-5495-F194-CEFC-B2E695E12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3812" y="3260663"/>
            <a:ext cx="5564233" cy="927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2255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Car won’t start</a:t>
            </a:r>
          </a:p>
        </p:txBody>
      </p:sp>
      <p:pic>
        <p:nvPicPr>
          <p:cNvPr id="12" name="Content Placeholder 11" descr="A diagram of a car&#10;&#10;Description automatically generated">
            <a:extLst>
              <a:ext uri="{FF2B5EF4-FFF2-40B4-BE49-F238E27FC236}">
                <a16:creationId xmlns:a16="http://schemas.microsoft.com/office/drawing/2014/main" id="{35BA7D46-E03B-1616-AEB8-1827E86C40E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530" y="3260663"/>
            <a:ext cx="16762940" cy="9652397"/>
          </a:xfrm>
        </p:spPr>
      </p:pic>
    </p:spTree>
    <p:extLst>
      <p:ext uri="{BB962C8B-B14F-4D97-AF65-F5344CB8AC3E}">
        <p14:creationId xmlns:p14="http://schemas.microsoft.com/office/powerpoint/2010/main" val="161101862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Car insurance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306D718-0A68-21AE-8FE4-C7B6705A341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929" y="3260664"/>
            <a:ext cx="16599392" cy="1001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8831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syntax and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871F-C3CC-E6D5-2D60-8E864888C9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 set of nodes, one per variable Xi</a:t>
            </a:r>
          </a:p>
          <a:p>
            <a:r>
              <a:rPr lang="en-US" dirty="0"/>
              <a:t>A directed acyclic graph</a:t>
            </a:r>
          </a:p>
          <a:p>
            <a:r>
              <a:rPr lang="en-US" dirty="0"/>
              <a:t>A </a:t>
            </a:r>
            <a:r>
              <a:rPr lang="en-US" u="sng" dirty="0"/>
              <a:t>conditional distributions </a:t>
            </a:r>
            <a:r>
              <a:rPr lang="en-US" dirty="0"/>
              <a:t>for each node given its </a:t>
            </a:r>
            <a:r>
              <a:rPr lang="en-US" b="1" dirty="0"/>
              <a:t>parent variables</a:t>
            </a:r>
            <a:r>
              <a:rPr lang="en-US" dirty="0"/>
              <a:t> in the graph: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/>
              <a:t>Conditional Probability Table </a:t>
            </a:r>
            <a:r>
              <a:rPr lang="en-US" dirty="0"/>
              <a:t>(</a:t>
            </a:r>
            <a:r>
              <a:rPr lang="en-US" b="1" dirty="0">
                <a:solidFill>
                  <a:srgbClr val="0070C0"/>
                </a:solidFill>
              </a:rPr>
              <a:t>CPT</a:t>
            </a:r>
            <a:r>
              <a:rPr lang="en-US" dirty="0"/>
              <a:t>); each row is a distribution for child given values of its parents.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724A2B-A53A-C73C-1FFA-8ACC4231DB88}"/>
              </a:ext>
            </a:extLst>
          </p:cNvPr>
          <p:cNvSpPr txBox="1"/>
          <p:nvPr/>
        </p:nvSpPr>
        <p:spPr>
          <a:xfrm>
            <a:off x="2636499" y="10875644"/>
            <a:ext cx="19111001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i="1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Bayesian Network = Topology (graph) + Local Conditional Probabilities</a:t>
            </a:r>
          </a:p>
        </p:txBody>
      </p:sp>
    </p:spTree>
    <p:extLst>
      <p:ext uri="{BB962C8B-B14F-4D97-AF65-F5344CB8AC3E}">
        <p14:creationId xmlns:p14="http://schemas.microsoft.com/office/powerpoint/2010/main" val="424164400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syntax and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Alarm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871F-C3CC-E6D5-2D60-8E864888C9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Variables: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B: Burglary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E: Earthquake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A: Alarm goes off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J: John calls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M: Mary calls</a:t>
            </a:r>
          </a:p>
        </p:txBody>
      </p:sp>
      <p:pic>
        <p:nvPicPr>
          <p:cNvPr id="7" name="Picture 6" descr="Cartoon of a cartoon of two people talking on a cell phone&#10;&#10;Description automatically generated">
            <a:extLst>
              <a:ext uri="{FF2B5EF4-FFF2-40B4-BE49-F238E27FC236}">
                <a16:creationId xmlns:a16="http://schemas.microsoft.com/office/drawing/2014/main" id="{8B06E09F-B9CA-94F0-09E0-4EF7CC1AF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5581" y="3260663"/>
            <a:ext cx="12543790" cy="888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609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syntax and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Alarm network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4BDFFFC-064E-BB88-2CED-3045F8A0BCB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608320" y="3325977"/>
            <a:ext cx="13167360" cy="9309880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282545380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syntax and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Bayesian network Global semantics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22D1F69-2038-A61A-255E-ADC9FCF15F42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>
                  <a:spcAft>
                    <a:spcPts val="2400"/>
                  </a:spcAft>
                </a:pPr>
                <a:r>
                  <a:rPr lang="en-US" dirty="0"/>
                  <a:t>Bayesian network encodes joint distributions as product of conditional distributions on each variable: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𝑃𝑎𝑟𝑒𝑛𝑡𝑠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Exploits sparse structure: number of parents is usually small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22D1F69-2038-A61A-255E-ADC9FCF15F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0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54201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syntax and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Alarm network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4BDFFFC-064E-BB88-2CED-3045F8A0BCB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394628" y="3602415"/>
            <a:ext cx="10113165" cy="7150435"/>
          </a:xfrm>
          <a:prstGeom prst="rect">
            <a:avLst/>
          </a:prstGeom>
          <a:ln w="2857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51B5FB-0757-CFE3-6604-D8B29A2A6352}"/>
                  </a:ext>
                </a:extLst>
              </p:cNvPr>
              <p:cNvSpPr txBox="1"/>
              <p:nvPr/>
            </p:nvSpPr>
            <p:spPr>
              <a:xfrm>
                <a:off x="12353696" y="7373331"/>
                <a:ext cx="4394665" cy="7797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𝑃</m:t>
                      </m:r>
                      <m:d>
                        <m:dPr>
                          <m:ctrlP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dPr>
                        <m:e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𝑗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, 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𝑚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, 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𝑎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, ¬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,¬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sz="4400" b="0" i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51B5FB-0757-CFE3-6604-D8B29A2A6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3696" y="7373331"/>
                <a:ext cx="4394665" cy="779701"/>
              </a:xfrm>
              <a:prstGeom prst="rect">
                <a:avLst/>
              </a:prstGeom>
              <a:blipFill>
                <a:blip r:embed="rId3"/>
                <a:stretch>
                  <a:fillRect l="-2594" b="-2419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F135B0-13C4-618B-03AB-53FE899607EC}"/>
                  </a:ext>
                </a:extLst>
              </p:cNvPr>
              <p:cNvSpPr txBox="1"/>
              <p:nvPr/>
            </p:nvSpPr>
            <p:spPr>
              <a:xfrm>
                <a:off x="12353696" y="8359967"/>
                <a:ext cx="12030304" cy="41549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𝑃𝑎𝑟𝑒𝑛𝑡𝑠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𝑃𝑎𝑟𝑒𝑛𝑡𝑠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 </m:t>
                      </m:r>
                    </m:oMath>
                  </m:oMathPara>
                </a14:m>
                <a:endParaRPr lang="en-US" sz="4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𝑃𝑎𝑟𝑒𝑛𝑡𝑠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𝑃𝑎𝑟𝑒𝑛𝑡𝑠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𝑃𝑎𝑟𝑒𝑛𝑡𝑠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4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,¬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(¬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=0.9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∗0.7∗0.001∗0.999∗0.998</m:t>
                      </m:r>
                    </m:oMath>
                  </m:oMathPara>
                </a14:m>
                <a:endParaRPr lang="en-US" sz="4400" b="0" dirty="0">
                  <a:ea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=0.000628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F135B0-13C4-618B-03AB-53FE89960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3696" y="8359967"/>
                <a:ext cx="12030304" cy="4154984"/>
              </a:xfrm>
              <a:prstGeom prst="rect">
                <a:avLst/>
              </a:prstGeom>
              <a:blipFill>
                <a:blip r:embed="rId4"/>
                <a:stretch>
                  <a:fillRect l="-211" t="-30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3C4A23A-3A88-17D2-1604-9D65EF498A5E}"/>
              </a:ext>
            </a:extLst>
          </p:cNvPr>
          <p:cNvSpPr txBox="1"/>
          <p:nvPr/>
        </p:nvSpPr>
        <p:spPr>
          <a:xfrm>
            <a:off x="12353696" y="3490405"/>
            <a:ext cx="11211698" cy="27638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D" sz="4000" dirty="0">
                <a:solidFill>
                  <a:srgbClr val="000000"/>
                </a:solidFill>
              </a:rPr>
              <a:t>What is the probability of an alarm ring but neither a burglary nor an earthquake has occurred, and both John and Mary call?</a:t>
            </a:r>
          </a:p>
        </p:txBody>
      </p:sp>
    </p:spTree>
    <p:extLst>
      <p:ext uri="{BB962C8B-B14F-4D97-AF65-F5344CB8AC3E}">
        <p14:creationId xmlns:p14="http://schemas.microsoft.com/office/powerpoint/2010/main" val="357441218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syntax and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Alarm network – Chain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22D1F69-2038-A61A-255E-ADC9FCF15F42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201337"/>
              </a:xfrm>
            </p:spPr>
            <p:txBody>
              <a:bodyPr>
                <a:no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dirty="0"/>
                  <a:t>What about chain rule?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…,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With assumption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ordered topologically (parents before children), Bayes net asserts conditional independences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𝑃𝑎𝑟𝑒𝑛𝑡𝑠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22D1F69-2038-A61A-255E-ADC9FCF15F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10201337"/>
              </a:xfrm>
              <a:blipFill>
                <a:blip r:embed="rId2"/>
                <a:stretch>
                  <a:fillRect l="-1329" t="-15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CC0064-2DA0-F37B-84FE-5CDC07CE1F7A}"/>
                  </a:ext>
                </a:extLst>
              </p:cNvPr>
              <p:cNvSpPr txBox="1"/>
              <p:nvPr/>
            </p:nvSpPr>
            <p:spPr>
              <a:xfrm>
                <a:off x="2981096" y="6036349"/>
                <a:ext cx="3551485" cy="7797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𝑃</m:t>
                      </m:r>
                      <m:d>
                        <m:dPr>
                          <m:ctrlP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dPr>
                        <m:e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𝑏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, 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𝑒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, 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𝑎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, 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𝑗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, </m:t>
                          </m:r>
                          <m:r>
                            <a:rPr kumimoji="0" lang="en-US" sz="4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sz="4400" b="0" i="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CC0064-2DA0-F37B-84FE-5CDC07CE1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096" y="6036349"/>
                <a:ext cx="3551485" cy="779701"/>
              </a:xfrm>
              <a:prstGeom prst="rect">
                <a:avLst/>
              </a:prstGeom>
              <a:blipFill>
                <a:blip r:embed="rId3"/>
                <a:stretch>
                  <a:fillRect l="-3203" b="-2419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0A532-E4C2-9638-2E66-E572E3596E49}"/>
                  </a:ext>
                </a:extLst>
              </p:cNvPr>
              <p:cNvSpPr txBox="1"/>
              <p:nvPr/>
            </p:nvSpPr>
            <p:spPr>
              <a:xfrm>
                <a:off x="2981096" y="6895985"/>
                <a:ext cx="13901850" cy="28007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b="0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/>
                <a:endParaRPr lang="en-US" sz="4400" dirty="0">
                  <a:solidFill>
                    <a:srgbClr val="000000"/>
                  </a:solidFill>
                </a:endParaRPr>
              </a:p>
              <a:p>
                <a:pPr algn="l"/>
                <a:r>
                  <a:rPr lang="en-US" sz="4400" dirty="0">
                    <a:solidFill>
                      <a:srgbClr val="000000"/>
                    </a:solidFill>
                  </a:rPr>
                  <a:t>If Bayes net is used:</a:t>
                </a:r>
                <a:endParaRPr lang="en-US" sz="4400" b="0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0A532-E4C2-9638-2E66-E572E3596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096" y="6895985"/>
                <a:ext cx="13901850" cy="2800767"/>
              </a:xfrm>
              <a:prstGeom prst="rect">
                <a:avLst/>
              </a:prstGeom>
              <a:blipFill>
                <a:blip r:embed="rId4"/>
                <a:stretch>
                  <a:fillRect l="-1734" t="-450" b="-675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82589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Causality in 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Causality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871F-C3CC-E6D5-2D60-8E864888C9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When Bayes’ nets reflect the true causal patterns: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Often simpler (nodes have fewer parents)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Often easier to think about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Often easier to elicit from experts </a:t>
            </a:r>
          </a:p>
          <a:p>
            <a:r>
              <a:rPr lang="en-US" dirty="0"/>
              <a:t>BNs need not actually be causal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Sometimes no causal net exists over the domain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End up with arrows that reflect correlation, not causation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08559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Causality in 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Meaning of arrow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871F-C3CC-E6D5-2D60-8E864888C9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What do the arrows really mean?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Topology may happen to encode causal structure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/>
              <a:t>Topology only guaranteed to encode conditional independence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445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Causality in 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871F-C3CC-E6D5-2D60-8E864888C9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4000" dirty="0"/>
              <a:t>Traffic (left) and Reverse traffic (right) can give out the same joint distributions (middle)??? </a:t>
            </a:r>
          </a:p>
          <a:p>
            <a:pPr lvl="1">
              <a:buFont typeface="Wingdings" pitchFamily="2" charset="2"/>
              <a:buChar char="v"/>
            </a:pPr>
            <a:r>
              <a:rPr lang="en-US" sz="4000" dirty="0"/>
              <a:t>T for Traffic, R for Rain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white square with blue text&#10;&#10;Description automatically generated">
            <a:extLst>
              <a:ext uri="{FF2B5EF4-FFF2-40B4-BE49-F238E27FC236}">
                <a16:creationId xmlns:a16="http://schemas.microsoft.com/office/drawing/2014/main" id="{AE686276-EC58-9386-A6E8-E03A6DE7C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787" y="5920653"/>
            <a:ext cx="19810930" cy="620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1067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B55-CD78-B886-1CAF-62C444A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Causality in Bayesian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585F-FEE3-F822-5501-BC4750DD78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Changing bayes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871F-C3CC-E6D5-2D60-8E864888C9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2873612" cy="8583279"/>
          </a:xfrm>
        </p:spPr>
        <p:txBody>
          <a:bodyPr/>
          <a:lstStyle/>
          <a:p>
            <a:r>
              <a:rPr lang="en-ID" dirty="0"/>
              <a:t>The same joint distribution can be encoded in many different Bayesian networks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Deciding conditional independence is hard in noncausal directions (see picture)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Causal structure tends to be the simplest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Causal models and conditional independence seem hardwired for humans!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A diagram of a alarm&#10;&#10;Description automatically generated">
            <a:extLst>
              <a:ext uri="{FF2B5EF4-FFF2-40B4-BE49-F238E27FC236}">
                <a16:creationId xmlns:a16="http://schemas.microsoft.com/office/drawing/2014/main" id="{04433A01-687C-559D-8F23-0B8D09ECE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6801" y="3260663"/>
            <a:ext cx="7835900" cy="804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8860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6355-2805-78B0-D89A-7DB0A151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ED77D-0BDB-8F90-4044-A6BC521E9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Bayesian network semantics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BACBAE4-E7E6-8961-F2CF-D86C6974D47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ID" dirty="0"/>
              <a:t>Match the product of CPTs to the Bayes net (Multiple choice question):</a:t>
            </a:r>
            <a:endParaRPr lang="en-US" dirty="0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3E16BA78-A0B1-7FB2-8622-14078FEC6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46" y="4101598"/>
            <a:ext cx="18601508" cy="8284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3F9199B-250A-D85B-E979-58B0E3B95D0A}"/>
              </a:ext>
            </a:extLst>
          </p:cNvPr>
          <p:cNvSpPr/>
          <p:nvPr/>
        </p:nvSpPr>
        <p:spPr>
          <a:xfrm>
            <a:off x="2891246" y="7007535"/>
            <a:ext cx="1445623" cy="5396349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Calibri" panose="020F0502020204030204" pitchFamily="34" charset="0"/>
              <a:ea typeface="Helvetica Neue Medium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7696E5-7FF3-5458-2F77-0AA0B6D77243}"/>
              </a:ext>
            </a:extLst>
          </p:cNvPr>
          <p:cNvSpPr txBox="1"/>
          <p:nvPr/>
        </p:nvSpPr>
        <p:spPr>
          <a:xfrm>
            <a:off x="3812687" y="7488990"/>
            <a:ext cx="524182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5E775E-DECD-F1F4-2B15-95B78354FB8A}"/>
              </a:ext>
            </a:extLst>
          </p:cNvPr>
          <p:cNvSpPr txBox="1"/>
          <p:nvPr/>
        </p:nvSpPr>
        <p:spPr>
          <a:xfrm>
            <a:off x="3798260" y="9234241"/>
            <a:ext cx="553037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rgbClr val="000000"/>
                </a:solidFill>
              </a:rPr>
              <a:t>b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6169D1-5380-18AA-DBE4-AF4A7FA1BAD8}"/>
              </a:ext>
            </a:extLst>
          </p:cNvPr>
          <p:cNvSpPr txBox="1"/>
          <p:nvPr/>
        </p:nvSpPr>
        <p:spPr>
          <a:xfrm>
            <a:off x="3833526" y="11077842"/>
            <a:ext cx="482504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rgbClr val="000000"/>
                </a:solidFill>
              </a:rPr>
              <a:t>c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0351146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6355-2805-78B0-D89A-7DB0A151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ED77D-0BDB-8F90-4044-A6BC521E9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Astronomer network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8F5A64E-79A7-5E34-6424-CC7AE5F2976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19680812" cy="858327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Two astronomers in different parts of the world make measurements M1 and M2 of the number of stars N in some small region of the sky, using their telescopes. Normally, there is a small possibility e of error by up to one star in each direction. Each telescope can also (with a much smaller probability f) be badly out of focus (events F1 and F2), in which case the scientist will undercount by three or more stars (or if N is less than 3, fail to detect any stars at all). 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There are 2 correct Bayesian networks (but not necessarily efficient) representations of the preceding information, find them and select one which is the best! Explain your answer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Write out a conditional distribution for P(M1N), for the case where N{1,2,3} and M1{0,1,2,3,4}. Each entry in the conditional distribution should be expressed as a function of the parameters e and/or f.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356705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6355-2805-78B0-D89A-7DB0A151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ED77D-0BDB-8F90-4044-A6BC521E9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astronomer network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79E7B4-808B-AF43-E3D0-3BAE31E52B0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7262" y="4241800"/>
            <a:ext cx="19257979" cy="679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1201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6355-2805-78B0-D89A-7DB0A151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ED77D-0BDB-8F90-4044-A6BC521E9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Bayesian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F8F5A64E-79A7-5E34-6424-CC7AE5F2976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9" y="3260663"/>
                <a:ext cx="11197212" cy="8583279"/>
              </a:xfrm>
            </p:spPr>
            <p:txBody>
              <a:bodyPr/>
              <a:lstStyle/>
              <a:p>
                <a:r>
                  <a:rPr lang="en-US" dirty="0"/>
                  <a:t>Consider the Bayes net shown: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Which of the following are asserted by the network structure?</a:t>
                </a:r>
              </a:p>
              <a:p>
                <a:pPr lvl="2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Calculate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F8F5A64E-79A7-5E34-6424-CC7AE5F29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9" y="3260663"/>
                <a:ext cx="11197212" cy="8583279"/>
              </a:xfrm>
              <a:blipFill>
                <a:blip r:embed="rId2"/>
                <a:stretch>
                  <a:fillRect l="-2378" t="-1329" r="-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9BA7E062-1FA6-4963-0AC8-5AB1CD84B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93742" y="1872058"/>
            <a:ext cx="9661454" cy="9912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55FE140-5092-BF3B-4FF8-FD663B959D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431" y="11966565"/>
            <a:ext cx="14407029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2894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837253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Peter Norvig, Stuart Russel. (2021). Artificial Intelligence: A Modern Approach. Pearson. London. ISBN: 978-1292401133. Ch. 12-13.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Dan Klein and Pieter </a:t>
            </a:r>
            <a:r>
              <a:rPr lang="en-US" sz="4000" dirty="0" err="1">
                <a:latin typeface="+mj-lt"/>
              </a:rPr>
              <a:t>Abbeel</a:t>
            </a:r>
            <a:r>
              <a:rPr lang="en-US" sz="4000" dirty="0">
                <a:latin typeface="+mj-lt"/>
              </a:rPr>
              <a:t>. (2024). CS188 Intro to AI at UC Berkeley 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Stephanie Rosenthal. (2023). CMU AI and http://</a:t>
            </a:r>
            <a:r>
              <a:rPr lang="en-US" sz="4000" dirty="0" err="1">
                <a:latin typeface="+mj-lt"/>
              </a:rPr>
              <a:t>ai.berkeley.edu</a:t>
            </a: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2990</TotalTime>
  <Words>1921</Words>
  <Application>Microsoft Office PowerPoint</Application>
  <PresentationFormat>Custom</PresentationFormat>
  <Paragraphs>401</Paragraphs>
  <Slides>37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Cambria Math</vt:lpstr>
      <vt:lpstr>OCRB</vt:lpstr>
      <vt:lpstr>Open Sans</vt:lpstr>
      <vt:lpstr>Open Sans Light</vt:lpstr>
      <vt:lpstr>Open Sans Semibold</vt:lpstr>
      <vt:lpstr>Calibri</vt:lpstr>
      <vt:lpstr>Arial</vt:lpstr>
      <vt:lpstr>Open Sans ExtraBold</vt:lpstr>
      <vt:lpstr>Wingdings</vt:lpstr>
      <vt:lpstr>21_BasicWhite</vt:lpstr>
      <vt:lpstr>Bayesian Network</vt:lpstr>
      <vt:lpstr>Learning Outcomes</vt:lpstr>
      <vt:lpstr>outline</vt:lpstr>
      <vt:lpstr>Strict and conditional independence</vt:lpstr>
      <vt:lpstr>Strict and conditional independence</vt:lpstr>
      <vt:lpstr>Strict and conditional independence</vt:lpstr>
      <vt:lpstr>Strict and conditional independence</vt:lpstr>
      <vt:lpstr>Strict and conditional independence</vt:lpstr>
      <vt:lpstr>Strict and conditional independence</vt:lpstr>
      <vt:lpstr>Strict and conditional independence</vt:lpstr>
      <vt:lpstr>Strict and conditional independence</vt:lpstr>
      <vt:lpstr>Strict and conditional independence</vt:lpstr>
      <vt:lpstr>Strict and conditional independence</vt:lpstr>
      <vt:lpstr>Strict and conditional independence</vt:lpstr>
      <vt:lpstr>Bayesian network</vt:lpstr>
      <vt:lpstr>Bayesian network</vt:lpstr>
      <vt:lpstr>Bayesian network</vt:lpstr>
      <vt:lpstr>Bayesian network</vt:lpstr>
      <vt:lpstr>Bayesian network</vt:lpstr>
      <vt:lpstr>Bayesian network</vt:lpstr>
      <vt:lpstr>Bayesian network</vt:lpstr>
      <vt:lpstr>Bayesian network</vt:lpstr>
      <vt:lpstr>Bayesian network syntax and semantic</vt:lpstr>
      <vt:lpstr>Bayesian network syntax and semantic</vt:lpstr>
      <vt:lpstr>Bayesian network syntax and semantic</vt:lpstr>
      <vt:lpstr>Bayesian network syntax and semantic</vt:lpstr>
      <vt:lpstr>Bayesian network syntax and semantic</vt:lpstr>
      <vt:lpstr>Bayesian network syntax and semantic</vt:lpstr>
      <vt:lpstr>Causality in Bayesian network</vt:lpstr>
      <vt:lpstr>Causality in Bayesian network</vt:lpstr>
      <vt:lpstr>Causality in Bayesian network</vt:lpstr>
      <vt:lpstr>Causality in Bayesian network</vt:lpstr>
      <vt:lpstr>exercise</vt:lpstr>
      <vt:lpstr>exercise</vt:lpstr>
      <vt:lpstr>exercise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64</cp:revision>
  <dcterms:created xsi:type="dcterms:W3CDTF">2023-11-17T02:51:40Z</dcterms:created>
  <dcterms:modified xsi:type="dcterms:W3CDTF">2024-12-27T04:08:42Z</dcterms:modified>
</cp:coreProperties>
</file>