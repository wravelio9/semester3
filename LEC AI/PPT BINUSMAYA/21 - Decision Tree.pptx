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0"/>
  </p:notesMasterIdLst>
  <p:sldIdLst>
    <p:sldId id="290" r:id="rId2"/>
    <p:sldId id="257" r:id="rId3"/>
    <p:sldId id="258" r:id="rId4"/>
    <p:sldId id="291" r:id="rId5"/>
    <p:sldId id="293" r:id="rId6"/>
    <p:sldId id="292"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9" r:id="rId21"/>
    <p:sldId id="307" r:id="rId22"/>
    <p:sldId id="308" r:id="rId23"/>
    <p:sldId id="310" r:id="rId24"/>
    <p:sldId id="311" r:id="rId25"/>
    <p:sldId id="312" r:id="rId26"/>
    <p:sldId id="313" r:id="rId27"/>
    <p:sldId id="314" r:id="rId28"/>
    <p:sldId id="315" r:id="rId29"/>
    <p:sldId id="316" r:id="rId30"/>
    <p:sldId id="317" r:id="rId31"/>
    <p:sldId id="318" r:id="rId32"/>
    <p:sldId id="319" r:id="rId33"/>
    <p:sldId id="321" r:id="rId34"/>
    <p:sldId id="322" r:id="rId35"/>
    <p:sldId id="326" r:id="rId36"/>
    <p:sldId id="325" r:id="rId37"/>
    <p:sldId id="324" r:id="rId38"/>
    <p:sldId id="278" r:id="rId39"/>
  </p:sldIdLst>
  <p:sldSz cx="24384000" cy="13716000"/>
  <p:notesSz cx="6858000" cy="9144000"/>
  <p:embeddedFontLst>
    <p:embeddedFont>
      <p:font typeface="Cambria Math" panose="02040503050406030204" pitchFamily="18" charset="0"/>
      <p:regular r:id="rId41"/>
    </p:embeddedFont>
    <p:embeddedFont>
      <p:font typeface="OCRB" panose="020B0609020202020204" pitchFamily="49" charset="0"/>
      <p:regular r:id="rId42"/>
    </p:embeddedFont>
    <p:embeddedFont>
      <p:font typeface="Open Sans" panose="020B0606030504020204" pitchFamily="34" charset="0"/>
      <p:regular r:id="rId43"/>
      <p:bold r:id="rId44"/>
      <p:italic r:id="rId45"/>
      <p:boldItalic r:id="rId46"/>
    </p:embeddedFont>
    <p:embeddedFont>
      <p:font typeface="Open Sans ExtraBold" panose="020B0906030804020204" pitchFamily="34" charset="0"/>
      <p:bold r:id="rId47"/>
      <p:italic r:id="rId48"/>
      <p:boldItalic r:id="rId49"/>
    </p:embeddedFont>
    <p:embeddedFont>
      <p:font typeface="Open Sans Light" panose="020B0306030504020204" pitchFamily="34" charset="0"/>
      <p:regular r:id="rId50"/>
      <p:italic r:id="rId51"/>
    </p:embeddedFont>
    <p:embeddedFont>
      <p:font typeface="Open Sans Semibold" panose="020B0706030804020204" pitchFamily="34" charset="0"/>
      <p:regular r:id="rId52"/>
      <p:bold r:id="rId53"/>
      <p:italic r:id="rId54"/>
      <p:boldItalic r:id="rId5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36" autoAdjust="0"/>
    <p:restoredTop sz="95781"/>
  </p:normalViewPr>
  <p:slideViewPr>
    <p:cSldViewPr snapToGrid="0" snapToObjects="1">
      <p:cViewPr varScale="1">
        <p:scale>
          <a:sx n="35" d="100"/>
          <a:sy n="35" d="100"/>
        </p:scale>
        <p:origin x="762" y="60"/>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3188" y="3260663"/>
            <a:ext cx="20057623" cy="8583279"/>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21</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Decision tree</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543550" y="11538583"/>
            <a:ext cx="5286583" cy="745888"/>
          </a:xfrm>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420577925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21</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0" indent="0">
              <a:buNone/>
            </a:pPr>
            <a:r>
              <a:rPr lang="en-ID" dirty="0"/>
              <a:t>At the end of this session, students will be able to:</a:t>
            </a:r>
          </a:p>
          <a:p>
            <a:r>
              <a:rPr lang="en-ID" dirty="0"/>
              <a:t>LO 5: Apply various learning algorithms for agents to solve problems  </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21</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Rule-based learning</a:t>
            </a:r>
          </a:p>
          <a:p>
            <a:r>
              <a:rPr lang="en-ID" dirty="0"/>
              <a:t>Tree terminology</a:t>
            </a:r>
          </a:p>
          <a:p>
            <a:r>
              <a:rPr lang="en-ID" dirty="0"/>
              <a:t>Decision Tree</a:t>
            </a:r>
          </a:p>
        </p:txBody>
      </p:sp>
    </p:spTree>
    <p:extLst>
      <p:ext uri="{BB962C8B-B14F-4D97-AF65-F5344CB8AC3E}">
        <p14:creationId xmlns:p14="http://schemas.microsoft.com/office/powerpoint/2010/main" val="18894624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3290C-602B-EC16-16BF-31D0C6BD6348}"/>
              </a:ext>
            </a:extLst>
          </p:cNvPr>
          <p:cNvSpPr>
            <a:spLocks noGrp="1"/>
          </p:cNvSpPr>
          <p:nvPr>
            <p:ph type="title"/>
          </p:nvPr>
        </p:nvSpPr>
        <p:spPr/>
        <p:txBody>
          <a:bodyPr>
            <a:normAutofit fontScale="90000"/>
          </a:bodyPr>
          <a:lstStyle/>
          <a:p>
            <a:r>
              <a:rPr lang="en-US" dirty="0"/>
              <a:t>Rule-based learning</a:t>
            </a:r>
          </a:p>
        </p:txBody>
      </p:sp>
      <p:sp>
        <p:nvSpPr>
          <p:cNvPr id="3" name="Text Placeholder 2">
            <a:extLst>
              <a:ext uri="{FF2B5EF4-FFF2-40B4-BE49-F238E27FC236}">
                <a16:creationId xmlns:a16="http://schemas.microsoft.com/office/drawing/2014/main" id="{956BEFD6-47E8-63B9-26FB-A71DFCB4C6E3}"/>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852D4333-A2F4-3AE5-1744-8331150A1160}"/>
              </a:ext>
            </a:extLst>
          </p:cNvPr>
          <p:cNvSpPr>
            <a:spLocks noGrp="1"/>
          </p:cNvSpPr>
          <p:nvPr>
            <p:ph sz="quarter" idx="11"/>
          </p:nvPr>
        </p:nvSpPr>
        <p:spPr>
          <a:xfrm>
            <a:off x="2163188" y="3260663"/>
            <a:ext cx="20057623" cy="9769537"/>
          </a:xfrm>
        </p:spPr>
        <p:txBody>
          <a:bodyPr>
            <a:normAutofit/>
          </a:bodyPr>
          <a:lstStyle/>
          <a:p>
            <a:r>
              <a:rPr lang="en-US" dirty="0"/>
              <a:t>Rule-based learning is a term in computer science intended to encompass any machine learning method that identifies, learns, or evolves </a:t>
            </a:r>
            <a:r>
              <a:rPr lang="en-US" b="1" dirty="0"/>
              <a:t>'rules</a:t>
            </a:r>
            <a:r>
              <a:rPr lang="en-US" dirty="0"/>
              <a:t>' to store, manipulate or apply</a:t>
            </a:r>
          </a:p>
          <a:p>
            <a:r>
              <a:rPr lang="en-US" dirty="0"/>
              <a:t>The defining characteristic of a rule-based machine learner is the identification and utilization of a set of relational rules that collectively represent the knowledge captured by the system.</a:t>
            </a:r>
          </a:p>
          <a:p>
            <a:r>
              <a:rPr lang="en-US" dirty="0"/>
              <a:t>While </a:t>
            </a:r>
            <a:r>
              <a:rPr lang="en-US" b="1" dirty="0"/>
              <a:t>rule-based machine learning</a:t>
            </a:r>
            <a:r>
              <a:rPr lang="en-US" dirty="0"/>
              <a:t> is conceptually a type of </a:t>
            </a:r>
            <a:r>
              <a:rPr lang="en-US" b="1" dirty="0"/>
              <a:t>rule-based system</a:t>
            </a:r>
            <a:r>
              <a:rPr lang="en-US" dirty="0"/>
              <a:t>, it is </a:t>
            </a:r>
            <a:r>
              <a:rPr lang="en-US" b="1" dirty="0">
                <a:solidFill>
                  <a:srgbClr val="0070C0"/>
                </a:solidFill>
              </a:rPr>
              <a:t>distinct</a:t>
            </a:r>
            <a:r>
              <a:rPr lang="en-US" dirty="0"/>
              <a:t> from traditional rule-based systems, which are often </a:t>
            </a:r>
            <a:r>
              <a:rPr lang="en-US" b="1" dirty="0"/>
              <a:t>hand-crafted</a:t>
            </a:r>
            <a:r>
              <a:rPr lang="en-US" dirty="0"/>
              <a:t>, and need </a:t>
            </a:r>
            <a:r>
              <a:rPr lang="en-US" b="1" dirty="0"/>
              <a:t>prior domain knowledge</a:t>
            </a:r>
            <a:r>
              <a:rPr lang="en-US" dirty="0"/>
              <a:t>.</a:t>
            </a:r>
          </a:p>
          <a:p>
            <a:pPr lvl="1">
              <a:buFont typeface="Wingdings" pitchFamily="2" charset="2"/>
              <a:buChar char="Ø"/>
            </a:pPr>
            <a:r>
              <a:rPr lang="en-US" dirty="0"/>
              <a:t>Rule-based learning applies some form of learning algorithm to </a:t>
            </a:r>
            <a:r>
              <a:rPr lang="en-US" b="1" dirty="0">
                <a:solidFill>
                  <a:srgbClr val="0070C0"/>
                </a:solidFill>
              </a:rPr>
              <a:t>automatically</a:t>
            </a:r>
            <a:r>
              <a:rPr lang="en-US" dirty="0"/>
              <a:t> identify useful rules</a:t>
            </a:r>
          </a:p>
        </p:txBody>
      </p:sp>
    </p:spTree>
    <p:extLst>
      <p:ext uri="{BB962C8B-B14F-4D97-AF65-F5344CB8AC3E}">
        <p14:creationId xmlns:p14="http://schemas.microsoft.com/office/powerpoint/2010/main" val="144492373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3290C-602B-EC16-16BF-31D0C6BD6348}"/>
              </a:ext>
            </a:extLst>
          </p:cNvPr>
          <p:cNvSpPr>
            <a:spLocks noGrp="1"/>
          </p:cNvSpPr>
          <p:nvPr>
            <p:ph type="title"/>
          </p:nvPr>
        </p:nvSpPr>
        <p:spPr/>
        <p:txBody>
          <a:bodyPr>
            <a:normAutofit fontScale="90000"/>
          </a:bodyPr>
          <a:lstStyle/>
          <a:p>
            <a:r>
              <a:rPr lang="en-US" dirty="0"/>
              <a:t>Rule-based learning</a:t>
            </a:r>
          </a:p>
        </p:txBody>
      </p:sp>
      <p:sp>
        <p:nvSpPr>
          <p:cNvPr id="3" name="Text Placeholder 2">
            <a:extLst>
              <a:ext uri="{FF2B5EF4-FFF2-40B4-BE49-F238E27FC236}">
                <a16:creationId xmlns:a16="http://schemas.microsoft.com/office/drawing/2014/main" id="{956BEFD6-47E8-63B9-26FB-A71DFCB4C6E3}"/>
              </a:ext>
            </a:extLst>
          </p:cNvPr>
          <p:cNvSpPr>
            <a:spLocks noGrp="1"/>
          </p:cNvSpPr>
          <p:nvPr>
            <p:ph type="body" sz="quarter" idx="10"/>
          </p:nvPr>
        </p:nvSpPr>
        <p:spPr/>
        <p:txBody>
          <a:bodyPr/>
          <a:lstStyle/>
          <a:p>
            <a:r>
              <a:rPr lang="en-US" dirty="0"/>
              <a:t>Decision tree rules</a:t>
            </a:r>
          </a:p>
        </p:txBody>
      </p:sp>
      <p:sp>
        <p:nvSpPr>
          <p:cNvPr id="4" name="Content Placeholder 3">
            <a:extLst>
              <a:ext uri="{FF2B5EF4-FFF2-40B4-BE49-F238E27FC236}">
                <a16:creationId xmlns:a16="http://schemas.microsoft.com/office/drawing/2014/main" id="{852D4333-A2F4-3AE5-1744-8331150A1160}"/>
              </a:ext>
            </a:extLst>
          </p:cNvPr>
          <p:cNvSpPr>
            <a:spLocks noGrp="1"/>
          </p:cNvSpPr>
          <p:nvPr>
            <p:ph sz="quarter" idx="11"/>
          </p:nvPr>
        </p:nvSpPr>
        <p:spPr>
          <a:xfrm>
            <a:off x="2163188" y="3260663"/>
            <a:ext cx="20057623" cy="9769537"/>
          </a:xfrm>
        </p:spPr>
        <p:txBody>
          <a:bodyPr>
            <a:normAutofit/>
          </a:bodyPr>
          <a:lstStyle/>
          <a:p>
            <a:r>
              <a:rPr lang="en-US" dirty="0"/>
              <a:t>There are many example of rule-based learning algorithm, one of them is </a:t>
            </a:r>
            <a:r>
              <a:rPr lang="en-US" b="1" dirty="0"/>
              <a:t>decision tree</a:t>
            </a:r>
            <a:r>
              <a:rPr lang="en-US" dirty="0"/>
              <a:t>.</a:t>
            </a:r>
          </a:p>
          <a:p>
            <a:r>
              <a:rPr lang="en-US" dirty="0"/>
              <a:t>Let’s say we make a decision tree based on the Titanic Survivability data, which has the features: Sex, Age, and Siblings.</a:t>
            </a:r>
          </a:p>
        </p:txBody>
      </p:sp>
      <p:pic>
        <p:nvPicPr>
          <p:cNvPr id="5" name="Picture 4">
            <a:extLst>
              <a:ext uri="{FF2B5EF4-FFF2-40B4-BE49-F238E27FC236}">
                <a16:creationId xmlns:a16="http://schemas.microsoft.com/office/drawing/2014/main" id="{11E54F9E-88A1-2F53-EF38-66CAA483D42B}"/>
              </a:ext>
            </a:extLst>
          </p:cNvPr>
          <p:cNvPicPr>
            <a:picLocks noChangeAspect="1"/>
          </p:cNvPicPr>
          <p:nvPr/>
        </p:nvPicPr>
        <p:blipFill>
          <a:blip r:embed="rId2"/>
          <a:stretch>
            <a:fillRect/>
          </a:stretch>
        </p:blipFill>
        <p:spPr>
          <a:xfrm>
            <a:off x="5678862" y="6858000"/>
            <a:ext cx="13026274" cy="6611608"/>
          </a:xfrm>
          <a:prstGeom prst="rect">
            <a:avLst/>
          </a:prstGeom>
        </p:spPr>
      </p:pic>
    </p:spTree>
    <p:extLst>
      <p:ext uri="{BB962C8B-B14F-4D97-AF65-F5344CB8AC3E}">
        <p14:creationId xmlns:p14="http://schemas.microsoft.com/office/powerpoint/2010/main" val="271072065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3290C-602B-EC16-16BF-31D0C6BD6348}"/>
              </a:ext>
            </a:extLst>
          </p:cNvPr>
          <p:cNvSpPr>
            <a:spLocks noGrp="1"/>
          </p:cNvSpPr>
          <p:nvPr>
            <p:ph type="title"/>
          </p:nvPr>
        </p:nvSpPr>
        <p:spPr/>
        <p:txBody>
          <a:bodyPr>
            <a:normAutofit fontScale="90000"/>
          </a:bodyPr>
          <a:lstStyle/>
          <a:p>
            <a:r>
              <a:rPr lang="en-US" dirty="0"/>
              <a:t>Rule-based learning</a:t>
            </a:r>
          </a:p>
        </p:txBody>
      </p:sp>
      <p:sp>
        <p:nvSpPr>
          <p:cNvPr id="3" name="Text Placeholder 2">
            <a:extLst>
              <a:ext uri="{FF2B5EF4-FFF2-40B4-BE49-F238E27FC236}">
                <a16:creationId xmlns:a16="http://schemas.microsoft.com/office/drawing/2014/main" id="{956BEFD6-47E8-63B9-26FB-A71DFCB4C6E3}"/>
              </a:ext>
            </a:extLst>
          </p:cNvPr>
          <p:cNvSpPr>
            <a:spLocks noGrp="1"/>
          </p:cNvSpPr>
          <p:nvPr>
            <p:ph type="body" sz="quarter" idx="10"/>
          </p:nvPr>
        </p:nvSpPr>
        <p:spPr/>
        <p:txBody>
          <a:bodyPr/>
          <a:lstStyle/>
          <a:p>
            <a:r>
              <a:rPr lang="en-US" dirty="0"/>
              <a:t>Decision tree rules</a:t>
            </a:r>
          </a:p>
        </p:txBody>
      </p:sp>
      <p:pic>
        <p:nvPicPr>
          <p:cNvPr id="5" name="Picture 4">
            <a:extLst>
              <a:ext uri="{FF2B5EF4-FFF2-40B4-BE49-F238E27FC236}">
                <a16:creationId xmlns:a16="http://schemas.microsoft.com/office/drawing/2014/main" id="{11E54F9E-88A1-2F53-EF38-66CAA483D42B}"/>
              </a:ext>
            </a:extLst>
          </p:cNvPr>
          <p:cNvPicPr>
            <a:picLocks noChangeAspect="1"/>
          </p:cNvPicPr>
          <p:nvPr/>
        </p:nvPicPr>
        <p:blipFill>
          <a:blip r:embed="rId2"/>
          <a:stretch>
            <a:fillRect/>
          </a:stretch>
        </p:blipFill>
        <p:spPr>
          <a:xfrm>
            <a:off x="11357726" y="4858322"/>
            <a:ext cx="13026274" cy="6611608"/>
          </a:xfrm>
          <a:prstGeom prst="rect">
            <a:avLst/>
          </a:prstGeom>
        </p:spPr>
      </p:pic>
      <p:sp>
        <p:nvSpPr>
          <p:cNvPr id="4" name="Content Placeholder 3">
            <a:extLst>
              <a:ext uri="{FF2B5EF4-FFF2-40B4-BE49-F238E27FC236}">
                <a16:creationId xmlns:a16="http://schemas.microsoft.com/office/drawing/2014/main" id="{852D4333-A2F4-3AE5-1744-8331150A1160}"/>
              </a:ext>
            </a:extLst>
          </p:cNvPr>
          <p:cNvSpPr>
            <a:spLocks noGrp="1"/>
          </p:cNvSpPr>
          <p:nvPr>
            <p:ph sz="quarter" idx="11"/>
          </p:nvPr>
        </p:nvSpPr>
        <p:spPr>
          <a:xfrm>
            <a:off x="2163189" y="3454400"/>
            <a:ext cx="9768876" cy="9575800"/>
          </a:xfrm>
        </p:spPr>
        <p:txBody>
          <a:bodyPr>
            <a:normAutofit/>
          </a:bodyPr>
          <a:lstStyle/>
          <a:p>
            <a:r>
              <a:rPr lang="en-US" dirty="0"/>
              <a:t>Here, we can see 4 rules:</a:t>
            </a:r>
          </a:p>
          <a:p>
            <a:pPr lvl="1">
              <a:buFont typeface="Wingdings" pitchFamily="2" charset="2"/>
              <a:buChar char="q"/>
            </a:pPr>
            <a:r>
              <a:rPr lang="en-US" dirty="0"/>
              <a:t>IF Sex is Female, THEN Survived</a:t>
            </a:r>
          </a:p>
          <a:p>
            <a:pPr lvl="1">
              <a:buFont typeface="Wingdings" pitchFamily="2" charset="2"/>
              <a:buChar char="q"/>
            </a:pPr>
            <a:r>
              <a:rPr lang="en-US" dirty="0"/>
              <a:t>IF Sex is Male AND Age &gt; 9, THEN Died</a:t>
            </a:r>
          </a:p>
          <a:p>
            <a:pPr lvl="1">
              <a:buFont typeface="Wingdings" pitchFamily="2" charset="2"/>
              <a:buChar char="q"/>
            </a:pPr>
            <a:r>
              <a:rPr lang="en-US" dirty="0"/>
              <a:t>IF Sex is Male AND Age &lt;= 9 AND Siblings &lt; 2, THEN Died</a:t>
            </a:r>
          </a:p>
          <a:p>
            <a:pPr lvl="1">
              <a:buFont typeface="Wingdings" pitchFamily="2" charset="2"/>
              <a:buChar char="q"/>
            </a:pPr>
            <a:r>
              <a:rPr lang="en-US" dirty="0"/>
              <a:t>IF Sex is Male AND Age &lt;= 9 AND Siblings &gt;= 2, THEN Survived.</a:t>
            </a:r>
          </a:p>
          <a:p>
            <a:endParaRPr lang="en-US" dirty="0"/>
          </a:p>
          <a:p>
            <a:endParaRPr lang="en-US" dirty="0"/>
          </a:p>
          <a:p>
            <a:endParaRPr lang="en-US" dirty="0"/>
          </a:p>
        </p:txBody>
      </p:sp>
    </p:spTree>
    <p:extLst>
      <p:ext uri="{BB962C8B-B14F-4D97-AF65-F5344CB8AC3E}">
        <p14:creationId xmlns:p14="http://schemas.microsoft.com/office/powerpoint/2010/main" val="261253919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3290C-602B-EC16-16BF-31D0C6BD6348}"/>
              </a:ext>
            </a:extLst>
          </p:cNvPr>
          <p:cNvSpPr>
            <a:spLocks noGrp="1"/>
          </p:cNvSpPr>
          <p:nvPr>
            <p:ph type="title"/>
          </p:nvPr>
        </p:nvSpPr>
        <p:spPr/>
        <p:txBody>
          <a:bodyPr>
            <a:normAutofit fontScale="90000"/>
          </a:bodyPr>
          <a:lstStyle/>
          <a:p>
            <a:r>
              <a:rPr lang="en-US" dirty="0"/>
              <a:t>Rule-based learning</a:t>
            </a:r>
          </a:p>
        </p:txBody>
      </p:sp>
      <p:sp>
        <p:nvSpPr>
          <p:cNvPr id="3" name="Text Placeholder 2">
            <a:extLst>
              <a:ext uri="{FF2B5EF4-FFF2-40B4-BE49-F238E27FC236}">
                <a16:creationId xmlns:a16="http://schemas.microsoft.com/office/drawing/2014/main" id="{956BEFD6-47E8-63B9-26FB-A71DFCB4C6E3}"/>
              </a:ext>
            </a:extLst>
          </p:cNvPr>
          <p:cNvSpPr>
            <a:spLocks noGrp="1"/>
          </p:cNvSpPr>
          <p:nvPr>
            <p:ph type="body" sz="quarter" idx="10"/>
          </p:nvPr>
        </p:nvSpPr>
        <p:spPr/>
        <p:txBody>
          <a:bodyPr/>
          <a:lstStyle/>
          <a:p>
            <a:r>
              <a:rPr lang="en-US" dirty="0"/>
              <a:t>Decision tree rules</a:t>
            </a:r>
          </a:p>
        </p:txBody>
      </p:sp>
      <p:pic>
        <p:nvPicPr>
          <p:cNvPr id="5" name="Picture 4">
            <a:extLst>
              <a:ext uri="{FF2B5EF4-FFF2-40B4-BE49-F238E27FC236}">
                <a16:creationId xmlns:a16="http://schemas.microsoft.com/office/drawing/2014/main" id="{11E54F9E-88A1-2F53-EF38-66CAA483D42B}"/>
              </a:ext>
            </a:extLst>
          </p:cNvPr>
          <p:cNvPicPr>
            <a:picLocks noChangeAspect="1"/>
          </p:cNvPicPr>
          <p:nvPr/>
        </p:nvPicPr>
        <p:blipFill>
          <a:blip r:embed="rId2"/>
          <a:stretch>
            <a:fillRect/>
          </a:stretch>
        </p:blipFill>
        <p:spPr>
          <a:xfrm>
            <a:off x="11357726" y="4858322"/>
            <a:ext cx="13026274" cy="6611608"/>
          </a:xfrm>
          <a:prstGeom prst="rect">
            <a:avLst/>
          </a:prstGeom>
        </p:spPr>
      </p:pic>
      <p:pic>
        <p:nvPicPr>
          <p:cNvPr id="6" name="Picture 5">
            <a:extLst>
              <a:ext uri="{FF2B5EF4-FFF2-40B4-BE49-F238E27FC236}">
                <a16:creationId xmlns:a16="http://schemas.microsoft.com/office/drawing/2014/main" id="{CD098675-07AB-F41F-0D2F-C7CD80E3CB88}"/>
              </a:ext>
            </a:extLst>
          </p:cNvPr>
          <p:cNvPicPr>
            <a:picLocks noChangeAspect="1"/>
          </p:cNvPicPr>
          <p:nvPr/>
        </p:nvPicPr>
        <p:blipFill>
          <a:blip r:embed="rId3"/>
          <a:stretch>
            <a:fillRect/>
          </a:stretch>
        </p:blipFill>
        <p:spPr>
          <a:xfrm>
            <a:off x="10714374" y="4664831"/>
            <a:ext cx="13517225" cy="7084499"/>
          </a:xfrm>
          <a:prstGeom prst="rect">
            <a:avLst/>
          </a:prstGeom>
        </p:spPr>
      </p:pic>
      <p:sp>
        <p:nvSpPr>
          <p:cNvPr id="4" name="Content Placeholder 3">
            <a:extLst>
              <a:ext uri="{FF2B5EF4-FFF2-40B4-BE49-F238E27FC236}">
                <a16:creationId xmlns:a16="http://schemas.microsoft.com/office/drawing/2014/main" id="{852D4333-A2F4-3AE5-1744-8331150A1160}"/>
              </a:ext>
            </a:extLst>
          </p:cNvPr>
          <p:cNvSpPr>
            <a:spLocks noGrp="1"/>
          </p:cNvSpPr>
          <p:nvPr>
            <p:ph sz="quarter" idx="11"/>
          </p:nvPr>
        </p:nvSpPr>
        <p:spPr>
          <a:xfrm>
            <a:off x="2163189" y="3454400"/>
            <a:ext cx="9768876" cy="9575800"/>
          </a:xfrm>
        </p:spPr>
        <p:txBody>
          <a:bodyPr>
            <a:normAutofit/>
          </a:bodyPr>
          <a:lstStyle/>
          <a:p>
            <a:r>
              <a:rPr lang="en-US" dirty="0">
                <a:solidFill>
                  <a:schemeClr val="bg2">
                    <a:lumMod val="10000"/>
                  </a:schemeClr>
                </a:solidFill>
              </a:rPr>
              <a:t>What happens if there is a </a:t>
            </a:r>
            <a:r>
              <a:rPr lang="en-US" sz="4400" dirty="0">
                <a:solidFill>
                  <a:schemeClr val="bg2">
                    <a:lumMod val="10000"/>
                  </a:schemeClr>
                </a:solidFill>
                <a:latin typeface="+mj-lt"/>
              </a:rPr>
              <a:t>male aged 6 years old with 0 siblings?</a:t>
            </a:r>
          </a:p>
          <a:p>
            <a:pPr lvl="1">
              <a:buFont typeface="Wingdings" pitchFamily="2" charset="2"/>
              <a:buChar char="Ø"/>
            </a:pPr>
            <a:r>
              <a:rPr lang="en-US" dirty="0">
                <a:solidFill>
                  <a:schemeClr val="bg2">
                    <a:lumMod val="10000"/>
                  </a:schemeClr>
                </a:solidFill>
                <a:latin typeface="+mj-lt"/>
              </a:rPr>
              <a:t>Based on the data and the rules made, he would have died.</a:t>
            </a:r>
            <a:endParaRPr lang="en-US" dirty="0">
              <a:solidFill>
                <a:schemeClr val="bg2">
                  <a:lumMod val="10000"/>
                </a:schemeClr>
              </a:solidFill>
            </a:endParaRPr>
          </a:p>
          <a:p>
            <a:endParaRPr lang="en-US" dirty="0"/>
          </a:p>
          <a:p>
            <a:endParaRPr lang="en-US" dirty="0"/>
          </a:p>
          <a:p>
            <a:endParaRPr lang="en-US" dirty="0"/>
          </a:p>
        </p:txBody>
      </p:sp>
    </p:spTree>
    <p:extLst>
      <p:ext uri="{BB962C8B-B14F-4D97-AF65-F5344CB8AC3E}">
        <p14:creationId xmlns:p14="http://schemas.microsoft.com/office/powerpoint/2010/main" val="356800986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3290C-602B-EC16-16BF-31D0C6BD6348}"/>
              </a:ext>
            </a:extLst>
          </p:cNvPr>
          <p:cNvSpPr>
            <a:spLocks noGrp="1"/>
          </p:cNvSpPr>
          <p:nvPr>
            <p:ph type="title"/>
          </p:nvPr>
        </p:nvSpPr>
        <p:spPr/>
        <p:txBody>
          <a:bodyPr>
            <a:normAutofit fontScale="90000"/>
          </a:bodyPr>
          <a:lstStyle/>
          <a:p>
            <a:r>
              <a:rPr lang="en-US" dirty="0"/>
              <a:t>Rule-based learning</a:t>
            </a:r>
          </a:p>
        </p:txBody>
      </p:sp>
      <p:sp>
        <p:nvSpPr>
          <p:cNvPr id="3" name="Text Placeholder 2">
            <a:extLst>
              <a:ext uri="{FF2B5EF4-FFF2-40B4-BE49-F238E27FC236}">
                <a16:creationId xmlns:a16="http://schemas.microsoft.com/office/drawing/2014/main" id="{956BEFD6-47E8-63B9-26FB-A71DFCB4C6E3}"/>
              </a:ext>
            </a:extLst>
          </p:cNvPr>
          <p:cNvSpPr>
            <a:spLocks noGrp="1"/>
          </p:cNvSpPr>
          <p:nvPr>
            <p:ph type="body" sz="quarter" idx="10"/>
          </p:nvPr>
        </p:nvSpPr>
        <p:spPr/>
        <p:txBody>
          <a:bodyPr/>
          <a:lstStyle/>
          <a:p>
            <a:r>
              <a:rPr lang="en-US" dirty="0"/>
              <a:t>Decision tree</a:t>
            </a:r>
          </a:p>
        </p:txBody>
      </p:sp>
      <p:sp>
        <p:nvSpPr>
          <p:cNvPr id="4" name="Content Placeholder 3">
            <a:extLst>
              <a:ext uri="{FF2B5EF4-FFF2-40B4-BE49-F238E27FC236}">
                <a16:creationId xmlns:a16="http://schemas.microsoft.com/office/drawing/2014/main" id="{852D4333-A2F4-3AE5-1744-8331150A1160}"/>
              </a:ext>
            </a:extLst>
          </p:cNvPr>
          <p:cNvSpPr>
            <a:spLocks noGrp="1"/>
          </p:cNvSpPr>
          <p:nvPr>
            <p:ph sz="quarter" idx="11"/>
          </p:nvPr>
        </p:nvSpPr>
        <p:spPr>
          <a:xfrm>
            <a:off x="2163188" y="3260663"/>
            <a:ext cx="20057623" cy="9769537"/>
          </a:xfrm>
        </p:spPr>
        <p:txBody>
          <a:bodyPr>
            <a:normAutofit/>
          </a:bodyPr>
          <a:lstStyle/>
          <a:p>
            <a:r>
              <a:rPr lang="en-US" dirty="0"/>
              <a:t>A decision tree is a rooted directed </a:t>
            </a:r>
            <a:r>
              <a:rPr lang="en-US" dirty="0" err="1"/>
              <a:t>acylic</a:t>
            </a:r>
            <a:r>
              <a:rPr lang="en-US" dirty="0"/>
              <a:t> graph. </a:t>
            </a:r>
          </a:p>
          <a:p>
            <a:r>
              <a:rPr lang="en-US" dirty="0"/>
              <a:t>The leaf nodes represent classes or values. </a:t>
            </a:r>
          </a:p>
          <a:p>
            <a:r>
              <a:rPr lang="en-US" dirty="0"/>
              <a:t>For the moment all of our classifications will be categorical. </a:t>
            </a:r>
          </a:p>
          <a:p>
            <a:r>
              <a:rPr lang="en-US" dirty="0"/>
              <a:t>An assignment of variables gives a path in the tree. The resulting classification is the value in the leaf node.</a:t>
            </a:r>
          </a:p>
        </p:txBody>
      </p:sp>
    </p:spTree>
    <p:extLst>
      <p:ext uri="{BB962C8B-B14F-4D97-AF65-F5344CB8AC3E}">
        <p14:creationId xmlns:p14="http://schemas.microsoft.com/office/powerpoint/2010/main" val="114819017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3290C-602B-EC16-16BF-31D0C6BD6348}"/>
              </a:ext>
            </a:extLst>
          </p:cNvPr>
          <p:cNvSpPr>
            <a:spLocks noGrp="1"/>
          </p:cNvSpPr>
          <p:nvPr>
            <p:ph type="title"/>
          </p:nvPr>
        </p:nvSpPr>
        <p:spPr/>
        <p:txBody>
          <a:bodyPr>
            <a:normAutofit fontScale="90000"/>
          </a:bodyPr>
          <a:lstStyle/>
          <a:p>
            <a:r>
              <a:rPr lang="en-US" dirty="0"/>
              <a:t>Rule-based learning</a:t>
            </a:r>
          </a:p>
        </p:txBody>
      </p:sp>
      <p:sp>
        <p:nvSpPr>
          <p:cNvPr id="3" name="Text Placeholder 2">
            <a:extLst>
              <a:ext uri="{FF2B5EF4-FFF2-40B4-BE49-F238E27FC236}">
                <a16:creationId xmlns:a16="http://schemas.microsoft.com/office/drawing/2014/main" id="{956BEFD6-47E8-63B9-26FB-A71DFCB4C6E3}"/>
              </a:ext>
            </a:extLst>
          </p:cNvPr>
          <p:cNvSpPr>
            <a:spLocks noGrp="1"/>
          </p:cNvSpPr>
          <p:nvPr>
            <p:ph type="body" sz="quarter" idx="10"/>
          </p:nvPr>
        </p:nvSpPr>
        <p:spPr/>
        <p:txBody>
          <a:bodyPr/>
          <a:lstStyle/>
          <a:p>
            <a:r>
              <a:rPr lang="en-US" dirty="0"/>
              <a:t>Decision tree</a:t>
            </a:r>
          </a:p>
        </p:txBody>
      </p:sp>
      <p:sp>
        <p:nvSpPr>
          <p:cNvPr id="4" name="Content Placeholder 3">
            <a:extLst>
              <a:ext uri="{FF2B5EF4-FFF2-40B4-BE49-F238E27FC236}">
                <a16:creationId xmlns:a16="http://schemas.microsoft.com/office/drawing/2014/main" id="{852D4333-A2F4-3AE5-1744-8331150A1160}"/>
              </a:ext>
            </a:extLst>
          </p:cNvPr>
          <p:cNvSpPr>
            <a:spLocks noGrp="1"/>
          </p:cNvSpPr>
          <p:nvPr>
            <p:ph sz="quarter" idx="11"/>
          </p:nvPr>
        </p:nvSpPr>
        <p:spPr>
          <a:xfrm>
            <a:off x="2163188" y="3260663"/>
            <a:ext cx="20057623" cy="9769537"/>
          </a:xfrm>
        </p:spPr>
        <p:txBody>
          <a:bodyPr>
            <a:normAutofit/>
          </a:bodyPr>
          <a:lstStyle/>
          <a:p>
            <a:r>
              <a:rPr lang="en-US" dirty="0"/>
              <a:t>Decision tree algorithms can be considered as an iterative, top-down construction of the hypothesis; picture a hierarchy of decision, forking the dataset into subspaces.</a:t>
            </a:r>
          </a:p>
          <a:p>
            <a:r>
              <a:rPr lang="en-US" dirty="0"/>
              <a:t>Can represent any Boolean (binary) function, and the hypothesis space being searched is the entire space of Boolean functions</a:t>
            </a:r>
          </a:p>
          <a:p>
            <a:r>
              <a:rPr lang="en-US" dirty="0"/>
              <a:t>Considering only binary (or Boolean) features, at each node, there 2m potential splits to be evaluated given m features</a:t>
            </a:r>
          </a:p>
          <a:p>
            <a:endParaRPr lang="en-US" dirty="0"/>
          </a:p>
          <a:p>
            <a:endParaRPr lang="en-US" dirty="0"/>
          </a:p>
        </p:txBody>
      </p:sp>
    </p:spTree>
    <p:extLst>
      <p:ext uri="{BB962C8B-B14F-4D97-AF65-F5344CB8AC3E}">
        <p14:creationId xmlns:p14="http://schemas.microsoft.com/office/powerpoint/2010/main" val="146547646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1767-43D6-2AFD-3F51-4263AB14B0DD}"/>
              </a:ext>
            </a:extLst>
          </p:cNvPr>
          <p:cNvSpPr>
            <a:spLocks noGrp="1"/>
          </p:cNvSpPr>
          <p:nvPr>
            <p:ph type="title"/>
          </p:nvPr>
        </p:nvSpPr>
        <p:spPr/>
        <p:txBody>
          <a:bodyPr>
            <a:normAutofit fontScale="90000"/>
          </a:bodyPr>
          <a:lstStyle/>
          <a:p>
            <a:r>
              <a:rPr lang="en-US" dirty="0"/>
              <a:t>Tree-terminology</a:t>
            </a:r>
          </a:p>
        </p:txBody>
      </p:sp>
      <p:sp>
        <p:nvSpPr>
          <p:cNvPr id="3" name="Text Placeholder 2">
            <a:extLst>
              <a:ext uri="{FF2B5EF4-FFF2-40B4-BE49-F238E27FC236}">
                <a16:creationId xmlns:a16="http://schemas.microsoft.com/office/drawing/2014/main" id="{48134C94-8796-9662-C036-1E7280CA4E9A}"/>
              </a:ext>
            </a:extLst>
          </p:cNvPr>
          <p:cNvSpPr>
            <a:spLocks noGrp="1"/>
          </p:cNvSpPr>
          <p:nvPr>
            <p:ph type="body" sz="quarter" idx="10"/>
          </p:nvPr>
        </p:nvSpPr>
        <p:spPr/>
        <p:txBody>
          <a:bodyPr/>
          <a:lstStyle/>
          <a:p>
            <a:r>
              <a:rPr lang="en-US" dirty="0"/>
              <a:t>terminology</a:t>
            </a:r>
          </a:p>
        </p:txBody>
      </p:sp>
      <p:sp>
        <p:nvSpPr>
          <p:cNvPr id="4" name="Content Placeholder 3">
            <a:extLst>
              <a:ext uri="{FF2B5EF4-FFF2-40B4-BE49-F238E27FC236}">
                <a16:creationId xmlns:a16="http://schemas.microsoft.com/office/drawing/2014/main" id="{BD6D555B-6E39-449F-D876-2C12997C9962}"/>
              </a:ext>
            </a:extLst>
          </p:cNvPr>
          <p:cNvSpPr>
            <a:spLocks noGrp="1"/>
          </p:cNvSpPr>
          <p:nvPr>
            <p:ph sz="quarter" idx="11"/>
          </p:nvPr>
        </p:nvSpPr>
        <p:spPr>
          <a:xfrm>
            <a:off x="2163189" y="3260663"/>
            <a:ext cx="10232012" cy="9972737"/>
          </a:xfrm>
        </p:spPr>
        <p:txBody>
          <a:bodyPr>
            <a:normAutofit/>
          </a:bodyPr>
          <a:lstStyle/>
          <a:p>
            <a:r>
              <a:rPr lang="en-US" b="1" dirty="0"/>
              <a:t>Root node</a:t>
            </a:r>
            <a:r>
              <a:rPr lang="en-US" dirty="0"/>
              <a:t>: no incoming edge, zero or more outgoing edges.</a:t>
            </a:r>
          </a:p>
          <a:p>
            <a:r>
              <a:rPr lang="en-US" b="1" dirty="0"/>
              <a:t>Internal node</a:t>
            </a:r>
            <a:r>
              <a:rPr lang="en-US" dirty="0"/>
              <a:t>: one incoming edge, two (or more) outgoing edges.</a:t>
            </a:r>
          </a:p>
          <a:p>
            <a:r>
              <a:rPr lang="en-US" b="1" dirty="0"/>
              <a:t>Leaf node</a:t>
            </a:r>
            <a:r>
              <a:rPr lang="en-US" dirty="0"/>
              <a:t>: each leaf node is an assigned a class label (if nodes are pure; otherwise, majority vote). </a:t>
            </a:r>
          </a:p>
          <a:p>
            <a:r>
              <a:rPr lang="en-US" b="1" dirty="0"/>
              <a:t>Parent and child nodes</a:t>
            </a:r>
            <a:r>
              <a:rPr lang="en-US" dirty="0"/>
              <a:t>: If a node is split, we refer to that given node as the parent node, and the resulting nodes are called child nodes, respectively.</a:t>
            </a:r>
          </a:p>
          <a:p>
            <a:endParaRPr lang="en-US" dirty="0"/>
          </a:p>
          <a:p>
            <a:endParaRPr lang="en-US" dirty="0"/>
          </a:p>
        </p:txBody>
      </p:sp>
      <p:pic>
        <p:nvPicPr>
          <p:cNvPr id="5" name="Picture 4">
            <a:extLst>
              <a:ext uri="{FF2B5EF4-FFF2-40B4-BE49-F238E27FC236}">
                <a16:creationId xmlns:a16="http://schemas.microsoft.com/office/drawing/2014/main" id="{EC698D65-A99A-1B6D-F0F7-FA053ED8BA7E}"/>
              </a:ext>
            </a:extLst>
          </p:cNvPr>
          <p:cNvPicPr>
            <a:picLocks noChangeAspect="1"/>
          </p:cNvPicPr>
          <p:nvPr/>
        </p:nvPicPr>
        <p:blipFill rotWithShape="1">
          <a:blip r:embed="rId2"/>
          <a:srcRect l="3156" r="15999"/>
          <a:stretch/>
        </p:blipFill>
        <p:spPr>
          <a:xfrm>
            <a:off x="12192000" y="3311231"/>
            <a:ext cx="12065001" cy="8532711"/>
          </a:xfrm>
          <a:prstGeom prst="rect">
            <a:avLst/>
          </a:prstGeom>
        </p:spPr>
      </p:pic>
    </p:spTree>
    <p:extLst>
      <p:ext uri="{BB962C8B-B14F-4D97-AF65-F5344CB8AC3E}">
        <p14:creationId xmlns:p14="http://schemas.microsoft.com/office/powerpoint/2010/main" val="331433750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A31F-BE2B-1A78-61D6-7FE0B4B8603F}"/>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8C8D16BE-F8A9-CA23-B558-8B5EA3359975}"/>
              </a:ext>
            </a:extLst>
          </p:cNvPr>
          <p:cNvSpPr>
            <a:spLocks noGrp="1"/>
          </p:cNvSpPr>
          <p:nvPr>
            <p:ph type="body" sz="quarter" idx="10"/>
          </p:nvPr>
        </p:nvSpPr>
        <p:spPr/>
        <p:txBody>
          <a:bodyPr/>
          <a:lstStyle/>
          <a:p>
            <a:r>
              <a:rPr lang="en-US" dirty="0"/>
              <a:t>Algorithms</a:t>
            </a:r>
          </a:p>
        </p:txBody>
      </p:sp>
      <p:sp>
        <p:nvSpPr>
          <p:cNvPr id="4" name="Content Placeholder 3">
            <a:extLst>
              <a:ext uri="{FF2B5EF4-FFF2-40B4-BE49-F238E27FC236}">
                <a16:creationId xmlns:a16="http://schemas.microsoft.com/office/drawing/2014/main" id="{C398985F-2AA5-8997-0B6E-3509D7FF84F3}"/>
              </a:ext>
            </a:extLst>
          </p:cNvPr>
          <p:cNvSpPr>
            <a:spLocks noGrp="1"/>
          </p:cNvSpPr>
          <p:nvPr>
            <p:ph sz="quarter" idx="11"/>
          </p:nvPr>
        </p:nvSpPr>
        <p:spPr/>
        <p:txBody>
          <a:bodyPr>
            <a:normAutofit/>
          </a:bodyPr>
          <a:lstStyle/>
          <a:p>
            <a:r>
              <a:rPr lang="en-US" dirty="0"/>
              <a:t>Decision Tree learning is a method that attempts to find approximation functions that are discrete-valued and robust to noisy data and able to learn disjunctive expressions.</a:t>
            </a:r>
          </a:p>
          <a:p>
            <a:r>
              <a:rPr lang="en-US" dirty="0"/>
              <a:t>There are several decision tree algorithm:</a:t>
            </a:r>
          </a:p>
          <a:p>
            <a:pPr lvl="1">
              <a:buFont typeface="Wingdings" pitchFamily="2" charset="2"/>
              <a:buChar char="Ø"/>
            </a:pPr>
            <a:r>
              <a:rPr lang="en-US" dirty="0"/>
              <a:t>Iterative </a:t>
            </a:r>
            <a:r>
              <a:rPr lang="en-US" dirty="0" err="1"/>
              <a:t>Dychotomizer</a:t>
            </a:r>
            <a:r>
              <a:rPr lang="en-US" dirty="0"/>
              <a:t> 3 (ID3)</a:t>
            </a:r>
          </a:p>
          <a:p>
            <a:pPr lvl="1">
              <a:buFont typeface="Wingdings" pitchFamily="2" charset="2"/>
              <a:buChar char="Ø"/>
            </a:pPr>
            <a:r>
              <a:rPr lang="en-US" dirty="0"/>
              <a:t>C4.5</a:t>
            </a:r>
          </a:p>
          <a:p>
            <a:pPr lvl="1">
              <a:buFont typeface="Wingdings" pitchFamily="2" charset="2"/>
              <a:buChar char="Ø"/>
            </a:pPr>
            <a:r>
              <a:rPr lang="en-US" dirty="0"/>
              <a:t>Assistant</a:t>
            </a:r>
          </a:p>
          <a:p>
            <a:r>
              <a:rPr lang="en-US" dirty="0"/>
              <a:t>In this session, we will learn about ID3 algorithm</a:t>
            </a:r>
          </a:p>
          <a:p>
            <a:endParaRPr lang="en-US" dirty="0"/>
          </a:p>
          <a:p>
            <a:endParaRPr lang="en-US" dirty="0"/>
          </a:p>
        </p:txBody>
      </p:sp>
    </p:spTree>
    <p:extLst>
      <p:ext uri="{BB962C8B-B14F-4D97-AF65-F5344CB8AC3E}">
        <p14:creationId xmlns:p14="http://schemas.microsoft.com/office/powerpoint/2010/main" val="27290790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A31F-BE2B-1A78-61D6-7FE0B4B8603F}"/>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8C8D16BE-F8A9-CA23-B558-8B5EA3359975}"/>
              </a:ext>
            </a:extLst>
          </p:cNvPr>
          <p:cNvSpPr>
            <a:spLocks noGrp="1"/>
          </p:cNvSpPr>
          <p:nvPr>
            <p:ph type="body" sz="quarter" idx="10"/>
          </p:nvPr>
        </p:nvSpPr>
        <p:spPr/>
        <p:txBody>
          <a:bodyPr/>
          <a:lstStyle/>
          <a:p>
            <a:r>
              <a:rPr lang="en-US" dirty="0"/>
              <a:t>ID3 Algorithm</a:t>
            </a:r>
          </a:p>
        </p:txBody>
      </p:sp>
      <p:sp>
        <p:nvSpPr>
          <p:cNvPr id="4" name="Content Placeholder 3">
            <a:extLst>
              <a:ext uri="{FF2B5EF4-FFF2-40B4-BE49-F238E27FC236}">
                <a16:creationId xmlns:a16="http://schemas.microsoft.com/office/drawing/2014/main" id="{C398985F-2AA5-8997-0B6E-3509D7FF84F3}"/>
              </a:ext>
            </a:extLst>
          </p:cNvPr>
          <p:cNvSpPr>
            <a:spLocks noGrp="1"/>
          </p:cNvSpPr>
          <p:nvPr>
            <p:ph sz="quarter" idx="11"/>
          </p:nvPr>
        </p:nvSpPr>
        <p:spPr/>
        <p:txBody>
          <a:bodyPr>
            <a:normAutofit/>
          </a:bodyPr>
          <a:lstStyle/>
          <a:p>
            <a:r>
              <a:rPr lang="en-US" dirty="0"/>
              <a:t>The ID3 algorithm attempts to build a top-down decision tree, starting with the question "Which attribute should be checked first and placed at the root?“</a:t>
            </a:r>
          </a:p>
          <a:p>
            <a:r>
              <a:rPr lang="en-US" dirty="0"/>
              <a:t>The question above will be answered by evaluating all attributes using </a:t>
            </a:r>
            <a:r>
              <a:rPr lang="en-US" b="1" dirty="0"/>
              <a:t>information gain </a:t>
            </a:r>
            <a:r>
              <a:rPr lang="en-US" dirty="0"/>
              <a:t>to measure the effectiveness of an attribute.</a:t>
            </a:r>
          </a:p>
          <a:p>
            <a:endParaRPr lang="en-US" dirty="0"/>
          </a:p>
          <a:p>
            <a:endParaRPr lang="en-US" dirty="0"/>
          </a:p>
        </p:txBody>
      </p:sp>
    </p:spTree>
    <p:extLst>
      <p:ext uri="{BB962C8B-B14F-4D97-AF65-F5344CB8AC3E}">
        <p14:creationId xmlns:p14="http://schemas.microsoft.com/office/powerpoint/2010/main" val="200636646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A31F-BE2B-1A78-61D6-7FE0B4B8603F}"/>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8C8D16BE-F8A9-CA23-B558-8B5EA3359975}"/>
              </a:ext>
            </a:extLst>
          </p:cNvPr>
          <p:cNvSpPr>
            <a:spLocks noGrp="1"/>
          </p:cNvSpPr>
          <p:nvPr>
            <p:ph type="body" sz="quarter" idx="10"/>
          </p:nvPr>
        </p:nvSpPr>
        <p:spPr/>
        <p:txBody>
          <a:bodyPr/>
          <a:lstStyle/>
          <a:p>
            <a:r>
              <a:rPr lang="en-US" dirty="0"/>
              <a:t>ID3 Algorithm</a:t>
            </a:r>
          </a:p>
        </p:txBody>
      </p:sp>
      <p:sp>
        <p:nvSpPr>
          <p:cNvPr id="4" name="Content Placeholder 3">
            <a:extLst>
              <a:ext uri="{FF2B5EF4-FFF2-40B4-BE49-F238E27FC236}">
                <a16:creationId xmlns:a16="http://schemas.microsoft.com/office/drawing/2014/main" id="{C398985F-2AA5-8997-0B6E-3509D7FF84F3}"/>
              </a:ext>
            </a:extLst>
          </p:cNvPr>
          <p:cNvSpPr>
            <a:spLocks noGrp="1"/>
          </p:cNvSpPr>
          <p:nvPr>
            <p:ph sz="quarter" idx="11"/>
          </p:nvPr>
        </p:nvSpPr>
        <p:spPr/>
        <p:txBody>
          <a:bodyPr>
            <a:normAutofit/>
          </a:bodyPr>
          <a:lstStyle/>
          <a:p>
            <a:r>
              <a:rPr lang="en-US" dirty="0"/>
              <a:t>General Based Decision Tree Algorithm:</a:t>
            </a:r>
          </a:p>
          <a:p>
            <a:pPr lvl="1"/>
            <a:r>
              <a:rPr lang="en-US" dirty="0"/>
              <a:t>The process of growing a decision tree can be expressed as a recursive algorithm as follows:</a:t>
            </a:r>
          </a:p>
          <a:p>
            <a:pPr lvl="2">
              <a:buFont typeface="+mj-lt"/>
              <a:buAutoNum type="arabicPeriod"/>
            </a:pPr>
            <a:r>
              <a:rPr lang="en-US" dirty="0"/>
              <a:t>Pick the feature that when parent node is split, it results in the largest information gain</a:t>
            </a:r>
          </a:p>
          <a:p>
            <a:pPr lvl="2">
              <a:buFont typeface="+mj-lt"/>
              <a:buAutoNum type="arabicPeriod"/>
            </a:pPr>
            <a:r>
              <a:rPr lang="en-US" dirty="0"/>
              <a:t>Stop if child nodes are pure or no improvement in class purity can be made</a:t>
            </a:r>
          </a:p>
          <a:p>
            <a:pPr lvl="2">
              <a:buFont typeface="+mj-lt"/>
              <a:buAutoNum type="arabicPeriod"/>
            </a:pPr>
            <a:r>
              <a:rPr lang="en-US" dirty="0"/>
              <a:t>Go back to step 1 for each of the two child nodes</a:t>
            </a:r>
          </a:p>
          <a:p>
            <a:endParaRPr lang="en-US" dirty="0"/>
          </a:p>
          <a:p>
            <a:endParaRPr lang="en-US" dirty="0"/>
          </a:p>
          <a:p>
            <a:endParaRPr lang="en-US" dirty="0"/>
          </a:p>
        </p:txBody>
      </p:sp>
    </p:spTree>
    <p:extLst>
      <p:ext uri="{BB962C8B-B14F-4D97-AF65-F5344CB8AC3E}">
        <p14:creationId xmlns:p14="http://schemas.microsoft.com/office/powerpoint/2010/main" val="354150237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A31F-BE2B-1A78-61D6-7FE0B4B8603F}"/>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8C8D16BE-F8A9-CA23-B558-8B5EA3359975}"/>
              </a:ext>
            </a:extLst>
          </p:cNvPr>
          <p:cNvSpPr>
            <a:spLocks noGrp="1"/>
          </p:cNvSpPr>
          <p:nvPr>
            <p:ph type="body" sz="quarter" idx="10"/>
          </p:nvPr>
        </p:nvSpPr>
        <p:spPr/>
        <p:txBody>
          <a:bodyPr/>
          <a:lstStyle/>
          <a:p>
            <a:r>
              <a:rPr lang="en-US" dirty="0"/>
              <a:t>ID3 Algorithm: Information Gain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398985F-2AA5-8997-0B6E-3509D7FF84F3}"/>
                  </a:ext>
                </a:extLst>
              </p:cNvPr>
              <p:cNvSpPr>
                <a:spLocks noGrp="1"/>
              </p:cNvSpPr>
              <p:nvPr>
                <p:ph sz="quarter" idx="11"/>
              </p:nvPr>
            </p:nvSpPr>
            <p:spPr/>
            <p:txBody>
              <a:bodyPr>
                <a:normAutofit/>
              </a:bodyPr>
              <a:lstStyle/>
              <a:p>
                <a:r>
                  <a:rPr lang="en-US" dirty="0"/>
                  <a:t>The standard criterion that is chosen for splitting in decision trees is information gain (the better the split, the higher the information gain)</a:t>
                </a:r>
              </a:p>
              <a:p>
                <a:pPr lvl="1"/>
                <a:r>
                  <a:rPr lang="en-US" dirty="0"/>
                  <a:t>Information gain relies on the concept of mutual information: The reduction of the entropy of one variable by knowing the other</a:t>
                </a:r>
              </a:p>
              <a:p>
                <a:pPr lvl="1"/>
                <a:r>
                  <a:rPr lang="en-US" dirty="0"/>
                  <a:t>We want to maximize mutual information when defining splitting criteria</a:t>
                </a:r>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𝐺𝑎𝑖𝑛</m:t>
                      </m:r>
                      <m:r>
                        <a:rPr lang="en-US" sz="4400" b="0" i="1" smtClean="0">
                          <a:latin typeface="Cambria Math" panose="02040503050406030204" pitchFamily="18" charset="0"/>
                        </a:rPr>
                        <m:t> </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𝑗</m:t>
                              </m:r>
                            </m:sub>
                          </m:sSub>
                        </m:e>
                      </m:d>
                      <m:r>
                        <a:rPr lang="en-US" sz="4400" b="0" i="1" smtClean="0">
                          <a:latin typeface="Cambria Math" panose="02040503050406030204" pitchFamily="18" charset="0"/>
                        </a:rPr>
                        <m:t>=</m:t>
                      </m:r>
                      <m:r>
                        <a:rPr lang="en-US" sz="4400" b="0" i="1" smtClean="0">
                          <a:latin typeface="Cambria Math" panose="02040503050406030204" pitchFamily="18" charset="0"/>
                        </a:rPr>
                        <m:t>𝐻</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e>
                      </m:d>
                      <m:r>
                        <a:rPr lang="en-US" sz="4400" b="0" i="1" smtClean="0">
                          <a:latin typeface="Cambria Math" panose="02040503050406030204" pitchFamily="18" charset="0"/>
                        </a:rPr>
                        <m:t>−</m:t>
                      </m:r>
                      <m:nary>
                        <m:naryPr>
                          <m:chr m:val="∑"/>
                          <m:supHide m:val="on"/>
                          <m:ctrlPr>
                            <a:rPr lang="en-US" sz="4400" b="0" i="1" smtClean="0">
                              <a:latin typeface="Cambria Math" panose="02040503050406030204" pitchFamily="18" charset="0"/>
                            </a:rPr>
                          </m:ctrlPr>
                        </m:naryPr>
                        <m:sub>
                          <m:r>
                            <m:rPr>
                              <m:brk m:alnAt="7"/>
                            </m:rPr>
                            <a:rPr lang="en-US" sz="4400" b="0" i="1" smtClean="0">
                              <a:latin typeface="Cambria Math" panose="02040503050406030204" pitchFamily="18" charset="0"/>
                            </a:rPr>
                            <m:t>𝑣</m:t>
                          </m:r>
                          <m:r>
                            <a:rPr lang="en-US" sz="4400" b="0" i="1" smtClean="0">
                              <a:latin typeface="Cambria Math" panose="02040503050406030204" pitchFamily="18" charset="0"/>
                              <a:ea typeface="Cambria Math" panose="02040503050406030204" pitchFamily="18" charset="0"/>
                            </a:rPr>
                            <m:t>𝜖</m:t>
                          </m:r>
                          <m:r>
                            <a:rPr lang="en-US" sz="4400" b="0" i="1" smtClean="0">
                              <a:latin typeface="Cambria Math" panose="02040503050406030204" pitchFamily="18" charset="0"/>
                              <a:ea typeface="Cambria Math" panose="02040503050406030204" pitchFamily="18" charset="0"/>
                            </a:rPr>
                            <m:t>𝑉𝑎𝑙𝑢𝑒𝑠</m:t>
                          </m:r>
                          <m:r>
                            <a:rPr lang="en-US" sz="4400" b="0" i="1" smtClean="0">
                              <a:latin typeface="Cambria Math" panose="02040503050406030204" pitchFamily="18" charset="0"/>
                              <a:ea typeface="Cambria Math" panose="02040503050406030204" pitchFamily="18" charset="0"/>
                            </a:rPr>
                            <m:t>(</m:t>
                          </m:r>
                          <m:sSub>
                            <m:sSubPr>
                              <m:ctrlPr>
                                <a:rPr lang="en-US" sz="4400" b="0" i="1" smtClean="0">
                                  <a:latin typeface="Cambria Math" panose="02040503050406030204" pitchFamily="18" charset="0"/>
                                  <a:ea typeface="Cambria Math" panose="02040503050406030204" pitchFamily="18" charset="0"/>
                                </a:rPr>
                              </m:ctrlPr>
                            </m:sSubPr>
                            <m:e>
                              <m:r>
                                <m:rPr>
                                  <m:brk m:alnAt="7"/>
                                </m:rPr>
                                <a:rPr lang="en-US" sz="4400" b="0" i="1" smtClean="0">
                                  <a:latin typeface="Cambria Math" panose="02040503050406030204" pitchFamily="18" charset="0"/>
                                  <a:ea typeface="Cambria Math" panose="02040503050406030204" pitchFamily="18" charset="0"/>
                                </a:rPr>
                                <m:t>𝑥</m:t>
                              </m:r>
                            </m:e>
                            <m:sub>
                              <m:r>
                                <m:rPr>
                                  <m:brk m:alnAt="7"/>
                                </m:rPr>
                                <a:rPr lang="en-US" sz="4400" b="0" i="1" smtClean="0">
                                  <a:latin typeface="Cambria Math" panose="02040503050406030204" pitchFamily="18" charset="0"/>
                                  <a:ea typeface="Cambria Math" panose="02040503050406030204" pitchFamily="18" charset="0"/>
                                </a:rPr>
                                <m:t>𝑗</m:t>
                              </m:r>
                            </m:sub>
                          </m:sSub>
                          <m:r>
                            <m:rPr>
                              <m:brk m:alnAt="7"/>
                            </m:rPr>
                            <a:rPr lang="en-US" sz="4400" b="0" i="1" smtClean="0">
                              <a:latin typeface="Cambria Math" panose="02040503050406030204" pitchFamily="18" charset="0"/>
                              <a:ea typeface="Cambria Math" panose="02040503050406030204" pitchFamily="18" charset="0"/>
                            </a:rPr>
                            <m:t>)</m:t>
                          </m:r>
                        </m:sub>
                        <m:sup/>
                        <m:e>
                          <m:f>
                            <m:fPr>
                              <m:ctrlPr>
                                <a:rPr lang="en-US" sz="4400" b="0" i="1" smtClean="0">
                                  <a:latin typeface="Cambria Math" panose="02040503050406030204" pitchFamily="18" charset="0"/>
                                </a:rPr>
                              </m:ctrlPr>
                            </m:fPr>
                            <m:num>
                              <m:d>
                                <m:dPr>
                                  <m:begChr m:val="|"/>
                                  <m:endChr m:val="|"/>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e>
                                    <m:sub>
                                      <m:r>
                                        <a:rPr lang="en-US" sz="4400" b="0" i="1" smtClean="0">
                                          <a:latin typeface="Cambria Math" panose="02040503050406030204" pitchFamily="18" charset="0"/>
                                        </a:rPr>
                                        <m:t>𝑣</m:t>
                                      </m:r>
                                    </m:sub>
                                  </m:sSub>
                                </m:e>
                              </m:d>
                            </m:num>
                            <m:den>
                              <m:d>
                                <m:dPr>
                                  <m:begChr m:val="|"/>
                                  <m:endChr m:val="|"/>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e>
                              </m:d>
                            </m:den>
                          </m:f>
                          <m:r>
                            <a:rPr lang="en-US" sz="4400" b="0" i="1" smtClean="0">
                              <a:latin typeface="Cambria Math" panose="02040503050406030204" pitchFamily="18" charset="0"/>
                            </a:rPr>
                            <m:t>𝐻</m:t>
                          </m:r>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e>
                            <m:sub>
                              <m:r>
                                <a:rPr lang="en-US" sz="4400" b="0" i="1" smtClean="0">
                                  <a:latin typeface="Cambria Math" panose="02040503050406030204" pitchFamily="18" charset="0"/>
                                </a:rPr>
                                <m:t>𝑣</m:t>
                              </m:r>
                            </m:sub>
                          </m:sSub>
                          <m:r>
                            <a:rPr lang="en-US" sz="4400" b="0" i="1" smtClean="0">
                              <a:latin typeface="Cambria Math" panose="02040503050406030204" pitchFamily="18" charset="0"/>
                            </a:rPr>
                            <m:t>)</m:t>
                          </m:r>
                        </m:e>
                      </m:nary>
                    </m:oMath>
                  </m:oMathPara>
                </a14:m>
                <a:endParaRPr lang="en-US" sz="4400" dirty="0"/>
              </a:p>
              <a:p>
                <a:pPr marL="0" indent="0">
                  <a:buNone/>
                </a:pPr>
                <a:endParaRPr lang="en-US" dirty="0"/>
              </a:p>
              <a:p>
                <a:endParaRPr lang="en-US" dirty="0"/>
              </a:p>
              <a:p>
                <a:endParaRPr lang="en-US" dirty="0"/>
              </a:p>
            </p:txBody>
          </p:sp>
        </mc:Choice>
        <mc:Fallback xmlns="">
          <p:sp>
            <p:nvSpPr>
              <p:cNvPr id="4" name="Content Placeholder 3">
                <a:extLst>
                  <a:ext uri="{FF2B5EF4-FFF2-40B4-BE49-F238E27FC236}">
                    <a16:creationId xmlns:a16="http://schemas.microsoft.com/office/drawing/2014/main" id="{C398985F-2AA5-8997-0B6E-3509D7FF84F3}"/>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b="-163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DF6F6E6-91D4-7CB2-38AF-61FA184AE39C}"/>
                  </a:ext>
                </a:extLst>
              </p:cNvPr>
              <p:cNvSpPr txBox="1"/>
              <p:nvPr/>
            </p:nvSpPr>
            <p:spPr>
              <a:xfrm>
                <a:off x="5840252" y="10547474"/>
                <a:ext cx="12192000" cy="156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lvl="1" indent="0" algn="just">
                  <a:buNone/>
                </a:pPr>
                <a:r>
                  <a:rPr lang="en-US" sz="3200" dirty="0">
                    <a:latin typeface="+mj-lt"/>
                  </a:rPr>
                  <a:t>where </a:t>
                </a:r>
                <a14:m>
                  <m:oMath xmlns:m="http://schemas.openxmlformats.org/officeDocument/2006/math">
                    <m:r>
                      <a:rPr lang="en-US" sz="3200" b="0" i="1" smtClean="0">
                        <a:latin typeface="Cambria Math" panose="02040503050406030204" pitchFamily="18" charset="0"/>
                      </a:rPr>
                      <m:t>𝐷</m:t>
                    </m:r>
                  </m:oMath>
                </a14:m>
                <a:r>
                  <a:rPr lang="en-US" sz="3200" dirty="0">
                    <a:latin typeface="+mj-lt"/>
                  </a:rPr>
                  <a:t> is the </a:t>
                </a:r>
                <a:r>
                  <a:rPr lang="en-US" sz="3200" b="1" dirty="0">
                    <a:solidFill>
                      <a:srgbClr val="00B0F0"/>
                    </a:solidFill>
                    <a:latin typeface="+mj-lt"/>
                  </a:rPr>
                  <a:t>training set parent node</a:t>
                </a:r>
                <a:r>
                  <a:rPr lang="en-US" sz="3200" dirty="0">
                    <a:latin typeface="+mj-lt"/>
                  </a:rPr>
                  <a:t>; </a:t>
                </a:r>
                <a14:m>
                  <m:oMath xmlns:m="http://schemas.openxmlformats.org/officeDocument/2006/math">
                    <m:sSub>
                      <m:sSubPr>
                        <m:ctrlPr>
                          <a:rPr lang="en-US" sz="3200" b="0" i="1" smtClean="0">
                            <a:latin typeface="Cambria Math" panose="02040503050406030204" pitchFamily="18" charset="0"/>
                          </a:rPr>
                        </m:ctrlPr>
                      </m:sSubPr>
                      <m:e>
                        <m:r>
                          <a:rPr lang="en-US" sz="3200" i="1">
                            <a:latin typeface="Cambria Math" panose="02040503050406030204" pitchFamily="18" charset="0"/>
                          </a:rPr>
                          <m:t>𝐷</m:t>
                        </m:r>
                      </m:e>
                      <m:sub>
                        <m:r>
                          <a:rPr lang="en-US" sz="3200" b="0" i="1" smtClean="0">
                            <a:latin typeface="Cambria Math" panose="02040503050406030204" pitchFamily="18" charset="0"/>
                          </a:rPr>
                          <m:t>𝑣</m:t>
                        </m:r>
                      </m:sub>
                    </m:sSub>
                  </m:oMath>
                </a14:m>
                <a:r>
                  <a:rPr lang="en-US" sz="3200" dirty="0">
                    <a:latin typeface="+mj-lt"/>
                  </a:rPr>
                  <a:t> is a dataset at </a:t>
                </a:r>
                <a:r>
                  <a:rPr lang="en-US" sz="3200" b="1" dirty="0">
                    <a:solidFill>
                      <a:srgbClr val="00B0F0"/>
                    </a:solidFill>
                    <a:latin typeface="+mj-lt"/>
                  </a:rPr>
                  <a:t>a child node upon splitting</a:t>
                </a:r>
                <a:r>
                  <a:rPr lang="en-US" sz="3200" dirty="0">
                    <a:latin typeface="+mj-lt"/>
                  </a:rPr>
                  <a:t>; </a:t>
                </a:r>
                <a14:m>
                  <m:oMath xmlns:m="http://schemas.openxmlformats.org/officeDocument/2006/math">
                    <m:r>
                      <a:rPr lang="en-US" sz="3200" i="1">
                        <a:latin typeface="Cambria Math" panose="02040503050406030204" pitchFamily="18" charset="0"/>
                      </a:rPr>
                      <m:t>𝐻</m:t>
                    </m:r>
                    <m:d>
                      <m:dPr>
                        <m:ctrlPr>
                          <a:rPr lang="en-US" sz="3200" i="1">
                            <a:latin typeface="Cambria Math" panose="02040503050406030204" pitchFamily="18" charset="0"/>
                          </a:rPr>
                        </m:ctrlPr>
                      </m:dPr>
                      <m:e>
                        <m:r>
                          <a:rPr lang="en-US" sz="3200" i="1">
                            <a:latin typeface="Cambria Math" panose="02040503050406030204" pitchFamily="18" charset="0"/>
                          </a:rPr>
                          <m:t>𝐷</m:t>
                        </m:r>
                      </m:e>
                    </m:d>
                  </m:oMath>
                </a14:m>
                <a:r>
                  <a:rPr lang="en-US" sz="3200" dirty="0">
                    <a:latin typeface="+mj-lt"/>
                  </a:rPr>
                  <a:t> is </a:t>
                </a:r>
                <a:r>
                  <a:rPr lang="en-US" sz="3200" b="1" dirty="0">
                    <a:latin typeface="+mj-lt"/>
                  </a:rPr>
                  <a:t>entropy of the data</a:t>
                </a:r>
                <a:r>
                  <a:rPr lang="en-US" sz="3200" dirty="0">
                    <a:latin typeface="+mj-lt"/>
                  </a:rPr>
                  <a:t>, </a:t>
                </a:r>
                <a14:m>
                  <m:oMath xmlns:m="http://schemas.openxmlformats.org/officeDocument/2006/math">
                    <m:r>
                      <a:rPr lang="en-US" sz="3200" i="1" smtClean="0">
                        <a:latin typeface="Cambria Math" panose="02040503050406030204" pitchFamily="18" charset="0"/>
                      </a:rPr>
                      <m:t>𝐻</m:t>
                    </m:r>
                    <m:d>
                      <m:dPr>
                        <m:ctrlPr>
                          <a:rPr lang="en-US" sz="3200" i="1">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i="1">
                                <a:latin typeface="Cambria Math" panose="02040503050406030204" pitchFamily="18" charset="0"/>
                              </a:rPr>
                              <m:t>𝐷</m:t>
                            </m:r>
                          </m:e>
                          <m:sub>
                            <m:r>
                              <a:rPr lang="en-US" sz="3200" b="0" i="1" smtClean="0">
                                <a:latin typeface="Cambria Math" panose="02040503050406030204" pitchFamily="18" charset="0"/>
                              </a:rPr>
                              <m:t>𝑣</m:t>
                            </m:r>
                          </m:sub>
                        </m:sSub>
                      </m:e>
                    </m:d>
                  </m:oMath>
                </a14:m>
                <a:r>
                  <a:rPr lang="en-US" sz="3200" dirty="0">
                    <a:latin typeface="+mj-lt"/>
                  </a:rPr>
                  <a:t> is </a:t>
                </a:r>
                <a:r>
                  <a:rPr lang="en-US" sz="3200" b="1" dirty="0">
                    <a:solidFill>
                      <a:srgbClr val="00B0F0"/>
                    </a:solidFill>
                    <a:latin typeface="+mj-lt"/>
                  </a:rPr>
                  <a:t>entropy of the dataset split</a:t>
                </a:r>
                <a:r>
                  <a:rPr lang="en-US" sz="3200" dirty="0">
                    <a:latin typeface="+mj-lt"/>
                  </a:rPr>
                  <a:t> .</a:t>
                </a:r>
              </a:p>
            </p:txBody>
          </p:sp>
        </mc:Choice>
        <mc:Fallback xmlns="">
          <p:sp>
            <p:nvSpPr>
              <p:cNvPr id="5" name="TextBox 4">
                <a:extLst>
                  <a:ext uri="{FF2B5EF4-FFF2-40B4-BE49-F238E27FC236}">
                    <a16:creationId xmlns:a16="http://schemas.microsoft.com/office/drawing/2014/main" id="{8DF6F6E6-91D4-7CB2-38AF-61FA184AE39C}"/>
                  </a:ext>
                </a:extLst>
              </p:cNvPr>
              <p:cNvSpPr txBox="1">
                <a:spLocks noRot="1" noChangeAspect="1" noMove="1" noResize="1" noEditPoints="1" noAdjustHandles="1" noChangeArrowheads="1" noChangeShapeType="1" noTextEdit="1"/>
              </p:cNvSpPr>
              <p:nvPr/>
            </p:nvSpPr>
            <p:spPr>
              <a:xfrm>
                <a:off x="5840252" y="10547474"/>
                <a:ext cx="12192000" cy="1569660"/>
              </a:xfrm>
              <a:prstGeom prst="rect">
                <a:avLst/>
              </a:prstGeom>
              <a:blipFill>
                <a:blip r:embed="rId3"/>
                <a:stretch>
                  <a:fillRect t="-4800" r="-1249" b="-11200"/>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166543448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A31F-BE2B-1A78-61D6-7FE0B4B8603F}"/>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8C8D16BE-F8A9-CA23-B558-8B5EA3359975}"/>
              </a:ext>
            </a:extLst>
          </p:cNvPr>
          <p:cNvSpPr>
            <a:spLocks noGrp="1"/>
          </p:cNvSpPr>
          <p:nvPr>
            <p:ph type="body" sz="quarter" idx="10"/>
          </p:nvPr>
        </p:nvSpPr>
        <p:spPr/>
        <p:txBody>
          <a:bodyPr/>
          <a:lstStyle/>
          <a:p>
            <a:r>
              <a:rPr lang="en-US" dirty="0"/>
              <a:t>ID3 Algorithm: entropy</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398985F-2AA5-8997-0B6E-3509D7FF84F3}"/>
                  </a:ext>
                </a:extLst>
              </p:cNvPr>
              <p:cNvSpPr>
                <a:spLocks noGrp="1"/>
              </p:cNvSpPr>
              <p:nvPr>
                <p:ph sz="quarter" idx="11"/>
              </p:nvPr>
            </p:nvSpPr>
            <p:spPr>
              <a:xfrm>
                <a:off x="2163188" y="3260663"/>
                <a:ext cx="10384411" cy="8583279"/>
              </a:xfrm>
            </p:spPr>
            <p:txBody>
              <a:bodyPr>
                <a:normAutofit/>
              </a:bodyPr>
              <a:lstStyle/>
              <a:p>
                <a:pPr marL="742950" lvl="1"/>
                <a:r>
                  <a:rPr lang="en-US" dirty="0"/>
                  <a:t>Entropy is measure of expected “surprise”</a:t>
                </a:r>
              </a:p>
              <a:p>
                <a:pPr marL="742950" lvl="1"/>
                <a:r>
                  <a:rPr lang="en-US" dirty="0"/>
                  <a:t>In Information Theory, entropy is the expected number of bits needed to encode a randomly drawn value of Y </a:t>
                </a:r>
              </a:p>
              <a:p>
                <a:pPr marL="742950" lvl="1"/>
                <a:r>
                  <a:rPr lang="en-US" dirty="0"/>
                  <a:t>Entropy Equation:</a:t>
                </a:r>
              </a:p>
              <a:p>
                <a:pPr marL="0" lvl="1"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𝐻</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𝑝</m:t>
                          </m:r>
                        </m:e>
                      </m:d>
                      <m:r>
                        <a:rPr lang="en-US" sz="4400" b="0" i="1" smtClean="0">
                          <a:latin typeface="Cambria Math" panose="02040503050406030204" pitchFamily="18" charset="0"/>
                        </a:rPr>
                        <m:t>=−</m:t>
                      </m:r>
                      <m:nary>
                        <m:naryPr>
                          <m:chr m:val="∑"/>
                          <m:supHide m:val="on"/>
                          <m:ctrlPr>
                            <a:rPr lang="en-US" sz="4400" b="0" i="1" smtClean="0">
                              <a:latin typeface="Cambria Math" panose="02040503050406030204" pitchFamily="18" charset="0"/>
                            </a:rPr>
                          </m:ctrlPr>
                        </m:naryPr>
                        <m:sub>
                          <m:r>
                            <m:rPr>
                              <m:brk m:alnAt="7"/>
                            </m:rPr>
                            <a:rPr lang="en-US" sz="4400" b="0" i="1" smtClean="0">
                              <a:latin typeface="Cambria Math" panose="02040503050406030204" pitchFamily="18" charset="0"/>
                            </a:rPr>
                            <m:t>𝑖</m:t>
                          </m:r>
                        </m:sub>
                        <m:sup/>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𝑝</m:t>
                              </m:r>
                            </m:e>
                            <m:sub>
                              <m:r>
                                <a:rPr lang="en-US" sz="4400" b="0" i="1" smtClean="0">
                                  <a:latin typeface="Cambria Math" panose="02040503050406030204" pitchFamily="18" charset="0"/>
                                </a:rPr>
                                <m:t>𝑖</m:t>
                              </m:r>
                            </m:sub>
                          </m:sSub>
                        </m:e>
                      </m:nary>
                      <m:func>
                        <m:funcPr>
                          <m:ctrlPr>
                            <a:rPr lang="en-US" sz="4400" b="0" i="1" smtClean="0">
                              <a:latin typeface="Cambria Math" panose="02040503050406030204" pitchFamily="18" charset="0"/>
                            </a:rPr>
                          </m:ctrlPr>
                        </m:funcPr>
                        <m:fName>
                          <m:sSub>
                            <m:sSubPr>
                              <m:ctrlPr>
                                <a:rPr lang="en-US" sz="4400" b="0" i="1" smtClean="0">
                                  <a:latin typeface="Cambria Math" panose="02040503050406030204" pitchFamily="18" charset="0"/>
                                </a:rPr>
                              </m:ctrlPr>
                            </m:sSubPr>
                            <m:e>
                              <m:r>
                                <m:rPr>
                                  <m:sty m:val="p"/>
                                </m:rPr>
                                <a:rPr lang="en-US" sz="4400" b="0" i="0" smtClean="0">
                                  <a:latin typeface="Cambria Math" panose="02040503050406030204" pitchFamily="18" charset="0"/>
                                </a:rPr>
                                <m:t>log</m:t>
                              </m:r>
                            </m:e>
                            <m:sub>
                              <m:r>
                                <a:rPr lang="en-US" sz="4400" b="0" i="1" smtClean="0">
                                  <a:latin typeface="Cambria Math" panose="02040503050406030204" pitchFamily="18" charset="0"/>
                                </a:rPr>
                                <m:t>2</m:t>
                              </m:r>
                            </m:sub>
                          </m:sSub>
                        </m:fName>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𝑝</m:t>
                              </m:r>
                            </m:e>
                            <m:sub>
                              <m:r>
                                <a:rPr lang="en-US" sz="4400" b="0" i="1" smtClean="0">
                                  <a:latin typeface="Cambria Math" panose="02040503050406030204" pitchFamily="18" charset="0"/>
                                </a:rPr>
                                <m:t>𝑖</m:t>
                              </m:r>
                            </m:sub>
                          </m:sSub>
                        </m:e>
                      </m:func>
                    </m:oMath>
                  </m:oMathPara>
                </a14:m>
                <a:endParaRPr lang="en-US" sz="5400" dirty="0"/>
              </a:p>
              <a:p>
                <a:pPr marL="742950" lvl="1"/>
                <a:endParaRPr lang="en-US" dirty="0"/>
              </a:p>
              <a:p>
                <a:endParaRPr lang="en-US" dirty="0"/>
              </a:p>
              <a:p>
                <a:endParaRPr lang="en-US" dirty="0"/>
              </a:p>
            </p:txBody>
          </p:sp>
        </mc:Choice>
        <mc:Fallback xmlns="">
          <p:sp>
            <p:nvSpPr>
              <p:cNvPr id="4" name="Content Placeholder 3">
                <a:extLst>
                  <a:ext uri="{FF2B5EF4-FFF2-40B4-BE49-F238E27FC236}">
                    <a16:creationId xmlns:a16="http://schemas.microsoft.com/office/drawing/2014/main" id="{C398985F-2AA5-8997-0B6E-3509D7FF84F3}"/>
                  </a:ext>
                </a:extLst>
              </p:cNvPr>
              <p:cNvSpPr>
                <a:spLocks noGrp="1" noRot="1" noChangeAspect="1" noMove="1" noResize="1" noEditPoints="1" noAdjustHandles="1" noChangeArrowheads="1" noChangeShapeType="1" noTextEdit="1"/>
              </p:cNvSpPr>
              <p:nvPr>
                <p:ph sz="quarter" idx="11"/>
              </p:nvPr>
            </p:nvSpPr>
            <p:spPr>
              <a:xfrm>
                <a:off x="2163188" y="3260663"/>
                <a:ext cx="10384411" cy="8583279"/>
              </a:xfrm>
              <a:blipFill>
                <a:blip r:embed="rId2"/>
                <a:stretch>
                  <a:fillRect l="-2567" t="-1329" r="-3667" b="-23929"/>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C69B5B8A-D61E-1F2F-FF76-5A8D85FCFC8F}"/>
              </a:ext>
            </a:extLst>
          </p:cNvPr>
          <p:cNvPicPr>
            <a:picLocks noChangeAspect="1"/>
          </p:cNvPicPr>
          <p:nvPr/>
        </p:nvPicPr>
        <p:blipFill>
          <a:blip r:embed="rId3"/>
          <a:stretch>
            <a:fillRect/>
          </a:stretch>
        </p:blipFill>
        <p:spPr>
          <a:xfrm>
            <a:off x="13478494" y="2382339"/>
            <a:ext cx="9296401" cy="9427954"/>
          </a:xfrm>
          <a:prstGeom prst="rect">
            <a:avLst/>
          </a:prstGeom>
        </p:spPr>
      </p:pic>
    </p:spTree>
    <p:extLst>
      <p:ext uri="{BB962C8B-B14F-4D97-AF65-F5344CB8AC3E}">
        <p14:creationId xmlns:p14="http://schemas.microsoft.com/office/powerpoint/2010/main" val="312967253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A31F-BE2B-1A78-61D6-7FE0B4B8603F}"/>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8C8D16BE-F8A9-CA23-B558-8B5EA3359975}"/>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C398985F-2AA5-8997-0B6E-3509D7FF84F3}"/>
              </a:ext>
            </a:extLst>
          </p:cNvPr>
          <p:cNvSpPr>
            <a:spLocks noGrp="1"/>
          </p:cNvSpPr>
          <p:nvPr>
            <p:ph sz="quarter" idx="11"/>
          </p:nvPr>
        </p:nvSpPr>
        <p:spPr>
          <a:xfrm>
            <a:off x="2163189" y="3260663"/>
            <a:ext cx="10028811" cy="9388537"/>
          </a:xfrm>
        </p:spPr>
        <p:txBody>
          <a:bodyPr>
            <a:normAutofit/>
          </a:bodyPr>
          <a:lstStyle/>
          <a:p>
            <a:pPr marL="0" indent="0">
              <a:buNone/>
            </a:pPr>
            <a:r>
              <a:rPr lang="en-US" dirty="0">
                <a:latin typeface="+mj-lt"/>
              </a:rPr>
              <a:t>You are given a dataset from a university's admissions office that has been collected during the recent admissions cycle. </a:t>
            </a:r>
          </a:p>
          <a:p>
            <a:pPr marL="0" indent="0">
              <a:buNone/>
            </a:pPr>
            <a:r>
              <a:rPr lang="en-US" dirty="0">
                <a:latin typeface="+mj-lt"/>
              </a:rPr>
              <a:t>The dataset includes various attributes such as the applicants' GPA (Good, Mid, Bad), scores from a psychological test (High, Mid, Low), outcomes of personal interviews (Good, Bad), and the final decision on whether the applicant was accepted (Y for Yes, N for No).</a:t>
            </a:r>
          </a:p>
          <a:p>
            <a:pPr marL="0" indent="0">
              <a:buNone/>
            </a:pPr>
            <a:endParaRPr lang="en-US" sz="4000" dirty="0">
              <a:latin typeface="+mj-lt"/>
            </a:endParaRPr>
          </a:p>
          <a:p>
            <a:endParaRPr lang="en-US" dirty="0"/>
          </a:p>
          <a:p>
            <a:endParaRPr lang="en-US" dirty="0"/>
          </a:p>
          <a:p>
            <a:endParaRPr lang="en-US" dirty="0"/>
          </a:p>
        </p:txBody>
      </p:sp>
      <p:graphicFrame>
        <p:nvGraphicFramePr>
          <p:cNvPr id="5" name="Content Placeholder 3">
            <a:extLst>
              <a:ext uri="{FF2B5EF4-FFF2-40B4-BE49-F238E27FC236}">
                <a16:creationId xmlns:a16="http://schemas.microsoft.com/office/drawing/2014/main" id="{C3377B6B-394E-02D3-C934-840B808B8223}"/>
              </a:ext>
            </a:extLst>
          </p:cNvPr>
          <p:cNvGraphicFramePr>
            <a:graphicFrameLocks/>
          </p:cNvGraphicFramePr>
          <p:nvPr>
            <p:extLst>
              <p:ext uri="{D42A27DB-BD31-4B8C-83A1-F6EECF244321}">
                <p14:modId xmlns:p14="http://schemas.microsoft.com/office/powerpoint/2010/main" val="368813922"/>
              </p:ext>
            </p:extLst>
          </p:nvPr>
        </p:nvGraphicFramePr>
        <p:xfrm>
          <a:off x="13411202" y="3260662"/>
          <a:ext cx="10109197" cy="6924742"/>
        </p:xfrm>
        <a:graphic>
          <a:graphicData uri="http://schemas.openxmlformats.org/drawingml/2006/table">
            <a:tbl>
              <a:tblPr firstRow="1" bandRow="1">
                <a:tableStyleId>{5940675A-B579-460E-94D1-54222C63F5DA}</a:tableStyleId>
              </a:tblPr>
              <a:tblGrid>
                <a:gridCol w="1018937">
                  <a:extLst>
                    <a:ext uri="{9D8B030D-6E8A-4147-A177-3AD203B41FA5}">
                      <a16:colId xmlns:a16="http://schemas.microsoft.com/office/drawing/2014/main" val="2693998913"/>
                    </a:ext>
                  </a:extLst>
                </a:gridCol>
                <a:gridCol w="2272565">
                  <a:extLst>
                    <a:ext uri="{9D8B030D-6E8A-4147-A177-3AD203B41FA5}">
                      <a16:colId xmlns:a16="http://schemas.microsoft.com/office/drawing/2014/main" val="1066610950"/>
                    </a:ext>
                  </a:extLst>
                </a:gridCol>
                <a:gridCol w="2272565">
                  <a:extLst>
                    <a:ext uri="{9D8B030D-6E8A-4147-A177-3AD203B41FA5}">
                      <a16:colId xmlns:a16="http://schemas.microsoft.com/office/drawing/2014/main" val="306097770"/>
                    </a:ext>
                  </a:extLst>
                </a:gridCol>
                <a:gridCol w="2272565">
                  <a:extLst>
                    <a:ext uri="{9D8B030D-6E8A-4147-A177-3AD203B41FA5}">
                      <a16:colId xmlns:a16="http://schemas.microsoft.com/office/drawing/2014/main" val="3474116813"/>
                    </a:ext>
                  </a:extLst>
                </a:gridCol>
                <a:gridCol w="2272565">
                  <a:extLst>
                    <a:ext uri="{9D8B030D-6E8A-4147-A177-3AD203B41FA5}">
                      <a16:colId xmlns:a16="http://schemas.microsoft.com/office/drawing/2014/main" val="1014072136"/>
                    </a:ext>
                  </a:extLst>
                </a:gridCol>
              </a:tblGrid>
              <a:tr h="629522">
                <a:tc>
                  <a:txBody>
                    <a:bodyPr/>
                    <a:lstStyle/>
                    <a:p>
                      <a:r>
                        <a:rPr lang="en-US" sz="2800" b="1" dirty="0">
                          <a:solidFill>
                            <a:schemeClr val="bg2">
                              <a:lumMod val="10000"/>
                            </a:schemeClr>
                          </a:solidFill>
                        </a:rPr>
                        <a:t>No</a:t>
                      </a:r>
                      <a:endParaRPr lang="en-ID" sz="2800" b="1" dirty="0">
                        <a:solidFill>
                          <a:schemeClr val="bg2">
                            <a:lumMod val="10000"/>
                          </a:schemeClr>
                        </a:solidFill>
                      </a:endParaRPr>
                    </a:p>
                  </a:txBody>
                  <a:tcPr/>
                </a:tc>
                <a:tc>
                  <a:txBody>
                    <a:bodyPr/>
                    <a:lstStyle/>
                    <a:p>
                      <a:r>
                        <a:rPr lang="en-US" sz="2800" b="1" dirty="0">
                          <a:solidFill>
                            <a:schemeClr val="bg2">
                              <a:lumMod val="10000"/>
                            </a:schemeClr>
                          </a:solidFill>
                        </a:rPr>
                        <a:t>GPA</a:t>
                      </a:r>
                      <a:endParaRPr lang="en-ID" sz="2800" b="1" dirty="0">
                        <a:solidFill>
                          <a:schemeClr val="bg2">
                            <a:lumMod val="10000"/>
                          </a:schemeClr>
                        </a:solidFill>
                      </a:endParaRPr>
                    </a:p>
                  </a:txBody>
                  <a:tcPr/>
                </a:tc>
                <a:tc>
                  <a:txBody>
                    <a:bodyPr/>
                    <a:lstStyle/>
                    <a:p>
                      <a:r>
                        <a:rPr lang="en-US" sz="2800" b="1" dirty="0" err="1">
                          <a:solidFill>
                            <a:schemeClr val="bg2">
                              <a:lumMod val="10000"/>
                            </a:schemeClr>
                          </a:solidFill>
                        </a:rPr>
                        <a:t>Psy</a:t>
                      </a:r>
                      <a:r>
                        <a:rPr lang="en-US" sz="2800" b="1" dirty="0">
                          <a:solidFill>
                            <a:schemeClr val="bg2">
                              <a:lumMod val="10000"/>
                            </a:schemeClr>
                          </a:solidFill>
                        </a:rPr>
                        <a:t>. test</a:t>
                      </a:r>
                      <a:endParaRPr lang="en-ID" sz="2800" b="1" dirty="0">
                        <a:solidFill>
                          <a:schemeClr val="bg2">
                            <a:lumMod val="10000"/>
                          </a:schemeClr>
                        </a:solidFill>
                      </a:endParaRPr>
                    </a:p>
                  </a:txBody>
                  <a:tcPr/>
                </a:tc>
                <a:tc>
                  <a:txBody>
                    <a:bodyPr/>
                    <a:lstStyle/>
                    <a:p>
                      <a:r>
                        <a:rPr lang="en-US" sz="2800" b="1" dirty="0">
                          <a:solidFill>
                            <a:schemeClr val="bg2">
                              <a:lumMod val="10000"/>
                            </a:schemeClr>
                          </a:solidFill>
                        </a:rPr>
                        <a:t>Interview</a:t>
                      </a:r>
                      <a:endParaRPr lang="en-ID" sz="2800" b="1" dirty="0">
                        <a:solidFill>
                          <a:schemeClr val="bg2">
                            <a:lumMod val="10000"/>
                          </a:schemeClr>
                        </a:solidFill>
                      </a:endParaRPr>
                    </a:p>
                  </a:txBody>
                  <a:tcPr/>
                </a:tc>
                <a:tc>
                  <a:txBody>
                    <a:bodyPr/>
                    <a:lstStyle/>
                    <a:p>
                      <a:r>
                        <a:rPr lang="en-US" sz="2800" b="1" dirty="0">
                          <a:solidFill>
                            <a:schemeClr val="bg2">
                              <a:lumMod val="10000"/>
                            </a:schemeClr>
                          </a:solidFill>
                        </a:rPr>
                        <a:t>Accept</a:t>
                      </a:r>
                      <a:endParaRPr lang="en-ID" sz="2800" b="1" dirty="0">
                        <a:solidFill>
                          <a:schemeClr val="bg2">
                            <a:lumMod val="10000"/>
                          </a:schemeClr>
                        </a:solidFill>
                      </a:endParaRPr>
                    </a:p>
                  </a:txBody>
                  <a:tcPr/>
                </a:tc>
                <a:extLst>
                  <a:ext uri="{0D108BD9-81ED-4DB2-BD59-A6C34878D82A}">
                    <a16:rowId xmlns:a16="http://schemas.microsoft.com/office/drawing/2014/main" val="2429384565"/>
                  </a:ext>
                </a:extLst>
              </a:tr>
              <a:tr h="629522">
                <a:tc>
                  <a:txBody>
                    <a:bodyPr/>
                    <a:lstStyle/>
                    <a:p>
                      <a:r>
                        <a:rPr lang="en-US" sz="2800" dirty="0">
                          <a:solidFill>
                            <a:schemeClr val="bg2">
                              <a:lumMod val="10000"/>
                            </a:schemeClr>
                          </a:solidFill>
                        </a:rPr>
                        <a:t>1</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High</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2594443173"/>
                  </a:ext>
                </a:extLst>
              </a:tr>
              <a:tr h="629522">
                <a:tc>
                  <a:txBody>
                    <a:bodyPr/>
                    <a:lstStyle/>
                    <a:p>
                      <a:r>
                        <a:rPr lang="en-US" sz="2800" dirty="0">
                          <a:solidFill>
                            <a:schemeClr val="bg2">
                              <a:lumMod val="10000"/>
                            </a:schemeClr>
                          </a:solidFill>
                        </a:rPr>
                        <a:t>2</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479923061"/>
                  </a:ext>
                </a:extLst>
              </a:tr>
              <a:tr h="629522">
                <a:tc>
                  <a:txBody>
                    <a:bodyPr/>
                    <a:lstStyle/>
                    <a:p>
                      <a:r>
                        <a:rPr lang="en-US" sz="2800" dirty="0">
                          <a:solidFill>
                            <a:schemeClr val="bg2">
                              <a:lumMod val="10000"/>
                            </a:schemeClr>
                          </a:solidFill>
                        </a:rPr>
                        <a:t>3</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2781931581"/>
                  </a:ext>
                </a:extLst>
              </a:tr>
              <a:tr h="629522">
                <a:tc>
                  <a:txBody>
                    <a:bodyPr/>
                    <a:lstStyle/>
                    <a:p>
                      <a:r>
                        <a:rPr lang="en-US" sz="2800" dirty="0">
                          <a:solidFill>
                            <a:schemeClr val="bg2">
                              <a:lumMod val="10000"/>
                            </a:schemeClr>
                          </a:solidFill>
                        </a:rPr>
                        <a:t>4</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Low</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N</a:t>
                      </a:r>
                      <a:endParaRPr lang="en-ID" sz="2800" dirty="0">
                        <a:solidFill>
                          <a:schemeClr val="bg2">
                            <a:lumMod val="10000"/>
                          </a:schemeClr>
                        </a:solidFill>
                      </a:endParaRPr>
                    </a:p>
                  </a:txBody>
                  <a:tcPr/>
                </a:tc>
                <a:extLst>
                  <a:ext uri="{0D108BD9-81ED-4DB2-BD59-A6C34878D82A}">
                    <a16:rowId xmlns:a16="http://schemas.microsoft.com/office/drawing/2014/main" val="2510127566"/>
                  </a:ext>
                </a:extLst>
              </a:tr>
              <a:tr h="629522">
                <a:tc>
                  <a:txBody>
                    <a:bodyPr/>
                    <a:lstStyle/>
                    <a:p>
                      <a:r>
                        <a:rPr lang="en-US" sz="2800" dirty="0">
                          <a:solidFill>
                            <a:schemeClr val="bg2">
                              <a:lumMod val="10000"/>
                            </a:schemeClr>
                          </a:solidFill>
                        </a:rPr>
                        <a:t>5</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High</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975739203"/>
                  </a:ext>
                </a:extLst>
              </a:tr>
              <a:tr h="629522">
                <a:tc>
                  <a:txBody>
                    <a:bodyPr/>
                    <a:lstStyle/>
                    <a:p>
                      <a:r>
                        <a:rPr lang="en-US" sz="2800" dirty="0">
                          <a:solidFill>
                            <a:schemeClr val="bg2">
                              <a:lumMod val="10000"/>
                            </a:schemeClr>
                          </a:solidFill>
                        </a:rPr>
                        <a:t>6</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4070256245"/>
                  </a:ext>
                </a:extLst>
              </a:tr>
              <a:tr h="629522">
                <a:tc>
                  <a:txBody>
                    <a:bodyPr/>
                    <a:lstStyle/>
                    <a:p>
                      <a:r>
                        <a:rPr lang="en-US" sz="2800" dirty="0">
                          <a:solidFill>
                            <a:schemeClr val="bg2">
                              <a:lumMod val="10000"/>
                            </a:schemeClr>
                          </a:solidFill>
                        </a:rPr>
                        <a:t>7</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Low</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N</a:t>
                      </a:r>
                      <a:endParaRPr lang="en-ID" sz="2800" dirty="0">
                        <a:solidFill>
                          <a:schemeClr val="bg2">
                            <a:lumMod val="10000"/>
                          </a:schemeClr>
                        </a:solidFill>
                      </a:endParaRPr>
                    </a:p>
                  </a:txBody>
                  <a:tcPr/>
                </a:tc>
                <a:extLst>
                  <a:ext uri="{0D108BD9-81ED-4DB2-BD59-A6C34878D82A}">
                    <a16:rowId xmlns:a16="http://schemas.microsoft.com/office/drawing/2014/main" val="932546900"/>
                  </a:ext>
                </a:extLst>
              </a:tr>
              <a:tr h="629522">
                <a:tc>
                  <a:txBody>
                    <a:bodyPr/>
                    <a:lstStyle/>
                    <a:p>
                      <a:r>
                        <a:rPr lang="en-US" sz="2800" dirty="0">
                          <a:solidFill>
                            <a:schemeClr val="bg2">
                              <a:lumMod val="10000"/>
                            </a:schemeClr>
                          </a:solidFill>
                        </a:rPr>
                        <a:t>8</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Low</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N</a:t>
                      </a:r>
                      <a:endParaRPr lang="en-ID" sz="2800" dirty="0">
                        <a:solidFill>
                          <a:schemeClr val="bg2">
                            <a:lumMod val="10000"/>
                          </a:schemeClr>
                        </a:solidFill>
                      </a:endParaRPr>
                    </a:p>
                  </a:txBody>
                  <a:tcPr/>
                </a:tc>
                <a:extLst>
                  <a:ext uri="{0D108BD9-81ED-4DB2-BD59-A6C34878D82A}">
                    <a16:rowId xmlns:a16="http://schemas.microsoft.com/office/drawing/2014/main" val="874791520"/>
                  </a:ext>
                </a:extLst>
              </a:tr>
              <a:tr h="629522">
                <a:tc>
                  <a:txBody>
                    <a:bodyPr/>
                    <a:lstStyle/>
                    <a:p>
                      <a:r>
                        <a:rPr lang="en-US" sz="2800" dirty="0">
                          <a:solidFill>
                            <a:schemeClr val="bg2">
                              <a:lumMod val="10000"/>
                            </a:schemeClr>
                          </a:solidFill>
                        </a:rPr>
                        <a:t>9</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High</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4222353523"/>
                  </a:ext>
                </a:extLst>
              </a:tr>
              <a:tr h="629522">
                <a:tc>
                  <a:txBody>
                    <a:bodyPr/>
                    <a:lstStyle/>
                    <a:p>
                      <a:r>
                        <a:rPr lang="en-US" sz="2800" dirty="0">
                          <a:solidFill>
                            <a:schemeClr val="bg2">
                              <a:lumMod val="10000"/>
                            </a:schemeClr>
                          </a:solidFill>
                        </a:rPr>
                        <a:t>10</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N</a:t>
                      </a:r>
                      <a:endParaRPr lang="en-ID" sz="2800" dirty="0">
                        <a:solidFill>
                          <a:schemeClr val="bg2">
                            <a:lumMod val="10000"/>
                          </a:schemeClr>
                        </a:solidFill>
                      </a:endParaRPr>
                    </a:p>
                  </a:txBody>
                  <a:tcPr/>
                </a:tc>
                <a:extLst>
                  <a:ext uri="{0D108BD9-81ED-4DB2-BD59-A6C34878D82A}">
                    <a16:rowId xmlns:a16="http://schemas.microsoft.com/office/drawing/2014/main" val="2583147622"/>
                  </a:ext>
                </a:extLst>
              </a:tr>
            </a:tbl>
          </a:graphicData>
        </a:graphic>
      </p:graphicFrame>
    </p:spTree>
    <p:extLst>
      <p:ext uri="{BB962C8B-B14F-4D97-AF65-F5344CB8AC3E}">
        <p14:creationId xmlns:p14="http://schemas.microsoft.com/office/powerpoint/2010/main" val="313271432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A31F-BE2B-1A78-61D6-7FE0B4B8603F}"/>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8C8D16BE-F8A9-CA23-B558-8B5EA3359975}"/>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C398985F-2AA5-8997-0B6E-3509D7FF84F3}"/>
              </a:ext>
            </a:extLst>
          </p:cNvPr>
          <p:cNvSpPr>
            <a:spLocks noGrp="1"/>
          </p:cNvSpPr>
          <p:nvPr>
            <p:ph sz="quarter" idx="11"/>
          </p:nvPr>
        </p:nvSpPr>
        <p:spPr>
          <a:xfrm>
            <a:off x="2163189" y="3260663"/>
            <a:ext cx="10028811" cy="8583279"/>
          </a:xfrm>
        </p:spPr>
        <p:txBody>
          <a:bodyPr>
            <a:normAutofit/>
          </a:bodyPr>
          <a:lstStyle/>
          <a:p>
            <a:pPr marL="0" indent="0">
              <a:buNone/>
            </a:pPr>
            <a:r>
              <a:rPr lang="en-US" dirty="0">
                <a:latin typeface="+mj-lt"/>
              </a:rPr>
              <a:t>As a data analyst at the university, your task is to develop a decision tree model using the ID3 algorithm that can predict the likelihood of future applicants being accepted based on the patterns found in the historical data. </a:t>
            </a:r>
          </a:p>
          <a:p>
            <a:pPr marL="0" indent="0">
              <a:buNone/>
            </a:pPr>
            <a:r>
              <a:rPr lang="en-US" dirty="0">
                <a:latin typeface="+mj-lt"/>
              </a:rPr>
              <a:t>The model should help streamline the decision-making process and provide transparent criteria for admissions.</a:t>
            </a:r>
          </a:p>
          <a:p>
            <a:pPr marL="0" indent="0">
              <a:buNone/>
            </a:pPr>
            <a:endParaRPr lang="en-US" sz="4000" dirty="0">
              <a:latin typeface="+mj-lt"/>
            </a:endParaRPr>
          </a:p>
          <a:p>
            <a:endParaRPr lang="en-US" dirty="0"/>
          </a:p>
          <a:p>
            <a:endParaRPr lang="en-US" dirty="0"/>
          </a:p>
          <a:p>
            <a:endParaRPr lang="en-US" dirty="0"/>
          </a:p>
        </p:txBody>
      </p:sp>
      <p:graphicFrame>
        <p:nvGraphicFramePr>
          <p:cNvPr id="5" name="Content Placeholder 3">
            <a:extLst>
              <a:ext uri="{FF2B5EF4-FFF2-40B4-BE49-F238E27FC236}">
                <a16:creationId xmlns:a16="http://schemas.microsoft.com/office/drawing/2014/main" id="{C3377B6B-394E-02D3-C934-840B808B8223}"/>
              </a:ext>
            </a:extLst>
          </p:cNvPr>
          <p:cNvGraphicFramePr>
            <a:graphicFrameLocks/>
          </p:cNvGraphicFramePr>
          <p:nvPr/>
        </p:nvGraphicFramePr>
        <p:xfrm>
          <a:off x="13411202" y="3260662"/>
          <a:ext cx="10109197" cy="6924742"/>
        </p:xfrm>
        <a:graphic>
          <a:graphicData uri="http://schemas.openxmlformats.org/drawingml/2006/table">
            <a:tbl>
              <a:tblPr firstRow="1" bandRow="1">
                <a:tableStyleId>{5940675A-B579-460E-94D1-54222C63F5DA}</a:tableStyleId>
              </a:tblPr>
              <a:tblGrid>
                <a:gridCol w="1018937">
                  <a:extLst>
                    <a:ext uri="{9D8B030D-6E8A-4147-A177-3AD203B41FA5}">
                      <a16:colId xmlns:a16="http://schemas.microsoft.com/office/drawing/2014/main" val="2693998913"/>
                    </a:ext>
                  </a:extLst>
                </a:gridCol>
                <a:gridCol w="2272565">
                  <a:extLst>
                    <a:ext uri="{9D8B030D-6E8A-4147-A177-3AD203B41FA5}">
                      <a16:colId xmlns:a16="http://schemas.microsoft.com/office/drawing/2014/main" val="1066610950"/>
                    </a:ext>
                  </a:extLst>
                </a:gridCol>
                <a:gridCol w="2272565">
                  <a:extLst>
                    <a:ext uri="{9D8B030D-6E8A-4147-A177-3AD203B41FA5}">
                      <a16:colId xmlns:a16="http://schemas.microsoft.com/office/drawing/2014/main" val="306097770"/>
                    </a:ext>
                  </a:extLst>
                </a:gridCol>
                <a:gridCol w="2272565">
                  <a:extLst>
                    <a:ext uri="{9D8B030D-6E8A-4147-A177-3AD203B41FA5}">
                      <a16:colId xmlns:a16="http://schemas.microsoft.com/office/drawing/2014/main" val="3474116813"/>
                    </a:ext>
                  </a:extLst>
                </a:gridCol>
                <a:gridCol w="2272565">
                  <a:extLst>
                    <a:ext uri="{9D8B030D-6E8A-4147-A177-3AD203B41FA5}">
                      <a16:colId xmlns:a16="http://schemas.microsoft.com/office/drawing/2014/main" val="1014072136"/>
                    </a:ext>
                  </a:extLst>
                </a:gridCol>
              </a:tblGrid>
              <a:tr h="629522">
                <a:tc>
                  <a:txBody>
                    <a:bodyPr/>
                    <a:lstStyle/>
                    <a:p>
                      <a:r>
                        <a:rPr lang="en-US" sz="2800" b="1" dirty="0">
                          <a:solidFill>
                            <a:schemeClr val="bg2">
                              <a:lumMod val="10000"/>
                            </a:schemeClr>
                          </a:solidFill>
                        </a:rPr>
                        <a:t>No</a:t>
                      </a:r>
                      <a:endParaRPr lang="en-ID" sz="2800" b="1" dirty="0">
                        <a:solidFill>
                          <a:schemeClr val="bg2">
                            <a:lumMod val="10000"/>
                          </a:schemeClr>
                        </a:solidFill>
                      </a:endParaRPr>
                    </a:p>
                  </a:txBody>
                  <a:tcPr/>
                </a:tc>
                <a:tc>
                  <a:txBody>
                    <a:bodyPr/>
                    <a:lstStyle/>
                    <a:p>
                      <a:r>
                        <a:rPr lang="en-US" sz="2800" b="1" dirty="0">
                          <a:solidFill>
                            <a:schemeClr val="bg2">
                              <a:lumMod val="10000"/>
                            </a:schemeClr>
                          </a:solidFill>
                        </a:rPr>
                        <a:t>GPA</a:t>
                      </a:r>
                      <a:endParaRPr lang="en-ID" sz="2800" b="1" dirty="0">
                        <a:solidFill>
                          <a:schemeClr val="bg2">
                            <a:lumMod val="10000"/>
                          </a:schemeClr>
                        </a:solidFill>
                      </a:endParaRPr>
                    </a:p>
                  </a:txBody>
                  <a:tcPr/>
                </a:tc>
                <a:tc>
                  <a:txBody>
                    <a:bodyPr/>
                    <a:lstStyle/>
                    <a:p>
                      <a:r>
                        <a:rPr lang="en-US" sz="2800" b="1" dirty="0" err="1">
                          <a:solidFill>
                            <a:schemeClr val="bg2">
                              <a:lumMod val="10000"/>
                            </a:schemeClr>
                          </a:solidFill>
                        </a:rPr>
                        <a:t>Psy</a:t>
                      </a:r>
                      <a:r>
                        <a:rPr lang="en-US" sz="2800" b="1" dirty="0">
                          <a:solidFill>
                            <a:schemeClr val="bg2">
                              <a:lumMod val="10000"/>
                            </a:schemeClr>
                          </a:solidFill>
                        </a:rPr>
                        <a:t>. test</a:t>
                      </a:r>
                      <a:endParaRPr lang="en-ID" sz="2800" b="1" dirty="0">
                        <a:solidFill>
                          <a:schemeClr val="bg2">
                            <a:lumMod val="10000"/>
                          </a:schemeClr>
                        </a:solidFill>
                      </a:endParaRPr>
                    </a:p>
                  </a:txBody>
                  <a:tcPr/>
                </a:tc>
                <a:tc>
                  <a:txBody>
                    <a:bodyPr/>
                    <a:lstStyle/>
                    <a:p>
                      <a:r>
                        <a:rPr lang="en-US" sz="2800" b="1" dirty="0">
                          <a:solidFill>
                            <a:schemeClr val="bg2">
                              <a:lumMod val="10000"/>
                            </a:schemeClr>
                          </a:solidFill>
                        </a:rPr>
                        <a:t>Interview</a:t>
                      </a:r>
                      <a:endParaRPr lang="en-ID" sz="2800" b="1" dirty="0">
                        <a:solidFill>
                          <a:schemeClr val="bg2">
                            <a:lumMod val="10000"/>
                          </a:schemeClr>
                        </a:solidFill>
                      </a:endParaRPr>
                    </a:p>
                  </a:txBody>
                  <a:tcPr/>
                </a:tc>
                <a:tc>
                  <a:txBody>
                    <a:bodyPr/>
                    <a:lstStyle/>
                    <a:p>
                      <a:r>
                        <a:rPr lang="en-US" sz="2800" b="1" dirty="0">
                          <a:solidFill>
                            <a:schemeClr val="bg2">
                              <a:lumMod val="10000"/>
                            </a:schemeClr>
                          </a:solidFill>
                        </a:rPr>
                        <a:t>Accept</a:t>
                      </a:r>
                      <a:endParaRPr lang="en-ID" sz="2800" b="1" dirty="0">
                        <a:solidFill>
                          <a:schemeClr val="bg2">
                            <a:lumMod val="10000"/>
                          </a:schemeClr>
                        </a:solidFill>
                      </a:endParaRPr>
                    </a:p>
                  </a:txBody>
                  <a:tcPr/>
                </a:tc>
                <a:extLst>
                  <a:ext uri="{0D108BD9-81ED-4DB2-BD59-A6C34878D82A}">
                    <a16:rowId xmlns:a16="http://schemas.microsoft.com/office/drawing/2014/main" val="2429384565"/>
                  </a:ext>
                </a:extLst>
              </a:tr>
              <a:tr h="629522">
                <a:tc>
                  <a:txBody>
                    <a:bodyPr/>
                    <a:lstStyle/>
                    <a:p>
                      <a:r>
                        <a:rPr lang="en-US" sz="2800" dirty="0">
                          <a:solidFill>
                            <a:schemeClr val="bg2">
                              <a:lumMod val="10000"/>
                            </a:schemeClr>
                          </a:solidFill>
                        </a:rPr>
                        <a:t>1</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High</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2594443173"/>
                  </a:ext>
                </a:extLst>
              </a:tr>
              <a:tr h="629522">
                <a:tc>
                  <a:txBody>
                    <a:bodyPr/>
                    <a:lstStyle/>
                    <a:p>
                      <a:r>
                        <a:rPr lang="en-US" sz="2800" dirty="0">
                          <a:solidFill>
                            <a:schemeClr val="bg2">
                              <a:lumMod val="10000"/>
                            </a:schemeClr>
                          </a:solidFill>
                        </a:rPr>
                        <a:t>2</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479923061"/>
                  </a:ext>
                </a:extLst>
              </a:tr>
              <a:tr h="629522">
                <a:tc>
                  <a:txBody>
                    <a:bodyPr/>
                    <a:lstStyle/>
                    <a:p>
                      <a:r>
                        <a:rPr lang="en-US" sz="2800" dirty="0">
                          <a:solidFill>
                            <a:schemeClr val="bg2">
                              <a:lumMod val="10000"/>
                            </a:schemeClr>
                          </a:solidFill>
                        </a:rPr>
                        <a:t>3</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2781931581"/>
                  </a:ext>
                </a:extLst>
              </a:tr>
              <a:tr h="629522">
                <a:tc>
                  <a:txBody>
                    <a:bodyPr/>
                    <a:lstStyle/>
                    <a:p>
                      <a:r>
                        <a:rPr lang="en-US" sz="2800" dirty="0">
                          <a:solidFill>
                            <a:schemeClr val="bg2">
                              <a:lumMod val="10000"/>
                            </a:schemeClr>
                          </a:solidFill>
                        </a:rPr>
                        <a:t>4</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Low</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N</a:t>
                      </a:r>
                      <a:endParaRPr lang="en-ID" sz="2800" dirty="0">
                        <a:solidFill>
                          <a:schemeClr val="bg2">
                            <a:lumMod val="10000"/>
                          </a:schemeClr>
                        </a:solidFill>
                      </a:endParaRPr>
                    </a:p>
                  </a:txBody>
                  <a:tcPr/>
                </a:tc>
                <a:extLst>
                  <a:ext uri="{0D108BD9-81ED-4DB2-BD59-A6C34878D82A}">
                    <a16:rowId xmlns:a16="http://schemas.microsoft.com/office/drawing/2014/main" val="2510127566"/>
                  </a:ext>
                </a:extLst>
              </a:tr>
              <a:tr h="629522">
                <a:tc>
                  <a:txBody>
                    <a:bodyPr/>
                    <a:lstStyle/>
                    <a:p>
                      <a:r>
                        <a:rPr lang="en-US" sz="2800" dirty="0">
                          <a:solidFill>
                            <a:schemeClr val="bg2">
                              <a:lumMod val="10000"/>
                            </a:schemeClr>
                          </a:solidFill>
                        </a:rPr>
                        <a:t>5</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High</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975739203"/>
                  </a:ext>
                </a:extLst>
              </a:tr>
              <a:tr h="629522">
                <a:tc>
                  <a:txBody>
                    <a:bodyPr/>
                    <a:lstStyle/>
                    <a:p>
                      <a:r>
                        <a:rPr lang="en-US" sz="2800" dirty="0">
                          <a:solidFill>
                            <a:schemeClr val="bg2">
                              <a:lumMod val="10000"/>
                            </a:schemeClr>
                          </a:solidFill>
                        </a:rPr>
                        <a:t>6</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4070256245"/>
                  </a:ext>
                </a:extLst>
              </a:tr>
              <a:tr h="629522">
                <a:tc>
                  <a:txBody>
                    <a:bodyPr/>
                    <a:lstStyle/>
                    <a:p>
                      <a:r>
                        <a:rPr lang="en-US" sz="2800" dirty="0">
                          <a:solidFill>
                            <a:schemeClr val="bg2">
                              <a:lumMod val="10000"/>
                            </a:schemeClr>
                          </a:solidFill>
                        </a:rPr>
                        <a:t>7</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Low</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N</a:t>
                      </a:r>
                      <a:endParaRPr lang="en-ID" sz="2800" dirty="0">
                        <a:solidFill>
                          <a:schemeClr val="bg2">
                            <a:lumMod val="10000"/>
                          </a:schemeClr>
                        </a:solidFill>
                      </a:endParaRPr>
                    </a:p>
                  </a:txBody>
                  <a:tcPr/>
                </a:tc>
                <a:extLst>
                  <a:ext uri="{0D108BD9-81ED-4DB2-BD59-A6C34878D82A}">
                    <a16:rowId xmlns:a16="http://schemas.microsoft.com/office/drawing/2014/main" val="932546900"/>
                  </a:ext>
                </a:extLst>
              </a:tr>
              <a:tr h="629522">
                <a:tc>
                  <a:txBody>
                    <a:bodyPr/>
                    <a:lstStyle/>
                    <a:p>
                      <a:r>
                        <a:rPr lang="en-US" sz="2800" dirty="0">
                          <a:solidFill>
                            <a:schemeClr val="bg2">
                              <a:lumMod val="10000"/>
                            </a:schemeClr>
                          </a:solidFill>
                        </a:rPr>
                        <a:t>8</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Low</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N</a:t>
                      </a:r>
                      <a:endParaRPr lang="en-ID" sz="2800" dirty="0">
                        <a:solidFill>
                          <a:schemeClr val="bg2">
                            <a:lumMod val="10000"/>
                          </a:schemeClr>
                        </a:solidFill>
                      </a:endParaRPr>
                    </a:p>
                  </a:txBody>
                  <a:tcPr/>
                </a:tc>
                <a:extLst>
                  <a:ext uri="{0D108BD9-81ED-4DB2-BD59-A6C34878D82A}">
                    <a16:rowId xmlns:a16="http://schemas.microsoft.com/office/drawing/2014/main" val="874791520"/>
                  </a:ext>
                </a:extLst>
              </a:tr>
              <a:tr h="629522">
                <a:tc>
                  <a:txBody>
                    <a:bodyPr/>
                    <a:lstStyle/>
                    <a:p>
                      <a:r>
                        <a:rPr lang="en-US" sz="2800" dirty="0">
                          <a:solidFill>
                            <a:schemeClr val="bg2">
                              <a:lumMod val="10000"/>
                            </a:schemeClr>
                          </a:solidFill>
                        </a:rPr>
                        <a:t>9</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High</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Good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Y</a:t>
                      </a:r>
                      <a:endParaRPr lang="en-ID" sz="2800" dirty="0">
                        <a:solidFill>
                          <a:schemeClr val="bg2">
                            <a:lumMod val="10000"/>
                          </a:schemeClr>
                        </a:solidFill>
                      </a:endParaRPr>
                    </a:p>
                  </a:txBody>
                  <a:tcPr/>
                </a:tc>
                <a:extLst>
                  <a:ext uri="{0D108BD9-81ED-4DB2-BD59-A6C34878D82A}">
                    <a16:rowId xmlns:a16="http://schemas.microsoft.com/office/drawing/2014/main" val="4222353523"/>
                  </a:ext>
                </a:extLst>
              </a:tr>
              <a:tr h="629522">
                <a:tc>
                  <a:txBody>
                    <a:bodyPr/>
                    <a:lstStyle/>
                    <a:p>
                      <a:r>
                        <a:rPr lang="en-US" sz="2800" dirty="0">
                          <a:solidFill>
                            <a:schemeClr val="bg2">
                              <a:lumMod val="10000"/>
                            </a:schemeClr>
                          </a:solidFill>
                        </a:rPr>
                        <a:t>10</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Mid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Bad</a:t>
                      </a:r>
                      <a:endParaRPr lang="en-ID" sz="2800" dirty="0">
                        <a:solidFill>
                          <a:schemeClr val="bg2">
                            <a:lumMod val="10000"/>
                          </a:schemeClr>
                        </a:solidFill>
                      </a:endParaRPr>
                    </a:p>
                  </a:txBody>
                  <a:tcPr/>
                </a:tc>
                <a:tc>
                  <a:txBody>
                    <a:bodyPr/>
                    <a:lstStyle/>
                    <a:p>
                      <a:r>
                        <a:rPr lang="en-US" sz="2800" dirty="0">
                          <a:solidFill>
                            <a:schemeClr val="bg2">
                              <a:lumMod val="10000"/>
                            </a:schemeClr>
                          </a:solidFill>
                        </a:rPr>
                        <a:t>N</a:t>
                      </a:r>
                      <a:endParaRPr lang="en-ID" sz="2800" dirty="0">
                        <a:solidFill>
                          <a:schemeClr val="bg2">
                            <a:lumMod val="10000"/>
                          </a:schemeClr>
                        </a:solidFill>
                      </a:endParaRPr>
                    </a:p>
                  </a:txBody>
                  <a:tcPr/>
                </a:tc>
                <a:extLst>
                  <a:ext uri="{0D108BD9-81ED-4DB2-BD59-A6C34878D82A}">
                    <a16:rowId xmlns:a16="http://schemas.microsoft.com/office/drawing/2014/main" val="2583147622"/>
                  </a:ext>
                </a:extLst>
              </a:tr>
            </a:tbl>
          </a:graphicData>
        </a:graphic>
      </p:graphicFrame>
    </p:spTree>
    <p:extLst>
      <p:ext uri="{BB962C8B-B14F-4D97-AF65-F5344CB8AC3E}">
        <p14:creationId xmlns:p14="http://schemas.microsoft.com/office/powerpoint/2010/main" val="69926222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Entropy value of the target in this example the target is acceptance:</a:t>
            </a:r>
          </a:p>
          <a:p>
            <a:r>
              <a:rPr lang="en-US" dirty="0"/>
              <a:t>The result of the table:</a:t>
            </a:r>
          </a:p>
          <a:p>
            <a:endParaRPr lang="en-US" dirty="0"/>
          </a:p>
          <a:p>
            <a:endParaRPr lang="en-US" dirty="0"/>
          </a:p>
          <a:p>
            <a:r>
              <a:rPr lang="en-US" dirty="0"/>
              <a:t>The Entropy of the Target:</a:t>
            </a:r>
          </a:p>
          <a:p>
            <a:endParaRPr lang="en-US" dirty="0"/>
          </a:p>
          <a:p>
            <a:endParaRPr lang="en-US" dirty="0"/>
          </a:p>
        </p:txBody>
      </p:sp>
      <p:graphicFrame>
        <p:nvGraphicFramePr>
          <p:cNvPr id="6" name="Table 5">
            <a:extLst>
              <a:ext uri="{FF2B5EF4-FFF2-40B4-BE49-F238E27FC236}">
                <a16:creationId xmlns:a16="http://schemas.microsoft.com/office/drawing/2014/main" id="{000B6530-B9B8-335A-9109-791CF5C2FBFB}"/>
              </a:ext>
            </a:extLst>
          </p:cNvPr>
          <p:cNvGraphicFramePr>
            <a:graphicFrameLocks noGrp="1"/>
          </p:cNvGraphicFramePr>
          <p:nvPr>
            <p:extLst>
              <p:ext uri="{D42A27DB-BD31-4B8C-83A1-F6EECF244321}">
                <p14:modId xmlns:p14="http://schemas.microsoft.com/office/powerpoint/2010/main" val="4099333701"/>
              </p:ext>
            </p:extLst>
          </p:nvPr>
        </p:nvGraphicFramePr>
        <p:xfrm>
          <a:off x="4063998" y="5989320"/>
          <a:ext cx="16256001" cy="1737360"/>
        </p:xfrm>
        <a:graphic>
          <a:graphicData uri="http://schemas.openxmlformats.org/drawingml/2006/table">
            <a:tbl>
              <a:tblPr firstRow="1" bandRow="1">
                <a:tableStyleId>{5940675A-B579-460E-94D1-54222C63F5DA}</a:tableStyleId>
              </a:tblPr>
              <a:tblGrid>
                <a:gridCol w="5418667">
                  <a:extLst>
                    <a:ext uri="{9D8B030D-6E8A-4147-A177-3AD203B41FA5}">
                      <a16:colId xmlns:a16="http://schemas.microsoft.com/office/drawing/2014/main" val="64555197"/>
                    </a:ext>
                  </a:extLst>
                </a:gridCol>
                <a:gridCol w="5418667">
                  <a:extLst>
                    <a:ext uri="{9D8B030D-6E8A-4147-A177-3AD203B41FA5}">
                      <a16:colId xmlns:a16="http://schemas.microsoft.com/office/drawing/2014/main" val="2653671342"/>
                    </a:ext>
                  </a:extLst>
                </a:gridCol>
                <a:gridCol w="5418667">
                  <a:extLst>
                    <a:ext uri="{9D8B030D-6E8A-4147-A177-3AD203B41FA5}">
                      <a16:colId xmlns:a16="http://schemas.microsoft.com/office/drawing/2014/main" val="3554390769"/>
                    </a:ext>
                  </a:extLst>
                </a:gridCol>
              </a:tblGrid>
              <a:tr h="370840">
                <a:tc>
                  <a:txBody>
                    <a:bodyPr/>
                    <a:lstStyle/>
                    <a:p>
                      <a:endParaRPr lang="en-ID" sz="3200" dirty="0">
                        <a:solidFill>
                          <a:schemeClr val="bg2">
                            <a:lumMod val="10000"/>
                          </a:schemeClr>
                        </a:solidFill>
                      </a:endParaRPr>
                    </a:p>
                  </a:txBody>
                  <a:tcPr/>
                </a:tc>
                <a:tc>
                  <a:txBody>
                    <a:bodyPr/>
                    <a:lstStyle/>
                    <a:p>
                      <a:r>
                        <a:rPr lang="en-US" sz="3200" dirty="0">
                          <a:solidFill>
                            <a:schemeClr val="bg2">
                              <a:lumMod val="10000"/>
                            </a:schemeClr>
                          </a:solidFill>
                        </a:rPr>
                        <a:t>Y</a:t>
                      </a:r>
                      <a:endParaRPr lang="en-ID" sz="3200" dirty="0">
                        <a:solidFill>
                          <a:schemeClr val="bg2">
                            <a:lumMod val="10000"/>
                          </a:schemeClr>
                        </a:solidFill>
                      </a:endParaRPr>
                    </a:p>
                  </a:txBody>
                  <a:tcPr/>
                </a:tc>
                <a:tc>
                  <a:txBody>
                    <a:bodyPr/>
                    <a:lstStyle/>
                    <a:p>
                      <a:r>
                        <a:rPr lang="en-US" sz="3200" dirty="0">
                          <a:solidFill>
                            <a:schemeClr val="bg2">
                              <a:lumMod val="10000"/>
                            </a:schemeClr>
                          </a:solidFill>
                        </a:rPr>
                        <a:t>N</a:t>
                      </a:r>
                      <a:endParaRPr lang="en-ID" sz="3200" dirty="0">
                        <a:solidFill>
                          <a:schemeClr val="bg2">
                            <a:lumMod val="10000"/>
                          </a:schemeClr>
                        </a:solidFill>
                      </a:endParaRPr>
                    </a:p>
                  </a:txBody>
                  <a:tcPr/>
                </a:tc>
                <a:extLst>
                  <a:ext uri="{0D108BD9-81ED-4DB2-BD59-A6C34878D82A}">
                    <a16:rowId xmlns:a16="http://schemas.microsoft.com/office/drawing/2014/main" val="1509174880"/>
                  </a:ext>
                </a:extLst>
              </a:tr>
              <a:tr h="370840">
                <a:tc>
                  <a:txBody>
                    <a:bodyPr/>
                    <a:lstStyle/>
                    <a:p>
                      <a:r>
                        <a:rPr lang="en-US" sz="3200" dirty="0">
                          <a:solidFill>
                            <a:schemeClr val="bg2">
                              <a:lumMod val="10000"/>
                            </a:schemeClr>
                          </a:solidFill>
                        </a:rPr>
                        <a:t>Frequency</a:t>
                      </a:r>
                      <a:endParaRPr lang="en-ID" sz="3200" dirty="0">
                        <a:solidFill>
                          <a:schemeClr val="bg2">
                            <a:lumMod val="10000"/>
                          </a:schemeClr>
                        </a:solidFill>
                      </a:endParaRPr>
                    </a:p>
                  </a:txBody>
                  <a:tcPr/>
                </a:tc>
                <a:tc>
                  <a:txBody>
                    <a:bodyPr/>
                    <a:lstStyle/>
                    <a:p>
                      <a:r>
                        <a:rPr lang="en-US" sz="3200" dirty="0">
                          <a:solidFill>
                            <a:schemeClr val="bg2">
                              <a:lumMod val="10000"/>
                            </a:schemeClr>
                          </a:solidFill>
                        </a:rPr>
                        <a:t>6</a:t>
                      </a:r>
                      <a:endParaRPr lang="en-ID" sz="3200" dirty="0">
                        <a:solidFill>
                          <a:schemeClr val="bg2">
                            <a:lumMod val="10000"/>
                          </a:schemeClr>
                        </a:solidFill>
                      </a:endParaRPr>
                    </a:p>
                  </a:txBody>
                  <a:tcPr/>
                </a:tc>
                <a:tc>
                  <a:txBody>
                    <a:bodyPr/>
                    <a:lstStyle/>
                    <a:p>
                      <a:r>
                        <a:rPr lang="en-US" sz="3200" dirty="0">
                          <a:solidFill>
                            <a:schemeClr val="bg2">
                              <a:lumMod val="10000"/>
                            </a:schemeClr>
                          </a:solidFill>
                        </a:rPr>
                        <a:t>4</a:t>
                      </a:r>
                      <a:endParaRPr lang="en-ID" sz="3200" dirty="0">
                        <a:solidFill>
                          <a:schemeClr val="bg2">
                            <a:lumMod val="10000"/>
                          </a:schemeClr>
                        </a:solidFill>
                      </a:endParaRPr>
                    </a:p>
                  </a:txBody>
                  <a:tcPr/>
                </a:tc>
                <a:extLst>
                  <a:ext uri="{0D108BD9-81ED-4DB2-BD59-A6C34878D82A}">
                    <a16:rowId xmlns:a16="http://schemas.microsoft.com/office/drawing/2014/main" val="3575550432"/>
                  </a:ext>
                </a:extLst>
              </a:tr>
              <a:tr h="370840">
                <a:tc>
                  <a:txBody>
                    <a:bodyPr/>
                    <a:lstStyle/>
                    <a:p>
                      <a:r>
                        <a:rPr lang="en-US" sz="3200" dirty="0">
                          <a:solidFill>
                            <a:schemeClr val="bg2">
                              <a:lumMod val="10000"/>
                            </a:schemeClr>
                          </a:solidFill>
                        </a:rPr>
                        <a:t>Probability</a:t>
                      </a:r>
                      <a:endParaRPr lang="en-ID" sz="3200" dirty="0">
                        <a:solidFill>
                          <a:schemeClr val="bg2">
                            <a:lumMod val="10000"/>
                          </a:schemeClr>
                        </a:solidFill>
                      </a:endParaRPr>
                    </a:p>
                  </a:txBody>
                  <a:tcPr/>
                </a:tc>
                <a:tc>
                  <a:txBody>
                    <a:bodyPr/>
                    <a:lstStyle/>
                    <a:p>
                      <a:r>
                        <a:rPr lang="en-US" sz="3200" dirty="0">
                          <a:solidFill>
                            <a:schemeClr val="bg2">
                              <a:lumMod val="10000"/>
                            </a:schemeClr>
                          </a:solidFill>
                        </a:rPr>
                        <a:t>0.6</a:t>
                      </a:r>
                      <a:endParaRPr lang="en-ID" sz="3200" dirty="0">
                        <a:solidFill>
                          <a:schemeClr val="bg2">
                            <a:lumMod val="10000"/>
                          </a:schemeClr>
                        </a:solidFill>
                      </a:endParaRPr>
                    </a:p>
                  </a:txBody>
                  <a:tcPr/>
                </a:tc>
                <a:tc>
                  <a:txBody>
                    <a:bodyPr/>
                    <a:lstStyle/>
                    <a:p>
                      <a:r>
                        <a:rPr lang="en-US" sz="3200" dirty="0">
                          <a:solidFill>
                            <a:schemeClr val="bg2">
                              <a:lumMod val="10000"/>
                            </a:schemeClr>
                          </a:solidFill>
                        </a:rPr>
                        <a:t>0.4</a:t>
                      </a:r>
                      <a:endParaRPr lang="en-ID" sz="3200" dirty="0">
                        <a:solidFill>
                          <a:schemeClr val="bg2">
                            <a:lumMod val="10000"/>
                          </a:schemeClr>
                        </a:solidFill>
                      </a:endParaRPr>
                    </a:p>
                  </a:txBody>
                  <a:tcPr/>
                </a:tc>
                <a:extLst>
                  <a:ext uri="{0D108BD9-81ED-4DB2-BD59-A6C34878D82A}">
                    <a16:rowId xmlns:a16="http://schemas.microsoft.com/office/drawing/2014/main" val="1521937597"/>
                  </a:ext>
                </a:extLst>
              </a:tr>
            </a:tbl>
          </a:graphicData>
        </a:graphic>
      </p:graphicFrame>
      <p:pic>
        <p:nvPicPr>
          <p:cNvPr id="7" name="Gambar 2">
            <a:extLst>
              <a:ext uri="{FF2B5EF4-FFF2-40B4-BE49-F238E27FC236}">
                <a16:creationId xmlns:a16="http://schemas.microsoft.com/office/drawing/2014/main" id="{F3660C40-3643-6F1F-119A-45AB24058C61}"/>
              </a:ext>
            </a:extLst>
          </p:cNvPr>
          <p:cNvPicPr>
            <a:picLocks noChangeAspect="1"/>
          </p:cNvPicPr>
          <p:nvPr/>
        </p:nvPicPr>
        <p:blipFill>
          <a:blip r:embed="rId2"/>
          <a:stretch>
            <a:fillRect/>
          </a:stretch>
        </p:blipFill>
        <p:spPr>
          <a:xfrm>
            <a:off x="10055435" y="8593083"/>
            <a:ext cx="8692728" cy="4129183"/>
          </a:xfrm>
          <a:prstGeom prst="rect">
            <a:avLst/>
          </a:prstGeom>
        </p:spPr>
      </p:pic>
    </p:spTree>
    <p:extLst>
      <p:ext uri="{BB962C8B-B14F-4D97-AF65-F5344CB8AC3E}">
        <p14:creationId xmlns:p14="http://schemas.microsoft.com/office/powerpoint/2010/main" val="423081848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GPA</a:t>
            </a:r>
          </a:p>
          <a:p>
            <a:pPr lvl="2"/>
            <a:r>
              <a:rPr lang="en-US" dirty="0"/>
              <a:t>First, we need to calculate the weighted entropy, here we will need Entropy(GPA=Good), Entropy(GPA=Mid), Entropy(GPA=Bad)</a:t>
            </a:r>
          </a:p>
          <a:p>
            <a:pPr lvl="2"/>
            <a:endParaRPr lang="en-US" dirty="0"/>
          </a:p>
          <a:p>
            <a:endParaRPr lang="en-US" dirty="0"/>
          </a:p>
          <a:p>
            <a:endParaRPr lang="en-US" dirty="0"/>
          </a:p>
          <a:p>
            <a:endParaRPr lang="en-US" dirty="0"/>
          </a:p>
        </p:txBody>
      </p:sp>
      <p:pic>
        <p:nvPicPr>
          <p:cNvPr id="10" name="Picture 4">
            <a:extLst>
              <a:ext uri="{FF2B5EF4-FFF2-40B4-BE49-F238E27FC236}">
                <a16:creationId xmlns:a16="http://schemas.microsoft.com/office/drawing/2014/main" id="{839F9989-36AB-B000-DDB9-E8EF4873F1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6628"/>
          <a:stretch/>
        </p:blipFill>
        <p:spPr bwMode="auto">
          <a:xfrm>
            <a:off x="2713600" y="7552302"/>
            <a:ext cx="19507211" cy="1188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45931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GPA</a:t>
            </a:r>
          </a:p>
          <a:p>
            <a:pPr lvl="2"/>
            <a:r>
              <a:rPr kumimoji="0" lang="en-US" b="0" i="0" u="none" strike="noStrike" cap="none" spc="0" normalizeH="0" baseline="0" dirty="0">
                <a:ln>
                  <a:noFill/>
                </a:ln>
                <a:solidFill>
                  <a:schemeClr val="bg2">
                    <a:lumMod val="10000"/>
                  </a:schemeClr>
                </a:solidFill>
                <a:effectLst/>
                <a:uFillTx/>
                <a:latin typeface="+mn-lt"/>
                <a:ea typeface="+mn-ea"/>
                <a:cs typeface="+mn-cs"/>
                <a:sym typeface="Helvetica Neue"/>
              </a:rPr>
              <a:t>The entropy value for Good value, with class (Y:3 , N: 1)</a:t>
            </a:r>
          </a:p>
          <a:p>
            <a:endParaRPr lang="en-US" dirty="0"/>
          </a:p>
          <a:p>
            <a:endParaRPr lang="en-US" dirty="0"/>
          </a:p>
          <a:p>
            <a:endParaRPr lang="en-US" dirty="0"/>
          </a:p>
          <a:p>
            <a:endParaRPr lang="en-US" dirty="0"/>
          </a:p>
        </p:txBody>
      </p:sp>
      <p:pic>
        <p:nvPicPr>
          <p:cNvPr id="5" name="Picture 2">
            <a:extLst>
              <a:ext uri="{FF2B5EF4-FFF2-40B4-BE49-F238E27FC236}">
                <a16:creationId xmlns:a16="http://schemas.microsoft.com/office/drawing/2014/main" id="{D78780DA-A731-1104-B213-1F3AE0577C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8850" y="6858000"/>
            <a:ext cx="18110595"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970547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GPA</a:t>
            </a:r>
          </a:p>
          <a:p>
            <a:pPr lvl="2"/>
            <a:r>
              <a:rPr kumimoji="0" lang="en-US" b="0" i="0" u="none" strike="noStrike" cap="none" spc="0" normalizeH="0" baseline="0" dirty="0">
                <a:ln>
                  <a:noFill/>
                </a:ln>
                <a:solidFill>
                  <a:schemeClr val="bg2">
                    <a:lumMod val="10000"/>
                  </a:schemeClr>
                </a:solidFill>
                <a:effectLst/>
                <a:uFillTx/>
                <a:latin typeface="+mn-lt"/>
                <a:ea typeface="+mn-ea"/>
                <a:cs typeface="+mn-cs"/>
                <a:sym typeface="Helvetica Neue"/>
              </a:rPr>
              <a:t>The entropy value for Mid value, with class (Y:</a:t>
            </a:r>
            <a:r>
              <a:rPr lang="en-US" dirty="0">
                <a:solidFill>
                  <a:schemeClr val="bg2">
                    <a:lumMod val="10000"/>
                  </a:schemeClr>
                </a:solidFill>
              </a:rPr>
              <a:t>2</a:t>
            </a:r>
            <a:r>
              <a:rPr kumimoji="0" lang="en-US" b="0" i="0" u="none" strike="noStrike" cap="none" spc="0" normalizeH="0" baseline="0" dirty="0">
                <a:ln>
                  <a:noFill/>
                </a:ln>
                <a:solidFill>
                  <a:schemeClr val="bg2">
                    <a:lumMod val="10000"/>
                  </a:schemeClr>
                </a:solidFill>
                <a:effectLst/>
                <a:uFillTx/>
                <a:latin typeface="+mn-lt"/>
                <a:ea typeface="+mn-ea"/>
                <a:cs typeface="+mn-cs"/>
                <a:sym typeface="Helvetica Neue"/>
              </a:rPr>
              <a:t> , N: </a:t>
            </a:r>
            <a:r>
              <a:rPr lang="en-US" dirty="0">
                <a:solidFill>
                  <a:schemeClr val="bg2">
                    <a:lumMod val="10000"/>
                  </a:schemeClr>
                </a:solidFill>
              </a:rPr>
              <a:t>1</a:t>
            </a:r>
            <a:r>
              <a:rPr kumimoji="0" lang="en-US" b="0" i="0" u="none" strike="noStrike" cap="none" spc="0" normalizeH="0" baseline="0" dirty="0">
                <a:ln>
                  <a:noFill/>
                </a:ln>
                <a:solidFill>
                  <a:schemeClr val="bg2">
                    <a:lumMod val="10000"/>
                  </a:schemeClr>
                </a:solidFill>
                <a:effectLst/>
                <a:uFillTx/>
                <a:latin typeface="+mn-lt"/>
                <a:ea typeface="+mn-ea"/>
                <a:cs typeface="+mn-cs"/>
                <a:sym typeface="Helvetica Neue"/>
              </a:rPr>
              <a:t>)</a:t>
            </a:r>
          </a:p>
          <a:p>
            <a:endParaRPr lang="en-US" dirty="0"/>
          </a:p>
          <a:p>
            <a:endParaRPr lang="en-US" dirty="0"/>
          </a:p>
          <a:p>
            <a:endParaRPr lang="en-US" dirty="0"/>
          </a:p>
          <a:p>
            <a:endParaRPr lang="en-US" dirty="0"/>
          </a:p>
        </p:txBody>
      </p:sp>
      <p:pic>
        <p:nvPicPr>
          <p:cNvPr id="8" name="Picture 2">
            <a:extLst>
              <a:ext uri="{FF2B5EF4-FFF2-40B4-BE49-F238E27FC236}">
                <a16:creationId xmlns:a16="http://schemas.microsoft.com/office/drawing/2014/main" id="{32B91A9D-79D3-39B5-A3CF-D7A997A16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1928" y="6668104"/>
            <a:ext cx="14700622" cy="6054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583909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GPA</a:t>
            </a:r>
          </a:p>
          <a:p>
            <a:pPr lvl="2"/>
            <a:r>
              <a:rPr kumimoji="0" lang="en-US" b="0" i="0" u="none" strike="noStrike" cap="none" spc="0" normalizeH="0" baseline="0" dirty="0">
                <a:ln>
                  <a:noFill/>
                </a:ln>
                <a:solidFill>
                  <a:schemeClr val="bg2">
                    <a:lumMod val="10000"/>
                  </a:schemeClr>
                </a:solidFill>
                <a:effectLst/>
                <a:uFillTx/>
                <a:latin typeface="+mn-lt"/>
                <a:ea typeface="+mn-ea"/>
                <a:cs typeface="+mn-cs"/>
                <a:sym typeface="Helvetica Neue"/>
              </a:rPr>
              <a:t>The entropy value for Bad value, with class (Y:1 , N: 2)</a:t>
            </a:r>
          </a:p>
          <a:p>
            <a:pPr lvl="1"/>
            <a:endParaRPr lang="en-US" dirty="0"/>
          </a:p>
          <a:p>
            <a:endParaRPr lang="en-US" dirty="0"/>
          </a:p>
          <a:p>
            <a:endParaRPr lang="en-US" dirty="0"/>
          </a:p>
          <a:p>
            <a:endParaRPr lang="en-US" dirty="0"/>
          </a:p>
          <a:p>
            <a:endParaRPr lang="en-US" dirty="0"/>
          </a:p>
        </p:txBody>
      </p:sp>
      <p:pic>
        <p:nvPicPr>
          <p:cNvPr id="9" name="Picture 2">
            <a:extLst>
              <a:ext uri="{FF2B5EF4-FFF2-40B4-BE49-F238E27FC236}">
                <a16:creationId xmlns:a16="http://schemas.microsoft.com/office/drawing/2014/main" id="{717A3B7F-F318-51A2-0E45-7EF0C9A6C8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51808" y="6632248"/>
            <a:ext cx="13316991" cy="6412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900504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GPA</a:t>
            </a:r>
          </a:p>
          <a:p>
            <a:pPr lvl="2"/>
            <a:r>
              <a:rPr lang="en-US" dirty="0"/>
              <a:t>We continue to calculate the weighted entropy:</a:t>
            </a:r>
          </a:p>
          <a:p>
            <a:pPr lvl="2"/>
            <a:endParaRPr lang="en-US" dirty="0"/>
          </a:p>
          <a:p>
            <a:pPr lvl="2"/>
            <a:endParaRPr lang="en-US" dirty="0"/>
          </a:p>
          <a:p>
            <a:pPr lvl="2"/>
            <a:endParaRPr lang="en-US" dirty="0"/>
          </a:p>
          <a:p>
            <a:pPr lvl="2"/>
            <a:r>
              <a:rPr lang="en-US" dirty="0"/>
              <a:t>Then, calculate the Information Gain of GPA:</a:t>
            </a:r>
          </a:p>
          <a:p>
            <a:endParaRPr lang="en-US" dirty="0"/>
          </a:p>
          <a:p>
            <a:endParaRPr lang="en-US" dirty="0"/>
          </a:p>
          <a:p>
            <a:endParaRPr lang="en-US" dirty="0"/>
          </a:p>
        </p:txBody>
      </p:sp>
      <p:pic>
        <p:nvPicPr>
          <p:cNvPr id="10" name="Picture 4">
            <a:extLst>
              <a:ext uri="{FF2B5EF4-FFF2-40B4-BE49-F238E27FC236}">
                <a16:creationId xmlns:a16="http://schemas.microsoft.com/office/drawing/2014/main" id="{839F9989-36AB-B000-DDB9-E8EF4873F1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8099"/>
          <a:stretch/>
        </p:blipFill>
        <p:spPr bwMode="auto">
          <a:xfrm>
            <a:off x="3481893" y="6480000"/>
            <a:ext cx="17420211" cy="40752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a:extLst>
              <a:ext uri="{FF2B5EF4-FFF2-40B4-BE49-F238E27FC236}">
                <a16:creationId xmlns:a16="http://schemas.microsoft.com/office/drawing/2014/main" id="{2EC49349-7B05-BE82-B701-0FA19F373F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1067" y="10959460"/>
            <a:ext cx="12250369" cy="1768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29633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Psychological Test</a:t>
            </a:r>
          </a:p>
          <a:p>
            <a:pPr lvl="2"/>
            <a:r>
              <a:rPr lang="en-US" dirty="0"/>
              <a:t>First, we need to calculate the weighted entropy:</a:t>
            </a:r>
          </a:p>
          <a:p>
            <a:endParaRPr lang="en-US" dirty="0"/>
          </a:p>
          <a:p>
            <a:endParaRPr lang="en-US" dirty="0"/>
          </a:p>
          <a:p>
            <a:endParaRPr lang="en-US" dirty="0"/>
          </a:p>
        </p:txBody>
      </p:sp>
      <p:pic>
        <p:nvPicPr>
          <p:cNvPr id="5" name="Picture 2">
            <a:extLst>
              <a:ext uri="{FF2B5EF4-FFF2-40B4-BE49-F238E27FC236}">
                <a16:creationId xmlns:a16="http://schemas.microsoft.com/office/drawing/2014/main" id="{B0578306-3FC0-1FF2-668E-A4CC190DD6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3452"/>
          <a:stretch/>
        </p:blipFill>
        <p:spPr bwMode="auto">
          <a:xfrm>
            <a:off x="4312359" y="6645730"/>
            <a:ext cx="15759280" cy="3809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336520"/>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Psychological Test</a:t>
            </a:r>
          </a:p>
          <a:p>
            <a:pPr lvl="2"/>
            <a:r>
              <a:rPr lang="en-US" dirty="0"/>
              <a:t>The entropy value for High value, with class (Y:3 , N: 0)</a:t>
            </a:r>
          </a:p>
          <a:p>
            <a:endParaRPr lang="en-US" dirty="0"/>
          </a:p>
          <a:p>
            <a:endParaRPr lang="en-US" dirty="0"/>
          </a:p>
          <a:p>
            <a:endParaRPr lang="en-US" dirty="0"/>
          </a:p>
        </p:txBody>
      </p:sp>
      <p:pic>
        <p:nvPicPr>
          <p:cNvPr id="6" name="Picture 2">
            <a:extLst>
              <a:ext uri="{FF2B5EF4-FFF2-40B4-BE49-F238E27FC236}">
                <a16:creationId xmlns:a16="http://schemas.microsoft.com/office/drawing/2014/main" id="{503D7B3F-F65A-44A0-7174-85A2E7E74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5258" y="6858000"/>
            <a:ext cx="19053481" cy="3597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0924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Psychological Test</a:t>
            </a:r>
          </a:p>
          <a:p>
            <a:pPr lvl="2"/>
            <a:r>
              <a:rPr lang="en-US" dirty="0"/>
              <a:t>The entropy value for Mid value, with class (Y:3 , N: 1)</a:t>
            </a:r>
          </a:p>
          <a:p>
            <a:endParaRPr lang="en-US" dirty="0"/>
          </a:p>
          <a:p>
            <a:endParaRPr lang="en-US" dirty="0"/>
          </a:p>
          <a:p>
            <a:endParaRPr lang="en-US" dirty="0"/>
          </a:p>
        </p:txBody>
      </p:sp>
      <p:pic>
        <p:nvPicPr>
          <p:cNvPr id="5" name="Picture 6">
            <a:extLst>
              <a:ext uri="{FF2B5EF4-FFF2-40B4-BE49-F238E27FC236}">
                <a16:creationId xmlns:a16="http://schemas.microsoft.com/office/drawing/2014/main" id="{5FEF8842-0DAA-8615-4849-A0560D3F72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4579" y="6696137"/>
            <a:ext cx="18514840" cy="5853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6968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Psychological Test</a:t>
            </a:r>
          </a:p>
          <a:p>
            <a:pPr lvl="2"/>
            <a:r>
              <a:rPr lang="en-US" dirty="0"/>
              <a:t>The entropy value for Mid value, with class (Y:0 , N: 3)</a:t>
            </a:r>
          </a:p>
          <a:p>
            <a:endParaRPr lang="en-US" dirty="0"/>
          </a:p>
          <a:p>
            <a:endParaRPr lang="en-US" dirty="0"/>
          </a:p>
          <a:p>
            <a:endParaRPr lang="en-US" dirty="0"/>
          </a:p>
        </p:txBody>
      </p:sp>
      <p:pic>
        <p:nvPicPr>
          <p:cNvPr id="6" name="Picture 4">
            <a:extLst>
              <a:ext uri="{FF2B5EF4-FFF2-40B4-BE49-F238E27FC236}">
                <a16:creationId xmlns:a16="http://schemas.microsoft.com/office/drawing/2014/main" id="{3BACF554-AD52-B469-00EE-481F072EF2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387" y="6858000"/>
            <a:ext cx="19597169" cy="379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021237"/>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Psychological Test:</a:t>
            </a:r>
          </a:p>
          <a:p>
            <a:pPr lvl="2"/>
            <a:r>
              <a:rPr lang="en-US" dirty="0"/>
              <a:t>We continue to calculate the weighted entropy:</a:t>
            </a:r>
          </a:p>
          <a:p>
            <a:pPr lvl="2"/>
            <a:endParaRPr lang="en-US" dirty="0"/>
          </a:p>
          <a:p>
            <a:pPr lvl="2"/>
            <a:endParaRPr lang="en-US" dirty="0"/>
          </a:p>
          <a:p>
            <a:pPr lvl="2"/>
            <a:endParaRPr lang="en-US" dirty="0"/>
          </a:p>
          <a:p>
            <a:endParaRPr lang="en-US" dirty="0"/>
          </a:p>
          <a:p>
            <a:endParaRPr lang="en-US" dirty="0"/>
          </a:p>
          <a:p>
            <a:endParaRPr lang="en-US" dirty="0"/>
          </a:p>
        </p:txBody>
      </p:sp>
      <p:pic>
        <p:nvPicPr>
          <p:cNvPr id="6" name="Picture 2">
            <a:extLst>
              <a:ext uri="{FF2B5EF4-FFF2-40B4-BE49-F238E27FC236}">
                <a16:creationId xmlns:a16="http://schemas.microsoft.com/office/drawing/2014/main" id="{9766D06B-D4C9-265D-50D4-F5E5553685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3931" y="6477287"/>
            <a:ext cx="12964641" cy="6733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72464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Psychological Test:</a:t>
            </a:r>
          </a:p>
          <a:p>
            <a:pPr lvl="2"/>
            <a:r>
              <a:rPr lang="en-US" dirty="0"/>
              <a:t>Then calculate the Information Gain</a:t>
            </a:r>
          </a:p>
          <a:p>
            <a:pPr lvl="2"/>
            <a:endParaRPr lang="en-US" dirty="0"/>
          </a:p>
          <a:p>
            <a:pPr lvl="2"/>
            <a:endParaRPr lang="en-US" dirty="0"/>
          </a:p>
          <a:p>
            <a:pPr lvl="2"/>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448806B8-FFFD-696F-B133-593ED51E27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4821" y="6858000"/>
            <a:ext cx="19754355" cy="2035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04245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Interview</a:t>
            </a:r>
          </a:p>
          <a:p>
            <a:pPr lvl="2"/>
            <a:r>
              <a:rPr lang="en-US" dirty="0"/>
              <a:t>First, we need to calculate the weighted entropy:</a:t>
            </a:r>
          </a:p>
          <a:p>
            <a:endParaRPr lang="en-US" dirty="0"/>
          </a:p>
          <a:p>
            <a:endParaRPr lang="en-US" dirty="0"/>
          </a:p>
          <a:p>
            <a:endParaRPr lang="en-US" dirty="0"/>
          </a:p>
        </p:txBody>
      </p:sp>
      <p:pic>
        <p:nvPicPr>
          <p:cNvPr id="6" name="Picture 2">
            <a:extLst>
              <a:ext uri="{FF2B5EF4-FFF2-40B4-BE49-F238E27FC236}">
                <a16:creationId xmlns:a16="http://schemas.microsoft.com/office/drawing/2014/main" id="{3252714A-805C-720E-1F82-848938DD44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6428"/>
          <a:stretch/>
        </p:blipFill>
        <p:spPr bwMode="auto">
          <a:xfrm>
            <a:off x="1571909" y="6858000"/>
            <a:ext cx="21240179" cy="1316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982245"/>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Interview</a:t>
            </a:r>
          </a:p>
          <a:p>
            <a:pPr lvl="2"/>
            <a:r>
              <a:rPr lang="en-US" dirty="0"/>
              <a:t>The entropy value for Good value, with class (Y:5 , N: 0)</a:t>
            </a:r>
          </a:p>
          <a:p>
            <a:endParaRPr lang="en-US" dirty="0"/>
          </a:p>
          <a:p>
            <a:endParaRPr lang="en-US" dirty="0"/>
          </a:p>
          <a:p>
            <a:endParaRPr lang="en-US" dirty="0"/>
          </a:p>
        </p:txBody>
      </p:sp>
      <p:pic>
        <p:nvPicPr>
          <p:cNvPr id="5" name="Picture 2">
            <a:extLst>
              <a:ext uri="{FF2B5EF4-FFF2-40B4-BE49-F238E27FC236}">
                <a16:creationId xmlns:a16="http://schemas.microsoft.com/office/drawing/2014/main" id="{4DFA19EA-6A43-2103-8E95-81150547D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2440" y="6858000"/>
            <a:ext cx="16527624" cy="2640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62519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Interview</a:t>
            </a:r>
          </a:p>
          <a:p>
            <a:pPr lvl="2"/>
            <a:r>
              <a:rPr lang="en-US" dirty="0"/>
              <a:t>The entropy value for Bad value, with class (Y:1 , N: 4)</a:t>
            </a:r>
          </a:p>
          <a:p>
            <a:endParaRPr lang="en-US" dirty="0"/>
          </a:p>
          <a:p>
            <a:endParaRPr lang="en-US" dirty="0"/>
          </a:p>
          <a:p>
            <a:endParaRPr lang="en-US" dirty="0"/>
          </a:p>
        </p:txBody>
      </p:sp>
      <p:pic>
        <p:nvPicPr>
          <p:cNvPr id="6" name="Picture 4">
            <a:extLst>
              <a:ext uri="{FF2B5EF4-FFF2-40B4-BE49-F238E27FC236}">
                <a16:creationId xmlns:a16="http://schemas.microsoft.com/office/drawing/2014/main" id="{065FE35D-C3A1-BD7C-D7DB-5B1F901C70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156" y="6858000"/>
            <a:ext cx="16175685" cy="5092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345751"/>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Psychological Test:</a:t>
            </a:r>
          </a:p>
          <a:p>
            <a:pPr lvl="2"/>
            <a:r>
              <a:rPr lang="en-US" dirty="0"/>
              <a:t>We continue to calculate the weighted entropy:</a:t>
            </a:r>
          </a:p>
          <a:p>
            <a:pPr lvl="2"/>
            <a:endParaRPr lang="en-US" dirty="0"/>
          </a:p>
          <a:p>
            <a:pPr lvl="2"/>
            <a:endParaRPr lang="en-US" dirty="0"/>
          </a:p>
          <a:p>
            <a:pPr lvl="2"/>
            <a:endParaRPr lang="en-US" dirty="0"/>
          </a:p>
          <a:p>
            <a:endParaRPr lang="en-US" dirty="0"/>
          </a:p>
          <a:p>
            <a:endParaRPr lang="en-US" dirty="0"/>
          </a:p>
          <a:p>
            <a:endParaRPr lang="en-US" dirty="0"/>
          </a:p>
        </p:txBody>
      </p:sp>
      <p:pic>
        <p:nvPicPr>
          <p:cNvPr id="5" name="Picture 2">
            <a:extLst>
              <a:ext uri="{FF2B5EF4-FFF2-40B4-BE49-F238E27FC236}">
                <a16:creationId xmlns:a16="http://schemas.microsoft.com/office/drawing/2014/main" id="{12257D62-7D4F-19E5-C5FF-BE6E1D9816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617" y="6545179"/>
            <a:ext cx="20142763" cy="3717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701792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78CF-056D-4C16-8327-E7BE72FB459A}"/>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E5527384-F40A-583F-216D-F161CA0E6A89}"/>
              </a:ext>
            </a:extLst>
          </p:cNvPr>
          <p:cNvSpPr>
            <a:spLocks noGrp="1"/>
          </p:cNvSpPr>
          <p:nvPr>
            <p:ph type="body" sz="quarter" idx="10"/>
          </p:nvPr>
        </p:nvSpPr>
        <p:spPr/>
        <p:txBody>
          <a:bodyPr/>
          <a:lstStyle/>
          <a:p>
            <a:r>
              <a:rPr lang="en-US" dirty="0"/>
              <a:t>example</a:t>
            </a:r>
          </a:p>
        </p:txBody>
      </p:sp>
      <p:sp>
        <p:nvSpPr>
          <p:cNvPr id="4" name="Content Placeholder 3">
            <a:extLst>
              <a:ext uri="{FF2B5EF4-FFF2-40B4-BE49-F238E27FC236}">
                <a16:creationId xmlns:a16="http://schemas.microsoft.com/office/drawing/2014/main" id="{FBEB7BCF-EA5D-EE43-7DAE-665580932893}"/>
              </a:ext>
            </a:extLst>
          </p:cNvPr>
          <p:cNvSpPr>
            <a:spLocks noGrp="1"/>
          </p:cNvSpPr>
          <p:nvPr>
            <p:ph sz="quarter" idx="11"/>
          </p:nvPr>
        </p:nvSpPr>
        <p:spPr/>
        <p:txBody>
          <a:bodyPr/>
          <a:lstStyle/>
          <a:p>
            <a:r>
              <a:rPr lang="en-US" dirty="0"/>
              <a:t>Finding the Information Gain, for each features:</a:t>
            </a:r>
          </a:p>
          <a:p>
            <a:pPr lvl="1">
              <a:buFont typeface="Wingdings" pitchFamily="2" charset="2"/>
              <a:buChar char="v"/>
            </a:pPr>
            <a:r>
              <a:rPr lang="en-US" dirty="0"/>
              <a:t>Information Gain for Psychological Test:</a:t>
            </a:r>
          </a:p>
          <a:p>
            <a:pPr lvl="2"/>
            <a:r>
              <a:rPr lang="en-US" dirty="0"/>
              <a:t>Then calculate the Information Gain</a:t>
            </a:r>
          </a:p>
          <a:p>
            <a:pPr lvl="2"/>
            <a:endParaRPr lang="en-US" dirty="0"/>
          </a:p>
          <a:p>
            <a:pPr lvl="2"/>
            <a:endParaRPr lang="en-US" dirty="0"/>
          </a:p>
          <a:p>
            <a:pPr lvl="2"/>
            <a:endParaRPr lang="en-US" dirty="0"/>
          </a:p>
          <a:p>
            <a:endParaRPr lang="en-US" dirty="0"/>
          </a:p>
          <a:p>
            <a:endParaRPr lang="en-US" dirty="0"/>
          </a:p>
          <a:p>
            <a:endParaRPr lang="en-US" dirty="0"/>
          </a:p>
        </p:txBody>
      </p:sp>
      <p:pic>
        <p:nvPicPr>
          <p:cNvPr id="6" name="Picture 4">
            <a:extLst>
              <a:ext uri="{FF2B5EF4-FFF2-40B4-BE49-F238E27FC236}">
                <a16:creationId xmlns:a16="http://schemas.microsoft.com/office/drawing/2014/main" id="{25F116C2-D787-EF5C-2EC8-C791060FE6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1513" y="6858000"/>
            <a:ext cx="18480972" cy="2321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837915"/>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FEA5F-107F-5D08-3C0B-88DE2037A981}"/>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B443660C-79C7-568A-2CD3-9B2758C8684D}"/>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C1D9796-EDAA-2461-F6FD-391ECB557416}"/>
                  </a:ext>
                </a:extLst>
              </p:cNvPr>
              <p:cNvSpPr>
                <a:spLocks noGrp="1"/>
              </p:cNvSpPr>
              <p:nvPr>
                <p:ph sz="quarter" idx="11"/>
              </p:nvPr>
            </p:nvSpPr>
            <p:spPr/>
            <p:txBody>
              <a:bodyPr/>
              <a:lstStyle/>
              <a:p>
                <a:r>
                  <a:rPr lang="en-US" sz="4400" dirty="0">
                    <a:latin typeface="+mj-lt"/>
                  </a:rPr>
                  <a:t>Next, we look for the largest information gain and will be used as the root in the tree.</a:t>
                </a:r>
              </a:p>
              <a:p>
                <a:endParaRPr lang="en-US" dirty="0">
                  <a:latin typeface="+mj-lt"/>
                </a:endParaRPr>
              </a:p>
              <a:p>
                <a:endParaRPr lang="en-US" sz="4400" dirty="0">
                  <a:latin typeface="+mj-lt"/>
                </a:endParaRPr>
              </a:p>
              <a:p>
                <a:endParaRPr lang="en-US" dirty="0">
                  <a:latin typeface="+mj-lt"/>
                </a:endParaRPr>
              </a:p>
              <a:p>
                <a:endParaRPr lang="en-US" sz="4400" dirty="0">
                  <a:latin typeface="+mj-lt"/>
                </a:endParaRPr>
              </a:p>
              <a:p>
                <a:r>
                  <a:rPr lang="en-US" sz="4400" dirty="0"/>
                  <a:t>In the Psychological Test, High and Low, can be determined directly yes and no because the Entropy value of </a:t>
                </a:r>
                <a14:m>
                  <m:oMath xmlns:m="http://schemas.openxmlformats.org/officeDocument/2006/math">
                    <m:r>
                      <a:rPr lang="en-US" sz="4400" b="0" i="1" smtClean="0">
                        <a:latin typeface="Cambria Math" panose="02040503050406030204" pitchFamily="18" charset="0"/>
                      </a:rPr>
                      <m:t>𝐻</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𝑃𝑠𝑦𝑐h𝑜𝑙𝑜𝑔𝑖𝑐𝑎𝑙</m:t>
                        </m:r>
                        <m:r>
                          <a:rPr lang="en-US" sz="4400" b="0" i="1" smtClean="0">
                            <a:latin typeface="Cambria Math" panose="02040503050406030204" pitchFamily="18" charset="0"/>
                          </a:rPr>
                          <m:t> </m:t>
                        </m:r>
                        <m:r>
                          <a:rPr lang="en-US" sz="4400" b="0" i="1" smtClean="0">
                            <a:latin typeface="Cambria Math" panose="02040503050406030204" pitchFamily="18" charset="0"/>
                          </a:rPr>
                          <m:t>𝑇𝑒𝑠𝑡</m:t>
                        </m:r>
                        <m:r>
                          <a:rPr lang="en-US" sz="4400" b="0" i="1" smtClean="0">
                            <a:latin typeface="Cambria Math" panose="02040503050406030204" pitchFamily="18" charset="0"/>
                          </a:rPr>
                          <m:t>=</m:t>
                        </m:r>
                        <m:r>
                          <a:rPr lang="en-US" sz="4400" b="0" i="1" smtClean="0">
                            <a:latin typeface="Cambria Math" panose="02040503050406030204" pitchFamily="18" charset="0"/>
                          </a:rPr>
                          <m:t>𝐻𝑖𝑔h</m:t>
                        </m:r>
                      </m:e>
                    </m:d>
                  </m:oMath>
                </a14:m>
                <a:r>
                  <a:rPr lang="en-US" sz="4400" dirty="0"/>
                  <a:t> and </a:t>
                </a:r>
                <a14:m>
                  <m:oMath xmlns:m="http://schemas.openxmlformats.org/officeDocument/2006/math">
                    <m:r>
                      <a:rPr lang="en-US" i="1">
                        <a:latin typeface="Cambria Math" panose="02040503050406030204" pitchFamily="18" charset="0"/>
                      </a:rPr>
                      <m:t>𝐻</m:t>
                    </m:r>
                    <m:d>
                      <m:dPr>
                        <m:ctrlPr>
                          <a:rPr lang="en-US" i="1">
                            <a:latin typeface="Cambria Math" panose="02040503050406030204" pitchFamily="18" charset="0"/>
                          </a:rPr>
                        </m:ctrlPr>
                      </m:dPr>
                      <m:e>
                        <m:r>
                          <a:rPr lang="en-US" i="1">
                            <a:latin typeface="Cambria Math" panose="02040503050406030204" pitchFamily="18" charset="0"/>
                          </a:rPr>
                          <m:t>𝑃𝑠𝑦𝑐h𝑜𝑙𝑜𝑔𝑖𝑐𝑎𝑙</m:t>
                        </m:r>
                        <m:r>
                          <a:rPr lang="en-US" i="1">
                            <a:latin typeface="Cambria Math" panose="02040503050406030204" pitchFamily="18" charset="0"/>
                          </a:rPr>
                          <m:t> </m:t>
                        </m:r>
                        <m:r>
                          <a:rPr lang="en-US" i="1">
                            <a:latin typeface="Cambria Math" panose="02040503050406030204" pitchFamily="18" charset="0"/>
                          </a:rPr>
                          <m:t>𝑇𝑒𝑠𝑡</m:t>
                        </m:r>
                        <m:r>
                          <a:rPr lang="en-US" i="1">
                            <a:latin typeface="Cambria Math" panose="02040503050406030204" pitchFamily="18" charset="0"/>
                          </a:rPr>
                          <m:t>=</m:t>
                        </m:r>
                        <m:r>
                          <a:rPr lang="en-US" b="0" i="1" smtClean="0">
                            <a:latin typeface="Cambria Math" panose="02040503050406030204" pitchFamily="18" charset="0"/>
                          </a:rPr>
                          <m:t>𝐿𝑜𝑤</m:t>
                        </m:r>
                      </m:e>
                    </m:d>
                  </m:oMath>
                </a14:m>
                <a:r>
                  <a:rPr lang="en-US" sz="4400" dirty="0"/>
                  <a:t> are 0.</a:t>
                </a:r>
              </a:p>
              <a:p>
                <a:endParaRPr lang="en-US" sz="4400" dirty="0">
                  <a:latin typeface="+mj-lt"/>
                </a:endParaRPr>
              </a:p>
              <a:p>
                <a:endParaRPr lang="en-US" dirty="0"/>
              </a:p>
            </p:txBody>
          </p:sp>
        </mc:Choice>
        <mc:Fallback xmlns="">
          <p:sp>
            <p:nvSpPr>
              <p:cNvPr id="4" name="Content Placeholder 3">
                <a:extLst>
                  <a:ext uri="{FF2B5EF4-FFF2-40B4-BE49-F238E27FC236}">
                    <a16:creationId xmlns:a16="http://schemas.microsoft.com/office/drawing/2014/main" id="{EC1D9796-EDAA-2461-F6FD-391ECB557416}"/>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r="-1709" b="-739"/>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8D952176-DDC5-57B7-7682-3982E51D1A53}"/>
              </a:ext>
            </a:extLst>
          </p:cNvPr>
          <p:cNvPicPr>
            <a:picLocks noChangeAspect="1"/>
          </p:cNvPicPr>
          <p:nvPr/>
        </p:nvPicPr>
        <p:blipFill>
          <a:blip r:embed="rId3"/>
          <a:stretch>
            <a:fillRect/>
          </a:stretch>
        </p:blipFill>
        <p:spPr>
          <a:xfrm>
            <a:off x="9932580" y="5257316"/>
            <a:ext cx="13900731" cy="3037364"/>
          </a:xfrm>
          <a:prstGeom prst="rect">
            <a:avLst/>
          </a:prstGeom>
        </p:spPr>
      </p:pic>
      <p:graphicFrame>
        <p:nvGraphicFramePr>
          <p:cNvPr id="16" name="Content Placeholder 3">
            <a:extLst>
              <a:ext uri="{FF2B5EF4-FFF2-40B4-BE49-F238E27FC236}">
                <a16:creationId xmlns:a16="http://schemas.microsoft.com/office/drawing/2014/main" id="{1DC46730-7C2F-CE24-B546-599933458F8F}"/>
              </a:ext>
            </a:extLst>
          </p:cNvPr>
          <p:cNvGraphicFramePr>
            <a:graphicFrameLocks/>
          </p:cNvGraphicFramePr>
          <p:nvPr>
            <p:extLst>
              <p:ext uri="{D42A27DB-BD31-4B8C-83A1-F6EECF244321}">
                <p14:modId xmlns:p14="http://schemas.microsoft.com/office/powerpoint/2010/main" val="588277939"/>
              </p:ext>
            </p:extLst>
          </p:nvPr>
        </p:nvGraphicFramePr>
        <p:xfrm>
          <a:off x="2908822" y="5608320"/>
          <a:ext cx="6338767" cy="2499360"/>
        </p:xfrm>
        <a:graphic>
          <a:graphicData uri="http://schemas.openxmlformats.org/drawingml/2006/table">
            <a:tbl>
              <a:tblPr firstRow="1" bandRow="1">
                <a:tableStyleId>{69012ECD-51FC-41F1-AA8D-1B2483CD663E}</a:tableStyleId>
              </a:tblPr>
              <a:tblGrid>
                <a:gridCol w="3443167">
                  <a:extLst>
                    <a:ext uri="{9D8B030D-6E8A-4147-A177-3AD203B41FA5}">
                      <a16:colId xmlns:a16="http://schemas.microsoft.com/office/drawing/2014/main" val="306097770"/>
                    </a:ext>
                  </a:extLst>
                </a:gridCol>
                <a:gridCol w="2895600">
                  <a:extLst>
                    <a:ext uri="{9D8B030D-6E8A-4147-A177-3AD203B41FA5}">
                      <a16:colId xmlns:a16="http://schemas.microsoft.com/office/drawing/2014/main" val="1014072136"/>
                    </a:ext>
                  </a:extLst>
                </a:gridCol>
              </a:tblGrid>
              <a:tr h="764043">
                <a:tc>
                  <a:txBody>
                    <a:bodyPr/>
                    <a:lstStyle/>
                    <a:p>
                      <a:r>
                        <a:rPr lang="en-ID" sz="2800" b="1" dirty="0">
                          <a:solidFill>
                            <a:schemeClr val="bg2">
                              <a:lumMod val="10000"/>
                            </a:schemeClr>
                          </a:solidFill>
                        </a:rPr>
                        <a:t>Features</a:t>
                      </a:r>
                    </a:p>
                  </a:txBody>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US" sz="2800" b="1" dirty="0">
                          <a:solidFill>
                            <a:schemeClr val="bg2">
                              <a:lumMod val="10000"/>
                            </a:schemeClr>
                          </a:solidFill>
                        </a:rPr>
                        <a:t>Information Gain</a:t>
                      </a:r>
                      <a:endParaRPr lang="en-ID" sz="2800" b="1" dirty="0">
                        <a:solidFill>
                          <a:schemeClr val="bg2">
                            <a:lumMod val="10000"/>
                          </a:schemeClr>
                        </a:solidFill>
                      </a:endParaRPr>
                    </a:p>
                  </a:txBody>
                  <a:tcPr/>
                </a:tc>
                <a:extLst>
                  <a:ext uri="{0D108BD9-81ED-4DB2-BD59-A6C34878D82A}">
                    <a16:rowId xmlns:a16="http://schemas.microsoft.com/office/drawing/2014/main" val="2429384565"/>
                  </a:ext>
                </a:extLst>
              </a:tr>
              <a:tr h="370840">
                <a:tc>
                  <a:txBody>
                    <a:bodyPr/>
                    <a:lstStyle/>
                    <a:p>
                      <a:r>
                        <a:rPr lang="en-ID" sz="2800" dirty="0">
                          <a:solidFill>
                            <a:schemeClr val="bg2">
                              <a:lumMod val="10000"/>
                            </a:schemeClr>
                          </a:solidFill>
                        </a:rPr>
                        <a:t>GPA</a:t>
                      </a:r>
                    </a:p>
                  </a:txBody>
                  <a:tcPr/>
                </a:tc>
                <a:tc>
                  <a:txBody>
                    <a:bodyPr/>
                    <a:lstStyle/>
                    <a:p>
                      <a:pPr algn="r"/>
                      <a:r>
                        <a:rPr lang="en-ID" sz="2800" dirty="0">
                          <a:solidFill>
                            <a:schemeClr val="bg2">
                              <a:lumMod val="10000"/>
                            </a:schemeClr>
                          </a:solidFill>
                        </a:rPr>
                        <a:t>0.0955</a:t>
                      </a:r>
                    </a:p>
                  </a:txBody>
                  <a:tcPr/>
                </a:tc>
                <a:extLst>
                  <a:ext uri="{0D108BD9-81ED-4DB2-BD59-A6C34878D82A}">
                    <a16:rowId xmlns:a16="http://schemas.microsoft.com/office/drawing/2014/main" val="2594443173"/>
                  </a:ext>
                </a:extLst>
              </a:tr>
              <a:tr h="370840">
                <a:tc>
                  <a:txBody>
                    <a:bodyPr/>
                    <a:lstStyle/>
                    <a:p>
                      <a:r>
                        <a:rPr lang="en-ID" sz="2800" b="1" dirty="0">
                          <a:solidFill>
                            <a:schemeClr val="bg2">
                              <a:lumMod val="10000"/>
                            </a:schemeClr>
                          </a:solidFill>
                        </a:rPr>
                        <a:t>Psychological Test</a:t>
                      </a:r>
                    </a:p>
                  </a:txBody>
                  <a:tcPr/>
                </a:tc>
                <a:tc>
                  <a:txBody>
                    <a:bodyPr/>
                    <a:lstStyle/>
                    <a:p>
                      <a:pPr algn="r"/>
                      <a:r>
                        <a:rPr lang="en-ID" sz="2800" b="1" dirty="0">
                          <a:solidFill>
                            <a:schemeClr val="bg2">
                              <a:lumMod val="10000"/>
                            </a:schemeClr>
                          </a:solidFill>
                        </a:rPr>
                        <a:t>0.6465</a:t>
                      </a:r>
                    </a:p>
                  </a:txBody>
                  <a:tcPr/>
                </a:tc>
                <a:extLst>
                  <a:ext uri="{0D108BD9-81ED-4DB2-BD59-A6C34878D82A}">
                    <a16:rowId xmlns:a16="http://schemas.microsoft.com/office/drawing/2014/main" val="479923061"/>
                  </a:ext>
                </a:extLst>
              </a:tr>
              <a:tr h="370840">
                <a:tc>
                  <a:txBody>
                    <a:bodyPr/>
                    <a:lstStyle/>
                    <a:p>
                      <a:r>
                        <a:rPr lang="en-ID" sz="2800" dirty="0">
                          <a:solidFill>
                            <a:schemeClr val="bg2">
                              <a:lumMod val="10000"/>
                            </a:schemeClr>
                          </a:solidFill>
                        </a:rPr>
                        <a:t>Interview</a:t>
                      </a:r>
                    </a:p>
                  </a:txBody>
                  <a:tcPr/>
                </a:tc>
                <a:tc>
                  <a:txBody>
                    <a:bodyPr/>
                    <a:lstStyle/>
                    <a:p>
                      <a:pPr algn="r"/>
                      <a:r>
                        <a:rPr lang="en-ID" sz="2800" dirty="0">
                          <a:solidFill>
                            <a:schemeClr val="bg2">
                              <a:lumMod val="10000"/>
                            </a:schemeClr>
                          </a:solidFill>
                        </a:rPr>
                        <a:t>0.0950</a:t>
                      </a:r>
                    </a:p>
                  </a:txBody>
                  <a:tcPr/>
                </a:tc>
                <a:extLst>
                  <a:ext uri="{0D108BD9-81ED-4DB2-BD59-A6C34878D82A}">
                    <a16:rowId xmlns:a16="http://schemas.microsoft.com/office/drawing/2014/main" val="2781931581"/>
                  </a:ext>
                </a:extLst>
              </a:tr>
            </a:tbl>
          </a:graphicData>
        </a:graphic>
      </p:graphicFrame>
    </p:spTree>
    <p:extLst>
      <p:ext uri="{BB962C8B-B14F-4D97-AF65-F5344CB8AC3E}">
        <p14:creationId xmlns:p14="http://schemas.microsoft.com/office/powerpoint/2010/main" val="2818922145"/>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9A9EA-3154-B06F-135D-962C85E709BE}"/>
              </a:ext>
            </a:extLst>
          </p:cNvPr>
          <p:cNvSpPr>
            <a:spLocks noGrp="1"/>
          </p:cNvSpPr>
          <p:nvPr>
            <p:ph type="title"/>
          </p:nvPr>
        </p:nvSpPr>
        <p:spPr/>
        <p:txBody>
          <a:bodyPr>
            <a:normAutofit fontScale="90000"/>
          </a:bodyPr>
          <a:lstStyle/>
          <a:p>
            <a:r>
              <a:rPr lang="en-US" dirty="0"/>
              <a:t>Decision tree</a:t>
            </a:r>
          </a:p>
        </p:txBody>
      </p:sp>
      <p:sp>
        <p:nvSpPr>
          <p:cNvPr id="3" name="Text Placeholder 2">
            <a:extLst>
              <a:ext uri="{FF2B5EF4-FFF2-40B4-BE49-F238E27FC236}">
                <a16:creationId xmlns:a16="http://schemas.microsoft.com/office/drawing/2014/main" id="{01F71DE7-6FEE-A3ED-E836-370240746F53}"/>
              </a:ext>
            </a:extLst>
          </p:cNvPr>
          <p:cNvSpPr>
            <a:spLocks noGrp="1"/>
          </p:cNvSpPr>
          <p:nvPr>
            <p:ph type="body" sz="quarter" idx="10"/>
          </p:nvPr>
        </p:nvSpPr>
        <p:spPr/>
        <p:txBody>
          <a:bodyPr/>
          <a:lstStyle/>
          <a:p>
            <a:r>
              <a:rPr lang="en-US" dirty="0"/>
              <a:t>example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F41BBB9-157F-D517-3D94-83A765F5972C}"/>
                  </a:ext>
                </a:extLst>
              </p:cNvPr>
              <p:cNvSpPr>
                <a:spLocks noGrp="1"/>
              </p:cNvSpPr>
              <p:nvPr>
                <p:ph sz="quarter" idx="11"/>
              </p:nvPr>
            </p:nvSpPr>
            <p:spPr>
              <a:xfrm>
                <a:off x="2163188" y="3260663"/>
                <a:ext cx="20057623" cy="9709379"/>
              </a:xfrm>
            </p:spPr>
            <p:txBody>
              <a:bodyPr>
                <a:noAutofit/>
              </a:bodyPr>
              <a:lstStyle/>
              <a:p>
                <a:r>
                  <a:rPr lang="en-US" dirty="0"/>
                  <a:t>After this, we need to calculate the splitting for the </a:t>
                </a:r>
                <a:r>
                  <a:rPr lang="en-US" b="1" dirty="0"/>
                  <a:t>“Mid”</a:t>
                </a:r>
                <a:r>
                  <a:rPr lang="en-US" dirty="0"/>
                  <a:t> using the same calculation:</a:t>
                </a:r>
              </a:p>
              <a:p>
                <a:pPr lvl="1">
                  <a:buFont typeface="Wingdings" pitchFamily="2" charset="2"/>
                  <a:buChar char="Ø"/>
                </a:pPr>
                <a:r>
                  <a:rPr lang="en-US" dirty="0"/>
                  <a:t>Calculate overall </a:t>
                </a:r>
                <a:r>
                  <a:rPr lang="en-US" b="1" dirty="0"/>
                  <a:t>entropy</a:t>
                </a:r>
                <a:r>
                  <a:rPr lang="en-US" dirty="0"/>
                  <a:t> of remaining data </a:t>
                </a:r>
                <a14:m>
                  <m:oMath xmlns:m="http://schemas.openxmlformats.org/officeDocument/2006/math">
                    <m:r>
                      <a:rPr lang="en-US" i="1" dirty="0" smtClean="0">
                        <a:latin typeface="Cambria Math" panose="02040503050406030204" pitchFamily="18" charset="0"/>
                      </a:rPr>
                      <m:t>𝐻</m:t>
                    </m:r>
                    <m:r>
                      <a:rPr lang="en-US" i="1" dirty="0" smtClean="0">
                        <a:latin typeface="Cambria Math" panose="02040503050406030204" pitchFamily="18" charset="0"/>
                      </a:rPr>
                      <m:t>(</m:t>
                    </m:r>
                    <m:r>
                      <a:rPr lang="en-US" i="1" dirty="0" smtClean="0">
                        <a:latin typeface="Cambria Math" panose="02040503050406030204" pitchFamily="18" charset="0"/>
                      </a:rPr>
                      <m:t>𝐷</m:t>
                    </m:r>
                    <m:r>
                      <a:rPr lang="en-US" i="1" dirty="0" smtClean="0">
                        <a:latin typeface="Cambria Math" panose="02040503050406030204" pitchFamily="18" charset="0"/>
                      </a:rPr>
                      <m:t>)</m:t>
                    </m:r>
                  </m:oMath>
                </a14:m>
                <a:r>
                  <a:rPr lang="en-US" dirty="0"/>
                  <a:t>, </a:t>
                </a:r>
              </a:p>
              <a:p>
                <a:pPr lvl="1">
                  <a:buFont typeface="Wingdings" pitchFamily="2" charset="2"/>
                  <a:buChar char="Ø"/>
                </a:pPr>
                <a:r>
                  <a:rPr lang="en-US" dirty="0"/>
                  <a:t>Calculate </a:t>
                </a:r>
                <a:r>
                  <a:rPr lang="en-US" b="1" dirty="0"/>
                  <a:t>weighted entropy </a:t>
                </a:r>
                <a14:m>
                  <m:oMath xmlns:m="http://schemas.openxmlformats.org/officeDocument/2006/math">
                    <m:nary>
                      <m:naryPr>
                        <m:chr m:val="∑"/>
                        <m:limLoc m:val="subSup"/>
                        <m:supHide m:val="on"/>
                        <m:ctrlPr>
                          <a:rPr lang="en-US" i="1" dirty="0" smtClean="0">
                            <a:latin typeface="Cambria Math" panose="02040503050406030204" pitchFamily="18" charset="0"/>
                          </a:rPr>
                        </m:ctrlPr>
                      </m:naryPr>
                      <m:sub>
                        <m:r>
                          <m:rPr>
                            <m:brk m:alnAt="9"/>
                          </m:rPr>
                          <a:rPr lang="en-US" b="0" i="1" dirty="0" smtClean="0">
                            <a:latin typeface="Cambria Math" panose="02040503050406030204" pitchFamily="18" charset="0"/>
                          </a:rPr>
                          <m:t>𝑣</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𝑉𝑎𝑙𝑢𝑒𝑠</m:t>
                        </m:r>
                        <m:r>
                          <a:rPr lang="en-US" b="0" i="1" dirty="0" smtClean="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m:rPr>
                                <m:brk m:alnAt="9"/>
                              </m:rPr>
                              <a:rPr lang="en-US" b="0" i="1" dirty="0" smtClean="0">
                                <a:latin typeface="Cambria Math" panose="02040503050406030204" pitchFamily="18" charset="0"/>
                                <a:ea typeface="Cambria Math" panose="02040503050406030204" pitchFamily="18" charset="0"/>
                              </a:rPr>
                              <m:t>𝑥</m:t>
                            </m:r>
                          </m:e>
                          <m:sub>
                            <m:r>
                              <m:rPr>
                                <m:brk m:alnAt="9"/>
                              </m:rPr>
                              <a:rPr lang="en-US" b="0" i="1" dirty="0" smtClean="0">
                                <a:latin typeface="Cambria Math" panose="02040503050406030204" pitchFamily="18" charset="0"/>
                                <a:ea typeface="Cambria Math" panose="02040503050406030204" pitchFamily="18" charset="0"/>
                              </a:rPr>
                              <m:t>𝑗</m:t>
                            </m:r>
                          </m:sub>
                        </m:sSub>
                        <m:r>
                          <m:rPr>
                            <m:brk m:alnAt="9"/>
                          </m:rPr>
                          <a:rPr lang="en-US" b="0" i="1" dirty="0" smtClean="0">
                            <a:latin typeface="Cambria Math" panose="02040503050406030204" pitchFamily="18" charset="0"/>
                            <a:ea typeface="Cambria Math" panose="02040503050406030204" pitchFamily="18" charset="0"/>
                          </a:rPr>
                          <m:t>)</m:t>
                        </m:r>
                      </m:sub>
                      <m:sup/>
                      <m:e>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𝐷</m:t>
                                </m:r>
                              </m:e>
                              <m:sub>
                                <m:r>
                                  <a:rPr lang="en-US" b="0" i="1" dirty="0" smtClean="0">
                                    <a:latin typeface="Cambria Math" panose="02040503050406030204" pitchFamily="18" charset="0"/>
                                  </a:rPr>
                                  <m:t>𝑣</m:t>
                                </m:r>
                              </m:sub>
                            </m:sSub>
                            <m:r>
                              <a:rPr lang="en-US" b="0" i="1" dirty="0" smtClean="0">
                                <a:latin typeface="Cambria Math" panose="02040503050406030204" pitchFamily="18" charset="0"/>
                              </a:rPr>
                              <m:t>|</m:t>
                            </m:r>
                          </m:num>
                          <m:den>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m:t>
                            </m:r>
                          </m:den>
                        </m:f>
                        <m:r>
                          <a:rPr lang="en-US" i="1" dirty="0">
                            <a:latin typeface="Cambria Math" panose="02040503050406030204" pitchFamily="18" charset="0"/>
                          </a:rPr>
                          <m:t>𝐻</m:t>
                        </m:r>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𝐷</m:t>
                            </m:r>
                          </m:e>
                          <m:sub>
                            <m:r>
                              <a:rPr lang="en-US" b="0" i="1" dirty="0" smtClean="0">
                                <a:latin typeface="Cambria Math" panose="02040503050406030204" pitchFamily="18" charset="0"/>
                              </a:rPr>
                              <m:t>𝑣</m:t>
                            </m:r>
                          </m:sub>
                        </m:sSub>
                        <m:r>
                          <a:rPr lang="en-US" i="1" dirty="0">
                            <a:latin typeface="Cambria Math" panose="02040503050406030204" pitchFamily="18" charset="0"/>
                          </a:rPr>
                          <m:t>)</m:t>
                        </m:r>
                      </m:e>
                    </m:nary>
                  </m:oMath>
                </a14:m>
                <a:r>
                  <a:rPr lang="en-US" dirty="0"/>
                  <a:t> for each available features,</a:t>
                </a:r>
              </a:p>
              <a:p>
                <a:pPr lvl="1">
                  <a:buFont typeface="Wingdings" pitchFamily="2" charset="2"/>
                  <a:buChar char="Ø"/>
                </a:pPr>
                <a:r>
                  <a:rPr lang="en-US" dirty="0"/>
                  <a:t>Find the difference to get </a:t>
                </a:r>
                <a:r>
                  <a:rPr lang="en-US" b="1" dirty="0"/>
                  <a:t>Information Gain </a:t>
                </a:r>
                <a:r>
                  <a:rPr lang="en-US" dirty="0"/>
                  <a:t>for each available features:</a:t>
                </a:r>
              </a:p>
              <a:p>
                <a:pPr marL="756000" lvl="1"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𝐺𝑎𝑖𝑛</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𝐷</m:t>
                          </m:r>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𝑗</m:t>
                              </m:r>
                            </m:sub>
                          </m:sSub>
                        </m:e>
                      </m:d>
                      <m:r>
                        <a:rPr lang="en-US" i="1" dirty="0" smtClean="0">
                          <a:latin typeface="Cambria Math" panose="02040503050406030204" pitchFamily="18" charset="0"/>
                        </a:rPr>
                        <m:t>=</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𝐷</m:t>
                          </m:r>
                        </m:e>
                      </m:d>
                      <m:r>
                        <a:rPr lang="en-US" b="0" i="1" dirty="0" smtClean="0">
                          <a:latin typeface="Cambria Math" panose="02040503050406030204" pitchFamily="18" charset="0"/>
                        </a:rPr>
                        <m:t>−</m:t>
                      </m:r>
                      <m:nary>
                        <m:naryPr>
                          <m:chr m:val="∑"/>
                          <m:limLoc m:val="subSup"/>
                          <m:supHide m:val="on"/>
                          <m:ctrlPr>
                            <a:rPr lang="en-US" i="1" dirty="0">
                              <a:latin typeface="Cambria Math" panose="02040503050406030204" pitchFamily="18" charset="0"/>
                            </a:rPr>
                          </m:ctrlPr>
                        </m:naryPr>
                        <m:sub>
                          <m:r>
                            <m:rPr>
                              <m:brk m:alnAt="9"/>
                            </m:rPr>
                            <a:rPr lang="en-US" i="1" dirty="0">
                              <a:latin typeface="Cambria Math" panose="02040503050406030204" pitchFamily="18" charset="0"/>
                            </a:rPr>
                            <m:t>𝑣</m:t>
                          </m:r>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ea typeface="Cambria Math" panose="02040503050406030204" pitchFamily="18" charset="0"/>
                            </a:rPr>
                            <m:t>𝑉𝑎𝑙𝑢𝑒𝑠</m:t>
                          </m:r>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m:rPr>
                                  <m:brk m:alnAt="9"/>
                                </m:rPr>
                                <a:rPr lang="en-US" i="1" dirty="0">
                                  <a:latin typeface="Cambria Math" panose="02040503050406030204" pitchFamily="18" charset="0"/>
                                  <a:ea typeface="Cambria Math" panose="02040503050406030204" pitchFamily="18" charset="0"/>
                                </a:rPr>
                                <m:t>𝑥</m:t>
                              </m:r>
                            </m:e>
                            <m:sub>
                              <m:r>
                                <m:rPr>
                                  <m:brk m:alnAt="9"/>
                                </m:rPr>
                                <a:rPr lang="en-US" i="1" dirty="0">
                                  <a:latin typeface="Cambria Math" panose="02040503050406030204" pitchFamily="18" charset="0"/>
                                  <a:ea typeface="Cambria Math" panose="02040503050406030204" pitchFamily="18" charset="0"/>
                                </a:rPr>
                                <m:t>𝑗</m:t>
                              </m:r>
                            </m:sub>
                          </m:sSub>
                          <m:r>
                            <m:rPr>
                              <m:brk m:alnAt="9"/>
                            </m:rPr>
                            <a:rPr lang="en-US" i="1" dirty="0">
                              <a:latin typeface="Cambria Math" panose="02040503050406030204" pitchFamily="18" charset="0"/>
                              <a:ea typeface="Cambria Math" panose="02040503050406030204" pitchFamily="18" charset="0"/>
                            </a:rPr>
                            <m:t>)</m:t>
                          </m:r>
                        </m:sub>
                        <m:sup/>
                        <m:e>
                          <m:f>
                            <m:fPr>
                              <m:ctrlPr>
                                <a:rPr lang="en-US" i="1" dirty="0">
                                  <a:latin typeface="Cambria Math" panose="02040503050406030204" pitchFamily="18" charset="0"/>
                                </a:rPr>
                              </m:ctrlPr>
                            </m:fPr>
                            <m:num>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𝑣</m:t>
                                  </m:r>
                                </m:sub>
                              </m:sSub>
                              <m:r>
                                <a:rPr lang="en-US" i="1" dirty="0">
                                  <a:latin typeface="Cambria Math" panose="02040503050406030204" pitchFamily="18" charset="0"/>
                                </a:rPr>
                                <m:t>|</m:t>
                              </m:r>
                            </m:num>
                            <m:den>
                              <m:r>
                                <a:rPr lang="en-US" i="1" dirty="0">
                                  <a:latin typeface="Cambria Math" panose="02040503050406030204" pitchFamily="18" charset="0"/>
                                </a:rPr>
                                <m:t>|</m:t>
                              </m:r>
                              <m:r>
                                <a:rPr lang="en-US" i="1" dirty="0">
                                  <a:latin typeface="Cambria Math" panose="02040503050406030204" pitchFamily="18" charset="0"/>
                                </a:rPr>
                                <m:t>𝐷</m:t>
                              </m:r>
                              <m:r>
                                <a:rPr lang="en-US" i="1" dirty="0">
                                  <a:latin typeface="Cambria Math" panose="02040503050406030204" pitchFamily="18" charset="0"/>
                                </a:rPr>
                                <m:t>|</m:t>
                              </m:r>
                            </m:den>
                          </m:f>
                          <m:r>
                            <a:rPr lang="en-US" i="1" dirty="0">
                              <a:latin typeface="Cambria Math" panose="02040503050406030204" pitchFamily="18" charset="0"/>
                            </a:rPr>
                            <m:t>𝐻</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𝑣</m:t>
                              </m:r>
                            </m:sub>
                          </m:sSub>
                          <m:r>
                            <a:rPr lang="en-US" i="1" dirty="0">
                              <a:latin typeface="Cambria Math" panose="02040503050406030204" pitchFamily="18" charset="0"/>
                            </a:rPr>
                            <m:t>)</m:t>
                          </m:r>
                        </m:e>
                      </m:nary>
                    </m:oMath>
                  </m:oMathPara>
                </a14:m>
                <a:endParaRPr lang="en-US" dirty="0"/>
              </a:p>
              <a:p>
                <a:pPr lvl="1">
                  <a:buFont typeface="Wingdings" pitchFamily="2" charset="2"/>
                  <a:buChar char="Ø"/>
                </a:pPr>
                <a:r>
                  <a:rPr lang="en-US" dirty="0"/>
                  <a:t>Split the tree by the </a:t>
                </a:r>
                <a:r>
                  <a:rPr lang="en-US" b="1" dirty="0"/>
                  <a:t>highest</a:t>
                </a:r>
                <a:r>
                  <a:rPr lang="en-US" dirty="0"/>
                  <a:t> Gain.</a:t>
                </a:r>
              </a:p>
              <a:p>
                <a:endParaRPr lang="en-US" dirty="0"/>
              </a:p>
            </p:txBody>
          </p:sp>
        </mc:Choice>
        <mc:Fallback xmlns="">
          <p:sp>
            <p:nvSpPr>
              <p:cNvPr id="4" name="Content Placeholder 3">
                <a:extLst>
                  <a:ext uri="{FF2B5EF4-FFF2-40B4-BE49-F238E27FC236}">
                    <a16:creationId xmlns:a16="http://schemas.microsoft.com/office/drawing/2014/main" id="{AF41BBB9-157F-D517-3D94-83A765F5972C}"/>
                  </a:ext>
                </a:extLst>
              </p:cNvPr>
              <p:cNvSpPr>
                <a:spLocks noGrp="1" noRot="1" noChangeAspect="1" noMove="1" noResize="1" noEditPoints="1" noAdjustHandles="1" noChangeArrowheads="1" noChangeShapeType="1" noTextEdit="1"/>
              </p:cNvSpPr>
              <p:nvPr>
                <p:ph sz="quarter" idx="11"/>
              </p:nvPr>
            </p:nvSpPr>
            <p:spPr>
              <a:xfrm>
                <a:off x="2163188" y="3260663"/>
                <a:ext cx="20057623" cy="9709379"/>
              </a:xfrm>
              <a:blipFill>
                <a:blip r:embed="rId2"/>
                <a:stretch>
                  <a:fillRect l="-1329" t="-1175" b="-18146"/>
                </a:stretch>
              </a:blipFill>
            </p:spPr>
            <p:txBody>
              <a:bodyPr/>
              <a:lstStyle/>
              <a:p>
                <a:r>
                  <a:rPr lang="en-US">
                    <a:noFill/>
                  </a:rPr>
                  <a:t> </a:t>
                </a:r>
              </a:p>
            </p:txBody>
          </p:sp>
        </mc:Fallback>
      </mc:AlternateContent>
    </p:spTree>
    <p:extLst>
      <p:ext uri="{BB962C8B-B14F-4D97-AF65-F5344CB8AC3E}">
        <p14:creationId xmlns:p14="http://schemas.microsoft.com/office/powerpoint/2010/main" val="940143279"/>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4F27F-8CA8-34FF-FCCB-4FECB4655439}"/>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6DADB5E1-AC25-EC79-3952-4644DAD0A04E}"/>
              </a:ext>
            </a:extLst>
          </p:cNvPr>
          <p:cNvSpPr>
            <a:spLocks noGrp="1"/>
          </p:cNvSpPr>
          <p:nvPr>
            <p:ph type="body" sz="quarter" idx="10"/>
          </p:nvPr>
        </p:nvSpPr>
        <p:spPr/>
        <p:txBody>
          <a:bodyPr/>
          <a:lstStyle/>
          <a:p>
            <a:r>
              <a:rPr lang="en-US" dirty="0"/>
              <a:t>Tennis playing</a:t>
            </a:r>
          </a:p>
        </p:txBody>
      </p:sp>
      <p:sp>
        <p:nvSpPr>
          <p:cNvPr id="4" name="Content Placeholder 3">
            <a:extLst>
              <a:ext uri="{FF2B5EF4-FFF2-40B4-BE49-F238E27FC236}">
                <a16:creationId xmlns:a16="http://schemas.microsoft.com/office/drawing/2014/main" id="{9895488E-4863-B8D3-CD21-D62A8CB5FFD3}"/>
              </a:ext>
            </a:extLst>
          </p:cNvPr>
          <p:cNvSpPr>
            <a:spLocks noGrp="1"/>
          </p:cNvSpPr>
          <p:nvPr>
            <p:ph sz="quarter" idx="11"/>
          </p:nvPr>
        </p:nvSpPr>
        <p:spPr/>
        <p:txBody>
          <a:bodyPr/>
          <a:lstStyle/>
          <a:p>
            <a:r>
              <a:rPr lang="en-US" sz="4400" dirty="0">
                <a:latin typeface="+mj-lt"/>
              </a:rPr>
              <a:t>Given the table displaying various weather conditions, including Outlook, Temperature, Humidity, and Wind, determine whether it is advisable to play tennis under each set of conditions. Use the ID3 algorithm to construct a decision tree that models the decision-making process</a:t>
            </a:r>
          </a:p>
          <a:p>
            <a:endParaRPr lang="en-US" dirty="0"/>
          </a:p>
        </p:txBody>
      </p:sp>
      <p:graphicFrame>
        <p:nvGraphicFramePr>
          <p:cNvPr id="5" name="Tabel 2">
            <a:extLst>
              <a:ext uri="{FF2B5EF4-FFF2-40B4-BE49-F238E27FC236}">
                <a16:creationId xmlns:a16="http://schemas.microsoft.com/office/drawing/2014/main" id="{07463DE7-839A-76C2-1484-A0EA787D3C91}"/>
              </a:ext>
            </a:extLst>
          </p:cNvPr>
          <p:cNvGraphicFramePr>
            <a:graphicFrameLocks noGrp="1"/>
          </p:cNvGraphicFramePr>
          <p:nvPr>
            <p:extLst>
              <p:ext uri="{D42A27DB-BD31-4B8C-83A1-F6EECF244321}">
                <p14:modId xmlns:p14="http://schemas.microsoft.com/office/powerpoint/2010/main" val="1692648161"/>
              </p:ext>
            </p:extLst>
          </p:nvPr>
        </p:nvGraphicFramePr>
        <p:xfrm>
          <a:off x="4240017" y="6266751"/>
          <a:ext cx="16459200" cy="6370320"/>
        </p:xfrm>
        <a:graphic>
          <a:graphicData uri="http://schemas.openxmlformats.org/drawingml/2006/table">
            <a:tbl>
              <a:tblPr/>
              <a:tblGrid>
                <a:gridCol w="3291840">
                  <a:extLst>
                    <a:ext uri="{9D8B030D-6E8A-4147-A177-3AD203B41FA5}">
                      <a16:colId xmlns:a16="http://schemas.microsoft.com/office/drawing/2014/main" val="920920729"/>
                    </a:ext>
                  </a:extLst>
                </a:gridCol>
                <a:gridCol w="3291840">
                  <a:extLst>
                    <a:ext uri="{9D8B030D-6E8A-4147-A177-3AD203B41FA5}">
                      <a16:colId xmlns:a16="http://schemas.microsoft.com/office/drawing/2014/main" val="2556879564"/>
                    </a:ext>
                  </a:extLst>
                </a:gridCol>
                <a:gridCol w="3291840">
                  <a:extLst>
                    <a:ext uri="{9D8B030D-6E8A-4147-A177-3AD203B41FA5}">
                      <a16:colId xmlns:a16="http://schemas.microsoft.com/office/drawing/2014/main" val="3214381660"/>
                    </a:ext>
                  </a:extLst>
                </a:gridCol>
                <a:gridCol w="3291840">
                  <a:extLst>
                    <a:ext uri="{9D8B030D-6E8A-4147-A177-3AD203B41FA5}">
                      <a16:colId xmlns:a16="http://schemas.microsoft.com/office/drawing/2014/main" val="3061450399"/>
                    </a:ext>
                  </a:extLst>
                </a:gridCol>
                <a:gridCol w="3291840">
                  <a:extLst>
                    <a:ext uri="{9D8B030D-6E8A-4147-A177-3AD203B41FA5}">
                      <a16:colId xmlns:a16="http://schemas.microsoft.com/office/drawing/2014/main" val="3636112129"/>
                    </a:ext>
                  </a:extLst>
                </a:gridCol>
              </a:tblGrid>
              <a:tr h="0">
                <a:tc>
                  <a:txBody>
                    <a:bodyPr/>
                    <a:lstStyle/>
                    <a:p>
                      <a:pPr algn="l"/>
                      <a:r>
                        <a:rPr lang="en-US" sz="3200" dirty="0">
                          <a:solidFill>
                            <a:schemeClr val="bg2">
                              <a:lumMod val="10000"/>
                            </a:schemeClr>
                          </a:solidFill>
                          <a:effectLst/>
                        </a:rPr>
                        <a:t>Outlook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r>
                        <a:rPr lang="en-US" sz="3200" dirty="0">
                          <a:solidFill>
                            <a:schemeClr val="bg2">
                              <a:lumMod val="10000"/>
                            </a:schemeClr>
                          </a:solidFill>
                          <a:effectLst/>
                        </a:rPr>
                        <a:t>Temp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r>
                        <a:rPr lang="en-US" sz="3200" dirty="0">
                          <a:solidFill>
                            <a:schemeClr val="bg2">
                              <a:lumMod val="10000"/>
                            </a:schemeClr>
                          </a:solidFill>
                          <a:effectLst/>
                        </a:rPr>
                        <a:t>Humidity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r>
                        <a:rPr lang="en-US" sz="3200" dirty="0">
                          <a:solidFill>
                            <a:schemeClr val="bg2">
                              <a:lumMod val="10000"/>
                            </a:schemeClr>
                          </a:solidFill>
                          <a:effectLst/>
                        </a:rPr>
                        <a:t>Wind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l"/>
                      <a:r>
                        <a:rPr lang="en-US" sz="3200" dirty="0">
                          <a:solidFill>
                            <a:schemeClr val="bg2">
                              <a:lumMod val="10000"/>
                            </a:schemeClr>
                          </a:solidFill>
                          <a:effectLst/>
                        </a:rPr>
                        <a:t>Play Tennis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423941977"/>
                  </a:ext>
                </a:extLst>
              </a:tr>
              <a:tr h="0">
                <a:tc>
                  <a:txBody>
                    <a:bodyPr/>
                    <a:lstStyle/>
                    <a:p>
                      <a:pPr algn="l"/>
                      <a:r>
                        <a:rPr lang="en-US" sz="3200" dirty="0">
                          <a:solidFill>
                            <a:schemeClr val="bg2">
                              <a:lumMod val="10000"/>
                            </a:schemeClr>
                          </a:solidFill>
                          <a:effectLst/>
                        </a:rPr>
                        <a:t>Sunny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dirty="0">
                          <a:solidFill>
                            <a:schemeClr val="bg2">
                              <a:lumMod val="10000"/>
                            </a:schemeClr>
                          </a:solidFill>
                          <a:effectLst/>
                        </a:rPr>
                        <a:t>Hot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5193753"/>
                  </a:ext>
                </a:extLst>
              </a:tr>
              <a:tr h="0">
                <a:tc>
                  <a:txBody>
                    <a:bodyPr/>
                    <a:lstStyle/>
                    <a:p>
                      <a:pPr algn="l"/>
                      <a:r>
                        <a:rPr lang="en-US" sz="3200">
                          <a:solidFill>
                            <a:schemeClr val="bg2">
                              <a:lumMod val="10000"/>
                            </a:schemeClr>
                          </a:solidFill>
                          <a:effectLst/>
                        </a:rPr>
                        <a:t>Sunny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Hot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Strong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0338636"/>
                  </a:ext>
                </a:extLst>
              </a:tr>
              <a:tr h="0">
                <a:tc>
                  <a:txBody>
                    <a:bodyPr/>
                    <a:lstStyle/>
                    <a:p>
                      <a:pPr algn="l"/>
                      <a:r>
                        <a:rPr lang="en-US" sz="3200">
                          <a:solidFill>
                            <a:schemeClr val="bg2">
                              <a:lumMod val="10000"/>
                            </a:schemeClr>
                          </a:solidFill>
                          <a:effectLst/>
                        </a:rPr>
                        <a:t>Overcast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Hot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dirty="0">
                          <a:solidFill>
                            <a:schemeClr val="bg2">
                              <a:lumMod val="10000"/>
                            </a:schemeClr>
                          </a:solidFill>
                          <a:effectLst/>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9835263"/>
                  </a:ext>
                </a:extLst>
              </a:tr>
              <a:tr h="0">
                <a:tc>
                  <a:txBody>
                    <a:bodyPr/>
                    <a:lstStyle/>
                    <a:p>
                      <a:pPr algn="l"/>
                      <a:r>
                        <a:rPr lang="en-US" sz="3200">
                          <a:solidFill>
                            <a:schemeClr val="bg2">
                              <a:lumMod val="10000"/>
                            </a:schemeClr>
                          </a:solidFill>
                          <a:effectLst/>
                        </a:rPr>
                        <a:t>Rain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Mild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630768"/>
                  </a:ext>
                </a:extLst>
              </a:tr>
              <a:tr h="0">
                <a:tc>
                  <a:txBody>
                    <a:bodyPr/>
                    <a:lstStyle/>
                    <a:p>
                      <a:pPr algn="l"/>
                      <a:r>
                        <a:rPr lang="en-US" sz="3200">
                          <a:solidFill>
                            <a:schemeClr val="bg2">
                              <a:lumMod val="10000"/>
                            </a:schemeClr>
                          </a:solidFill>
                          <a:effectLst/>
                        </a:rPr>
                        <a:t>Rain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Cool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695067"/>
                  </a:ext>
                </a:extLst>
              </a:tr>
              <a:tr h="0">
                <a:tc>
                  <a:txBody>
                    <a:bodyPr/>
                    <a:lstStyle/>
                    <a:p>
                      <a:pPr algn="l"/>
                      <a:r>
                        <a:rPr lang="en-US" sz="3200">
                          <a:solidFill>
                            <a:schemeClr val="bg2">
                              <a:lumMod val="10000"/>
                            </a:schemeClr>
                          </a:solidFill>
                          <a:effectLst/>
                        </a:rPr>
                        <a:t>Rain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Cool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Strong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300826"/>
                  </a:ext>
                </a:extLst>
              </a:tr>
              <a:tr h="0">
                <a:tc>
                  <a:txBody>
                    <a:bodyPr/>
                    <a:lstStyle/>
                    <a:p>
                      <a:pPr algn="l"/>
                      <a:r>
                        <a:rPr lang="en-US" sz="3200">
                          <a:solidFill>
                            <a:schemeClr val="bg2">
                              <a:lumMod val="10000"/>
                            </a:schemeClr>
                          </a:solidFill>
                          <a:effectLst/>
                        </a:rPr>
                        <a:t>Overcast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Cool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Strong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dirty="0">
                          <a:solidFill>
                            <a:schemeClr val="bg2">
                              <a:lumMod val="10000"/>
                            </a:schemeClr>
                          </a:solidFill>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3217829"/>
                  </a:ext>
                </a:extLst>
              </a:tr>
              <a:tr h="0">
                <a:tc>
                  <a:txBody>
                    <a:bodyPr/>
                    <a:lstStyle/>
                    <a:p>
                      <a:pPr algn="l"/>
                      <a:r>
                        <a:rPr lang="en-US" sz="3200">
                          <a:solidFill>
                            <a:schemeClr val="bg2">
                              <a:lumMod val="10000"/>
                            </a:schemeClr>
                          </a:solidFill>
                          <a:effectLst/>
                        </a:rPr>
                        <a:t>Sunny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Mild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4969241"/>
                  </a:ext>
                </a:extLst>
              </a:tr>
              <a:tr h="0">
                <a:tc>
                  <a:txBody>
                    <a:bodyPr/>
                    <a:lstStyle/>
                    <a:p>
                      <a:pPr algn="l"/>
                      <a:r>
                        <a:rPr lang="en-US" sz="3200">
                          <a:solidFill>
                            <a:schemeClr val="bg2">
                              <a:lumMod val="10000"/>
                            </a:schemeClr>
                          </a:solidFill>
                          <a:effectLst/>
                        </a:rPr>
                        <a:t>Sunny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Cool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dirty="0">
                          <a:solidFill>
                            <a:schemeClr val="bg2">
                              <a:lumMod val="10000"/>
                            </a:schemeClr>
                          </a:solidFill>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7086709"/>
                  </a:ext>
                </a:extLst>
              </a:tr>
              <a:tr h="0">
                <a:tc>
                  <a:txBody>
                    <a:bodyPr/>
                    <a:lstStyle/>
                    <a:p>
                      <a:pPr algn="l"/>
                      <a:r>
                        <a:rPr lang="en-US" sz="3200">
                          <a:solidFill>
                            <a:schemeClr val="bg2">
                              <a:lumMod val="10000"/>
                            </a:schemeClr>
                          </a:solidFill>
                          <a:effectLst/>
                        </a:rPr>
                        <a:t>Rain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Mild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Normal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a:solidFill>
                            <a:schemeClr val="bg2">
                              <a:lumMod val="10000"/>
                            </a:schemeClr>
                          </a:solidFill>
                          <a:effectLst/>
                        </a:rPr>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3200" dirty="0">
                          <a:solidFill>
                            <a:schemeClr val="bg2">
                              <a:lumMod val="10000"/>
                            </a:schemeClr>
                          </a:solidFill>
                          <a:effectLst/>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0159971"/>
                  </a:ext>
                </a:extLst>
              </a:tr>
            </a:tbl>
          </a:graphicData>
        </a:graphic>
      </p:graphicFrame>
    </p:spTree>
    <p:extLst>
      <p:ext uri="{BB962C8B-B14F-4D97-AF65-F5344CB8AC3E}">
        <p14:creationId xmlns:p14="http://schemas.microsoft.com/office/powerpoint/2010/main" val="845566624"/>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21</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260663"/>
            <a:ext cx="20149698" cy="9798111"/>
          </a:xfrm>
        </p:spPr>
        <p:txBody>
          <a:bodyPr>
            <a:normAutofit/>
          </a:bodyPr>
          <a:lstStyle/>
          <a:p>
            <a:pPr>
              <a:spcBef>
                <a:spcPts val="600"/>
              </a:spcBef>
            </a:pPr>
            <a:r>
              <a:rPr lang="en-US" sz="4000" dirty="0">
                <a:latin typeface="+mj-lt"/>
              </a:rPr>
              <a:t>Peter Norvig, Stuart Russel. (2021). Artificial Intelligence: A Modern Approach. Pearson. London. ISBN: 978-1292401133. Ch. 19-20.</a:t>
            </a:r>
          </a:p>
          <a:p>
            <a:pPr>
              <a:spcBef>
                <a:spcPts val="600"/>
              </a:spcBef>
            </a:pPr>
            <a:r>
              <a:rPr lang="en-US" sz="4000" dirty="0">
                <a:latin typeface="+mj-lt"/>
              </a:rPr>
              <a:t>Grosse, R., </a:t>
            </a:r>
            <a:r>
              <a:rPr lang="en-US" sz="4000" dirty="0" err="1">
                <a:latin typeface="+mj-lt"/>
              </a:rPr>
              <a:t>Farahmand</a:t>
            </a:r>
            <a:r>
              <a:rPr lang="en-US" sz="4000" dirty="0">
                <a:latin typeface="+mj-lt"/>
              </a:rPr>
              <a:t>, A., &amp; </a:t>
            </a:r>
            <a:r>
              <a:rPr lang="en-US" sz="4000" dirty="0" err="1">
                <a:latin typeface="+mj-lt"/>
              </a:rPr>
              <a:t>Carrasquilla</a:t>
            </a:r>
            <a:r>
              <a:rPr lang="en-US" sz="4000" dirty="0">
                <a:latin typeface="+mj-lt"/>
              </a:rPr>
              <a:t>, J. (2018). Decision Trees. CSC 411 Fall 2018 Machine Learning and Data Mining. https://</a:t>
            </a:r>
            <a:r>
              <a:rPr lang="en-US" sz="4000" dirty="0" err="1">
                <a:latin typeface="+mj-lt"/>
              </a:rPr>
              <a:t>www.cs.toronto.edu</a:t>
            </a:r>
            <a:r>
              <a:rPr lang="en-US" sz="4000" dirty="0">
                <a:latin typeface="+mj-lt"/>
              </a:rPr>
              <a:t>/~</a:t>
            </a:r>
            <a:r>
              <a:rPr lang="en-US" sz="4000" dirty="0" err="1">
                <a:latin typeface="+mj-lt"/>
              </a:rPr>
              <a:t>rgrosse</a:t>
            </a:r>
            <a:r>
              <a:rPr lang="en-US" sz="4000" dirty="0">
                <a:latin typeface="+mj-lt"/>
              </a:rPr>
              <a:t>/courses/csc411_f18/slides/lec03-slides.pdf</a:t>
            </a:r>
          </a:p>
          <a:p>
            <a:pPr>
              <a:spcBef>
                <a:spcPts val="600"/>
              </a:spcBef>
            </a:pPr>
            <a:r>
              <a:rPr lang="en-US" sz="4000" dirty="0">
                <a:latin typeface="+mj-lt"/>
              </a:rPr>
              <a:t>Pearson, J. (2020). Lecture 8: Decision Trees. Introduction to Machine Learning (1DL034). https://</a:t>
            </a:r>
            <a:r>
              <a:rPr lang="en-US" sz="4000" dirty="0" err="1">
                <a:latin typeface="+mj-lt"/>
              </a:rPr>
              <a:t>user.it.uu.se</a:t>
            </a:r>
            <a:r>
              <a:rPr lang="en-US" sz="4000" dirty="0">
                <a:latin typeface="+mj-lt"/>
              </a:rPr>
              <a:t>/~</a:t>
            </a:r>
            <a:r>
              <a:rPr lang="en-US" sz="4000" dirty="0" err="1">
                <a:latin typeface="+mj-lt"/>
              </a:rPr>
              <a:t>justin</a:t>
            </a:r>
            <a:r>
              <a:rPr lang="en-US" sz="4000" dirty="0">
                <a:latin typeface="+mj-lt"/>
              </a:rPr>
              <a:t>/Assets/Teaching/</a:t>
            </a:r>
            <a:r>
              <a:rPr lang="en-US" sz="4000" dirty="0" err="1">
                <a:latin typeface="+mj-lt"/>
              </a:rPr>
              <a:t>IntroML</a:t>
            </a:r>
            <a:r>
              <a:rPr lang="en-US" sz="4000" dirty="0">
                <a:latin typeface="+mj-lt"/>
              </a:rPr>
              <a:t>/Slides/lecture8.pdf</a:t>
            </a:r>
          </a:p>
          <a:p>
            <a:pPr>
              <a:spcBef>
                <a:spcPts val="600"/>
              </a:spcBef>
            </a:pPr>
            <a:r>
              <a:rPr lang="en-US" sz="4000" dirty="0" err="1">
                <a:latin typeface="+mj-lt"/>
              </a:rPr>
              <a:t>Raschka</a:t>
            </a:r>
            <a:r>
              <a:rPr lang="en-US" sz="4000" dirty="0">
                <a:latin typeface="+mj-lt"/>
              </a:rPr>
              <a:t>, S. (2018). Lecture 6: Decision Trees. STAT 479 -- Machine Learning (Fall 2018). https://</a:t>
            </a:r>
            <a:r>
              <a:rPr lang="en-US" sz="4000" dirty="0" err="1">
                <a:latin typeface="+mj-lt"/>
              </a:rPr>
              <a:t>sebastianraschka.com</a:t>
            </a:r>
            <a:r>
              <a:rPr lang="en-US" sz="4000" dirty="0">
                <a:latin typeface="+mj-lt"/>
              </a:rPr>
              <a:t>/pdf/lecture-notes/stat479fs18/06_trees_notes.pdf</a:t>
            </a:r>
          </a:p>
          <a:p>
            <a:pPr>
              <a:spcBef>
                <a:spcPts val="600"/>
              </a:spcBef>
            </a:pPr>
            <a:endParaRPr lang="en-US" sz="4000" dirty="0">
              <a:latin typeface="+mj-lt"/>
            </a:endParaRPr>
          </a:p>
          <a:p>
            <a:pPr>
              <a:spcBef>
                <a:spcPts val="600"/>
              </a:spcBef>
            </a:pPr>
            <a:endParaRPr lang="en-US" sz="4000" dirty="0">
              <a:latin typeface="+mj-lt"/>
            </a:endParaRPr>
          </a:p>
          <a:p>
            <a:pPr>
              <a:spcBef>
                <a:spcPts val="600"/>
              </a:spcBef>
            </a:pPr>
            <a:endParaRPr lang="en-US" sz="4000" dirty="0"/>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4696</TotalTime>
  <Words>2050</Words>
  <Application>Microsoft Office PowerPoint</Application>
  <PresentationFormat>Custom</PresentationFormat>
  <Paragraphs>430</Paragraphs>
  <Slides>38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Cambria Math</vt:lpstr>
      <vt:lpstr>OCRB</vt:lpstr>
      <vt:lpstr>Arial</vt:lpstr>
      <vt:lpstr>Open Sans</vt:lpstr>
      <vt:lpstr>Open Sans Light</vt:lpstr>
      <vt:lpstr>Open Sans ExtraBold</vt:lpstr>
      <vt:lpstr>Open Sans Semibold</vt:lpstr>
      <vt:lpstr>Wingdings</vt:lpstr>
      <vt:lpstr>21_BasicWhite</vt:lpstr>
      <vt:lpstr>Decision tree</vt:lpstr>
      <vt:lpstr>Learning Outcomes</vt:lpstr>
      <vt:lpstr>outline</vt:lpstr>
      <vt:lpstr>Rule-based learning</vt:lpstr>
      <vt:lpstr>Rule-based learning</vt:lpstr>
      <vt:lpstr>Rule-based learning</vt:lpstr>
      <vt:lpstr>Rule-based learning</vt:lpstr>
      <vt:lpstr>Rule-based learning</vt:lpstr>
      <vt:lpstr>Rule-based learning</vt:lpstr>
      <vt:lpstr>Tree-terminology</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Decision tree</vt:lpstr>
      <vt:lpstr>Exercise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68</cp:revision>
  <dcterms:created xsi:type="dcterms:W3CDTF">2023-11-17T02:51:40Z</dcterms:created>
  <dcterms:modified xsi:type="dcterms:W3CDTF">2024-12-27T07:55:53Z</dcterms:modified>
</cp:coreProperties>
</file>