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0"/>
  </p:notesMasterIdLst>
  <p:sldIdLst>
    <p:sldId id="290" r:id="rId2"/>
    <p:sldId id="257" r:id="rId3"/>
    <p:sldId id="258"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6" r:id="rId30"/>
    <p:sldId id="335"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278" r:id="rId49"/>
  </p:sldIdLst>
  <p:sldSz cx="24384000" cy="13716000"/>
  <p:notesSz cx="6858000" cy="9144000"/>
  <p:embeddedFontLst>
    <p:embeddedFont>
      <p:font typeface="Cambria Math" panose="02040503050406030204" pitchFamily="18" charset="0"/>
      <p:regular r:id="rId51"/>
    </p:embeddedFont>
    <p:embeddedFont>
      <p:font typeface="OCRB" panose="020B0609020202020204" pitchFamily="49" charset="0"/>
      <p:regular r:id="rId52"/>
    </p:embeddedFont>
    <p:embeddedFont>
      <p:font typeface="Open Sans" panose="020B0606030504020204" pitchFamily="34" charset="0"/>
      <p:regular r:id="rId53"/>
      <p:bold r:id="rId54"/>
      <p:italic r:id="rId55"/>
      <p:boldItalic r:id="rId56"/>
    </p:embeddedFont>
    <p:embeddedFont>
      <p:font typeface="Open Sans ExtraBold" panose="020B0906030804020204" pitchFamily="34" charset="0"/>
      <p:bold r:id="rId57"/>
      <p:italic r:id="rId58"/>
      <p:boldItalic r:id="rId59"/>
    </p:embeddedFont>
    <p:embeddedFont>
      <p:font typeface="Open Sans Light" panose="020B0306030504020204" pitchFamily="34" charset="0"/>
      <p:regular r:id="rId60"/>
      <p:italic r:id="rId61"/>
    </p:embeddedFont>
    <p:embeddedFont>
      <p:font typeface="Open Sans Semibold" panose="020B0706030804020204" pitchFamily="34" charset="0"/>
      <p:regular r:id="rId62"/>
      <p:bold r:id="rId63"/>
      <p:italic r:id="rId64"/>
      <p:boldItalic r:id="rId6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3" autoAdjust="0"/>
    <p:restoredTop sz="90938"/>
  </p:normalViewPr>
  <p:slideViewPr>
    <p:cSldViewPr snapToGrid="0" snapToObjects="1">
      <p:cViewPr varScale="1">
        <p:scale>
          <a:sx n="31" d="100"/>
          <a:sy n="31" d="100"/>
        </p:scale>
        <p:origin x="1080" y="9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3.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err="1"/>
              <a:t>MArkov</a:t>
            </a:r>
            <a:r>
              <a:rPr lang="en-US" dirty="0"/>
              <a:t> Chain</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lstStyle/>
          <a:p>
            <a:pPr marL="0" indent="0">
              <a:buNone/>
            </a:pPr>
            <a:r>
              <a:rPr lang="en-ID" dirty="0"/>
              <a:t>At the end of this session, students will be able to:</a:t>
            </a:r>
          </a:p>
          <a:p>
            <a:r>
              <a:rPr lang="en-ID" dirty="0"/>
              <a:t>LO 4: Apply various techniques to an agent when acting under certainty</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Markov Chain</a:t>
            </a:r>
          </a:p>
          <a:p>
            <a:r>
              <a:rPr lang="en-ID" dirty="0"/>
              <a:t>Hidden Markov Chain</a:t>
            </a:r>
          </a:p>
          <a:p>
            <a:r>
              <a:rPr lang="en-ID" dirty="0"/>
              <a:t>Forward Algorithm</a:t>
            </a:r>
          </a:p>
          <a:p>
            <a:endParaRPr lang="en-ID" dirty="0"/>
          </a:p>
          <a:p>
            <a:endParaRPr lang="en-ID" dirty="0"/>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tabLst>
                    <a:tab pos="15932150" algn="l"/>
                  </a:tabLst>
                </a:pPr>
                <a:r>
                  <a:rPr lang="en-US" dirty="0">
                    <a:latin typeface="+mj-lt"/>
                  </a:rPr>
                  <a:t>Markov chains are probability models for trials of random experiments of great variety, and their defining characteristic is that they allow us to consider situations where the future evolution of the process of interest depends on where it is at present, but not on how it got there</a:t>
                </a:r>
              </a:p>
              <a:p>
                <a:pPr algn="just">
                  <a:tabLst>
                    <a:tab pos="15932150" algn="l"/>
                  </a:tabLst>
                </a:pPr>
                <a:r>
                  <a:rPr lang="en-US" dirty="0">
                    <a:latin typeface="+mj-lt"/>
                  </a:rPr>
                  <a:t>A Markov chain is a discrete-time process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latin typeface="+mj-lt"/>
                  </a:rPr>
                  <a:t> With the index set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0,1,2,…</m:t>
                        </m:r>
                      </m:e>
                    </m:d>
                  </m:oMath>
                </a14:m>
                <a:r>
                  <a:rPr lang="en-US" dirty="0">
                    <a:latin typeface="+mj-lt"/>
                  </a:rPr>
                  <a:t> with a countable state space S. </a:t>
                </a:r>
              </a:p>
              <a:p>
                <a:pPr algn="just">
                  <a:tabLst>
                    <a:tab pos="15932150" algn="l"/>
                  </a:tabLst>
                </a:pPr>
                <a:r>
                  <a:rPr lang="en-US" dirty="0">
                    <a:latin typeface="+mj-lt"/>
                  </a:rPr>
                  <a:t>Markov Chains are used to model systems (or processes) that evolve through a series of stages. At each </a:t>
                </a:r>
                <a:r>
                  <a:rPr lang="en-US" dirty="0">
                    <a:solidFill>
                      <a:srgbClr val="FF0000"/>
                    </a:solidFill>
                    <a:latin typeface="+mj-lt"/>
                  </a:rPr>
                  <a:t>stage</a:t>
                </a:r>
                <a:r>
                  <a:rPr lang="en-US" dirty="0">
                    <a:latin typeface="+mj-lt"/>
                  </a:rPr>
                  <a:t>, the system is in one of a finite number of </a:t>
                </a:r>
                <a:r>
                  <a:rPr lang="en-US" dirty="0">
                    <a:solidFill>
                      <a:srgbClr val="FF0000"/>
                    </a:solidFill>
                    <a:latin typeface="+mj-lt"/>
                  </a:rPr>
                  <a:t>states</a:t>
                </a: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r="-1456"/>
                </a:stretch>
              </a:blipFill>
            </p:spPr>
            <p:txBody>
              <a:bodyPr/>
              <a:lstStyle/>
              <a:p>
                <a:r>
                  <a:rPr lang="en-US">
                    <a:noFill/>
                  </a:rPr>
                  <a:t> </a:t>
                </a:r>
              </a:p>
            </p:txBody>
          </p:sp>
        </mc:Fallback>
      </mc:AlternateContent>
    </p:spTree>
    <p:extLst>
      <p:ext uri="{BB962C8B-B14F-4D97-AF65-F5344CB8AC3E}">
        <p14:creationId xmlns:p14="http://schemas.microsoft.com/office/powerpoint/2010/main" val="6702364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latin typeface="+mj-lt"/>
              </a:rPr>
              <a:t>The easiest way to treat sequential data would be simply to ignore the sequential aspects and treat the observation as independent and identically distributed (</a:t>
            </a:r>
            <a:r>
              <a:rPr lang="en-US" dirty="0" err="1">
                <a:solidFill>
                  <a:schemeClr val="bg2">
                    <a:lumMod val="10000"/>
                  </a:schemeClr>
                </a:solidFill>
                <a:latin typeface="+mj-lt"/>
              </a:rPr>
              <a:t>i.i.d</a:t>
            </a:r>
            <a:r>
              <a:rPr lang="en-US" dirty="0">
                <a:solidFill>
                  <a:schemeClr val="bg2">
                    <a:lumMod val="10000"/>
                  </a:schemeClr>
                </a:solidFill>
                <a:latin typeface="+mj-lt"/>
              </a:rPr>
              <a:t>).</a:t>
            </a:r>
          </a:p>
          <a:p>
            <a:pPr marL="1028700" lvl="1" indent="-571500" algn="just"/>
            <a:endParaRPr lang="en-US" sz="4400" dirty="0">
              <a:solidFill>
                <a:schemeClr val="bg2">
                  <a:lumMod val="10000"/>
                </a:schemeClr>
              </a:solidFill>
              <a:latin typeface="+mj-lt"/>
            </a:endParaRPr>
          </a:p>
          <a:p>
            <a:pPr marL="1028700" lvl="1" indent="-571500" algn="just"/>
            <a:endParaRPr lang="en-US" sz="4400" dirty="0">
              <a:solidFill>
                <a:schemeClr val="bg2">
                  <a:lumMod val="10000"/>
                </a:schemeClr>
              </a:solidFill>
              <a:latin typeface="+mj-lt"/>
            </a:endParaRPr>
          </a:p>
          <a:p>
            <a:pPr marL="1028700" lvl="1" indent="-571500" algn="just"/>
            <a:endParaRPr lang="en-US" sz="4400" dirty="0">
              <a:solidFill>
                <a:schemeClr val="bg2">
                  <a:lumMod val="10000"/>
                </a:schemeClr>
              </a:solidFill>
              <a:latin typeface="+mj-lt"/>
            </a:endParaRPr>
          </a:p>
          <a:p>
            <a:pPr algn="just"/>
            <a:r>
              <a:rPr lang="en-US" dirty="0">
                <a:solidFill>
                  <a:schemeClr val="bg2">
                    <a:lumMod val="10000"/>
                  </a:schemeClr>
                </a:solidFill>
                <a:latin typeface="+mj-lt"/>
              </a:rPr>
              <a:t>However, such approach would fail to exploit the sequential patterns in the data such as correlation between observations that are close in the sequence.</a:t>
            </a:r>
          </a:p>
          <a:p>
            <a:pPr marL="1028700" lvl="1" indent="-571500" algn="just"/>
            <a:endParaRPr lang="en-US" sz="4400" dirty="0">
              <a:solidFill>
                <a:schemeClr val="bg2">
                  <a:lumMod val="10000"/>
                </a:schemeClr>
              </a:solidFill>
              <a:latin typeface="+mj-lt"/>
            </a:endParaRPr>
          </a:p>
        </p:txBody>
      </p:sp>
      <p:pic>
        <p:nvPicPr>
          <p:cNvPr id="5" name="Gambar 6">
            <a:extLst>
              <a:ext uri="{FF2B5EF4-FFF2-40B4-BE49-F238E27FC236}">
                <a16:creationId xmlns:a16="http://schemas.microsoft.com/office/drawing/2014/main" id="{BA340AE4-8B3D-5159-19C8-A229E5C41AB9}"/>
              </a:ext>
            </a:extLst>
          </p:cNvPr>
          <p:cNvPicPr>
            <a:picLocks noChangeAspect="1"/>
          </p:cNvPicPr>
          <p:nvPr/>
        </p:nvPicPr>
        <p:blipFill>
          <a:blip r:embed="rId2"/>
          <a:stretch>
            <a:fillRect/>
          </a:stretch>
        </p:blipFill>
        <p:spPr>
          <a:xfrm>
            <a:off x="6895612" y="5913284"/>
            <a:ext cx="10592775" cy="2417916"/>
          </a:xfrm>
          <a:prstGeom prst="rect">
            <a:avLst/>
          </a:prstGeom>
        </p:spPr>
      </p:pic>
    </p:spTree>
    <p:extLst>
      <p:ext uri="{BB962C8B-B14F-4D97-AF65-F5344CB8AC3E}">
        <p14:creationId xmlns:p14="http://schemas.microsoft.com/office/powerpoint/2010/main" val="337488606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latin typeface="+mj-lt"/>
              </a:rPr>
              <a:t>As an example, consider the three-</a:t>
            </a:r>
            <a:r>
              <a:rPr lang="en-US" dirty="0" err="1">
                <a:solidFill>
                  <a:schemeClr val="bg2">
                    <a:lumMod val="10000"/>
                  </a:schemeClr>
                </a:solidFill>
                <a:latin typeface="+mj-lt"/>
              </a:rPr>
              <a:t>storey</a:t>
            </a:r>
            <a:r>
              <a:rPr lang="en-US" dirty="0">
                <a:solidFill>
                  <a:schemeClr val="bg2">
                    <a:lumMod val="10000"/>
                  </a:schemeClr>
                </a:solidFill>
                <a:latin typeface="+mj-lt"/>
              </a:rPr>
              <a:t> aviary at a local zoo which houses 300 small birds. The aviary has three levels, and the birds spend their day flying around from one favorite perch to the next. Thus, at any given time the birds seem to be randomly distributed throughout the three levels, except at feeding time when they all fly to the bottom level.</a:t>
            </a:r>
          </a:p>
          <a:p>
            <a:pPr algn="just"/>
            <a:r>
              <a:rPr lang="en-US" dirty="0">
                <a:solidFill>
                  <a:schemeClr val="bg2">
                    <a:lumMod val="10000"/>
                  </a:schemeClr>
                </a:solidFill>
                <a:latin typeface="+mj-lt"/>
              </a:rPr>
              <a:t>Our problem is to determine what the probability is of a given bird being at a given level of the aviary at a given time. Of course, the birds are always flying from one level to another, so the bird population on each level is constantly fluctuating. We shall use a Markov chain to model this situation.</a:t>
            </a:r>
          </a:p>
          <a:p>
            <a:pPr marL="1028700" lvl="1" indent="-571500" algn="just"/>
            <a:endParaRPr lang="en-US" sz="4400" dirty="0">
              <a:solidFill>
                <a:schemeClr val="bg2">
                  <a:lumMod val="10000"/>
                </a:schemeClr>
              </a:solidFill>
              <a:latin typeface="+mj-lt"/>
            </a:endParaRPr>
          </a:p>
        </p:txBody>
      </p:sp>
    </p:spTree>
    <p:extLst>
      <p:ext uri="{BB962C8B-B14F-4D97-AF65-F5344CB8AC3E}">
        <p14:creationId xmlns:p14="http://schemas.microsoft.com/office/powerpoint/2010/main" val="105522569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formulation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lnSpcReduction="10000"/>
          </a:bodyPr>
          <a:lstStyle/>
          <a:p>
            <a:pPr algn="just"/>
            <a:r>
              <a:rPr lang="en-US" dirty="0">
                <a:solidFill>
                  <a:schemeClr val="bg2">
                    <a:lumMod val="10000"/>
                  </a:schemeClr>
                </a:solidFill>
                <a:latin typeface="+mj-lt"/>
              </a:rPr>
              <a:t>Consider a 3×1 matrix</a:t>
            </a:r>
          </a:p>
          <a:p>
            <a:pPr algn="just"/>
            <a:endParaRPr lang="en-US" dirty="0">
              <a:solidFill>
                <a:schemeClr val="bg2">
                  <a:lumMod val="10000"/>
                </a:schemeClr>
              </a:solidFill>
              <a:latin typeface="+mj-lt"/>
            </a:endParaRPr>
          </a:p>
          <a:p>
            <a:pPr algn="just"/>
            <a:r>
              <a:rPr lang="en-US" dirty="0">
                <a:solidFill>
                  <a:schemeClr val="bg2">
                    <a:lumMod val="10000"/>
                  </a:schemeClr>
                </a:solidFill>
                <a:latin typeface="+mj-lt"/>
              </a:rPr>
              <a:t>Where p1 is the percentage of total birds on the first level, p2 is the percentage on the second level, and p3 is the percentage on the third level. Note that p1 + p2 + p3 = 1 = 100%.</a:t>
            </a:r>
          </a:p>
          <a:p>
            <a:pPr algn="just"/>
            <a:endParaRPr lang="en-US" dirty="0">
              <a:solidFill>
                <a:schemeClr val="bg2">
                  <a:lumMod val="10000"/>
                </a:schemeClr>
              </a:solidFill>
              <a:latin typeface="+mj-lt"/>
            </a:endParaRPr>
          </a:p>
          <a:p>
            <a:pPr algn="just"/>
            <a:r>
              <a:rPr lang="en-US" dirty="0">
                <a:solidFill>
                  <a:schemeClr val="bg2">
                    <a:lumMod val="10000"/>
                  </a:schemeClr>
                </a:solidFill>
                <a:latin typeface="+mj-lt"/>
              </a:rPr>
              <a:t>After 5 min we have new matrix</a:t>
            </a:r>
          </a:p>
          <a:p>
            <a:pPr algn="just"/>
            <a:endParaRPr lang="en-US" dirty="0">
              <a:solidFill>
                <a:schemeClr val="bg2">
                  <a:lumMod val="10000"/>
                </a:schemeClr>
              </a:solidFill>
              <a:latin typeface="+mj-lt"/>
            </a:endParaRPr>
          </a:p>
          <a:p>
            <a:pPr algn="just"/>
            <a:r>
              <a:rPr lang="en-US" dirty="0">
                <a:solidFill>
                  <a:schemeClr val="bg2">
                    <a:lumMod val="10000"/>
                  </a:schemeClr>
                </a:solidFill>
                <a:latin typeface="+mj-lt"/>
              </a:rPr>
              <a:t>Giving a new distribution of the birds</a:t>
            </a:r>
          </a:p>
          <a:p>
            <a:pPr marL="1028700" lvl="1" indent="-571500" algn="just"/>
            <a:endParaRPr lang="en-US" sz="4400" dirty="0">
              <a:solidFill>
                <a:schemeClr val="bg2">
                  <a:lumMod val="10000"/>
                </a:schemeClr>
              </a:solidFill>
              <a:latin typeface="+mj-lt"/>
            </a:endParaRPr>
          </a:p>
        </p:txBody>
      </p:sp>
      <p:pic>
        <p:nvPicPr>
          <p:cNvPr id="5" name="Picture 4">
            <a:extLst>
              <a:ext uri="{FF2B5EF4-FFF2-40B4-BE49-F238E27FC236}">
                <a16:creationId xmlns:a16="http://schemas.microsoft.com/office/drawing/2014/main" id="{FED992EA-3F6F-56B6-F1AB-B981B4C73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2139" y="2127198"/>
            <a:ext cx="2905125" cy="27336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0BE432FD-C772-C821-C5BC-15059FD3A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7064" y="7552302"/>
            <a:ext cx="3095625" cy="273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55661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formulation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latin typeface="+mj-lt"/>
                  </a:rPr>
                  <a:t>We shall assume that the change from the </a:t>
                </a:r>
                <a14:m>
                  <m:oMath xmlns:m="http://schemas.openxmlformats.org/officeDocument/2006/math">
                    <m:r>
                      <a:rPr lang="en-US" i="1" dirty="0" smtClean="0">
                        <a:solidFill>
                          <a:schemeClr val="bg2">
                            <a:lumMod val="10000"/>
                          </a:schemeClr>
                        </a:solidFill>
                        <a:latin typeface="Cambria Math" panose="02040503050406030204" pitchFamily="18" charset="0"/>
                      </a:rPr>
                      <m:t>𝑝</m:t>
                    </m:r>
                  </m:oMath>
                </a14:m>
                <a:r>
                  <a:rPr lang="en-US" dirty="0">
                    <a:solidFill>
                      <a:schemeClr val="bg2">
                        <a:lumMod val="10000"/>
                      </a:schemeClr>
                    </a:solidFill>
                    <a:latin typeface="+mj-lt"/>
                  </a:rPr>
                  <a:t> matrix to the</a:t>
                </a:r>
                <a14:m>
                  <m:oMath xmlns:m="http://schemas.openxmlformats.org/officeDocument/2006/math">
                    <m:r>
                      <a:rPr lang="en-US" i="1" dirty="0" smtClean="0">
                        <a:solidFill>
                          <a:schemeClr val="bg2">
                            <a:lumMod val="10000"/>
                          </a:schemeClr>
                        </a:solidFill>
                        <a:latin typeface="Cambria Math" panose="02040503050406030204" pitchFamily="18" charset="0"/>
                      </a:rPr>
                      <m:t> </m:t>
                    </m:r>
                    <m:sSup>
                      <m:sSupPr>
                        <m:ctrlPr>
                          <a:rPr lang="en-US" b="0" i="1" dirty="0" smtClean="0">
                            <a:solidFill>
                              <a:schemeClr val="bg2">
                                <a:lumMod val="10000"/>
                              </a:schemeClr>
                            </a:solidFill>
                            <a:latin typeface="Cambria Math" panose="02040503050406030204" pitchFamily="18" charset="0"/>
                          </a:rPr>
                        </m:ctrlPr>
                      </m:sSupPr>
                      <m:e>
                        <m:r>
                          <a:rPr lang="en-US" i="1" dirty="0" smtClean="0">
                            <a:solidFill>
                              <a:schemeClr val="bg2">
                                <a:lumMod val="10000"/>
                              </a:schemeClr>
                            </a:solidFill>
                            <a:latin typeface="Cambria Math" panose="02040503050406030204" pitchFamily="18" charset="0"/>
                          </a:rPr>
                          <m:t>𝑝</m:t>
                        </m:r>
                      </m:e>
                      <m:sup>
                        <m:r>
                          <a:rPr lang="en-US" b="0" i="1" dirty="0" smtClean="0">
                            <a:solidFill>
                              <a:schemeClr val="bg2">
                                <a:lumMod val="10000"/>
                              </a:schemeClr>
                            </a:solidFill>
                            <a:latin typeface="Cambria Math" panose="02040503050406030204" pitchFamily="18" charset="0"/>
                          </a:rPr>
                          <m:t>′</m:t>
                        </m:r>
                      </m:sup>
                    </m:sSup>
                  </m:oMath>
                </a14:m>
                <a:r>
                  <a:rPr lang="en-US" dirty="0">
                    <a:solidFill>
                      <a:schemeClr val="bg2">
                        <a:lumMod val="10000"/>
                      </a:schemeClr>
                    </a:solidFill>
                    <a:latin typeface="+mj-lt"/>
                  </a:rPr>
                  <a:t> matrix is given by a linear operator on </a:t>
                </a:r>
                <a14:m>
                  <m:oMath xmlns:m="http://schemas.openxmlformats.org/officeDocument/2006/math">
                    <m:sSup>
                      <m:sSupPr>
                        <m:ctrlPr>
                          <a:rPr lang="en-US" b="0" i="1" smtClean="0">
                            <a:solidFill>
                              <a:schemeClr val="bg2">
                                <a:lumMod val="10000"/>
                              </a:schemeClr>
                            </a:solidFill>
                            <a:latin typeface="Cambria Math" panose="02040503050406030204" pitchFamily="18" charset="0"/>
                            <a:ea typeface="Cambria Math" panose="02040503050406030204" pitchFamily="18" charset="0"/>
                          </a:rPr>
                        </m:ctrlPr>
                      </m:sSupPr>
                      <m:e>
                        <m:r>
                          <a:rPr lang="en-US" i="1" smtClean="0">
                            <a:solidFill>
                              <a:schemeClr val="bg2">
                                <a:lumMod val="10000"/>
                              </a:schemeClr>
                            </a:solidFill>
                            <a:latin typeface="Cambria Math" panose="02040503050406030204" pitchFamily="18" charset="0"/>
                            <a:ea typeface="Cambria Math" panose="02040503050406030204" pitchFamily="18" charset="0"/>
                          </a:rPr>
                          <m:t>ℝ</m:t>
                        </m:r>
                      </m:e>
                      <m:sup>
                        <m:r>
                          <a:rPr lang="en-US" b="0" i="1" smtClean="0">
                            <a:solidFill>
                              <a:schemeClr val="bg2">
                                <a:lumMod val="10000"/>
                              </a:schemeClr>
                            </a:solidFill>
                            <a:latin typeface="Cambria Math" panose="02040503050406030204" pitchFamily="18" charset="0"/>
                            <a:ea typeface="Cambria Math" panose="02040503050406030204" pitchFamily="18" charset="0"/>
                          </a:rPr>
                          <m:t>3</m:t>
                        </m:r>
                      </m:sup>
                    </m:sSup>
                  </m:oMath>
                </a14:m>
                <a:endParaRPr lang="en-US" dirty="0">
                  <a:solidFill>
                    <a:schemeClr val="bg2">
                      <a:lumMod val="10000"/>
                    </a:schemeClr>
                  </a:solidFill>
                  <a:latin typeface="+mj-lt"/>
                </a:endParaRPr>
              </a:p>
              <a:p>
                <a:pPr algn="just"/>
                <a:r>
                  <a:rPr lang="en-US" dirty="0">
                    <a:solidFill>
                      <a:schemeClr val="bg2">
                        <a:lumMod val="10000"/>
                      </a:schemeClr>
                    </a:solidFill>
                    <a:latin typeface="+mj-lt"/>
                  </a:rPr>
                  <a:t>In other words, there is a 3 × 3 matrix T, known as the transition matrix for the Markov chain, for which </a:t>
                </a:r>
              </a:p>
              <a:p>
                <a:pPr marL="0" indent="0" algn="just">
                  <a:buNone/>
                </a:pPr>
                <a14:m>
                  <m:oMathPara xmlns:m="http://schemas.openxmlformats.org/officeDocument/2006/math">
                    <m:oMathParaPr>
                      <m:jc m:val="centerGroup"/>
                    </m:oMathParaPr>
                    <m:oMath xmlns:m="http://schemas.openxmlformats.org/officeDocument/2006/math">
                      <m:sSup>
                        <m:sSupPr>
                          <m:ctrlPr>
                            <a:rPr lang="en-US" b="0" i="1" smtClean="0">
                              <a:solidFill>
                                <a:schemeClr val="bg2">
                                  <a:lumMod val="10000"/>
                                </a:schemeClr>
                              </a:solidFill>
                              <a:latin typeface="Cambria Math" panose="02040503050406030204" pitchFamily="18" charset="0"/>
                            </a:rPr>
                          </m:ctrlPr>
                        </m:sSupPr>
                        <m:e>
                          <m:r>
                            <a:rPr lang="en-US" b="0" i="1" smtClean="0">
                              <a:solidFill>
                                <a:schemeClr val="bg2">
                                  <a:lumMod val="10000"/>
                                </a:schemeClr>
                              </a:solidFill>
                              <a:latin typeface="Cambria Math" panose="02040503050406030204" pitchFamily="18" charset="0"/>
                            </a:rPr>
                            <m:t>𝑝</m:t>
                          </m:r>
                        </m:e>
                        <m:sup>
                          <m:r>
                            <a:rPr lang="en-US" b="0" i="1" smtClean="0">
                              <a:solidFill>
                                <a:schemeClr val="bg2">
                                  <a:lumMod val="10000"/>
                                </a:schemeClr>
                              </a:solidFill>
                              <a:latin typeface="Cambria Math" panose="02040503050406030204" pitchFamily="18" charset="0"/>
                            </a:rPr>
                            <m:t>′</m:t>
                          </m:r>
                        </m:sup>
                      </m:sSup>
                      <m:r>
                        <a:rPr lang="en-US" b="0" i="1" smtClean="0">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𝑇𝑝</m:t>
                      </m:r>
                    </m:oMath>
                  </m:oMathPara>
                </a14:m>
                <a:endParaRPr lang="en-US" dirty="0">
                  <a:solidFill>
                    <a:schemeClr val="bg2">
                      <a:lumMod val="10000"/>
                    </a:schemeClr>
                  </a:solidFill>
                  <a:latin typeface="+mj-lt"/>
                </a:endParaRPr>
              </a:p>
              <a:p>
                <a:pPr algn="just"/>
                <a:r>
                  <a:rPr lang="en-US" dirty="0">
                    <a:solidFill>
                      <a:schemeClr val="bg2">
                        <a:lumMod val="10000"/>
                      </a:schemeClr>
                    </a:solidFill>
                    <a:latin typeface="+mj-lt"/>
                  </a:rPr>
                  <a:t>After another 5 minutes we have another distribution</a:t>
                </a:r>
              </a:p>
              <a:p>
                <a:pPr marL="0" indent="0" algn="just">
                  <a:buNone/>
                </a:pPr>
                <a14:m>
                  <m:oMathPara xmlns:m="http://schemas.openxmlformats.org/officeDocument/2006/math">
                    <m:oMathParaPr>
                      <m:jc m:val="centerGroup"/>
                    </m:oMathParaPr>
                    <m:oMath xmlns:m="http://schemas.openxmlformats.org/officeDocument/2006/math">
                      <m:sSup>
                        <m:sSupPr>
                          <m:ctrlPr>
                            <a:rPr lang="en-US" b="0" i="1" smtClean="0">
                              <a:solidFill>
                                <a:schemeClr val="bg2">
                                  <a:lumMod val="10000"/>
                                </a:schemeClr>
                              </a:solidFill>
                              <a:latin typeface="Cambria Math" panose="02040503050406030204" pitchFamily="18" charset="0"/>
                            </a:rPr>
                          </m:ctrlPr>
                        </m:sSupPr>
                        <m:e>
                          <m:r>
                            <a:rPr lang="en-US" b="0" i="1" smtClean="0">
                              <a:solidFill>
                                <a:schemeClr val="bg2">
                                  <a:lumMod val="10000"/>
                                </a:schemeClr>
                              </a:solidFill>
                              <a:latin typeface="Cambria Math" panose="02040503050406030204" pitchFamily="18" charset="0"/>
                            </a:rPr>
                            <m:t>𝑝</m:t>
                          </m:r>
                        </m:e>
                        <m:sup>
                          <m:r>
                            <a:rPr lang="en-US" b="0" i="1" smtClean="0">
                              <a:solidFill>
                                <a:schemeClr val="bg2">
                                  <a:lumMod val="10000"/>
                                </a:schemeClr>
                              </a:solidFill>
                              <a:latin typeface="Cambria Math" panose="02040503050406030204" pitchFamily="18" charset="0"/>
                            </a:rPr>
                            <m:t>′′</m:t>
                          </m:r>
                        </m:sup>
                      </m:sSup>
                      <m:r>
                        <a:rPr lang="en-US" b="0" i="1" smtClean="0">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𝑇𝑝</m:t>
                      </m:r>
                      <m:r>
                        <a:rPr lang="en-US" b="0" i="1" smtClean="0">
                          <a:solidFill>
                            <a:schemeClr val="bg2">
                              <a:lumMod val="10000"/>
                            </a:schemeClr>
                          </a:solidFill>
                          <a:latin typeface="Cambria Math" panose="02040503050406030204" pitchFamily="18" charset="0"/>
                        </a:rPr>
                        <m:t>′</m:t>
                      </m:r>
                    </m:oMath>
                  </m:oMathPara>
                </a14:m>
                <a:endParaRPr lang="en-US" dirty="0">
                  <a:solidFill>
                    <a:schemeClr val="bg2">
                      <a:lumMod val="10000"/>
                    </a:schemeClr>
                  </a:solidFill>
                  <a:latin typeface="+mj-lt"/>
                </a:endParaRPr>
              </a:p>
              <a:p>
                <a:pPr algn="just"/>
                <a:r>
                  <a:rPr lang="en-US" dirty="0">
                    <a:solidFill>
                      <a:schemeClr val="bg2">
                        <a:lumMod val="10000"/>
                      </a:schemeClr>
                    </a:solidFill>
                    <a:latin typeface="+mj-lt"/>
                  </a:rPr>
                  <a:t>In other words, the probability of a bird moving to a particular level depends only on the </a:t>
                </a:r>
                <a:r>
                  <a:rPr lang="en-US" b="1" dirty="0">
                    <a:solidFill>
                      <a:srgbClr val="0070C0"/>
                    </a:solidFill>
                    <a:latin typeface="+mj-lt"/>
                  </a:rPr>
                  <a:t>present state of the bird</a:t>
                </a:r>
                <a:r>
                  <a:rPr lang="en-US" dirty="0">
                    <a:solidFill>
                      <a:schemeClr val="bg2">
                        <a:lumMod val="10000"/>
                      </a:schemeClr>
                    </a:solidFill>
                    <a:latin typeface="+mj-lt"/>
                  </a:rPr>
                  <a:t>, and not on any past states —it’s as if the birds had </a:t>
                </a:r>
                <a:r>
                  <a:rPr lang="en-US" b="1" dirty="0">
                    <a:solidFill>
                      <a:srgbClr val="0070C0"/>
                    </a:solidFill>
                    <a:latin typeface="+mj-lt"/>
                  </a:rPr>
                  <a:t>no memory of their past states</a:t>
                </a:r>
              </a:p>
              <a:p>
                <a:pPr algn="just"/>
                <a:endParaRPr lang="en-US" dirty="0">
                  <a:solidFill>
                    <a:schemeClr val="bg2">
                      <a:lumMod val="10000"/>
                    </a:schemeClr>
                  </a:solidFill>
                  <a:latin typeface="+mj-lt"/>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blipFill>
                <a:blip r:embed="rId2"/>
                <a:stretch>
                  <a:fillRect l="-1329" t="-1182" r="-1456"/>
                </a:stretch>
              </a:blipFill>
            </p:spPr>
            <p:txBody>
              <a:bodyPr/>
              <a:lstStyle/>
              <a:p>
                <a:r>
                  <a:rPr lang="en-US">
                    <a:noFill/>
                  </a:rPr>
                  <a:t> </a:t>
                </a:r>
              </a:p>
            </p:txBody>
          </p:sp>
        </mc:Fallback>
      </mc:AlternateContent>
    </p:spTree>
    <p:extLst>
      <p:ext uri="{BB962C8B-B14F-4D97-AF65-F5344CB8AC3E}">
        <p14:creationId xmlns:p14="http://schemas.microsoft.com/office/powerpoint/2010/main" val="86780499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formulation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latin typeface="+mj-lt"/>
              </a:rPr>
              <a:t>The matrix p described before is called a </a:t>
            </a:r>
            <a:r>
              <a:rPr lang="en-US" b="1" dirty="0">
                <a:solidFill>
                  <a:schemeClr val="bg2">
                    <a:lumMod val="10000"/>
                  </a:schemeClr>
                </a:solidFill>
                <a:latin typeface="+mj-lt"/>
              </a:rPr>
              <a:t>probability vectors</a:t>
            </a:r>
            <a:r>
              <a:rPr lang="en-US" dirty="0">
                <a:solidFill>
                  <a:schemeClr val="bg2">
                    <a:lumMod val="10000"/>
                  </a:schemeClr>
                </a:solidFill>
                <a:latin typeface="+mj-lt"/>
              </a:rPr>
              <a:t>.</a:t>
            </a:r>
          </a:p>
          <a:p>
            <a:pPr algn="just"/>
            <a:r>
              <a:rPr lang="en-US" dirty="0">
                <a:solidFill>
                  <a:schemeClr val="bg2">
                    <a:lumMod val="10000"/>
                  </a:schemeClr>
                </a:solidFill>
                <a:latin typeface="+mj-lt"/>
              </a:rPr>
              <a:t>The </a:t>
            </a:r>
            <a:r>
              <a:rPr lang="en-US" b="1" dirty="0">
                <a:solidFill>
                  <a:schemeClr val="bg2">
                    <a:lumMod val="10000"/>
                  </a:schemeClr>
                </a:solidFill>
                <a:latin typeface="+mj-lt"/>
              </a:rPr>
              <a:t>transition matrix T</a:t>
            </a:r>
            <a:r>
              <a:rPr lang="en-US" dirty="0">
                <a:solidFill>
                  <a:schemeClr val="bg2">
                    <a:lumMod val="10000"/>
                  </a:schemeClr>
                </a:solidFill>
                <a:latin typeface="+mj-lt"/>
              </a:rPr>
              <a:t> described before that takes the system from one distribution to another is a </a:t>
            </a:r>
            <a:r>
              <a:rPr lang="en-US" b="1" dirty="0">
                <a:solidFill>
                  <a:schemeClr val="bg2">
                    <a:lumMod val="10000"/>
                  </a:schemeClr>
                </a:solidFill>
                <a:latin typeface="+mj-lt"/>
              </a:rPr>
              <a:t>stochastic matrix</a:t>
            </a:r>
            <a:r>
              <a:rPr lang="en-US" dirty="0">
                <a:solidFill>
                  <a:schemeClr val="bg2">
                    <a:lumMod val="10000"/>
                  </a:schemeClr>
                </a:solidFill>
                <a:latin typeface="+mj-lt"/>
              </a:rPr>
              <a:t>.</a:t>
            </a:r>
          </a:p>
          <a:p>
            <a:pPr algn="just"/>
            <a:r>
              <a:rPr lang="en-US" dirty="0">
                <a:solidFill>
                  <a:schemeClr val="bg2">
                    <a:lumMod val="10000"/>
                  </a:schemeClr>
                </a:solidFill>
                <a:latin typeface="+mj-lt"/>
              </a:rPr>
              <a:t>Stochastic matrix is a square matrix whose columns are probability vectors</a:t>
            </a:r>
          </a:p>
        </p:txBody>
      </p:sp>
    </p:spTree>
    <p:extLst>
      <p:ext uri="{BB962C8B-B14F-4D97-AF65-F5344CB8AC3E}">
        <p14:creationId xmlns:p14="http://schemas.microsoft.com/office/powerpoint/2010/main" val="129196471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formulation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rPr>
                  <a:t>In general, a finite Markov chain is a sequence of probability vectors </a:t>
                </a:r>
                <a14:m>
                  <m:oMath xmlns:m="http://schemas.openxmlformats.org/officeDocument/2006/math">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0</m:t>
                        </m:r>
                      </m:sub>
                    </m:sSub>
                    <m:r>
                      <a:rPr lang="en-US" i="1">
                        <a:solidFill>
                          <a:schemeClr val="bg2">
                            <a:lumMod val="10000"/>
                          </a:schemeClr>
                        </a:solidFill>
                        <a:latin typeface="Cambria Math" panose="02040503050406030204" pitchFamily="18" charset="0"/>
                      </a:rPr>
                      <m:t>, </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1</m:t>
                        </m:r>
                      </m:sub>
                    </m:sSub>
                    <m:r>
                      <a:rPr lang="en-US" i="1">
                        <a:solidFill>
                          <a:schemeClr val="bg2">
                            <a:lumMod val="10000"/>
                          </a:schemeClr>
                        </a:solidFill>
                        <a:latin typeface="Cambria Math" panose="02040503050406030204" pitchFamily="18" charset="0"/>
                      </a:rPr>
                      <m:t>, </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2</m:t>
                        </m:r>
                      </m:sub>
                    </m:sSub>
                    <m:r>
                      <a:rPr lang="en-US" i="1">
                        <a:solidFill>
                          <a:schemeClr val="bg2">
                            <a:lumMod val="10000"/>
                          </a:schemeClr>
                        </a:solidFill>
                        <a:latin typeface="Cambria Math" panose="02040503050406030204" pitchFamily="18" charset="0"/>
                      </a:rPr>
                      <m:t>,…</m:t>
                    </m:r>
                  </m:oMath>
                </a14:m>
                <a:r>
                  <a:rPr lang="en-US" dirty="0">
                    <a:solidFill>
                      <a:schemeClr val="bg2">
                        <a:lumMod val="10000"/>
                      </a:schemeClr>
                    </a:solidFill>
                  </a:rPr>
                  <a:t> together with a stochastic matrix T, such that </a:t>
                </a:r>
              </a:p>
              <a:p>
                <a:pPr algn="just"/>
                <a:endParaRPr lang="en-US" dirty="0">
                  <a:solidFill>
                    <a:schemeClr val="bg2">
                      <a:lumMod val="10000"/>
                    </a:schemeClr>
                  </a:solidFill>
                </a:endParaRPr>
              </a:p>
              <a:p>
                <a:pPr marL="457200" lvl="1" indent="0" algn="just">
                  <a:buNone/>
                </a:pPr>
                <a14:m>
                  <m:oMathPara xmlns:m="http://schemas.openxmlformats.org/officeDocument/2006/math">
                    <m:oMathParaPr>
                      <m:jc m:val="centerGroup"/>
                    </m:oMathParaPr>
                    <m:oMath xmlns:m="http://schemas.openxmlformats.org/officeDocument/2006/math">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1</m:t>
                          </m:r>
                        </m:sub>
                      </m:sSub>
                      <m:r>
                        <a:rPr lang="en-US" i="1">
                          <a:solidFill>
                            <a:schemeClr val="bg2">
                              <a:lumMod val="10000"/>
                            </a:schemeClr>
                          </a:solidFill>
                          <a:latin typeface="Cambria Math" panose="02040503050406030204" pitchFamily="18" charset="0"/>
                        </a:rPr>
                        <m:t>=</m:t>
                      </m:r>
                      <m:r>
                        <a:rPr lang="en-US" i="1">
                          <a:solidFill>
                            <a:schemeClr val="bg2">
                              <a:lumMod val="10000"/>
                            </a:schemeClr>
                          </a:solidFill>
                          <a:latin typeface="Cambria Math" panose="02040503050406030204" pitchFamily="18" charset="0"/>
                        </a:rPr>
                        <m:t>𝑇</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0</m:t>
                          </m:r>
                        </m:sub>
                      </m:sSub>
                      <m:r>
                        <a:rPr lang="en-US" i="1">
                          <a:solidFill>
                            <a:schemeClr val="bg2">
                              <a:lumMod val="10000"/>
                            </a:schemeClr>
                          </a:solidFill>
                          <a:latin typeface="Cambria Math" panose="02040503050406030204" pitchFamily="18" charset="0"/>
                        </a:rPr>
                        <m:t>;</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2</m:t>
                          </m:r>
                        </m:sub>
                      </m:sSub>
                      <m:r>
                        <a:rPr lang="en-US" i="1">
                          <a:solidFill>
                            <a:schemeClr val="bg2">
                              <a:lumMod val="10000"/>
                            </a:schemeClr>
                          </a:solidFill>
                          <a:latin typeface="Cambria Math" panose="02040503050406030204" pitchFamily="18" charset="0"/>
                        </a:rPr>
                        <m:t>=</m:t>
                      </m:r>
                      <m:r>
                        <a:rPr lang="en-US" i="1">
                          <a:solidFill>
                            <a:schemeClr val="bg2">
                              <a:lumMod val="10000"/>
                            </a:schemeClr>
                          </a:solidFill>
                          <a:latin typeface="Cambria Math" panose="02040503050406030204" pitchFamily="18" charset="0"/>
                        </a:rPr>
                        <m:t>𝑇</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1</m:t>
                          </m:r>
                        </m:sub>
                      </m:sSub>
                    </m:oMath>
                  </m:oMathPara>
                </a14:m>
                <a:endParaRPr lang="en-US" dirty="0">
                  <a:solidFill>
                    <a:schemeClr val="bg2">
                      <a:lumMod val="10000"/>
                    </a:schemeClr>
                  </a:solidFill>
                </a:endParaRPr>
              </a:p>
              <a:p>
                <a:pPr marL="457200" lvl="1" indent="0" algn="just">
                  <a:buNone/>
                </a:pPr>
                <a:endParaRPr lang="en-US" dirty="0">
                  <a:solidFill>
                    <a:schemeClr val="bg2">
                      <a:lumMod val="10000"/>
                    </a:schemeClr>
                  </a:solidFill>
                </a:endParaRPr>
              </a:p>
              <a:p>
                <a:pPr algn="just"/>
                <a:r>
                  <a:rPr lang="en-US" dirty="0">
                    <a:solidFill>
                      <a:schemeClr val="bg2">
                        <a:lumMod val="10000"/>
                      </a:schemeClr>
                    </a:solidFill>
                  </a:rPr>
                  <a:t>We can rewrite above function into:</a:t>
                </a:r>
              </a:p>
              <a:p>
                <a:pPr marL="457200" lvl="1" indent="0" algn="ctr">
                  <a:buNone/>
                </a:pPr>
                <a14:m>
                  <m:oMath xmlns:m="http://schemas.openxmlformats.org/officeDocument/2006/math">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𝑛</m:t>
                        </m:r>
                        <m:r>
                          <a:rPr lang="en-US" i="1">
                            <a:solidFill>
                              <a:schemeClr val="bg2">
                                <a:lumMod val="10000"/>
                              </a:schemeClr>
                            </a:solidFill>
                            <a:latin typeface="Cambria Math" panose="02040503050406030204" pitchFamily="18" charset="0"/>
                          </a:rPr>
                          <m:t>+1</m:t>
                        </m:r>
                      </m:sub>
                    </m:sSub>
                    <m:r>
                      <a:rPr lang="en-US" i="1">
                        <a:solidFill>
                          <a:schemeClr val="bg2">
                            <a:lumMod val="10000"/>
                          </a:schemeClr>
                        </a:solidFill>
                        <a:latin typeface="Cambria Math" panose="02040503050406030204" pitchFamily="18" charset="0"/>
                      </a:rPr>
                      <m:t>=</m:t>
                    </m:r>
                    <m:r>
                      <a:rPr lang="en-US" i="1">
                        <a:solidFill>
                          <a:schemeClr val="bg2">
                            <a:lumMod val="10000"/>
                          </a:schemeClr>
                        </a:solidFill>
                        <a:latin typeface="Cambria Math" panose="02040503050406030204" pitchFamily="18" charset="0"/>
                      </a:rPr>
                      <m:t>𝑇</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𝑥</m:t>
                        </m:r>
                      </m:e>
                      <m:sub>
                        <m:r>
                          <a:rPr lang="en-US" i="1">
                            <a:solidFill>
                              <a:schemeClr val="bg2">
                                <a:lumMod val="10000"/>
                              </a:schemeClr>
                            </a:solidFill>
                            <a:latin typeface="Cambria Math" panose="02040503050406030204" pitchFamily="18" charset="0"/>
                          </a:rPr>
                          <m:t>𝑛</m:t>
                        </m:r>
                      </m:sub>
                    </m:sSub>
                    <m:r>
                      <a:rPr lang="en-US" b="0" i="0" smtClean="0">
                        <a:solidFill>
                          <a:schemeClr val="bg2">
                            <a:lumMod val="10000"/>
                          </a:schemeClr>
                        </a:solidFill>
                        <a:latin typeface="Cambria Math" panose="02040503050406030204" pitchFamily="18" charset="0"/>
                      </a:rPr>
                      <m:t> </m:t>
                    </m:r>
                  </m:oMath>
                </a14:m>
                <a:r>
                  <a:rPr lang="en-US" dirty="0">
                    <a:solidFill>
                      <a:schemeClr val="bg2">
                        <a:lumMod val="10000"/>
                      </a:schemeClr>
                    </a:solidFill>
                  </a:rPr>
                  <a:t>for n = 0,1,2,3…</a:t>
                </a:r>
              </a:p>
              <a:p>
                <a:pPr marL="457200" lvl="1" indent="0" algn="just">
                  <a:buNone/>
                </a:pPr>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r="-1456"/>
                </a:stretch>
              </a:blipFill>
            </p:spPr>
            <p:txBody>
              <a:bodyPr/>
              <a:lstStyle/>
              <a:p>
                <a:r>
                  <a:rPr lang="en-US">
                    <a:noFill/>
                  </a:rPr>
                  <a:t> </a:t>
                </a:r>
              </a:p>
            </p:txBody>
          </p:sp>
        </mc:Fallback>
      </mc:AlternateContent>
    </p:spTree>
    <p:extLst>
      <p:ext uri="{BB962C8B-B14F-4D97-AF65-F5344CB8AC3E}">
        <p14:creationId xmlns:p14="http://schemas.microsoft.com/office/powerpoint/2010/main" val="392293569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rPr>
              <a:t>Markov Model: The probability of the transition from one state to another can be packed into a transition matrix.</a:t>
            </a:r>
          </a:p>
          <a:p>
            <a:pPr algn="just"/>
            <a:r>
              <a:rPr lang="en-US" dirty="0">
                <a:solidFill>
                  <a:schemeClr val="bg2">
                    <a:lumMod val="10000"/>
                  </a:schemeClr>
                </a:solidFill>
              </a:rPr>
              <a:t>Consider a simple weather model where the weather can be either "Sunny" (S) or "Rainy" (R). The weather transitions from one day to the next according to the following Markov chain probabilities: </a:t>
            </a:r>
          </a:p>
          <a:p>
            <a:pPr lvl="1" algn="just">
              <a:buFont typeface="Wingdings" pitchFamily="2" charset="2"/>
              <a:buChar char="v"/>
            </a:pPr>
            <a:r>
              <a:rPr lang="en-US" dirty="0">
                <a:solidFill>
                  <a:schemeClr val="bg2">
                    <a:lumMod val="10000"/>
                  </a:schemeClr>
                </a:solidFill>
              </a:rPr>
              <a:t>P(Sunny tomorrow | Sunny today) = 0.9</a:t>
            </a:r>
          </a:p>
          <a:p>
            <a:pPr lvl="1" algn="just">
              <a:buFont typeface="Wingdings" pitchFamily="2" charset="2"/>
              <a:buChar char="v"/>
            </a:pPr>
            <a:r>
              <a:rPr lang="en-US" dirty="0">
                <a:solidFill>
                  <a:schemeClr val="bg2">
                    <a:lumMod val="10000"/>
                  </a:schemeClr>
                </a:solidFill>
              </a:rPr>
              <a:t>P(Rainy tomorrow | Sunny today) = 0.1</a:t>
            </a:r>
          </a:p>
          <a:p>
            <a:pPr lvl="1" algn="just">
              <a:buFont typeface="Wingdings" pitchFamily="2" charset="2"/>
              <a:buChar char="v"/>
            </a:pPr>
            <a:r>
              <a:rPr lang="en-US" dirty="0">
                <a:solidFill>
                  <a:schemeClr val="bg2">
                    <a:lumMod val="10000"/>
                  </a:schemeClr>
                </a:solidFill>
              </a:rPr>
              <a:t>P(Sunny tomorrow | Rainy today) = 0.5</a:t>
            </a:r>
          </a:p>
          <a:p>
            <a:pPr lvl="1" algn="just">
              <a:buFont typeface="Wingdings" pitchFamily="2" charset="2"/>
              <a:buChar char="v"/>
            </a:pPr>
            <a:r>
              <a:rPr lang="en-US" dirty="0">
                <a:solidFill>
                  <a:schemeClr val="bg2">
                    <a:lumMod val="10000"/>
                  </a:schemeClr>
                </a:solidFill>
              </a:rPr>
              <a:t>P(Rainy tomorrow | Rainy today) = 0.5</a:t>
            </a:r>
          </a:p>
        </p:txBody>
      </p:sp>
    </p:spTree>
    <p:extLst>
      <p:ext uri="{BB962C8B-B14F-4D97-AF65-F5344CB8AC3E}">
        <p14:creationId xmlns:p14="http://schemas.microsoft.com/office/powerpoint/2010/main" val="221127466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rPr>
              <a:t>The transition Diagram</a:t>
            </a:r>
          </a:p>
          <a:p>
            <a:pPr algn="just"/>
            <a:endParaRPr lang="en-US" dirty="0">
              <a:solidFill>
                <a:schemeClr val="bg2">
                  <a:lumMod val="10000"/>
                </a:schemeClr>
              </a:solidFill>
            </a:endParaRPr>
          </a:p>
          <a:p>
            <a:pPr algn="just"/>
            <a:endParaRPr lang="en-US" dirty="0">
              <a:solidFill>
                <a:schemeClr val="bg2">
                  <a:lumMod val="10000"/>
                </a:schemeClr>
              </a:solidFill>
            </a:endParaRPr>
          </a:p>
          <a:p>
            <a:pPr algn="just"/>
            <a:endParaRPr lang="en-US" dirty="0">
              <a:solidFill>
                <a:schemeClr val="bg2">
                  <a:lumMod val="10000"/>
                </a:schemeClr>
              </a:solidFill>
            </a:endParaRPr>
          </a:p>
          <a:p>
            <a:pPr algn="just"/>
            <a:r>
              <a:rPr lang="en-US" dirty="0">
                <a:solidFill>
                  <a:schemeClr val="bg2">
                    <a:lumMod val="10000"/>
                  </a:schemeClr>
                </a:solidFill>
              </a:rPr>
              <a:t>The transition matrix from the transition diagram</a:t>
            </a:r>
          </a:p>
          <a:p>
            <a:pPr algn="just"/>
            <a:endParaRPr lang="en-US" dirty="0">
              <a:solidFill>
                <a:schemeClr val="bg2">
                  <a:lumMod val="10000"/>
                </a:schemeClr>
              </a:solidFill>
            </a:endParaRPr>
          </a:p>
          <a:p>
            <a:pPr algn="just"/>
            <a:endParaRPr lang="en-US" dirty="0">
              <a:solidFill>
                <a:schemeClr val="bg2">
                  <a:lumMod val="10000"/>
                </a:schemeClr>
              </a:solidFill>
            </a:endParaRPr>
          </a:p>
          <a:p>
            <a:pPr algn="just"/>
            <a:r>
              <a:rPr lang="en-US" b="1" dirty="0">
                <a:solidFill>
                  <a:schemeClr val="bg2">
                    <a:lumMod val="10000"/>
                  </a:schemeClr>
                </a:solidFill>
              </a:rPr>
              <a:t>What are the probability of rainy in 2 days, if today is rainy?</a:t>
            </a:r>
          </a:p>
          <a:p>
            <a:pPr algn="just"/>
            <a:endParaRPr lang="en-US" dirty="0">
              <a:solidFill>
                <a:schemeClr val="bg2">
                  <a:lumMod val="10000"/>
                </a:schemeClr>
              </a:solidFill>
            </a:endParaRPr>
          </a:p>
          <a:p>
            <a:pPr marL="0" indent="0" algn="just">
              <a:buNone/>
            </a:pPr>
            <a:endParaRPr lang="en-US" dirty="0">
              <a:solidFill>
                <a:schemeClr val="bg2">
                  <a:lumMod val="10000"/>
                </a:schemeClr>
              </a:solidFill>
            </a:endParaRPr>
          </a:p>
        </p:txBody>
      </p:sp>
      <p:sp>
        <p:nvSpPr>
          <p:cNvPr id="29" name="Oval 28">
            <a:extLst>
              <a:ext uri="{FF2B5EF4-FFF2-40B4-BE49-F238E27FC236}">
                <a16:creationId xmlns:a16="http://schemas.microsoft.com/office/drawing/2014/main" id="{4A1D4BB0-4413-7623-6496-DCA85DC09A8F}"/>
              </a:ext>
            </a:extLst>
          </p:cNvPr>
          <p:cNvSpPr/>
          <p:nvPr/>
        </p:nvSpPr>
        <p:spPr>
          <a:xfrm>
            <a:off x="14575020" y="4494986"/>
            <a:ext cx="1558579" cy="1572478"/>
          </a:xfrm>
          <a:prstGeom prst="ellipse">
            <a:avLst/>
          </a:prstGeom>
          <a:solidFill>
            <a:schemeClr val="accent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66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28" name="Oval 27">
            <a:extLst>
              <a:ext uri="{FF2B5EF4-FFF2-40B4-BE49-F238E27FC236}">
                <a16:creationId xmlns:a16="http://schemas.microsoft.com/office/drawing/2014/main" id="{E5DBE01B-CF9B-247D-78C0-C263661437E3}"/>
              </a:ext>
            </a:extLst>
          </p:cNvPr>
          <p:cNvSpPr/>
          <p:nvPr/>
        </p:nvSpPr>
        <p:spPr>
          <a:xfrm>
            <a:off x="8432849" y="4587593"/>
            <a:ext cx="1558579" cy="1572478"/>
          </a:xfrm>
          <a:prstGeom prst="ellipse">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66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6" name="Kotak Teks 4">
            <a:extLst>
              <a:ext uri="{FF2B5EF4-FFF2-40B4-BE49-F238E27FC236}">
                <a16:creationId xmlns:a16="http://schemas.microsoft.com/office/drawing/2014/main" id="{7DC6A6C1-B866-2165-9238-5F162D075650}"/>
              </a:ext>
            </a:extLst>
          </p:cNvPr>
          <p:cNvSpPr txBox="1"/>
          <p:nvPr/>
        </p:nvSpPr>
        <p:spPr>
          <a:xfrm>
            <a:off x="8566930" y="5090491"/>
            <a:ext cx="129041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Sunny</a:t>
            </a:r>
          </a:p>
        </p:txBody>
      </p:sp>
      <p:sp>
        <p:nvSpPr>
          <p:cNvPr id="8" name="Kotak Teks 6">
            <a:extLst>
              <a:ext uri="{FF2B5EF4-FFF2-40B4-BE49-F238E27FC236}">
                <a16:creationId xmlns:a16="http://schemas.microsoft.com/office/drawing/2014/main" id="{15844F68-E33E-62AF-99BB-564BE2AD1161}"/>
              </a:ext>
            </a:extLst>
          </p:cNvPr>
          <p:cNvSpPr txBox="1"/>
          <p:nvPr/>
        </p:nvSpPr>
        <p:spPr>
          <a:xfrm>
            <a:off x="14797269" y="4987824"/>
            <a:ext cx="114614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Rainy</a:t>
            </a:r>
          </a:p>
        </p:txBody>
      </p:sp>
      <p:cxnSp>
        <p:nvCxnSpPr>
          <p:cNvPr id="9" name="Konektor Panah Lurus 8">
            <a:extLst>
              <a:ext uri="{FF2B5EF4-FFF2-40B4-BE49-F238E27FC236}">
                <a16:creationId xmlns:a16="http://schemas.microsoft.com/office/drawing/2014/main" id="{533E3B93-56A7-C3E3-BA35-3D835A52636B}"/>
              </a:ext>
            </a:extLst>
          </p:cNvPr>
          <p:cNvCxnSpPr>
            <a:cxnSpLocks/>
          </p:cNvCxnSpPr>
          <p:nvPr/>
        </p:nvCxnSpPr>
        <p:spPr>
          <a:xfrm flipV="1">
            <a:off x="9977250" y="5332026"/>
            <a:ext cx="4627983" cy="55984"/>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 name="Konektor: Melengkung 10">
            <a:extLst>
              <a:ext uri="{FF2B5EF4-FFF2-40B4-BE49-F238E27FC236}">
                <a16:creationId xmlns:a16="http://schemas.microsoft.com/office/drawing/2014/main" id="{16474810-BF9C-0DD2-6B45-FD27127D0EC6}"/>
              </a:ext>
            </a:extLst>
          </p:cNvPr>
          <p:cNvCxnSpPr>
            <a:cxnSpLocks/>
            <a:endCxn id="6" idx="1"/>
          </p:cNvCxnSpPr>
          <p:nvPr/>
        </p:nvCxnSpPr>
        <p:spPr>
          <a:xfrm rot="5400000" flipH="1">
            <a:off x="8506979" y="5447960"/>
            <a:ext cx="765111" cy="645210"/>
          </a:xfrm>
          <a:prstGeom prst="curvedConnector4">
            <a:avLst>
              <a:gd name="adj1" fmla="val -64025"/>
              <a:gd name="adj2" fmla="val 246567"/>
            </a:avLst>
          </a:prstGeom>
          <a:noFill/>
          <a:ln w="5715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1" name="Kotak Teks 18">
            <a:extLst>
              <a:ext uri="{FF2B5EF4-FFF2-40B4-BE49-F238E27FC236}">
                <a16:creationId xmlns:a16="http://schemas.microsoft.com/office/drawing/2014/main" id="{31E22C73-153D-92B3-AC8C-E70657E551E8}"/>
              </a:ext>
            </a:extLst>
          </p:cNvPr>
          <p:cNvSpPr txBox="1"/>
          <p:nvPr/>
        </p:nvSpPr>
        <p:spPr>
          <a:xfrm>
            <a:off x="16057399" y="5920801"/>
            <a:ext cx="825547"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ysClr val="windowText" lastClr="000000"/>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0.5</a:t>
            </a:r>
          </a:p>
        </p:txBody>
      </p:sp>
      <p:sp>
        <p:nvSpPr>
          <p:cNvPr id="12" name="Kotak Teks 19">
            <a:extLst>
              <a:ext uri="{FF2B5EF4-FFF2-40B4-BE49-F238E27FC236}">
                <a16:creationId xmlns:a16="http://schemas.microsoft.com/office/drawing/2014/main" id="{2A335C28-0DBC-C255-3AB2-6C98EED9B482}"/>
              </a:ext>
            </a:extLst>
          </p:cNvPr>
          <p:cNvSpPr txBox="1"/>
          <p:nvPr/>
        </p:nvSpPr>
        <p:spPr>
          <a:xfrm>
            <a:off x="11878467" y="4644274"/>
            <a:ext cx="825547"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ysClr val="windowText" lastClr="000000"/>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0.1</a:t>
            </a:r>
          </a:p>
        </p:txBody>
      </p:sp>
      <p:cxnSp>
        <p:nvCxnSpPr>
          <p:cNvPr id="13" name="Konektor Panah Lurus 23">
            <a:extLst>
              <a:ext uri="{FF2B5EF4-FFF2-40B4-BE49-F238E27FC236}">
                <a16:creationId xmlns:a16="http://schemas.microsoft.com/office/drawing/2014/main" id="{1133F823-F778-C489-19A0-344D3FA8BAFC}"/>
              </a:ext>
            </a:extLst>
          </p:cNvPr>
          <p:cNvCxnSpPr>
            <a:cxnSpLocks/>
          </p:cNvCxnSpPr>
          <p:nvPr/>
        </p:nvCxnSpPr>
        <p:spPr>
          <a:xfrm flipH="1">
            <a:off x="9753154" y="5826357"/>
            <a:ext cx="5076175" cy="102667"/>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 name="Kotak Teks 25">
            <a:extLst>
              <a:ext uri="{FF2B5EF4-FFF2-40B4-BE49-F238E27FC236}">
                <a16:creationId xmlns:a16="http://schemas.microsoft.com/office/drawing/2014/main" id="{C4A79856-0544-B387-BAAD-EE980263A784}"/>
              </a:ext>
            </a:extLst>
          </p:cNvPr>
          <p:cNvSpPr txBox="1"/>
          <p:nvPr/>
        </p:nvSpPr>
        <p:spPr>
          <a:xfrm>
            <a:off x="12030867" y="5920802"/>
            <a:ext cx="825547"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ysClr val="windowText" lastClr="000000"/>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0.5</a:t>
            </a:r>
          </a:p>
        </p:txBody>
      </p:sp>
      <p:cxnSp>
        <p:nvCxnSpPr>
          <p:cNvPr id="15" name="Konektor: Melengkung 30">
            <a:extLst>
              <a:ext uri="{FF2B5EF4-FFF2-40B4-BE49-F238E27FC236}">
                <a16:creationId xmlns:a16="http://schemas.microsoft.com/office/drawing/2014/main" id="{5DE33748-9490-226B-95CE-9A7137C8B85B}"/>
              </a:ext>
            </a:extLst>
          </p:cNvPr>
          <p:cNvCxnSpPr>
            <a:cxnSpLocks/>
          </p:cNvCxnSpPr>
          <p:nvPr/>
        </p:nvCxnSpPr>
        <p:spPr>
          <a:xfrm flipH="1">
            <a:off x="15370344" y="5285343"/>
            <a:ext cx="765110" cy="765110"/>
          </a:xfrm>
          <a:prstGeom prst="curvedConnector4">
            <a:avLst>
              <a:gd name="adj1" fmla="val -151829"/>
              <a:gd name="adj2" fmla="val 198171"/>
            </a:avLst>
          </a:prstGeom>
          <a:noFill/>
          <a:ln w="5715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Kotak Teks 33">
            <a:extLst>
              <a:ext uri="{FF2B5EF4-FFF2-40B4-BE49-F238E27FC236}">
                <a16:creationId xmlns:a16="http://schemas.microsoft.com/office/drawing/2014/main" id="{814EA408-6F4A-56BD-7B83-4D46FEC32BF4}"/>
              </a:ext>
            </a:extLst>
          </p:cNvPr>
          <p:cNvSpPr txBox="1"/>
          <p:nvPr/>
        </p:nvSpPr>
        <p:spPr>
          <a:xfrm>
            <a:off x="6871040" y="6202853"/>
            <a:ext cx="825547"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ysClr val="windowText" lastClr="000000"/>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0.9</a:t>
            </a:r>
          </a:p>
        </p:txBody>
      </p:sp>
      <p:pic>
        <p:nvPicPr>
          <p:cNvPr id="17" name="Picture 8">
            <a:extLst>
              <a:ext uri="{FF2B5EF4-FFF2-40B4-BE49-F238E27FC236}">
                <a16:creationId xmlns:a16="http://schemas.microsoft.com/office/drawing/2014/main" id="{DD363973-92A6-681B-B797-B7580E3BF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3737" y="7688152"/>
            <a:ext cx="7438418" cy="2928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35159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pPr algn="just"/>
            <a:r>
              <a:rPr lang="en-US" dirty="0">
                <a:solidFill>
                  <a:schemeClr val="bg2">
                    <a:lumMod val="10000"/>
                  </a:schemeClr>
                </a:solidFill>
              </a:rPr>
              <a:t>There are two ways to solve the problem:</a:t>
            </a:r>
          </a:p>
          <a:p>
            <a:pPr lvl="1" algn="just">
              <a:buFont typeface="Wingdings" pitchFamily="2" charset="2"/>
              <a:buChar char="Ø"/>
            </a:pPr>
            <a:r>
              <a:rPr lang="en-US" dirty="0">
                <a:solidFill>
                  <a:schemeClr val="bg2">
                    <a:lumMod val="10000"/>
                  </a:schemeClr>
                </a:solidFill>
              </a:rPr>
              <a:t>Tree diagram</a:t>
            </a:r>
          </a:p>
          <a:p>
            <a:pPr lvl="1" algn="just">
              <a:buFont typeface="Wingdings" pitchFamily="2" charset="2"/>
              <a:buChar char="Ø"/>
            </a:pPr>
            <a:r>
              <a:rPr lang="en-US" dirty="0">
                <a:solidFill>
                  <a:schemeClr val="bg2">
                    <a:lumMod val="10000"/>
                  </a:schemeClr>
                </a:solidFill>
              </a:rPr>
              <a:t>Markov Chain</a:t>
            </a:r>
          </a:p>
        </p:txBody>
      </p:sp>
    </p:spTree>
    <p:extLst>
      <p:ext uri="{BB962C8B-B14F-4D97-AF65-F5344CB8AC3E}">
        <p14:creationId xmlns:p14="http://schemas.microsoft.com/office/powerpoint/2010/main" val="379822317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 Tree diagram</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12816056" y="3260663"/>
                <a:ext cx="9404755" cy="8583279"/>
              </a:xfrm>
            </p:spPr>
            <p:txBody>
              <a:bodyPr>
                <a:noAutofit/>
              </a:bodyPr>
              <a:lstStyle/>
              <a:p>
                <a:pPr marL="0" indent="0" algn="just">
                  <a:buNone/>
                </a:pPr>
                <a:r>
                  <a:rPr lang="en-US" dirty="0">
                    <a:solidFill>
                      <a:schemeClr val="bg2">
                        <a:lumMod val="10000"/>
                      </a:schemeClr>
                    </a:solidFill>
                  </a:rPr>
                  <a:t>What are the probability of rainy in 2 days, if today is rainy?</a:t>
                </a:r>
              </a:p>
              <a:p>
                <a:pPr algn="just"/>
                <a:endParaRPr lang="en-US" dirty="0">
                  <a:solidFill>
                    <a:schemeClr val="bg2">
                      <a:lumMod val="10000"/>
                    </a:schemeClr>
                  </a:solidFill>
                </a:endParaRPr>
              </a:p>
              <a:p>
                <a:pPr marL="0" indent="0" algn="just">
                  <a:buNone/>
                </a:pPr>
                <a14:m>
                  <m:oMathPara xmlns:m="http://schemas.openxmlformats.org/officeDocument/2006/math">
                    <m:oMathParaPr>
                      <m:jc m:val="centerGroup"/>
                    </m:oMathParaPr>
                    <m:oMath xmlns:m="http://schemas.openxmlformats.org/officeDocument/2006/math">
                      <m:r>
                        <a:rPr lang="en-US" b="0" i="1" smtClean="0">
                          <a:solidFill>
                            <a:schemeClr val="bg2">
                              <a:lumMod val="10000"/>
                            </a:schemeClr>
                          </a:solidFill>
                          <a:latin typeface="Cambria Math" panose="02040503050406030204" pitchFamily="18" charset="0"/>
                        </a:rPr>
                        <m:t>𝑃</m:t>
                      </m:r>
                      <m:d>
                        <m:dPr>
                          <m:ctrlPr>
                            <a:rPr lang="en-US" b="0" i="1" smtClean="0">
                              <a:solidFill>
                                <a:schemeClr val="bg2">
                                  <a:lumMod val="10000"/>
                                </a:schemeClr>
                              </a:solidFill>
                              <a:latin typeface="Cambria Math" panose="02040503050406030204" pitchFamily="18" charset="0"/>
                            </a:rPr>
                          </m:ctrlPr>
                        </m:dPr>
                        <m:e>
                          <m:r>
                            <a:rPr lang="en-US" b="0" i="1" smtClean="0">
                              <a:solidFill>
                                <a:schemeClr val="bg2">
                                  <a:lumMod val="10000"/>
                                </a:schemeClr>
                              </a:solidFill>
                              <a:latin typeface="Cambria Math" panose="02040503050406030204" pitchFamily="18" charset="0"/>
                            </a:rPr>
                            <m:t>𝑟𝑎𝑖𝑛</m:t>
                          </m:r>
                        </m:e>
                      </m:d>
                      <m:r>
                        <a:rPr lang="en-US" b="0" i="1" smtClean="0">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𝑃</m:t>
                      </m:r>
                      <m:d>
                        <m:dPr>
                          <m:endChr m:val="|"/>
                          <m:ctrlPr>
                            <a:rPr lang="en-US" b="0" i="1" smtClean="0">
                              <a:solidFill>
                                <a:schemeClr val="bg2">
                                  <a:lumMod val="10000"/>
                                </a:schemeClr>
                              </a:solidFill>
                              <a:latin typeface="Cambria Math" panose="02040503050406030204" pitchFamily="18" charset="0"/>
                            </a:rPr>
                          </m:ctrlPr>
                        </m:dPr>
                        <m:e>
                          <m:r>
                            <a:rPr lang="en-US" b="0" i="1" smtClean="0">
                              <a:solidFill>
                                <a:schemeClr val="bg2">
                                  <a:lumMod val="10000"/>
                                </a:schemeClr>
                              </a:solidFill>
                              <a:latin typeface="Cambria Math" panose="02040503050406030204" pitchFamily="18" charset="0"/>
                            </a:rPr>
                            <m:t>𝑑𝑎𝑦</m:t>
                          </m:r>
                          <m:r>
                            <a:rPr lang="en-US" b="0" i="1" smtClean="0">
                              <a:solidFill>
                                <a:schemeClr val="bg2">
                                  <a:lumMod val="10000"/>
                                </a:schemeClr>
                              </a:solidFill>
                              <a:latin typeface="Cambria Math" panose="02040503050406030204" pitchFamily="18" charset="0"/>
                            </a:rPr>
                            <m:t> 2=</m:t>
                          </m:r>
                          <m:r>
                            <a:rPr lang="en-US" b="0" i="1" smtClean="0">
                              <a:solidFill>
                                <a:schemeClr val="bg2">
                                  <a:lumMod val="10000"/>
                                </a:schemeClr>
                              </a:solidFill>
                              <a:latin typeface="Cambria Math" panose="02040503050406030204" pitchFamily="18" charset="0"/>
                            </a:rPr>
                            <m:t>𝑟𝑎𝑖𝑛</m:t>
                          </m:r>
                          <m:r>
                            <a:rPr lang="en-US" b="0" i="1" smtClean="0">
                              <a:solidFill>
                                <a:schemeClr val="bg2">
                                  <a:lumMod val="10000"/>
                                </a:schemeClr>
                              </a:solidFill>
                              <a:latin typeface="Cambria Math" panose="02040503050406030204" pitchFamily="18" charset="0"/>
                            </a:rPr>
                            <m:t> </m:t>
                          </m:r>
                        </m:e>
                      </m:d>
                      <m:r>
                        <a:rPr lang="en-US" b="0" i="1" smtClean="0">
                          <a:solidFill>
                            <a:schemeClr val="bg2">
                              <a:lumMod val="10000"/>
                            </a:schemeClr>
                          </a:solidFill>
                          <a:latin typeface="Cambria Math" panose="02040503050406030204" pitchFamily="18" charset="0"/>
                        </a:rPr>
                        <m:t> </m:t>
                      </m:r>
                      <m:r>
                        <a:rPr lang="en-US" b="0" i="1" smtClean="0">
                          <a:solidFill>
                            <a:schemeClr val="bg2">
                              <a:lumMod val="10000"/>
                            </a:schemeClr>
                          </a:solidFill>
                          <a:latin typeface="Cambria Math" panose="02040503050406030204" pitchFamily="18" charset="0"/>
                        </a:rPr>
                        <m:t>𝑑𝑎𝑦</m:t>
                      </m:r>
                      <m:r>
                        <a:rPr lang="en-US" b="0" i="1" smtClean="0">
                          <a:solidFill>
                            <a:schemeClr val="bg2">
                              <a:lumMod val="10000"/>
                            </a:schemeClr>
                          </a:solidFill>
                          <a:latin typeface="Cambria Math" panose="02040503050406030204" pitchFamily="18" charset="0"/>
                        </a:rPr>
                        <m:t> 1=</m:t>
                      </m:r>
                      <m:r>
                        <a:rPr lang="en-US" b="0" i="1" smtClean="0">
                          <a:solidFill>
                            <a:schemeClr val="bg2">
                              <a:lumMod val="10000"/>
                            </a:schemeClr>
                          </a:solidFill>
                          <a:latin typeface="Cambria Math" panose="02040503050406030204" pitchFamily="18" charset="0"/>
                        </a:rPr>
                        <m:t>𝑠𝑢𝑛𝑛𝑦</m:t>
                      </m:r>
                      <m:r>
                        <a:rPr lang="en-US" b="0" i="1" smtClean="0">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𝑃</m:t>
                      </m:r>
                      <m:d>
                        <m:dPr>
                          <m:endChr m:val="|"/>
                          <m:ctrlPr>
                            <a:rPr lang="en-US" b="0" i="1" smtClean="0">
                              <a:solidFill>
                                <a:schemeClr val="bg2">
                                  <a:lumMod val="10000"/>
                                </a:schemeClr>
                              </a:solidFill>
                              <a:latin typeface="Cambria Math" panose="02040503050406030204" pitchFamily="18" charset="0"/>
                            </a:rPr>
                          </m:ctrlPr>
                        </m:dPr>
                        <m:e>
                          <m:r>
                            <a:rPr lang="en-US" b="0" i="1" smtClean="0">
                              <a:solidFill>
                                <a:schemeClr val="bg2">
                                  <a:lumMod val="10000"/>
                                </a:schemeClr>
                              </a:solidFill>
                              <a:latin typeface="Cambria Math" panose="02040503050406030204" pitchFamily="18" charset="0"/>
                            </a:rPr>
                            <m:t>𝑑𝑎𝑦</m:t>
                          </m:r>
                          <m:r>
                            <a:rPr lang="en-US" b="0" i="1" smtClean="0">
                              <a:solidFill>
                                <a:schemeClr val="bg2">
                                  <a:lumMod val="10000"/>
                                </a:schemeClr>
                              </a:solidFill>
                              <a:latin typeface="Cambria Math" panose="02040503050406030204" pitchFamily="18" charset="0"/>
                            </a:rPr>
                            <m:t> 2=</m:t>
                          </m:r>
                          <m:r>
                            <a:rPr lang="en-US" b="0" i="1" smtClean="0">
                              <a:solidFill>
                                <a:schemeClr val="bg2">
                                  <a:lumMod val="10000"/>
                                </a:schemeClr>
                              </a:solidFill>
                              <a:latin typeface="Cambria Math" panose="02040503050406030204" pitchFamily="18" charset="0"/>
                            </a:rPr>
                            <m:t>𝑟𝑎𝑖𝑛</m:t>
                          </m:r>
                          <m:r>
                            <a:rPr lang="en-US" b="0" i="1" smtClean="0">
                              <a:solidFill>
                                <a:schemeClr val="bg2">
                                  <a:lumMod val="10000"/>
                                </a:schemeClr>
                              </a:solidFill>
                              <a:latin typeface="Cambria Math" panose="02040503050406030204" pitchFamily="18" charset="0"/>
                            </a:rPr>
                            <m:t> </m:t>
                          </m:r>
                        </m:e>
                      </m:d>
                      <m:r>
                        <a:rPr lang="en-US" b="0" i="1" smtClean="0">
                          <a:solidFill>
                            <a:schemeClr val="bg2">
                              <a:lumMod val="10000"/>
                            </a:schemeClr>
                          </a:solidFill>
                          <a:latin typeface="Cambria Math" panose="02040503050406030204" pitchFamily="18" charset="0"/>
                        </a:rPr>
                        <m:t>𝑑𝑎𝑦</m:t>
                      </m:r>
                      <m:r>
                        <a:rPr lang="en-US" b="0" i="1" smtClean="0">
                          <a:solidFill>
                            <a:schemeClr val="bg2">
                              <a:lumMod val="10000"/>
                            </a:schemeClr>
                          </a:solidFill>
                          <a:latin typeface="Cambria Math" panose="02040503050406030204" pitchFamily="18" charset="0"/>
                        </a:rPr>
                        <m:t> 1=</m:t>
                      </m:r>
                      <m:r>
                        <a:rPr lang="en-US" b="0" i="1" smtClean="0">
                          <a:solidFill>
                            <a:schemeClr val="bg2">
                              <a:lumMod val="10000"/>
                            </a:schemeClr>
                          </a:solidFill>
                          <a:latin typeface="Cambria Math" panose="02040503050406030204" pitchFamily="18" charset="0"/>
                        </a:rPr>
                        <m:t>𝑟𝑎𝑖𝑛</m:t>
                      </m:r>
                      <m:r>
                        <a:rPr lang="en-US" b="0" i="1" smtClean="0">
                          <a:solidFill>
                            <a:schemeClr val="bg2">
                              <a:lumMod val="10000"/>
                            </a:schemeClr>
                          </a:solidFill>
                          <a:latin typeface="Cambria Math" panose="02040503050406030204" pitchFamily="18" charset="0"/>
                        </a:rPr>
                        <m:t>)</m:t>
                      </m:r>
                    </m:oMath>
                  </m:oMathPara>
                </a14:m>
                <a:endParaRPr lang="en-US" b="0" dirty="0">
                  <a:solidFill>
                    <a:schemeClr val="bg2">
                      <a:lumMod val="10000"/>
                    </a:schemeClr>
                  </a:solidFill>
                </a:endParaRPr>
              </a:p>
              <a:p>
                <a:pPr marL="0" indent="0" algn="just">
                  <a:buNone/>
                </a:pPr>
                <a:endParaRPr lang="en-US" b="0" dirty="0">
                  <a:solidFill>
                    <a:schemeClr val="bg2">
                      <a:lumMod val="10000"/>
                    </a:schemeClr>
                  </a:solidFill>
                </a:endParaRPr>
              </a:p>
              <a:p>
                <a:pPr marL="0" indent="0" algn="just">
                  <a:buNone/>
                </a:pPr>
                <a14:m>
                  <m:oMathPara xmlns:m="http://schemas.openxmlformats.org/officeDocument/2006/math">
                    <m:oMathParaPr>
                      <m:jc m:val="centerGroup"/>
                    </m:oMathParaPr>
                    <m:oMath xmlns:m="http://schemas.openxmlformats.org/officeDocument/2006/math">
                      <m:r>
                        <a:rPr lang="en-US" b="0" i="1" smtClean="0">
                          <a:solidFill>
                            <a:schemeClr val="bg2">
                              <a:lumMod val="10000"/>
                            </a:schemeClr>
                          </a:solidFill>
                          <a:latin typeface="Cambria Math" panose="02040503050406030204" pitchFamily="18" charset="0"/>
                        </a:rPr>
                        <m:t>𝑃</m:t>
                      </m:r>
                      <m:d>
                        <m:dPr>
                          <m:ctrlPr>
                            <a:rPr lang="en-US" b="0" i="1" smtClean="0">
                              <a:solidFill>
                                <a:schemeClr val="bg2">
                                  <a:lumMod val="10000"/>
                                </a:schemeClr>
                              </a:solidFill>
                              <a:latin typeface="Cambria Math" panose="02040503050406030204" pitchFamily="18" charset="0"/>
                            </a:rPr>
                          </m:ctrlPr>
                        </m:dPr>
                        <m:e>
                          <m:r>
                            <a:rPr lang="en-US" b="0" i="1" smtClean="0">
                              <a:solidFill>
                                <a:schemeClr val="bg2">
                                  <a:lumMod val="10000"/>
                                </a:schemeClr>
                              </a:solidFill>
                              <a:latin typeface="Cambria Math" panose="02040503050406030204" pitchFamily="18" charset="0"/>
                            </a:rPr>
                            <m:t>𝑟𝑎𝑖𝑛</m:t>
                          </m:r>
                        </m:e>
                      </m:d>
                      <m:r>
                        <a:rPr lang="en-US" b="0" i="1" smtClean="0">
                          <a:solidFill>
                            <a:schemeClr val="bg2">
                              <a:lumMod val="10000"/>
                            </a:schemeClr>
                          </a:solidFill>
                          <a:latin typeface="Cambria Math" panose="02040503050406030204" pitchFamily="18" charset="0"/>
                        </a:rPr>
                        <m:t>=0.5∗0.1+0.5∗0.5=</m:t>
                      </m:r>
                      <m:r>
                        <a:rPr lang="en-US" b="1" i="1" smtClean="0">
                          <a:solidFill>
                            <a:srgbClr val="0070C0"/>
                          </a:solidFill>
                          <a:latin typeface="Cambria Math" panose="02040503050406030204" pitchFamily="18" charset="0"/>
                        </a:rPr>
                        <m:t>𝟎</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𝟑</m:t>
                      </m:r>
                    </m:oMath>
                  </m:oMathPara>
                </a14:m>
                <a:endParaRPr lang="en-US" b="1"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12816056" y="3260663"/>
                <a:ext cx="9404755" cy="8583279"/>
              </a:xfrm>
              <a:blipFill>
                <a:blip r:embed="rId2"/>
                <a:stretch>
                  <a:fillRect l="-2965" t="-1329" r="-3100"/>
                </a:stretch>
              </a:blipFill>
            </p:spPr>
            <p:txBody>
              <a:bodyPr/>
              <a:lstStyle/>
              <a:p>
                <a:r>
                  <a:rPr lang="en-US">
                    <a:noFill/>
                  </a:rPr>
                  <a:t> </a:t>
                </a:r>
              </a:p>
            </p:txBody>
          </p:sp>
        </mc:Fallback>
      </mc:AlternateContent>
      <p:sp>
        <p:nvSpPr>
          <p:cNvPr id="5" name="Persegi Panjang 1">
            <a:extLst>
              <a:ext uri="{FF2B5EF4-FFF2-40B4-BE49-F238E27FC236}">
                <a16:creationId xmlns:a16="http://schemas.microsoft.com/office/drawing/2014/main" id="{DB6D3B4E-3E3B-5DF9-C2B8-D21881D438B7}"/>
              </a:ext>
            </a:extLst>
          </p:cNvPr>
          <p:cNvSpPr/>
          <p:nvPr/>
        </p:nvSpPr>
        <p:spPr>
          <a:xfrm>
            <a:off x="2163188" y="5839317"/>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6" name="Kotak Teks 2">
            <a:extLst>
              <a:ext uri="{FF2B5EF4-FFF2-40B4-BE49-F238E27FC236}">
                <a16:creationId xmlns:a16="http://schemas.microsoft.com/office/drawing/2014/main" id="{9E1B2D8C-7015-0677-B141-61488F3C2085}"/>
              </a:ext>
            </a:extLst>
          </p:cNvPr>
          <p:cNvSpPr txBox="1"/>
          <p:nvPr/>
        </p:nvSpPr>
        <p:spPr>
          <a:xfrm>
            <a:off x="2784970" y="5924136"/>
            <a:ext cx="98103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RAINY</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
        <p:nvSpPr>
          <p:cNvPr id="7" name="Persegi Panjang 4">
            <a:extLst>
              <a:ext uri="{FF2B5EF4-FFF2-40B4-BE49-F238E27FC236}">
                <a16:creationId xmlns:a16="http://schemas.microsoft.com/office/drawing/2014/main" id="{5E9AF020-B88C-CF55-B405-EDFAFC492FDF}"/>
              </a:ext>
            </a:extLst>
          </p:cNvPr>
          <p:cNvSpPr/>
          <p:nvPr/>
        </p:nvSpPr>
        <p:spPr>
          <a:xfrm>
            <a:off x="4387790" y="8390687"/>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8" name="Kotak Teks 5">
            <a:extLst>
              <a:ext uri="{FF2B5EF4-FFF2-40B4-BE49-F238E27FC236}">
                <a16:creationId xmlns:a16="http://schemas.microsoft.com/office/drawing/2014/main" id="{018F0ED5-D453-F0EB-A06C-2F3E8108AF38}"/>
              </a:ext>
            </a:extLst>
          </p:cNvPr>
          <p:cNvSpPr txBox="1"/>
          <p:nvPr/>
        </p:nvSpPr>
        <p:spPr>
          <a:xfrm>
            <a:off x="5009572" y="8452243"/>
            <a:ext cx="98103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RAINY</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
        <p:nvSpPr>
          <p:cNvPr id="9" name="Persegi Panjang 6">
            <a:extLst>
              <a:ext uri="{FF2B5EF4-FFF2-40B4-BE49-F238E27FC236}">
                <a16:creationId xmlns:a16="http://schemas.microsoft.com/office/drawing/2014/main" id="{522911EB-5D10-3B73-A702-397B6F96D19E}"/>
              </a:ext>
            </a:extLst>
          </p:cNvPr>
          <p:cNvSpPr/>
          <p:nvPr/>
        </p:nvSpPr>
        <p:spPr>
          <a:xfrm>
            <a:off x="4387790" y="3588473"/>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0" name="Kotak Teks 7">
            <a:extLst>
              <a:ext uri="{FF2B5EF4-FFF2-40B4-BE49-F238E27FC236}">
                <a16:creationId xmlns:a16="http://schemas.microsoft.com/office/drawing/2014/main" id="{2FB7CB93-728B-7238-70A5-87215C4A1340}"/>
              </a:ext>
            </a:extLst>
          </p:cNvPr>
          <p:cNvSpPr txBox="1"/>
          <p:nvPr/>
        </p:nvSpPr>
        <p:spPr>
          <a:xfrm>
            <a:off x="4933430" y="3650029"/>
            <a:ext cx="113332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SUNNY</a:t>
            </a:r>
          </a:p>
        </p:txBody>
      </p:sp>
      <p:sp>
        <p:nvSpPr>
          <p:cNvPr id="11" name="Persegi Panjang 8">
            <a:extLst>
              <a:ext uri="{FF2B5EF4-FFF2-40B4-BE49-F238E27FC236}">
                <a16:creationId xmlns:a16="http://schemas.microsoft.com/office/drawing/2014/main" id="{BB9762E5-FAE8-05F2-C973-56CC2C8C16A4}"/>
              </a:ext>
            </a:extLst>
          </p:cNvPr>
          <p:cNvSpPr/>
          <p:nvPr/>
        </p:nvSpPr>
        <p:spPr>
          <a:xfrm>
            <a:off x="9941544" y="8387518"/>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2" name="Persegi Panjang 9">
            <a:extLst>
              <a:ext uri="{FF2B5EF4-FFF2-40B4-BE49-F238E27FC236}">
                <a16:creationId xmlns:a16="http://schemas.microsoft.com/office/drawing/2014/main" id="{D3E4CFF0-53FB-1F5B-2D09-BC0F3621257C}"/>
              </a:ext>
            </a:extLst>
          </p:cNvPr>
          <p:cNvSpPr/>
          <p:nvPr/>
        </p:nvSpPr>
        <p:spPr>
          <a:xfrm>
            <a:off x="9941544" y="3585304"/>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3" name="Persegi Panjang 10">
            <a:extLst>
              <a:ext uri="{FF2B5EF4-FFF2-40B4-BE49-F238E27FC236}">
                <a16:creationId xmlns:a16="http://schemas.microsoft.com/office/drawing/2014/main" id="{FFC6A0E9-48BA-2D87-9C6D-EF039D53484D}"/>
              </a:ext>
            </a:extLst>
          </p:cNvPr>
          <p:cNvSpPr/>
          <p:nvPr/>
        </p:nvSpPr>
        <p:spPr>
          <a:xfrm>
            <a:off x="9941544" y="10791794"/>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4" name="Persegi Panjang 11">
            <a:extLst>
              <a:ext uri="{FF2B5EF4-FFF2-40B4-BE49-F238E27FC236}">
                <a16:creationId xmlns:a16="http://schemas.microsoft.com/office/drawing/2014/main" id="{3D2E5E53-7D5E-5BA7-6206-8429613486FA}"/>
              </a:ext>
            </a:extLst>
          </p:cNvPr>
          <p:cNvSpPr/>
          <p:nvPr/>
        </p:nvSpPr>
        <p:spPr>
          <a:xfrm>
            <a:off x="9941544" y="5989580"/>
            <a:ext cx="2224602" cy="595035"/>
          </a:xfrm>
          <a:prstGeom prst="rect">
            <a:avLst/>
          </a:prstGeom>
          <a:noFill/>
          <a:ln w="76200"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5" name="Kotak Teks 13">
            <a:extLst>
              <a:ext uri="{FF2B5EF4-FFF2-40B4-BE49-F238E27FC236}">
                <a16:creationId xmlns:a16="http://schemas.microsoft.com/office/drawing/2014/main" id="{7DF9C6FA-9C8A-2104-B61E-39E4B67119AF}"/>
              </a:ext>
            </a:extLst>
          </p:cNvPr>
          <p:cNvSpPr txBox="1"/>
          <p:nvPr/>
        </p:nvSpPr>
        <p:spPr>
          <a:xfrm>
            <a:off x="10563383" y="10878750"/>
            <a:ext cx="98103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RAINY</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
        <p:nvSpPr>
          <p:cNvPr id="16" name="Kotak Teks 14">
            <a:extLst>
              <a:ext uri="{FF2B5EF4-FFF2-40B4-BE49-F238E27FC236}">
                <a16:creationId xmlns:a16="http://schemas.microsoft.com/office/drawing/2014/main" id="{E6034349-724A-774C-AA13-AB8A36225BED}"/>
              </a:ext>
            </a:extLst>
          </p:cNvPr>
          <p:cNvSpPr txBox="1"/>
          <p:nvPr/>
        </p:nvSpPr>
        <p:spPr>
          <a:xfrm>
            <a:off x="10435372" y="3652696"/>
            <a:ext cx="113332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SUNNY</a:t>
            </a:r>
          </a:p>
        </p:txBody>
      </p:sp>
      <p:sp>
        <p:nvSpPr>
          <p:cNvPr id="17" name="Kotak Teks 15">
            <a:extLst>
              <a:ext uri="{FF2B5EF4-FFF2-40B4-BE49-F238E27FC236}">
                <a16:creationId xmlns:a16="http://schemas.microsoft.com/office/drawing/2014/main" id="{AF57BACB-25E5-CA4D-EF15-0B13AA60B9FA}"/>
              </a:ext>
            </a:extLst>
          </p:cNvPr>
          <p:cNvSpPr txBox="1"/>
          <p:nvPr/>
        </p:nvSpPr>
        <p:spPr>
          <a:xfrm>
            <a:off x="10487183" y="8452243"/>
            <a:ext cx="113332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SUNNY</a:t>
            </a:r>
          </a:p>
        </p:txBody>
      </p:sp>
      <p:sp>
        <p:nvSpPr>
          <p:cNvPr id="18" name="Kotak Teks 16">
            <a:extLst>
              <a:ext uri="{FF2B5EF4-FFF2-40B4-BE49-F238E27FC236}">
                <a16:creationId xmlns:a16="http://schemas.microsoft.com/office/drawing/2014/main" id="{28B393D3-E169-2465-B340-DB78478B9D60}"/>
              </a:ext>
            </a:extLst>
          </p:cNvPr>
          <p:cNvSpPr txBox="1"/>
          <p:nvPr/>
        </p:nvSpPr>
        <p:spPr>
          <a:xfrm>
            <a:off x="10562372" y="6060421"/>
            <a:ext cx="98103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RAINY</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cxnSp>
        <p:nvCxnSpPr>
          <p:cNvPr id="19" name="Konektor: Siku 18">
            <a:extLst>
              <a:ext uri="{FF2B5EF4-FFF2-40B4-BE49-F238E27FC236}">
                <a16:creationId xmlns:a16="http://schemas.microsoft.com/office/drawing/2014/main" id="{486703B6-ED49-20D9-A656-0E1EC794CF9F}"/>
              </a:ext>
            </a:extLst>
          </p:cNvPr>
          <p:cNvCxnSpPr/>
          <p:nvPr/>
        </p:nvCxnSpPr>
        <p:spPr>
          <a:xfrm rot="5400000" flipH="1" flipV="1">
            <a:off x="2852904" y="4295013"/>
            <a:ext cx="1968759" cy="1101013"/>
          </a:xfrm>
          <a:prstGeom prst="bentConnector3">
            <a:avLst>
              <a:gd name="adj1" fmla="val 99289"/>
            </a:avLst>
          </a:prstGeom>
          <a:noFill/>
          <a:ln w="5715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Konektor: Siku 23">
            <a:extLst>
              <a:ext uri="{FF2B5EF4-FFF2-40B4-BE49-F238E27FC236}">
                <a16:creationId xmlns:a16="http://schemas.microsoft.com/office/drawing/2014/main" id="{DA170379-D8B3-09EF-5F8A-C5EB5E6F28B3}"/>
              </a:ext>
            </a:extLst>
          </p:cNvPr>
          <p:cNvCxnSpPr>
            <a:stCxn id="5" idx="2"/>
            <a:endCxn id="7" idx="1"/>
          </p:cNvCxnSpPr>
          <p:nvPr/>
        </p:nvCxnSpPr>
        <p:spPr>
          <a:xfrm rot="16200000" flipH="1">
            <a:off x="2704713" y="7005127"/>
            <a:ext cx="2253853" cy="1112301"/>
          </a:xfrm>
          <a:prstGeom prst="bentConnector2">
            <a:avLst/>
          </a:prstGeom>
          <a:noFill/>
          <a:ln w="762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1" name="Konektor Panah Lurus 25">
            <a:extLst>
              <a:ext uri="{FF2B5EF4-FFF2-40B4-BE49-F238E27FC236}">
                <a16:creationId xmlns:a16="http://schemas.microsoft.com/office/drawing/2014/main" id="{A369460D-1188-B3B0-ACFB-7F4F659DA0AB}"/>
              </a:ext>
            </a:extLst>
          </p:cNvPr>
          <p:cNvCxnSpPr>
            <a:stCxn id="9" idx="3"/>
            <a:endCxn id="12" idx="1"/>
          </p:cNvCxnSpPr>
          <p:nvPr/>
        </p:nvCxnSpPr>
        <p:spPr>
          <a:xfrm flipV="1">
            <a:off x="6612392" y="3882822"/>
            <a:ext cx="3329152" cy="3169"/>
          </a:xfrm>
          <a:prstGeom prst="straightConnector1">
            <a:avLst/>
          </a:prstGeom>
          <a:noFill/>
          <a:ln w="762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2" name="Konektor: Siku 27">
            <a:extLst>
              <a:ext uri="{FF2B5EF4-FFF2-40B4-BE49-F238E27FC236}">
                <a16:creationId xmlns:a16="http://schemas.microsoft.com/office/drawing/2014/main" id="{ABD015FA-BC9B-FC9B-F954-5A93D4A5E03A}"/>
              </a:ext>
            </a:extLst>
          </p:cNvPr>
          <p:cNvCxnSpPr>
            <a:stCxn id="9" idx="3"/>
            <a:endCxn id="14" idx="1"/>
          </p:cNvCxnSpPr>
          <p:nvPr/>
        </p:nvCxnSpPr>
        <p:spPr>
          <a:xfrm>
            <a:off x="6612392" y="3885991"/>
            <a:ext cx="3329152" cy="2401107"/>
          </a:xfrm>
          <a:prstGeom prst="bentConnector3">
            <a:avLst/>
          </a:prstGeom>
          <a:noFill/>
          <a:ln w="5715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3" name="Konektor Panah Lurus 28">
            <a:extLst>
              <a:ext uri="{FF2B5EF4-FFF2-40B4-BE49-F238E27FC236}">
                <a16:creationId xmlns:a16="http://schemas.microsoft.com/office/drawing/2014/main" id="{8807C935-3118-2BE1-19F9-43178F56C466}"/>
              </a:ext>
            </a:extLst>
          </p:cNvPr>
          <p:cNvCxnSpPr/>
          <p:nvPr/>
        </p:nvCxnSpPr>
        <p:spPr>
          <a:xfrm flipV="1">
            <a:off x="6620181" y="8660183"/>
            <a:ext cx="3329152" cy="3169"/>
          </a:xfrm>
          <a:prstGeom prst="straightConnector1">
            <a:avLst/>
          </a:prstGeom>
          <a:noFill/>
          <a:ln w="762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4" name="Konektor: Siku 29">
            <a:extLst>
              <a:ext uri="{FF2B5EF4-FFF2-40B4-BE49-F238E27FC236}">
                <a16:creationId xmlns:a16="http://schemas.microsoft.com/office/drawing/2014/main" id="{E5F87371-C0A6-E8CE-BD67-2839A84BD2E9}"/>
              </a:ext>
            </a:extLst>
          </p:cNvPr>
          <p:cNvCxnSpPr/>
          <p:nvPr/>
        </p:nvCxnSpPr>
        <p:spPr>
          <a:xfrm>
            <a:off x="6620181" y="8663352"/>
            <a:ext cx="3329152" cy="2401107"/>
          </a:xfrm>
          <a:prstGeom prst="bentConnector3">
            <a:avLst/>
          </a:prstGeom>
          <a:noFill/>
          <a:ln w="5715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5" name="Kotak Teks 30">
            <a:extLst>
              <a:ext uri="{FF2B5EF4-FFF2-40B4-BE49-F238E27FC236}">
                <a16:creationId xmlns:a16="http://schemas.microsoft.com/office/drawing/2014/main" id="{740489A1-F1E4-3927-63B5-FE596EA8389F}"/>
              </a:ext>
            </a:extLst>
          </p:cNvPr>
          <p:cNvSpPr txBox="1"/>
          <p:nvPr/>
        </p:nvSpPr>
        <p:spPr>
          <a:xfrm>
            <a:off x="3468560" y="7916067"/>
            <a:ext cx="6796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0.5</a:t>
            </a:r>
          </a:p>
        </p:txBody>
      </p:sp>
      <p:sp>
        <p:nvSpPr>
          <p:cNvPr id="26" name="Kotak Teks 31">
            <a:extLst>
              <a:ext uri="{FF2B5EF4-FFF2-40B4-BE49-F238E27FC236}">
                <a16:creationId xmlns:a16="http://schemas.microsoft.com/office/drawing/2014/main" id="{5E4CFE26-DC3F-F343-A9E8-73AE6E9CEFC7}"/>
              </a:ext>
            </a:extLst>
          </p:cNvPr>
          <p:cNvSpPr txBox="1"/>
          <p:nvPr/>
        </p:nvSpPr>
        <p:spPr>
          <a:xfrm>
            <a:off x="3508864" y="4042504"/>
            <a:ext cx="6796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0.5</a:t>
            </a:r>
          </a:p>
        </p:txBody>
      </p:sp>
      <p:sp>
        <p:nvSpPr>
          <p:cNvPr id="27" name="Kotak Teks 32">
            <a:extLst>
              <a:ext uri="{FF2B5EF4-FFF2-40B4-BE49-F238E27FC236}">
                <a16:creationId xmlns:a16="http://schemas.microsoft.com/office/drawing/2014/main" id="{BCB02FE6-B616-F23F-D7C9-9D35A1BC7BF9}"/>
              </a:ext>
            </a:extLst>
          </p:cNvPr>
          <p:cNvSpPr txBox="1"/>
          <p:nvPr/>
        </p:nvSpPr>
        <p:spPr>
          <a:xfrm>
            <a:off x="8815021" y="5700929"/>
            <a:ext cx="6796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0.1</a:t>
            </a:r>
          </a:p>
        </p:txBody>
      </p:sp>
      <p:sp>
        <p:nvSpPr>
          <p:cNvPr id="28" name="Kotak Teks 33">
            <a:extLst>
              <a:ext uri="{FF2B5EF4-FFF2-40B4-BE49-F238E27FC236}">
                <a16:creationId xmlns:a16="http://schemas.microsoft.com/office/drawing/2014/main" id="{ABB2EFED-C97D-16C6-39F5-BF79DEAAC3BB}"/>
              </a:ext>
            </a:extLst>
          </p:cNvPr>
          <p:cNvSpPr txBox="1"/>
          <p:nvPr/>
        </p:nvSpPr>
        <p:spPr>
          <a:xfrm>
            <a:off x="8903782" y="10266868"/>
            <a:ext cx="6796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0.5</a:t>
            </a:r>
          </a:p>
        </p:txBody>
      </p:sp>
      <p:sp>
        <p:nvSpPr>
          <p:cNvPr id="29" name="Kotak Teks 34">
            <a:extLst>
              <a:ext uri="{FF2B5EF4-FFF2-40B4-BE49-F238E27FC236}">
                <a16:creationId xmlns:a16="http://schemas.microsoft.com/office/drawing/2014/main" id="{A739AB7E-FF44-533C-8A31-6BB613B99567}"/>
              </a:ext>
            </a:extLst>
          </p:cNvPr>
          <p:cNvSpPr txBox="1"/>
          <p:nvPr/>
        </p:nvSpPr>
        <p:spPr>
          <a:xfrm>
            <a:off x="8888160" y="7993805"/>
            <a:ext cx="6796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0.5</a:t>
            </a:r>
          </a:p>
        </p:txBody>
      </p:sp>
      <p:sp>
        <p:nvSpPr>
          <p:cNvPr id="30" name="Kotak Teks 35">
            <a:extLst>
              <a:ext uri="{FF2B5EF4-FFF2-40B4-BE49-F238E27FC236}">
                <a16:creationId xmlns:a16="http://schemas.microsoft.com/office/drawing/2014/main" id="{7E913293-8002-DBD3-CED7-65044BCF2CB0}"/>
              </a:ext>
            </a:extLst>
          </p:cNvPr>
          <p:cNvSpPr txBox="1"/>
          <p:nvPr/>
        </p:nvSpPr>
        <p:spPr>
          <a:xfrm>
            <a:off x="8097320" y="3223274"/>
            <a:ext cx="6796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0.9</a:t>
            </a:r>
          </a:p>
        </p:txBody>
      </p:sp>
      <p:sp>
        <p:nvSpPr>
          <p:cNvPr id="31" name="Kotak Teks 40">
            <a:extLst>
              <a:ext uri="{FF2B5EF4-FFF2-40B4-BE49-F238E27FC236}">
                <a16:creationId xmlns:a16="http://schemas.microsoft.com/office/drawing/2014/main" id="{59C326B9-FE7C-BB6A-4CBF-D886A8A34E07}"/>
              </a:ext>
            </a:extLst>
          </p:cNvPr>
          <p:cNvSpPr txBox="1"/>
          <p:nvPr/>
        </p:nvSpPr>
        <p:spPr>
          <a:xfrm>
            <a:off x="4556725" y="12635699"/>
            <a:ext cx="1510029"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1" i="0" u="none" strike="noStrike" cap="none" spc="0" normalizeH="0" baseline="0" dirty="0">
                <a:ln>
                  <a:noFill/>
                </a:ln>
                <a:solidFill>
                  <a:schemeClr val="bg2">
                    <a:lumMod val="10000"/>
                  </a:schemeClr>
                </a:solidFill>
                <a:effectLst/>
                <a:uFillTx/>
                <a:latin typeface="+mn-lt"/>
                <a:ea typeface="+mn-ea"/>
                <a:cs typeface="+mn-cs"/>
                <a:sym typeface="Helvetica Neue"/>
              </a:rPr>
              <a:t>Day 1</a:t>
            </a:r>
          </a:p>
        </p:txBody>
      </p:sp>
      <p:sp>
        <p:nvSpPr>
          <p:cNvPr id="32" name="Kotak Teks 41">
            <a:extLst>
              <a:ext uri="{FF2B5EF4-FFF2-40B4-BE49-F238E27FC236}">
                <a16:creationId xmlns:a16="http://schemas.microsoft.com/office/drawing/2014/main" id="{5DAEE76E-F079-879D-E4A5-F0CEF3B9D4D4}"/>
              </a:ext>
            </a:extLst>
          </p:cNvPr>
          <p:cNvSpPr txBox="1"/>
          <p:nvPr/>
        </p:nvSpPr>
        <p:spPr>
          <a:xfrm>
            <a:off x="10298830" y="12547496"/>
            <a:ext cx="1510029"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1" i="0" u="none" strike="noStrike" cap="none" spc="0" normalizeH="0" baseline="0" dirty="0">
                <a:ln>
                  <a:noFill/>
                </a:ln>
                <a:solidFill>
                  <a:schemeClr val="bg2">
                    <a:lumMod val="10000"/>
                  </a:schemeClr>
                </a:solidFill>
                <a:effectLst/>
                <a:uFillTx/>
                <a:latin typeface="+mn-lt"/>
                <a:ea typeface="+mn-ea"/>
                <a:cs typeface="+mn-cs"/>
                <a:sym typeface="Helvetica Neue"/>
              </a:rPr>
              <a:t>Day 2</a:t>
            </a:r>
          </a:p>
        </p:txBody>
      </p:sp>
      <p:cxnSp>
        <p:nvCxnSpPr>
          <p:cNvPr id="33" name="Konektor Panah Lurus 46">
            <a:extLst>
              <a:ext uri="{FF2B5EF4-FFF2-40B4-BE49-F238E27FC236}">
                <a16:creationId xmlns:a16="http://schemas.microsoft.com/office/drawing/2014/main" id="{199C2EA9-7379-6BF8-6AF3-848ED7EF84B5}"/>
              </a:ext>
            </a:extLst>
          </p:cNvPr>
          <p:cNvCxnSpPr/>
          <p:nvPr/>
        </p:nvCxnSpPr>
        <p:spPr>
          <a:xfrm flipV="1">
            <a:off x="4387790" y="4637539"/>
            <a:ext cx="0" cy="961248"/>
          </a:xfrm>
          <a:prstGeom prst="straightConnector1">
            <a:avLst/>
          </a:prstGeom>
          <a:noFill/>
          <a:ln w="38100" cap="flat">
            <a:solidFill>
              <a:srgbClr val="00B0F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34" name="Konektor Panah Lurus 47">
            <a:extLst>
              <a:ext uri="{FF2B5EF4-FFF2-40B4-BE49-F238E27FC236}">
                <a16:creationId xmlns:a16="http://schemas.microsoft.com/office/drawing/2014/main" id="{FE82A0FB-E8B8-3AD6-D85A-D0026A320356}"/>
              </a:ext>
            </a:extLst>
          </p:cNvPr>
          <p:cNvCxnSpPr>
            <a:cxnSpLocks/>
          </p:cNvCxnSpPr>
          <p:nvPr/>
        </p:nvCxnSpPr>
        <p:spPr>
          <a:xfrm>
            <a:off x="6663516" y="4203737"/>
            <a:ext cx="1433804" cy="0"/>
          </a:xfrm>
          <a:prstGeom prst="straightConnector1">
            <a:avLst/>
          </a:prstGeom>
          <a:noFill/>
          <a:ln w="38100" cap="flat">
            <a:solidFill>
              <a:srgbClr val="00B0F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35" name="Konektor Panah Lurus 49">
            <a:extLst>
              <a:ext uri="{FF2B5EF4-FFF2-40B4-BE49-F238E27FC236}">
                <a16:creationId xmlns:a16="http://schemas.microsoft.com/office/drawing/2014/main" id="{CACF2C2B-A95F-026E-07F7-644E3D95F5AE}"/>
              </a:ext>
            </a:extLst>
          </p:cNvPr>
          <p:cNvCxnSpPr>
            <a:cxnSpLocks/>
          </p:cNvCxnSpPr>
          <p:nvPr/>
        </p:nvCxnSpPr>
        <p:spPr>
          <a:xfrm flipH="1">
            <a:off x="8089531" y="4549481"/>
            <a:ext cx="7789" cy="1161367"/>
          </a:xfrm>
          <a:prstGeom prst="straightConnector1">
            <a:avLst/>
          </a:prstGeom>
          <a:noFill/>
          <a:ln w="38100" cap="flat">
            <a:solidFill>
              <a:srgbClr val="00B0F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36" name="Konektor Panah Lurus 51">
            <a:extLst>
              <a:ext uri="{FF2B5EF4-FFF2-40B4-BE49-F238E27FC236}">
                <a16:creationId xmlns:a16="http://schemas.microsoft.com/office/drawing/2014/main" id="{9C22B436-A43E-93DB-815E-9EC0DF953CBB}"/>
              </a:ext>
            </a:extLst>
          </p:cNvPr>
          <p:cNvCxnSpPr>
            <a:cxnSpLocks/>
          </p:cNvCxnSpPr>
          <p:nvPr/>
        </p:nvCxnSpPr>
        <p:spPr>
          <a:xfrm>
            <a:off x="8436213" y="6744297"/>
            <a:ext cx="1278012" cy="0"/>
          </a:xfrm>
          <a:prstGeom prst="straightConnector1">
            <a:avLst/>
          </a:prstGeom>
          <a:noFill/>
          <a:ln w="38100" cap="flat">
            <a:solidFill>
              <a:srgbClr val="00B0F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37" name="Konektor Panah Lurus 53">
            <a:extLst>
              <a:ext uri="{FF2B5EF4-FFF2-40B4-BE49-F238E27FC236}">
                <a16:creationId xmlns:a16="http://schemas.microsoft.com/office/drawing/2014/main" id="{02C2E986-1E70-A9B5-C70C-F26DCDE5F889}"/>
              </a:ext>
            </a:extLst>
          </p:cNvPr>
          <p:cNvCxnSpPr>
            <a:cxnSpLocks/>
          </p:cNvCxnSpPr>
          <p:nvPr/>
        </p:nvCxnSpPr>
        <p:spPr>
          <a:xfrm>
            <a:off x="3077588" y="7103165"/>
            <a:ext cx="0" cy="1226169"/>
          </a:xfrm>
          <a:prstGeom prst="straightConnector1">
            <a:avLst/>
          </a:prstGeom>
          <a:noFill/>
          <a:ln w="38100" cap="flat">
            <a:solidFill>
              <a:srgbClr val="00B05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38" name="Konektor Panah Lurus 55">
            <a:extLst>
              <a:ext uri="{FF2B5EF4-FFF2-40B4-BE49-F238E27FC236}">
                <a16:creationId xmlns:a16="http://schemas.microsoft.com/office/drawing/2014/main" id="{BF90B5B0-F972-C075-3E50-3B18873968F6}"/>
              </a:ext>
            </a:extLst>
          </p:cNvPr>
          <p:cNvCxnSpPr>
            <a:cxnSpLocks/>
          </p:cNvCxnSpPr>
          <p:nvPr/>
        </p:nvCxnSpPr>
        <p:spPr>
          <a:xfrm>
            <a:off x="3489397" y="9405943"/>
            <a:ext cx="3678915" cy="0"/>
          </a:xfrm>
          <a:prstGeom prst="straightConnector1">
            <a:avLst/>
          </a:prstGeom>
          <a:noFill/>
          <a:ln w="38100" cap="flat">
            <a:solidFill>
              <a:srgbClr val="00B05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39" name="Konektor Panah Lurus 57">
            <a:extLst>
              <a:ext uri="{FF2B5EF4-FFF2-40B4-BE49-F238E27FC236}">
                <a16:creationId xmlns:a16="http://schemas.microsoft.com/office/drawing/2014/main" id="{ED657EDE-B89D-18B4-C7B0-F6F882864732}"/>
              </a:ext>
            </a:extLst>
          </p:cNvPr>
          <p:cNvCxnSpPr>
            <a:cxnSpLocks/>
          </p:cNvCxnSpPr>
          <p:nvPr/>
        </p:nvCxnSpPr>
        <p:spPr>
          <a:xfrm>
            <a:off x="8024404" y="9286587"/>
            <a:ext cx="0" cy="1226169"/>
          </a:xfrm>
          <a:prstGeom prst="straightConnector1">
            <a:avLst/>
          </a:prstGeom>
          <a:noFill/>
          <a:ln w="38100" cap="flat">
            <a:solidFill>
              <a:srgbClr val="00B05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40" name="Konektor Panah Lurus 58">
            <a:extLst>
              <a:ext uri="{FF2B5EF4-FFF2-40B4-BE49-F238E27FC236}">
                <a16:creationId xmlns:a16="http://schemas.microsoft.com/office/drawing/2014/main" id="{40B179F7-B234-5C34-7473-5F6836682DEA}"/>
              </a:ext>
            </a:extLst>
          </p:cNvPr>
          <p:cNvCxnSpPr>
            <a:cxnSpLocks/>
          </p:cNvCxnSpPr>
          <p:nvPr/>
        </p:nvCxnSpPr>
        <p:spPr>
          <a:xfrm>
            <a:off x="8436213" y="11589365"/>
            <a:ext cx="1278012" cy="0"/>
          </a:xfrm>
          <a:prstGeom prst="straightConnector1">
            <a:avLst/>
          </a:prstGeom>
          <a:noFill/>
          <a:ln w="38100" cap="flat">
            <a:solidFill>
              <a:srgbClr val="00B050"/>
            </a:solidFill>
            <a:prstDash val="sysDash"/>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9068131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Markov Chain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 Markov chain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464737"/>
              </a:xfrm>
            </p:spPr>
            <p:txBody>
              <a:bodyPr>
                <a:normAutofit/>
              </a:bodyPr>
              <a:lstStyle/>
              <a:p>
                <a:pPr algn="just"/>
                <a:r>
                  <a:rPr lang="en-US" dirty="0">
                    <a:solidFill>
                      <a:schemeClr val="bg2">
                        <a:lumMod val="10000"/>
                      </a:schemeClr>
                    </a:solidFill>
                  </a:rPr>
                  <a:t>Define the state </a:t>
                </a:r>
                <a14:m>
                  <m:oMath xmlns:m="http://schemas.openxmlformats.org/officeDocument/2006/math">
                    <m:sSub>
                      <m:sSubPr>
                        <m:ctrlPr>
                          <a:rPr lang="en-US" sz="4400" i="1" dirty="0" smtClean="0">
                            <a:solidFill>
                              <a:schemeClr val="bg2">
                                <a:lumMod val="10000"/>
                              </a:schemeClr>
                            </a:solidFill>
                            <a:latin typeface="Cambria Math" panose="02040503050406030204" pitchFamily="18" charset="0"/>
                          </a:rPr>
                        </m:ctrlPr>
                      </m:sSubPr>
                      <m:e>
                        <m:r>
                          <a:rPr lang="en-US" sz="4400" i="1" dirty="0" smtClean="0">
                            <a:solidFill>
                              <a:schemeClr val="bg2">
                                <a:lumMod val="10000"/>
                              </a:schemeClr>
                            </a:solidFill>
                            <a:latin typeface="Cambria Math" panose="02040503050406030204" pitchFamily="18" charset="0"/>
                          </a:rPr>
                          <m:t>𝑆</m:t>
                        </m:r>
                      </m:e>
                      <m:sub>
                        <m:r>
                          <a:rPr lang="en-US" sz="4400" i="1" dirty="0" smtClean="0">
                            <a:solidFill>
                              <a:schemeClr val="bg2">
                                <a:lumMod val="10000"/>
                              </a:schemeClr>
                            </a:solidFill>
                            <a:latin typeface="Cambria Math" panose="02040503050406030204" pitchFamily="18" charset="0"/>
                          </a:rPr>
                          <m:t>0</m:t>
                        </m:r>
                      </m:sub>
                    </m:sSub>
                  </m:oMath>
                </a14:m>
                <a:r>
                  <a:rPr lang="en-US" dirty="0">
                    <a:solidFill>
                      <a:schemeClr val="bg2">
                        <a:lumMod val="10000"/>
                      </a:schemeClr>
                    </a:solidFill>
                  </a:rPr>
                  <a:t>, because today is rainy, then the state:</a:t>
                </a:r>
              </a:p>
              <a:p>
                <a:pPr marL="0" indent="0" algn="just">
                  <a:buNone/>
                </a:pPr>
                <a:endParaRPr lang="en-US" dirty="0">
                  <a:solidFill>
                    <a:schemeClr val="bg2">
                      <a:lumMod val="10000"/>
                    </a:schemeClr>
                  </a:solidFill>
                </a:endParaRPr>
              </a:p>
              <a:p>
                <a:pPr algn="just">
                  <a:spcAft>
                    <a:spcPts val="2400"/>
                  </a:spcAft>
                </a:pPr>
                <a:r>
                  <a:rPr lang="en-US" dirty="0">
                    <a:solidFill>
                      <a:schemeClr val="bg2">
                        <a:lumMod val="10000"/>
                      </a:schemeClr>
                    </a:solidFill>
                  </a:rPr>
                  <a:t>Calculate </a:t>
                </a:r>
                <a14:m>
                  <m:oMath xmlns:m="http://schemas.openxmlformats.org/officeDocument/2006/math">
                    <m:sSub>
                      <m:sSubPr>
                        <m:ctrlPr>
                          <a:rPr lang="en-US" sz="4400" i="1" dirty="0" smtClean="0">
                            <a:solidFill>
                              <a:schemeClr val="bg2">
                                <a:lumMod val="10000"/>
                              </a:schemeClr>
                            </a:solidFill>
                            <a:latin typeface="Cambria Math" panose="02040503050406030204" pitchFamily="18" charset="0"/>
                          </a:rPr>
                        </m:ctrlPr>
                      </m:sSubPr>
                      <m:e>
                        <m:r>
                          <a:rPr lang="en-US" sz="4400" i="1" dirty="0" smtClean="0">
                            <a:solidFill>
                              <a:schemeClr val="bg2">
                                <a:lumMod val="10000"/>
                              </a:schemeClr>
                            </a:solidFill>
                            <a:latin typeface="Cambria Math" panose="02040503050406030204" pitchFamily="18" charset="0"/>
                          </a:rPr>
                          <m:t>𝑆</m:t>
                        </m:r>
                      </m:e>
                      <m:sub>
                        <m:r>
                          <a:rPr lang="en-US" sz="4400" b="0" i="1" dirty="0" smtClean="0">
                            <a:solidFill>
                              <a:schemeClr val="bg2">
                                <a:lumMod val="10000"/>
                              </a:schemeClr>
                            </a:solidFill>
                            <a:latin typeface="Cambria Math" panose="02040503050406030204" pitchFamily="18" charset="0"/>
                          </a:rPr>
                          <m:t>1</m:t>
                        </m:r>
                      </m:sub>
                    </m:sSub>
                  </m:oMath>
                </a14:m>
                <a:r>
                  <a:rPr lang="en-US" dirty="0">
                    <a:solidFill>
                      <a:schemeClr val="bg2">
                        <a:lumMod val="10000"/>
                      </a:schemeClr>
                    </a:solidFill>
                  </a:rPr>
                  <a:t> using </a:t>
                </a:r>
                <a14:m>
                  <m:oMath xmlns:m="http://schemas.openxmlformats.org/officeDocument/2006/math">
                    <m:sSub>
                      <m:sSubPr>
                        <m:ctrlPr>
                          <a:rPr lang="en-US" i="1" dirty="0">
                            <a:solidFill>
                              <a:schemeClr val="bg2">
                                <a:lumMod val="10000"/>
                              </a:schemeClr>
                            </a:solidFill>
                            <a:latin typeface="Cambria Math" panose="02040503050406030204" pitchFamily="18" charset="0"/>
                          </a:rPr>
                        </m:ctrlPr>
                      </m:sSubPr>
                      <m:e>
                        <m:r>
                          <a:rPr lang="en-US" i="1" dirty="0">
                            <a:solidFill>
                              <a:schemeClr val="bg2">
                                <a:lumMod val="10000"/>
                              </a:schemeClr>
                            </a:solidFill>
                            <a:latin typeface="Cambria Math" panose="02040503050406030204" pitchFamily="18" charset="0"/>
                          </a:rPr>
                          <m:t>𝑆</m:t>
                        </m:r>
                      </m:e>
                      <m:sub>
                        <m:r>
                          <a:rPr lang="en-US" i="1" dirty="0">
                            <a:solidFill>
                              <a:schemeClr val="bg2">
                                <a:lumMod val="10000"/>
                              </a:schemeClr>
                            </a:solidFill>
                            <a:latin typeface="Cambria Math" panose="02040503050406030204" pitchFamily="18" charset="0"/>
                          </a:rPr>
                          <m:t>0</m:t>
                        </m:r>
                      </m:sub>
                    </m:sSub>
                  </m:oMath>
                </a14:m>
                <a:r>
                  <a:rPr lang="en-US" dirty="0">
                    <a:solidFill>
                      <a:schemeClr val="bg2">
                        <a:lumMod val="10000"/>
                      </a:schemeClr>
                    </a:solidFill>
                  </a:rPr>
                  <a:t> and Transition Matrix:</a:t>
                </a:r>
              </a:p>
              <a:p>
                <a:pPr marL="0" indent="0" algn="just">
                  <a:buNone/>
                </a:pPr>
                <a14:m>
                  <m:oMathPara xmlns:m="http://schemas.openxmlformats.org/officeDocument/2006/math">
                    <m:oMathParaPr>
                      <m:jc m:val="centerGroup"/>
                    </m:oMathParaPr>
                    <m:oMath xmlns:m="http://schemas.openxmlformats.org/officeDocument/2006/math">
                      <m:sSub>
                        <m:sSubPr>
                          <m:ctrlPr>
                            <a:rPr lang="en-US" sz="4400" i="1" dirty="0" smtClean="0">
                              <a:solidFill>
                                <a:schemeClr val="bg2">
                                  <a:lumMod val="10000"/>
                                </a:schemeClr>
                              </a:solidFill>
                              <a:latin typeface="Cambria Math" panose="02040503050406030204" pitchFamily="18" charset="0"/>
                            </a:rPr>
                          </m:ctrlPr>
                        </m:sSubPr>
                        <m:e>
                          <m:r>
                            <a:rPr lang="en-US" sz="4400" i="1" dirty="0" smtClean="0">
                              <a:solidFill>
                                <a:schemeClr val="bg2">
                                  <a:lumMod val="10000"/>
                                </a:schemeClr>
                              </a:solidFill>
                              <a:latin typeface="Cambria Math" panose="02040503050406030204" pitchFamily="18" charset="0"/>
                            </a:rPr>
                            <m:t>𝑆</m:t>
                          </m:r>
                        </m:e>
                        <m:sub>
                          <m:r>
                            <a:rPr lang="en-US" sz="4400" b="0" i="1" dirty="0" smtClean="0">
                              <a:solidFill>
                                <a:schemeClr val="bg2">
                                  <a:lumMod val="10000"/>
                                </a:schemeClr>
                              </a:solidFill>
                              <a:latin typeface="Cambria Math" panose="02040503050406030204" pitchFamily="18" charset="0"/>
                            </a:rPr>
                            <m:t>1</m:t>
                          </m:r>
                        </m:sub>
                      </m:sSub>
                      <m:r>
                        <a:rPr lang="en-US" sz="4400" b="0" i="1" dirty="0" smtClean="0">
                          <a:solidFill>
                            <a:schemeClr val="bg2">
                              <a:lumMod val="10000"/>
                            </a:schemeClr>
                          </a:solidFill>
                          <a:latin typeface="Cambria Math" panose="02040503050406030204" pitchFamily="18" charset="0"/>
                        </a:rPr>
                        <m:t>=</m:t>
                      </m:r>
                      <m:d>
                        <m:dPr>
                          <m:begChr m:val="["/>
                          <m:endChr m:val="]"/>
                          <m:ctrlPr>
                            <a:rPr lang="en-US" sz="4400" b="0" i="1" dirty="0" smtClean="0">
                              <a:solidFill>
                                <a:schemeClr val="bg2">
                                  <a:lumMod val="10000"/>
                                </a:schemeClr>
                              </a:solidFill>
                              <a:latin typeface="Cambria Math" panose="02040503050406030204" pitchFamily="18" charset="0"/>
                            </a:rPr>
                          </m:ctrlPr>
                        </m:dPr>
                        <m:e>
                          <m:m>
                            <m:mPr>
                              <m:mcs>
                                <m:mc>
                                  <m:mcPr>
                                    <m:count m:val="2"/>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.9</m:t>
                                </m:r>
                              </m:e>
                              <m:e>
                                <m:r>
                                  <a:rPr lang="en-US" sz="4400" b="0" i="1" dirty="0" smtClean="0">
                                    <a:solidFill>
                                      <a:schemeClr val="bg2">
                                        <a:lumMod val="10000"/>
                                      </a:schemeClr>
                                    </a:solidFill>
                                    <a:latin typeface="Cambria Math" panose="02040503050406030204" pitchFamily="18" charset="0"/>
                                  </a:rPr>
                                  <m:t>0.5</m:t>
                                </m:r>
                              </m:e>
                            </m:mr>
                            <m:mr>
                              <m:e>
                                <m:r>
                                  <a:rPr lang="en-US" sz="4400" b="0" i="1" dirty="0" smtClean="0">
                                    <a:solidFill>
                                      <a:schemeClr val="bg2">
                                        <a:lumMod val="10000"/>
                                      </a:schemeClr>
                                    </a:solidFill>
                                    <a:latin typeface="Cambria Math" panose="02040503050406030204" pitchFamily="18" charset="0"/>
                                  </a:rPr>
                                  <m:t>0.1</m:t>
                                </m:r>
                              </m:e>
                              <m:e>
                                <m:r>
                                  <a:rPr lang="en-US" sz="4400" b="0" i="1" dirty="0" smtClean="0">
                                    <a:solidFill>
                                      <a:schemeClr val="bg2">
                                        <a:lumMod val="10000"/>
                                      </a:schemeClr>
                                    </a:solidFill>
                                    <a:latin typeface="Cambria Math" panose="02040503050406030204" pitchFamily="18" charset="0"/>
                                  </a:rPr>
                                  <m:t>0.5</m:t>
                                </m:r>
                              </m:e>
                            </m:mr>
                          </m:m>
                        </m:e>
                      </m:d>
                      <m:d>
                        <m:dPr>
                          <m:begChr m:val="["/>
                          <m:endChr m:val="]"/>
                          <m:ctrlPr>
                            <a:rPr lang="en-US" sz="4400" b="0" i="1" dirty="0" smtClean="0">
                              <a:solidFill>
                                <a:schemeClr val="bg2">
                                  <a:lumMod val="10000"/>
                                </a:schemeClr>
                              </a:solidFill>
                              <a:latin typeface="Cambria Math" panose="02040503050406030204" pitchFamily="18" charset="0"/>
                            </a:rPr>
                          </m:ctrlPr>
                        </m:dPr>
                        <m:e>
                          <m:m>
                            <m:mPr>
                              <m:mcs>
                                <m:mc>
                                  <m:mcPr>
                                    <m:count m:val="1"/>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e>
                            </m:mr>
                            <m:mr>
                              <m:e>
                                <m:r>
                                  <a:rPr lang="en-US" sz="4400" b="0" i="1" dirty="0" smtClean="0">
                                    <a:solidFill>
                                      <a:schemeClr val="bg2">
                                        <a:lumMod val="10000"/>
                                      </a:schemeClr>
                                    </a:solidFill>
                                    <a:latin typeface="Cambria Math" panose="02040503050406030204" pitchFamily="18" charset="0"/>
                                  </a:rPr>
                                  <m:t>1</m:t>
                                </m:r>
                              </m:e>
                            </m:mr>
                          </m:m>
                        </m:e>
                      </m:d>
                      <m:r>
                        <a:rPr lang="en-US" sz="4400" b="0" i="1" dirty="0" smtClean="0">
                          <a:solidFill>
                            <a:schemeClr val="bg2">
                              <a:lumMod val="10000"/>
                            </a:schemeClr>
                          </a:solidFill>
                          <a:latin typeface="Cambria Math" panose="02040503050406030204" pitchFamily="18" charset="0"/>
                        </a:rPr>
                        <m:t>=</m:t>
                      </m:r>
                      <m:d>
                        <m:dPr>
                          <m:ctrlPr>
                            <a:rPr lang="en-US" sz="4400" b="0" i="1" dirty="0" smtClean="0">
                              <a:solidFill>
                                <a:schemeClr val="bg2">
                                  <a:lumMod val="10000"/>
                                </a:schemeClr>
                              </a:solidFill>
                              <a:latin typeface="Cambria Math" panose="02040503050406030204" pitchFamily="18" charset="0"/>
                            </a:rPr>
                          </m:ctrlPr>
                        </m:dPr>
                        <m:e>
                          <m:m>
                            <m:mPr>
                              <m:mcs>
                                <m:mc>
                                  <m:mcPr>
                                    <m:count m:val="1"/>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.9∗0+0.5∗1</m:t>
                                </m:r>
                              </m:e>
                            </m:mr>
                            <m:mr>
                              <m:e>
                                <m:r>
                                  <a:rPr lang="en-US" sz="4400" b="0" i="1" dirty="0" smtClean="0">
                                    <a:solidFill>
                                      <a:schemeClr val="bg2">
                                        <a:lumMod val="10000"/>
                                      </a:schemeClr>
                                    </a:solidFill>
                                    <a:latin typeface="Cambria Math" panose="02040503050406030204" pitchFamily="18" charset="0"/>
                                  </a:rPr>
                                  <m:t>0.1∗0+0.5∗1</m:t>
                                </m:r>
                              </m:e>
                            </m:mr>
                          </m:m>
                        </m:e>
                      </m:d>
                      <m:r>
                        <a:rPr lang="en-US" sz="4400" b="0" i="1" dirty="0" smtClean="0">
                          <a:solidFill>
                            <a:schemeClr val="bg2">
                              <a:lumMod val="10000"/>
                            </a:schemeClr>
                          </a:solidFill>
                          <a:latin typeface="Cambria Math" panose="02040503050406030204" pitchFamily="18" charset="0"/>
                        </a:rPr>
                        <m:t>=</m:t>
                      </m:r>
                      <m:d>
                        <m:dPr>
                          <m:ctrlPr>
                            <a:rPr lang="en-US" sz="4400" b="0" i="1" dirty="0" smtClean="0">
                              <a:solidFill>
                                <a:schemeClr val="bg2">
                                  <a:lumMod val="10000"/>
                                </a:schemeClr>
                              </a:solidFill>
                              <a:latin typeface="Cambria Math" panose="02040503050406030204" pitchFamily="18" charset="0"/>
                            </a:rPr>
                          </m:ctrlPr>
                        </m:dPr>
                        <m:e>
                          <m:m>
                            <m:mPr>
                              <m:mcs>
                                <m:mc>
                                  <m:mcPr>
                                    <m:count m:val="1"/>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.5</m:t>
                                </m:r>
                              </m:e>
                            </m:mr>
                            <m:mr>
                              <m:e>
                                <m:r>
                                  <a:rPr lang="en-US" sz="4400" b="0" i="1" dirty="0" smtClean="0">
                                    <a:solidFill>
                                      <a:schemeClr val="bg2">
                                        <a:lumMod val="10000"/>
                                      </a:schemeClr>
                                    </a:solidFill>
                                    <a:latin typeface="Cambria Math" panose="02040503050406030204" pitchFamily="18" charset="0"/>
                                  </a:rPr>
                                  <m:t>0.5</m:t>
                                </m:r>
                              </m:e>
                            </m:mr>
                          </m:m>
                        </m:e>
                      </m:d>
                    </m:oMath>
                  </m:oMathPara>
                </a14:m>
                <a:endParaRPr lang="en-US" dirty="0">
                  <a:solidFill>
                    <a:schemeClr val="bg2">
                      <a:lumMod val="10000"/>
                    </a:schemeClr>
                  </a:solidFill>
                </a:endParaRPr>
              </a:p>
              <a:p>
                <a:pPr algn="just">
                  <a:spcAft>
                    <a:spcPts val="2400"/>
                  </a:spcAft>
                </a:pPr>
                <a:r>
                  <a:rPr lang="en-US" dirty="0">
                    <a:solidFill>
                      <a:schemeClr val="bg2">
                        <a:lumMod val="10000"/>
                      </a:schemeClr>
                    </a:solidFill>
                  </a:rPr>
                  <a:t>Calculate </a:t>
                </a:r>
                <a14:m>
                  <m:oMath xmlns:m="http://schemas.openxmlformats.org/officeDocument/2006/math">
                    <m:sSub>
                      <m:sSubPr>
                        <m:ctrlPr>
                          <a:rPr lang="en-US" sz="4400" i="1" dirty="0" smtClean="0">
                            <a:solidFill>
                              <a:schemeClr val="bg2">
                                <a:lumMod val="10000"/>
                              </a:schemeClr>
                            </a:solidFill>
                            <a:latin typeface="Cambria Math" panose="02040503050406030204" pitchFamily="18" charset="0"/>
                          </a:rPr>
                        </m:ctrlPr>
                      </m:sSubPr>
                      <m:e>
                        <m:r>
                          <a:rPr lang="en-US" sz="4400" i="1" dirty="0" smtClean="0">
                            <a:solidFill>
                              <a:schemeClr val="bg2">
                                <a:lumMod val="10000"/>
                              </a:schemeClr>
                            </a:solidFill>
                            <a:latin typeface="Cambria Math" panose="02040503050406030204" pitchFamily="18" charset="0"/>
                          </a:rPr>
                          <m:t>𝑆</m:t>
                        </m:r>
                      </m:e>
                      <m:sub>
                        <m:r>
                          <a:rPr lang="en-US" sz="4400" b="0" i="1" dirty="0" smtClean="0">
                            <a:solidFill>
                              <a:schemeClr val="bg2">
                                <a:lumMod val="10000"/>
                              </a:schemeClr>
                            </a:solidFill>
                            <a:latin typeface="Cambria Math" panose="02040503050406030204" pitchFamily="18" charset="0"/>
                          </a:rPr>
                          <m:t>2</m:t>
                        </m:r>
                      </m:sub>
                    </m:sSub>
                  </m:oMath>
                </a14:m>
                <a:r>
                  <a:rPr lang="en-US" dirty="0">
                    <a:solidFill>
                      <a:schemeClr val="bg2">
                        <a:lumMod val="10000"/>
                      </a:schemeClr>
                    </a:solidFill>
                  </a:rPr>
                  <a:t> using </a:t>
                </a:r>
                <a14:m>
                  <m:oMath xmlns:m="http://schemas.openxmlformats.org/officeDocument/2006/math">
                    <m:sSub>
                      <m:sSubPr>
                        <m:ctrlPr>
                          <a:rPr lang="en-US" i="1" dirty="0">
                            <a:solidFill>
                              <a:schemeClr val="bg2">
                                <a:lumMod val="10000"/>
                              </a:schemeClr>
                            </a:solidFill>
                            <a:latin typeface="Cambria Math" panose="02040503050406030204" pitchFamily="18" charset="0"/>
                          </a:rPr>
                        </m:ctrlPr>
                      </m:sSubPr>
                      <m:e>
                        <m:r>
                          <a:rPr lang="en-US" i="1" dirty="0">
                            <a:solidFill>
                              <a:schemeClr val="bg2">
                                <a:lumMod val="10000"/>
                              </a:schemeClr>
                            </a:solidFill>
                            <a:latin typeface="Cambria Math" panose="02040503050406030204" pitchFamily="18" charset="0"/>
                          </a:rPr>
                          <m:t>𝑆</m:t>
                        </m:r>
                      </m:e>
                      <m:sub>
                        <m:r>
                          <a:rPr lang="en-US" b="0" i="1" dirty="0" smtClean="0">
                            <a:solidFill>
                              <a:schemeClr val="bg2">
                                <a:lumMod val="10000"/>
                              </a:schemeClr>
                            </a:solidFill>
                            <a:latin typeface="Cambria Math" panose="02040503050406030204" pitchFamily="18" charset="0"/>
                          </a:rPr>
                          <m:t>1</m:t>
                        </m:r>
                      </m:sub>
                    </m:sSub>
                  </m:oMath>
                </a14:m>
                <a:r>
                  <a:rPr lang="en-US" dirty="0">
                    <a:solidFill>
                      <a:schemeClr val="bg2">
                        <a:lumMod val="10000"/>
                      </a:schemeClr>
                    </a:solidFill>
                  </a:rPr>
                  <a:t> and Transition Matrix:</a:t>
                </a:r>
              </a:p>
              <a:p>
                <a:pPr marL="0" indent="0" algn="just">
                  <a:buNone/>
                </a:pPr>
                <a14:m>
                  <m:oMathPara xmlns:m="http://schemas.openxmlformats.org/officeDocument/2006/math">
                    <m:oMathParaPr>
                      <m:jc m:val="centerGroup"/>
                    </m:oMathParaPr>
                    <m:oMath xmlns:m="http://schemas.openxmlformats.org/officeDocument/2006/math">
                      <m:sSub>
                        <m:sSubPr>
                          <m:ctrlPr>
                            <a:rPr lang="en-US" sz="4400" i="1" dirty="0" smtClean="0">
                              <a:solidFill>
                                <a:schemeClr val="bg2">
                                  <a:lumMod val="10000"/>
                                </a:schemeClr>
                              </a:solidFill>
                              <a:latin typeface="Cambria Math" panose="02040503050406030204" pitchFamily="18" charset="0"/>
                            </a:rPr>
                          </m:ctrlPr>
                        </m:sSubPr>
                        <m:e>
                          <m:r>
                            <a:rPr lang="en-US" sz="4400" i="1" dirty="0" smtClean="0">
                              <a:solidFill>
                                <a:schemeClr val="bg2">
                                  <a:lumMod val="10000"/>
                                </a:schemeClr>
                              </a:solidFill>
                              <a:latin typeface="Cambria Math" panose="02040503050406030204" pitchFamily="18" charset="0"/>
                            </a:rPr>
                            <m:t>𝑆</m:t>
                          </m:r>
                        </m:e>
                        <m:sub>
                          <m:r>
                            <a:rPr lang="en-US" sz="4400" b="0" i="1" dirty="0" smtClean="0">
                              <a:solidFill>
                                <a:schemeClr val="bg2">
                                  <a:lumMod val="10000"/>
                                </a:schemeClr>
                              </a:solidFill>
                              <a:latin typeface="Cambria Math" panose="02040503050406030204" pitchFamily="18" charset="0"/>
                            </a:rPr>
                            <m:t>2</m:t>
                          </m:r>
                        </m:sub>
                      </m:sSub>
                      <m:r>
                        <a:rPr lang="en-US" sz="4400" b="0" i="1" dirty="0" smtClean="0">
                          <a:solidFill>
                            <a:schemeClr val="bg2">
                              <a:lumMod val="10000"/>
                            </a:schemeClr>
                          </a:solidFill>
                          <a:latin typeface="Cambria Math" panose="02040503050406030204" pitchFamily="18" charset="0"/>
                        </a:rPr>
                        <m:t>=</m:t>
                      </m:r>
                      <m:d>
                        <m:dPr>
                          <m:begChr m:val="["/>
                          <m:endChr m:val="]"/>
                          <m:ctrlPr>
                            <a:rPr lang="en-US" sz="4400" b="0" i="1" dirty="0" smtClean="0">
                              <a:solidFill>
                                <a:schemeClr val="bg2">
                                  <a:lumMod val="10000"/>
                                </a:schemeClr>
                              </a:solidFill>
                              <a:latin typeface="Cambria Math" panose="02040503050406030204" pitchFamily="18" charset="0"/>
                            </a:rPr>
                          </m:ctrlPr>
                        </m:dPr>
                        <m:e>
                          <m:m>
                            <m:mPr>
                              <m:mcs>
                                <m:mc>
                                  <m:mcPr>
                                    <m:count m:val="2"/>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.9</m:t>
                                </m:r>
                              </m:e>
                              <m:e>
                                <m:r>
                                  <a:rPr lang="en-US" sz="4400" b="0" i="1" dirty="0" smtClean="0">
                                    <a:solidFill>
                                      <a:schemeClr val="bg2">
                                        <a:lumMod val="10000"/>
                                      </a:schemeClr>
                                    </a:solidFill>
                                    <a:latin typeface="Cambria Math" panose="02040503050406030204" pitchFamily="18" charset="0"/>
                                  </a:rPr>
                                  <m:t>0.5</m:t>
                                </m:r>
                              </m:e>
                            </m:mr>
                            <m:mr>
                              <m:e>
                                <m:r>
                                  <a:rPr lang="en-US" sz="4400" b="0" i="1" dirty="0" smtClean="0">
                                    <a:solidFill>
                                      <a:schemeClr val="bg2">
                                        <a:lumMod val="10000"/>
                                      </a:schemeClr>
                                    </a:solidFill>
                                    <a:latin typeface="Cambria Math" panose="02040503050406030204" pitchFamily="18" charset="0"/>
                                  </a:rPr>
                                  <m:t>0.1</m:t>
                                </m:r>
                              </m:e>
                              <m:e>
                                <m:r>
                                  <a:rPr lang="en-US" sz="4400" b="0" i="1" dirty="0" smtClean="0">
                                    <a:solidFill>
                                      <a:schemeClr val="bg2">
                                        <a:lumMod val="10000"/>
                                      </a:schemeClr>
                                    </a:solidFill>
                                    <a:latin typeface="Cambria Math" panose="02040503050406030204" pitchFamily="18" charset="0"/>
                                  </a:rPr>
                                  <m:t>0.5</m:t>
                                </m:r>
                              </m:e>
                            </m:mr>
                          </m:m>
                        </m:e>
                      </m:d>
                      <m:d>
                        <m:dPr>
                          <m:begChr m:val="["/>
                          <m:endChr m:val="]"/>
                          <m:ctrlPr>
                            <a:rPr lang="en-US" sz="4400" b="0" i="1" dirty="0" smtClean="0">
                              <a:solidFill>
                                <a:schemeClr val="bg2">
                                  <a:lumMod val="10000"/>
                                </a:schemeClr>
                              </a:solidFill>
                              <a:latin typeface="Cambria Math" panose="02040503050406030204" pitchFamily="18" charset="0"/>
                            </a:rPr>
                          </m:ctrlPr>
                        </m:dPr>
                        <m:e>
                          <m:m>
                            <m:mPr>
                              <m:mcs>
                                <m:mc>
                                  <m:mcPr>
                                    <m:count m:val="1"/>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.5</m:t>
                                </m:r>
                              </m:e>
                            </m:mr>
                            <m:mr>
                              <m:e>
                                <m:r>
                                  <a:rPr lang="en-US" sz="4400" b="0" i="1" dirty="0" smtClean="0">
                                    <a:solidFill>
                                      <a:schemeClr val="bg2">
                                        <a:lumMod val="10000"/>
                                      </a:schemeClr>
                                    </a:solidFill>
                                    <a:latin typeface="Cambria Math" panose="02040503050406030204" pitchFamily="18" charset="0"/>
                                  </a:rPr>
                                  <m:t>0.5</m:t>
                                </m:r>
                              </m:e>
                            </m:mr>
                          </m:m>
                        </m:e>
                      </m:d>
                      <m:r>
                        <a:rPr lang="en-US" sz="4400" b="0" i="1" dirty="0" smtClean="0">
                          <a:solidFill>
                            <a:schemeClr val="bg2">
                              <a:lumMod val="10000"/>
                            </a:schemeClr>
                          </a:solidFill>
                          <a:latin typeface="Cambria Math" panose="02040503050406030204" pitchFamily="18" charset="0"/>
                        </a:rPr>
                        <m:t>=</m:t>
                      </m:r>
                      <m:d>
                        <m:dPr>
                          <m:ctrlPr>
                            <a:rPr lang="en-US" sz="4400" b="0" i="1" dirty="0" smtClean="0">
                              <a:solidFill>
                                <a:schemeClr val="bg2">
                                  <a:lumMod val="10000"/>
                                </a:schemeClr>
                              </a:solidFill>
                              <a:latin typeface="Cambria Math" panose="02040503050406030204" pitchFamily="18" charset="0"/>
                            </a:rPr>
                          </m:ctrlPr>
                        </m:dPr>
                        <m:e>
                          <m:m>
                            <m:mPr>
                              <m:mcs>
                                <m:mc>
                                  <m:mcPr>
                                    <m:count m:val="1"/>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.9∗0.5+0.5∗0.5</m:t>
                                </m:r>
                              </m:e>
                            </m:mr>
                            <m:mr>
                              <m:e>
                                <m:r>
                                  <a:rPr lang="en-US" sz="4400" b="0" i="1" dirty="0" smtClean="0">
                                    <a:solidFill>
                                      <a:schemeClr val="bg2">
                                        <a:lumMod val="10000"/>
                                      </a:schemeClr>
                                    </a:solidFill>
                                    <a:latin typeface="Cambria Math" panose="02040503050406030204" pitchFamily="18" charset="0"/>
                                  </a:rPr>
                                  <m:t>0.1∗0.5+0.5∗0.5</m:t>
                                </m:r>
                              </m:e>
                            </m:mr>
                          </m:m>
                        </m:e>
                      </m:d>
                      <m:r>
                        <a:rPr lang="en-US" sz="4400" b="0" i="1" dirty="0" smtClean="0">
                          <a:solidFill>
                            <a:schemeClr val="bg2">
                              <a:lumMod val="10000"/>
                            </a:schemeClr>
                          </a:solidFill>
                          <a:latin typeface="Cambria Math" panose="02040503050406030204" pitchFamily="18" charset="0"/>
                        </a:rPr>
                        <m:t>=</m:t>
                      </m:r>
                      <m:d>
                        <m:dPr>
                          <m:ctrlPr>
                            <a:rPr lang="en-US" sz="4400" b="0" i="1" dirty="0" smtClean="0">
                              <a:solidFill>
                                <a:schemeClr val="bg2">
                                  <a:lumMod val="10000"/>
                                </a:schemeClr>
                              </a:solidFill>
                              <a:latin typeface="Cambria Math" panose="02040503050406030204" pitchFamily="18" charset="0"/>
                            </a:rPr>
                          </m:ctrlPr>
                        </m:dPr>
                        <m:e>
                          <m:m>
                            <m:mPr>
                              <m:mcs>
                                <m:mc>
                                  <m:mcPr>
                                    <m:count m:val="1"/>
                                    <m:mcJc m:val="center"/>
                                  </m:mcPr>
                                </m:mc>
                              </m:mcs>
                              <m:ctrlPr>
                                <a:rPr lang="en-US" sz="4400" b="0" i="1" dirty="0" smtClean="0">
                                  <a:solidFill>
                                    <a:schemeClr val="bg2">
                                      <a:lumMod val="10000"/>
                                    </a:schemeClr>
                                  </a:solidFill>
                                  <a:latin typeface="Cambria Math" panose="02040503050406030204" pitchFamily="18" charset="0"/>
                                </a:rPr>
                              </m:ctrlPr>
                            </m:mPr>
                            <m:mr>
                              <m:e>
                                <m:r>
                                  <m:rPr>
                                    <m:brk m:alnAt="7"/>
                                  </m:rPr>
                                  <a:rPr lang="en-US" sz="4400" b="0" i="1" dirty="0" smtClean="0">
                                    <a:solidFill>
                                      <a:schemeClr val="bg2">
                                        <a:lumMod val="10000"/>
                                      </a:schemeClr>
                                    </a:solidFill>
                                    <a:latin typeface="Cambria Math" panose="02040503050406030204" pitchFamily="18" charset="0"/>
                                  </a:rPr>
                                  <m:t>0</m:t>
                                </m:r>
                                <m:r>
                                  <a:rPr lang="en-US" sz="4400" b="0" i="1" dirty="0" smtClean="0">
                                    <a:solidFill>
                                      <a:schemeClr val="bg2">
                                        <a:lumMod val="10000"/>
                                      </a:schemeClr>
                                    </a:solidFill>
                                    <a:latin typeface="Cambria Math" panose="02040503050406030204" pitchFamily="18" charset="0"/>
                                  </a:rPr>
                                  <m:t>.7</m:t>
                                </m:r>
                              </m:e>
                            </m:mr>
                            <m:mr>
                              <m:e>
                                <m:r>
                                  <a:rPr lang="en-US" sz="4400" b="1" i="1" dirty="0" smtClean="0">
                                    <a:solidFill>
                                      <a:srgbClr val="0070C0"/>
                                    </a:solidFill>
                                    <a:latin typeface="Cambria Math" panose="02040503050406030204" pitchFamily="18" charset="0"/>
                                  </a:rPr>
                                  <m:t>𝟎</m:t>
                                </m:r>
                                <m:r>
                                  <a:rPr lang="en-US" sz="4400" b="1" i="1" dirty="0" smtClean="0">
                                    <a:solidFill>
                                      <a:srgbClr val="0070C0"/>
                                    </a:solidFill>
                                    <a:latin typeface="Cambria Math" panose="02040503050406030204" pitchFamily="18" charset="0"/>
                                  </a:rPr>
                                  <m:t>.</m:t>
                                </m:r>
                                <m:r>
                                  <a:rPr lang="en-US" sz="4400" b="1" i="1" dirty="0" smtClean="0">
                                    <a:solidFill>
                                      <a:srgbClr val="0070C0"/>
                                    </a:solidFill>
                                    <a:latin typeface="Cambria Math" panose="02040503050406030204" pitchFamily="18" charset="0"/>
                                  </a:rPr>
                                  <m:t>𝟑</m:t>
                                </m:r>
                              </m:e>
                            </m:mr>
                          </m:m>
                        </m:e>
                      </m:d>
                    </m:oMath>
                  </m:oMathPara>
                </a14:m>
                <a:endParaRPr lang="en-US" dirty="0">
                  <a:solidFill>
                    <a:schemeClr val="bg2">
                      <a:lumMod val="10000"/>
                    </a:schemeClr>
                  </a:solidFill>
                </a:endParaRPr>
              </a:p>
              <a:p>
                <a:pPr algn="just"/>
                <a:r>
                  <a:rPr lang="en-US" dirty="0">
                    <a:solidFill>
                      <a:schemeClr val="bg2">
                        <a:lumMod val="10000"/>
                      </a:schemeClr>
                    </a:solidFill>
                  </a:rPr>
                  <a:t>Therefore, the probability is 0.3</a:t>
                </a: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9464737"/>
              </a:xfrm>
              <a:blipFill>
                <a:blip r:embed="rId2"/>
                <a:stretch>
                  <a:fillRect l="-1329" t="-1071"/>
                </a:stretch>
              </a:blipFill>
            </p:spPr>
            <p:txBody>
              <a:bodyPr/>
              <a:lstStyle/>
              <a:p>
                <a:r>
                  <a:rPr lang="en-US">
                    <a:noFill/>
                  </a:rPr>
                  <a:t> </a:t>
                </a:r>
              </a:p>
            </p:txBody>
          </p:sp>
        </mc:Fallback>
      </mc:AlternateContent>
      <p:pic>
        <p:nvPicPr>
          <p:cNvPr id="5" name="Picture 2">
            <a:extLst>
              <a:ext uri="{FF2B5EF4-FFF2-40B4-BE49-F238E27FC236}">
                <a16:creationId xmlns:a16="http://schemas.microsoft.com/office/drawing/2014/main" id="{3EA082D3-62F1-5AFE-39D0-8A069CA5B9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776"/>
          <a:stretch/>
        </p:blipFill>
        <p:spPr bwMode="auto">
          <a:xfrm>
            <a:off x="8089624" y="4140200"/>
            <a:ext cx="8204751" cy="1239290"/>
          </a:xfrm>
          <a:prstGeom prst="rect">
            <a:avLst/>
          </a:prstGeom>
          <a:noFill/>
          <a:extLst>
            <a:ext uri="{909E8E84-426E-40DD-AFC4-6F175D3DCCD1}">
              <a14:hiddenFill xmlns:a14="http://schemas.microsoft.com/office/drawing/2010/main">
                <a:solidFill>
                  <a:srgbClr val="FFFFFF"/>
                </a:solidFill>
              </a14:hiddenFill>
            </a:ext>
          </a:extLst>
        </p:spPr>
      </p:pic>
      <p:sp>
        <p:nvSpPr>
          <p:cNvPr id="7" name="Kotak Teks 2">
            <a:extLst>
              <a:ext uri="{FF2B5EF4-FFF2-40B4-BE49-F238E27FC236}">
                <a16:creationId xmlns:a16="http://schemas.microsoft.com/office/drawing/2014/main" id="{F7A19B93-43BB-68E4-2CB1-2D58E83278D5}"/>
              </a:ext>
            </a:extLst>
          </p:cNvPr>
          <p:cNvSpPr txBox="1"/>
          <p:nvPr/>
        </p:nvSpPr>
        <p:spPr>
          <a:xfrm>
            <a:off x="18692246" y="9101527"/>
            <a:ext cx="1292341" cy="523220"/>
          </a:xfrm>
          <a:prstGeom prst="rect">
            <a:avLst/>
          </a:prstGeom>
          <a:noFill/>
        </p:spPr>
        <p:txBody>
          <a:bodyPr wrap="none" rtlCol="0">
            <a:spAutoFit/>
          </a:bodyPr>
          <a:lstStyle/>
          <a:p>
            <a:r>
              <a:rPr lang="en-US" sz="2800" b="1" dirty="0">
                <a:solidFill>
                  <a:schemeClr val="bg2">
                    <a:lumMod val="10000"/>
                  </a:schemeClr>
                </a:solidFill>
              </a:rPr>
              <a:t>Sunny</a:t>
            </a:r>
          </a:p>
        </p:txBody>
      </p:sp>
      <p:sp>
        <p:nvSpPr>
          <p:cNvPr id="8" name="Kotak Teks 5">
            <a:extLst>
              <a:ext uri="{FF2B5EF4-FFF2-40B4-BE49-F238E27FC236}">
                <a16:creationId xmlns:a16="http://schemas.microsoft.com/office/drawing/2014/main" id="{ADC13520-60AD-A001-5BFB-8746FC6F4AE4}"/>
              </a:ext>
            </a:extLst>
          </p:cNvPr>
          <p:cNvSpPr txBox="1"/>
          <p:nvPr/>
        </p:nvSpPr>
        <p:spPr>
          <a:xfrm>
            <a:off x="18692246" y="9758970"/>
            <a:ext cx="1186543" cy="523220"/>
          </a:xfrm>
          <a:prstGeom prst="rect">
            <a:avLst/>
          </a:prstGeom>
          <a:noFill/>
        </p:spPr>
        <p:txBody>
          <a:bodyPr wrap="none" rtlCol="0">
            <a:spAutoFit/>
          </a:bodyPr>
          <a:lstStyle/>
          <a:p>
            <a:r>
              <a:rPr lang="en-US" sz="2800" b="1" dirty="0">
                <a:solidFill>
                  <a:schemeClr val="bg2">
                    <a:lumMod val="10000"/>
                  </a:schemeClr>
                </a:solidFill>
              </a:rPr>
              <a:t>Rainy</a:t>
            </a:r>
          </a:p>
        </p:txBody>
      </p:sp>
    </p:spTree>
    <p:extLst>
      <p:ext uri="{BB962C8B-B14F-4D97-AF65-F5344CB8AC3E}">
        <p14:creationId xmlns:p14="http://schemas.microsoft.com/office/powerpoint/2010/main" val="352081999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10455337"/>
          </a:xfrm>
        </p:spPr>
        <p:txBody>
          <a:bodyPr>
            <a:normAutofit/>
          </a:bodyPr>
          <a:lstStyle/>
          <a:p>
            <a:pPr algn="just"/>
            <a:r>
              <a:rPr lang="en-US" dirty="0">
                <a:solidFill>
                  <a:schemeClr val="bg2">
                    <a:lumMod val="10000"/>
                  </a:schemeClr>
                </a:solidFill>
              </a:rPr>
              <a:t>Hidden Markov Models (HMM) are used for situations in which:​</a:t>
            </a:r>
          </a:p>
          <a:p>
            <a:pPr lvl="1" algn="just">
              <a:buFont typeface="Wingdings" pitchFamily="2" charset="2"/>
              <a:buChar char="Ø"/>
            </a:pPr>
            <a:r>
              <a:rPr lang="en-US" dirty="0">
                <a:solidFill>
                  <a:schemeClr val="bg2">
                    <a:lumMod val="10000"/>
                  </a:schemeClr>
                </a:solidFill>
              </a:rPr>
              <a:t>The data consists of a </a:t>
            </a:r>
            <a:r>
              <a:rPr lang="en-US" b="1" dirty="0">
                <a:solidFill>
                  <a:srgbClr val="0070C0"/>
                </a:solidFill>
              </a:rPr>
              <a:t>sequence</a:t>
            </a:r>
            <a:r>
              <a:rPr lang="en-US" dirty="0">
                <a:solidFill>
                  <a:schemeClr val="bg2">
                    <a:lumMod val="10000"/>
                  </a:schemeClr>
                </a:solidFill>
              </a:rPr>
              <a:t> of observations​</a:t>
            </a:r>
          </a:p>
          <a:p>
            <a:pPr lvl="1" algn="just">
              <a:buFont typeface="Wingdings" pitchFamily="2" charset="2"/>
              <a:buChar char="Ø"/>
            </a:pPr>
            <a:r>
              <a:rPr lang="en-US" dirty="0">
                <a:solidFill>
                  <a:schemeClr val="bg2">
                    <a:lumMod val="10000"/>
                  </a:schemeClr>
                </a:solidFill>
              </a:rPr>
              <a:t>The observations depend (probabilistically) on the internal state of </a:t>
            </a:r>
            <a:r>
              <a:rPr lang="en-US" b="1" dirty="0">
                <a:solidFill>
                  <a:srgbClr val="0070C0"/>
                </a:solidFill>
              </a:rPr>
              <a:t>dynamic</a:t>
            </a:r>
            <a:r>
              <a:rPr lang="en-US" dirty="0">
                <a:solidFill>
                  <a:schemeClr val="bg2">
                    <a:lumMod val="10000"/>
                  </a:schemeClr>
                </a:solidFill>
              </a:rPr>
              <a:t> system​</a:t>
            </a:r>
          </a:p>
          <a:p>
            <a:pPr lvl="1" algn="just">
              <a:buFont typeface="Wingdings" pitchFamily="2" charset="2"/>
              <a:buChar char="Ø"/>
            </a:pPr>
            <a:r>
              <a:rPr lang="en-US" dirty="0">
                <a:solidFill>
                  <a:schemeClr val="bg2">
                    <a:lumMod val="10000"/>
                  </a:schemeClr>
                </a:solidFill>
              </a:rPr>
              <a:t>The true state of the system is </a:t>
            </a:r>
            <a:r>
              <a:rPr lang="en-US" b="1" dirty="0">
                <a:solidFill>
                  <a:srgbClr val="0070C0"/>
                </a:solidFill>
              </a:rPr>
              <a:t>unknown</a:t>
            </a:r>
            <a:r>
              <a:rPr lang="en-US" dirty="0">
                <a:solidFill>
                  <a:schemeClr val="bg2">
                    <a:lumMod val="10000"/>
                  </a:schemeClr>
                </a:solidFill>
              </a:rPr>
              <a:t> (it is hidden or latent) ​</a:t>
            </a:r>
          </a:p>
          <a:p>
            <a:pPr algn="just"/>
            <a:r>
              <a:rPr lang="en-US" dirty="0">
                <a:solidFill>
                  <a:schemeClr val="bg2">
                    <a:lumMod val="10000"/>
                  </a:schemeClr>
                </a:solidFill>
              </a:rPr>
              <a:t>Why is it called Hidden Markov Model?​</a:t>
            </a:r>
          </a:p>
          <a:p>
            <a:pPr lvl="1" algn="just">
              <a:buFont typeface="Wingdings" pitchFamily="2" charset="2"/>
              <a:buChar char="Ø"/>
            </a:pPr>
            <a:r>
              <a:rPr lang="en-US" dirty="0">
                <a:solidFill>
                  <a:schemeClr val="bg2">
                    <a:lumMod val="10000"/>
                  </a:schemeClr>
                </a:solidFill>
              </a:rPr>
              <a:t>We are constructing an inference model based on the assumptions of Markov Process. ​</a:t>
            </a:r>
          </a:p>
          <a:p>
            <a:pPr lvl="1" algn="just">
              <a:buFont typeface="Wingdings" pitchFamily="2" charset="2"/>
              <a:buChar char="Ø"/>
            </a:pPr>
            <a:r>
              <a:rPr lang="en-US" dirty="0">
                <a:solidFill>
                  <a:schemeClr val="bg2">
                    <a:lumMod val="10000"/>
                  </a:schemeClr>
                </a:solidFill>
              </a:rPr>
              <a:t>The Markov process assumption is simply that the “</a:t>
            </a:r>
            <a:r>
              <a:rPr lang="en-US" dirty="0">
                <a:solidFill>
                  <a:srgbClr val="0070C0"/>
                </a:solidFill>
              </a:rPr>
              <a:t>future is </a:t>
            </a:r>
            <a:r>
              <a:rPr lang="en-US" b="1" dirty="0">
                <a:solidFill>
                  <a:srgbClr val="0070C0"/>
                </a:solidFill>
              </a:rPr>
              <a:t>independent </a:t>
            </a:r>
            <a:r>
              <a:rPr lang="en-US" dirty="0">
                <a:solidFill>
                  <a:srgbClr val="0070C0"/>
                </a:solidFill>
              </a:rPr>
              <a:t>of the past </a:t>
            </a:r>
            <a:r>
              <a:rPr lang="en-US" b="1" dirty="0">
                <a:solidFill>
                  <a:srgbClr val="0070C0"/>
                </a:solidFill>
              </a:rPr>
              <a:t>given </a:t>
            </a:r>
            <a:r>
              <a:rPr lang="en-US" dirty="0">
                <a:solidFill>
                  <a:srgbClr val="0070C0"/>
                </a:solidFill>
              </a:rPr>
              <a:t>the present</a:t>
            </a:r>
            <a:r>
              <a:rPr lang="en-US" dirty="0">
                <a:solidFill>
                  <a:schemeClr val="bg2">
                    <a:lumMod val="10000"/>
                  </a:schemeClr>
                </a:solidFill>
              </a:rPr>
              <a:t>”​</a:t>
            </a:r>
          </a:p>
          <a:p>
            <a:pPr lvl="1" algn="just">
              <a:buFont typeface="Wingdings" pitchFamily="2" charset="2"/>
              <a:buChar char="Ø"/>
            </a:pPr>
            <a:endParaRPr lang="en-US" dirty="0">
              <a:solidFill>
                <a:schemeClr val="bg2">
                  <a:lumMod val="10000"/>
                </a:schemeClr>
              </a:solidFill>
            </a:endParaRPr>
          </a:p>
          <a:p>
            <a:pPr algn="just"/>
            <a:endParaRPr lang="en-US" dirty="0">
              <a:solidFill>
                <a:schemeClr val="bg2">
                  <a:lumMod val="10000"/>
                </a:schemeClr>
              </a:solidFill>
            </a:endParaRPr>
          </a:p>
        </p:txBody>
      </p:sp>
    </p:spTree>
    <p:extLst>
      <p:ext uri="{BB962C8B-B14F-4D97-AF65-F5344CB8AC3E}">
        <p14:creationId xmlns:p14="http://schemas.microsoft.com/office/powerpoint/2010/main" val="138405096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10455337"/>
              </a:xfrm>
            </p:spPr>
            <p:txBody>
              <a:bodyPr>
                <a:normAutofit/>
              </a:bodyPr>
              <a:lstStyle/>
              <a:p>
                <a:pPr algn="just"/>
                <a:r>
                  <a:rPr lang="en-US" sz="4400" dirty="0">
                    <a:latin typeface="+mj-lt"/>
                  </a:rPr>
                  <a:t>In Hidden Markov Model (HMM), the sequence of T output variable </a:t>
                </a:r>
                <a14:m>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𝑦</m:t>
                        </m:r>
                      </m:e>
                      <m:sub>
                        <m:r>
                          <a:rPr lang="en-US" sz="4400" b="0" i="1" smtClean="0">
                            <a:latin typeface="Cambria Math" panose="02040503050406030204" pitchFamily="18" charset="0"/>
                          </a:rPr>
                          <m:t>𝑡</m:t>
                        </m:r>
                      </m:sub>
                    </m:sSub>
                  </m:oMath>
                </a14:m>
                <a:r>
                  <a:rPr lang="en-ID" sz="4400" dirty="0">
                    <a:latin typeface="+mj-lt"/>
                  </a:rPr>
                  <a:t> is generated by a parallel sequence of latent categorical state variables </a:t>
                </a:r>
                <a14:m>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𝑧</m:t>
                        </m:r>
                      </m:e>
                      <m:sub>
                        <m:r>
                          <a:rPr lang="en-US" sz="4400" b="0" i="1" smtClean="0">
                            <a:latin typeface="Cambria Math" panose="02040503050406030204" pitchFamily="18" charset="0"/>
                          </a:rPr>
                          <m:t>𝑡</m:t>
                        </m:r>
                      </m:sub>
                    </m:sSub>
                    <m:r>
                      <a:rPr lang="en-US" sz="4400" b="0" i="1" smtClean="0">
                        <a:latin typeface="Cambria Math" panose="02040503050406030204" pitchFamily="18" charset="0"/>
                      </a:rPr>
                      <m:t>∈{1, …, </m:t>
                    </m:r>
                    <m:r>
                      <a:rPr lang="en-US" sz="4400" b="0" i="1" smtClean="0">
                        <a:latin typeface="Cambria Math" panose="02040503050406030204" pitchFamily="18" charset="0"/>
                      </a:rPr>
                      <m:t>𝐾</m:t>
                    </m:r>
                    <m:r>
                      <a:rPr lang="en-US" sz="4400" b="0" i="1" smtClean="0">
                        <a:latin typeface="Cambria Math" panose="02040503050406030204" pitchFamily="18" charset="0"/>
                      </a:rPr>
                      <m:t>}</m:t>
                    </m:r>
                  </m:oMath>
                </a14:m>
                <a:r>
                  <a:rPr lang="en-ID" sz="4400" dirty="0">
                    <a:latin typeface="+mj-lt"/>
                  </a:rPr>
                  <a:t>. These hidden states are a Markov chain, so that </a:t>
                </a:r>
                <a14:m>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𝑧</m:t>
                        </m:r>
                      </m:e>
                      <m:sub>
                        <m:r>
                          <a:rPr lang="en-US" sz="4400" i="1">
                            <a:latin typeface="Cambria Math" panose="02040503050406030204" pitchFamily="18" charset="0"/>
                          </a:rPr>
                          <m:t>𝑡</m:t>
                        </m:r>
                      </m:sub>
                    </m:sSub>
                  </m:oMath>
                </a14:m>
                <a:r>
                  <a:rPr lang="en-ID" sz="4400" dirty="0">
                    <a:latin typeface="+mj-lt"/>
                  </a:rPr>
                  <a:t> is conditionally independent of other variables given </a:t>
                </a:r>
                <a14:m>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𝑧</m:t>
                        </m:r>
                      </m:e>
                      <m:sub>
                        <m:r>
                          <a:rPr lang="en-US" sz="4400" i="1">
                            <a:latin typeface="Cambria Math" panose="02040503050406030204" pitchFamily="18" charset="0"/>
                          </a:rPr>
                          <m:t>𝑡</m:t>
                        </m:r>
                        <m:r>
                          <a:rPr lang="en-US" sz="4400" b="0" i="1" smtClean="0">
                            <a:latin typeface="Cambria Math" panose="02040503050406030204" pitchFamily="18" charset="0"/>
                          </a:rPr>
                          <m:t>−1</m:t>
                        </m:r>
                      </m:sub>
                    </m:sSub>
                  </m:oMath>
                </a14:m>
                <a:endParaRPr lang="en-ID" sz="4400" dirty="0">
                  <a:latin typeface="+mj-lt"/>
                </a:endParaRPr>
              </a:p>
              <a:p>
                <a:pPr algn="just"/>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10455337"/>
              </a:xfrm>
              <a:blipFill>
                <a:blip r:embed="rId2"/>
                <a:stretch>
                  <a:fillRect l="-1329" t="-971" r="-1456"/>
                </a:stretch>
              </a:blipFill>
            </p:spPr>
            <p:txBody>
              <a:bodyPr/>
              <a:lstStyle/>
              <a:p>
                <a:r>
                  <a:rPr lang="en-US">
                    <a:noFill/>
                  </a:rPr>
                  <a:t> </a:t>
                </a:r>
              </a:p>
            </p:txBody>
          </p:sp>
        </mc:Fallback>
      </mc:AlternateContent>
      <p:pic>
        <p:nvPicPr>
          <p:cNvPr id="5" name="Picture 5">
            <a:extLst>
              <a:ext uri="{FF2B5EF4-FFF2-40B4-BE49-F238E27FC236}">
                <a16:creationId xmlns:a16="http://schemas.microsoft.com/office/drawing/2014/main" id="{FCB518DD-4989-75B2-4D9A-8D25D2C4ED78}"/>
              </a:ext>
            </a:extLst>
          </p:cNvPr>
          <p:cNvPicPr>
            <a:picLocks noChangeAspect="1"/>
          </p:cNvPicPr>
          <p:nvPr/>
        </p:nvPicPr>
        <p:blipFill>
          <a:blip r:embed="rId3"/>
          <a:stretch>
            <a:fillRect/>
          </a:stretch>
        </p:blipFill>
        <p:spPr>
          <a:xfrm>
            <a:off x="4562924" y="6321939"/>
            <a:ext cx="9706840" cy="5522003"/>
          </a:xfrm>
          <a:prstGeom prst="rect">
            <a:avLst/>
          </a:prstGeom>
        </p:spPr>
      </p:pic>
      <p:sp>
        <p:nvSpPr>
          <p:cNvPr id="6" name="TextBox 6">
            <a:extLst>
              <a:ext uri="{FF2B5EF4-FFF2-40B4-BE49-F238E27FC236}">
                <a16:creationId xmlns:a16="http://schemas.microsoft.com/office/drawing/2014/main" id="{6B318DC4-F2A0-3620-39DA-530D3A5B4D12}"/>
              </a:ext>
            </a:extLst>
          </p:cNvPr>
          <p:cNvSpPr txBox="1"/>
          <p:nvPr/>
        </p:nvSpPr>
        <p:spPr>
          <a:xfrm>
            <a:off x="13645954" y="10250766"/>
            <a:ext cx="4495141" cy="769441"/>
          </a:xfrm>
          <a:prstGeom prst="rect">
            <a:avLst/>
          </a:prstGeom>
          <a:noFill/>
        </p:spPr>
        <p:txBody>
          <a:bodyPr wrap="none" rtlCol="0">
            <a:spAutoFit/>
          </a:bodyPr>
          <a:lstStyle/>
          <a:p>
            <a:r>
              <a:rPr lang="en-US" sz="4400" b="1" dirty="0">
                <a:solidFill>
                  <a:srgbClr val="0070C0"/>
                </a:solidFill>
              </a:rPr>
              <a:t>Observed State</a:t>
            </a:r>
            <a:endParaRPr lang="en-ID" sz="4400" b="1" dirty="0">
              <a:solidFill>
                <a:srgbClr val="0070C0"/>
              </a:solidFill>
            </a:endParaRPr>
          </a:p>
        </p:txBody>
      </p:sp>
      <p:sp>
        <p:nvSpPr>
          <p:cNvPr id="7" name="TextBox 7">
            <a:extLst>
              <a:ext uri="{FF2B5EF4-FFF2-40B4-BE49-F238E27FC236}">
                <a16:creationId xmlns:a16="http://schemas.microsoft.com/office/drawing/2014/main" id="{6128F4F8-BD54-68F8-745D-B943632F9B06}"/>
              </a:ext>
            </a:extLst>
          </p:cNvPr>
          <p:cNvSpPr txBox="1"/>
          <p:nvPr/>
        </p:nvSpPr>
        <p:spPr>
          <a:xfrm>
            <a:off x="13645954" y="7062490"/>
            <a:ext cx="3828292" cy="769441"/>
          </a:xfrm>
          <a:prstGeom prst="rect">
            <a:avLst/>
          </a:prstGeom>
          <a:noFill/>
        </p:spPr>
        <p:txBody>
          <a:bodyPr wrap="none" rtlCol="0">
            <a:spAutoFit/>
          </a:bodyPr>
          <a:lstStyle/>
          <a:p>
            <a:r>
              <a:rPr lang="en-US" sz="4400" b="1" dirty="0">
                <a:solidFill>
                  <a:srgbClr val="0070C0"/>
                </a:solidFill>
              </a:rPr>
              <a:t>Hidden State</a:t>
            </a:r>
            <a:endParaRPr lang="en-ID" sz="4400" b="1" dirty="0">
              <a:solidFill>
                <a:srgbClr val="0070C0"/>
              </a:solidFill>
            </a:endParaRPr>
          </a:p>
        </p:txBody>
      </p:sp>
    </p:spTree>
    <p:extLst>
      <p:ext uri="{BB962C8B-B14F-4D97-AF65-F5344CB8AC3E}">
        <p14:creationId xmlns:p14="http://schemas.microsoft.com/office/powerpoint/2010/main" val="23832587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r>
              <a:rPr lang="en-US" sz="4400" dirty="0">
                <a:latin typeface="+mj-lt"/>
              </a:rPr>
              <a:t>Generally, the term “</a:t>
            </a:r>
            <a:r>
              <a:rPr lang="en-US" sz="4400" i="1" dirty="0">
                <a:latin typeface="+mj-lt"/>
              </a:rPr>
              <a:t>states</a:t>
            </a:r>
            <a:r>
              <a:rPr lang="en-US" sz="4400" dirty="0">
                <a:latin typeface="+mj-lt"/>
              </a:rPr>
              <a:t>” are used to refer to the hidden  states and “</a:t>
            </a:r>
            <a:r>
              <a:rPr lang="en-US" sz="4400" i="1" dirty="0">
                <a:latin typeface="+mj-lt"/>
              </a:rPr>
              <a:t>observations</a:t>
            </a:r>
            <a:r>
              <a:rPr lang="en-US" sz="4400" dirty="0">
                <a:latin typeface="+mj-lt"/>
              </a:rPr>
              <a:t>” are used to refer to the observed states.</a:t>
            </a:r>
          </a:p>
          <a:p>
            <a:pPr lvl="1">
              <a:buFont typeface="Wingdings" pitchFamily="2" charset="2"/>
              <a:buChar char="Ø"/>
            </a:pPr>
            <a:r>
              <a:rPr lang="en-US" sz="4400" b="1" dirty="0">
                <a:solidFill>
                  <a:srgbClr val="008FD5"/>
                </a:solidFill>
                <a:latin typeface="+mj-lt"/>
              </a:rPr>
              <a:t>Transition data </a:t>
            </a:r>
            <a:r>
              <a:rPr lang="en-US" sz="4400" dirty="0">
                <a:latin typeface="+mj-lt"/>
              </a:rPr>
              <a:t>– the probability of transitioning to a new state conditioned on a present state</a:t>
            </a:r>
          </a:p>
          <a:p>
            <a:pPr lvl="1">
              <a:buFont typeface="Wingdings" pitchFamily="2" charset="2"/>
              <a:buChar char="Ø"/>
            </a:pPr>
            <a:r>
              <a:rPr lang="en-US" sz="4400" b="1" dirty="0">
                <a:solidFill>
                  <a:srgbClr val="008FD5"/>
                </a:solidFill>
                <a:latin typeface="+mj-lt"/>
              </a:rPr>
              <a:t>Emission data </a:t>
            </a:r>
            <a:r>
              <a:rPr lang="en-US" sz="4400" dirty="0">
                <a:latin typeface="+mj-lt"/>
              </a:rPr>
              <a:t>– the probability of transitioning to an observed state condition on a hidden state</a:t>
            </a:r>
          </a:p>
          <a:p>
            <a:pPr lvl="1">
              <a:buFont typeface="Wingdings" pitchFamily="2" charset="2"/>
              <a:buChar char="Ø"/>
            </a:pPr>
            <a:r>
              <a:rPr lang="en-US" sz="4400" b="1" dirty="0">
                <a:solidFill>
                  <a:srgbClr val="008FD5"/>
                </a:solidFill>
                <a:latin typeface="+mj-lt"/>
              </a:rPr>
              <a:t>Initial state information </a:t>
            </a:r>
            <a:r>
              <a:rPr lang="en-US" sz="4400" dirty="0">
                <a:latin typeface="+mj-lt"/>
              </a:rPr>
              <a:t>– The initial probability of transitioning to a hidden state. This can be looked like the prior probability</a:t>
            </a:r>
            <a:endParaRPr lang="en-ID" sz="4400" dirty="0">
              <a:latin typeface="+mj-lt"/>
            </a:endParaRPr>
          </a:p>
          <a:p>
            <a:pPr algn="just"/>
            <a:endParaRPr lang="en-ID" sz="4400" dirty="0">
              <a:latin typeface="+mj-lt"/>
            </a:endParaRPr>
          </a:p>
          <a:p>
            <a:pPr algn="just"/>
            <a:endParaRPr lang="en-US" dirty="0">
              <a:solidFill>
                <a:schemeClr val="bg2">
                  <a:lumMod val="10000"/>
                </a:schemeClr>
              </a:solidFill>
            </a:endParaRPr>
          </a:p>
        </p:txBody>
      </p:sp>
    </p:spTree>
    <p:extLst>
      <p:ext uri="{BB962C8B-B14F-4D97-AF65-F5344CB8AC3E}">
        <p14:creationId xmlns:p14="http://schemas.microsoft.com/office/powerpoint/2010/main" val="279874398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r>
              <a:rPr lang="en-US" sz="4400" dirty="0">
                <a:latin typeface="+mj-lt"/>
              </a:rPr>
              <a:t>Consider Jack who is living in Gotham city, the city is unique only have three weather: rainy, cloudy and sunny. It only occur once a day, and tomorrow weather depends on the today weather. </a:t>
            </a:r>
          </a:p>
          <a:p>
            <a:r>
              <a:rPr lang="en-US" sz="4400" dirty="0">
                <a:latin typeface="+mj-lt"/>
              </a:rPr>
              <a:t>In one day, Jack can have two mood sad or happy and it depends on weather. Supposed we observed: the day is sunny, and jack is happy; next day is cloudy and jack is happy; but the third day is sunny, but jack is sad. </a:t>
            </a:r>
          </a:p>
          <a:p>
            <a:r>
              <a:rPr lang="en-US" sz="4400" dirty="0">
                <a:latin typeface="+mj-lt"/>
              </a:rPr>
              <a:t>What is the probability of the given observation?</a:t>
            </a:r>
            <a:endParaRPr lang="en-ID" sz="4400" dirty="0">
              <a:latin typeface="+mj-lt"/>
            </a:endParaRPr>
          </a:p>
          <a:p>
            <a:endParaRPr lang="en-ID" sz="4400" dirty="0">
              <a:latin typeface="+mj-lt"/>
            </a:endParaRPr>
          </a:p>
          <a:p>
            <a:pPr algn="just"/>
            <a:endParaRPr lang="en-US" dirty="0">
              <a:solidFill>
                <a:schemeClr val="bg2">
                  <a:lumMod val="10000"/>
                </a:schemeClr>
              </a:solidFill>
            </a:endParaRPr>
          </a:p>
        </p:txBody>
      </p:sp>
    </p:spTree>
    <p:extLst>
      <p:ext uri="{BB962C8B-B14F-4D97-AF65-F5344CB8AC3E}">
        <p14:creationId xmlns:p14="http://schemas.microsoft.com/office/powerpoint/2010/main" val="110188821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16" name="Picture 5">
            <a:extLst>
              <a:ext uri="{FF2B5EF4-FFF2-40B4-BE49-F238E27FC236}">
                <a16:creationId xmlns:a16="http://schemas.microsoft.com/office/drawing/2014/main" id="{1BA03B5F-E30F-6E97-69F1-98BACB2365E4}"/>
              </a:ext>
            </a:extLst>
          </p:cNvPr>
          <p:cNvPicPr>
            <a:picLocks noChangeAspect="1"/>
          </p:cNvPicPr>
          <p:nvPr/>
        </p:nvPicPr>
        <p:blipFill>
          <a:blip r:embed="rId2"/>
          <a:stretch>
            <a:fillRect/>
          </a:stretch>
        </p:blipFill>
        <p:spPr>
          <a:xfrm>
            <a:off x="2226658" y="4166005"/>
            <a:ext cx="16742061" cy="9051674"/>
          </a:xfrm>
          <a:prstGeom prst="rect">
            <a:avLst/>
          </a:prstGeom>
        </p:spPr>
      </p:pic>
      <p:sp>
        <p:nvSpPr>
          <p:cNvPr id="17" name="TextBox 6">
            <a:extLst>
              <a:ext uri="{FF2B5EF4-FFF2-40B4-BE49-F238E27FC236}">
                <a16:creationId xmlns:a16="http://schemas.microsoft.com/office/drawing/2014/main" id="{7C193747-304E-7AA4-FDAA-6FF83D1E64E7}"/>
              </a:ext>
            </a:extLst>
          </p:cNvPr>
          <p:cNvSpPr txBox="1"/>
          <p:nvPr/>
        </p:nvSpPr>
        <p:spPr>
          <a:xfrm>
            <a:off x="19197319" y="6085874"/>
            <a:ext cx="4629793" cy="646331"/>
          </a:xfrm>
          <a:prstGeom prst="rect">
            <a:avLst/>
          </a:prstGeom>
          <a:noFill/>
        </p:spPr>
        <p:txBody>
          <a:bodyPr wrap="none" rtlCol="0">
            <a:spAutoFit/>
          </a:bodyPr>
          <a:lstStyle/>
          <a:p>
            <a:r>
              <a:rPr lang="en-US" sz="3600" b="1" dirty="0">
                <a:solidFill>
                  <a:srgbClr val="00B050"/>
                </a:solidFill>
              </a:rPr>
              <a:t>Transition Diagram</a:t>
            </a:r>
            <a:endParaRPr lang="en-ID" sz="3600" b="1" dirty="0">
              <a:solidFill>
                <a:srgbClr val="00B050"/>
              </a:solidFill>
            </a:endParaRPr>
          </a:p>
        </p:txBody>
      </p:sp>
      <p:sp>
        <p:nvSpPr>
          <p:cNvPr id="18" name="TextBox 7">
            <a:extLst>
              <a:ext uri="{FF2B5EF4-FFF2-40B4-BE49-F238E27FC236}">
                <a16:creationId xmlns:a16="http://schemas.microsoft.com/office/drawing/2014/main" id="{BD5F716D-B8C1-6367-20C0-9A3CFED2B4C0}"/>
              </a:ext>
            </a:extLst>
          </p:cNvPr>
          <p:cNvSpPr txBox="1"/>
          <p:nvPr/>
        </p:nvSpPr>
        <p:spPr>
          <a:xfrm>
            <a:off x="19197319" y="10480873"/>
            <a:ext cx="4310795" cy="646331"/>
          </a:xfrm>
          <a:prstGeom prst="rect">
            <a:avLst/>
          </a:prstGeom>
          <a:noFill/>
        </p:spPr>
        <p:txBody>
          <a:bodyPr wrap="none" rtlCol="0">
            <a:spAutoFit/>
          </a:bodyPr>
          <a:lstStyle/>
          <a:p>
            <a:r>
              <a:rPr lang="en-US" sz="3600" b="1" dirty="0">
                <a:solidFill>
                  <a:srgbClr val="FF6862"/>
                </a:solidFill>
              </a:rPr>
              <a:t>Emission Diagram</a:t>
            </a:r>
            <a:endParaRPr lang="en-ID" sz="3600" b="1" dirty="0">
              <a:solidFill>
                <a:srgbClr val="FF6862"/>
              </a:solidFill>
            </a:endParaRPr>
          </a:p>
        </p:txBody>
      </p:sp>
      <p:sp>
        <p:nvSpPr>
          <p:cNvPr id="19" name="Rectangle 8">
            <a:extLst>
              <a:ext uri="{FF2B5EF4-FFF2-40B4-BE49-F238E27FC236}">
                <a16:creationId xmlns:a16="http://schemas.microsoft.com/office/drawing/2014/main" id="{DE40C0B3-0E39-C659-FA98-8962052A58D4}"/>
              </a:ext>
            </a:extLst>
          </p:cNvPr>
          <p:cNvSpPr/>
          <p:nvPr/>
        </p:nvSpPr>
        <p:spPr>
          <a:xfrm>
            <a:off x="2359300" y="4241573"/>
            <a:ext cx="16360500" cy="4765748"/>
          </a:xfrm>
          <a:prstGeom prst="rect">
            <a:avLst/>
          </a:prstGeom>
          <a:noFill/>
          <a:ln w="57150" cap="flat" cmpd="sng" algn="ctr">
            <a:solidFill>
              <a:schemeClr val="accent3"/>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D"/>
          </a:p>
        </p:txBody>
      </p:sp>
      <p:sp>
        <p:nvSpPr>
          <p:cNvPr id="20" name="Rectangle 9">
            <a:extLst>
              <a:ext uri="{FF2B5EF4-FFF2-40B4-BE49-F238E27FC236}">
                <a16:creationId xmlns:a16="http://schemas.microsoft.com/office/drawing/2014/main" id="{B3837145-3914-891C-42FF-1CE1A23E30D2}"/>
              </a:ext>
            </a:extLst>
          </p:cNvPr>
          <p:cNvSpPr/>
          <p:nvPr/>
        </p:nvSpPr>
        <p:spPr>
          <a:xfrm>
            <a:off x="2359300" y="9220200"/>
            <a:ext cx="16360500" cy="3784600"/>
          </a:xfrm>
          <a:prstGeom prst="rect">
            <a:avLst/>
          </a:prstGeom>
          <a:noFill/>
          <a:ln w="76200" cap="flat" cmpd="sng" algn="ctr">
            <a:solidFill>
              <a:srgbClr val="FF6B5C"/>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D"/>
          </a:p>
        </p:txBody>
      </p:sp>
    </p:spTree>
    <p:extLst>
      <p:ext uri="{BB962C8B-B14F-4D97-AF65-F5344CB8AC3E}">
        <p14:creationId xmlns:p14="http://schemas.microsoft.com/office/powerpoint/2010/main" val="428482885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16" name="Picture 5">
            <a:extLst>
              <a:ext uri="{FF2B5EF4-FFF2-40B4-BE49-F238E27FC236}">
                <a16:creationId xmlns:a16="http://schemas.microsoft.com/office/drawing/2014/main" id="{1BA03B5F-E30F-6E97-69F1-98BACB2365E4}"/>
              </a:ext>
            </a:extLst>
          </p:cNvPr>
          <p:cNvPicPr>
            <a:picLocks noChangeAspect="1"/>
          </p:cNvPicPr>
          <p:nvPr/>
        </p:nvPicPr>
        <p:blipFill>
          <a:blip r:embed="rId2"/>
          <a:stretch>
            <a:fillRect/>
          </a:stretch>
        </p:blipFill>
        <p:spPr>
          <a:xfrm>
            <a:off x="2226658" y="4166005"/>
            <a:ext cx="16742061" cy="9051674"/>
          </a:xfrm>
          <a:prstGeom prst="rect">
            <a:avLst/>
          </a:prstGeom>
        </p:spPr>
      </p:pic>
      <p:sp>
        <p:nvSpPr>
          <p:cNvPr id="17" name="TextBox 6">
            <a:extLst>
              <a:ext uri="{FF2B5EF4-FFF2-40B4-BE49-F238E27FC236}">
                <a16:creationId xmlns:a16="http://schemas.microsoft.com/office/drawing/2014/main" id="{7C193747-304E-7AA4-FDAA-6FF83D1E64E7}"/>
              </a:ext>
            </a:extLst>
          </p:cNvPr>
          <p:cNvSpPr txBox="1"/>
          <p:nvPr/>
        </p:nvSpPr>
        <p:spPr>
          <a:xfrm>
            <a:off x="19815281" y="6085874"/>
            <a:ext cx="3393878" cy="646331"/>
          </a:xfrm>
          <a:prstGeom prst="rect">
            <a:avLst/>
          </a:prstGeom>
          <a:noFill/>
        </p:spPr>
        <p:txBody>
          <a:bodyPr wrap="none" rtlCol="0">
            <a:spAutoFit/>
          </a:bodyPr>
          <a:lstStyle/>
          <a:p>
            <a:r>
              <a:rPr lang="en-US" sz="3600" b="1" dirty="0">
                <a:solidFill>
                  <a:srgbClr val="00B050"/>
                </a:solidFill>
              </a:rPr>
              <a:t>Hidden States</a:t>
            </a:r>
            <a:endParaRPr lang="en-ID" sz="3600" b="1" dirty="0">
              <a:solidFill>
                <a:srgbClr val="00B050"/>
              </a:solidFill>
            </a:endParaRPr>
          </a:p>
        </p:txBody>
      </p:sp>
      <p:sp>
        <p:nvSpPr>
          <p:cNvPr id="18" name="TextBox 7">
            <a:extLst>
              <a:ext uri="{FF2B5EF4-FFF2-40B4-BE49-F238E27FC236}">
                <a16:creationId xmlns:a16="http://schemas.microsoft.com/office/drawing/2014/main" id="{BD5F716D-B8C1-6367-20C0-9A3CFED2B4C0}"/>
              </a:ext>
            </a:extLst>
          </p:cNvPr>
          <p:cNvSpPr txBox="1"/>
          <p:nvPr/>
        </p:nvSpPr>
        <p:spPr>
          <a:xfrm>
            <a:off x="19144423" y="10480873"/>
            <a:ext cx="4416594" cy="646331"/>
          </a:xfrm>
          <a:prstGeom prst="rect">
            <a:avLst/>
          </a:prstGeom>
          <a:noFill/>
        </p:spPr>
        <p:txBody>
          <a:bodyPr wrap="none" rtlCol="0">
            <a:spAutoFit/>
          </a:bodyPr>
          <a:lstStyle/>
          <a:p>
            <a:r>
              <a:rPr lang="en-US" sz="3600" b="1" dirty="0">
                <a:solidFill>
                  <a:srgbClr val="FF6862"/>
                </a:solidFill>
              </a:rPr>
              <a:t>Observed Variable</a:t>
            </a:r>
            <a:endParaRPr lang="en-ID" sz="3600" b="1" dirty="0">
              <a:solidFill>
                <a:srgbClr val="FF6862"/>
              </a:solidFill>
            </a:endParaRPr>
          </a:p>
        </p:txBody>
      </p:sp>
      <p:sp>
        <p:nvSpPr>
          <p:cNvPr id="19" name="Rectangle 8">
            <a:extLst>
              <a:ext uri="{FF2B5EF4-FFF2-40B4-BE49-F238E27FC236}">
                <a16:creationId xmlns:a16="http://schemas.microsoft.com/office/drawing/2014/main" id="{DE40C0B3-0E39-C659-FA98-8962052A58D4}"/>
              </a:ext>
            </a:extLst>
          </p:cNvPr>
          <p:cNvSpPr/>
          <p:nvPr/>
        </p:nvSpPr>
        <p:spPr>
          <a:xfrm>
            <a:off x="2359300" y="4241573"/>
            <a:ext cx="16360500" cy="4765748"/>
          </a:xfrm>
          <a:prstGeom prst="rect">
            <a:avLst/>
          </a:prstGeom>
          <a:noFill/>
          <a:ln w="57150" cap="flat" cmpd="sng" algn="ctr">
            <a:solidFill>
              <a:schemeClr val="accent3"/>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D"/>
          </a:p>
        </p:txBody>
      </p:sp>
      <p:sp>
        <p:nvSpPr>
          <p:cNvPr id="20" name="Rectangle 9">
            <a:extLst>
              <a:ext uri="{FF2B5EF4-FFF2-40B4-BE49-F238E27FC236}">
                <a16:creationId xmlns:a16="http://schemas.microsoft.com/office/drawing/2014/main" id="{B3837145-3914-891C-42FF-1CE1A23E30D2}"/>
              </a:ext>
            </a:extLst>
          </p:cNvPr>
          <p:cNvSpPr/>
          <p:nvPr/>
        </p:nvSpPr>
        <p:spPr>
          <a:xfrm>
            <a:off x="2359300" y="9220200"/>
            <a:ext cx="16360500" cy="3784600"/>
          </a:xfrm>
          <a:prstGeom prst="rect">
            <a:avLst/>
          </a:prstGeom>
          <a:noFill/>
          <a:ln w="76200" cap="flat" cmpd="sng" algn="ctr">
            <a:solidFill>
              <a:srgbClr val="FF6B5C"/>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D"/>
          </a:p>
        </p:txBody>
      </p:sp>
      <p:sp>
        <p:nvSpPr>
          <p:cNvPr id="4" name="Content Placeholder 3">
            <a:extLst>
              <a:ext uri="{FF2B5EF4-FFF2-40B4-BE49-F238E27FC236}">
                <a16:creationId xmlns:a16="http://schemas.microsoft.com/office/drawing/2014/main" id="{FDEDD2C2-5B8F-D20E-75DE-6E11DEF1782E}"/>
              </a:ext>
            </a:extLst>
          </p:cNvPr>
          <p:cNvSpPr>
            <a:spLocks noGrp="1"/>
          </p:cNvSpPr>
          <p:nvPr>
            <p:ph sz="quarter" idx="11"/>
          </p:nvPr>
        </p:nvSpPr>
        <p:spPr>
          <a:xfrm>
            <a:off x="2163188" y="3260663"/>
            <a:ext cx="20057623" cy="9159937"/>
          </a:xfrm>
        </p:spPr>
        <p:txBody>
          <a:bodyPr>
            <a:normAutofit/>
          </a:bodyPr>
          <a:lstStyle/>
          <a:p>
            <a:pPr algn="just"/>
            <a:r>
              <a:rPr lang="en-US" dirty="0">
                <a:solidFill>
                  <a:schemeClr val="bg2">
                    <a:lumMod val="10000"/>
                  </a:schemeClr>
                </a:solidFill>
              </a:rPr>
              <a:t>We don’t know the weather, but we know Jack’s mood:</a:t>
            </a:r>
          </a:p>
        </p:txBody>
      </p:sp>
    </p:spTree>
    <p:extLst>
      <p:ext uri="{BB962C8B-B14F-4D97-AF65-F5344CB8AC3E}">
        <p14:creationId xmlns:p14="http://schemas.microsoft.com/office/powerpoint/2010/main" val="119601338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r>
              <a:rPr lang="en-US" sz="4400" dirty="0">
                <a:latin typeface="+mj-lt"/>
              </a:rPr>
              <a:t>The state diagram</a:t>
            </a:r>
            <a:endParaRPr lang="en-ID" sz="4400" dirty="0">
              <a:latin typeface="+mj-lt"/>
            </a:endParaRPr>
          </a:p>
          <a:p>
            <a:endParaRPr lang="en-ID" sz="4400" dirty="0">
              <a:latin typeface="+mj-lt"/>
            </a:endParaRPr>
          </a:p>
          <a:p>
            <a:pPr algn="just"/>
            <a:endParaRPr lang="en-US" dirty="0">
              <a:solidFill>
                <a:schemeClr val="bg2">
                  <a:lumMod val="10000"/>
                </a:schemeClr>
              </a:solidFill>
            </a:endParaRPr>
          </a:p>
        </p:txBody>
      </p:sp>
      <p:pic>
        <p:nvPicPr>
          <p:cNvPr id="5" name="Picture 5">
            <a:extLst>
              <a:ext uri="{FF2B5EF4-FFF2-40B4-BE49-F238E27FC236}">
                <a16:creationId xmlns:a16="http://schemas.microsoft.com/office/drawing/2014/main" id="{4613997D-92C1-7F61-FAFB-68B971E9CB41}"/>
              </a:ext>
            </a:extLst>
          </p:cNvPr>
          <p:cNvPicPr>
            <a:picLocks noChangeAspect="1"/>
          </p:cNvPicPr>
          <p:nvPr/>
        </p:nvPicPr>
        <p:blipFill>
          <a:blip r:embed="rId2"/>
          <a:stretch>
            <a:fillRect/>
          </a:stretch>
        </p:blipFill>
        <p:spPr>
          <a:xfrm>
            <a:off x="2191698" y="4433870"/>
            <a:ext cx="20805488" cy="8392457"/>
          </a:xfrm>
          <a:prstGeom prst="rect">
            <a:avLst/>
          </a:prstGeom>
        </p:spPr>
      </p:pic>
    </p:spTree>
    <p:extLst>
      <p:ext uri="{BB962C8B-B14F-4D97-AF65-F5344CB8AC3E}">
        <p14:creationId xmlns:p14="http://schemas.microsoft.com/office/powerpoint/2010/main" val="250455487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r>
              <a:rPr lang="en-US" sz="4400" dirty="0">
                <a:latin typeface="+mj-lt"/>
              </a:rPr>
              <a:t>Write The Transition diagram based on the condition:</a:t>
            </a:r>
          </a:p>
          <a:p>
            <a:pPr lvl="1"/>
            <a:r>
              <a:rPr lang="en-US" sz="4400" dirty="0">
                <a:latin typeface="+mj-lt"/>
              </a:rPr>
              <a:t>At first day: Weather : Sunny, Jack : Happy</a:t>
            </a:r>
          </a:p>
          <a:p>
            <a:pPr lvl="1"/>
            <a:r>
              <a:rPr lang="en-US" sz="4400" dirty="0">
                <a:latin typeface="+mj-lt"/>
              </a:rPr>
              <a:t>At Second day: Weather: cloudy, Jack: Happy</a:t>
            </a:r>
          </a:p>
          <a:p>
            <a:pPr lvl="1"/>
            <a:r>
              <a:rPr lang="en-US" sz="4400" dirty="0">
                <a:latin typeface="+mj-lt"/>
              </a:rPr>
              <a:t>At Third day: Weather: sunny, Jack: Sad</a:t>
            </a:r>
            <a:endParaRPr lang="en-ID" sz="4400" dirty="0">
              <a:latin typeface="+mj-lt"/>
            </a:endParaRPr>
          </a:p>
          <a:p>
            <a:endParaRPr lang="en-ID" sz="4400" dirty="0">
              <a:latin typeface="+mj-lt"/>
            </a:endParaRPr>
          </a:p>
          <a:p>
            <a:pPr algn="just"/>
            <a:endParaRPr lang="en-US" dirty="0">
              <a:solidFill>
                <a:schemeClr val="bg2">
                  <a:lumMod val="10000"/>
                </a:schemeClr>
              </a:solidFill>
            </a:endParaRPr>
          </a:p>
        </p:txBody>
      </p:sp>
      <p:pic>
        <p:nvPicPr>
          <p:cNvPr id="6" name="Picture 5">
            <a:extLst>
              <a:ext uri="{FF2B5EF4-FFF2-40B4-BE49-F238E27FC236}">
                <a16:creationId xmlns:a16="http://schemas.microsoft.com/office/drawing/2014/main" id="{F043B18B-687F-D98B-D2B5-E1DE5231C978}"/>
              </a:ext>
            </a:extLst>
          </p:cNvPr>
          <p:cNvPicPr>
            <a:picLocks noChangeAspect="1"/>
          </p:cNvPicPr>
          <p:nvPr/>
        </p:nvPicPr>
        <p:blipFill>
          <a:blip r:embed="rId2"/>
          <a:stretch>
            <a:fillRect/>
          </a:stretch>
        </p:blipFill>
        <p:spPr>
          <a:xfrm>
            <a:off x="8328754" y="7702984"/>
            <a:ext cx="7726489" cy="4717616"/>
          </a:xfrm>
          <a:prstGeom prst="rect">
            <a:avLst/>
          </a:prstGeom>
        </p:spPr>
      </p:pic>
    </p:spTree>
    <p:extLst>
      <p:ext uri="{BB962C8B-B14F-4D97-AF65-F5344CB8AC3E}">
        <p14:creationId xmlns:p14="http://schemas.microsoft.com/office/powerpoint/2010/main" val="316774518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pPr>
                  <a:spcAft>
                    <a:spcPts val="3000"/>
                  </a:spcAft>
                </a:pPr>
                <a:r>
                  <a:rPr lang="en-US" sz="4400" dirty="0">
                    <a:latin typeface="+mn-lt"/>
                  </a:rPr>
                  <a:t>What is the probability of this scenario occurring?</a:t>
                </a:r>
                <a:endParaRPr lang="en-US" sz="4400" b="0" i="1" dirty="0">
                  <a:latin typeface="Cambria Math" panose="02040503050406030204" pitchFamily="18" charset="0"/>
                </a:endParaRPr>
              </a:p>
              <a:p>
                <a:pPr marL="0" indent="0">
                  <a:buNone/>
                </a:pPr>
                <a14:m>
                  <m:oMath xmlns:m="http://schemas.openxmlformats.org/officeDocument/2006/math">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𝑌</m:t>
                        </m:r>
                        <m:r>
                          <a:rPr lang="en-US" sz="4400" b="0" i="1" smtClean="0">
                            <a:latin typeface="Cambria Math" panose="02040503050406030204" pitchFamily="18" charset="0"/>
                          </a:rPr>
                          <m:t>=</m:t>
                        </m:r>
                        <m:r>
                          <a:rPr lang="en-US" sz="4400" b="0" i="1" smtClean="0">
                            <a:latin typeface="Cambria Math" panose="02040503050406030204" pitchFamily="18" charset="0"/>
                          </a:rPr>
                          <m:t>h𝑎𝑝𝑝𝑦</m:t>
                        </m:r>
                        <m:r>
                          <a:rPr lang="en-US" sz="4400" b="0" i="1" smtClean="0">
                            <a:latin typeface="Cambria Math" panose="02040503050406030204" pitchFamily="18" charset="0"/>
                          </a:rPr>
                          <m:t>, </m:t>
                        </m:r>
                        <m:r>
                          <a:rPr lang="en-US" sz="4400" b="0" i="1" smtClean="0">
                            <a:latin typeface="Cambria Math" panose="02040503050406030204" pitchFamily="18" charset="0"/>
                          </a:rPr>
                          <m:t>h𝑎𝑝𝑝𝑦</m:t>
                        </m:r>
                        <m:r>
                          <a:rPr lang="en-US" sz="4400" b="0" i="1" smtClean="0">
                            <a:latin typeface="Cambria Math" panose="02040503050406030204" pitchFamily="18" charset="0"/>
                          </a:rPr>
                          <m:t>, </m:t>
                        </m:r>
                        <m:r>
                          <a:rPr lang="en-US" sz="4400" b="0" i="1" smtClean="0">
                            <a:latin typeface="Cambria Math" panose="02040503050406030204" pitchFamily="18" charset="0"/>
                          </a:rPr>
                          <m:t>𝑠𝑎𝑑</m:t>
                        </m:r>
                        <m:r>
                          <a:rPr lang="en-US" sz="4400" b="0" i="1" smtClean="0">
                            <a:latin typeface="Cambria Math" panose="02040503050406030204" pitchFamily="18" charset="0"/>
                          </a:rPr>
                          <m:t>;</m:t>
                        </m:r>
                        <m:r>
                          <a:rPr lang="en-US" sz="4400" b="0" i="1" smtClean="0">
                            <a:latin typeface="Cambria Math" panose="02040503050406030204" pitchFamily="18" charset="0"/>
                          </a:rPr>
                          <m:t>𝑋</m:t>
                        </m:r>
                        <m:r>
                          <a:rPr lang="en-US" sz="4400" b="0" i="1" smtClean="0">
                            <a:latin typeface="Cambria Math" panose="02040503050406030204" pitchFamily="18" charset="0"/>
                          </a:rPr>
                          <m:t>=</m:t>
                        </m:r>
                        <m:r>
                          <a:rPr lang="en-US" sz="4400" b="0" i="1" smtClean="0">
                            <a:latin typeface="Cambria Math" panose="02040503050406030204" pitchFamily="18" charset="0"/>
                          </a:rPr>
                          <m:t>𝑠𝑢𝑛𝑛𝑦</m:t>
                        </m:r>
                        <m:r>
                          <a:rPr lang="en-US" sz="4400" b="0" i="1" smtClean="0">
                            <a:latin typeface="Cambria Math" panose="02040503050406030204" pitchFamily="18" charset="0"/>
                          </a:rPr>
                          <m:t>, </m:t>
                        </m:r>
                        <m:r>
                          <a:rPr lang="en-US" sz="4400" b="0" i="1" smtClean="0">
                            <a:latin typeface="Cambria Math" panose="02040503050406030204" pitchFamily="18" charset="0"/>
                          </a:rPr>
                          <m:t>𝑐𝑙𝑜𝑢𝑑𝑦</m:t>
                        </m:r>
                        <m:r>
                          <a:rPr lang="en-US" sz="4400" b="0" i="1" smtClean="0">
                            <a:latin typeface="Cambria Math" panose="02040503050406030204" pitchFamily="18" charset="0"/>
                          </a:rPr>
                          <m:t>, </m:t>
                        </m:r>
                        <m:r>
                          <a:rPr lang="en-US" sz="4400" b="0" i="1" smtClean="0">
                            <a:latin typeface="Cambria Math" panose="02040503050406030204" pitchFamily="18" charset="0"/>
                          </a:rPr>
                          <m:t>𝑠𝑢𝑛𝑛𝑦</m:t>
                        </m:r>
                      </m:e>
                    </m:d>
                  </m:oMath>
                </a14:m>
                <a:r>
                  <a:rPr lang="en-US" sz="4400" b="0" i="1" dirty="0">
                    <a:latin typeface="Cambria Math" panose="02040503050406030204" pitchFamily="18" charset="0"/>
                  </a:rPr>
                  <a:t> </a:t>
                </a:r>
              </a:p>
              <a:p>
                <a:pPr marL="0" indent="0">
                  <a:buNone/>
                </a:pPr>
                <a14:m>
                  <m:oMath xmlns:m="http://schemas.openxmlformats.org/officeDocument/2006/math">
                    <m:r>
                      <a:rPr lang="en-US" sz="4400" b="0" i="1" smtClean="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𝑋</m:t>
                        </m:r>
                      </m:e>
                      <m:sub>
                        <m:r>
                          <a:rPr lang="en-US" sz="4400" b="0" i="1" dirty="0" smtClean="0">
                            <a:latin typeface="Cambria Math" panose="02040503050406030204" pitchFamily="18" charset="0"/>
                          </a:rPr>
                          <m:t>0</m:t>
                        </m:r>
                      </m:sub>
                    </m:sSub>
                    <m:r>
                      <a:rPr lang="en-ID" sz="4400" i="1" dirty="0" smtClean="0">
                        <a:latin typeface="Cambria Math" panose="02040503050406030204" pitchFamily="18" charset="0"/>
                      </a:rPr>
                      <m:t>) ×</m:t>
                    </m:r>
                    <m:r>
                      <a:rPr lang="en-ID" sz="4400" i="1" dirty="0" smtClean="0">
                        <a:latin typeface="Cambria Math" panose="02040503050406030204" pitchFamily="18" charset="0"/>
                      </a:rPr>
                      <m:t>𝑃</m:t>
                    </m:r>
                    <m:d>
                      <m:dPr>
                        <m:endChr m:val="|"/>
                        <m:ctrlPr>
                          <a:rPr lang="en-ID" sz="4400" i="1" dirty="0" smtClean="0">
                            <a:latin typeface="Cambria Math" panose="02040503050406030204" pitchFamily="18" charset="0"/>
                          </a:rPr>
                        </m:ctrlPr>
                      </m:dPr>
                      <m:e>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𝑌</m:t>
                            </m:r>
                          </m:e>
                          <m:sub>
                            <m:r>
                              <a:rPr lang="en-US" sz="4400" b="0" i="1" dirty="0" smtClean="0">
                                <a:latin typeface="Cambria Math" panose="02040503050406030204" pitchFamily="18" charset="0"/>
                              </a:rPr>
                              <m:t>0</m:t>
                            </m:r>
                          </m:sub>
                        </m:sSub>
                      </m:e>
                    </m:d>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𝑋</m:t>
                        </m:r>
                      </m:e>
                      <m:sub>
                        <m:r>
                          <a:rPr lang="en-US" sz="4400" b="0" i="1" dirty="0" smtClean="0">
                            <a:latin typeface="Cambria Math" panose="02040503050406030204" pitchFamily="18" charset="0"/>
                          </a:rPr>
                          <m:t>0</m:t>
                        </m:r>
                      </m:sub>
                    </m:sSub>
                    <m:r>
                      <a:rPr lang="en-ID" sz="4400" i="1" dirty="0" smtClean="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𝑋</m:t>
                        </m:r>
                      </m:e>
                      <m:sub>
                        <m:r>
                          <a:rPr lang="en-US" sz="4400" b="0" i="1" dirty="0" smtClean="0">
                            <a:latin typeface="Cambria Math" panose="02040503050406030204" pitchFamily="18" charset="0"/>
                          </a:rPr>
                          <m:t>1</m:t>
                        </m:r>
                      </m:sub>
                    </m:sSub>
                    <m:r>
                      <a:rPr lang="en-ID" sz="4400" i="1" dirty="0" err="1" smtClean="0">
                        <a:latin typeface="Cambria Math" panose="02040503050406030204" pitchFamily="18" charset="0"/>
                      </a:rPr>
                      <m:t>|</m:t>
                    </m:r>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𝑋</m:t>
                        </m:r>
                      </m:e>
                      <m:sub>
                        <m:r>
                          <a:rPr lang="en-US" sz="4400" b="0" i="1" dirty="0" smtClean="0">
                            <a:latin typeface="Cambria Math" panose="02040503050406030204" pitchFamily="18" charset="0"/>
                          </a:rPr>
                          <m:t>0</m:t>
                        </m:r>
                      </m:sub>
                    </m:sSub>
                    <m:r>
                      <a:rPr lang="en-ID" sz="4400" i="1" dirty="0" smtClean="0">
                        <a:latin typeface="Cambria Math" panose="02040503050406030204" pitchFamily="18" charset="0"/>
                      </a:rPr>
                      <m:t>)</m:t>
                    </m:r>
                    <m:r>
                      <a:rPr lang="en-ID" i="1" dirty="0">
                        <a:latin typeface="Cambria Math" panose="02040503050406030204" pitchFamily="18" charset="0"/>
                      </a:rPr>
                      <m:t>×</m:t>
                    </m:r>
                    <m:r>
                      <a:rPr lang="en-ID" i="1" dirty="0">
                        <a:latin typeface="Cambria Math" panose="02040503050406030204" pitchFamily="18" charset="0"/>
                      </a:rPr>
                      <m:t>𝑃</m:t>
                    </m:r>
                    <m:d>
                      <m:dPr>
                        <m:endChr m:val="|"/>
                        <m:ctrlPr>
                          <a:rPr lang="en-ID"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1</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1</m:t>
                        </m:r>
                      </m:sub>
                    </m:sSub>
                    <m:r>
                      <a:rPr lang="en-ID" i="1" dirty="0">
                        <a:latin typeface="Cambria Math" panose="02040503050406030204" pitchFamily="18" charset="0"/>
                      </a:rPr>
                      <m:t>)×</m:t>
                    </m:r>
                    <m:r>
                      <a:rPr lang="en-ID" i="1" dirty="0">
                        <a:latin typeface="Cambria Math" panose="02040503050406030204" pitchFamily="18" charset="0"/>
                      </a:rPr>
                      <m:t>𝑃</m:t>
                    </m:r>
                    <m:r>
                      <a:rPr lang="en-ID"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2</m:t>
                        </m:r>
                      </m:sub>
                    </m:sSub>
                    <m:r>
                      <a:rPr lang="en-ID" i="1" dirty="0" err="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1</m:t>
                        </m:r>
                      </m:sub>
                    </m:sSub>
                    <m:r>
                      <a:rPr lang="en-ID" i="1" dirty="0">
                        <a:latin typeface="Cambria Math" panose="02040503050406030204" pitchFamily="18" charset="0"/>
                      </a:rPr>
                      <m:t>)</m:t>
                    </m:r>
                  </m:oMath>
                </a14:m>
                <a:r>
                  <a:rPr lang="en-ID" dirty="0"/>
                  <a:t> </a:t>
                </a:r>
                <a14:m>
                  <m:oMath xmlns:m="http://schemas.openxmlformats.org/officeDocument/2006/math">
                    <m:r>
                      <a:rPr lang="en-ID" i="1" dirty="0">
                        <a:latin typeface="Cambria Math" panose="02040503050406030204" pitchFamily="18" charset="0"/>
                      </a:rPr>
                      <m:t>×</m:t>
                    </m:r>
                    <m:r>
                      <a:rPr lang="en-ID" i="1" dirty="0">
                        <a:latin typeface="Cambria Math" panose="02040503050406030204" pitchFamily="18" charset="0"/>
                      </a:rPr>
                      <m:t>𝑃</m:t>
                    </m:r>
                    <m:d>
                      <m:dPr>
                        <m:endChr m:val="|"/>
                        <m:ctrlPr>
                          <a:rPr lang="en-ID"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b="0" i="1" dirty="0" smtClean="0">
                                <a:latin typeface="Cambria Math" panose="02040503050406030204" pitchFamily="18" charset="0"/>
                              </a:rPr>
                              <m:t>2</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endParaRPr lang="en-US" sz="4400" b="0" i="1" dirty="0">
                  <a:latin typeface="Cambria Math" panose="02040503050406030204" pitchFamily="18" charset="0"/>
                </a:endParaRPr>
              </a:p>
              <a:p>
                <a:pPr marL="0" indent="0">
                  <a:buNone/>
                </a:pPr>
                <a14:m>
                  <m:oMath xmlns:m="http://schemas.openxmlformats.org/officeDocument/2006/math">
                    <m:r>
                      <a:rPr lang="en-US" sz="4400" b="0" i="1" smtClean="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smtClean="0">
                        <a:latin typeface="Cambria Math" panose="02040503050406030204" pitchFamily="18" charset="0"/>
                      </a:rPr>
                      <m:t>𝑠𝑢𝑛𝑛𝑦</m:t>
                    </m:r>
                    <m:r>
                      <a:rPr lang="en-ID" sz="4400" i="1" dirty="0" smtClean="0">
                        <a:latin typeface="Cambria Math" panose="02040503050406030204" pitchFamily="18" charset="0"/>
                      </a:rPr>
                      <m:t>) ×</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smtClean="0">
                        <a:latin typeface="Cambria Math" panose="02040503050406030204" pitchFamily="18" charset="0"/>
                      </a:rPr>
                      <m:t>h𝑎𝑝𝑝𝑦</m:t>
                    </m:r>
                    <m:r>
                      <a:rPr lang="en-ID" sz="4400" i="1" dirty="0" smtClean="0">
                        <a:latin typeface="Cambria Math" panose="02040503050406030204" pitchFamily="18" charset="0"/>
                      </a:rPr>
                      <m:t>| </m:t>
                    </m:r>
                    <m:r>
                      <a:rPr lang="en-ID" sz="4400" i="1" dirty="0" smtClean="0">
                        <a:latin typeface="Cambria Math" panose="02040503050406030204" pitchFamily="18" charset="0"/>
                      </a:rPr>
                      <m:t>𝑠𝑢𝑛𝑛𝑦</m:t>
                    </m:r>
                    <m:r>
                      <a:rPr lang="en-ID" sz="4400" i="1" dirty="0" smtClean="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𝑐𝑙𝑜𝑢𝑑𝑦</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𝑠𝑢𝑛𝑛𝑦</m:t>
                    </m:r>
                    <m:r>
                      <a:rPr lang="en-ID" sz="4400" i="1" dirty="0" smtClean="0">
                        <a:latin typeface="Cambria Math" panose="02040503050406030204" pitchFamily="18" charset="0"/>
                      </a:rPr>
                      <m:t>)</m:t>
                    </m:r>
                    <m:r>
                      <a:rPr lang="en-ID" sz="4400" i="1" dirty="0">
                        <a:latin typeface="Cambria Math" panose="02040503050406030204" pitchFamily="18" charset="0"/>
                        <a:ea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h𝑎𝑝𝑝𝑦</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𝑐𝑙𝑜𝑢𝑑𝑦</m:t>
                    </m:r>
                    <m:r>
                      <a:rPr lang="en-ID" sz="4400" i="1" dirty="0" smtClean="0">
                        <a:latin typeface="Cambria Math" panose="02040503050406030204" pitchFamily="18" charset="0"/>
                      </a:rPr>
                      <m:t>)</m:t>
                    </m:r>
                    <m:r>
                      <a:rPr lang="en-ID" sz="4400" i="1" dirty="0">
                        <a:latin typeface="Cambria Math" panose="02040503050406030204" pitchFamily="18" charset="0"/>
                        <a:ea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𝑠𝑢𝑛𝑛𝑦</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𝑐𝑙𝑜𝑢𝑑𝑦</m:t>
                    </m:r>
                    <m:r>
                      <a:rPr lang="en-ID" sz="4400" i="1" dirty="0" smtClean="0">
                        <a:latin typeface="Cambria Math" panose="02040503050406030204" pitchFamily="18" charset="0"/>
                      </a:rPr>
                      <m:t>)</m:t>
                    </m:r>
                    <m:r>
                      <a:rPr lang="en-ID" i="1" dirty="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𝑠𝑎𝑑</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𝑠𝑢𝑛𝑛𝑦</m:t>
                    </m:r>
                    <m:r>
                      <a:rPr lang="en-ID" sz="4400" i="1" dirty="0" smtClean="0">
                        <a:latin typeface="Cambria Math" panose="02040503050406030204" pitchFamily="18" charset="0"/>
                      </a:rPr>
                      <m:t>)</m:t>
                    </m:r>
                  </m:oMath>
                </a14:m>
                <a:r>
                  <a:rPr lang="en-ID" sz="4400" dirty="0">
                    <a:latin typeface="+mn-lt"/>
                  </a:rPr>
                  <a:t> </a:t>
                </a:r>
              </a:p>
              <a:p>
                <a:endParaRPr lang="en-US" sz="4400" dirty="0">
                  <a:latin typeface="+mj-lt"/>
                </a:endParaRPr>
              </a:p>
              <a:p>
                <a:endParaRPr lang="en-ID" sz="4400" dirty="0">
                  <a:latin typeface="+mj-lt"/>
                </a:endParaRPr>
              </a:p>
              <a:p>
                <a:pPr algn="just"/>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9159937"/>
              </a:xfrm>
              <a:blipFill>
                <a:blip r:embed="rId2"/>
                <a:stretch>
                  <a:fillRect l="-1329" t="-1245"/>
                </a:stretch>
              </a:blipFill>
            </p:spPr>
            <p:txBody>
              <a:bodyPr/>
              <a:lstStyle/>
              <a:p>
                <a:r>
                  <a:rPr lang="en-US">
                    <a:noFill/>
                  </a:rPr>
                  <a:t> </a:t>
                </a:r>
              </a:p>
            </p:txBody>
          </p:sp>
        </mc:Fallback>
      </mc:AlternateContent>
    </p:spTree>
    <p:extLst>
      <p:ext uri="{BB962C8B-B14F-4D97-AF65-F5344CB8AC3E}">
        <p14:creationId xmlns:p14="http://schemas.microsoft.com/office/powerpoint/2010/main" val="424238705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14:m>
                  <m:oMath xmlns:m="http://schemas.openxmlformats.org/officeDocument/2006/math">
                    <m:r>
                      <a:rPr lang="en-ID" sz="4400" i="1" dirty="0" smtClean="0">
                        <a:latin typeface="Cambria Math" panose="02040503050406030204" pitchFamily="18" charset="0"/>
                      </a:rPr>
                      <m:t>𝑃</m:t>
                    </m:r>
                    <m:d>
                      <m:dPr>
                        <m:ctrlPr>
                          <a:rPr lang="en-ID" sz="4400" i="1" dirty="0" smtClean="0">
                            <a:latin typeface="Cambria Math" panose="02040503050406030204" pitchFamily="18" charset="0"/>
                          </a:rPr>
                        </m:ctrlPr>
                      </m:dPr>
                      <m:e>
                        <m:r>
                          <a:rPr lang="en-ID" sz="4400" i="1" dirty="0" smtClean="0">
                            <a:latin typeface="Cambria Math" panose="02040503050406030204" pitchFamily="18" charset="0"/>
                          </a:rPr>
                          <m:t>𝑠𝑢𝑛𝑛𝑦</m:t>
                        </m:r>
                      </m:e>
                    </m:d>
                    <m:r>
                      <a:rPr lang="en-US" sz="4400" b="0" i="1" dirty="0" smtClean="0">
                        <a:latin typeface="Cambria Math" panose="02040503050406030204" pitchFamily="18" charset="0"/>
                      </a:rPr>
                      <m:t>= ?</m:t>
                    </m:r>
                  </m:oMath>
                </a14:m>
                <a:endParaRPr lang="en-US" sz="4400" dirty="0">
                  <a:latin typeface="+mj-lt"/>
                </a:endParaRPr>
              </a:p>
              <a:p>
                <a:r>
                  <a:rPr lang="en-US" dirty="0">
                    <a:latin typeface="+mj-lt"/>
                  </a:rPr>
                  <a:t>Using the concept left eigen vector, we can get the score:</a:t>
                </a:r>
              </a:p>
              <a:p>
                <a:pPr marL="0" indent="0" algn="ctr">
                  <a:buNone/>
                </a:pP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oMath>
                </a14:m>
                <a:r>
                  <a:rPr lang="en-US" dirty="0">
                    <a:latin typeface="+mj-lt"/>
                  </a:rPr>
                  <a:t>, where A is the weather transition matrix.</a:t>
                </a:r>
              </a:p>
              <a:p>
                <a:r>
                  <a:rPr lang="en-US" dirty="0">
                    <a:latin typeface="+mj-lt"/>
                  </a:rPr>
                  <a:t>Solving the formula, the probability for each weather is </a:t>
                </a:r>
              </a:p>
              <a:p>
                <a:pPr marL="0" indent="0" algn="ctr">
                  <a:buNone/>
                </a:pP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=[0.218, 0.273, </m:t>
                    </m:r>
                    <m:r>
                      <a:rPr lang="en-US" b="1" i="1" smtClean="0">
                        <a:solidFill>
                          <a:srgbClr val="0070C0"/>
                        </a:solidFill>
                        <a:latin typeface="Cambria Math" panose="02040503050406030204" pitchFamily="18" charset="0"/>
                        <a:ea typeface="Cambria Math" panose="02040503050406030204" pitchFamily="18" charset="0"/>
                      </a:rPr>
                      <m:t>𝟎</m:t>
                    </m:r>
                    <m:r>
                      <a:rPr lang="en-US" b="1" i="1" smtClean="0">
                        <a:solidFill>
                          <a:srgbClr val="0070C0"/>
                        </a:solidFill>
                        <a:latin typeface="Cambria Math" panose="02040503050406030204" pitchFamily="18" charset="0"/>
                        <a:ea typeface="Cambria Math" panose="02040503050406030204" pitchFamily="18" charset="0"/>
                      </a:rPr>
                      <m:t>.</m:t>
                    </m:r>
                    <m:r>
                      <a:rPr lang="en-US" b="1" i="1" smtClean="0">
                        <a:solidFill>
                          <a:srgbClr val="0070C0"/>
                        </a:solidFill>
                        <a:latin typeface="Cambria Math" panose="02040503050406030204" pitchFamily="18" charset="0"/>
                        <a:ea typeface="Cambria Math" panose="02040503050406030204" pitchFamily="18" charset="0"/>
                      </a:rPr>
                      <m:t>𝟓𝟎𝟗</m:t>
                    </m:r>
                    <m:r>
                      <a:rPr lang="en-US" b="0" i="1" smtClean="0">
                        <a:latin typeface="Cambria Math" panose="02040503050406030204" pitchFamily="18" charset="0"/>
                        <a:ea typeface="Cambria Math" panose="02040503050406030204" pitchFamily="18" charset="0"/>
                      </a:rPr>
                      <m:t>]</m:t>
                    </m:r>
                  </m:oMath>
                </a14:m>
                <a:r>
                  <a:rPr lang="en-US" dirty="0">
                    <a:latin typeface="+mj-lt"/>
                  </a:rPr>
                  <a:t> </a:t>
                </a:r>
              </a:p>
              <a:p>
                <a:r>
                  <a:rPr lang="en-US" sz="4400" dirty="0">
                    <a:latin typeface="+mj-lt"/>
                  </a:rPr>
                  <a:t>So, </a:t>
                </a:r>
                <a14:m>
                  <m:oMath xmlns:m="http://schemas.openxmlformats.org/officeDocument/2006/math">
                    <m:r>
                      <a:rPr lang="en-ID" sz="4400" i="1" dirty="0" smtClean="0">
                        <a:latin typeface="Cambria Math" panose="02040503050406030204" pitchFamily="18" charset="0"/>
                      </a:rPr>
                      <m:t>𝑃</m:t>
                    </m:r>
                    <m:d>
                      <m:dPr>
                        <m:ctrlPr>
                          <a:rPr lang="en-ID" sz="4400" i="1" dirty="0" smtClean="0">
                            <a:latin typeface="Cambria Math" panose="02040503050406030204" pitchFamily="18" charset="0"/>
                          </a:rPr>
                        </m:ctrlPr>
                      </m:dPr>
                      <m:e>
                        <m:r>
                          <a:rPr lang="en-ID" sz="4400" i="1" dirty="0" smtClean="0">
                            <a:latin typeface="Cambria Math" panose="02040503050406030204" pitchFamily="18" charset="0"/>
                          </a:rPr>
                          <m:t>𝑠𝑢𝑛𝑛𝑦</m:t>
                        </m:r>
                      </m:e>
                    </m:d>
                    <m:r>
                      <a:rPr lang="en-US" sz="4400" b="0" i="1" dirty="0" smtClean="0">
                        <a:latin typeface="Cambria Math" panose="02040503050406030204" pitchFamily="18" charset="0"/>
                      </a:rPr>
                      <m:t>=0.509</m:t>
                    </m:r>
                  </m:oMath>
                </a14:m>
                <a:endParaRPr lang="en-US" sz="4400" dirty="0">
                  <a:latin typeface="+mj-lt"/>
                </a:endParaRPr>
              </a:p>
              <a:p>
                <a:r>
                  <a:rPr lang="en-US" sz="4400" dirty="0">
                    <a:latin typeface="+mj-lt"/>
                  </a:rPr>
                  <a:t>However, the probability of it is usually known in our data. </a:t>
                </a:r>
              </a:p>
              <a:p>
                <a:pPr lvl="1">
                  <a:buFont typeface="Wingdings" pitchFamily="2" charset="2"/>
                  <a:buChar char="Ø"/>
                </a:pPr>
                <a:r>
                  <a:rPr lang="en-US" dirty="0">
                    <a:latin typeface="+mj-lt"/>
                  </a:rPr>
                  <a:t>If it is not known, then the left eigenvector should be used instead.</a:t>
                </a:r>
              </a:p>
              <a:p>
                <a:endParaRPr lang="en-US" dirty="0">
                  <a:latin typeface="+mj-lt"/>
                </a:endParaRPr>
              </a:p>
              <a:p>
                <a:pPr>
                  <a:spcAft>
                    <a:spcPts val="3000"/>
                  </a:spcAft>
                </a:pPr>
                <a:endParaRPr lang="en-US" sz="4400" dirty="0">
                  <a:latin typeface="+mj-lt"/>
                </a:endParaRPr>
              </a:p>
              <a:p>
                <a:endParaRPr lang="en-ID" sz="4400" dirty="0">
                  <a:latin typeface="+mj-lt"/>
                </a:endParaRPr>
              </a:p>
              <a:p>
                <a:pPr algn="just"/>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9159937"/>
              </a:xfrm>
              <a:blipFill>
                <a:blip r:embed="rId2"/>
                <a:stretch>
                  <a:fillRect l="-1329" t="-830"/>
                </a:stretch>
              </a:blipFill>
            </p:spPr>
            <p:txBody>
              <a:bodyPr/>
              <a:lstStyle/>
              <a:p>
                <a:r>
                  <a:rPr lang="en-US">
                    <a:noFill/>
                  </a:rPr>
                  <a:t> </a:t>
                </a:r>
              </a:p>
            </p:txBody>
          </p:sp>
        </mc:Fallback>
      </mc:AlternateContent>
    </p:spTree>
    <p:extLst>
      <p:ext uri="{BB962C8B-B14F-4D97-AF65-F5344CB8AC3E}">
        <p14:creationId xmlns:p14="http://schemas.microsoft.com/office/powerpoint/2010/main" val="168654992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pPr algn="just"/>
                <a:r>
                  <a:rPr lang="en-US" dirty="0">
                    <a:solidFill>
                      <a:schemeClr val="bg2">
                        <a:lumMod val="10000"/>
                      </a:schemeClr>
                    </a:solidFill>
                  </a:rPr>
                  <a:t>Using the matrix from slide 22, we can get the rest of the probabilities:</a:t>
                </a:r>
              </a:p>
              <a:p>
                <a:pPr marL="0" indent="0">
                  <a:buNone/>
                </a:pPr>
                <a14:m>
                  <m:oMath xmlns:m="http://schemas.openxmlformats.org/officeDocument/2006/math">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𝑌</m:t>
                        </m:r>
                        <m:r>
                          <a:rPr lang="en-US" sz="4400" b="0" i="1" smtClean="0">
                            <a:latin typeface="Cambria Math" panose="02040503050406030204" pitchFamily="18" charset="0"/>
                          </a:rPr>
                          <m:t>=</m:t>
                        </m:r>
                        <m:r>
                          <a:rPr lang="en-US" sz="4400" b="0" i="1" smtClean="0">
                            <a:latin typeface="Cambria Math" panose="02040503050406030204" pitchFamily="18" charset="0"/>
                          </a:rPr>
                          <m:t>h𝑎𝑝𝑝𝑦</m:t>
                        </m:r>
                        <m:r>
                          <a:rPr lang="en-US" sz="4400" b="0" i="1" smtClean="0">
                            <a:latin typeface="Cambria Math" panose="02040503050406030204" pitchFamily="18" charset="0"/>
                          </a:rPr>
                          <m:t>, </m:t>
                        </m:r>
                        <m:r>
                          <a:rPr lang="en-US" sz="4400" b="0" i="1" smtClean="0">
                            <a:latin typeface="Cambria Math" panose="02040503050406030204" pitchFamily="18" charset="0"/>
                          </a:rPr>
                          <m:t>h𝑎𝑝𝑝𝑦</m:t>
                        </m:r>
                        <m:r>
                          <a:rPr lang="en-US" sz="4400" b="0" i="1" smtClean="0">
                            <a:latin typeface="Cambria Math" panose="02040503050406030204" pitchFamily="18" charset="0"/>
                          </a:rPr>
                          <m:t>, </m:t>
                        </m:r>
                        <m:r>
                          <a:rPr lang="en-US" sz="4400" b="0" i="1" smtClean="0">
                            <a:latin typeface="Cambria Math" panose="02040503050406030204" pitchFamily="18" charset="0"/>
                          </a:rPr>
                          <m:t>𝑠𝑎𝑑</m:t>
                        </m:r>
                        <m:r>
                          <a:rPr lang="en-US" sz="4400" b="0" i="1" smtClean="0">
                            <a:latin typeface="Cambria Math" panose="02040503050406030204" pitchFamily="18" charset="0"/>
                          </a:rPr>
                          <m:t>;</m:t>
                        </m:r>
                        <m:r>
                          <a:rPr lang="en-US" sz="4400" b="0" i="1" smtClean="0">
                            <a:latin typeface="Cambria Math" panose="02040503050406030204" pitchFamily="18" charset="0"/>
                          </a:rPr>
                          <m:t>𝑋</m:t>
                        </m:r>
                        <m:r>
                          <a:rPr lang="en-US" sz="4400" b="0" i="1" smtClean="0">
                            <a:latin typeface="Cambria Math" panose="02040503050406030204" pitchFamily="18" charset="0"/>
                          </a:rPr>
                          <m:t>=</m:t>
                        </m:r>
                        <m:r>
                          <a:rPr lang="en-US" sz="4400" b="0" i="1" smtClean="0">
                            <a:latin typeface="Cambria Math" panose="02040503050406030204" pitchFamily="18" charset="0"/>
                          </a:rPr>
                          <m:t>𝑠𝑢𝑛𝑛𝑦</m:t>
                        </m:r>
                        <m:r>
                          <a:rPr lang="en-US" sz="4400" b="0" i="1" smtClean="0">
                            <a:latin typeface="Cambria Math" panose="02040503050406030204" pitchFamily="18" charset="0"/>
                          </a:rPr>
                          <m:t>, </m:t>
                        </m:r>
                        <m:r>
                          <a:rPr lang="en-US" sz="4400" b="0" i="1" smtClean="0">
                            <a:latin typeface="Cambria Math" panose="02040503050406030204" pitchFamily="18" charset="0"/>
                          </a:rPr>
                          <m:t>𝑐𝑙𝑜𝑢𝑑𝑦</m:t>
                        </m:r>
                        <m:r>
                          <a:rPr lang="en-US" sz="4400" b="0" i="1" smtClean="0">
                            <a:latin typeface="Cambria Math" panose="02040503050406030204" pitchFamily="18" charset="0"/>
                          </a:rPr>
                          <m:t>, </m:t>
                        </m:r>
                        <m:r>
                          <a:rPr lang="en-US" sz="4400" b="0" i="1" smtClean="0">
                            <a:latin typeface="Cambria Math" panose="02040503050406030204" pitchFamily="18" charset="0"/>
                          </a:rPr>
                          <m:t>𝑠𝑢𝑛𝑛𝑦</m:t>
                        </m:r>
                      </m:e>
                    </m:d>
                  </m:oMath>
                </a14:m>
                <a:r>
                  <a:rPr lang="en-US" sz="4400" b="0" i="1" dirty="0">
                    <a:latin typeface="Cambria Math" panose="02040503050406030204" pitchFamily="18" charset="0"/>
                  </a:rPr>
                  <a:t> </a:t>
                </a:r>
              </a:p>
              <a:p>
                <a:pPr marL="0" indent="0">
                  <a:buNone/>
                </a:pPr>
                <a:r>
                  <a:rPr lang="en-US" sz="4400" b="0" dirty="0"/>
                  <a:t> </a:t>
                </a:r>
                <a14:m>
                  <m:oMath xmlns:m="http://schemas.openxmlformats.org/officeDocument/2006/math">
                    <m:r>
                      <a:rPr lang="en-US" sz="4400" b="0" i="1" smtClean="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smtClean="0">
                        <a:latin typeface="Cambria Math" panose="02040503050406030204" pitchFamily="18" charset="0"/>
                      </a:rPr>
                      <m:t>𝑠𝑢𝑛𝑛𝑦</m:t>
                    </m:r>
                    <m:r>
                      <a:rPr lang="en-ID" sz="4400" i="1" dirty="0" smtClean="0">
                        <a:latin typeface="Cambria Math" panose="02040503050406030204" pitchFamily="18" charset="0"/>
                      </a:rPr>
                      <m:t>) ×</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smtClean="0">
                        <a:latin typeface="Cambria Math" panose="02040503050406030204" pitchFamily="18" charset="0"/>
                      </a:rPr>
                      <m:t>h𝑎𝑝𝑝𝑦</m:t>
                    </m:r>
                    <m:r>
                      <a:rPr lang="en-ID" sz="4400" i="1" dirty="0" smtClean="0">
                        <a:latin typeface="Cambria Math" panose="02040503050406030204" pitchFamily="18" charset="0"/>
                      </a:rPr>
                      <m:t>| </m:t>
                    </m:r>
                    <m:r>
                      <a:rPr lang="en-ID" sz="4400" i="1" dirty="0" smtClean="0">
                        <a:latin typeface="Cambria Math" panose="02040503050406030204" pitchFamily="18" charset="0"/>
                      </a:rPr>
                      <m:t>𝑠𝑢𝑛𝑛𝑦</m:t>
                    </m:r>
                    <m:r>
                      <a:rPr lang="en-ID" sz="4400" i="1" dirty="0" smtClean="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𝑐𝑙𝑜𝑢𝑑𝑦</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𝑠𝑢𝑛𝑛𝑦</m:t>
                    </m:r>
                    <m:r>
                      <a:rPr lang="en-ID" sz="4400" i="1" dirty="0" smtClean="0">
                        <a:latin typeface="Cambria Math" panose="02040503050406030204" pitchFamily="18" charset="0"/>
                      </a:rPr>
                      <m:t>)</m:t>
                    </m:r>
                    <m:r>
                      <a:rPr lang="en-ID" sz="4400" i="1" dirty="0">
                        <a:latin typeface="Cambria Math" panose="02040503050406030204" pitchFamily="18" charset="0"/>
                        <a:ea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h𝑎𝑝𝑝𝑦</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𝑐𝑙𝑜𝑢𝑑𝑦</m:t>
                    </m:r>
                    <m:r>
                      <a:rPr lang="en-ID" sz="4400" i="1" dirty="0" smtClean="0">
                        <a:latin typeface="Cambria Math" panose="02040503050406030204" pitchFamily="18" charset="0"/>
                      </a:rPr>
                      <m:t>)</m:t>
                    </m:r>
                    <m:r>
                      <a:rPr lang="en-ID" sz="4400" i="1" dirty="0">
                        <a:latin typeface="Cambria Math" panose="02040503050406030204" pitchFamily="18" charset="0"/>
                        <a:ea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𝑠𝑢𝑛𝑛𝑦</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𝑐𝑙𝑜𝑢𝑑𝑦</m:t>
                    </m:r>
                    <m:r>
                      <a:rPr lang="en-ID" sz="4400" i="1" dirty="0" smtClean="0">
                        <a:latin typeface="Cambria Math" panose="02040503050406030204" pitchFamily="18" charset="0"/>
                      </a:rPr>
                      <m:t>)</m:t>
                    </m:r>
                    <m:r>
                      <a:rPr lang="en-ID" i="1" dirty="0">
                        <a:latin typeface="Cambria Math" panose="02040503050406030204" pitchFamily="18" charset="0"/>
                      </a:rPr>
                      <m:t>×</m:t>
                    </m:r>
                    <m:r>
                      <a:rPr lang="en-ID" sz="4400" i="1" dirty="0" smtClean="0">
                        <a:latin typeface="Cambria Math" panose="02040503050406030204" pitchFamily="18" charset="0"/>
                      </a:rPr>
                      <m:t>𝑃</m:t>
                    </m:r>
                    <m:r>
                      <a:rPr lang="en-ID" sz="4400" i="1" dirty="0" smtClean="0">
                        <a:latin typeface="Cambria Math" panose="02040503050406030204" pitchFamily="18" charset="0"/>
                      </a:rPr>
                      <m:t>(</m:t>
                    </m:r>
                    <m:r>
                      <a:rPr lang="en-ID" sz="4400" i="1" dirty="0" err="1" smtClean="0">
                        <a:latin typeface="Cambria Math" panose="02040503050406030204" pitchFamily="18" charset="0"/>
                      </a:rPr>
                      <m:t>𝑠𝑎𝑑</m:t>
                    </m:r>
                    <m:r>
                      <a:rPr lang="en-ID" sz="4400" i="1" dirty="0" err="1" smtClean="0">
                        <a:latin typeface="Cambria Math" panose="02040503050406030204" pitchFamily="18" charset="0"/>
                      </a:rPr>
                      <m:t>|</m:t>
                    </m:r>
                    <m:r>
                      <a:rPr lang="en-ID" sz="4400" i="1" dirty="0" err="1" smtClean="0">
                        <a:latin typeface="Cambria Math" panose="02040503050406030204" pitchFamily="18" charset="0"/>
                      </a:rPr>
                      <m:t>𝑠𝑢𝑛𝑛𝑦</m:t>
                    </m:r>
                    <m:r>
                      <a:rPr lang="en-ID" sz="4400" i="1" dirty="0" smtClean="0">
                        <a:latin typeface="Cambria Math" panose="02040503050406030204" pitchFamily="18" charset="0"/>
                      </a:rPr>
                      <m:t>)</m:t>
                    </m:r>
                  </m:oMath>
                </a14:m>
                <a:r>
                  <a:rPr lang="en-ID" sz="4400" dirty="0">
                    <a:latin typeface="+mn-lt"/>
                  </a:rPr>
                  <a:t> </a:t>
                </a:r>
              </a:p>
              <a:p>
                <a:pPr marL="0" indent="0" algn="just">
                  <a:buNone/>
                </a:pPr>
                <a:r>
                  <a:rPr lang="en-US" dirty="0">
                    <a:solidFill>
                      <a:schemeClr val="bg2">
                        <a:lumMod val="10000"/>
                      </a:schemeClr>
                    </a:solidFill>
                  </a:rPr>
                  <a:t> </a:t>
                </a:r>
                <a14:m>
                  <m:oMath xmlns:m="http://schemas.openxmlformats.org/officeDocument/2006/math">
                    <m:r>
                      <a:rPr lang="en-US" i="1">
                        <a:solidFill>
                          <a:schemeClr val="bg2">
                            <a:lumMod val="10000"/>
                          </a:schemeClr>
                        </a:solidFill>
                        <a:latin typeface="Cambria Math" panose="02040503050406030204" pitchFamily="18" charset="0"/>
                      </a:rPr>
                      <m:t>=0.509</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0.8</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0.3</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0.4</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0.4</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 </m:t>
                    </m:r>
                    <m:r>
                      <a:rPr lang="en-US" i="1">
                        <a:solidFill>
                          <a:schemeClr val="bg2">
                            <a:lumMod val="10000"/>
                          </a:schemeClr>
                        </a:solidFill>
                        <a:latin typeface="Cambria Math" panose="02040503050406030204" pitchFamily="18" charset="0"/>
                      </a:rPr>
                      <m:t>0.2= 0.0039</m:t>
                    </m:r>
                    <m:r>
                      <a:rPr lang="en-US" b="0" i="1" smtClean="0">
                        <a:solidFill>
                          <a:schemeClr val="bg2">
                            <a:lumMod val="10000"/>
                          </a:schemeClr>
                        </a:solidFill>
                        <a:latin typeface="Cambria Math" panose="02040503050406030204" pitchFamily="18" charset="0"/>
                      </a:rPr>
                      <m:t>1</m:t>
                    </m:r>
                  </m:oMath>
                </a14:m>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9159937"/>
              </a:xfrm>
              <a:blipFill>
                <a:blip r:embed="rId2"/>
                <a:stretch>
                  <a:fillRect l="-1329" t="-1245"/>
                </a:stretch>
              </a:blipFill>
            </p:spPr>
            <p:txBody>
              <a:bodyPr/>
              <a:lstStyle/>
              <a:p>
                <a:r>
                  <a:rPr lang="en-US">
                    <a:noFill/>
                  </a:rPr>
                  <a:t> </a:t>
                </a:r>
              </a:p>
            </p:txBody>
          </p:sp>
        </mc:Fallback>
      </mc:AlternateContent>
    </p:spTree>
    <p:extLst>
      <p:ext uri="{BB962C8B-B14F-4D97-AF65-F5344CB8AC3E}">
        <p14:creationId xmlns:p14="http://schemas.microsoft.com/office/powerpoint/2010/main" val="224168980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Hidden Markov model</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Training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14:m>
                  <m:oMath xmlns:m="http://schemas.openxmlformats.org/officeDocument/2006/math">
                    <m:r>
                      <m:rPr>
                        <m:nor/>
                      </m:rPr>
                      <a:rPr lang="en-US" b="1" dirty="0">
                        <a:solidFill>
                          <a:srgbClr val="333333"/>
                        </a:solidFill>
                      </a:rPr>
                      <m:t>Training</m:t>
                    </m:r>
                    <m:r>
                      <m:rPr>
                        <m:nor/>
                      </m:rPr>
                      <a:rPr lang="en-US" dirty="0">
                        <a:solidFill>
                          <a:srgbClr val="333333"/>
                        </a:solidFill>
                      </a:rPr>
                      <m:t> </m:t>
                    </m:r>
                    <m:r>
                      <m:rPr>
                        <m:nor/>
                      </m:rPr>
                      <a:rPr lang="en-US" dirty="0">
                        <a:solidFill>
                          <a:srgbClr val="333333"/>
                        </a:solidFill>
                      </a:rPr>
                      <m:t>an</m:t>
                    </m:r>
                    <m:r>
                      <m:rPr>
                        <m:nor/>
                      </m:rPr>
                      <a:rPr lang="en-US" dirty="0">
                        <a:solidFill>
                          <a:srgbClr val="333333"/>
                        </a:solidFill>
                      </a:rPr>
                      <m:t> </m:t>
                    </m:r>
                    <m:r>
                      <m:rPr>
                        <m:nor/>
                      </m:rPr>
                      <a:rPr lang="en-US" dirty="0">
                        <a:solidFill>
                          <a:srgbClr val="333333"/>
                        </a:solidFill>
                      </a:rPr>
                      <m:t>HMM</m:t>
                    </m:r>
                    <m:r>
                      <m:rPr>
                        <m:nor/>
                      </m:rPr>
                      <a:rPr lang="en-US" dirty="0">
                        <a:solidFill>
                          <a:srgbClr val="333333"/>
                        </a:solidFill>
                      </a:rPr>
                      <m:t> </m:t>
                    </m:r>
                    <m:r>
                      <m:rPr>
                        <m:nor/>
                      </m:rPr>
                      <a:rPr lang="en-US" dirty="0">
                        <a:solidFill>
                          <a:srgbClr val="333333"/>
                        </a:solidFill>
                      </a:rPr>
                      <m:t>means</m:t>
                    </m:r>
                    <m:r>
                      <m:rPr>
                        <m:nor/>
                      </m:rPr>
                      <a:rPr lang="en-US" dirty="0">
                        <a:solidFill>
                          <a:srgbClr val="333333"/>
                        </a:solidFill>
                      </a:rPr>
                      <m:t> </m:t>
                    </m:r>
                    <m:r>
                      <m:rPr>
                        <m:nor/>
                      </m:rPr>
                      <a:rPr lang="en-US" dirty="0">
                        <a:solidFill>
                          <a:srgbClr val="333333"/>
                        </a:solidFill>
                      </a:rPr>
                      <m:t>finding</m:t>
                    </m:r>
                    <m:r>
                      <m:rPr>
                        <m:nor/>
                      </m:rPr>
                      <a:rPr lang="en-US" dirty="0">
                        <a:solidFill>
                          <a:srgbClr val="333333"/>
                        </a:solidFill>
                      </a:rPr>
                      <m:t> </m:t>
                    </m:r>
                    <m:r>
                      <m:rPr>
                        <m:nor/>
                      </m:rPr>
                      <a:rPr lang="en-US" dirty="0">
                        <a:solidFill>
                          <a:srgbClr val="333333"/>
                        </a:solidFill>
                      </a:rPr>
                      <m:t>the</m:t>
                    </m:r>
                    <m:r>
                      <m:rPr>
                        <m:nor/>
                      </m:rPr>
                      <a:rPr lang="en-US" dirty="0">
                        <a:solidFill>
                          <a:srgbClr val="333333"/>
                        </a:solidFill>
                      </a:rPr>
                      <m:t> </m:t>
                    </m:r>
                    <m:r>
                      <m:rPr>
                        <m:nor/>
                      </m:rPr>
                      <a:rPr lang="en-US" dirty="0">
                        <a:solidFill>
                          <a:srgbClr val="333333"/>
                        </a:solidFill>
                      </a:rPr>
                      <m:t>set</m:t>
                    </m:r>
                    <m:r>
                      <m:rPr>
                        <m:nor/>
                      </m:rPr>
                      <a:rPr lang="en-US" dirty="0">
                        <a:solidFill>
                          <a:srgbClr val="333333"/>
                        </a:solidFill>
                      </a:rPr>
                      <m:t> </m:t>
                    </m:r>
                    <m:r>
                      <m:rPr>
                        <m:nor/>
                      </m:rPr>
                      <a:rPr lang="en-US" dirty="0">
                        <a:solidFill>
                          <a:srgbClr val="333333"/>
                        </a:solidFill>
                      </a:rPr>
                      <m:t>of</m:t>
                    </m:r>
                    <m:r>
                      <m:rPr>
                        <m:nor/>
                      </m:rPr>
                      <a:rPr lang="en-US" dirty="0">
                        <a:solidFill>
                          <a:srgbClr val="333333"/>
                        </a:solidFill>
                      </a:rPr>
                      <m:t> </m:t>
                    </m:r>
                    <m:r>
                      <m:rPr>
                        <m:nor/>
                      </m:rPr>
                      <a:rPr lang="en-US" dirty="0">
                        <a:solidFill>
                          <a:srgbClr val="333333"/>
                        </a:solidFill>
                      </a:rPr>
                      <m:t>parameters</m:t>
                    </m:r>
                    <m:r>
                      <m:rPr>
                        <m:nor/>
                      </m:rPr>
                      <a:rPr lang="en-US" dirty="0">
                        <a:solidFill>
                          <a:srgbClr val="333333"/>
                        </a:solidFill>
                      </a:rPr>
                      <m:t> </m:t>
                    </m:r>
                    <m:r>
                      <a:rPr lang="en-US" i="1">
                        <a:solidFill>
                          <a:srgbClr val="333333"/>
                        </a:solidFill>
                        <a:latin typeface="Cambria Math" panose="02040503050406030204" pitchFamily="18" charset="0"/>
                      </a:rPr>
                      <m:t>𝜃</m:t>
                    </m:r>
                    <m:r>
                      <m:rPr>
                        <m:nor/>
                      </m:rPr>
                      <a:rPr lang="en-US" dirty="0">
                        <a:solidFill>
                          <a:srgbClr val="333333"/>
                        </a:solidFill>
                      </a:rPr>
                      <m:t> </m:t>
                    </m:r>
                    <m:r>
                      <m:rPr>
                        <m:nor/>
                      </m:rPr>
                      <a:rPr lang="en-US" dirty="0">
                        <a:solidFill>
                          <a:srgbClr val="333333"/>
                        </a:solidFill>
                      </a:rPr>
                      <m:t>which</m:t>
                    </m:r>
                    <m:r>
                      <m:rPr>
                        <m:nor/>
                      </m:rPr>
                      <a:rPr lang="en-US" dirty="0">
                        <a:solidFill>
                          <a:srgbClr val="333333"/>
                        </a:solidFill>
                      </a:rPr>
                      <m:t> </m:t>
                    </m:r>
                    <m:r>
                      <m:rPr>
                        <m:nor/>
                      </m:rPr>
                      <a:rPr lang="en-US" dirty="0">
                        <a:solidFill>
                          <a:srgbClr val="333333"/>
                        </a:solidFill>
                      </a:rPr>
                      <m:t>best</m:t>
                    </m:r>
                    <m:r>
                      <m:rPr>
                        <m:nor/>
                      </m:rPr>
                      <a:rPr lang="en-US" dirty="0">
                        <a:solidFill>
                          <a:srgbClr val="333333"/>
                        </a:solidFill>
                      </a:rPr>
                      <m:t> </m:t>
                    </m:r>
                    <m:r>
                      <m:rPr>
                        <m:nor/>
                      </m:rPr>
                      <a:rPr lang="en-US" dirty="0">
                        <a:solidFill>
                          <a:srgbClr val="333333"/>
                        </a:solidFill>
                      </a:rPr>
                      <m:t>explain</m:t>
                    </m:r>
                    <m:r>
                      <m:rPr>
                        <m:nor/>
                      </m:rPr>
                      <a:rPr lang="en-US" dirty="0">
                        <a:solidFill>
                          <a:srgbClr val="333333"/>
                        </a:solidFill>
                      </a:rPr>
                      <m:t> </m:t>
                    </m:r>
                    <m:r>
                      <m:rPr>
                        <m:nor/>
                      </m:rPr>
                      <a:rPr lang="en-US" dirty="0">
                        <a:solidFill>
                          <a:srgbClr val="333333"/>
                        </a:solidFill>
                      </a:rPr>
                      <m:t>the</m:t>
                    </m:r>
                    <m:r>
                      <m:rPr>
                        <m:nor/>
                      </m:rPr>
                      <a:rPr lang="en-US" dirty="0">
                        <a:solidFill>
                          <a:srgbClr val="333333"/>
                        </a:solidFill>
                      </a:rPr>
                      <m:t> </m:t>
                    </m:r>
                    <m:r>
                      <m:rPr>
                        <m:nor/>
                      </m:rPr>
                      <a:rPr lang="en-US" dirty="0">
                        <a:solidFill>
                          <a:srgbClr val="333333"/>
                        </a:solidFill>
                      </a:rPr>
                      <m:t>observations</m:t>
                    </m:r>
                  </m:oMath>
                </a14:m>
                <a:endParaRPr lang="en-US" dirty="0">
                  <a:solidFill>
                    <a:srgbClr val="333333"/>
                  </a:solidFill>
                </a:endParaRPr>
              </a:p>
              <a:p>
                <a14:m>
                  <m:oMath xmlns:m="http://schemas.openxmlformats.org/officeDocument/2006/math">
                    <m:r>
                      <m:rPr>
                        <m:nor/>
                      </m:rPr>
                      <a:rPr lang="en-US" dirty="0">
                        <a:solidFill>
                          <a:srgbClr val="333333"/>
                        </a:solidFill>
                      </a:rPr>
                      <m:t>This</m:t>
                    </m:r>
                    <m:r>
                      <m:rPr>
                        <m:nor/>
                      </m:rPr>
                      <a:rPr lang="en-US" dirty="0">
                        <a:solidFill>
                          <a:srgbClr val="333333"/>
                        </a:solidFill>
                      </a:rPr>
                      <m:t> </m:t>
                    </m:r>
                    <m:r>
                      <m:rPr>
                        <m:nor/>
                      </m:rPr>
                      <a:rPr lang="en-US" dirty="0">
                        <a:solidFill>
                          <a:srgbClr val="333333"/>
                        </a:solidFill>
                      </a:rPr>
                      <m:t>can</m:t>
                    </m:r>
                    <m:r>
                      <m:rPr>
                        <m:nor/>
                      </m:rPr>
                      <a:rPr lang="en-US" dirty="0">
                        <a:solidFill>
                          <a:srgbClr val="333333"/>
                        </a:solidFill>
                      </a:rPr>
                      <m:t> </m:t>
                    </m:r>
                    <m:r>
                      <m:rPr>
                        <m:nor/>
                      </m:rPr>
                      <a:rPr lang="en-US" dirty="0">
                        <a:solidFill>
                          <a:srgbClr val="333333"/>
                        </a:solidFill>
                      </a:rPr>
                      <m:t>be</m:t>
                    </m:r>
                    <m:r>
                      <m:rPr>
                        <m:nor/>
                      </m:rPr>
                      <a:rPr lang="en-US" dirty="0">
                        <a:solidFill>
                          <a:srgbClr val="333333"/>
                        </a:solidFill>
                      </a:rPr>
                      <m:t> </m:t>
                    </m:r>
                    <m:r>
                      <m:rPr>
                        <m:nor/>
                      </m:rPr>
                      <a:rPr lang="en-US" dirty="0">
                        <a:solidFill>
                          <a:srgbClr val="333333"/>
                        </a:solidFill>
                      </a:rPr>
                      <m:t>done</m:t>
                    </m:r>
                    <m:r>
                      <m:rPr>
                        <m:nor/>
                      </m:rPr>
                      <a:rPr lang="en-US" dirty="0">
                        <a:solidFill>
                          <a:srgbClr val="333333"/>
                        </a:solidFill>
                      </a:rPr>
                      <m:t> </m:t>
                    </m:r>
                    <m:r>
                      <m:rPr>
                        <m:nor/>
                      </m:rPr>
                      <a:rPr lang="en-US" dirty="0">
                        <a:solidFill>
                          <a:srgbClr val="333333"/>
                        </a:solidFill>
                      </a:rPr>
                      <m:t>by</m:t>
                    </m:r>
                    <m:r>
                      <m:rPr>
                        <m:nor/>
                      </m:rPr>
                      <a:rPr lang="en-US" dirty="0">
                        <a:solidFill>
                          <a:srgbClr val="333333"/>
                        </a:solidFill>
                      </a:rPr>
                      <m:t> </m:t>
                    </m:r>
                    <m:r>
                      <m:rPr>
                        <m:nor/>
                      </m:rPr>
                      <a:rPr lang="en-US" dirty="0">
                        <a:solidFill>
                          <a:srgbClr val="333333"/>
                        </a:solidFill>
                      </a:rPr>
                      <m:t>in</m:t>
                    </m:r>
                    <m:r>
                      <m:rPr>
                        <m:nor/>
                      </m:rPr>
                      <a:rPr lang="en-US" dirty="0">
                        <a:solidFill>
                          <a:srgbClr val="333333"/>
                        </a:solidFill>
                      </a:rPr>
                      <m:t> </m:t>
                    </m:r>
                    <m:r>
                      <m:rPr>
                        <m:nor/>
                      </m:rPr>
                      <a:rPr lang="en-US" dirty="0">
                        <a:solidFill>
                          <a:srgbClr val="333333"/>
                        </a:solidFill>
                      </a:rPr>
                      <m:t>least</m:t>
                    </m:r>
                    <m:r>
                      <m:rPr>
                        <m:nor/>
                      </m:rPr>
                      <a:rPr lang="en-US" dirty="0">
                        <a:solidFill>
                          <a:srgbClr val="333333"/>
                        </a:solidFill>
                      </a:rPr>
                      <m:t> </m:t>
                    </m:r>
                    <m:r>
                      <m:rPr>
                        <m:nor/>
                      </m:rPr>
                      <a:rPr lang="en-US" dirty="0">
                        <a:solidFill>
                          <a:srgbClr val="333333"/>
                        </a:solidFill>
                      </a:rPr>
                      <m:t>two</m:t>
                    </m:r>
                    <m:r>
                      <m:rPr>
                        <m:nor/>
                      </m:rPr>
                      <a:rPr lang="en-US" dirty="0">
                        <a:solidFill>
                          <a:srgbClr val="333333"/>
                        </a:solidFill>
                      </a:rPr>
                      <m:t> </m:t>
                    </m:r>
                    <m:r>
                      <m:rPr>
                        <m:nor/>
                      </m:rPr>
                      <a:rPr lang="en-US" dirty="0">
                        <a:solidFill>
                          <a:srgbClr val="333333"/>
                        </a:solidFill>
                      </a:rPr>
                      <m:t>ways</m:t>
                    </m:r>
                    <m:r>
                      <m:rPr>
                        <m:nor/>
                      </m:rPr>
                      <a:rPr lang="en-US" dirty="0">
                        <a:solidFill>
                          <a:srgbClr val="333333"/>
                        </a:solidFill>
                      </a:rPr>
                      <m:t>: </m:t>
                    </m:r>
                  </m:oMath>
                </a14:m>
                <a:endParaRPr lang="en-US" dirty="0">
                  <a:solidFill>
                    <a:srgbClr val="333333"/>
                  </a:solidFill>
                </a:endParaRPr>
              </a:p>
              <a:p>
                <a:pPr lvl="1">
                  <a:buFont typeface="Wingdings" pitchFamily="2" charset="2"/>
                  <a:buChar char="Ø"/>
                </a:pPr>
                <a:r>
                  <a:rPr lang="en-US" dirty="0">
                    <a:solidFill>
                      <a:schemeClr val="bg2">
                        <a:lumMod val="10000"/>
                      </a:schemeClr>
                    </a:solidFill>
                  </a:rPr>
                  <a:t>Compute the likelihood function with </a:t>
                </a:r>
                <a:r>
                  <a:rPr lang="en-US" b="1" dirty="0">
                    <a:solidFill>
                      <a:srgbClr val="0070C0"/>
                    </a:solidFill>
                  </a:rPr>
                  <a:t>the forward algorithm</a:t>
                </a:r>
              </a:p>
              <a:p>
                <a:pPr lvl="1">
                  <a:buFont typeface="Wingdings" pitchFamily="2" charset="2"/>
                  <a:buChar char="Ø"/>
                </a:pPr>
                <a:r>
                  <a:rPr lang="en-US" dirty="0">
                    <a:solidFill>
                      <a:srgbClr val="0070C0"/>
                    </a:solidFill>
                  </a:rPr>
                  <a:t>Baum−Welch algorithm</a:t>
                </a:r>
                <a:r>
                  <a:rPr lang="en-US" dirty="0">
                    <a:solidFill>
                      <a:schemeClr val="bg2">
                        <a:lumMod val="10000"/>
                      </a:schemeClr>
                    </a:solidFill>
                  </a:rPr>
                  <a:t>, a special case of the expectation−maximization (EM) algorithm: it alternates between a forward−backward algorithm for the expectation step, and an updating phase for the maximization step"</a:t>
                </a:r>
              </a:p>
              <a:p>
                <a:pPr algn="just"/>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9159937"/>
              </a:xfrm>
              <a:blipFill>
                <a:blip r:embed="rId2"/>
                <a:stretch>
                  <a:fillRect l="-1329" t="-830"/>
                </a:stretch>
              </a:blipFill>
            </p:spPr>
            <p:txBody>
              <a:bodyPr/>
              <a:lstStyle/>
              <a:p>
                <a:r>
                  <a:rPr lang="en-US">
                    <a:noFill/>
                  </a:rPr>
                  <a:t> </a:t>
                </a:r>
              </a:p>
            </p:txBody>
          </p:sp>
        </mc:Fallback>
      </mc:AlternateContent>
    </p:spTree>
    <p:extLst>
      <p:ext uri="{BB962C8B-B14F-4D97-AF65-F5344CB8AC3E}">
        <p14:creationId xmlns:p14="http://schemas.microsoft.com/office/powerpoint/2010/main" val="36780856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159937"/>
              </a:xfrm>
            </p:spPr>
            <p:txBody>
              <a:bodyPr>
                <a:normAutofit/>
              </a:bodyPr>
              <a:lstStyle/>
              <a:p>
                <a:pPr algn="just"/>
                <a:r>
                  <a:rPr lang="en-US" dirty="0">
                    <a:solidFill>
                      <a:schemeClr val="bg2">
                        <a:lumMod val="10000"/>
                      </a:schemeClr>
                    </a:solidFill>
                  </a:rPr>
                  <a:t>The </a:t>
                </a:r>
                <a:r>
                  <a:rPr lang="en-US" dirty="0"/>
                  <a:t>forward algorithm computes the likelihood function </a:t>
                </a:r>
                <a14:m>
                  <m:oMath xmlns:m="http://schemas.openxmlformats.org/officeDocument/2006/math">
                    <m:r>
                      <a:rPr lang="en-US" i="1" dirty="0">
                        <a:latin typeface="Cambria Math" panose="02040503050406030204" pitchFamily="18" charset="0"/>
                      </a:rPr>
                      <m:t>𝑝</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𝜃</m:t>
                    </m:r>
                    <m:r>
                      <a:rPr lang="en-US" i="1" dirty="0">
                        <a:latin typeface="Cambria Math" panose="02040503050406030204" pitchFamily="18" charset="0"/>
                      </a:rPr>
                      <m:t>) </m:t>
                    </m:r>
                  </m:oMath>
                </a14:m>
                <a:r>
                  <a:rPr lang="en-US" dirty="0"/>
                  <a:t>of a hidden Markov model, given the values of its parameters 𝜃 . </a:t>
                </a:r>
              </a:p>
              <a:p>
                <a:pPr algn="just"/>
                <a:r>
                  <a:rPr lang="en-US" sz="4400" dirty="0">
                    <a:latin typeface="+mj-lt"/>
                  </a:rPr>
                  <a:t>These parameters come from the parametric expressions of </a:t>
                </a:r>
                <a14:m>
                  <m:oMath xmlns:m="http://schemas.openxmlformats.org/officeDocument/2006/math">
                    <m:sSub>
                      <m:sSubPr>
                        <m:ctrlPr>
                          <a:rPr lang="en-US" sz="4400" i="1" dirty="0" smtClean="0">
                            <a:latin typeface="Cambria Math" panose="02040503050406030204" pitchFamily="18" charset="0"/>
                          </a:rPr>
                        </m:ctrlPr>
                      </m:sSubPr>
                      <m:e>
                        <m:r>
                          <a:rPr lang="en-US" sz="4400" i="1" dirty="0" smtClean="0">
                            <a:latin typeface="Cambria Math" panose="02040503050406030204" pitchFamily="18" charset="0"/>
                          </a:rPr>
                          <m:t>𝜋</m:t>
                        </m:r>
                      </m:e>
                      <m:sub>
                        <m:r>
                          <a:rPr lang="en-US" sz="4400" i="1" dirty="0" smtClean="0">
                            <a:latin typeface="Cambria Math" panose="02040503050406030204" pitchFamily="18" charset="0"/>
                          </a:rPr>
                          <m:t>0</m:t>
                        </m:r>
                      </m:sub>
                    </m:sSub>
                    <m:r>
                      <a:rPr lang="en-US" sz="4400" i="1" dirty="0" smtClean="0">
                        <a:latin typeface="Cambria Math" panose="02040503050406030204" pitchFamily="18" charset="0"/>
                      </a:rPr>
                      <m:t>, </m:t>
                    </m:r>
                    <m:sSub>
                      <m:sSubPr>
                        <m:ctrlPr>
                          <a:rPr lang="en-US" sz="4400" i="1" dirty="0" smtClean="0">
                            <a:latin typeface="Cambria Math" panose="02040503050406030204" pitchFamily="18" charset="0"/>
                          </a:rPr>
                        </m:ctrlPr>
                      </m:sSubPr>
                      <m:e>
                        <m:r>
                          <a:rPr lang="en-US" sz="4400" i="1" dirty="0" smtClean="0">
                            <a:latin typeface="Cambria Math" panose="02040503050406030204" pitchFamily="18" charset="0"/>
                          </a:rPr>
                          <m:t>𝛼</m:t>
                        </m:r>
                      </m:e>
                      <m:sub>
                        <m:r>
                          <a:rPr lang="en-US" sz="4400" i="1" dirty="0" smtClean="0">
                            <a:latin typeface="Cambria Math" panose="02040503050406030204" pitchFamily="18" charset="0"/>
                          </a:rPr>
                          <m:t>𝑖</m:t>
                        </m:r>
                        <m:r>
                          <a:rPr lang="en-US" sz="4400" i="1" dirty="0" smtClean="0">
                            <a:latin typeface="Cambria Math" panose="02040503050406030204" pitchFamily="18" charset="0"/>
                          </a:rPr>
                          <m:t>,</m:t>
                        </m:r>
                        <m:r>
                          <a:rPr lang="en-US" sz="4400" i="1" dirty="0" smtClean="0">
                            <a:latin typeface="Cambria Math" panose="02040503050406030204" pitchFamily="18" charset="0"/>
                          </a:rPr>
                          <m:t>𝑗</m:t>
                        </m:r>
                      </m:sub>
                    </m:sSub>
                    <m:r>
                      <a:rPr lang="en-US" sz="4400" i="1" dirty="0" smtClean="0">
                        <a:latin typeface="Cambria Math" panose="02040503050406030204" pitchFamily="18" charset="0"/>
                      </a:rPr>
                      <m:t> (</m:t>
                    </m:r>
                    <m:r>
                      <a:rPr lang="en-US" sz="4400" i="1" dirty="0" smtClean="0">
                        <a:latin typeface="Cambria Math" panose="02040503050406030204" pitchFamily="18" charset="0"/>
                      </a:rPr>
                      <m:t>𝑡</m:t>
                    </m:r>
                    <m:r>
                      <a:rPr lang="en-US" sz="4400" i="1" dirty="0" smtClean="0">
                        <a:latin typeface="Cambria Math" panose="02040503050406030204" pitchFamily="18" charset="0"/>
                      </a:rPr>
                      <m:t>) </m:t>
                    </m:r>
                  </m:oMath>
                </a14:m>
                <a:r>
                  <a:rPr lang="en-US" sz="4400" dirty="0">
                    <a:latin typeface="+mj-lt"/>
                  </a:rPr>
                  <a:t>and </a:t>
                </a:r>
                <a14:m>
                  <m:oMath xmlns:m="http://schemas.openxmlformats.org/officeDocument/2006/math">
                    <m:sSub>
                      <m:sSubPr>
                        <m:ctrlPr>
                          <a:rPr lang="en-US" sz="4400" i="1" dirty="0" smtClean="0">
                            <a:latin typeface="Cambria Math" panose="02040503050406030204" pitchFamily="18" charset="0"/>
                          </a:rPr>
                        </m:ctrlPr>
                      </m:sSubPr>
                      <m:e>
                        <m:r>
                          <a:rPr lang="en-US" sz="4400" i="1" dirty="0" smtClean="0">
                            <a:latin typeface="Cambria Math" panose="02040503050406030204" pitchFamily="18" charset="0"/>
                          </a:rPr>
                          <m:t>𝑏</m:t>
                        </m:r>
                      </m:e>
                      <m:sub>
                        <m:r>
                          <a:rPr lang="en-US" sz="4400" i="1" dirty="0" smtClean="0">
                            <a:latin typeface="Cambria Math" panose="02040503050406030204" pitchFamily="18" charset="0"/>
                          </a:rPr>
                          <m:t>𝑖</m:t>
                        </m:r>
                      </m:sub>
                    </m:sSub>
                  </m:oMath>
                </a14:m>
                <a:endParaRPr lang="en-US" dirty="0"/>
              </a:p>
              <a:p>
                <a:pPr algn="just"/>
                <a:endParaRPr lang="en-US" dirty="0"/>
              </a:p>
            </p:txBody>
          </p:sp>
        </mc:Choice>
        <mc:Fallback xmlns="">
          <p:sp>
            <p:nvSpPr>
              <p:cNvPr id="4" name="Content Placeholder 3">
                <a:extLst>
                  <a:ext uri="{FF2B5EF4-FFF2-40B4-BE49-F238E27FC236}">
                    <a16:creationId xmlns:a16="http://schemas.microsoft.com/office/drawing/2014/main" id="{F50E50B6-6863-4D06-4C7D-4E3B74F82B76}"/>
                  </a:ext>
                </a:extLst>
              </p:cNvPr>
              <p:cNvSpPr>
                <a:spLocks noGrp="1" noRot="1" noChangeAspect="1" noMove="1" noResize="1" noEditPoints="1" noAdjustHandles="1" noChangeArrowheads="1" noChangeShapeType="1" noTextEdit="1"/>
              </p:cNvSpPr>
              <p:nvPr>
                <p:ph sz="quarter" idx="11"/>
              </p:nvPr>
            </p:nvSpPr>
            <p:spPr>
              <a:xfrm>
                <a:off x="2163188" y="3260663"/>
                <a:ext cx="20057623" cy="9159937"/>
              </a:xfrm>
              <a:blipFill>
                <a:blip r:embed="rId2"/>
                <a:stretch>
                  <a:fillRect l="-1329" t="-1107" r="-1456"/>
                </a:stretch>
              </a:blipFill>
            </p:spPr>
            <p:txBody>
              <a:bodyPr/>
              <a:lstStyle/>
              <a:p>
                <a:r>
                  <a:rPr lang="en-US">
                    <a:noFill/>
                  </a:rPr>
                  <a:t> </a:t>
                </a:r>
              </a:p>
            </p:txBody>
          </p:sp>
        </mc:Fallback>
      </mc:AlternateContent>
    </p:spTree>
    <p:extLst>
      <p:ext uri="{BB962C8B-B14F-4D97-AF65-F5344CB8AC3E}">
        <p14:creationId xmlns:p14="http://schemas.microsoft.com/office/powerpoint/2010/main" val="321223827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Algorithm</a:t>
            </a:r>
          </a:p>
        </p:txBody>
      </p:sp>
      <p:pic>
        <p:nvPicPr>
          <p:cNvPr id="7" name="Picture 2" descr="Forward algorithm for computing the likelihood of the data $y_{1:T}$ given the parameters of a HMM">
            <a:extLst>
              <a:ext uri="{FF2B5EF4-FFF2-40B4-BE49-F238E27FC236}">
                <a16:creationId xmlns:a16="http://schemas.microsoft.com/office/drawing/2014/main" id="{7D4FD025-6490-89ED-EABE-F36FB69C871E}"/>
              </a:ext>
            </a:extLst>
          </p:cNvPr>
          <p:cNvPicPr>
            <a:picLocks noGrp="1" noChangeAspect="1" noChangeArrowheads="1"/>
          </p:cNvPicPr>
          <p:nvPr>
            <p:ph sz="quarter" idx="11"/>
          </p:nvPr>
        </p:nvPicPr>
        <p:blipFill rotWithShape="1">
          <a:blip r:embed="rId2">
            <a:extLst>
              <a:ext uri="{28A0092B-C50C-407E-A947-70E740481C1C}">
                <a14:useLocalDpi xmlns:a14="http://schemas.microsoft.com/office/drawing/2010/main" val="0"/>
              </a:ext>
            </a:extLst>
          </a:blip>
          <a:srcRect t="1004" b="64155"/>
          <a:stretch/>
        </p:blipFill>
        <p:spPr bwMode="auto">
          <a:xfrm>
            <a:off x="2167377" y="3632199"/>
            <a:ext cx="19225307" cy="712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06048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algorithm</a:t>
            </a:r>
          </a:p>
        </p:txBody>
      </p:sp>
      <p:pic>
        <p:nvPicPr>
          <p:cNvPr id="7" name="Picture 2" descr="Forward algorithm for computing the likelihood of the data $y_{1:T}$ given the parameters of a HMM">
            <a:extLst>
              <a:ext uri="{FF2B5EF4-FFF2-40B4-BE49-F238E27FC236}">
                <a16:creationId xmlns:a16="http://schemas.microsoft.com/office/drawing/2014/main" id="{9C89D254-FFCB-93EE-3C74-A3AA42CF04C1}"/>
              </a:ext>
            </a:extLst>
          </p:cNvPr>
          <p:cNvPicPr>
            <a:picLocks noGrp="1" noChangeAspect="1" noChangeArrowheads="1"/>
          </p:cNvPicPr>
          <p:nvPr>
            <p:ph sz="quarter" idx="11"/>
          </p:nvPr>
        </p:nvPicPr>
        <p:blipFill rotWithShape="1">
          <a:blip r:embed="rId2">
            <a:extLst>
              <a:ext uri="{28A0092B-C50C-407E-A947-70E740481C1C}">
                <a14:useLocalDpi xmlns:a14="http://schemas.microsoft.com/office/drawing/2010/main" val="0"/>
              </a:ext>
            </a:extLst>
          </a:blip>
          <a:srcRect t="35536" b="2140"/>
          <a:stretch/>
        </p:blipFill>
        <p:spPr bwMode="auto">
          <a:xfrm>
            <a:off x="2167377" y="3223274"/>
            <a:ext cx="14224000" cy="9434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05681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0F4278CD-26D7-BB40-E24D-B818190EF9EC}"/>
              </a:ext>
            </a:extLst>
          </p:cNvPr>
          <p:cNvSpPr>
            <a:spLocks noGrp="1"/>
          </p:cNvSpPr>
          <p:nvPr>
            <p:ph sz="quarter" idx="11"/>
          </p:nvPr>
        </p:nvSpPr>
        <p:spPr/>
        <p:txBody>
          <a:bodyPr/>
          <a:lstStyle/>
          <a:p>
            <a:r>
              <a:rPr lang="en-US" dirty="0"/>
              <a:t>Consider Jack who is living in Gotham city, the city is unique only have three weathers: rainy, and sunny and only occur once a day, and tomorrow weather depends on the today weather. In one day, Jack can have two mood sad or happy and depend on weather. Supposed we observed: the first two days Jack is sad, while the third day is happy. </a:t>
            </a:r>
          </a:p>
          <a:p>
            <a:r>
              <a:rPr lang="en-US" dirty="0"/>
              <a:t>What is the probability of this observed sequence given the parameters of our HMM?</a:t>
            </a:r>
          </a:p>
          <a:p>
            <a:endParaRPr lang="en-US" dirty="0"/>
          </a:p>
          <a:p>
            <a:endParaRPr lang="en-US" dirty="0"/>
          </a:p>
          <a:p>
            <a:endParaRPr lang="en-US" dirty="0"/>
          </a:p>
        </p:txBody>
      </p:sp>
    </p:spTree>
    <p:extLst>
      <p:ext uri="{BB962C8B-B14F-4D97-AF65-F5344CB8AC3E}">
        <p14:creationId xmlns:p14="http://schemas.microsoft.com/office/powerpoint/2010/main" val="420052697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5" name="Content Placeholder 4">
            <a:extLst>
              <a:ext uri="{FF2B5EF4-FFF2-40B4-BE49-F238E27FC236}">
                <a16:creationId xmlns:a16="http://schemas.microsoft.com/office/drawing/2014/main" id="{8A2D294B-69BE-FDB4-210E-3E366CCF9F6B}"/>
              </a:ext>
            </a:extLst>
          </p:cNvPr>
          <p:cNvPicPr>
            <a:picLocks noGrp="1" noChangeAspect="1"/>
          </p:cNvPicPr>
          <p:nvPr>
            <p:ph sz="quarter" idx="11"/>
          </p:nvPr>
        </p:nvPicPr>
        <p:blipFill>
          <a:blip r:embed="rId2"/>
          <a:stretch>
            <a:fillRect/>
          </a:stretch>
        </p:blipFill>
        <p:spPr>
          <a:xfrm>
            <a:off x="3746500" y="3260663"/>
            <a:ext cx="16891000" cy="8969075"/>
          </a:xfrm>
          <a:prstGeom prst="rect">
            <a:avLst/>
          </a:prstGeom>
        </p:spPr>
      </p:pic>
    </p:spTree>
    <p:extLst>
      <p:ext uri="{BB962C8B-B14F-4D97-AF65-F5344CB8AC3E}">
        <p14:creationId xmlns:p14="http://schemas.microsoft.com/office/powerpoint/2010/main" val="77240591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5B721EA-E327-B7E7-07F4-D9351C0C8D88}"/>
                  </a:ext>
                </a:extLst>
              </p:cNvPr>
              <p:cNvSpPr>
                <a:spLocks noGrp="1"/>
              </p:cNvSpPr>
              <p:nvPr>
                <p:ph sz="quarter" idx="11"/>
              </p:nvPr>
            </p:nvSpPr>
            <p:spPr/>
            <p:txBody>
              <a:bodyPr/>
              <a:lstStyle/>
              <a:p>
                <a:r>
                  <a:rPr lang="en-US" sz="4400" dirty="0">
                    <a:latin typeface="+mj-lt"/>
                  </a:rPr>
                  <a:t>Mathematic for the observed state:</a:t>
                </a:r>
                <a:br>
                  <a:rPr lang="en-US" sz="4400" b="0" dirty="0">
                    <a:latin typeface="+mj-lt"/>
                  </a:rPr>
                </a:br>
                <a14:m>
                  <m:oMath xmlns:m="http://schemas.openxmlformats.org/officeDocument/2006/math">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𝑌</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𝑌</m:t>
                            </m:r>
                          </m:e>
                          <m:sub>
                            <m:r>
                              <a:rPr lang="en-US" sz="4400" b="0" i="1" smtClean="0">
                                <a:latin typeface="Cambria Math" panose="02040503050406030204" pitchFamily="18" charset="0"/>
                              </a:rPr>
                              <m:t>0</m:t>
                            </m:r>
                          </m:sub>
                        </m:sSub>
                        <m:r>
                          <a:rPr lang="en-US" sz="4400" b="0" i="1" smtClean="0">
                            <a:latin typeface="Cambria Math" panose="02040503050406030204" pitchFamily="18" charset="0"/>
                          </a:rPr>
                          <m:t>, </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𝑌</m:t>
                            </m:r>
                          </m:e>
                          <m:sub>
                            <m:r>
                              <a:rPr lang="en-US" sz="4400" b="0" i="1" smtClean="0">
                                <a:latin typeface="Cambria Math" panose="02040503050406030204" pitchFamily="18" charset="0"/>
                              </a:rPr>
                              <m:t>0</m:t>
                            </m:r>
                          </m:sub>
                        </m:sSub>
                        <m:r>
                          <a:rPr lang="en-US" sz="4400" b="0" i="1" smtClean="0">
                            <a:latin typeface="Cambria Math" panose="02040503050406030204" pitchFamily="18" charset="0"/>
                          </a:rPr>
                          <m:t>, </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𝑌</m:t>
                            </m:r>
                          </m:e>
                          <m:sub>
                            <m:r>
                              <a:rPr lang="en-US" sz="4400" b="0" i="1" smtClean="0">
                                <a:latin typeface="Cambria Math" panose="02040503050406030204" pitchFamily="18" charset="0"/>
                              </a:rPr>
                              <m:t>1</m:t>
                            </m:r>
                          </m:sub>
                        </m:sSub>
                      </m:e>
                    </m:d>
                    <m:r>
                      <a:rPr lang="en-US" sz="4400" b="0" i="1" smtClean="0">
                        <a:latin typeface="Cambria Math" panose="02040503050406030204" pitchFamily="18" charset="0"/>
                      </a:rPr>
                      <m:t>=?</m:t>
                    </m:r>
                  </m:oMath>
                </a14:m>
                <a:endParaRPr lang="en-ID" sz="4400" dirty="0">
                  <a:latin typeface="+mj-lt"/>
                </a:endParaRPr>
              </a:p>
              <a:p>
                <a:r>
                  <a:rPr lang="en-ID" sz="4400" dirty="0">
                    <a:latin typeface="+mj-lt"/>
                  </a:rPr>
                  <a:t>Assume the possibility of the Hidden states. (First Day is rainy, Second Day is sunny, and third day is sunny</a:t>
                </a:r>
              </a:p>
              <a:p>
                <a:endParaRPr lang="en-US" dirty="0"/>
              </a:p>
            </p:txBody>
          </p:sp>
        </mc:Choice>
        <mc:Fallback xmlns="">
          <p:sp>
            <p:nvSpPr>
              <p:cNvPr id="6" name="Content Placeholder 5">
                <a:extLst>
                  <a:ext uri="{FF2B5EF4-FFF2-40B4-BE49-F238E27FC236}">
                    <a16:creationId xmlns:a16="http://schemas.microsoft.com/office/drawing/2014/main" id="{F5B721EA-E327-B7E7-07F4-D9351C0C8D88}"/>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a:stretch>
              </a:blipFill>
            </p:spPr>
            <p:txBody>
              <a:bodyPr/>
              <a:lstStyle/>
              <a:p>
                <a:r>
                  <a:rPr lang="en-US">
                    <a:noFill/>
                  </a:rPr>
                  <a:t> </a:t>
                </a:r>
              </a:p>
            </p:txBody>
          </p:sp>
        </mc:Fallback>
      </mc:AlternateContent>
      <p:pic>
        <p:nvPicPr>
          <p:cNvPr id="7" name="Picture 5">
            <a:extLst>
              <a:ext uri="{FF2B5EF4-FFF2-40B4-BE49-F238E27FC236}">
                <a16:creationId xmlns:a16="http://schemas.microsoft.com/office/drawing/2014/main" id="{B992D29F-7D3D-2D01-698C-BAC4D7077DD3}"/>
              </a:ext>
            </a:extLst>
          </p:cNvPr>
          <p:cNvPicPr>
            <a:picLocks noChangeAspect="1"/>
          </p:cNvPicPr>
          <p:nvPr/>
        </p:nvPicPr>
        <p:blipFill>
          <a:blip r:embed="rId3"/>
          <a:stretch>
            <a:fillRect/>
          </a:stretch>
        </p:blipFill>
        <p:spPr>
          <a:xfrm>
            <a:off x="7446077" y="6883400"/>
            <a:ext cx="9491845" cy="6065520"/>
          </a:xfrm>
          <a:prstGeom prst="rect">
            <a:avLst/>
          </a:prstGeom>
        </p:spPr>
      </p:pic>
    </p:spTree>
    <p:extLst>
      <p:ext uri="{BB962C8B-B14F-4D97-AF65-F5344CB8AC3E}">
        <p14:creationId xmlns:p14="http://schemas.microsoft.com/office/powerpoint/2010/main" val="107148391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5B721EA-E327-B7E7-07F4-D9351C0C8D88}"/>
                  </a:ext>
                </a:extLst>
              </p:cNvPr>
              <p:cNvSpPr>
                <a:spLocks noGrp="1"/>
              </p:cNvSpPr>
              <p:nvPr>
                <p:ph sz="quarter" idx="11"/>
              </p:nvPr>
            </p:nvSpPr>
            <p:spPr/>
            <p:txBody>
              <a:bodyPr/>
              <a:lstStyle/>
              <a:p>
                <a:pPr>
                  <a:spcAft>
                    <a:spcPts val="2400"/>
                  </a:spcAft>
                </a:pPr>
                <a:r>
                  <a:rPr lang="en-US" sz="4400" dirty="0">
                    <a:latin typeface="+mj-lt"/>
                  </a:rPr>
                  <a:t>We write the Formula into:</a:t>
                </a:r>
              </a:p>
              <a:p>
                <a:pPr marL="0" indent="0">
                  <a:buNone/>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𝑃</m:t>
                      </m:r>
                      <m:d>
                        <m:dPr>
                          <m:ctrlPr>
                            <a:rPr lang="en-US" sz="4400" i="1">
                              <a:latin typeface="Cambria Math" panose="02040503050406030204" pitchFamily="18" charset="0"/>
                            </a:rPr>
                          </m:ctrlPr>
                        </m:dPr>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0</m:t>
                              </m:r>
                            </m:sub>
                          </m:sSub>
                        </m:e>
                      </m:d>
                      <m:r>
                        <a:rPr lang="en-US" sz="4400" i="1">
                          <a:latin typeface="Cambria Math" panose="02040503050406030204" pitchFamily="18" charset="0"/>
                        </a:rPr>
                        <m:t>𝑃</m:t>
                      </m:r>
                      <m:d>
                        <m:dPr>
                          <m:ctrlPr>
                            <a:rPr lang="en-US" sz="4400" i="1">
                              <a:latin typeface="Cambria Math" panose="02040503050406030204" pitchFamily="18" charset="0"/>
                            </a:rPr>
                          </m:ctrlPr>
                        </m:dPr>
                        <m:e>
                          <m:sSub>
                            <m:sSubPr>
                              <m:ctrlPr>
                                <a:rPr lang="en-US" sz="4400" i="1">
                                  <a:latin typeface="Cambria Math" panose="02040503050406030204" pitchFamily="18" charset="0"/>
                                </a:rPr>
                              </m:ctrlPr>
                            </m:sSubPr>
                            <m:e>
                              <m:r>
                                <a:rPr lang="en-US" sz="4400" i="1">
                                  <a:latin typeface="Cambria Math" panose="02040503050406030204" pitchFamily="18" charset="0"/>
                                </a:rPr>
                                <m:t>𝑌</m:t>
                              </m:r>
                            </m:e>
                            <m:sub>
                              <m:r>
                                <a:rPr lang="en-US" sz="4400" i="1">
                                  <a:latin typeface="Cambria Math" panose="02040503050406030204" pitchFamily="18" charset="0"/>
                                </a:rPr>
                                <m:t>0</m:t>
                              </m:r>
                            </m:sub>
                          </m:sSub>
                        </m:e>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0</m:t>
                              </m:r>
                            </m:sub>
                          </m:sSub>
                        </m:e>
                      </m:d>
                      <m:r>
                        <a:rPr lang="en-US" sz="4400" i="1">
                          <a:latin typeface="Cambria Math" panose="02040503050406030204" pitchFamily="18" charset="0"/>
                        </a:rPr>
                        <m:t>𝑃</m:t>
                      </m:r>
                      <m:d>
                        <m:dPr>
                          <m:ctrlPr>
                            <a:rPr lang="en-US" sz="4400" i="1">
                              <a:latin typeface="Cambria Math" panose="02040503050406030204" pitchFamily="18" charset="0"/>
                            </a:rPr>
                          </m:ctrlPr>
                        </m:dPr>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1</m:t>
                              </m:r>
                            </m:sub>
                          </m:sSub>
                        </m:e>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0</m:t>
                              </m:r>
                            </m:sub>
                          </m:sSub>
                        </m:e>
                      </m:d>
                      <m:r>
                        <a:rPr lang="en-US" sz="4400" i="1">
                          <a:latin typeface="Cambria Math" panose="02040503050406030204" pitchFamily="18" charset="0"/>
                        </a:rPr>
                        <m:t>𝑃</m:t>
                      </m:r>
                      <m:d>
                        <m:dPr>
                          <m:ctrlPr>
                            <a:rPr lang="en-US" sz="4400" i="1">
                              <a:latin typeface="Cambria Math" panose="02040503050406030204" pitchFamily="18" charset="0"/>
                            </a:rPr>
                          </m:ctrlPr>
                        </m:dPr>
                        <m:e>
                          <m:sSub>
                            <m:sSubPr>
                              <m:ctrlPr>
                                <a:rPr lang="en-US" sz="4400" i="1">
                                  <a:latin typeface="Cambria Math" panose="02040503050406030204" pitchFamily="18" charset="0"/>
                                </a:rPr>
                              </m:ctrlPr>
                            </m:sSubPr>
                            <m:e>
                              <m:r>
                                <a:rPr lang="en-US" sz="4400" i="1">
                                  <a:latin typeface="Cambria Math" panose="02040503050406030204" pitchFamily="18" charset="0"/>
                                </a:rPr>
                                <m:t>𝑌</m:t>
                              </m:r>
                            </m:e>
                            <m:sub>
                              <m:r>
                                <a:rPr lang="en-US" sz="4400" i="1">
                                  <a:latin typeface="Cambria Math" panose="02040503050406030204" pitchFamily="18" charset="0"/>
                                </a:rPr>
                                <m:t>0</m:t>
                              </m:r>
                            </m:sub>
                          </m:sSub>
                        </m:e>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1</m:t>
                              </m:r>
                            </m:sub>
                          </m:sSub>
                        </m:e>
                      </m:d>
                      <m:r>
                        <a:rPr lang="en-US" sz="4400" i="1">
                          <a:latin typeface="Cambria Math" panose="02040503050406030204" pitchFamily="18" charset="0"/>
                        </a:rPr>
                        <m:t>𝑃</m:t>
                      </m:r>
                      <m:d>
                        <m:dPr>
                          <m:ctrlPr>
                            <a:rPr lang="en-US" sz="4400" i="1">
                              <a:latin typeface="Cambria Math" panose="02040503050406030204" pitchFamily="18" charset="0"/>
                            </a:rPr>
                          </m:ctrlPr>
                        </m:dPr>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1</m:t>
                              </m:r>
                            </m:sub>
                          </m:sSub>
                        </m:e>
                        <m:e>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1</m:t>
                              </m:r>
                            </m:sub>
                          </m:sSub>
                        </m:e>
                      </m:d>
                      <m:r>
                        <a:rPr lang="en-US" sz="4400" i="1">
                          <a:latin typeface="Cambria Math" panose="02040503050406030204" pitchFamily="18" charset="0"/>
                        </a:rPr>
                        <m:t>𝑃</m:t>
                      </m:r>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𝑌</m:t>
                          </m:r>
                        </m:e>
                        <m:sub>
                          <m:r>
                            <a:rPr lang="en-US" sz="4400" i="1">
                              <a:latin typeface="Cambria Math" panose="02040503050406030204" pitchFamily="18" charset="0"/>
                            </a:rPr>
                            <m:t>1</m:t>
                          </m:r>
                        </m:sub>
                      </m:sSub>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1</m:t>
                          </m:r>
                        </m:sub>
                      </m:sSub>
                      <m:r>
                        <a:rPr lang="en-US" sz="4400" i="1">
                          <a:latin typeface="Cambria Math" panose="02040503050406030204" pitchFamily="18" charset="0"/>
                        </a:rPr>
                        <m:t>)</m:t>
                      </m:r>
                    </m:oMath>
                  </m:oMathPara>
                </a14:m>
                <a:endParaRPr lang="en-ID" sz="4400" dirty="0">
                  <a:latin typeface="+mj-lt"/>
                </a:endParaRPr>
              </a:p>
              <a:p>
                <a:pPr>
                  <a:spcAft>
                    <a:spcPts val="2400"/>
                  </a:spcAft>
                </a:pPr>
                <a:r>
                  <a:rPr lang="en-US" sz="4400" dirty="0">
                    <a:latin typeface="+mj-lt"/>
                  </a:rPr>
                  <a:t>Mathematic for the observed state:</a:t>
                </a:r>
              </a:p>
              <a:p>
                <a:pPr marL="0" indent="0">
                  <a:buNone/>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𝑃</m:t>
                      </m:r>
                      <m:d>
                        <m:dPr>
                          <m:ctrlPr>
                            <a:rPr lang="en-US" sz="4400" i="1">
                              <a:latin typeface="Cambria Math" panose="02040503050406030204" pitchFamily="18" charset="0"/>
                            </a:rPr>
                          </m:ctrlPr>
                        </m:dPr>
                        <m:e>
                          <m:r>
                            <a:rPr lang="en-US" sz="4400" i="1">
                              <a:latin typeface="Cambria Math" panose="02040503050406030204" pitchFamily="18" charset="0"/>
                            </a:rPr>
                            <m:t>𝑌</m:t>
                          </m:r>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𝑌</m:t>
                              </m:r>
                            </m:e>
                            <m:sub>
                              <m:r>
                                <a:rPr lang="en-US" sz="4400" i="1">
                                  <a:latin typeface="Cambria Math" panose="02040503050406030204" pitchFamily="18" charset="0"/>
                                </a:rPr>
                                <m:t>0</m:t>
                              </m:r>
                            </m:sub>
                          </m:sSub>
                          <m:r>
                            <a:rPr lang="en-US" sz="4400" i="1">
                              <a:latin typeface="Cambria Math" panose="02040503050406030204" pitchFamily="18" charset="0"/>
                            </a:rPr>
                            <m:t>, </m:t>
                          </m:r>
                          <m:sSub>
                            <m:sSubPr>
                              <m:ctrlPr>
                                <a:rPr lang="en-US" sz="4400" i="1">
                                  <a:latin typeface="Cambria Math" panose="02040503050406030204" pitchFamily="18" charset="0"/>
                                </a:rPr>
                              </m:ctrlPr>
                            </m:sSubPr>
                            <m:e>
                              <m:r>
                                <a:rPr lang="en-US" sz="4400" i="1">
                                  <a:latin typeface="Cambria Math" panose="02040503050406030204" pitchFamily="18" charset="0"/>
                                </a:rPr>
                                <m:t>𝑌</m:t>
                              </m:r>
                            </m:e>
                            <m:sub>
                              <m:r>
                                <a:rPr lang="en-US" sz="4400" i="1">
                                  <a:latin typeface="Cambria Math" panose="02040503050406030204" pitchFamily="18" charset="0"/>
                                </a:rPr>
                                <m:t>0</m:t>
                              </m:r>
                            </m:sub>
                          </m:sSub>
                          <m:r>
                            <a:rPr lang="en-US" sz="4400" i="1">
                              <a:latin typeface="Cambria Math" panose="02040503050406030204" pitchFamily="18" charset="0"/>
                            </a:rPr>
                            <m:t>, </m:t>
                          </m:r>
                          <m:sSub>
                            <m:sSubPr>
                              <m:ctrlPr>
                                <a:rPr lang="en-US" sz="4400" i="1">
                                  <a:latin typeface="Cambria Math" panose="02040503050406030204" pitchFamily="18" charset="0"/>
                                </a:rPr>
                              </m:ctrlPr>
                            </m:sSubPr>
                            <m:e>
                              <m:r>
                                <a:rPr lang="en-US" sz="4400" i="1">
                                  <a:latin typeface="Cambria Math" panose="02040503050406030204" pitchFamily="18" charset="0"/>
                                </a:rPr>
                                <m:t>𝑌</m:t>
                              </m:r>
                            </m:e>
                            <m:sub>
                              <m:r>
                                <a:rPr lang="en-US" sz="4400" i="1">
                                  <a:latin typeface="Cambria Math" panose="02040503050406030204" pitchFamily="18" charset="0"/>
                                </a:rPr>
                                <m:t>1</m:t>
                              </m:r>
                            </m:sub>
                          </m:sSub>
                        </m:e>
                      </m:d>
                      <m:r>
                        <a:rPr lang="en-US" sz="4400" i="1">
                          <a:latin typeface="Cambria Math" panose="02040503050406030204" pitchFamily="18" charset="0"/>
                        </a:rPr>
                        <m:t>=?</m:t>
                      </m:r>
                    </m:oMath>
                  </m:oMathPara>
                </a14:m>
                <a:endParaRPr lang="en-ID" sz="4400" dirty="0">
                  <a:latin typeface="+mj-lt"/>
                </a:endParaRPr>
              </a:p>
              <a:p>
                <a:r>
                  <a:rPr lang="en-ID" sz="4400" dirty="0">
                    <a:latin typeface="+mj-lt"/>
                  </a:rPr>
                  <a:t>This Problem will have </a:t>
                </a:r>
                <a:r>
                  <a:rPr lang="en-ID" sz="4400" b="1" i="1" dirty="0">
                    <a:latin typeface="+mj-lt"/>
                  </a:rPr>
                  <a:t>8 possible permutation</a:t>
                </a:r>
              </a:p>
              <a:p>
                <a:endParaRPr lang="en-ID" sz="4400" dirty="0">
                  <a:latin typeface="+mj-lt"/>
                </a:endParaRPr>
              </a:p>
              <a:p>
                <a:endParaRPr lang="en-ID" sz="4400" dirty="0">
                  <a:latin typeface="+mj-lt"/>
                </a:endParaRPr>
              </a:p>
              <a:p>
                <a:endParaRPr lang="en-US" dirty="0"/>
              </a:p>
            </p:txBody>
          </p:sp>
        </mc:Choice>
        <mc:Fallback xmlns="">
          <p:sp>
            <p:nvSpPr>
              <p:cNvPr id="6" name="Content Placeholder 5">
                <a:extLst>
                  <a:ext uri="{FF2B5EF4-FFF2-40B4-BE49-F238E27FC236}">
                    <a16:creationId xmlns:a16="http://schemas.microsoft.com/office/drawing/2014/main" id="{F5B721EA-E327-B7E7-07F4-D9351C0C8D88}"/>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a:stretch>
              </a:blipFill>
            </p:spPr>
            <p:txBody>
              <a:bodyPr/>
              <a:lstStyle/>
              <a:p>
                <a:r>
                  <a:rPr lang="en-US">
                    <a:noFill/>
                  </a:rPr>
                  <a:t> </a:t>
                </a:r>
              </a:p>
            </p:txBody>
          </p:sp>
        </mc:Fallback>
      </mc:AlternateContent>
    </p:spTree>
    <p:extLst>
      <p:ext uri="{BB962C8B-B14F-4D97-AF65-F5344CB8AC3E}">
        <p14:creationId xmlns:p14="http://schemas.microsoft.com/office/powerpoint/2010/main" val="207850343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4" name="Content Placeholder 3">
            <a:extLst>
              <a:ext uri="{FF2B5EF4-FFF2-40B4-BE49-F238E27FC236}">
                <a16:creationId xmlns:a16="http://schemas.microsoft.com/office/drawing/2014/main" id="{64E7342F-07F1-B81B-E597-0ADE25E0793B}"/>
              </a:ext>
            </a:extLst>
          </p:cNvPr>
          <p:cNvPicPr>
            <a:picLocks noGrp="1" noChangeAspect="1"/>
          </p:cNvPicPr>
          <p:nvPr>
            <p:ph sz="quarter" idx="11"/>
          </p:nvPr>
        </p:nvPicPr>
        <p:blipFill>
          <a:blip r:embed="rId2"/>
          <a:stretch>
            <a:fillRect/>
          </a:stretch>
        </p:blipFill>
        <p:spPr>
          <a:xfrm>
            <a:off x="8585200" y="1872058"/>
            <a:ext cx="9999546" cy="11540830"/>
          </a:xfrm>
          <a:prstGeom prst="rect">
            <a:avLst/>
          </a:prstGeom>
        </p:spPr>
      </p:pic>
    </p:spTree>
    <p:extLst>
      <p:ext uri="{BB962C8B-B14F-4D97-AF65-F5344CB8AC3E}">
        <p14:creationId xmlns:p14="http://schemas.microsoft.com/office/powerpoint/2010/main" val="211194819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7" name="Picture 5">
            <a:extLst>
              <a:ext uri="{FF2B5EF4-FFF2-40B4-BE49-F238E27FC236}">
                <a16:creationId xmlns:a16="http://schemas.microsoft.com/office/drawing/2014/main" id="{A3F13BE1-637C-60D5-C936-EAF2864DED06}"/>
              </a:ext>
            </a:extLst>
          </p:cNvPr>
          <p:cNvPicPr>
            <a:picLocks noGrp="1" noChangeAspect="1"/>
          </p:cNvPicPr>
          <p:nvPr>
            <p:ph sz="quarter" idx="11"/>
          </p:nvPr>
        </p:nvPicPr>
        <p:blipFill>
          <a:blip r:embed="rId2"/>
          <a:stretch>
            <a:fillRect/>
          </a:stretch>
        </p:blipFill>
        <p:spPr>
          <a:xfrm>
            <a:off x="3810000" y="3223274"/>
            <a:ext cx="16764000" cy="9247047"/>
          </a:xfrm>
          <a:prstGeom prst="rect">
            <a:avLst/>
          </a:prstGeom>
        </p:spPr>
      </p:pic>
    </p:spTree>
    <p:extLst>
      <p:ext uri="{BB962C8B-B14F-4D97-AF65-F5344CB8AC3E}">
        <p14:creationId xmlns:p14="http://schemas.microsoft.com/office/powerpoint/2010/main" val="184924770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B98C362E-A3EE-4FBF-BD23-2E640E09D349}"/>
              </a:ext>
            </a:extLst>
          </p:cNvPr>
          <p:cNvPicPr>
            <a:picLocks noGrp="1" noChangeAspect="1"/>
          </p:cNvPicPr>
          <p:nvPr>
            <p:ph sz="quarter" idx="11"/>
          </p:nvPr>
        </p:nvPicPr>
        <p:blipFill>
          <a:blip r:embed="rId2"/>
          <a:stretch>
            <a:fillRect/>
          </a:stretch>
        </p:blipFill>
        <p:spPr>
          <a:xfrm>
            <a:off x="2167377" y="3512758"/>
            <a:ext cx="20083023" cy="8093158"/>
          </a:xfrm>
          <a:prstGeom prst="rect">
            <a:avLst/>
          </a:prstGeom>
        </p:spPr>
      </p:pic>
    </p:spTree>
    <p:extLst>
      <p:ext uri="{BB962C8B-B14F-4D97-AF65-F5344CB8AC3E}">
        <p14:creationId xmlns:p14="http://schemas.microsoft.com/office/powerpoint/2010/main" val="393230176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D2D109A8-8628-0571-6662-99677DF45577}"/>
              </a:ext>
            </a:extLst>
          </p:cNvPr>
          <p:cNvPicPr>
            <a:picLocks noGrp="1" noChangeAspect="1"/>
          </p:cNvPicPr>
          <p:nvPr>
            <p:ph sz="quarter" idx="11"/>
          </p:nvPr>
        </p:nvPicPr>
        <p:blipFill>
          <a:blip r:embed="rId2"/>
          <a:stretch>
            <a:fillRect/>
          </a:stretch>
        </p:blipFill>
        <p:spPr>
          <a:xfrm>
            <a:off x="2167377" y="3662976"/>
            <a:ext cx="20279955" cy="7868623"/>
          </a:xfrm>
          <a:prstGeom prst="rect">
            <a:avLst/>
          </a:prstGeom>
        </p:spPr>
      </p:pic>
    </p:spTree>
    <p:extLst>
      <p:ext uri="{BB962C8B-B14F-4D97-AF65-F5344CB8AC3E}">
        <p14:creationId xmlns:p14="http://schemas.microsoft.com/office/powerpoint/2010/main" val="349662301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EDA30AE7-3225-EBA1-32DB-E6505DF71154}"/>
              </a:ext>
            </a:extLst>
          </p:cNvPr>
          <p:cNvPicPr>
            <a:picLocks noGrp="1" noChangeAspect="1"/>
          </p:cNvPicPr>
          <p:nvPr>
            <p:ph sz="quarter" idx="11"/>
          </p:nvPr>
        </p:nvPicPr>
        <p:blipFill>
          <a:blip r:embed="rId2"/>
          <a:stretch>
            <a:fillRect/>
          </a:stretch>
        </p:blipFill>
        <p:spPr>
          <a:xfrm>
            <a:off x="4965700" y="3223274"/>
            <a:ext cx="14452600" cy="10201836"/>
          </a:xfrm>
          <a:prstGeom prst="rect">
            <a:avLst/>
          </a:prstGeom>
        </p:spPr>
      </p:pic>
    </p:spTree>
    <p:extLst>
      <p:ext uri="{BB962C8B-B14F-4D97-AF65-F5344CB8AC3E}">
        <p14:creationId xmlns:p14="http://schemas.microsoft.com/office/powerpoint/2010/main" val="3937579580"/>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F6F45DC5-D7D2-17FC-9B00-B111FA359D6B}"/>
              </a:ext>
            </a:extLst>
          </p:cNvPr>
          <p:cNvPicPr>
            <a:picLocks noGrp="1" noChangeAspect="1"/>
          </p:cNvPicPr>
          <p:nvPr>
            <p:ph sz="quarter" idx="11"/>
          </p:nvPr>
        </p:nvPicPr>
        <p:blipFill>
          <a:blip r:embed="rId2"/>
          <a:stretch>
            <a:fillRect/>
          </a:stretch>
        </p:blipFill>
        <p:spPr>
          <a:xfrm>
            <a:off x="4152900" y="3223274"/>
            <a:ext cx="16078200" cy="9801683"/>
          </a:xfrm>
          <a:prstGeom prst="rect">
            <a:avLst/>
          </a:prstGeom>
        </p:spPr>
      </p:pic>
    </p:spTree>
    <p:extLst>
      <p:ext uri="{BB962C8B-B14F-4D97-AF65-F5344CB8AC3E}">
        <p14:creationId xmlns:p14="http://schemas.microsoft.com/office/powerpoint/2010/main" val="176457825"/>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653F7053-8476-7150-D581-DC317C3B345F}"/>
              </a:ext>
            </a:extLst>
          </p:cNvPr>
          <p:cNvPicPr>
            <a:picLocks noGrp="1" noChangeAspect="1"/>
          </p:cNvPicPr>
          <p:nvPr>
            <p:ph sz="quarter" idx="11"/>
          </p:nvPr>
        </p:nvPicPr>
        <p:blipFill>
          <a:blip r:embed="rId2"/>
          <a:stretch>
            <a:fillRect/>
          </a:stretch>
        </p:blipFill>
        <p:spPr>
          <a:xfrm>
            <a:off x="821177" y="3519065"/>
            <a:ext cx="10426967" cy="2643981"/>
          </a:xfrm>
          <a:prstGeom prst="rect">
            <a:avLst/>
          </a:prstGeom>
        </p:spPr>
      </p:pic>
      <p:pic>
        <p:nvPicPr>
          <p:cNvPr id="8" name="Picture 9">
            <a:extLst>
              <a:ext uri="{FF2B5EF4-FFF2-40B4-BE49-F238E27FC236}">
                <a16:creationId xmlns:a16="http://schemas.microsoft.com/office/drawing/2014/main" id="{18CAB356-D339-4FC0-A1F1-22D53FC8D721}"/>
              </a:ext>
            </a:extLst>
          </p:cNvPr>
          <p:cNvPicPr>
            <a:picLocks noChangeAspect="1"/>
          </p:cNvPicPr>
          <p:nvPr/>
        </p:nvPicPr>
        <p:blipFill rotWithShape="1">
          <a:blip r:embed="rId3"/>
          <a:srcRect r="18835" b="16058"/>
          <a:stretch/>
        </p:blipFill>
        <p:spPr>
          <a:xfrm>
            <a:off x="821177" y="6036046"/>
            <a:ext cx="10426967" cy="6638554"/>
          </a:xfrm>
          <a:prstGeom prst="rect">
            <a:avLst/>
          </a:prstGeom>
        </p:spPr>
      </p:pic>
      <p:pic>
        <p:nvPicPr>
          <p:cNvPr id="9" name="Picture 5">
            <a:extLst>
              <a:ext uri="{FF2B5EF4-FFF2-40B4-BE49-F238E27FC236}">
                <a16:creationId xmlns:a16="http://schemas.microsoft.com/office/drawing/2014/main" id="{E656B749-CEBB-81D4-1593-D9D130F1DDE3}"/>
              </a:ext>
            </a:extLst>
          </p:cNvPr>
          <p:cNvPicPr>
            <a:picLocks noChangeAspect="1"/>
          </p:cNvPicPr>
          <p:nvPr/>
        </p:nvPicPr>
        <p:blipFill>
          <a:blip r:embed="rId4"/>
          <a:stretch>
            <a:fillRect/>
          </a:stretch>
        </p:blipFill>
        <p:spPr>
          <a:xfrm>
            <a:off x="11533706" y="2680865"/>
            <a:ext cx="12276348" cy="9155535"/>
          </a:xfrm>
          <a:prstGeom prst="rect">
            <a:avLst/>
          </a:prstGeom>
        </p:spPr>
      </p:pic>
      <p:pic>
        <p:nvPicPr>
          <p:cNvPr id="10" name="Picture 4">
            <a:extLst>
              <a:ext uri="{FF2B5EF4-FFF2-40B4-BE49-F238E27FC236}">
                <a16:creationId xmlns:a16="http://schemas.microsoft.com/office/drawing/2014/main" id="{E0E1182F-8DE8-1594-2FB5-4A74E07B0A1B}"/>
              </a:ext>
            </a:extLst>
          </p:cNvPr>
          <p:cNvPicPr>
            <a:picLocks noChangeAspect="1"/>
          </p:cNvPicPr>
          <p:nvPr/>
        </p:nvPicPr>
        <p:blipFill>
          <a:blip r:embed="rId5"/>
          <a:stretch>
            <a:fillRect/>
          </a:stretch>
        </p:blipFill>
        <p:spPr>
          <a:xfrm>
            <a:off x="11533706" y="11895498"/>
            <a:ext cx="12276348" cy="772889"/>
          </a:xfrm>
          <a:prstGeom prst="rect">
            <a:avLst/>
          </a:prstGeom>
        </p:spPr>
      </p:pic>
    </p:spTree>
    <p:extLst>
      <p:ext uri="{BB962C8B-B14F-4D97-AF65-F5344CB8AC3E}">
        <p14:creationId xmlns:p14="http://schemas.microsoft.com/office/powerpoint/2010/main" val="287826453"/>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0A0E078-39FE-EEEB-67D6-9FC31DA5754D}"/>
                  </a:ext>
                </a:extLst>
              </p:cNvPr>
              <p:cNvSpPr>
                <a:spLocks noGrp="1"/>
              </p:cNvSpPr>
              <p:nvPr>
                <p:ph sz="quarter" idx="11"/>
              </p:nvPr>
            </p:nvSpPr>
            <p:spPr>
              <a:xfrm>
                <a:off x="2163188" y="3260663"/>
                <a:ext cx="20057623" cy="9921937"/>
              </a:xfrm>
            </p:spPr>
            <p:txBody>
              <a:bodyPr>
                <a:normAutofit/>
              </a:bodyPr>
              <a:lstStyle/>
              <a:p>
                <a:r>
                  <a:rPr lang="en-US" sz="4400" dirty="0">
                    <a:latin typeface="+mj-lt"/>
                  </a:rPr>
                  <a:t>Initial Step: </a:t>
                </a:r>
                <a:r>
                  <a:rPr lang="en-US" sz="4400" dirty="0" err="1">
                    <a:latin typeface="+mj-lt"/>
                  </a:rPr>
                  <a:t>mood_index</a:t>
                </a:r>
                <a:r>
                  <a:rPr lang="en-US" sz="4400" dirty="0">
                    <a:latin typeface="+mj-lt"/>
                  </a:rPr>
                  <a:t> = 0</a:t>
                </a:r>
              </a:p>
              <a:p>
                <a:pPr lvl="1"/>
                <a14:m>
                  <m:oMath xmlns:m="http://schemas.openxmlformats.org/officeDocument/2006/math">
                    <m:r>
                      <a:rPr lang="en-US" sz="4400" b="0" i="1" smtClean="0">
                        <a:latin typeface="Cambria Math" panose="02040503050406030204" pitchFamily="18" charset="0"/>
                      </a:rPr>
                      <m:t>𝛼</m:t>
                    </m:r>
                    <m:d>
                      <m:dPr>
                        <m:begChr m:val="["/>
                        <m:endChr m:val="]"/>
                        <m:ctrlPr>
                          <a:rPr lang="en-US" sz="4400" b="0" i="1" smtClean="0">
                            <a:latin typeface="Cambria Math" panose="02040503050406030204" pitchFamily="18" charset="0"/>
                          </a:rPr>
                        </m:ctrlPr>
                      </m:dPr>
                      <m:e>
                        <m:r>
                          <a:rPr lang="en-US" sz="4400" b="0" i="1" smtClean="0">
                            <a:latin typeface="Cambria Math" panose="02040503050406030204" pitchFamily="18" charset="0"/>
                          </a:rPr>
                          <m:t>𝑟𝑎𝑖𝑛𝑦</m:t>
                        </m:r>
                        <m:r>
                          <a:rPr lang="en-US" sz="4400" b="0" i="1" smtClean="0">
                            <a:latin typeface="Cambria Math" panose="02040503050406030204" pitchFamily="18" charset="0"/>
                          </a:rPr>
                          <m:t>, 0</m:t>
                        </m:r>
                      </m:e>
                    </m:d>
                    <m:r>
                      <a:rPr lang="en-US" sz="4400" b="0" i="1" smtClean="0">
                        <a:latin typeface="Cambria Math" panose="02040503050406030204" pitchFamily="18" charset="0"/>
                      </a:rPr>
                      <m:t>=</m:t>
                    </m:r>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𝑟𝑎𝑖𝑛𝑦</m:t>
                        </m:r>
                      </m:e>
                    </m:d>
                    <m:r>
                      <a:rPr lang="en-US" sz="4400" b="0" i="1" smtClean="0">
                        <a:latin typeface="Cambria Math" panose="02040503050406030204" pitchFamily="18" charset="0"/>
                      </a:rPr>
                      <m:t>∗</m:t>
                    </m:r>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𝑠𝑎𝑑</m:t>
                        </m:r>
                      </m:e>
                      <m:e>
                        <m:r>
                          <a:rPr lang="en-US" sz="4400" b="0" i="1" smtClean="0">
                            <a:latin typeface="Cambria Math" panose="02040503050406030204" pitchFamily="18" charset="0"/>
                          </a:rPr>
                          <m:t>𝑟𝑎𝑖𝑛𝑦</m:t>
                        </m:r>
                      </m:e>
                    </m:d>
                    <m:r>
                      <a:rPr lang="en-US" sz="4400" b="0" i="1" smtClean="0">
                        <a:latin typeface="Cambria Math" panose="02040503050406030204" pitchFamily="18" charset="0"/>
                      </a:rPr>
                      <m:t>=0.375∗0.8=0.3</m:t>
                    </m:r>
                  </m:oMath>
                </a14:m>
                <a:endParaRPr lang="en-US" sz="4400" b="0" dirty="0">
                  <a:latin typeface="+mj-lt"/>
                </a:endParaRPr>
              </a:p>
              <a:p>
                <a:pPr lvl="1"/>
                <a14:m>
                  <m:oMath xmlns:m="http://schemas.openxmlformats.org/officeDocument/2006/math">
                    <m:r>
                      <a:rPr lang="en-US" sz="4400" b="0" i="1" smtClean="0">
                        <a:latin typeface="Cambria Math" panose="02040503050406030204" pitchFamily="18" charset="0"/>
                      </a:rPr>
                      <m:t>𝛼</m:t>
                    </m:r>
                    <m:d>
                      <m:dPr>
                        <m:begChr m:val="["/>
                        <m:endChr m:val="]"/>
                        <m:ctrlPr>
                          <a:rPr lang="en-US" sz="4400" b="0" i="1" smtClean="0">
                            <a:latin typeface="Cambria Math" panose="02040503050406030204" pitchFamily="18" charset="0"/>
                          </a:rPr>
                        </m:ctrlPr>
                      </m:dPr>
                      <m:e>
                        <m:r>
                          <a:rPr lang="en-US" sz="4400" b="0" i="1" smtClean="0">
                            <a:latin typeface="Cambria Math" panose="02040503050406030204" pitchFamily="18" charset="0"/>
                          </a:rPr>
                          <m:t>𝑠𝑢𝑛𝑛𝑦</m:t>
                        </m:r>
                        <m:r>
                          <a:rPr lang="en-US" sz="4400" b="0" i="1" smtClean="0">
                            <a:latin typeface="Cambria Math" panose="02040503050406030204" pitchFamily="18" charset="0"/>
                          </a:rPr>
                          <m:t>, 0</m:t>
                        </m:r>
                      </m:e>
                    </m:d>
                    <m:r>
                      <a:rPr lang="en-US" sz="4400" b="0" i="1" smtClean="0">
                        <a:latin typeface="Cambria Math" panose="02040503050406030204" pitchFamily="18" charset="0"/>
                      </a:rPr>
                      <m:t>=</m:t>
                    </m:r>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𝑠𝑢𝑛𝑛𝑦</m:t>
                        </m:r>
                      </m:e>
                    </m:d>
                    <m:r>
                      <a:rPr lang="en-US" sz="4400" b="0" i="1" smtClean="0">
                        <a:latin typeface="Cambria Math" panose="02040503050406030204" pitchFamily="18" charset="0"/>
                      </a:rPr>
                      <m:t>∗</m:t>
                    </m:r>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𝑠𝑎𝑑</m:t>
                        </m:r>
                      </m:e>
                      <m:e>
                        <m:r>
                          <a:rPr lang="en-US" sz="4400" b="0" i="1" smtClean="0">
                            <a:latin typeface="Cambria Math" panose="02040503050406030204" pitchFamily="18" charset="0"/>
                          </a:rPr>
                          <m:t>𝑠𝑢𝑛𝑛𝑦</m:t>
                        </m:r>
                      </m:e>
                    </m:d>
                    <m:r>
                      <a:rPr lang="en-US" sz="4400" b="0" i="1" smtClean="0">
                        <a:latin typeface="Cambria Math" panose="02040503050406030204" pitchFamily="18" charset="0"/>
                      </a:rPr>
                      <m:t>=0.625∗0.4=0.25</m:t>
                    </m:r>
                  </m:oMath>
                </a14:m>
                <a:endParaRPr lang="en-US" sz="4400" b="0" dirty="0">
                  <a:latin typeface="+mj-lt"/>
                </a:endParaRPr>
              </a:p>
              <a:p>
                <a:r>
                  <a:rPr lang="en-US" sz="4400" b="0" dirty="0">
                    <a:latin typeface="+mj-lt"/>
                  </a:rPr>
                  <a:t>Recursive step:</a:t>
                </a:r>
              </a:p>
              <a:p>
                <a:pPr lvl="1"/>
                <a:r>
                  <a:rPr lang="en-US" sz="4400" dirty="0">
                    <a:latin typeface="+mj-lt"/>
                  </a:rPr>
                  <a:t>For mood index = 1:</a:t>
                </a:r>
              </a:p>
              <a:p>
                <a:pPr lvl="2"/>
                <a14:m>
                  <m:oMath xmlns:m="http://schemas.openxmlformats.org/officeDocument/2006/math">
                    <m:r>
                      <a:rPr lang="en-US" sz="4400" i="1">
                        <a:latin typeface="Cambria Math" panose="02040503050406030204" pitchFamily="18" charset="0"/>
                      </a:rPr>
                      <m:t>𝛼</m:t>
                    </m:r>
                    <m:r>
                      <m:rPr>
                        <m:nor/>
                      </m:rPr>
                      <a:rPr lang="en-ID" sz="4400">
                        <a:latin typeface="+mj-lt"/>
                      </a:rPr>
                      <m:t>[</m:t>
                    </m:r>
                    <m:r>
                      <m:rPr>
                        <m:nor/>
                      </m:rPr>
                      <a:rPr lang="en-ID" sz="4400">
                        <a:latin typeface="+mj-lt"/>
                      </a:rPr>
                      <m:t>rainy</m:t>
                    </m:r>
                    <m:r>
                      <m:rPr>
                        <m:nor/>
                      </m:rPr>
                      <a:rPr lang="en-ID" sz="4400">
                        <a:latin typeface="+mj-lt"/>
                      </a:rPr>
                      <m:t>, 1] = (</m:t>
                    </m:r>
                    <m:r>
                      <a:rPr lang="en-US" sz="4400" i="1">
                        <a:latin typeface="Cambria Math" panose="02040503050406030204" pitchFamily="18" charset="0"/>
                      </a:rPr>
                      <m:t>𝛼</m:t>
                    </m:r>
                    <m:r>
                      <m:rPr>
                        <m:nor/>
                      </m:rPr>
                      <a:rPr lang="en-ID" sz="4400">
                        <a:latin typeface="+mj-lt"/>
                      </a:rPr>
                      <m:t>[</m:t>
                    </m:r>
                    <m:r>
                      <m:rPr>
                        <m:nor/>
                      </m:rPr>
                      <a:rPr lang="en-ID" sz="4400">
                        <a:latin typeface="+mj-lt"/>
                      </a:rPr>
                      <m:t>rainy</m:t>
                    </m:r>
                    <m:r>
                      <m:rPr>
                        <m:nor/>
                      </m:rPr>
                      <a:rPr lang="en-ID" sz="4400">
                        <a:latin typeface="+mj-lt"/>
                      </a:rPr>
                      <m:t>, 0] ∗ </m:t>
                    </m:r>
                    <m:r>
                      <m:rPr>
                        <m:nor/>
                      </m:rPr>
                      <a:rPr lang="en-ID" sz="4400">
                        <a:latin typeface="+mj-lt"/>
                      </a:rPr>
                      <m:t>P</m:t>
                    </m:r>
                    <m:r>
                      <m:rPr>
                        <m:nor/>
                      </m:rPr>
                      <a:rPr lang="en-ID" sz="4400">
                        <a:latin typeface="+mj-lt"/>
                      </a:rPr>
                      <m:t>(</m:t>
                    </m:r>
                    <m:r>
                      <m:rPr>
                        <m:nor/>
                      </m:rPr>
                      <a:rPr lang="en-ID" sz="4400">
                        <a:latin typeface="+mj-lt"/>
                      </a:rPr>
                      <m:t>rainy</m:t>
                    </m:r>
                    <m:r>
                      <m:rPr>
                        <m:nor/>
                      </m:rPr>
                      <a:rPr lang="en-ID" sz="4400">
                        <a:latin typeface="+mj-lt"/>
                      </a:rPr>
                      <m:t>|</m:t>
                    </m:r>
                    <m:r>
                      <m:rPr>
                        <m:nor/>
                      </m:rPr>
                      <a:rPr lang="en-ID" sz="4400">
                        <a:latin typeface="+mj-lt"/>
                      </a:rPr>
                      <m:t>rainy</m:t>
                    </m:r>
                    <m:r>
                      <m:rPr>
                        <m:nor/>
                      </m:rPr>
                      <a:rPr lang="en-ID" sz="4400">
                        <a:latin typeface="+mj-lt"/>
                      </a:rPr>
                      <m:t>) +</m:t>
                    </m:r>
                    <m:r>
                      <a:rPr lang="en-US" sz="4400" i="1">
                        <a:latin typeface="Cambria Math" panose="02040503050406030204" pitchFamily="18" charset="0"/>
                      </a:rPr>
                      <m:t>𝛼</m:t>
                    </m:r>
                    <m:r>
                      <m:rPr>
                        <m:nor/>
                      </m:rPr>
                      <a:rPr lang="en-ID" sz="4400">
                        <a:latin typeface="+mj-lt"/>
                      </a:rPr>
                      <m:t>[</m:t>
                    </m:r>
                    <m:r>
                      <m:rPr>
                        <m:nor/>
                      </m:rPr>
                      <a:rPr lang="en-ID" sz="4400">
                        <a:latin typeface="+mj-lt"/>
                      </a:rPr>
                      <m:t>sunny</m:t>
                    </m:r>
                    <m:r>
                      <m:rPr>
                        <m:nor/>
                      </m:rPr>
                      <a:rPr lang="en-ID" sz="4400">
                        <a:latin typeface="+mj-lt"/>
                      </a:rPr>
                      <m:t>, 0] ∗ </m:t>
                    </m:r>
                    <m:r>
                      <m:rPr>
                        <m:nor/>
                      </m:rPr>
                      <a:rPr lang="en-ID" sz="4400">
                        <a:latin typeface="+mj-lt"/>
                      </a:rPr>
                      <m:t>P</m:t>
                    </m:r>
                    <m:r>
                      <m:rPr>
                        <m:nor/>
                      </m:rPr>
                      <a:rPr lang="en-ID" sz="4400">
                        <a:latin typeface="+mj-lt"/>
                      </a:rPr>
                      <m:t>(</m:t>
                    </m:r>
                    <m:r>
                      <m:rPr>
                        <m:nor/>
                      </m:rPr>
                      <a:rPr lang="en-ID" sz="4400">
                        <a:latin typeface="+mj-lt"/>
                      </a:rPr>
                      <m:t>rainy</m:t>
                    </m:r>
                    <m:r>
                      <m:rPr>
                        <m:nor/>
                      </m:rPr>
                      <a:rPr lang="en-ID" sz="4400">
                        <a:latin typeface="+mj-lt"/>
                      </a:rPr>
                      <m:t>|</m:t>
                    </m:r>
                    <m:r>
                      <m:rPr>
                        <m:nor/>
                      </m:rPr>
                      <a:rPr lang="en-ID" sz="4400">
                        <a:latin typeface="+mj-lt"/>
                      </a:rPr>
                      <m:t>sunny</m:t>
                    </m:r>
                    <m:r>
                      <m:rPr>
                        <m:nor/>
                      </m:rPr>
                      <a:rPr lang="en-ID" sz="4400">
                        <a:latin typeface="+mj-lt"/>
                      </a:rPr>
                      <m:t>)) ∗ </m:t>
                    </m:r>
                    <m:r>
                      <m:rPr>
                        <m:nor/>
                      </m:rPr>
                      <a:rPr lang="en-ID" sz="4400">
                        <a:latin typeface="+mj-lt"/>
                      </a:rPr>
                      <m:t>P</m:t>
                    </m:r>
                    <m:r>
                      <m:rPr>
                        <m:nor/>
                      </m:rPr>
                      <a:rPr lang="en-ID" sz="4400">
                        <a:latin typeface="+mj-lt"/>
                      </a:rPr>
                      <m:t>(</m:t>
                    </m:r>
                    <m:r>
                      <m:rPr>
                        <m:nor/>
                      </m:rPr>
                      <a:rPr lang="en-ID" sz="4400">
                        <a:latin typeface="+mj-lt"/>
                      </a:rPr>
                      <m:t>sad</m:t>
                    </m:r>
                    <m:r>
                      <m:rPr>
                        <m:nor/>
                      </m:rPr>
                      <a:rPr lang="en-ID" sz="4400">
                        <a:latin typeface="+mj-lt"/>
                      </a:rPr>
                      <m:t>|</m:t>
                    </m:r>
                    <m:r>
                      <m:rPr>
                        <m:nor/>
                      </m:rPr>
                      <a:rPr lang="en-ID" sz="4400">
                        <a:latin typeface="+mj-lt"/>
                      </a:rPr>
                      <m:t>rainy</m:t>
                    </m:r>
                    <m:r>
                      <m:rPr>
                        <m:nor/>
                      </m:rPr>
                      <a:rPr lang="en-ID" sz="4400">
                        <a:latin typeface="+mj-lt"/>
                      </a:rPr>
                      <m:t>) = (0.3 ∗ 0.5 + 0.25 ∗ 0.3) ∗ 0.8 = 0.1</m:t>
                    </m:r>
                    <m:r>
                      <m:rPr>
                        <m:nor/>
                      </m:rPr>
                      <a:rPr lang="en-US" sz="4400" b="0" i="0" smtClean="0">
                        <a:latin typeface="+mj-lt"/>
                      </a:rPr>
                      <m:t>8</m:t>
                    </m:r>
                  </m:oMath>
                </a14:m>
                <a:endParaRPr lang="en-US" sz="4400" b="0" dirty="0">
                  <a:latin typeface="+mj-lt"/>
                </a:endParaRPr>
              </a:p>
              <a:p>
                <a:pPr lvl="2"/>
                <a14:m>
                  <m:oMath xmlns:m="http://schemas.openxmlformats.org/officeDocument/2006/math">
                    <m:r>
                      <a:rPr lang="en-US" sz="4400" i="1">
                        <a:latin typeface="Cambria Math" panose="02040503050406030204" pitchFamily="18" charset="0"/>
                      </a:rPr>
                      <m:t>𝛼</m:t>
                    </m:r>
                    <m:r>
                      <a:rPr lang="en-US" sz="4400" b="0" i="1" dirty="0" smtClean="0">
                        <a:latin typeface="Cambria Math" panose="02040503050406030204" pitchFamily="18" charset="0"/>
                      </a:rPr>
                      <m:t>[</m:t>
                    </m:r>
                    <m:r>
                      <a:rPr lang="en-US" sz="4400" b="0" i="1" dirty="0" smtClean="0">
                        <a:latin typeface="Cambria Math" panose="02040503050406030204" pitchFamily="18" charset="0"/>
                      </a:rPr>
                      <m:t>𝑠𝑢𝑛𝑛𝑦</m:t>
                    </m:r>
                    <m:r>
                      <a:rPr lang="en-US" sz="4400" b="0" i="1" dirty="0" smtClean="0">
                        <a:latin typeface="Cambria Math" panose="02040503050406030204" pitchFamily="18" charset="0"/>
                      </a:rPr>
                      <m:t>, 1] = (</m:t>
                    </m:r>
                    <m:r>
                      <a:rPr lang="en-US" sz="4400" i="1">
                        <a:latin typeface="Cambria Math" panose="02040503050406030204" pitchFamily="18" charset="0"/>
                      </a:rPr>
                      <m:t>𝛼</m:t>
                    </m:r>
                    <m:r>
                      <a:rPr lang="en-US" sz="4400" b="0" i="1" dirty="0" smtClean="0">
                        <a:latin typeface="Cambria Math" panose="02040503050406030204" pitchFamily="18" charset="0"/>
                      </a:rPr>
                      <m:t>[</m:t>
                    </m:r>
                    <m:r>
                      <a:rPr lang="en-US" sz="4400" b="0" i="1" dirty="0" smtClean="0">
                        <a:latin typeface="Cambria Math" panose="02040503050406030204" pitchFamily="18" charset="0"/>
                      </a:rPr>
                      <m:t>𝑟𝑎𝑖𝑛𝑦</m:t>
                    </m:r>
                    <m:r>
                      <a:rPr lang="en-US" sz="4400" b="0" i="1" dirty="0" smtClean="0">
                        <a:latin typeface="Cambria Math" panose="02040503050406030204" pitchFamily="18" charset="0"/>
                      </a:rPr>
                      <m:t>, 0] ∗ </m:t>
                    </m:r>
                    <m:r>
                      <a:rPr lang="en-US" sz="4400" b="0" i="1" dirty="0" smtClean="0">
                        <a:latin typeface="Cambria Math" panose="02040503050406030204" pitchFamily="18" charset="0"/>
                      </a:rPr>
                      <m:t>𝑃</m:t>
                    </m:r>
                    <m:r>
                      <a:rPr lang="en-US" sz="4400" b="0" i="1" dirty="0" smtClean="0">
                        <a:latin typeface="Cambria Math" panose="02040503050406030204" pitchFamily="18" charset="0"/>
                      </a:rPr>
                      <m:t>(</m:t>
                    </m:r>
                    <m:r>
                      <a:rPr lang="en-US" sz="4400" b="0" i="1" dirty="0" err="1" smtClean="0">
                        <a:latin typeface="Cambria Math" panose="02040503050406030204" pitchFamily="18" charset="0"/>
                      </a:rPr>
                      <m:t>𝑠𝑢𝑛𝑛𝑦</m:t>
                    </m:r>
                    <m:r>
                      <a:rPr lang="en-US" sz="4400" b="0" i="1" dirty="0" err="1" smtClean="0">
                        <a:latin typeface="Cambria Math" panose="02040503050406030204" pitchFamily="18" charset="0"/>
                      </a:rPr>
                      <m:t>|</m:t>
                    </m:r>
                    <m:r>
                      <a:rPr lang="en-US" sz="4400" b="0" i="1" dirty="0" err="1" smtClean="0">
                        <a:latin typeface="Cambria Math" panose="02040503050406030204" pitchFamily="18" charset="0"/>
                      </a:rPr>
                      <m:t>𝑟𝑎𝑖𝑛𝑦</m:t>
                    </m:r>
                    <m:r>
                      <a:rPr lang="en-US" sz="4400" b="0" i="1" dirty="0" smtClean="0">
                        <a:latin typeface="Cambria Math" panose="02040503050406030204" pitchFamily="18" charset="0"/>
                      </a:rPr>
                      <m:t>) +</m:t>
                    </m:r>
                    <m:r>
                      <a:rPr lang="en-US" sz="4400" i="1">
                        <a:latin typeface="Cambria Math" panose="02040503050406030204" pitchFamily="18" charset="0"/>
                      </a:rPr>
                      <m:t>𝛼</m:t>
                    </m:r>
                    <m:r>
                      <a:rPr lang="en-US" sz="4400" b="0" i="1" dirty="0" smtClean="0">
                        <a:latin typeface="Cambria Math" panose="02040503050406030204" pitchFamily="18" charset="0"/>
                      </a:rPr>
                      <m:t>[</m:t>
                    </m:r>
                    <m:r>
                      <a:rPr lang="en-US" sz="4400" b="0" i="1" dirty="0" smtClean="0">
                        <a:latin typeface="Cambria Math" panose="02040503050406030204" pitchFamily="18" charset="0"/>
                      </a:rPr>
                      <m:t>𝑠𝑢𝑛𝑛𝑦</m:t>
                    </m:r>
                    <m:r>
                      <a:rPr lang="en-US" sz="4400" b="0" i="1" dirty="0" smtClean="0">
                        <a:latin typeface="Cambria Math" panose="02040503050406030204" pitchFamily="18" charset="0"/>
                      </a:rPr>
                      <m:t>, 0] ∗ </m:t>
                    </m:r>
                    <m:r>
                      <a:rPr lang="en-US" sz="4400" b="0" i="1" dirty="0" smtClean="0">
                        <a:latin typeface="Cambria Math" panose="02040503050406030204" pitchFamily="18" charset="0"/>
                      </a:rPr>
                      <m:t>𝑃</m:t>
                    </m:r>
                    <m:r>
                      <a:rPr lang="en-US" sz="4400" b="0" i="1" dirty="0" smtClean="0">
                        <a:latin typeface="Cambria Math" panose="02040503050406030204" pitchFamily="18" charset="0"/>
                      </a:rPr>
                      <m:t>(</m:t>
                    </m:r>
                    <m:r>
                      <a:rPr lang="en-US" sz="4400" b="0" i="1" dirty="0" err="1" smtClean="0">
                        <a:latin typeface="Cambria Math" panose="02040503050406030204" pitchFamily="18" charset="0"/>
                      </a:rPr>
                      <m:t>𝑠𝑢𝑛𝑛𝑦</m:t>
                    </m:r>
                    <m:r>
                      <a:rPr lang="en-US" sz="4400" b="0" i="1" dirty="0" err="1" smtClean="0">
                        <a:latin typeface="Cambria Math" panose="02040503050406030204" pitchFamily="18" charset="0"/>
                      </a:rPr>
                      <m:t>|</m:t>
                    </m:r>
                    <m:r>
                      <a:rPr lang="en-US" sz="4400" b="0" i="1" dirty="0" err="1" smtClean="0">
                        <a:latin typeface="Cambria Math" panose="02040503050406030204" pitchFamily="18" charset="0"/>
                      </a:rPr>
                      <m:t>𝑠𝑢𝑛𝑛𝑦</m:t>
                    </m:r>
                    <m:r>
                      <a:rPr lang="en-US" sz="4400" b="0" i="1" dirty="0" smtClean="0">
                        <a:latin typeface="Cambria Math" panose="02040503050406030204" pitchFamily="18" charset="0"/>
                      </a:rPr>
                      <m:t>)) ∗ </m:t>
                    </m:r>
                    <m:r>
                      <a:rPr lang="en-US" sz="4400" b="0" i="1" dirty="0" smtClean="0">
                        <a:latin typeface="Cambria Math" panose="02040503050406030204" pitchFamily="18" charset="0"/>
                      </a:rPr>
                      <m:t>𝑃</m:t>
                    </m:r>
                    <m:r>
                      <a:rPr lang="en-US" sz="4400" b="0" i="1" dirty="0" smtClean="0">
                        <a:latin typeface="Cambria Math" panose="02040503050406030204" pitchFamily="18" charset="0"/>
                      </a:rPr>
                      <m:t>(</m:t>
                    </m:r>
                    <m:r>
                      <a:rPr lang="en-US" sz="4400" b="0" i="1" dirty="0" err="1" smtClean="0">
                        <a:latin typeface="Cambria Math" panose="02040503050406030204" pitchFamily="18" charset="0"/>
                      </a:rPr>
                      <m:t>𝑠𝑎𝑑</m:t>
                    </m:r>
                    <m:r>
                      <a:rPr lang="en-US" sz="4400" b="0" i="1" dirty="0" err="1" smtClean="0">
                        <a:latin typeface="Cambria Math" panose="02040503050406030204" pitchFamily="18" charset="0"/>
                      </a:rPr>
                      <m:t>|</m:t>
                    </m:r>
                    <m:r>
                      <a:rPr lang="en-US" sz="4400" b="0" i="1" dirty="0" err="1" smtClean="0">
                        <a:latin typeface="Cambria Math" panose="02040503050406030204" pitchFamily="18" charset="0"/>
                      </a:rPr>
                      <m:t>𝑠𝑢𝑛𝑛𝑦</m:t>
                    </m:r>
                    <m:r>
                      <a:rPr lang="en-US" sz="4400" b="0" i="1" dirty="0" smtClean="0">
                        <a:latin typeface="Cambria Math" panose="02040503050406030204" pitchFamily="18" charset="0"/>
                      </a:rPr>
                      <m:t>) = (0.3 ∗ 0.5 + 0.25 ∗ 0.7) ∗ 0.4 = 0.13</m:t>
                    </m:r>
                  </m:oMath>
                </a14:m>
                <a:endParaRPr lang="en-US" sz="4400" b="0" dirty="0">
                  <a:latin typeface="+mj-lt"/>
                </a:endParaRPr>
              </a:p>
            </p:txBody>
          </p:sp>
        </mc:Choice>
        <mc:Fallback xmlns="">
          <p:sp>
            <p:nvSpPr>
              <p:cNvPr id="5" name="Content Placeholder 4">
                <a:extLst>
                  <a:ext uri="{FF2B5EF4-FFF2-40B4-BE49-F238E27FC236}">
                    <a16:creationId xmlns:a16="http://schemas.microsoft.com/office/drawing/2014/main" id="{B0A0E078-39FE-EEEB-67D6-9FC31DA5754D}"/>
                  </a:ext>
                </a:extLst>
              </p:cNvPr>
              <p:cNvSpPr>
                <a:spLocks noGrp="1" noRot="1" noChangeAspect="1" noMove="1" noResize="1" noEditPoints="1" noAdjustHandles="1" noChangeArrowheads="1" noChangeShapeType="1" noTextEdit="1"/>
              </p:cNvSpPr>
              <p:nvPr>
                <p:ph sz="quarter" idx="11"/>
              </p:nvPr>
            </p:nvSpPr>
            <p:spPr>
              <a:xfrm>
                <a:off x="2163188" y="3260663"/>
                <a:ext cx="20057623" cy="9921937"/>
              </a:xfrm>
              <a:blipFill>
                <a:blip r:embed="rId2"/>
                <a:stretch>
                  <a:fillRect l="-1329" t="-1149"/>
                </a:stretch>
              </a:blipFill>
            </p:spPr>
            <p:txBody>
              <a:bodyPr/>
              <a:lstStyle/>
              <a:p>
                <a:r>
                  <a:rPr lang="en-US">
                    <a:noFill/>
                  </a:rPr>
                  <a:t> </a:t>
                </a:r>
              </a:p>
            </p:txBody>
          </p:sp>
        </mc:Fallback>
      </mc:AlternateContent>
    </p:spTree>
    <p:extLst>
      <p:ext uri="{BB962C8B-B14F-4D97-AF65-F5344CB8AC3E}">
        <p14:creationId xmlns:p14="http://schemas.microsoft.com/office/powerpoint/2010/main" val="743692790"/>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457723A-C747-8B06-24A6-03EFE6D5EE74}"/>
                  </a:ext>
                </a:extLst>
              </p:cNvPr>
              <p:cNvSpPr>
                <a:spLocks noGrp="1"/>
              </p:cNvSpPr>
              <p:nvPr>
                <p:ph sz="quarter" idx="11"/>
              </p:nvPr>
            </p:nvSpPr>
            <p:spPr/>
            <p:txBody>
              <a:bodyPr/>
              <a:lstStyle/>
              <a:p>
                <a:r>
                  <a:rPr lang="en-US" sz="4400" b="0" dirty="0">
                    <a:latin typeface="+mj-lt"/>
                  </a:rPr>
                  <a:t>Recursive step:</a:t>
                </a:r>
              </a:p>
              <a:p>
                <a:pPr lvl="1"/>
                <a:r>
                  <a:rPr lang="en-US" sz="4400" dirty="0">
                    <a:latin typeface="+mj-lt"/>
                  </a:rPr>
                  <a:t>For mood index = 2:</a:t>
                </a:r>
              </a:p>
              <a:p>
                <a:pPr lvl="2"/>
                <a14:m>
                  <m:oMath xmlns:m="http://schemas.openxmlformats.org/officeDocument/2006/math">
                    <m:r>
                      <a:rPr lang="en-US" sz="4400" i="1">
                        <a:latin typeface="Cambria Math" panose="02040503050406030204" pitchFamily="18" charset="0"/>
                      </a:rPr>
                      <m:t>𝛼</m:t>
                    </m:r>
                    <m:r>
                      <m:rPr>
                        <m:nor/>
                      </m:rPr>
                      <a:rPr lang="en-ID" sz="4400">
                        <a:latin typeface="+mj-lt"/>
                      </a:rPr>
                      <m:t>[</m:t>
                    </m:r>
                    <m:r>
                      <m:rPr>
                        <m:nor/>
                      </m:rPr>
                      <a:rPr lang="en-ID" sz="4400">
                        <a:latin typeface="+mj-lt"/>
                      </a:rPr>
                      <m:t>rainy</m:t>
                    </m:r>
                    <m:r>
                      <m:rPr>
                        <m:nor/>
                      </m:rPr>
                      <a:rPr lang="en-ID" sz="4400">
                        <a:latin typeface="+mj-lt"/>
                      </a:rPr>
                      <m:t>, 2] = (</m:t>
                    </m:r>
                    <m:r>
                      <a:rPr lang="en-US" sz="4400" i="1">
                        <a:latin typeface="Cambria Math" panose="02040503050406030204" pitchFamily="18" charset="0"/>
                      </a:rPr>
                      <m:t>𝛼</m:t>
                    </m:r>
                    <m:r>
                      <m:rPr>
                        <m:nor/>
                      </m:rPr>
                      <a:rPr lang="en-ID" sz="4400">
                        <a:latin typeface="+mj-lt"/>
                      </a:rPr>
                      <m:t>[</m:t>
                    </m:r>
                    <m:r>
                      <m:rPr>
                        <m:nor/>
                      </m:rPr>
                      <a:rPr lang="en-ID" sz="4400">
                        <a:latin typeface="+mj-lt"/>
                      </a:rPr>
                      <m:t>rainy</m:t>
                    </m:r>
                    <m:r>
                      <m:rPr>
                        <m:nor/>
                      </m:rPr>
                      <a:rPr lang="en-ID" sz="4400">
                        <a:latin typeface="+mj-lt"/>
                      </a:rPr>
                      <m:t>, 1] ∗ </m:t>
                    </m:r>
                    <m:r>
                      <m:rPr>
                        <m:nor/>
                      </m:rPr>
                      <a:rPr lang="en-ID" sz="4400">
                        <a:latin typeface="+mj-lt"/>
                      </a:rPr>
                      <m:t>P</m:t>
                    </m:r>
                    <m:r>
                      <m:rPr>
                        <m:nor/>
                      </m:rPr>
                      <a:rPr lang="en-ID" sz="4400">
                        <a:latin typeface="+mj-lt"/>
                      </a:rPr>
                      <m:t>(</m:t>
                    </m:r>
                    <m:r>
                      <m:rPr>
                        <m:nor/>
                      </m:rPr>
                      <a:rPr lang="en-ID" sz="4400">
                        <a:latin typeface="+mj-lt"/>
                      </a:rPr>
                      <m:t>rainy</m:t>
                    </m:r>
                    <m:r>
                      <m:rPr>
                        <m:nor/>
                      </m:rPr>
                      <a:rPr lang="en-ID" sz="4400">
                        <a:latin typeface="+mj-lt"/>
                      </a:rPr>
                      <m:t>|</m:t>
                    </m:r>
                    <m:r>
                      <m:rPr>
                        <m:nor/>
                      </m:rPr>
                      <a:rPr lang="en-ID" sz="4400">
                        <a:latin typeface="+mj-lt"/>
                      </a:rPr>
                      <m:t>rainy</m:t>
                    </m:r>
                    <m:r>
                      <m:rPr>
                        <m:nor/>
                      </m:rPr>
                      <a:rPr lang="en-ID" sz="4400">
                        <a:latin typeface="+mj-lt"/>
                      </a:rPr>
                      <m:t>) +</m:t>
                    </m:r>
                    <m:r>
                      <a:rPr lang="en-US" sz="4400" i="1">
                        <a:latin typeface="Cambria Math" panose="02040503050406030204" pitchFamily="18" charset="0"/>
                      </a:rPr>
                      <m:t>𝛼</m:t>
                    </m:r>
                    <m:r>
                      <m:rPr>
                        <m:nor/>
                      </m:rPr>
                      <a:rPr lang="en-ID" sz="4400">
                        <a:latin typeface="+mj-lt"/>
                      </a:rPr>
                      <m:t>[</m:t>
                    </m:r>
                    <m:r>
                      <m:rPr>
                        <m:nor/>
                      </m:rPr>
                      <a:rPr lang="en-ID" sz="4400">
                        <a:latin typeface="+mj-lt"/>
                      </a:rPr>
                      <m:t>sunny</m:t>
                    </m:r>
                    <m:r>
                      <m:rPr>
                        <m:nor/>
                      </m:rPr>
                      <a:rPr lang="en-ID" sz="4400">
                        <a:latin typeface="+mj-lt"/>
                      </a:rPr>
                      <m:t>, 1] ∗ </m:t>
                    </m:r>
                    <m:r>
                      <m:rPr>
                        <m:nor/>
                      </m:rPr>
                      <a:rPr lang="en-ID" sz="4400">
                        <a:latin typeface="+mj-lt"/>
                      </a:rPr>
                      <m:t>P</m:t>
                    </m:r>
                    <m:r>
                      <m:rPr>
                        <m:nor/>
                      </m:rPr>
                      <a:rPr lang="en-ID" sz="4400">
                        <a:latin typeface="+mj-lt"/>
                      </a:rPr>
                      <m:t>(</m:t>
                    </m:r>
                    <m:r>
                      <m:rPr>
                        <m:nor/>
                      </m:rPr>
                      <a:rPr lang="en-ID" sz="4400">
                        <a:latin typeface="+mj-lt"/>
                      </a:rPr>
                      <m:t>rainy</m:t>
                    </m:r>
                    <m:r>
                      <m:rPr>
                        <m:nor/>
                      </m:rPr>
                      <a:rPr lang="en-ID" sz="4400">
                        <a:latin typeface="+mj-lt"/>
                      </a:rPr>
                      <m:t>|</m:t>
                    </m:r>
                    <m:r>
                      <m:rPr>
                        <m:nor/>
                      </m:rPr>
                      <a:rPr lang="en-ID" sz="4400">
                        <a:latin typeface="+mj-lt"/>
                      </a:rPr>
                      <m:t>sunny</m:t>
                    </m:r>
                    <m:r>
                      <m:rPr>
                        <m:nor/>
                      </m:rPr>
                      <a:rPr lang="en-ID" sz="4400">
                        <a:latin typeface="+mj-lt"/>
                      </a:rPr>
                      <m:t>)) ∗ </m:t>
                    </m:r>
                    <m:r>
                      <m:rPr>
                        <m:nor/>
                      </m:rPr>
                      <a:rPr lang="en-ID" sz="4400">
                        <a:latin typeface="+mj-lt"/>
                      </a:rPr>
                      <m:t>P</m:t>
                    </m:r>
                    <m:r>
                      <m:rPr>
                        <m:nor/>
                      </m:rPr>
                      <a:rPr lang="en-ID" sz="4400">
                        <a:latin typeface="+mj-lt"/>
                      </a:rPr>
                      <m:t>(</m:t>
                    </m:r>
                    <m:r>
                      <m:rPr>
                        <m:nor/>
                      </m:rPr>
                      <a:rPr lang="en-ID" sz="4400">
                        <a:latin typeface="+mj-lt"/>
                      </a:rPr>
                      <m:t>happy</m:t>
                    </m:r>
                    <m:r>
                      <m:rPr>
                        <m:nor/>
                      </m:rPr>
                      <a:rPr lang="en-ID" sz="4400">
                        <a:latin typeface="+mj-lt"/>
                      </a:rPr>
                      <m:t>|</m:t>
                    </m:r>
                    <m:r>
                      <m:rPr>
                        <m:nor/>
                      </m:rPr>
                      <a:rPr lang="en-ID" sz="4400">
                        <a:latin typeface="+mj-lt"/>
                      </a:rPr>
                      <m:t>rainy</m:t>
                    </m:r>
                    <m:r>
                      <m:rPr>
                        <m:nor/>
                      </m:rPr>
                      <a:rPr lang="en-ID" sz="4400">
                        <a:latin typeface="+mj-lt"/>
                      </a:rPr>
                      <m:t>) = (0.195 ∗ 0.5 + 0.155 ∗ 0.3) ∗ 0.2 = 0.02</m:t>
                    </m:r>
                    <m:r>
                      <m:rPr>
                        <m:nor/>
                      </m:rPr>
                      <a:rPr lang="en-US" sz="4400" b="0" i="0" smtClean="0">
                        <a:latin typeface="+mj-lt"/>
                      </a:rPr>
                      <m:t>58</m:t>
                    </m:r>
                  </m:oMath>
                </a14:m>
                <a:endParaRPr lang="en-US" sz="4400" dirty="0">
                  <a:latin typeface="+mj-lt"/>
                </a:endParaRPr>
              </a:p>
              <a:p>
                <a:pPr lvl="2"/>
                <a14:m>
                  <m:oMath xmlns:m="http://schemas.openxmlformats.org/officeDocument/2006/math">
                    <m:r>
                      <a:rPr lang="en-US" sz="4400" i="1">
                        <a:latin typeface="Cambria Math" panose="02040503050406030204" pitchFamily="18" charset="0"/>
                      </a:rPr>
                      <m:t>𝛼</m:t>
                    </m:r>
                    <m:r>
                      <m:rPr>
                        <m:nor/>
                      </m:rPr>
                      <a:rPr lang="en-ID" sz="4400">
                        <a:latin typeface="+mj-lt"/>
                      </a:rPr>
                      <m:t>[</m:t>
                    </m:r>
                    <m:r>
                      <m:rPr>
                        <m:nor/>
                      </m:rPr>
                      <a:rPr lang="en-ID" sz="4400">
                        <a:latin typeface="+mj-lt"/>
                      </a:rPr>
                      <m:t>sunny</m:t>
                    </m:r>
                    <m:r>
                      <m:rPr>
                        <m:nor/>
                      </m:rPr>
                      <a:rPr lang="en-ID" sz="4400">
                        <a:latin typeface="+mj-lt"/>
                      </a:rPr>
                      <m:t>, 2] = (</m:t>
                    </m:r>
                    <m:r>
                      <a:rPr lang="en-US" sz="4400" i="1">
                        <a:latin typeface="Cambria Math" panose="02040503050406030204" pitchFamily="18" charset="0"/>
                      </a:rPr>
                      <m:t>𝛼</m:t>
                    </m:r>
                    <m:r>
                      <m:rPr>
                        <m:nor/>
                      </m:rPr>
                      <a:rPr lang="en-ID" sz="4400">
                        <a:latin typeface="+mj-lt"/>
                      </a:rPr>
                      <m:t>[</m:t>
                    </m:r>
                    <m:r>
                      <m:rPr>
                        <m:nor/>
                      </m:rPr>
                      <a:rPr lang="en-ID" sz="4400">
                        <a:latin typeface="+mj-lt"/>
                      </a:rPr>
                      <m:t>rainy</m:t>
                    </m:r>
                    <m:r>
                      <m:rPr>
                        <m:nor/>
                      </m:rPr>
                      <a:rPr lang="en-ID" sz="4400">
                        <a:latin typeface="+mj-lt"/>
                      </a:rPr>
                      <m:t>, 1] ∗ </m:t>
                    </m:r>
                    <m:r>
                      <m:rPr>
                        <m:nor/>
                      </m:rPr>
                      <a:rPr lang="en-ID" sz="4400">
                        <a:latin typeface="+mj-lt"/>
                      </a:rPr>
                      <m:t>P</m:t>
                    </m:r>
                    <m:r>
                      <m:rPr>
                        <m:nor/>
                      </m:rPr>
                      <a:rPr lang="en-ID" sz="4400">
                        <a:latin typeface="+mj-lt"/>
                      </a:rPr>
                      <m:t>(</m:t>
                    </m:r>
                    <m:r>
                      <m:rPr>
                        <m:nor/>
                      </m:rPr>
                      <a:rPr lang="en-ID" sz="4400">
                        <a:latin typeface="+mj-lt"/>
                      </a:rPr>
                      <m:t>sunny</m:t>
                    </m:r>
                    <m:r>
                      <m:rPr>
                        <m:nor/>
                      </m:rPr>
                      <a:rPr lang="en-ID" sz="4400">
                        <a:latin typeface="+mj-lt"/>
                      </a:rPr>
                      <m:t>|</m:t>
                    </m:r>
                    <m:r>
                      <m:rPr>
                        <m:nor/>
                      </m:rPr>
                      <a:rPr lang="en-ID" sz="4400">
                        <a:latin typeface="+mj-lt"/>
                      </a:rPr>
                      <m:t>rainy</m:t>
                    </m:r>
                    <m:r>
                      <m:rPr>
                        <m:nor/>
                      </m:rPr>
                      <a:rPr lang="en-ID" sz="4400">
                        <a:latin typeface="+mj-lt"/>
                      </a:rPr>
                      <m:t>) +</m:t>
                    </m:r>
                    <m:r>
                      <a:rPr lang="en-US" sz="4400" i="1">
                        <a:latin typeface="Cambria Math" panose="02040503050406030204" pitchFamily="18" charset="0"/>
                      </a:rPr>
                      <m:t>𝛼</m:t>
                    </m:r>
                    <m:r>
                      <m:rPr>
                        <m:nor/>
                      </m:rPr>
                      <a:rPr lang="en-ID" sz="4400">
                        <a:latin typeface="+mj-lt"/>
                      </a:rPr>
                      <m:t>[</m:t>
                    </m:r>
                    <m:r>
                      <m:rPr>
                        <m:nor/>
                      </m:rPr>
                      <a:rPr lang="en-ID" sz="4400">
                        <a:latin typeface="+mj-lt"/>
                      </a:rPr>
                      <m:t>sunny</m:t>
                    </m:r>
                    <m:r>
                      <m:rPr>
                        <m:nor/>
                      </m:rPr>
                      <a:rPr lang="en-ID" sz="4400">
                        <a:latin typeface="+mj-lt"/>
                      </a:rPr>
                      <m:t>, 1] ∗ </m:t>
                    </m:r>
                    <m:r>
                      <m:rPr>
                        <m:nor/>
                      </m:rPr>
                      <a:rPr lang="en-ID" sz="4400">
                        <a:latin typeface="+mj-lt"/>
                      </a:rPr>
                      <m:t>P</m:t>
                    </m:r>
                    <m:r>
                      <m:rPr>
                        <m:nor/>
                      </m:rPr>
                      <a:rPr lang="en-ID" sz="4400">
                        <a:latin typeface="+mj-lt"/>
                      </a:rPr>
                      <m:t>(</m:t>
                    </m:r>
                    <m:r>
                      <m:rPr>
                        <m:nor/>
                      </m:rPr>
                      <a:rPr lang="en-ID" sz="4400">
                        <a:latin typeface="+mj-lt"/>
                      </a:rPr>
                      <m:t>sunny</m:t>
                    </m:r>
                    <m:r>
                      <m:rPr>
                        <m:nor/>
                      </m:rPr>
                      <a:rPr lang="en-ID" sz="4400">
                        <a:latin typeface="+mj-lt"/>
                      </a:rPr>
                      <m:t>|</m:t>
                    </m:r>
                    <m:r>
                      <m:rPr>
                        <m:nor/>
                      </m:rPr>
                      <a:rPr lang="en-ID" sz="4400">
                        <a:latin typeface="+mj-lt"/>
                      </a:rPr>
                      <m:t>sunny</m:t>
                    </m:r>
                    <m:r>
                      <m:rPr>
                        <m:nor/>
                      </m:rPr>
                      <a:rPr lang="en-ID" sz="4400">
                        <a:latin typeface="+mj-lt"/>
                      </a:rPr>
                      <m:t>)) ∗ </m:t>
                    </m:r>
                    <m:r>
                      <m:rPr>
                        <m:nor/>
                      </m:rPr>
                      <a:rPr lang="en-ID" sz="4400">
                        <a:latin typeface="+mj-lt"/>
                      </a:rPr>
                      <m:t>P</m:t>
                    </m:r>
                    <m:r>
                      <m:rPr>
                        <m:nor/>
                      </m:rPr>
                      <a:rPr lang="en-ID" sz="4400">
                        <a:latin typeface="+mj-lt"/>
                      </a:rPr>
                      <m:t>(</m:t>
                    </m:r>
                    <m:r>
                      <m:rPr>
                        <m:nor/>
                      </m:rPr>
                      <a:rPr lang="en-ID" sz="4400">
                        <a:latin typeface="+mj-lt"/>
                      </a:rPr>
                      <m:t>happy</m:t>
                    </m:r>
                    <m:r>
                      <m:rPr>
                        <m:nor/>
                      </m:rPr>
                      <a:rPr lang="en-ID" sz="4400">
                        <a:latin typeface="+mj-lt"/>
                      </a:rPr>
                      <m:t>|</m:t>
                    </m:r>
                    <m:r>
                      <m:rPr>
                        <m:nor/>
                      </m:rPr>
                      <a:rPr lang="en-ID" sz="4400">
                        <a:latin typeface="+mj-lt"/>
                      </a:rPr>
                      <m:t>sunny</m:t>
                    </m:r>
                    <m:r>
                      <m:rPr>
                        <m:nor/>
                      </m:rPr>
                      <a:rPr lang="en-ID" sz="4400">
                        <a:latin typeface="+mj-lt"/>
                      </a:rPr>
                      <m:t>) = (0.195 ∗ 0.5 + 0.155 ∗ 0.7) ∗ 0.6 = 0.1</m:t>
                    </m:r>
                  </m:oMath>
                </a14:m>
                <a:r>
                  <a:rPr lang="en-ID" sz="4400" dirty="0">
                    <a:latin typeface="+mj-lt"/>
                  </a:rPr>
                  <a:t>086</a:t>
                </a:r>
              </a:p>
              <a:p>
                <a:endParaRPr lang="en-US" dirty="0"/>
              </a:p>
            </p:txBody>
          </p:sp>
        </mc:Choice>
        <mc:Fallback xmlns="">
          <p:sp>
            <p:nvSpPr>
              <p:cNvPr id="5" name="Content Placeholder 4">
                <a:extLst>
                  <a:ext uri="{FF2B5EF4-FFF2-40B4-BE49-F238E27FC236}">
                    <a16:creationId xmlns:a16="http://schemas.microsoft.com/office/drawing/2014/main" id="{E457723A-C747-8B06-24A6-03EFE6D5EE74}"/>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r="-696"/>
                </a:stretch>
              </a:blipFill>
            </p:spPr>
            <p:txBody>
              <a:bodyPr/>
              <a:lstStyle/>
              <a:p>
                <a:r>
                  <a:rPr lang="en-US">
                    <a:noFill/>
                  </a:rPr>
                  <a:t> </a:t>
                </a:r>
              </a:p>
            </p:txBody>
          </p:sp>
        </mc:Fallback>
      </mc:AlternateContent>
    </p:spTree>
    <p:extLst>
      <p:ext uri="{BB962C8B-B14F-4D97-AF65-F5344CB8AC3E}">
        <p14:creationId xmlns:p14="http://schemas.microsoft.com/office/powerpoint/2010/main" val="159525049"/>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Forward algorithm</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457723A-C747-8B06-24A6-03EFE6D5EE74}"/>
                  </a:ext>
                </a:extLst>
              </p:cNvPr>
              <p:cNvSpPr>
                <a:spLocks noGrp="1"/>
              </p:cNvSpPr>
              <p:nvPr>
                <p:ph sz="quarter" idx="11"/>
              </p:nvPr>
            </p:nvSpPr>
            <p:spPr/>
            <p:txBody>
              <a:bodyPr/>
              <a:lstStyle/>
              <a:p>
                <a:r>
                  <a:rPr lang="en-US" sz="4400" dirty="0">
                    <a:latin typeface="+mj-lt"/>
                  </a:rPr>
                  <a:t>Termination Step:</a:t>
                </a:r>
              </a:p>
              <a:p>
                <a:pPr lvl="1"/>
                <a:r>
                  <a:rPr lang="en-US" sz="4400" dirty="0">
                    <a:latin typeface="+mj-lt"/>
                  </a:rPr>
                  <a:t>We sum the probabilities in the last column of the alpha matrix:</a:t>
                </a:r>
                <a14:m>
                  <m:oMath xmlns:m="http://schemas.openxmlformats.org/officeDocument/2006/math">
                    <m:r>
                      <a:rPr lang="en-US" sz="4400" b="0" i="0" dirty="0" smtClean="0">
                        <a:latin typeface="Cambria Math" panose="02040503050406030204" pitchFamily="18" charset="0"/>
                      </a:rPr>
                      <m:t> </m:t>
                    </m:r>
                    <m:r>
                      <a:rPr lang="en-US" sz="4400" i="1" dirty="0" smtClean="0">
                        <a:latin typeface="Cambria Math" panose="02040503050406030204" pitchFamily="18" charset="0"/>
                      </a:rPr>
                      <m:t>𝑃</m:t>
                    </m:r>
                    <m:r>
                      <a:rPr lang="en-US" sz="4400" i="1" dirty="0" smtClean="0">
                        <a:latin typeface="Cambria Math" panose="02040503050406030204" pitchFamily="18" charset="0"/>
                      </a:rPr>
                      <m:t>(</m:t>
                    </m:r>
                    <m:r>
                      <a:rPr lang="en-US" sz="4400" i="1" dirty="0" smtClean="0">
                        <a:latin typeface="Cambria Math" panose="02040503050406030204" pitchFamily="18" charset="0"/>
                      </a:rPr>
                      <m:t>𝑜𝑏𝑠𝑒𝑟𝑣𝑒𝑑</m:t>
                    </m:r>
                    <m:r>
                      <a:rPr lang="en-US" sz="4400" i="1" dirty="0" smtClean="0">
                        <a:latin typeface="Cambria Math" panose="02040503050406030204" pitchFamily="18" charset="0"/>
                      </a:rPr>
                      <m:t> </m:t>
                    </m:r>
                    <m:r>
                      <a:rPr lang="en-US" sz="4400" i="1" dirty="0" smtClean="0">
                        <a:latin typeface="Cambria Math" panose="02040503050406030204" pitchFamily="18" charset="0"/>
                      </a:rPr>
                      <m:t>𝑠𝑒𝑞𝑢𝑒𝑛𝑐𝑒</m:t>
                    </m:r>
                    <m:r>
                      <a:rPr lang="en-US" sz="4400" i="1" dirty="0" smtClean="0">
                        <a:latin typeface="Cambria Math" panose="02040503050406030204" pitchFamily="18" charset="0"/>
                      </a:rPr>
                      <m:t>) =</m:t>
                    </m:r>
                    <m:r>
                      <a:rPr lang="en-US" sz="4400" i="1">
                        <a:latin typeface="Cambria Math" panose="02040503050406030204" pitchFamily="18" charset="0"/>
                      </a:rPr>
                      <m:t>𝛼</m:t>
                    </m:r>
                    <m:r>
                      <a:rPr lang="en-US" sz="4400" i="1" dirty="0" smtClean="0">
                        <a:latin typeface="Cambria Math" panose="02040503050406030204" pitchFamily="18" charset="0"/>
                      </a:rPr>
                      <m:t>[</m:t>
                    </m:r>
                    <m:r>
                      <a:rPr lang="en-US" sz="4400" i="1" dirty="0" smtClean="0">
                        <a:latin typeface="Cambria Math" panose="02040503050406030204" pitchFamily="18" charset="0"/>
                      </a:rPr>
                      <m:t>𝑟𝑎𝑖𝑛𝑦</m:t>
                    </m:r>
                    <m:r>
                      <a:rPr lang="en-US" sz="4400" i="1" dirty="0" smtClean="0">
                        <a:latin typeface="Cambria Math" panose="02040503050406030204" pitchFamily="18" charset="0"/>
                      </a:rPr>
                      <m:t>, 2] +</m:t>
                    </m:r>
                    <m:r>
                      <a:rPr lang="en-US" sz="4400" i="1">
                        <a:latin typeface="Cambria Math" panose="02040503050406030204" pitchFamily="18" charset="0"/>
                      </a:rPr>
                      <m:t>𝛼</m:t>
                    </m:r>
                    <m:r>
                      <a:rPr lang="en-US" sz="4400" i="1" dirty="0" smtClean="0">
                        <a:latin typeface="Cambria Math" panose="02040503050406030204" pitchFamily="18" charset="0"/>
                      </a:rPr>
                      <m:t>[</m:t>
                    </m:r>
                    <m:r>
                      <a:rPr lang="en-US" sz="4400" i="1" dirty="0" smtClean="0">
                        <a:latin typeface="Cambria Math" panose="02040503050406030204" pitchFamily="18" charset="0"/>
                      </a:rPr>
                      <m:t>𝑠𝑢𝑛𝑛𝑦</m:t>
                    </m:r>
                    <m:r>
                      <a:rPr lang="en-US" sz="4400" i="1" dirty="0" smtClean="0">
                        <a:latin typeface="Cambria Math" panose="02040503050406030204" pitchFamily="18" charset="0"/>
                      </a:rPr>
                      <m:t>, 2] = 0.0258 +0.1086 = 0.1344</m:t>
                    </m:r>
                  </m:oMath>
                </a14:m>
                <a:endParaRPr lang="en-US" sz="4400" dirty="0">
                  <a:latin typeface="+mj-lt"/>
                </a:endParaRPr>
              </a:p>
              <a:p>
                <a:r>
                  <a:rPr lang="en-US" sz="4400" dirty="0">
                    <a:latin typeface="+mj-lt"/>
                  </a:rPr>
                  <a:t>The probability of the observed sequence (sad, sad, happy) given the </a:t>
                </a:r>
                <a:r>
                  <a:rPr lang="en-US" sz="4400" b="1" dirty="0">
                    <a:latin typeface="+mj-lt"/>
                  </a:rPr>
                  <a:t>HMM parameters using the Forward algorithm is 0.1344</a:t>
                </a:r>
                <a:r>
                  <a:rPr lang="en-US" sz="4400" dirty="0">
                    <a:latin typeface="+mj-lt"/>
                  </a:rPr>
                  <a:t>.</a:t>
                </a:r>
                <a:endParaRPr lang="en-ID" sz="4400" dirty="0">
                  <a:latin typeface="+mj-lt"/>
                </a:endParaRPr>
              </a:p>
              <a:p>
                <a:endParaRPr lang="en-US" dirty="0"/>
              </a:p>
            </p:txBody>
          </p:sp>
        </mc:Choice>
        <mc:Fallback xmlns="">
          <p:sp>
            <p:nvSpPr>
              <p:cNvPr id="5" name="Content Placeholder 4">
                <a:extLst>
                  <a:ext uri="{FF2B5EF4-FFF2-40B4-BE49-F238E27FC236}">
                    <a16:creationId xmlns:a16="http://schemas.microsoft.com/office/drawing/2014/main" id="{E457723A-C747-8B06-24A6-03EFE6D5EE74}"/>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a:stretch>
              </a:blipFill>
            </p:spPr>
            <p:txBody>
              <a:bodyPr/>
              <a:lstStyle/>
              <a:p>
                <a:r>
                  <a:rPr lang="en-US">
                    <a:noFill/>
                  </a:rPr>
                  <a:t> </a:t>
                </a:r>
              </a:p>
            </p:txBody>
          </p:sp>
        </mc:Fallback>
      </mc:AlternateContent>
    </p:spTree>
    <p:extLst>
      <p:ext uri="{BB962C8B-B14F-4D97-AF65-F5344CB8AC3E}">
        <p14:creationId xmlns:p14="http://schemas.microsoft.com/office/powerpoint/2010/main" val="252214185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A025-CC9A-D1DF-E9E4-EA69902C861C}"/>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9EA1C33-CF96-4A61-15C5-531151FDFF08}"/>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DA539D1-2361-1CBB-9434-A7622F0F84C6}"/>
              </a:ext>
            </a:extLst>
          </p:cNvPr>
          <p:cNvSpPr>
            <a:spLocks noGrp="1"/>
          </p:cNvSpPr>
          <p:nvPr>
            <p:ph sz="quarter" idx="11"/>
          </p:nvPr>
        </p:nvSpPr>
        <p:spPr/>
        <p:txBody>
          <a:bodyPr/>
          <a:lstStyle/>
          <a:p>
            <a:r>
              <a:rPr lang="en-US" sz="4400" dirty="0">
                <a:latin typeface="+mj-lt"/>
              </a:rPr>
              <a:t>You are playing guess with your siblings, you are assuming if today is sunny then the probability tomorrow is sunny 0.8, however if today is rainy, then the probability tomorrow is rainy is 0.3. What are the probability is rainy in 2 days, if today is rainy?</a:t>
            </a:r>
            <a:endParaRPr lang="en-US" dirty="0"/>
          </a:p>
        </p:txBody>
      </p:sp>
    </p:spTree>
    <p:extLst>
      <p:ext uri="{BB962C8B-B14F-4D97-AF65-F5344CB8AC3E}">
        <p14:creationId xmlns:p14="http://schemas.microsoft.com/office/powerpoint/2010/main" val="1997332651"/>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A025-CC9A-D1DF-E9E4-EA69902C861C}"/>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9EA1C33-CF96-4A61-15C5-531151FDFF08}"/>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DA539D1-2361-1CBB-9434-A7622F0F84C6}"/>
              </a:ext>
            </a:extLst>
          </p:cNvPr>
          <p:cNvSpPr>
            <a:spLocks noGrp="1"/>
          </p:cNvSpPr>
          <p:nvPr>
            <p:ph sz="quarter" idx="11"/>
          </p:nvPr>
        </p:nvSpPr>
        <p:spPr/>
        <p:txBody>
          <a:bodyPr>
            <a:normAutofit lnSpcReduction="10000"/>
          </a:bodyPr>
          <a:lstStyle/>
          <a:p>
            <a:r>
              <a:rPr lang="en-US" sz="4400" dirty="0">
                <a:latin typeface="+mj-lt"/>
              </a:rPr>
              <a:t>We investigate the weather in the Land of Oz. to illustrate the principles without too much heavy calculation.) The weather here is not very good there are never two fine days in a row. If the weather on a particular day is known, we cannot predict exactly what the weather will be the next day, but we can predict the probabilities of various kinds of weather. We will say that there are only three kinds: fine, cloudy and rain.</a:t>
            </a:r>
          </a:p>
          <a:p>
            <a:pPr lvl="1">
              <a:buFont typeface="Wingdings" pitchFamily="2" charset="2"/>
              <a:buChar char="v"/>
            </a:pPr>
            <a:r>
              <a:rPr lang="en-US" dirty="0">
                <a:latin typeface="+mj-lt"/>
              </a:rPr>
              <a:t>After a fine day, the weather is equally likely to be cloudy or rain.</a:t>
            </a:r>
          </a:p>
          <a:p>
            <a:pPr lvl="1">
              <a:buFont typeface="Wingdings" pitchFamily="2" charset="2"/>
              <a:buChar char="v"/>
            </a:pPr>
            <a:r>
              <a:rPr lang="en-US" dirty="0">
                <a:latin typeface="+mj-lt"/>
              </a:rPr>
              <a:t>After a cloudy day, the probabilities are 1/4 fine, 1/4 cloudy and 1/2 rain.</a:t>
            </a:r>
          </a:p>
          <a:p>
            <a:pPr lvl="1">
              <a:buFont typeface="Wingdings" pitchFamily="2" charset="2"/>
              <a:buChar char="v"/>
            </a:pPr>
            <a:r>
              <a:rPr lang="en-US" dirty="0">
                <a:latin typeface="+mj-lt"/>
              </a:rPr>
              <a:t>After rain, the probabilities are 1/4 fine, 1/2 cloudy and 1/4 rain</a:t>
            </a:r>
            <a:endParaRPr lang="en-US" sz="4400" dirty="0">
              <a:latin typeface="+mj-lt"/>
            </a:endParaRPr>
          </a:p>
          <a:p>
            <a:r>
              <a:rPr lang="en-US" sz="4400" dirty="0">
                <a:latin typeface="+mj-lt"/>
              </a:rPr>
              <a:t>Find the probabilities three days later, if today is a fine day.</a:t>
            </a:r>
          </a:p>
          <a:p>
            <a:endParaRPr lang="en-US" dirty="0"/>
          </a:p>
        </p:txBody>
      </p:sp>
    </p:spTree>
    <p:extLst>
      <p:ext uri="{BB962C8B-B14F-4D97-AF65-F5344CB8AC3E}">
        <p14:creationId xmlns:p14="http://schemas.microsoft.com/office/powerpoint/2010/main" val="2517369667"/>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A025-CC9A-D1DF-E9E4-EA69902C861C}"/>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9EA1C33-CF96-4A61-15C5-531151FDFF08}"/>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DA539D1-2361-1CBB-9434-A7622F0F84C6}"/>
              </a:ext>
            </a:extLst>
          </p:cNvPr>
          <p:cNvSpPr>
            <a:spLocks noGrp="1"/>
          </p:cNvSpPr>
          <p:nvPr>
            <p:ph sz="quarter" idx="11"/>
          </p:nvPr>
        </p:nvSpPr>
        <p:spPr/>
        <p:txBody>
          <a:bodyPr/>
          <a:lstStyle/>
          <a:p>
            <a:r>
              <a:rPr lang="en-US" sz="4400" dirty="0">
                <a:latin typeface="+mj-lt"/>
              </a:rPr>
              <a:t>Consider Jack who is living in Gotham city, the city is unique only have three weather rainy, and sunny and only occur once a day, and tomorrow weather depends on the today weather. In one day, Jack can have two mood sad or happy and depend on weather. Supposed we observed: the first two days Jack is happy, while the third day is sad . What is the probability of this observed sequence given the parameters of our HMM with Forward Algorithm?</a:t>
            </a:r>
          </a:p>
          <a:p>
            <a:r>
              <a:rPr lang="en-US" sz="4400" dirty="0">
                <a:latin typeface="+mj-lt"/>
              </a:rPr>
              <a:t>Note: The Initial Probability P(rainy) = 0.35; P(sunny) = 0.65</a:t>
            </a:r>
          </a:p>
          <a:p>
            <a:endParaRPr lang="en-US" sz="4400" dirty="0">
              <a:latin typeface="+mj-lt"/>
            </a:endParaRPr>
          </a:p>
          <a:p>
            <a:endParaRPr lang="en-US" dirty="0"/>
          </a:p>
        </p:txBody>
      </p:sp>
    </p:spTree>
    <p:extLst>
      <p:ext uri="{BB962C8B-B14F-4D97-AF65-F5344CB8AC3E}">
        <p14:creationId xmlns:p14="http://schemas.microsoft.com/office/powerpoint/2010/main" val="3501242520"/>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12</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4000" dirty="0">
                <a:latin typeface="+mj-lt"/>
              </a:rPr>
              <a:t>Rosen, K. H. (2012). Discrete mathematics and its applications (7th ed). McGraw-Hill.</a:t>
            </a:r>
          </a:p>
          <a:p>
            <a:pPr>
              <a:spcBef>
                <a:spcPts val="600"/>
              </a:spcBef>
            </a:pPr>
            <a:r>
              <a:rPr lang="en-US" sz="4000" dirty="0">
                <a:latin typeface="+mj-lt"/>
              </a:rPr>
              <a:t>Russell, S. J., Norvig, P., Chang, M., Devlin, J., Dragan, A., Forsyth, D., Goodfellow, I., Malik, J., </a:t>
            </a:r>
            <a:r>
              <a:rPr lang="en-US" sz="4000" dirty="0" err="1">
                <a:latin typeface="+mj-lt"/>
              </a:rPr>
              <a:t>Mansinghka</a:t>
            </a:r>
            <a:r>
              <a:rPr lang="en-US" sz="4000" dirty="0">
                <a:latin typeface="+mj-lt"/>
              </a:rPr>
              <a:t>, V., Pearl, J., &amp; Wooldridge, M. J. (2022). Artificial intelligence: A modern approach (Fourth edition, global edition). Pearson.</a:t>
            </a:r>
          </a:p>
          <a:p>
            <a:pPr>
              <a:spcBef>
                <a:spcPts val="600"/>
              </a:spcBef>
            </a:pPr>
            <a:r>
              <a:rPr lang="en-US" sz="4000" dirty="0">
                <a:latin typeface="+mj-lt"/>
              </a:rPr>
              <a:t>https://</a:t>
            </a:r>
            <a:r>
              <a:rPr lang="en-US" sz="4000" dirty="0" err="1">
                <a:latin typeface="+mj-lt"/>
              </a:rPr>
              <a:t>www.cs.jhu.edu</a:t>
            </a:r>
            <a:r>
              <a:rPr lang="en-US" sz="4000" dirty="0">
                <a:latin typeface="+mj-lt"/>
              </a:rPr>
              <a:t>/~phi/ai/slides/lecture-first-order-</a:t>
            </a:r>
            <a:r>
              <a:rPr lang="en-US" sz="4000" dirty="0" err="1">
                <a:latin typeface="+mj-lt"/>
              </a:rPr>
              <a:t>logic.pdf</a:t>
            </a:r>
            <a:endParaRPr lang="en-US" sz="4000" dirty="0">
              <a:latin typeface="+mj-lt"/>
            </a:endParaRPr>
          </a:p>
          <a:p>
            <a:pPr>
              <a:spcBef>
                <a:spcPts val="600"/>
              </a:spcBef>
            </a:pPr>
            <a:endParaRPr lang="en-US" sz="4000" dirty="0">
              <a:latin typeface="+mj-lt"/>
            </a:endParaRPr>
          </a:p>
          <a:p>
            <a:pPr>
              <a:spcBef>
                <a:spcPts val="600"/>
              </a:spcBef>
            </a:pPr>
            <a:endParaRPr lang="en-US" sz="4000" dirty="0"/>
          </a:p>
          <a:p>
            <a:pPr>
              <a:spcBef>
                <a:spcPts val="600"/>
              </a:spcBef>
            </a:pPr>
            <a:endParaRPr lang="en-US" sz="4000" dirty="0"/>
          </a:p>
          <a:p>
            <a:pPr>
              <a:spcBef>
                <a:spcPts val="600"/>
              </a:spcBef>
            </a:pPr>
            <a:endParaRPr lang="en-US" sz="4000" dirty="0"/>
          </a:p>
          <a:p>
            <a:pPr>
              <a:spcBef>
                <a:spcPts val="600"/>
              </a:spcBef>
            </a:pPr>
            <a:endParaRPr lang="en-US" sz="4000" dirty="0"/>
          </a:p>
          <a:p>
            <a:pPr>
              <a:spcBef>
                <a:spcPts val="600"/>
              </a:spcBef>
            </a:pPr>
            <a:endParaRPr lang="en-US" sz="40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4352</TotalTime>
  <Words>2699</Words>
  <Application>Microsoft Office PowerPoint</Application>
  <PresentationFormat>Custom</PresentationFormat>
  <Paragraphs>276</Paragraphs>
  <Slides>48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Cambria Math</vt:lpstr>
      <vt:lpstr>Open Sans ExtraBold</vt:lpstr>
      <vt:lpstr>Open Sans Light</vt:lpstr>
      <vt:lpstr>Open Sans Semibold</vt:lpstr>
      <vt:lpstr>Open Sans</vt:lpstr>
      <vt:lpstr>Arial</vt:lpstr>
      <vt:lpstr>OCRB</vt:lpstr>
      <vt:lpstr>Wingdings</vt:lpstr>
      <vt:lpstr>21_BasicWhite</vt:lpstr>
      <vt:lpstr>MArkov Chain</vt:lpstr>
      <vt:lpstr>Learning Outcomes</vt:lpstr>
      <vt:lpstr>outline</vt:lpstr>
      <vt:lpstr>Markov Chain</vt:lpstr>
      <vt:lpstr>Markov Chain</vt:lpstr>
      <vt:lpstr>Markov Chain</vt:lpstr>
      <vt:lpstr>Markov Chain</vt:lpstr>
      <vt:lpstr>Markov Chain</vt:lpstr>
      <vt:lpstr>Markov Chain</vt:lpstr>
      <vt:lpstr>Markov Chain</vt:lpstr>
      <vt:lpstr>Markov Chain</vt:lpstr>
      <vt:lpstr>Markov Chain</vt:lpstr>
      <vt:lpstr>Markov Chain</vt:lpstr>
      <vt:lpstr>Markov Chain</vt:lpstr>
      <vt:lpstr>Markov Chain</vt:lpstr>
      <vt:lpstr>Hidden Markov model</vt:lpstr>
      <vt:lpstr>Hidden Markov model</vt:lpstr>
      <vt:lpstr>Hidden Markov model</vt:lpstr>
      <vt:lpstr>Hidden Markov model</vt:lpstr>
      <vt:lpstr>Hidden Markov model</vt:lpstr>
      <vt:lpstr>Hidden Markov model</vt:lpstr>
      <vt:lpstr>Hidden Markov model</vt:lpstr>
      <vt:lpstr>Hidden Markov model</vt:lpstr>
      <vt:lpstr>Hidden Markov model</vt:lpstr>
      <vt:lpstr>Hidden Markov model</vt:lpstr>
      <vt:lpstr>Hidden Markov model</vt:lpstr>
      <vt:lpstr>Hidden Markov model</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Forward algorithm</vt:lpstr>
      <vt:lpstr>Exercise</vt:lpstr>
      <vt:lpstr>Exercise</vt:lpstr>
      <vt:lpstr>Exercise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53</cp:revision>
  <dcterms:created xsi:type="dcterms:W3CDTF">2023-11-17T02:51:40Z</dcterms:created>
  <dcterms:modified xsi:type="dcterms:W3CDTF">2024-12-27T07:30:40Z</dcterms:modified>
</cp:coreProperties>
</file>