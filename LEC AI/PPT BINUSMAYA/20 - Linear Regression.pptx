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90" r:id="rId2"/>
    <p:sldId id="257" r:id="rId3"/>
    <p:sldId id="258" r:id="rId4"/>
    <p:sldId id="291" r:id="rId5"/>
    <p:sldId id="292" r:id="rId6"/>
    <p:sldId id="293" r:id="rId7"/>
    <p:sldId id="294" r:id="rId8"/>
    <p:sldId id="295" r:id="rId9"/>
    <p:sldId id="296" r:id="rId10"/>
    <p:sldId id="297" r:id="rId11"/>
    <p:sldId id="298" r:id="rId12"/>
    <p:sldId id="299" r:id="rId13"/>
    <p:sldId id="300" r:id="rId14"/>
    <p:sldId id="301" r:id="rId15"/>
    <p:sldId id="304" r:id="rId16"/>
    <p:sldId id="302" r:id="rId17"/>
    <p:sldId id="303" r:id="rId18"/>
    <p:sldId id="278" r:id="rId19"/>
  </p:sldIdLst>
  <p:sldSz cx="24384000" cy="13716000"/>
  <p:notesSz cx="6858000" cy="9144000"/>
  <p:embeddedFontLst>
    <p:embeddedFont>
      <p:font typeface="Cambria Math" panose="02040503050406030204" pitchFamily="18" charset="0"/>
      <p:regular r:id="rId21"/>
    </p:embeddedFont>
    <p:embeddedFont>
      <p:font typeface="OCRB" panose="020B0609020202020204" pitchFamily="49" charset="0"/>
      <p:regular r:id="rId22"/>
    </p:embeddedFont>
    <p:embeddedFont>
      <p:font typeface="Open Sans" panose="020B0606030504020204" pitchFamily="34" charset="0"/>
      <p:regular r:id="rId23"/>
      <p:bold r:id="rId24"/>
      <p:italic r:id="rId25"/>
      <p:boldItalic r:id="rId26"/>
    </p:embeddedFont>
    <p:embeddedFont>
      <p:font typeface="Open Sans ExtraBold" panose="020B0906030804020204" pitchFamily="34" charset="0"/>
      <p:bold r:id="rId27"/>
      <p:italic r:id="rId28"/>
      <p:boldItalic r:id="rId29"/>
    </p:embeddedFont>
    <p:embeddedFont>
      <p:font typeface="Open Sans Light" panose="020B0306030504020204" pitchFamily="34" charset="0"/>
      <p:regular r:id="rId30"/>
      <p:italic r:id="rId31"/>
    </p:embeddedFont>
    <p:embeddedFont>
      <p:font typeface="Open Sans Semibold" panose="020B0706030804020204" pitchFamily="34" charset="0"/>
      <p:regular r:id="rId32"/>
      <p:bold r:id="rId33"/>
      <p:italic r:id="rId34"/>
      <p:boldItalic r:id="rId3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1003"/>
  </p:normalViewPr>
  <p:slideViewPr>
    <p:cSldViewPr snapToGrid="0" snapToObjects="1">
      <p:cViewPr varScale="1">
        <p:scale>
          <a:sx n="29" d="100"/>
          <a:sy n="29" d="100"/>
        </p:scale>
        <p:origin x="1000" y="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Need to augment the X matrix with 1 for the first column</a:t>
            </a:r>
          </a:p>
          <a:p>
            <a:r>
              <a:rPr lang="en-US" dirty="0"/>
              <a:t>Node that the results are identical to previous slide</a:t>
            </a:r>
          </a:p>
        </p:txBody>
      </p:sp>
    </p:spTree>
    <p:extLst>
      <p:ext uri="{BB962C8B-B14F-4D97-AF65-F5344CB8AC3E}">
        <p14:creationId xmlns:p14="http://schemas.microsoft.com/office/powerpoint/2010/main" val="2101539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20</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Linear regression</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20</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5: Apply various learning algorithms for agents to solve problems  </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20</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Simple Linear Regression</a:t>
            </a:r>
          </a:p>
          <a:p>
            <a:r>
              <a:rPr lang="en-ID" dirty="0"/>
              <a:t>Multi variable Regression: Bivariate</a:t>
            </a:r>
          </a:p>
          <a:p>
            <a:r>
              <a:rPr lang="en-ID" dirty="0"/>
              <a:t>Multi variable Linear Regression</a:t>
            </a:r>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Definition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62035E-5989-38F4-0CCA-601BD6BCB348}"/>
                  </a:ext>
                </a:extLst>
              </p:cNvPr>
              <p:cNvSpPr>
                <a:spLocks noGrp="1"/>
              </p:cNvSpPr>
              <p:nvPr>
                <p:ph sz="quarter" idx="11"/>
              </p:nvPr>
            </p:nvSpPr>
            <p:spPr/>
            <p:txBody>
              <a:bodyPr/>
              <a:lstStyle/>
              <a:p>
                <a:pPr marL="1028700" lvl="1" indent="-571500" algn="just">
                  <a:spcAft>
                    <a:spcPts val="2400"/>
                  </a:spcAft>
                </a:pPr>
                <a:r>
                  <a:rPr lang="en-US" sz="4400" dirty="0">
                    <a:latin typeface="+mj-lt"/>
                  </a:rPr>
                  <a:t>Simple linear regression assumes a linear relationship between </a:t>
                </a:r>
                <a:r>
                  <a:rPr lang="en-US" sz="4400" b="1" dirty="0">
                    <a:latin typeface="+mj-lt"/>
                  </a:rPr>
                  <a:t>the predictor </a:t>
                </a:r>
                <a:r>
                  <a:rPr lang="en-US" sz="4400" dirty="0">
                    <a:latin typeface="+mj-lt"/>
                  </a:rPr>
                  <a:t>(</a:t>
                </a:r>
                <a14:m>
                  <m:oMath xmlns:m="http://schemas.openxmlformats.org/officeDocument/2006/math">
                    <m:r>
                      <a:rPr lang="en-US" sz="4400" b="0" i="1" smtClean="0">
                        <a:latin typeface="Cambria Math" panose="02040503050406030204" pitchFamily="18" charset="0"/>
                      </a:rPr>
                      <m:t>𝑥</m:t>
                    </m:r>
                  </m:oMath>
                </a14:m>
                <a:r>
                  <a:rPr lang="en-US" sz="4400" dirty="0">
                    <a:latin typeface="+mj-lt"/>
                  </a:rPr>
                  <a:t>) and the response (</a:t>
                </a:r>
                <a14:m>
                  <m:oMath xmlns:m="http://schemas.openxmlformats.org/officeDocument/2006/math">
                    <m:r>
                      <a:rPr lang="en-US" sz="4400" b="0" i="1" smtClean="0">
                        <a:latin typeface="Cambria Math" panose="02040503050406030204" pitchFamily="18" charset="0"/>
                      </a:rPr>
                      <m:t>𝑦</m:t>
                    </m:r>
                  </m:oMath>
                </a14:m>
                <a:r>
                  <a:rPr lang="en-US" sz="4400" dirty="0">
                    <a:latin typeface="+mj-lt"/>
                  </a:rPr>
                  <a:t>).</a:t>
                </a:r>
              </a:p>
              <a:p>
                <a:pPr marL="457200" lvl="1" indent="0" algn="just">
                  <a:buNone/>
                </a:pPr>
                <a14:m>
                  <m:oMathPara xmlns:m="http://schemas.openxmlformats.org/officeDocument/2006/math">
                    <m:oMathParaPr>
                      <m:jc m:val="centerGroup"/>
                    </m:oMathParaPr>
                    <m:oMath xmlns:m="http://schemas.openxmlformats.org/officeDocument/2006/math">
                      <m:acc>
                        <m:accPr>
                          <m:chr m:val="̂"/>
                          <m:ctrlPr>
                            <a:rPr lang="en-US" sz="4400" b="0" i="1" smtClean="0">
                              <a:latin typeface="Cambria Math" panose="02040503050406030204" pitchFamily="18" charset="0"/>
                            </a:rPr>
                          </m:ctrlPr>
                        </m:accPr>
                        <m:e>
                          <m:r>
                            <a:rPr lang="en-US" sz="4400" b="0" i="1" smtClean="0">
                              <a:latin typeface="Cambria Math" panose="02040503050406030204" pitchFamily="18" charset="0"/>
                            </a:rPr>
                            <m:t>𝑦</m:t>
                          </m:r>
                        </m:e>
                      </m:acc>
                      <m:r>
                        <a:rPr lang="en-US" sz="4400" b="0" i="1" dirty="0"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𝛽</m:t>
                          </m:r>
                        </m:e>
                        <m:sub>
                          <m:r>
                            <a:rPr lang="en-US" sz="4400" b="0" i="1" dirty="0" smtClean="0">
                              <a:latin typeface="Cambria Math" panose="02040503050406030204" pitchFamily="18" charset="0"/>
                            </a:rPr>
                            <m:t>0</m:t>
                          </m:r>
                        </m:sub>
                      </m:sSub>
                      <m:r>
                        <a:rPr lang="en-US" sz="4400" b="0" i="1" dirty="0"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𝛽</m:t>
                          </m:r>
                        </m:e>
                        <m:sub>
                          <m:r>
                            <a:rPr lang="en-US" sz="4400" b="0" i="1" dirty="0" smtClean="0">
                              <a:latin typeface="Cambria Math" panose="02040503050406030204" pitchFamily="18" charset="0"/>
                            </a:rPr>
                            <m:t>1</m:t>
                          </m:r>
                        </m:sub>
                      </m:sSub>
                      <m:r>
                        <a:rPr lang="en-US" sz="4400" b="0" i="1" dirty="0" smtClean="0">
                          <a:latin typeface="Cambria Math" panose="02040503050406030204" pitchFamily="18" charset="0"/>
                        </a:rPr>
                        <m:t>(</m:t>
                      </m:r>
                      <m:sSub>
                        <m:sSubPr>
                          <m:ctrlPr>
                            <a:rPr lang="en-US" sz="4400" b="0" i="1" dirty="0" smtClean="0">
                              <a:latin typeface="Cambria Math" panose="02040503050406030204" pitchFamily="18" charset="0"/>
                            </a:rPr>
                          </m:ctrlPr>
                        </m:sSubPr>
                        <m:e>
                          <m:r>
                            <a:rPr lang="en-US" sz="4400" b="0" i="1" dirty="0" smtClean="0">
                              <a:latin typeface="Cambria Math" panose="02040503050406030204" pitchFamily="18" charset="0"/>
                            </a:rPr>
                            <m:t>𝑥</m:t>
                          </m:r>
                        </m:e>
                        <m:sub>
                          <m:r>
                            <a:rPr lang="en-US" sz="4400" b="0" i="1" dirty="0" smtClean="0">
                              <a:latin typeface="Cambria Math" panose="02040503050406030204" pitchFamily="18" charset="0"/>
                            </a:rPr>
                            <m:t>1</m:t>
                          </m:r>
                        </m:sub>
                      </m:sSub>
                      <m:r>
                        <a:rPr lang="en-US" sz="4400" b="0" i="1" dirty="0" smtClean="0">
                          <a:latin typeface="Cambria Math" panose="02040503050406030204" pitchFamily="18" charset="0"/>
                        </a:rPr>
                        <m:t>)</m:t>
                      </m:r>
                    </m:oMath>
                  </m:oMathPara>
                </a14:m>
                <a:endParaRPr lang="en-US" sz="4400" dirty="0">
                  <a:latin typeface="+mj-lt"/>
                </a:endParaRPr>
              </a:p>
              <a:p>
                <a:pPr marL="1784700" lvl="2" indent="-571500" algn="just">
                  <a:buFont typeface="Courier New" panose="02070309020205020404" pitchFamily="49" charset="0"/>
                  <a:buChar char="o"/>
                </a:pPr>
                <a14:m>
                  <m:oMath xmlns:m="http://schemas.openxmlformats.org/officeDocument/2006/math">
                    <m:acc>
                      <m:accPr>
                        <m:chr m:val="̂"/>
                        <m:ctrlPr>
                          <a:rPr lang="en-US" b="0" i="1" smtClean="0">
                            <a:solidFill>
                              <a:schemeClr val="bg2">
                                <a:lumMod val="10000"/>
                              </a:schemeClr>
                            </a:solidFill>
                            <a:latin typeface="Cambria Math" panose="02040503050406030204" pitchFamily="18" charset="0"/>
                          </a:rPr>
                        </m:ctrlPr>
                      </m:accPr>
                      <m:e>
                        <m:r>
                          <a:rPr lang="en-US" b="0" i="1" smtClean="0">
                            <a:solidFill>
                              <a:schemeClr val="bg2">
                                <a:lumMod val="10000"/>
                              </a:schemeClr>
                            </a:solidFill>
                            <a:latin typeface="Cambria Math" panose="02040503050406030204" pitchFamily="18" charset="0"/>
                          </a:rPr>
                          <m:t>𝑦</m:t>
                        </m:r>
                      </m:e>
                    </m:acc>
                  </m:oMath>
                </a14:m>
                <a:r>
                  <a:rPr lang="en-US" dirty="0">
                    <a:solidFill>
                      <a:schemeClr val="bg2">
                        <a:lumMod val="10000"/>
                      </a:schemeClr>
                    </a:solidFill>
                    <a:latin typeface="+mj-lt"/>
                  </a:rPr>
                  <a:t>- represents the predicted value</a:t>
                </a:r>
              </a:p>
              <a:p>
                <a:pPr marL="1784700" lvl="2" indent="-571500" algn="just">
                  <a:buFont typeface="Courier New" panose="02070309020205020404" pitchFamily="49" charset="0"/>
                  <a:buChar char="o"/>
                </a:pPr>
                <a14:m>
                  <m:oMath xmlns:m="http://schemas.openxmlformats.org/officeDocument/2006/math">
                    <m:sSub>
                      <m:sSubPr>
                        <m:ctrlPr>
                          <a:rPr lang="en-US" b="0" i="1" dirty="0" smtClean="0">
                            <a:solidFill>
                              <a:schemeClr val="bg2">
                                <a:lumMod val="10000"/>
                              </a:schemeClr>
                            </a:solidFill>
                            <a:latin typeface="Cambria Math" panose="02040503050406030204" pitchFamily="18" charset="0"/>
                          </a:rPr>
                        </m:ctrlPr>
                      </m:sSubPr>
                      <m:e>
                        <m:r>
                          <a:rPr lang="en-US" b="0" i="1" dirty="0" smtClean="0">
                            <a:solidFill>
                              <a:schemeClr val="bg2">
                                <a:lumMod val="10000"/>
                              </a:schemeClr>
                            </a:solidFill>
                            <a:latin typeface="Cambria Math" panose="02040503050406030204" pitchFamily="18" charset="0"/>
                          </a:rPr>
                          <m:t>𝛽</m:t>
                        </m:r>
                      </m:e>
                      <m:sub>
                        <m:r>
                          <a:rPr lang="en-US" b="0" i="1" dirty="0" smtClean="0">
                            <a:solidFill>
                              <a:schemeClr val="bg2">
                                <a:lumMod val="10000"/>
                              </a:schemeClr>
                            </a:solidFill>
                            <a:latin typeface="Cambria Math" panose="02040503050406030204" pitchFamily="18" charset="0"/>
                          </a:rPr>
                          <m:t>0</m:t>
                        </m:r>
                      </m:sub>
                    </m:sSub>
                  </m:oMath>
                </a14:m>
                <a:r>
                  <a:rPr lang="en-US" dirty="0">
                    <a:solidFill>
                      <a:schemeClr val="bg2">
                        <a:lumMod val="10000"/>
                      </a:schemeClr>
                    </a:solidFill>
                    <a:latin typeface="+mj-lt"/>
                  </a:rPr>
                  <a:t> - represents a coefficient known as </a:t>
                </a:r>
                <a:r>
                  <a:rPr lang="en-US" b="1" dirty="0">
                    <a:solidFill>
                      <a:schemeClr val="bg2">
                        <a:lumMod val="10000"/>
                      </a:schemeClr>
                    </a:solidFill>
                    <a:latin typeface="+mj-lt"/>
                  </a:rPr>
                  <a:t>the intercept</a:t>
                </a:r>
              </a:p>
              <a:p>
                <a:pPr marL="1784700" lvl="2" indent="-571500" algn="just">
                  <a:buFont typeface="Courier New" panose="02070309020205020404" pitchFamily="49" charset="0"/>
                  <a:buChar char="o"/>
                </a:pPr>
                <a14:m>
                  <m:oMath xmlns:m="http://schemas.openxmlformats.org/officeDocument/2006/math">
                    <m:sSub>
                      <m:sSubPr>
                        <m:ctrlPr>
                          <a:rPr lang="en-US" b="0" i="1" dirty="0" smtClean="0">
                            <a:solidFill>
                              <a:schemeClr val="bg2">
                                <a:lumMod val="10000"/>
                              </a:schemeClr>
                            </a:solidFill>
                            <a:latin typeface="Cambria Math" panose="02040503050406030204" pitchFamily="18" charset="0"/>
                          </a:rPr>
                        </m:ctrlPr>
                      </m:sSubPr>
                      <m:e>
                        <m:r>
                          <a:rPr lang="en-US" b="0" i="1" dirty="0" smtClean="0">
                            <a:solidFill>
                              <a:schemeClr val="bg2">
                                <a:lumMod val="10000"/>
                              </a:schemeClr>
                            </a:solidFill>
                            <a:latin typeface="Cambria Math" panose="02040503050406030204" pitchFamily="18" charset="0"/>
                          </a:rPr>
                          <m:t>𝛽</m:t>
                        </m:r>
                      </m:e>
                      <m:sub>
                        <m:r>
                          <a:rPr lang="en-US" b="0" i="1" dirty="0" smtClean="0">
                            <a:solidFill>
                              <a:schemeClr val="bg2">
                                <a:lumMod val="10000"/>
                              </a:schemeClr>
                            </a:solidFill>
                            <a:latin typeface="Cambria Math" panose="02040503050406030204" pitchFamily="18" charset="0"/>
                          </a:rPr>
                          <m:t>1</m:t>
                        </m:r>
                      </m:sub>
                    </m:sSub>
                  </m:oMath>
                </a14:m>
                <a:r>
                  <a:rPr lang="en-US" b="1" dirty="0">
                    <a:solidFill>
                      <a:schemeClr val="bg2">
                        <a:lumMod val="10000"/>
                      </a:schemeClr>
                    </a:solidFill>
                    <a:latin typeface="+mj-lt"/>
                  </a:rPr>
                  <a:t> - </a:t>
                </a:r>
                <a:r>
                  <a:rPr lang="en-US" dirty="0">
                    <a:solidFill>
                      <a:schemeClr val="bg2">
                        <a:lumMod val="10000"/>
                      </a:schemeClr>
                    </a:solidFill>
                    <a:latin typeface="+mj-lt"/>
                  </a:rPr>
                  <a:t>represents a coefficient known as </a:t>
                </a:r>
                <a:r>
                  <a:rPr lang="en-US" b="1" dirty="0">
                    <a:solidFill>
                      <a:schemeClr val="bg2">
                        <a:lumMod val="10000"/>
                      </a:schemeClr>
                    </a:solidFill>
                    <a:latin typeface="+mj-lt"/>
                  </a:rPr>
                  <a:t>the slope</a:t>
                </a:r>
              </a:p>
              <a:p>
                <a:pPr marL="1784700" lvl="2" indent="-571500" algn="just">
                  <a:buFont typeface="Courier New" panose="02070309020205020404" pitchFamily="49" charset="0"/>
                  <a:buChar char="o"/>
                </a:pPr>
                <a14:m>
                  <m:oMath xmlns:m="http://schemas.openxmlformats.org/officeDocument/2006/math">
                    <m:sSub>
                      <m:sSubPr>
                        <m:ctrlPr>
                          <a:rPr lang="en-US" i="1" dirty="0" smtClean="0">
                            <a:solidFill>
                              <a:schemeClr val="bg2">
                                <a:lumMod val="10000"/>
                              </a:schemeClr>
                            </a:solidFill>
                            <a:latin typeface="Cambria Math" panose="02040503050406030204" pitchFamily="18" charset="0"/>
                          </a:rPr>
                        </m:ctrlPr>
                      </m:sSubPr>
                      <m:e>
                        <m:r>
                          <a:rPr lang="en-US" b="0" i="1" dirty="0" smtClean="0">
                            <a:solidFill>
                              <a:schemeClr val="bg2">
                                <a:lumMod val="10000"/>
                              </a:schemeClr>
                            </a:solidFill>
                            <a:latin typeface="Cambria Math" panose="02040503050406030204" pitchFamily="18" charset="0"/>
                          </a:rPr>
                          <m:t>𝑥</m:t>
                        </m:r>
                      </m:e>
                      <m:sub>
                        <m:r>
                          <a:rPr lang="en-US" b="0" i="1" dirty="0" smtClean="0">
                            <a:solidFill>
                              <a:schemeClr val="bg2">
                                <a:lumMod val="10000"/>
                              </a:schemeClr>
                            </a:solidFill>
                            <a:latin typeface="Cambria Math" panose="02040503050406030204" pitchFamily="18" charset="0"/>
                          </a:rPr>
                          <m:t>1</m:t>
                        </m:r>
                      </m:sub>
                    </m:sSub>
                  </m:oMath>
                </a14:m>
                <a:r>
                  <a:rPr lang="en-US" dirty="0">
                    <a:solidFill>
                      <a:schemeClr val="bg2">
                        <a:lumMod val="10000"/>
                      </a:schemeClr>
                    </a:solidFill>
                    <a:latin typeface="+mj-lt"/>
                  </a:rPr>
                  <a:t> - represent the value of </a:t>
                </a:r>
                <a:r>
                  <a:rPr lang="en-US" b="1" dirty="0">
                    <a:solidFill>
                      <a:schemeClr val="bg2">
                        <a:lumMod val="10000"/>
                      </a:schemeClr>
                    </a:solidFill>
                    <a:latin typeface="+mj-lt"/>
                  </a:rPr>
                  <a:t>predictor</a:t>
                </a:r>
              </a:p>
              <a:p>
                <a:endParaRPr lang="en-US" dirty="0"/>
              </a:p>
            </p:txBody>
          </p:sp>
        </mc:Choice>
        <mc:Fallback xmlns="">
          <p:sp>
            <p:nvSpPr>
              <p:cNvPr id="4" name="Content Placeholder 3">
                <a:extLst>
                  <a:ext uri="{FF2B5EF4-FFF2-40B4-BE49-F238E27FC236}">
                    <a16:creationId xmlns:a16="http://schemas.microsoft.com/office/drawing/2014/main" id="{0162035E-5989-38F4-0CCA-601BD6BCB348}"/>
                  </a:ext>
                </a:extLst>
              </p:cNvPr>
              <p:cNvSpPr>
                <a:spLocks noGrp="1" noRot="1" noChangeAspect="1" noMove="1" noResize="1" noEditPoints="1" noAdjustHandles="1" noChangeArrowheads="1" noChangeShapeType="1" noTextEdit="1"/>
              </p:cNvSpPr>
              <p:nvPr>
                <p:ph sz="quarter" idx="11"/>
              </p:nvPr>
            </p:nvSpPr>
            <p:spPr>
              <a:blipFill>
                <a:blip r:embed="rId2"/>
                <a:stretch>
                  <a:fillRect t="-1329" r="-1456"/>
                </a:stretch>
              </a:blipFill>
            </p:spPr>
            <p:txBody>
              <a:bodyPr/>
              <a:lstStyle/>
              <a:p>
                <a:r>
                  <a:rPr lang="en-US">
                    <a:noFill/>
                  </a:rPr>
                  <a:t> </a:t>
                </a:r>
              </a:p>
            </p:txBody>
          </p:sp>
        </mc:Fallback>
      </mc:AlternateContent>
    </p:spTree>
    <p:extLst>
      <p:ext uri="{BB962C8B-B14F-4D97-AF65-F5344CB8AC3E}">
        <p14:creationId xmlns:p14="http://schemas.microsoft.com/office/powerpoint/2010/main" val="266414079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Least square criteria</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62035E-5989-38F4-0CCA-601BD6BCB348}"/>
                  </a:ext>
                </a:extLst>
              </p:cNvPr>
              <p:cNvSpPr>
                <a:spLocks noGrp="1"/>
              </p:cNvSpPr>
              <p:nvPr>
                <p:ph sz="quarter" idx="11"/>
              </p:nvPr>
            </p:nvSpPr>
            <p:spPr/>
            <p:txBody>
              <a:bodyPr>
                <a:normAutofit/>
              </a:bodyPr>
              <a:lstStyle/>
              <a:p>
                <a:pPr marL="1028700" lvl="1" indent="-571500" algn="just"/>
                <a:r>
                  <a:rPr lang="en-US" sz="4400" dirty="0">
                    <a:solidFill>
                      <a:schemeClr val="bg2">
                        <a:lumMod val="10000"/>
                      </a:schemeClr>
                    </a:solidFill>
                    <a:latin typeface="+mj-lt"/>
                  </a:rPr>
                  <a:t>The best estimates for the coefficients (</a:t>
                </a:r>
                <a14:m>
                  <m:oMath xmlns:m="http://schemas.openxmlformats.org/officeDocument/2006/math">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0</m:t>
                        </m:r>
                      </m:sub>
                    </m:sSub>
                    <m:r>
                      <a:rPr lang="en-US" sz="4400" b="0" i="1" smtClean="0">
                        <a:solidFill>
                          <a:schemeClr val="bg2">
                            <a:lumMod val="10000"/>
                          </a:schemeClr>
                        </a:solidFill>
                        <a:latin typeface="Cambria Math" panose="02040503050406030204" pitchFamily="18" charset="0"/>
                      </a:rPr>
                      <m:t>, </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1</m:t>
                        </m:r>
                      </m:sub>
                    </m:sSub>
                  </m:oMath>
                </a14:m>
                <a:r>
                  <a:rPr lang="en-US" sz="4400" dirty="0">
                    <a:solidFill>
                      <a:schemeClr val="bg2">
                        <a:lumMod val="10000"/>
                      </a:schemeClr>
                    </a:solidFill>
                    <a:latin typeface="+mj-lt"/>
                  </a:rPr>
                  <a:t>) are obtained by finding the regression line that fits the training dataset points as closely as possible.</a:t>
                </a:r>
              </a:p>
              <a:p>
                <a:pPr marL="1028700" lvl="1" indent="-571500" algn="just"/>
                <a:r>
                  <a:rPr lang="en-US" sz="4400" dirty="0">
                    <a:solidFill>
                      <a:schemeClr val="bg2">
                        <a:lumMod val="10000"/>
                      </a:schemeClr>
                    </a:solidFill>
                    <a:latin typeface="+mj-lt"/>
                  </a:rPr>
                  <a:t>The point estimates of </a:t>
                </a:r>
                <a14:m>
                  <m:oMath xmlns:m="http://schemas.openxmlformats.org/officeDocument/2006/math">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0</m:t>
                        </m:r>
                      </m:sub>
                    </m:sSub>
                    <m:r>
                      <a:rPr lang="en-US" sz="4400" b="0" i="1" smtClean="0">
                        <a:solidFill>
                          <a:schemeClr val="bg2">
                            <a:lumMod val="10000"/>
                          </a:schemeClr>
                        </a:solidFill>
                        <a:latin typeface="Cambria Math" panose="02040503050406030204" pitchFamily="18" charset="0"/>
                      </a:rPr>
                      <m:t>, </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1</m:t>
                        </m:r>
                      </m:sub>
                    </m:sSub>
                  </m:oMath>
                </a14:m>
                <a:r>
                  <a:rPr lang="en-US" sz="4400" dirty="0">
                    <a:solidFill>
                      <a:schemeClr val="bg2">
                        <a:lumMod val="10000"/>
                      </a:schemeClr>
                    </a:solidFill>
                    <a:latin typeface="+mj-lt"/>
                  </a:rPr>
                  <a:t>, are called the least square estimates – they are those values that minimize </a:t>
                </a:r>
                <a14:m>
                  <m:oMath xmlns:m="http://schemas.openxmlformats.org/officeDocument/2006/math">
                    <m:r>
                      <a:rPr lang="en-US" sz="4400" b="0" i="1" smtClean="0">
                        <a:solidFill>
                          <a:schemeClr val="bg2">
                            <a:lumMod val="10000"/>
                          </a:schemeClr>
                        </a:solidFill>
                        <a:latin typeface="Cambria Math" panose="02040503050406030204" pitchFamily="18" charset="0"/>
                      </a:rPr>
                      <m:t>𝑓</m:t>
                    </m:r>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𝑏</m:t>
                        </m:r>
                      </m:e>
                      <m:sub>
                        <m:r>
                          <a:rPr lang="en-US" sz="4400" b="0" i="1" smtClean="0">
                            <a:solidFill>
                              <a:schemeClr val="bg2">
                                <a:lumMod val="10000"/>
                              </a:schemeClr>
                            </a:solidFill>
                            <a:latin typeface="Cambria Math" panose="02040503050406030204" pitchFamily="18" charset="0"/>
                          </a:rPr>
                          <m:t>0</m:t>
                        </m:r>
                      </m:sub>
                    </m:sSub>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𝑏</m:t>
                        </m:r>
                      </m:e>
                      <m:sub>
                        <m:r>
                          <a:rPr lang="en-US" sz="4400" b="0" i="1" smtClean="0">
                            <a:solidFill>
                              <a:schemeClr val="bg2">
                                <a:lumMod val="10000"/>
                              </a:schemeClr>
                            </a:solidFill>
                            <a:latin typeface="Cambria Math" panose="02040503050406030204" pitchFamily="18" charset="0"/>
                          </a:rPr>
                          <m:t>1</m:t>
                        </m:r>
                      </m:sub>
                    </m:sSub>
                    <m:r>
                      <a:rPr lang="en-US" sz="4400" b="0" i="1" smtClean="0">
                        <a:solidFill>
                          <a:schemeClr val="bg2">
                            <a:lumMod val="10000"/>
                          </a:schemeClr>
                        </a:solidFill>
                        <a:latin typeface="Cambria Math" panose="02040503050406030204" pitchFamily="18" charset="0"/>
                      </a:rPr>
                      <m:t>)</m:t>
                    </m:r>
                  </m:oMath>
                </a14:m>
                <a:endParaRPr lang="en-US" sz="4400" b="1" dirty="0">
                  <a:solidFill>
                    <a:schemeClr val="bg2">
                      <a:lumMod val="10000"/>
                    </a:schemeClr>
                  </a:solidFill>
                  <a:latin typeface="+mj-lt"/>
                </a:endParaRPr>
              </a:p>
              <a:p>
                <a:pPr marL="1028700" lvl="1" indent="-571500" algn="just">
                  <a:spcAft>
                    <a:spcPts val="2400"/>
                  </a:spcAft>
                </a:pPr>
                <a:r>
                  <a:rPr lang="en-US" sz="4400" dirty="0">
                    <a:solidFill>
                      <a:schemeClr val="bg2">
                        <a:lumMod val="10000"/>
                      </a:schemeClr>
                    </a:solidFill>
                    <a:latin typeface="+mj-lt"/>
                  </a:rPr>
                  <a:t>The fitted regression line or least squares line is then the line whose equation is then the line whose equation is </a:t>
                </a:r>
              </a:p>
              <a:p>
                <a:pPr marL="457200" lvl="1" indent="0" algn="just">
                  <a:buNone/>
                </a:pPr>
                <a14:m>
                  <m:oMathPara xmlns:m="http://schemas.openxmlformats.org/officeDocument/2006/math">
                    <m:oMathParaPr>
                      <m:jc m:val="centerGroup"/>
                    </m:oMathParaPr>
                    <m:oMath xmlns:m="http://schemas.openxmlformats.org/officeDocument/2006/math">
                      <m:r>
                        <a:rPr lang="en-US" sz="4400" b="0" i="1" smtClean="0">
                          <a:solidFill>
                            <a:schemeClr val="bg2">
                              <a:lumMod val="10000"/>
                            </a:schemeClr>
                          </a:solidFill>
                          <a:latin typeface="Cambria Math" panose="02040503050406030204" pitchFamily="18" charset="0"/>
                        </a:rPr>
                        <m:t>𝑦</m:t>
                      </m:r>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0</m:t>
                          </m:r>
                        </m:sub>
                      </m:sSub>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1</m:t>
                          </m:r>
                        </m:sub>
                      </m:sSub>
                      <m:r>
                        <a:rPr lang="en-US" sz="4400" b="0" i="1" smtClean="0">
                          <a:solidFill>
                            <a:schemeClr val="bg2">
                              <a:lumMod val="10000"/>
                            </a:schemeClr>
                          </a:solidFill>
                          <a:latin typeface="Cambria Math" panose="02040503050406030204" pitchFamily="18" charset="0"/>
                        </a:rPr>
                        <m:t>𝑥</m:t>
                      </m:r>
                    </m:oMath>
                  </m:oMathPara>
                </a14:m>
                <a:endParaRPr lang="en-US" sz="4400" dirty="0">
                  <a:solidFill>
                    <a:schemeClr val="bg2">
                      <a:lumMod val="10000"/>
                    </a:schemeClr>
                  </a:solidFill>
                  <a:latin typeface="+mj-lt"/>
                </a:endParaRPr>
              </a:p>
              <a:p>
                <a:pPr marL="1028700" lvl="1" indent="-571500" algn="just"/>
                <a:endParaRPr lang="en-US" sz="4400" dirty="0">
                  <a:solidFill>
                    <a:schemeClr val="bg2">
                      <a:lumMod val="10000"/>
                    </a:schemeClr>
                  </a:solidFill>
                  <a:latin typeface="+mj-lt"/>
                </a:endParaRPr>
              </a:p>
              <a:p>
                <a:pPr marL="1028700" lvl="1" indent="-571500" algn="just">
                  <a:spcAft>
                    <a:spcPts val="2400"/>
                  </a:spcAft>
                </a:pPr>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0162035E-5989-38F4-0CCA-601BD6BCB348}"/>
                  </a:ext>
                </a:extLst>
              </p:cNvPr>
              <p:cNvSpPr>
                <a:spLocks noGrp="1" noRot="1" noChangeAspect="1" noMove="1" noResize="1" noEditPoints="1" noAdjustHandles="1" noChangeArrowheads="1" noChangeShapeType="1" noTextEdit="1"/>
              </p:cNvSpPr>
              <p:nvPr>
                <p:ph sz="quarter" idx="11"/>
              </p:nvPr>
            </p:nvSpPr>
            <p:spPr>
              <a:blipFill>
                <a:blip r:embed="rId2"/>
                <a:stretch>
                  <a:fillRect t="-1182" r="-1456"/>
                </a:stretch>
              </a:blipFill>
            </p:spPr>
            <p:txBody>
              <a:bodyPr/>
              <a:lstStyle/>
              <a:p>
                <a:r>
                  <a:rPr lang="en-US">
                    <a:noFill/>
                  </a:rPr>
                  <a:t> </a:t>
                </a:r>
              </a:p>
            </p:txBody>
          </p:sp>
        </mc:Fallback>
      </mc:AlternateContent>
    </p:spTree>
    <p:extLst>
      <p:ext uri="{BB962C8B-B14F-4D97-AF65-F5344CB8AC3E}">
        <p14:creationId xmlns:p14="http://schemas.microsoft.com/office/powerpoint/2010/main" val="132860890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Least square criteria</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62035E-5989-38F4-0CCA-601BD6BCB348}"/>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The minimizing values of, are found by taking partial derivatives of </a:t>
                </a:r>
                <a14:m>
                  <m:oMath xmlns:m="http://schemas.openxmlformats.org/officeDocument/2006/math">
                    <m:r>
                      <a:rPr lang="en-US" i="1">
                        <a:solidFill>
                          <a:schemeClr val="bg2">
                            <a:lumMod val="10000"/>
                          </a:schemeClr>
                        </a:solidFill>
                        <a:latin typeface="Cambria Math" panose="02040503050406030204" pitchFamily="18" charset="0"/>
                      </a:rPr>
                      <m:t>𝑓</m:t>
                    </m:r>
                    <m:r>
                      <a:rPr lang="en-US" i="1">
                        <a:solidFill>
                          <a:schemeClr val="bg2">
                            <a:lumMod val="10000"/>
                          </a:schemeClr>
                        </a:solidFill>
                        <a:latin typeface="Cambria Math" panose="02040503050406030204" pitchFamily="18" charset="0"/>
                      </a:rPr>
                      <m:t>(</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𝑏</m:t>
                        </m:r>
                      </m:e>
                      <m:sub>
                        <m:r>
                          <a:rPr lang="en-US" i="1">
                            <a:solidFill>
                              <a:schemeClr val="bg2">
                                <a:lumMod val="10000"/>
                              </a:schemeClr>
                            </a:solidFill>
                            <a:latin typeface="Cambria Math" panose="02040503050406030204" pitchFamily="18" charset="0"/>
                          </a:rPr>
                          <m:t>0</m:t>
                        </m:r>
                      </m:sub>
                    </m:sSub>
                    <m:r>
                      <a:rPr lang="en-US" i="1">
                        <a:solidFill>
                          <a:schemeClr val="bg2">
                            <a:lumMod val="10000"/>
                          </a:schemeClr>
                        </a:solidFill>
                        <a:latin typeface="Cambria Math" panose="02040503050406030204" pitchFamily="18" charset="0"/>
                      </a:rPr>
                      <m:t>,</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𝑏</m:t>
                        </m:r>
                      </m:e>
                      <m:sub>
                        <m:r>
                          <a:rPr lang="en-US" i="1">
                            <a:solidFill>
                              <a:schemeClr val="bg2">
                                <a:lumMod val="10000"/>
                              </a:schemeClr>
                            </a:solidFill>
                            <a:latin typeface="Cambria Math" panose="02040503050406030204" pitchFamily="18" charset="0"/>
                          </a:rPr>
                          <m:t>1</m:t>
                        </m:r>
                      </m:sub>
                    </m:sSub>
                    <m:r>
                      <a:rPr lang="en-US" i="1">
                        <a:solidFill>
                          <a:schemeClr val="bg2">
                            <a:lumMod val="10000"/>
                          </a:schemeClr>
                        </a:solidFill>
                        <a:latin typeface="Cambria Math" panose="02040503050406030204" pitchFamily="18" charset="0"/>
                      </a:rPr>
                      <m:t>)</m:t>
                    </m:r>
                  </m:oMath>
                </a14:m>
                <a:r>
                  <a:rPr lang="en-US" dirty="0">
                    <a:solidFill>
                      <a:schemeClr val="bg2">
                        <a:lumMod val="10000"/>
                      </a:schemeClr>
                    </a:solidFill>
                    <a:latin typeface="+mj-lt"/>
                  </a:rPr>
                  <a:t> with respect to both </a:t>
                </a:r>
                <a14:m>
                  <m:oMath xmlns:m="http://schemas.openxmlformats.org/officeDocument/2006/math">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𝛽</m:t>
                        </m:r>
                      </m:e>
                      <m:sub>
                        <m:r>
                          <a:rPr lang="en-US" i="1">
                            <a:solidFill>
                              <a:schemeClr val="bg2">
                                <a:lumMod val="10000"/>
                              </a:schemeClr>
                            </a:solidFill>
                            <a:latin typeface="Cambria Math" panose="02040503050406030204" pitchFamily="18" charset="0"/>
                          </a:rPr>
                          <m:t>0</m:t>
                        </m:r>
                      </m:sub>
                    </m:sSub>
                    <m:r>
                      <a:rPr lang="en-US" i="1">
                        <a:solidFill>
                          <a:schemeClr val="bg2">
                            <a:lumMod val="10000"/>
                          </a:schemeClr>
                        </a:solidFill>
                        <a:latin typeface="Cambria Math" panose="02040503050406030204" pitchFamily="18" charset="0"/>
                      </a:rPr>
                      <m:t>, </m:t>
                    </m:r>
                    <m:sSub>
                      <m:sSubPr>
                        <m:ctrlPr>
                          <a:rPr lang="en-US" i="1">
                            <a:solidFill>
                              <a:schemeClr val="bg2">
                                <a:lumMod val="10000"/>
                              </a:schemeClr>
                            </a:solidFill>
                            <a:latin typeface="Cambria Math" panose="02040503050406030204" pitchFamily="18" charset="0"/>
                          </a:rPr>
                        </m:ctrlPr>
                      </m:sSubPr>
                      <m:e>
                        <m:r>
                          <a:rPr lang="en-US" i="1">
                            <a:solidFill>
                              <a:schemeClr val="bg2">
                                <a:lumMod val="10000"/>
                              </a:schemeClr>
                            </a:solidFill>
                            <a:latin typeface="Cambria Math" panose="02040503050406030204" pitchFamily="18" charset="0"/>
                          </a:rPr>
                          <m:t>𝛽</m:t>
                        </m:r>
                      </m:e>
                      <m:sub>
                        <m:r>
                          <a:rPr lang="en-US" i="1">
                            <a:solidFill>
                              <a:schemeClr val="bg2">
                                <a:lumMod val="10000"/>
                              </a:schemeClr>
                            </a:solidFill>
                            <a:latin typeface="Cambria Math" panose="02040503050406030204" pitchFamily="18" charset="0"/>
                          </a:rPr>
                          <m:t>1</m:t>
                        </m:r>
                      </m:sub>
                    </m:sSub>
                  </m:oMath>
                </a14:m>
                <a:r>
                  <a:rPr lang="en-US" dirty="0">
                    <a:solidFill>
                      <a:schemeClr val="bg2">
                        <a:lumMod val="10000"/>
                      </a:schemeClr>
                    </a:solidFill>
                    <a:latin typeface="+mj-lt"/>
                  </a:rPr>
                  <a:t> equating them both to zero and solving the equations</a:t>
                </a:r>
                <a:endParaRPr lang="en-US" sz="4400" dirty="0">
                  <a:solidFill>
                    <a:schemeClr val="bg2">
                      <a:lumMod val="10000"/>
                    </a:schemeClr>
                  </a:solidFill>
                  <a:latin typeface="+mj-lt"/>
                </a:endParaRPr>
              </a:p>
              <a:p>
                <a:pPr algn="just"/>
                <a:r>
                  <a:rPr lang="en-US" dirty="0">
                    <a:solidFill>
                      <a:schemeClr val="bg2">
                        <a:lumMod val="10000"/>
                      </a:schemeClr>
                    </a:solidFill>
                    <a:latin typeface="+mj-lt"/>
                  </a:rPr>
                  <a:t>The least square estimate of the slope coefficient </a:t>
                </a:r>
                <a14:m>
                  <m:oMath xmlns:m="http://schemas.openxmlformats.org/officeDocument/2006/math">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𝛽</m:t>
                        </m:r>
                      </m:e>
                      <m:sub>
                        <m:r>
                          <a:rPr lang="en-US" b="0" i="1" smtClean="0">
                            <a:solidFill>
                              <a:schemeClr val="bg2">
                                <a:lumMod val="10000"/>
                              </a:schemeClr>
                            </a:solidFill>
                            <a:latin typeface="Cambria Math" panose="02040503050406030204" pitchFamily="18" charset="0"/>
                          </a:rPr>
                          <m:t>1</m:t>
                        </m:r>
                      </m:sub>
                    </m:sSub>
                  </m:oMath>
                </a14:m>
                <a:r>
                  <a:rPr lang="en-US" dirty="0">
                    <a:solidFill>
                      <a:schemeClr val="bg2">
                        <a:lumMod val="10000"/>
                      </a:schemeClr>
                    </a:solidFill>
                    <a:latin typeface="+mj-lt"/>
                  </a:rPr>
                  <a:t> of the true regression line is:</a:t>
                </a:r>
              </a:p>
              <a:p>
                <a:pPr marL="457200" lvl="1" indent="0" algn="just">
                  <a:buNone/>
                </a:pPr>
                <a14:m>
                  <m:oMathPara xmlns:m="http://schemas.openxmlformats.org/officeDocument/2006/math">
                    <m:oMathParaPr>
                      <m:jc m:val="centerGroup"/>
                    </m:oMathParaPr>
                    <m:oMath xmlns:m="http://schemas.openxmlformats.org/officeDocument/2006/math">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𝛽</m:t>
                          </m:r>
                        </m:e>
                        <m:sub>
                          <m:r>
                            <a:rPr lang="en-US" sz="4300" b="0" i="1" smtClean="0">
                              <a:solidFill>
                                <a:schemeClr val="bg2">
                                  <a:lumMod val="10000"/>
                                </a:schemeClr>
                              </a:solidFill>
                              <a:latin typeface="Cambria Math" panose="02040503050406030204" pitchFamily="18" charset="0"/>
                            </a:rPr>
                            <m:t>1</m:t>
                          </m:r>
                        </m:sub>
                      </m:sSub>
                      <m:r>
                        <a:rPr lang="en-US" sz="4300" b="0" i="1" smtClean="0">
                          <a:solidFill>
                            <a:schemeClr val="bg2">
                              <a:lumMod val="10000"/>
                            </a:schemeClr>
                          </a:solidFill>
                          <a:latin typeface="Cambria Math" panose="02040503050406030204" pitchFamily="18" charset="0"/>
                        </a:rPr>
                        <m:t>= </m:t>
                      </m:r>
                      <m:f>
                        <m:fPr>
                          <m:ctrlPr>
                            <a:rPr lang="en-US" sz="4300" b="0" i="1" smtClean="0">
                              <a:solidFill>
                                <a:schemeClr val="bg2">
                                  <a:lumMod val="10000"/>
                                </a:schemeClr>
                              </a:solidFill>
                              <a:latin typeface="Cambria Math" panose="02040503050406030204" pitchFamily="18" charset="0"/>
                            </a:rPr>
                          </m:ctrlPr>
                        </m:fPr>
                        <m:num>
                          <m:nary>
                            <m:naryPr>
                              <m:chr m:val="∑"/>
                              <m:subHide m:val="on"/>
                              <m:supHide m:val="on"/>
                              <m:ctrlPr>
                                <a:rPr lang="en-US" sz="4300" b="0" i="1" smtClean="0">
                                  <a:solidFill>
                                    <a:schemeClr val="bg2">
                                      <a:lumMod val="10000"/>
                                    </a:schemeClr>
                                  </a:solidFill>
                                  <a:latin typeface="Cambria Math" panose="02040503050406030204" pitchFamily="18" charset="0"/>
                                </a:rPr>
                              </m:ctrlPr>
                            </m:naryPr>
                            <m:sub/>
                            <m:sup/>
                            <m:e>
                              <m:r>
                                <a:rPr lang="en-US" sz="4300" b="0" i="1" smtClean="0">
                                  <a:solidFill>
                                    <a:schemeClr val="bg2">
                                      <a:lumMod val="10000"/>
                                    </a:schemeClr>
                                  </a:solidFill>
                                  <a:latin typeface="Cambria Math" panose="02040503050406030204" pitchFamily="18" charset="0"/>
                                </a:rPr>
                                <m:t>(</m:t>
                              </m:r>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𝑥</m:t>
                                  </m:r>
                                </m:e>
                                <m:sub>
                                  <m:r>
                                    <a:rPr lang="en-US" sz="4300" b="0" i="1" smtClean="0">
                                      <a:solidFill>
                                        <a:schemeClr val="bg2">
                                          <a:lumMod val="10000"/>
                                        </a:schemeClr>
                                      </a:solidFill>
                                      <a:latin typeface="Cambria Math" panose="02040503050406030204" pitchFamily="18" charset="0"/>
                                    </a:rPr>
                                    <m:t>𝑖</m:t>
                                  </m:r>
                                </m:sub>
                              </m:sSub>
                              <m:r>
                                <a:rPr lang="en-US" sz="4300" b="0" i="1" smtClean="0">
                                  <a:solidFill>
                                    <a:schemeClr val="bg2">
                                      <a:lumMod val="10000"/>
                                    </a:schemeClr>
                                  </a:solidFill>
                                  <a:latin typeface="Cambria Math" panose="02040503050406030204" pitchFamily="18" charset="0"/>
                                </a:rPr>
                                <m:t>−</m:t>
                              </m:r>
                              <m:acc>
                                <m:accPr>
                                  <m:chr m:val="̅"/>
                                  <m:ctrlPr>
                                    <a:rPr lang="en-US" sz="4300" b="0" i="1" smtClean="0">
                                      <a:solidFill>
                                        <a:schemeClr val="bg2">
                                          <a:lumMod val="10000"/>
                                        </a:schemeClr>
                                      </a:solidFill>
                                      <a:latin typeface="Cambria Math" panose="02040503050406030204" pitchFamily="18" charset="0"/>
                                    </a:rPr>
                                  </m:ctrlPr>
                                </m:accPr>
                                <m:e>
                                  <m:r>
                                    <a:rPr lang="en-US" sz="4300" b="0" i="1" smtClean="0">
                                      <a:solidFill>
                                        <a:schemeClr val="bg2">
                                          <a:lumMod val="10000"/>
                                        </a:schemeClr>
                                      </a:solidFill>
                                      <a:latin typeface="Cambria Math" panose="02040503050406030204" pitchFamily="18" charset="0"/>
                                    </a:rPr>
                                    <m:t>𝑥</m:t>
                                  </m:r>
                                </m:e>
                              </m:acc>
                              <m:r>
                                <a:rPr lang="en-US" sz="4300" i="1">
                                  <a:solidFill>
                                    <a:schemeClr val="bg2">
                                      <a:lumMod val="10000"/>
                                    </a:schemeClr>
                                  </a:solidFill>
                                  <a:latin typeface="Cambria Math" panose="02040503050406030204" pitchFamily="18" charset="0"/>
                                </a:rPr>
                                <m:t>)(</m:t>
                              </m:r>
                              <m:sSub>
                                <m:sSubPr>
                                  <m:ctrlPr>
                                    <a:rPr lang="en-US" sz="4300" i="1">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𝑦</m:t>
                                  </m:r>
                                </m:e>
                                <m:sub>
                                  <m:r>
                                    <a:rPr lang="en-US" sz="4300" i="1">
                                      <a:solidFill>
                                        <a:schemeClr val="bg2">
                                          <a:lumMod val="10000"/>
                                        </a:schemeClr>
                                      </a:solidFill>
                                      <a:latin typeface="Cambria Math" panose="02040503050406030204" pitchFamily="18" charset="0"/>
                                    </a:rPr>
                                    <m:t>𝑖</m:t>
                                  </m:r>
                                </m:sub>
                              </m:sSub>
                              <m:r>
                                <a:rPr lang="en-US" sz="4300" i="1">
                                  <a:solidFill>
                                    <a:schemeClr val="bg2">
                                      <a:lumMod val="10000"/>
                                    </a:schemeClr>
                                  </a:solidFill>
                                  <a:latin typeface="Cambria Math" panose="02040503050406030204" pitchFamily="18" charset="0"/>
                                </a:rPr>
                                <m:t>−</m:t>
                              </m:r>
                              <m:acc>
                                <m:accPr>
                                  <m:chr m:val="̅"/>
                                  <m:ctrlPr>
                                    <a:rPr lang="en-US" sz="4300" i="1">
                                      <a:solidFill>
                                        <a:schemeClr val="bg2">
                                          <a:lumMod val="10000"/>
                                        </a:schemeClr>
                                      </a:solidFill>
                                      <a:latin typeface="Cambria Math" panose="02040503050406030204" pitchFamily="18" charset="0"/>
                                    </a:rPr>
                                  </m:ctrlPr>
                                </m:accPr>
                                <m:e>
                                  <m:r>
                                    <a:rPr lang="en-US" sz="4300" b="0" i="1" smtClean="0">
                                      <a:solidFill>
                                        <a:schemeClr val="bg2">
                                          <a:lumMod val="10000"/>
                                        </a:schemeClr>
                                      </a:solidFill>
                                      <a:latin typeface="Cambria Math" panose="02040503050406030204" pitchFamily="18" charset="0"/>
                                    </a:rPr>
                                    <m:t>𝑦</m:t>
                                  </m:r>
                                </m:e>
                              </m:acc>
                              <m:r>
                                <a:rPr lang="en-US" sz="4300" i="1">
                                  <a:solidFill>
                                    <a:schemeClr val="bg2">
                                      <a:lumMod val="10000"/>
                                    </a:schemeClr>
                                  </a:solidFill>
                                  <a:latin typeface="Cambria Math" panose="02040503050406030204" pitchFamily="18" charset="0"/>
                                </a:rPr>
                                <m:t>)</m:t>
                              </m:r>
                            </m:e>
                          </m:nary>
                        </m:num>
                        <m:den>
                          <m:nary>
                            <m:naryPr>
                              <m:chr m:val="∑"/>
                              <m:subHide m:val="on"/>
                              <m:supHide m:val="on"/>
                              <m:ctrlPr>
                                <a:rPr lang="en-US" sz="4300" i="1" smtClean="0">
                                  <a:solidFill>
                                    <a:schemeClr val="bg2">
                                      <a:lumMod val="10000"/>
                                    </a:schemeClr>
                                  </a:solidFill>
                                  <a:latin typeface="Cambria Math" panose="02040503050406030204" pitchFamily="18" charset="0"/>
                                </a:rPr>
                              </m:ctrlPr>
                            </m:naryPr>
                            <m:sub/>
                            <m:sup/>
                            <m:e>
                              <m:sSup>
                                <m:sSupPr>
                                  <m:ctrlPr>
                                    <a:rPr lang="en-US" sz="4300" b="0" i="1" smtClean="0">
                                      <a:solidFill>
                                        <a:schemeClr val="bg2">
                                          <a:lumMod val="10000"/>
                                        </a:schemeClr>
                                      </a:solidFill>
                                      <a:latin typeface="Cambria Math" panose="02040503050406030204" pitchFamily="18" charset="0"/>
                                    </a:rPr>
                                  </m:ctrlPr>
                                </m:sSupPr>
                                <m:e>
                                  <m:d>
                                    <m:dPr>
                                      <m:ctrlPr>
                                        <a:rPr lang="en-US" sz="4300" i="1">
                                          <a:solidFill>
                                            <a:schemeClr val="bg2">
                                              <a:lumMod val="10000"/>
                                            </a:schemeClr>
                                          </a:solidFill>
                                          <a:latin typeface="Cambria Math" panose="02040503050406030204" pitchFamily="18" charset="0"/>
                                        </a:rPr>
                                      </m:ctrlPr>
                                    </m:dPr>
                                    <m:e>
                                      <m:sSub>
                                        <m:sSubPr>
                                          <m:ctrlPr>
                                            <a:rPr lang="en-US" sz="4300" i="1">
                                              <a:solidFill>
                                                <a:schemeClr val="bg2">
                                                  <a:lumMod val="10000"/>
                                                </a:schemeClr>
                                              </a:solidFill>
                                              <a:latin typeface="Cambria Math" panose="02040503050406030204" pitchFamily="18" charset="0"/>
                                            </a:rPr>
                                          </m:ctrlPr>
                                        </m:sSubPr>
                                        <m:e>
                                          <m:r>
                                            <a:rPr lang="en-US" sz="4300" i="1">
                                              <a:solidFill>
                                                <a:schemeClr val="bg2">
                                                  <a:lumMod val="10000"/>
                                                </a:schemeClr>
                                              </a:solidFill>
                                              <a:latin typeface="Cambria Math" panose="02040503050406030204" pitchFamily="18" charset="0"/>
                                            </a:rPr>
                                            <m:t>𝑥</m:t>
                                          </m:r>
                                        </m:e>
                                        <m:sub>
                                          <m:r>
                                            <a:rPr lang="en-US" sz="4300" i="1">
                                              <a:solidFill>
                                                <a:schemeClr val="bg2">
                                                  <a:lumMod val="10000"/>
                                                </a:schemeClr>
                                              </a:solidFill>
                                              <a:latin typeface="Cambria Math" panose="02040503050406030204" pitchFamily="18" charset="0"/>
                                            </a:rPr>
                                            <m:t>𝑖</m:t>
                                          </m:r>
                                        </m:sub>
                                      </m:sSub>
                                      <m:r>
                                        <a:rPr lang="en-US" sz="4300" i="1">
                                          <a:solidFill>
                                            <a:schemeClr val="bg2">
                                              <a:lumMod val="10000"/>
                                            </a:schemeClr>
                                          </a:solidFill>
                                          <a:latin typeface="Cambria Math" panose="02040503050406030204" pitchFamily="18" charset="0"/>
                                        </a:rPr>
                                        <m:t>−</m:t>
                                      </m:r>
                                      <m:acc>
                                        <m:accPr>
                                          <m:chr m:val="̅"/>
                                          <m:ctrlPr>
                                            <a:rPr lang="en-US" sz="4300" i="1">
                                              <a:solidFill>
                                                <a:schemeClr val="bg2">
                                                  <a:lumMod val="10000"/>
                                                </a:schemeClr>
                                              </a:solidFill>
                                              <a:latin typeface="Cambria Math" panose="02040503050406030204" pitchFamily="18" charset="0"/>
                                            </a:rPr>
                                          </m:ctrlPr>
                                        </m:accPr>
                                        <m:e>
                                          <m:r>
                                            <a:rPr lang="en-US" sz="4300" i="1">
                                              <a:solidFill>
                                                <a:schemeClr val="bg2">
                                                  <a:lumMod val="10000"/>
                                                </a:schemeClr>
                                              </a:solidFill>
                                              <a:latin typeface="Cambria Math" panose="02040503050406030204" pitchFamily="18" charset="0"/>
                                            </a:rPr>
                                            <m:t>𝑥</m:t>
                                          </m:r>
                                        </m:e>
                                      </m:acc>
                                    </m:e>
                                  </m:d>
                                </m:e>
                                <m:sup>
                                  <m:r>
                                    <a:rPr lang="en-US" sz="4300" b="0" i="1" smtClean="0">
                                      <a:solidFill>
                                        <a:schemeClr val="bg2">
                                          <a:lumMod val="10000"/>
                                        </a:schemeClr>
                                      </a:solidFill>
                                      <a:latin typeface="Cambria Math" panose="02040503050406030204" pitchFamily="18" charset="0"/>
                                    </a:rPr>
                                    <m:t>2</m:t>
                                  </m:r>
                                </m:sup>
                              </m:sSup>
                            </m:e>
                          </m:nary>
                        </m:den>
                      </m:f>
                    </m:oMath>
                  </m:oMathPara>
                </a14:m>
                <a:endParaRPr lang="en-US" sz="6000" dirty="0">
                  <a:solidFill>
                    <a:schemeClr val="bg2">
                      <a:lumMod val="10000"/>
                    </a:schemeClr>
                  </a:solidFill>
                  <a:latin typeface="+mj-lt"/>
                </a:endParaRPr>
              </a:p>
              <a:p>
                <a:pPr algn="just"/>
                <a:r>
                  <a:rPr lang="en-US" dirty="0">
                    <a:solidFill>
                      <a:schemeClr val="bg2">
                        <a:lumMod val="10000"/>
                      </a:schemeClr>
                    </a:solidFill>
                    <a:latin typeface="+mj-lt"/>
                  </a:rPr>
                  <a:t>The least square estimate of the slope coefficient </a:t>
                </a:r>
                <a14:m>
                  <m:oMath xmlns:m="http://schemas.openxmlformats.org/officeDocument/2006/math">
                    <m:sSub>
                      <m:sSubPr>
                        <m:ctrlPr>
                          <a:rPr lang="en-US" i="1" dirty="0" smtClean="0">
                            <a:solidFill>
                              <a:schemeClr val="bg2">
                                <a:lumMod val="10000"/>
                              </a:schemeClr>
                            </a:solidFill>
                            <a:latin typeface="Cambria Math" panose="02040503050406030204" pitchFamily="18" charset="0"/>
                          </a:rPr>
                        </m:ctrlPr>
                      </m:sSubPr>
                      <m:e>
                        <m:r>
                          <a:rPr lang="en-US" i="1" dirty="0" smtClean="0">
                            <a:solidFill>
                              <a:schemeClr val="bg2">
                                <a:lumMod val="10000"/>
                              </a:schemeClr>
                            </a:solidFill>
                            <a:latin typeface="Cambria Math" panose="02040503050406030204" pitchFamily="18" charset="0"/>
                          </a:rPr>
                          <m:t>𝛽</m:t>
                        </m:r>
                      </m:e>
                      <m:sub>
                        <m:r>
                          <a:rPr lang="en-US" i="1" dirty="0" smtClean="0">
                            <a:solidFill>
                              <a:schemeClr val="bg2">
                                <a:lumMod val="10000"/>
                              </a:schemeClr>
                            </a:solidFill>
                            <a:latin typeface="Cambria Math" panose="02040503050406030204" pitchFamily="18" charset="0"/>
                          </a:rPr>
                          <m:t>1</m:t>
                        </m:r>
                      </m:sub>
                    </m:sSub>
                  </m:oMath>
                </a14:m>
                <a:r>
                  <a:rPr lang="en-US" dirty="0">
                    <a:solidFill>
                      <a:schemeClr val="bg2">
                        <a:lumMod val="10000"/>
                      </a:schemeClr>
                    </a:solidFill>
                    <a:latin typeface="+mj-lt"/>
                  </a:rPr>
                  <a:t> of the true regression line is:</a:t>
                </a:r>
              </a:p>
              <a:p>
                <a:pPr marL="457200" lvl="1" indent="0" algn="just">
                  <a:buNone/>
                </a:pPr>
                <a14:m>
                  <m:oMathPara xmlns:m="http://schemas.openxmlformats.org/officeDocument/2006/math">
                    <m:oMathParaPr>
                      <m:jc m:val="centerGroup"/>
                    </m:oMathParaPr>
                    <m:oMath xmlns:m="http://schemas.openxmlformats.org/officeDocument/2006/math">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𝛽</m:t>
                          </m:r>
                        </m:e>
                        <m:sub>
                          <m:r>
                            <a:rPr lang="en-US" sz="4300" b="0" i="1" smtClean="0">
                              <a:solidFill>
                                <a:schemeClr val="bg2">
                                  <a:lumMod val="10000"/>
                                </a:schemeClr>
                              </a:solidFill>
                              <a:latin typeface="Cambria Math" panose="02040503050406030204" pitchFamily="18" charset="0"/>
                            </a:rPr>
                            <m:t>0</m:t>
                          </m:r>
                        </m:sub>
                      </m:sSub>
                      <m:r>
                        <a:rPr lang="en-US" sz="4300" b="0" i="1" smtClean="0">
                          <a:solidFill>
                            <a:schemeClr val="bg2">
                              <a:lumMod val="10000"/>
                            </a:schemeClr>
                          </a:solidFill>
                          <a:latin typeface="Cambria Math" panose="02040503050406030204" pitchFamily="18" charset="0"/>
                        </a:rPr>
                        <m:t>= </m:t>
                      </m:r>
                      <m:f>
                        <m:fPr>
                          <m:ctrlPr>
                            <a:rPr lang="en-US" sz="4300" b="0" i="1" smtClean="0">
                              <a:solidFill>
                                <a:schemeClr val="bg2">
                                  <a:lumMod val="10000"/>
                                </a:schemeClr>
                              </a:solidFill>
                              <a:latin typeface="Cambria Math" panose="02040503050406030204" pitchFamily="18" charset="0"/>
                            </a:rPr>
                          </m:ctrlPr>
                        </m:fPr>
                        <m:num>
                          <m:nary>
                            <m:naryPr>
                              <m:chr m:val="∑"/>
                              <m:subHide m:val="on"/>
                              <m:supHide m:val="on"/>
                              <m:ctrlPr>
                                <a:rPr lang="en-US" sz="4300" b="0" i="1" smtClean="0">
                                  <a:solidFill>
                                    <a:schemeClr val="bg2">
                                      <a:lumMod val="10000"/>
                                    </a:schemeClr>
                                  </a:solidFill>
                                  <a:latin typeface="Cambria Math" panose="02040503050406030204" pitchFamily="18" charset="0"/>
                                </a:rPr>
                              </m:ctrlPr>
                            </m:naryPr>
                            <m:sub/>
                            <m:sup/>
                            <m:e>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𝑦</m:t>
                                  </m:r>
                                </m:e>
                                <m:sub>
                                  <m:r>
                                    <a:rPr lang="en-US" sz="4300" b="0" i="1" smtClean="0">
                                      <a:solidFill>
                                        <a:schemeClr val="bg2">
                                          <a:lumMod val="10000"/>
                                        </a:schemeClr>
                                      </a:solidFill>
                                      <a:latin typeface="Cambria Math" panose="02040503050406030204" pitchFamily="18" charset="0"/>
                                    </a:rPr>
                                    <m:t>𝑖</m:t>
                                  </m:r>
                                </m:sub>
                              </m:sSub>
                            </m:e>
                          </m:nary>
                          <m:r>
                            <a:rPr lang="en-US" sz="4300" b="0" i="1" smtClean="0">
                              <a:solidFill>
                                <a:schemeClr val="bg2">
                                  <a:lumMod val="10000"/>
                                </a:schemeClr>
                              </a:solidFill>
                              <a:latin typeface="Cambria Math" panose="02040503050406030204" pitchFamily="18" charset="0"/>
                            </a:rPr>
                            <m:t>−</m:t>
                          </m:r>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𝛽</m:t>
                              </m:r>
                            </m:e>
                            <m:sub>
                              <m:r>
                                <a:rPr lang="en-US" sz="4300" b="0" i="1" smtClean="0">
                                  <a:solidFill>
                                    <a:schemeClr val="bg2">
                                      <a:lumMod val="10000"/>
                                    </a:schemeClr>
                                  </a:solidFill>
                                  <a:latin typeface="Cambria Math" panose="02040503050406030204" pitchFamily="18" charset="0"/>
                                </a:rPr>
                                <m:t>1</m:t>
                              </m:r>
                            </m:sub>
                          </m:sSub>
                          <m:nary>
                            <m:naryPr>
                              <m:chr m:val="∑"/>
                              <m:subHide m:val="on"/>
                              <m:supHide m:val="on"/>
                              <m:ctrlPr>
                                <a:rPr lang="en-US" sz="4300" i="1">
                                  <a:solidFill>
                                    <a:schemeClr val="bg2">
                                      <a:lumMod val="10000"/>
                                    </a:schemeClr>
                                  </a:solidFill>
                                  <a:latin typeface="Cambria Math" panose="02040503050406030204" pitchFamily="18" charset="0"/>
                                </a:rPr>
                              </m:ctrlPr>
                            </m:naryPr>
                            <m:sub/>
                            <m:sup/>
                            <m:e>
                              <m:sSub>
                                <m:sSubPr>
                                  <m:ctrlPr>
                                    <a:rPr lang="en-US" sz="4300" i="1">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𝑥</m:t>
                                  </m:r>
                                </m:e>
                                <m:sub>
                                  <m:r>
                                    <a:rPr lang="en-US" sz="4300" i="1">
                                      <a:solidFill>
                                        <a:schemeClr val="bg2">
                                          <a:lumMod val="10000"/>
                                        </a:schemeClr>
                                      </a:solidFill>
                                      <a:latin typeface="Cambria Math" panose="02040503050406030204" pitchFamily="18" charset="0"/>
                                    </a:rPr>
                                    <m:t>𝑖</m:t>
                                  </m:r>
                                </m:sub>
                              </m:sSub>
                            </m:e>
                          </m:nary>
                        </m:num>
                        <m:den>
                          <m:r>
                            <a:rPr lang="en-US" sz="4300" b="0" i="1" smtClean="0">
                              <a:solidFill>
                                <a:schemeClr val="bg2">
                                  <a:lumMod val="10000"/>
                                </a:schemeClr>
                              </a:solidFill>
                              <a:latin typeface="Cambria Math" panose="02040503050406030204" pitchFamily="18" charset="0"/>
                            </a:rPr>
                            <m:t>𝑛</m:t>
                          </m:r>
                        </m:den>
                      </m:f>
                      <m:r>
                        <a:rPr lang="en-US" sz="4300" b="0" i="1" smtClean="0">
                          <a:solidFill>
                            <a:schemeClr val="bg2">
                              <a:lumMod val="10000"/>
                            </a:schemeClr>
                          </a:solidFill>
                          <a:latin typeface="Cambria Math" panose="02040503050406030204" pitchFamily="18" charset="0"/>
                        </a:rPr>
                        <m:t>=</m:t>
                      </m:r>
                      <m:acc>
                        <m:accPr>
                          <m:chr m:val="̅"/>
                          <m:ctrlPr>
                            <a:rPr lang="en-US" sz="4300" b="0" i="1" smtClean="0">
                              <a:solidFill>
                                <a:schemeClr val="bg2">
                                  <a:lumMod val="10000"/>
                                </a:schemeClr>
                              </a:solidFill>
                              <a:latin typeface="Cambria Math" panose="02040503050406030204" pitchFamily="18" charset="0"/>
                            </a:rPr>
                          </m:ctrlPr>
                        </m:accPr>
                        <m:e>
                          <m:r>
                            <a:rPr lang="en-US" sz="4300" b="0" i="1" smtClean="0">
                              <a:solidFill>
                                <a:schemeClr val="bg2">
                                  <a:lumMod val="10000"/>
                                </a:schemeClr>
                              </a:solidFill>
                              <a:latin typeface="Cambria Math" panose="02040503050406030204" pitchFamily="18" charset="0"/>
                            </a:rPr>
                            <m:t>𝑦</m:t>
                          </m:r>
                        </m:e>
                      </m:acc>
                      <m:r>
                        <a:rPr lang="en-US" sz="4300" b="0" i="1" smtClean="0">
                          <a:solidFill>
                            <a:schemeClr val="bg2">
                              <a:lumMod val="10000"/>
                            </a:schemeClr>
                          </a:solidFill>
                          <a:latin typeface="Cambria Math" panose="02040503050406030204" pitchFamily="18" charset="0"/>
                        </a:rPr>
                        <m:t>−</m:t>
                      </m:r>
                      <m:sSub>
                        <m:sSubPr>
                          <m:ctrlPr>
                            <a:rPr lang="en-US" sz="4300" b="0" i="1" smtClean="0">
                              <a:solidFill>
                                <a:schemeClr val="bg2">
                                  <a:lumMod val="10000"/>
                                </a:schemeClr>
                              </a:solidFill>
                              <a:latin typeface="Cambria Math" panose="02040503050406030204" pitchFamily="18" charset="0"/>
                            </a:rPr>
                          </m:ctrlPr>
                        </m:sSubPr>
                        <m:e>
                          <m:r>
                            <a:rPr lang="en-US" sz="4300" b="0" i="1" smtClean="0">
                              <a:solidFill>
                                <a:schemeClr val="bg2">
                                  <a:lumMod val="10000"/>
                                </a:schemeClr>
                              </a:solidFill>
                              <a:latin typeface="Cambria Math" panose="02040503050406030204" pitchFamily="18" charset="0"/>
                            </a:rPr>
                            <m:t>𝛽</m:t>
                          </m:r>
                        </m:e>
                        <m:sub>
                          <m:r>
                            <a:rPr lang="en-US" sz="4300" b="0" i="1" smtClean="0">
                              <a:solidFill>
                                <a:schemeClr val="bg2">
                                  <a:lumMod val="10000"/>
                                </a:schemeClr>
                              </a:solidFill>
                              <a:latin typeface="Cambria Math" panose="02040503050406030204" pitchFamily="18" charset="0"/>
                            </a:rPr>
                            <m:t>1</m:t>
                          </m:r>
                        </m:sub>
                      </m:sSub>
                      <m:r>
                        <a:rPr lang="en-US" sz="4300" b="0" i="1" smtClean="0">
                          <a:solidFill>
                            <a:schemeClr val="bg2">
                              <a:lumMod val="10000"/>
                            </a:schemeClr>
                          </a:solidFill>
                          <a:latin typeface="Cambria Math" panose="02040503050406030204" pitchFamily="18" charset="0"/>
                        </a:rPr>
                        <m:t> </m:t>
                      </m:r>
                      <m:acc>
                        <m:accPr>
                          <m:chr m:val="̅"/>
                          <m:ctrlPr>
                            <a:rPr lang="en-US" sz="4300" b="0" i="1" smtClean="0">
                              <a:solidFill>
                                <a:schemeClr val="bg2">
                                  <a:lumMod val="10000"/>
                                </a:schemeClr>
                              </a:solidFill>
                              <a:latin typeface="Cambria Math" panose="02040503050406030204" pitchFamily="18" charset="0"/>
                            </a:rPr>
                          </m:ctrlPr>
                        </m:accPr>
                        <m:e>
                          <m:r>
                            <a:rPr lang="en-US" sz="4300" b="0" i="1" smtClean="0">
                              <a:solidFill>
                                <a:schemeClr val="bg2">
                                  <a:lumMod val="10000"/>
                                </a:schemeClr>
                              </a:solidFill>
                              <a:latin typeface="Cambria Math" panose="02040503050406030204" pitchFamily="18" charset="0"/>
                            </a:rPr>
                            <m:t>𝑥</m:t>
                          </m:r>
                        </m:e>
                      </m:acc>
                    </m:oMath>
                  </m:oMathPara>
                </a14:m>
                <a:endParaRPr lang="en-US" sz="4300" dirty="0">
                  <a:solidFill>
                    <a:schemeClr val="bg2">
                      <a:lumMod val="10000"/>
                    </a:schemeClr>
                  </a:solidFill>
                  <a:latin typeface="+mj-lt"/>
                </a:endParaRPr>
              </a:p>
              <a:p>
                <a:pPr marL="1028700" lvl="1" indent="-571500" algn="just"/>
                <a:endParaRPr lang="en-US" dirty="0">
                  <a:solidFill>
                    <a:schemeClr val="bg2">
                      <a:lumMod val="10000"/>
                    </a:schemeClr>
                  </a:solidFill>
                </a:endParaRPr>
              </a:p>
            </p:txBody>
          </p:sp>
        </mc:Choice>
        <mc:Fallback xmlns="">
          <p:sp>
            <p:nvSpPr>
              <p:cNvPr id="4" name="Content Placeholder 3">
                <a:extLst>
                  <a:ext uri="{FF2B5EF4-FFF2-40B4-BE49-F238E27FC236}">
                    <a16:creationId xmlns:a16="http://schemas.microsoft.com/office/drawing/2014/main" id="{0162035E-5989-38F4-0CCA-601BD6BCB348}"/>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r="-1456" b="-8715"/>
                </a:stretch>
              </a:blipFill>
            </p:spPr>
            <p:txBody>
              <a:bodyPr/>
              <a:lstStyle/>
              <a:p>
                <a:r>
                  <a:rPr lang="en-US">
                    <a:noFill/>
                  </a:rPr>
                  <a:t> </a:t>
                </a:r>
              </a:p>
            </p:txBody>
          </p:sp>
        </mc:Fallback>
      </mc:AlternateContent>
    </p:spTree>
    <p:extLst>
      <p:ext uri="{BB962C8B-B14F-4D97-AF65-F5344CB8AC3E}">
        <p14:creationId xmlns:p14="http://schemas.microsoft.com/office/powerpoint/2010/main" val="105589464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0162035E-5989-38F4-0CCA-601BD6BCB348}"/>
              </a:ext>
            </a:extLst>
          </p:cNvPr>
          <p:cNvSpPr>
            <a:spLocks noGrp="1"/>
          </p:cNvSpPr>
          <p:nvPr>
            <p:ph sz="quarter" idx="11"/>
          </p:nvPr>
        </p:nvSpPr>
        <p:spPr/>
        <p:txBody>
          <a:bodyPr>
            <a:normAutofit/>
          </a:bodyPr>
          <a:lstStyle/>
          <a:p>
            <a:pPr algn="just"/>
            <a:r>
              <a:rPr lang="en-US" sz="4400" dirty="0">
                <a:solidFill>
                  <a:schemeClr val="bg2">
                    <a:lumMod val="10000"/>
                  </a:schemeClr>
                </a:solidFill>
                <a:latin typeface="+mj-lt"/>
              </a:rPr>
              <a:t>The Tasty Sub Shop is a restaurant chain that sells franchises to business entrepreneurs. Franchise regulations allow Tasty Sub (and other chains) to help entrepreneurs understand the factors that affect restaurant profitability and to provide basic guidance in evaluating potential restaurant sites. However, in order to prevent restaurant chains from overpredicting profits and thus misleading potential franchise owners, these regulations make each individual entrepreneur responsible for predicting the profits of his or her potential restaurant sites. </a:t>
            </a:r>
          </a:p>
          <a:p>
            <a:pPr algn="just"/>
            <a:r>
              <a:rPr lang="en-US" sz="4400" dirty="0">
                <a:solidFill>
                  <a:schemeClr val="bg2">
                    <a:lumMod val="10000"/>
                  </a:schemeClr>
                </a:solidFill>
                <a:latin typeface="+mj-lt"/>
              </a:rPr>
              <a:t>Find the fitted regression​</a:t>
            </a:r>
          </a:p>
          <a:p>
            <a:pPr marL="272700" indent="-571500" algn="just"/>
            <a:endParaRPr lang="en-US" dirty="0">
              <a:solidFill>
                <a:schemeClr val="bg2">
                  <a:lumMod val="10000"/>
                </a:schemeClr>
              </a:solidFill>
            </a:endParaRPr>
          </a:p>
        </p:txBody>
      </p:sp>
    </p:spTree>
    <p:extLst>
      <p:ext uri="{BB962C8B-B14F-4D97-AF65-F5344CB8AC3E}">
        <p14:creationId xmlns:p14="http://schemas.microsoft.com/office/powerpoint/2010/main" val="163267925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p:pic>
        <p:nvPicPr>
          <p:cNvPr id="7" name="Content Placeholder 6">
            <a:extLst>
              <a:ext uri="{FF2B5EF4-FFF2-40B4-BE49-F238E27FC236}">
                <a16:creationId xmlns:a16="http://schemas.microsoft.com/office/drawing/2014/main" id="{76961B27-3C26-AB8C-8174-AC0A55DE5F24}"/>
              </a:ext>
            </a:extLst>
          </p:cNvPr>
          <p:cNvPicPr>
            <a:picLocks noGrp="1" noChangeAspect="1"/>
          </p:cNvPicPr>
          <p:nvPr>
            <p:ph sz="quarter" idx="11"/>
          </p:nvPr>
        </p:nvPicPr>
        <p:blipFill>
          <a:blip r:embed="rId2"/>
          <a:stretch>
            <a:fillRect/>
          </a:stretch>
        </p:blipFill>
        <p:spPr>
          <a:xfrm>
            <a:off x="2167377" y="3100485"/>
            <a:ext cx="20364028" cy="9043890"/>
          </a:xfrm>
          <a:prstGeom prst="rect">
            <a:avLst/>
          </a:prstGeom>
        </p:spPr>
      </p:pic>
    </p:spTree>
    <p:extLst>
      <p:ext uri="{BB962C8B-B14F-4D97-AF65-F5344CB8AC3E}">
        <p14:creationId xmlns:p14="http://schemas.microsoft.com/office/powerpoint/2010/main" val="27531474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097A639B-1646-6B80-A2B6-B42A7F65E532}"/>
              </a:ext>
            </a:extLst>
          </p:cNvPr>
          <p:cNvPicPr>
            <a:picLocks noGrp="1" noChangeAspect="1"/>
          </p:cNvPicPr>
          <p:nvPr>
            <p:ph sz="quarter" idx="11"/>
          </p:nvPr>
        </p:nvPicPr>
        <p:blipFill>
          <a:blip r:embed="rId2"/>
          <a:stretch>
            <a:fillRect/>
          </a:stretch>
        </p:blipFill>
        <p:spPr>
          <a:xfrm>
            <a:off x="2167377" y="3223274"/>
            <a:ext cx="20049246" cy="9590168"/>
          </a:xfrm>
          <a:prstGeom prst="rect">
            <a:avLst/>
          </a:prstGeom>
        </p:spPr>
      </p:pic>
    </p:spTree>
    <p:extLst>
      <p:ext uri="{BB962C8B-B14F-4D97-AF65-F5344CB8AC3E}">
        <p14:creationId xmlns:p14="http://schemas.microsoft.com/office/powerpoint/2010/main" val="109224513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Simple linear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FB6B267-C656-7DCE-763E-AE61474B7728}"/>
                  </a:ext>
                </a:extLst>
              </p:cNvPr>
              <p:cNvSpPr>
                <a:spLocks noGrp="1"/>
              </p:cNvSpPr>
              <p:nvPr>
                <p:ph sz="quarter" idx="1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𝑏</m:t>
                          </m:r>
                        </m:e>
                        <m:sub>
                          <m:r>
                            <a:rPr lang="en-US" sz="4000" b="0" i="1" smtClean="0">
                              <a:solidFill>
                                <a:schemeClr val="bg2">
                                  <a:lumMod val="10000"/>
                                </a:schemeClr>
                              </a:solidFill>
                              <a:latin typeface="Cambria Math" panose="02040503050406030204" pitchFamily="18" charset="0"/>
                            </a:rPr>
                            <m:t>1</m:t>
                          </m:r>
                        </m:sub>
                      </m:sSub>
                      <m:r>
                        <a:rPr lang="en-US" sz="4000" b="0" i="1" smtClean="0">
                          <a:solidFill>
                            <a:schemeClr val="bg2">
                              <a:lumMod val="10000"/>
                            </a:schemeClr>
                          </a:solidFill>
                          <a:latin typeface="Cambria Math" panose="02040503050406030204" pitchFamily="18" charset="0"/>
                        </a:rPr>
                        <m:t>= </m:t>
                      </m:r>
                      <m:f>
                        <m:fPr>
                          <m:ctrlPr>
                            <a:rPr lang="en-US" sz="4000" i="1" smtClean="0">
                              <a:solidFill>
                                <a:schemeClr val="bg2">
                                  <a:lumMod val="10000"/>
                                </a:schemeClr>
                              </a:solidFill>
                              <a:latin typeface="Cambria Math" panose="02040503050406030204" pitchFamily="18" charset="0"/>
                            </a:rPr>
                          </m:ctrlPr>
                        </m:fPr>
                        <m:num>
                          <m:nary>
                            <m:naryPr>
                              <m:chr m:val="∑"/>
                              <m:ctrlPr>
                                <a:rPr lang="en-US" sz="4000" i="1" smtClean="0">
                                  <a:solidFill>
                                    <a:schemeClr val="bg2">
                                      <a:lumMod val="10000"/>
                                    </a:schemeClr>
                                  </a:solidFill>
                                  <a:latin typeface="Cambria Math" panose="02040503050406030204" pitchFamily="18" charset="0"/>
                                </a:rPr>
                              </m:ctrlPr>
                            </m:naryPr>
                            <m:sub>
                              <m:r>
                                <m:rPr>
                                  <m:brk m:alnAt="23"/>
                                </m:rPr>
                                <a:rPr lang="en-US" sz="4000" b="0" i="1" smtClean="0">
                                  <a:solidFill>
                                    <a:schemeClr val="bg2">
                                      <a:lumMod val="10000"/>
                                    </a:schemeClr>
                                  </a:solidFill>
                                  <a:latin typeface="Cambria Math" panose="02040503050406030204" pitchFamily="18" charset="0"/>
                                </a:rPr>
                                <m:t>𝑖</m:t>
                              </m:r>
                              <m:r>
                                <a:rPr lang="en-US" sz="4000" b="0" i="1" smtClean="0">
                                  <a:solidFill>
                                    <a:schemeClr val="bg2">
                                      <a:lumMod val="10000"/>
                                    </a:schemeClr>
                                  </a:solidFill>
                                  <a:latin typeface="Cambria Math" panose="02040503050406030204" pitchFamily="18" charset="0"/>
                                </a:rPr>
                                <m:t>=1</m:t>
                              </m:r>
                            </m:sub>
                            <m:sup>
                              <m:r>
                                <a:rPr lang="en-US" sz="4000" b="0" i="1" smtClean="0">
                                  <a:solidFill>
                                    <a:schemeClr val="bg2">
                                      <a:lumMod val="10000"/>
                                    </a:schemeClr>
                                  </a:solidFill>
                                  <a:latin typeface="Cambria Math" panose="02040503050406030204" pitchFamily="18" charset="0"/>
                                </a:rPr>
                                <m:t>𝑘</m:t>
                              </m:r>
                            </m:sup>
                            <m:e>
                              <m:r>
                                <a:rPr lang="en-US" sz="4000" b="0" i="1" smtClean="0">
                                  <a:solidFill>
                                    <a:schemeClr val="bg2">
                                      <a:lumMod val="10000"/>
                                    </a:schemeClr>
                                  </a:solidFill>
                                  <a:latin typeface="Cambria Math" panose="02040503050406030204" pitchFamily="18" charset="0"/>
                                </a:rPr>
                                <m:t>(</m:t>
                              </m:r>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𝑥</m:t>
                                  </m:r>
                                </m:e>
                                <m:sub>
                                  <m:r>
                                    <a:rPr lang="en-US" sz="4000" b="0" i="1" smtClean="0">
                                      <a:solidFill>
                                        <a:schemeClr val="bg2">
                                          <a:lumMod val="10000"/>
                                        </a:schemeClr>
                                      </a:solidFill>
                                      <a:latin typeface="Cambria Math" panose="02040503050406030204" pitchFamily="18" charset="0"/>
                                    </a:rPr>
                                    <m:t>𝑖</m:t>
                                  </m:r>
                                </m:sub>
                              </m:sSub>
                              <m:r>
                                <a:rPr lang="en-US" sz="4000" b="0" i="1" smtClean="0">
                                  <a:solidFill>
                                    <a:schemeClr val="bg2">
                                      <a:lumMod val="10000"/>
                                    </a:schemeClr>
                                  </a:solidFill>
                                  <a:latin typeface="Cambria Math" panose="02040503050406030204" pitchFamily="18" charset="0"/>
                                </a:rPr>
                                <m:t>−</m:t>
                              </m:r>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𝑥</m:t>
                                  </m:r>
                                </m:e>
                              </m:acc>
                              <m:r>
                                <a:rPr lang="en-US" sz="4000" b="0" i="1" smtClean="0">
                                  <a:solidFill>
                                    <a:schemeClr val="bg2">
                                      <a:lumMod val="10000"/>
                                    </a:schemeClr>
                                  </a:solidFill>
                                  <a:latin typeface="Cambria Math" panose="02040503050406030204" pitchFamily="18" charset="0"/>
                                </a:rPr>
                                <m:t>)(</m:t>
                              </m:r>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𝑦</m:t>
                                  </m:r>
                                </m:e>
                                <m:sub>
                                  <m:r>
                                    <a:rPr lang="en-US" sz="4000" b="0" i="1" smtClean="0">
                                      <a:solidFill>
                                        <a:schemeClr val="bg2">
                                          <a:lumMod val="10000"/>
                                        </a:schemeClr>
                                      </a:solidFill>
                                      <a:latin typeface="Cambria Math" panose="02040503050406030204" pitchFamily="18" charset="0"/>
                                    </a:rPr>
                                    <m:t>𝑖</m:t>
                                  </m:r>
                                </m:sub>
                              </m:sSub>
                              <m:r>
                                <a:rPr lang="en-US" sz="4000" b="0" i="1" smtClean="0">
                                  <a:solidFill>
                                    <a:schemeClr val="bg2">
                                      <a:lumMod val="10000"/>
                                    </a:schemeClr>
                                  </a:solidFill>
                                  <a:latin typeface="Cambria Math" panose="02040503050406030204" pitchFamily="18" charset="0"/>
                                </a:rPr>
                                <m:t>−</m:t>
                              </m:r>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𝑦</m:t>
                                  </m:r>
                                </m:e>
                              </m:acc>
                              <m:r>
                                <a:rPr lang="en-US" sz="4000" b="0" i="1" smtClean="0">
                                  <a:solidFill>
                                    <a:schemeClr val="bg2">
                                      <a:lumMod val="10000"/>
                                    </a:schemeClr>
                                  </a:solidFill>
                                  <a:latin typeface="Cambria Math" panose="02040503050406030204" pitchFamily="18" charset="0"/>
                                </a:rPr>
                                <m:t>)</m:t>
                              </m:r>
                            </m:e>
                          </m:nary>
                        </m:num>
                        <m:den>
                          <m:nary>
                            <m:naryPr>
                              <m:chr m:val="∑"/>
                              <m:ctrlPr>
                                <a:rPr lang="en-US" sz="4000" i="1">
                                  <a:solidFill>
                                    <a:schemeClr val="bg2">
                                      <a:lumMod val="10000"/>
                                    </a:schemeClr>
                                  </a:solidFill>
                                  <a:latin typeface="Cambria Math" panose="02040503050406030204" pitchFamily="18" charset="0"/>
                                </a:rPr>
                              </m:ctrlPr>
                            </m:naryPr>
                            <m:sub>
                              <m:r>
                                <m:rPr>
                                  <m:brk m:alnAt="23"/>
                                </m:rPr>
                                <a:rPr lang="en-US" sz="4000" b="0" i="1">
                                  <a:solidFill>
                                    <a:schemeClr val="bg2">
                                      <a:lumMod val="10000"/>
                                    </a:schemeClr>
                                  </a:solidFill>
                                  <a:latin typeface="Cambria Math" panose="02040503050406030204" pitchFamily="18" charset="0"/>
                                </a:rPr>
                                <m:t>𝑖</m:t>
                              </m:r>
                              <m:r>
                                <a:rPr lang="en-US" sz="4000" b="0" i="1">
                                  <a:solidFill>
                                    <a:schemeClr val="bg2">
                                      <a:lumMod val="10000"/>
                                    </a:schemeClr>
                                  </a:solidFill>
                                  <a:latin typeface="Cambria Math" panose="02040503050406030204" pitchFamily="18" charset="0"/>
                                </a:rPr>
                                <m:t>=1</m:t>
                              </m:r>
                            </m:sub>
                            <m:sup>
                              <m:r>
                                <a:rPr lang="en-US" sz="4000" b="0" i="1">
                                  <a:solidFill>
                                    <a:schemeClr val="bg2">
                                      <a:lumMod val="10000"/>
                                    </a:schemeClr>
                                  </a:solidFill>
                                  <a:latin typeface="Cambria Math" panose="02040503050406030204" pitchFamily="18" charset="0"/>
                                </a:rPr>
                                <m:t>𝑘</m:t>
                              </m:r>
                            </m:sup>
                            <m:e>
                              <m:sSup>
                                <m:sSupPr>
                                  <m:ctrlPr>
                                    <a:rPr lang="en-US" sz="4000" i="1" smtClean="0">
                                      <a:solidFill>
                                        <a:schemeClr val="bg2">
                                          <a:lumMod val="10000"/>
                                        </a:schemeClr>
                                      </a:solidFill>
                                      <a:latin typeface="Cambria Math" panose="02040503050406030204" pitchFamily="18" charset="0"/>
                                    </a:rPr>
                                  </m:ctrlPr>
                                </m:sSupPr>
                                <m:e>
                                  <m:d>
                                    <m:dPr>
                                      <m:ctrlPr>
                                        <a:rPr lang="en-US" sz="4000" i="1" smtClean="0">
                                          <a:solidFill>
                                            <a:schemeClr val="bg2">
                                              <a:lumMod val="10000"/>
                                            </a:schemeClr>
                                          </a:solidFill>
                                          <a:latin typeface="Cambria Math" panose="02040503050406030204" pitchFamily="18" charset="0"/>
                                        </a:rPr>
                                      </m:ctrlPr>
                                    </m:dPr>
                                    <m:e>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𝑥</m:t>
                                          </m:r>
                                        </m:e>
                                        <m:sub>
                                          <m:r>
                                            <a:rPr lang="en-US" sz="4000" b="0" i="1" smtClean="0">
                                              <a:solidFill>
                                                <a:schemeClr val="bg2">
                                                  <a:lumMod val="10000"/>
                                                </a:schemeClr>
                                              </a:solidFill>
                                              <a:latin typeface="Cambria Math" panose="02040503050406030204" pitchFamily="18" charset="0"/>
                                            </a:rPr>
                                            <m:t>𝑖</m:t>
                                          </m:r>
                                        </m:sub>
                                      </m:sSub>
                                      <m:r>
                                        <a:rPr lang="en-US" sz="4000" b="0" i="1" smtClean="0">
                                          <a:solidFill>
                                            <a:schemeClr val="bg2">
                                              <a:lumMod val="10000"/>
                                            </a:schemeClr>
                                          </a:solidFill>
                                          <a:latin typeface="Cambria Math" panose="02040503050406030204" pitchFamily="18" charset="0"/>
                                        </a:rPr>
                                        <m:t>−</m:t>
                                      </m:r>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𝑥</m:t>
                                          </m:r>
                                        </m:e>
                                      </m:acc>
                                    </m:e>
                                  </m:d>
                                </m:e>
                                <m:sup>
                                  <m:r>
                                    <a:rPr lang="en-US" sz="4000" b="0" i="1" smtClean="0">
                                      <a:solidFill>
                                        <a:schemeClr val="bg2">
                                          <a:lumMod val="10000"/>
                                        </a:schemeClr>
                                      </a:solidFill>
                                      <a:latin typeface="Cambria Math" panose="02040503050406030204" pitchFamily="18" charset="0"/>
                                    </a:rPr>
                                    <m:t>2</m:t>
                                  </m:r>
                                </m:sup>
                              </m:sSup>
                            </m:e>
                          </m:nary>
                        </m:den>
                      </m:f>
                      <m:r>
                        <a:rPr lang="en-US" sz="4000" b="0" i="1" smtClean="0">
                          <a:solidFill>
                            <a:schemeClr val="bg2">
                              <a:lumMod val="10000"/>
                            </a:schemeClr>
                          </a:solidFill>
                          <a:latin typeface="Cambria Math" panose="02040503050406030204" pitchFamily="18" charset="0"/>
                        </a:rPr>
                        <m:t>=</m:t>
                      </m:r>
                      <m:f>
                        <m:fPr>
                          <m:ctrlPr>
                            <a:rPr lang="en-US" sz="4000" i="1" smtClean="0">
                              <a:solidFill>
                                <a:schemeClr val="bg2">
                                  <a:lumMod val="10000"/>
                                </a:schemeClr>
                              </a:solidFill>
                              <a:latin typeface="Cambria Math" panose="02040503050406030204" pitchFamily="18" charset="0"/>
                            </a:rPr>
                          </m:ctrlPr>
                        </m:fPr>
                        <m:num>
                          <m:d>
                            <m:dPr>
                              <m:ctrlPr>
                                <a:rPr lang="en-US" sz="4000" i="1" smtClean="0">
                                  <a:solidFill>
                                    <a:schemeClr val="bg2">
                                      <a:lumMod val="10000"/>
                                    </a:schemeClr>
                                  </a:solidFill>
                                  <a:latin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rPr>
                                <m:t>3660.39</m:t>
                              </m:r>
                            </m:e>
                          </m:d>
                        </m:num>
                        <m:den>
                          <m:r>
                            <a:rPr lang="en-US" sz="4000" b="0" i="1" smtClean="0">
                              <a:solidFill>
                                <a:schemeClr val="bg2">
                                  <a:lumMod val="10000"/>
                                </a:schemeClr>
                              </a:solidFill>
                              <a:latin typeface="Cambria Math" panose="02040503050406030204" pitchFamily="18" charset="0"/>
                            </a:rPr>
                            <m:t>229.23</m:t>
                          </m:r>
                        </m:den>
                      </m:f>
                      <m:r>
                        <a:rPr lang="en-US" sz="4000" b="0" i="1">
                          <a:solidFill>
                            <a:schemeClr val="bg2">
                              <a:lumMod val="10000"/>
                            </a:schemeClr>
                          </a:solidFill>
                          <a:latin typeface="Cambria Math" panose="02040503050406030204" pitchFamily="18" charset="0"/>
                        </a:rPr>
                        <m:t>=15.97</m:t>
                      </m:r>
                    </m:oMath>
                  </m:oMathPara>
                </a14:m>
                <a:endParaRPr lang="en-US" sz="4000" dirty="0">
                  <a:solidFill>
                    <a:schemeClr val="bg2">
                      <a:lumMod val="10000"/>
                    </a:schemeClr>
                  </a:solidFill>
                </a:endParaRPr>
              </a:p>
              <a:p>
                <a:pPr marL="0" indent="0">
                  <a:buNone/>
                </a:pPr>
                <a:endParaRPr lang="en-US" sz="4000" dirty="0">
                  <a:solidFill>
                    <a:schemeClr val="bg2">
                      <a:lumMod val="10000"/>
                    </a:schemeClr>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4000" i="1" smtClean="0">
                              <a:solidFill>
                                <a:schemeClr val="bg2">
                                  <a:lumMod val="10000"/>
                                </a:schemeClr>
                              </a:solidFill>
                              <a:latin typeface="Cambria Math" panose="02040503050406030204" pitchFamily="18" charset="0"/>
                            </a:rPr>
                          </m:ctrlPr>
                        </m:sSubPr>
                        <m:e>
                          <m:r>
                            <a:rPr lang="en-US" sz="4000" b="0" i="1">
                              <a:solidFill>
                                <a:schemeClr val="bg2">
                                  <a:lumMod val="10000"/>
                                </a:schemeClr>
                              </a:solidFill>
                              <a:latin typeface="Cambria Math" panose="02040503050406030204" pitchFamily="18" charset="0"/>
                            </a:rPr>
                            <m:t>𝑏</m:t>
                          </m:r>
                        </m:e>
                        <m:sub>
                          <m:r>
                            <a:rPr lang="en-US" sz="4000" b="0" i="1" smtClean="0">
                              <a:solidFill>
                                <a:schemeClr val="bg2">
                                  <a:lumMod val="10000"/>
                                </a:schemeClr>
                              </a:solidFill>
                              <a:latin typeface="Cambria Math" panose="02040503050406030204" pitchFamily="18" charset="0"/>
                            </a:rPr>
                            <m:t>0</m:t>
                          </m:r>
                        </m:sub>
                      </m:sSub>
                      <m:r>
                        <a:rPr lang="en-US" sz="4000" b="0" i="1">
                          <a:solidFill>
                            <a:schemeClr val="bg2">
                              <a:lumMod val="10000"/>
                            </a:schemeClr>
                          </a:solidFill>
                          <a:latin typeface="Cambria Math" panose="02040503050406030204" pitchFamily="18" charset="0"/>
                        </a:rPr>
                        <m:t>=</m:t>
                      </m:r>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𝑦</m:t>
                          </m:r>
                        </m:e>
                      </m:acc>
                      <m:r>
                        <a:rPr lang="en-US" sz="4000" b="0" i="1" smtClean="0">
                          <a:solidFill>
                            <a:schemeClr val="bg2">
                              <a:lumMod val="10000"/>
                            </a:schemeClr>
                          </a:solidFill>
                          <a:latin typeface="Cambria Math" panose="02040503050406030204" pitchFamily="18" charset="0"/>
                        </a:rPr>
                        <m:t>−</m:t>
                      </m:r>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𝑏</m:t>
                          </m:r>
                        </m:e>
                        <m:sub>
                          <m:r>
                            <a:rPr lang="en-US" sz="4000" b="0" i="1" smtClean="0">
                              <a:solidFill>
                                <a:schemeClr val="bg2">
                                  <a:lumMod val="10000"/>
                                </a:schemeClr>
                              </a:solidFill>
                              <a:latin typeface="Cambria Math" panose="02040503050406030204" pitchFamily="18" charset="0"/>
                            </a:rPr>
                            <m:t>1</m:t>
                          </m:r>
                        </m:sub>
                      </m:sSub>
                      <m:r>
                        <a:rPr lang="en-US" sz="4000" b="0" i="1" smtClean="0">
                          <a:solidFill>
                            <a:schemeClr val="bg2">
                              <a:lumMod val="10000"/>
                            </a:schemeClr>
                          </a:solidFill>
                          <a:latin typeface="Cambria Math" panose="02040503050406030204" pitchFamily="18" charset="0"/>
                        </a:rPr>
                        <m:t> </m:t>
                      </m:r>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𝑥</m:t>
                          </m:r>
                        </m:e>
                      </m:acc>
                      <m:r>
                        <a:rPr lang="en-US" sz="4000" b="0" i="1" smtClean="0">
                          <a:solidFill>
                            <a:schemeClr val="bg2">
                              <a:lumMod val="10000"/>
                            </a:schemeClr>
                          </a:solidFill>
                          <a:latin typeface="Cambria Math" panose="02040503050406030204" pitchFamily="18" charset="0"/>
                        </a:rPr>
                        <m:t>=678.44−</m:t>
                      </m:r>
                      <m:d>
                        <m:dPr>
                          <m:ctrlPr>
                            <a:rPr lang="en-US" sz="4000" i="1" smtClean="0">
                              <a:solidFill>
                                <a:schemeClr val="bg2">
                                  <a:lumMod val="10000"/>
                                </a:schemeClr>
                              </a:solidFill>
                              <a:latin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rPr>
                            <m:t>15.97</m:t>
                          </m:r>
                        </m:e>
                      </m:d>
                      <m:d>
                        <m:dPr>
                          <m:ctrlPr>
                            <a:rPr lang="en-US" sz="4000" i="1" smtClean="0">
                              <a:solidFill>
                                <a:schemeClr val="bg2">
                                  <a:lumMod val="10000"/>
                                </a:schemeClr>
                              </a:solidFill>
                              <a:latin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rPr>
                            <m:t>31.48</m:t>
                          </m:r>
                        </m:e>
                      </m:d>
                      <m:r>
                        <a:rPr lang="en-US" sz="4000" b="0" i="1" smtClean="0">
                          <a:solidFill>
                            <a:schemeClr val="bg2">
                              <a:lumMod val="10000"/>
                            </a:schemeClr>
                          </a:solidFill>
                          <a:latin typeface="Cambria Math" panose="02040503050406030204" pitchFamily="18" charset="0"/>
                        </a:rPr>
                        <m:t>=</m:t>
                      </m:r>
                      <m:r>
                        <a:rPr lang="en-US" sz="4000" b="0" i="0" smtClean="0">
                          <a:solidFill>
                            <a:schemeClr val="bg2">
                              <a:lumMod val="10000"/>
                            </a:schemeClr>
                          </a:solidFill>
                          <a:latin typeface="Cambria Math" panose="02040503050406030204" pitchFamily="18" charset="0"/>
                        </a:rPr>
                        <m:t>175.76</m:t>
                      </m:r>
                    </m:oMath>
                  </m:oMathPara>
                </a14:m>
                <a:endParaRPr lang="en-US" sz="4000" dirty="0">
                  <a:solidFill>
                    <a:schemeClr val="bg2">
                      <a:lumMod val="10000"/>
                    </a:schemeClr>
                  </a:solidFill>
                </a:endParaRPr>
              </a:p>
              <a:p>
                <a:pPr marL="0" indent="0">
                  <a:buNone/>
                </a:pPr>
                <a:endParaRPr lang="en-US" sz="4000" dirty="0">
                  <a:solidFill>
                    <a:schemeClr val="bg2">
                      <a:lumMod val="10000"/>
                    </a:schemeClr>
                  </a:solidFill>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4000" i="1" smtClean="0">
                              <a:solidFill>
                                <a:schemeClr val="bg2">
                                  <a:lumMod val="10000"/>
                                </a:schemeClr>
                              </a:solidFill>
                              <a:latin typeface="Cambria Math" panose="02040503050406030204" pitchFamily="18" charset="0"/>
                            </a:rPr>
                          </m:ctrlPr>
                        </m:accPr>
                        <m:e>
                          <m:r>
                            <a:rPr lang="en-US" sz="4000" b="0" i="1" smtClean="0">
                              <a:solidFill>
                                <a:schemeClr val="bg2">
                                  <a:lumMod val="10000"/>
                                </a:schemeClr>
                              </a:solidFill>
                              <a:latin typeface="Cambria Math" panose="02040503050406030204" pitchFamily="18" charset="0"/>
                            </a:rPr>
                            <m:t>𝑦</m:t>
                          </m:r>
                        </m:e>
                      </m:acc>
                      <m:r>
                        <a:rPr lang="en-US" sz="4000" b="0" i="1" smtClean="0">
                          <a:solidFill>
                            <a:schemeClr val="bg2">
                              <a:lumMod val="10000"/>
                            </a:schemeClr>
                          </a:solidFill>
                          <a:latin typeface="Cambria Math" panose="02040503050406030204" pitchFamily="18" charset="0"/>
                        </a:rPr>
                        <m:t>=</m:t>
                      </m:r>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𝑏</m:t>
                          </m:r>
                        </m:e>
                        <m:sub>
                          <m:r>
                            <a:rPr lang="en-US" sz="4000" b="0" i="1" smtClean="0">
                              <a:solidFill>
                                <a:schemeClr val="bg2">
                                  <a:lumMod val="10000"/>
                                </a:schemeClr>
                              </a:solidFill>
                              <a:latin typeface="Cambria Math" panose="02040503050406030204" pitchFamily="18" charset="0"/>
                            </a:rPr>
                            <m:t>0</m:t>
                          </m:r>
                        </m:sub>
                      </m:sSub>
                      <m:r>
                        <a:rPr lang="en-US" sz="4000" b="0" i="1" smtClean="0">
                          <a:solidFill>
                            <a:schemeClr val="bg2">
                              <a:lumMod val="10000"/>
                            </a:schemeClr>
                          </a:solidFill>
                          <a:latin typeface="Cambria Math" panose="02040503050406030204" pitchFamily="18" charset="0"/>
                        </a:rPr>
                        <m:t>+</m:t>
                      </m:r>
                      <m:sSub>
                        <m:sSubPr>
                          <m:ctrlPr>
                            <a:rPr lang="en-US" sz="4000" i="1" smtClean="0">
                              <a:solidFill>
                                <a:schemeClr val="bg2">
                                  <a:lumMod val="10000"/>
                                </a:schemeClr>
                              </a:solidFill>
                              <a:latin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rPr>
                            <m:t>𝑏</m:t>
                          </m:r>
                        </m:e>
                        <m:sub>
                          <m:r>
                            <a:rPr lang="en-US" sz="4000" b="0" i="1" smtClean="0">
                              <a:solidFill>
                                <a:schemeClr val="bg2">
                                  <a:lumMod val="10000"/>
                                </a:schemeClr>
                              </a:solidFill>
                              <a:latin typeface="Cambria Math" panose="02040503050406030204" pitchFamily="18" charset="0"/>
                            </a:rPr>
                            <m:t>1</m:t>
                          </m:r>
                        </m:sub>
                      </m:sSub>
                      <m:r>
                        <a:rPr lang="en-US" sz="4000" b="0" i="1" smtClean="0">
                          <a:solidFill>
                            <a:schemeClr val="bg2">
                              <a:lumMod val="10000"/>
                            </a:schemeClr>
                          </a:solidFill>
                          <a:latin typeface="Cambria Math" panose="02040503050406030204" pitchFamily="18" charset="0"/>
                        </a:rPr>
                        <m:t>𝑥</m:t>
                      </m:r>
                    </m:oMath>
                  </m:oMathPara>
                </a14:m>
                <a:endParaRPr lang="en-US" sz="4000" dirty="0">
                  <a:solidFill>
                    <a:schemeClr val="bg2">
                      <a:lumMod val="10000"/>
                    </a:schemeClr>
                  </a:solidFill>
                </a:endParaRPr>
              </a:p>
              <a:p>
                <a:pPr marL="0" indent="0">
                  <a:buNone/>
                </a:pPr>
                <a:endParaRPr lang="en-US" sz="4000" dirty="0">
                  <a:solidFill>
                    <a:schemeClr val="bg2">
                      <a:lumMod val="10000"/>
                    </a:schemeClr>
                  </a:solidFill>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4000" b="1" i="1" smtClean="0">
                              <a:solidFill>
                                <a:schemeClr val="bg2">
                                  <a:lumMod val="10000"/>
                                </a:schemeClr>
                              </a:solidFill>
                              <a:latin typeface="Cambria Math" panose="02040503050406030204" pitchFamily="18" charset="0"/>
                            </a:rPr>
                          </m:ctrlPr>
                        </m:accPr>
                        <m:e>
                          <m:r>
                            <a:rPr lang="en-US" sz="4000" b="1" i="1" smtClean="0">
                              <a:solidFill>
                                <a:schemeClr val="bg2">
                                  <a:lumMod val="10000"/>
                                </a:schemeClr>
                              </a:solidFill>
                              <a:latin typeface="Cambria Math" panose="02040503050406030204" pitchFamily="18" charset="0"/>
                            </a:rPr>
                            <m:t>𝒚</m:t>
                          </m:r>
                        </m:e>
                      </m:acc>
                      <m:r>
                        <a:rPr lang="en-US" sz="4000" b="1" i="1" smtClean="0">
                          <a:solidFill>
                            <a:schemeClr val="bg2">
                              <a:lumMod val="10000"/>
                            </a:schemeClr>
                          </a:solidFill>
                          <a:latin typeface="Cambria Math" panose="02040503050406030204" pitchFamily="18" charset="0"/>
                        </a:rPr>
                        <m:t>=</m:t>
                      </m:r>
                      <m:r>
                        <a:rPr lang="en-US" sz="4000" b="1" i="1" smtClean="0">
                          <a:solidFill>
                            <a:schemeClr val="bg2">
                              <a:lumMod val="10000"/>
                            </a:schemeClr>
                          </a:solidFill>
                          <a:latin typeface="Cambria Math" panose="02040503050406030204" pitchFamily="18" charset="0"/>
                        </a:rPr>
                        <m:t>𝟏𝟕𝟓</m:t>
                      </m:r>
                      <m:r>
                        <a:rPr lang="en-US" sz="4000" b="1" i="1" smtClean="0">
                          <a:solidFill>
                            <a:schemeClr val="bg2">
                              <a:lumMod val="10000"/>
                            </a:schemeClr>
                          </a:solidFill>
                          <a:latin typeface="Cambria Math" panose="02040503050406030204" pitchFamily="18" charset="0"/>
                        </a:rPr>
                        <m:t>.</m:t>
                      </m:r>
                      <m:r>
                        <a:rPr lang="en-US" sz="4000" b="1" i="1" smtClean="0">
                          <a:solidFill>
                            <a:schemeClr val="bg2">
                              <a:lumMod val="10000"/>
                            </a:schemeClr>
                          </a:solidFill>
                          <a:latin typeface="Cambria Math" panose="02040503050406030204" pitchFamily="18" charset="0"/>
                        </a:rPr>
                        <m:t>𝟕𝟔</m:t>
                      </m:r>
                      <m:r>
                        <a:rPr lang="en-US" sz="4000" b="1" i="1" smtClean="0">
                          <a:solidFill>
                            <a:schemeClr val="bg2">
                              <a:lumMod val="10000"/>
                            </a:schemeClr>
                          </a:solidFill>
                          <a:latin typeface="Cambria Math" panose="02040503050406030204" pitchFamily="18" charset="0"/>
                        </a:rPr>
                        <m:t>+</m:t>
                      </m:r>
                      <m:r>
                        <a:rPr lang="en-US" sz="4000" b="1" i="1" smtClean="0">
                          <a:solidFill>
                            <a:schemeClr val="bg2">
                              <a:lumMod val="10000"/>
                            </a:schemeClr>
                          </a:solidFill>
                          <a:latin typeface="Cambria Math" panose="02040503050406030204" pitchFamily="18" charset="0"/>
                        </a:rPr>
                        <m:t>𝟏𝟓</m:t>
                      </m:r>
                      <m:r>
                        <a:rPr lang="en-US" sz="4000" b="1" i="1" smtClean="0">
                          <a:solidFill>
                            <a:schemeClr val="bg2">
                              <a:lumMod val="10000"/>
                            </a:schemeClr>
                          </a:solidFill>
                          <a:latin typeface="Cambria Math" panose="02040503050406030204" pitchFamily="18" charset="0"/>
                        </a:rPr>
                        <m:t>.</m:t>
                      </m:r>
                      <m:r>
                        <a:rPr lang="en-US" sz="4000" b="1" i="1" smtClean="0">
                          <a:solidFill>
                            <a:schemeClr val="bg2">
                              <a:lumMod val="10000"/>
                            </a:schemeClr>
                          </a:solidFill>
                          <a:latin typeface="Cambria Math" panose="02040503050406030204" pitchFamily="18" charset="0"/>
                        </a:rPr>
                        <m:t>𝟗𝟕</m:t>
                      </m:r>
                      <m:r>
                        <a:rPr lang="en-US" sz="4000" b="1" i="1" smtClean="0">
                          <a:solidFill>
                            <a:schemeClr val="bg2">
                              <a:lumMod val="10000"/>
                            </a:schemeClr>
                          </a:solidFill>
                          <a:latin typeface="Cambria Math" panose="02040503050406030204" pitchFamily="18" charset="0"/>
                        </a:rPr>
                        <m:t>𝒙</m:t>
                      </m:r>
                    </m:oMath>
                  </m:oMathPara>
                </a14:m>
                <a:endParaRPr lang="en-US" sz="4000" b="1" dirty="0">
                  <a:solidFill>
                    <a:schemeClr val="bg2">
                      <a:lumMod val="10000"/>
                    </a:schemeClr>
                  </a:solidFill>
                </a:endParaRPr>
              </a:p>
              <a:p>
                <a:pPr marL="0" indent="0">
                  <a:buNone/>
                </a:pPr>
                <a:endParaRPr lang="en-US" sz="4000" dirty="0">
                  <a:solidFill>
                    <a:schemeClr val="bg2">
                      <a:lumMod val="10000"/>
                    </a:schemeClr>
                  </a:solidFill>
                </a:endParaRPr>
              </a:p>
              <a:p>
                <a:pPr marL="0" indent="0">
                  <a:buNone/>
                </a:pPr>
                <a:endParaRPr lang="en-US" sz="4000" dirty="0">
                  <a:solidFill>
                    <a:schemeClr val="bg2">
                      <a:lumMod val="10000"/>
                    </a:schemeClr>
                  </a:solidFill>
                </a:endParaRPr>
              </a:p>
            </p:txBody>
          </p:sp>
        </mc:Choice>
        <mc:Fallback xmlns="">
          <p:sp>
            <p:nvSpPr>
              <p:cNvPr id="5" name="Content Placeholder 4">
                <a:extLst>
                  <a:ext uri="{FF2B5EF4-FFF2-40B4-BE49-F238E27FC236}">
                    <a16:creationId xmlns:a16="http://schemas.microsoft.com/office/drawing/2014/main" id="{EFB6B267-C656-7DCE-763E-AE61474B7728}"/>
                  </a:ext>
                </a:extLst>
              </p:cNvPr>
              <p:cNvSpPr>
                <a:spLocks noGrp="1" noRot="1" noChangeAspect="1" noMove="1" noResize="1" noEditPoints="1" noAdjustHandles="1" noChangeArrowheads="1" noChangeShapeType="1" noTextEdit="1"/>
              </p:cNvSpPr>
              <p:nvPr>
                <p:ph sz="quarter" idx="11"/>
              </p:nvPr>
            </p:nvSpPr>
            <p:spPr>
              <a:blipFill>
                <a:blip r:embed="rId2"/>
                <a:stretch>
                  <a:fillRect t="-10931"/>
                </a:stretch>
              </a:blipFill>
            </p:spPr>
            <p:txBody>
              <a:bodyPr/>
              <a:lstStyle/>
              <a:p>
                <a:r>
                  <a:rPr lang="en-US">
                    <a:noFill/>
                  </a:rPr>
                  <a:t> </a:t>
                </a:r>
              </a:p>
            </p:txBody>
          </p:sp>
        </mc:Fallback>
      </mc:AlternateContent>
    </p:spTree>
    <p:extLst>
      <p:ext uri="{BB962C8B-B14F-4D97-AF65-F5344CB8AC3E}">
        <p14:creationId xmlns:p14="http://schemas.microsoft.com/office/powerpoint/2010/main" val="301351458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Multi variable regression: 2 Predictors</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EFB6B267-C656-7DCE-763E-AE61474B7728}"/>
                  </a:ext>
                </a:extLst>
              </p:cNvPr>
              <p:cNvSpPr>
                <a:spLocks noGrp="1"/>
              </p:cNvSpPr>
              <p:nvPr>
                <p:ph sz="quarter" idx="11"/>
              </p:nvPr>
            </p:nvSpPr>
            <p:spPr/>
            <p:txBody>
              <a:bodyPr>
                <a:normAutofit/>
              </a:bodyPr>
              <a:lstStyle/>
              <a:p>
                <a:pPr algn="just"/>
                <a:r>
                  <a:rPr lang="en-US" dirty="0">
                    <a:solidFill>
                      <a:schemeClr val="bg2">
                        <a:lumMod val="10000"/>
                      </a:schemeClr>
                    </a:solidFill>
                    <a:latin typeface="+mj-lt"/>
                  </a:rPr>
                  <a:t>Simple linear regression is useful for prediction if there is only one predictor </a:t>
                </a:r>
                <a14:m>
                  <m:oMath xmlns:m="http://schemas.openxmlformats.org/officeDocument/2006/math">
                    <m:r>
                      <a:rPr lang="en-US" b="0" i="0" smtClean="0">
                        <a:solidFill>
                          <a:schemeClr val="bg2">
                            <a:lumMod val="10000"/>
                          </a:schemeClr>
                        </a:solidFill>
                        <a:latin typeface="Cambria Math" panose="02040503050406030204" pitchFamily="18" charset="0"/>
                      </a:rPr>
                      <m:t>(</m:t>
                    </m:r>
                    <m:r>
                      <a:rPr lang="en-US" b="0" i="1" smtClean="0">
                        <a:solidFill>
                          <a:schemeClr val="bg2">
                            <a:lumMod val="10000"/>
                          </a:schemeClr>
                        </a:solidFill>
                        <a:latin typeface="Cambria Math" panose="02040503050406030204" pitchFamily="18" charset="0"/>
                      </a:rPr>
                      <m:t>𝑥</m:t>
                    </m:r>
                    <m:r>
                      <a:rPr lang="en-US" b="0" i="1" smtClean="0">
                        <a:solidFill>
                          <a:schemeClr val="bg2">
                            <a:lumMod val="10000"/>
                          </a:schemeClr>
                        </a:solidFill>
                        <a:latin typeface="Cambria Math" panose="02040503050406030204" pitchFamily="18" charset="0"/>
                      </a:rPr>
                      <m:t>)</m:t>
                    </m:r>
                  </m:oMath>
                </a14:m>
                <a:r>
                  <a:rPr lang="en-US" b="1" dirty="0">
                    <a:solidFill>
                      <a:schemeClr val="bg2">
                        <a:lumMod val="10000"/>
                      </a:schemeClr>
                    </a:solidFill>
                    <a:latin typeface="+mj-lt"/>
                  </a:rPr>
                  <a:t>. </a:t>
                </a:r>
                <a:r>
                  <a:rPr lang="en-US" dirty="0">
                    <a:solidFill>
                      <a:schemeClr val="bg2">
                        <a:lumMod val="10000"/>
                      </a:schemeClr>
                    </a:solidFill>
                    <a:latin typeface="+mj-lt"/>
                  </a:rPr>
                  <a:t>What if we had two predictors/independent variables </a:t>
                </a:r>
                <a14:m>
                  <m:oMath xmlns:m="http://schemas.openxmlformats.org/officeDocument/2006/math">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1</m:t>
                        </m:r>
                      </m:sub>
                    </m:sSub>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2</m:t>
                        </m:r>
                      </m:sub>
                    </m:sSub>
                    <m:r>
                      <a:rPr lang="en-US" b="0" i="1" smtClean="0">
                        <a:solidFill>
                          <a:schemeClr val="bg2">
                            <a:lumMod val="10000"/>
                          </a:schemeClr>
                        </a:solidFill>
                        <a:latin typeface="Cambria Math" panose="02040503050406030204" pitchFamily="18" charset="0"/>
                      </a:rPr>
                      <m:t>)</m:t>
                    </m:r>
                  </m:oMath>
                </a14:m>
                <a:r>
                  <a:rPr lang="en-US" dirty="0">
                    <a:solidFill>
                      <a:schemeClr val="bg2">
                        <a:lumMod val="10000"/>
                      </a:schemeClr>
                    </a:solidFill>
                    <a:latin typeface="+mj-lt"/>
                  </a:rPr>
                  <a:t>? </a:t>
                </a:r>
              </a:p>
              <a:p>
                <a:pPr algn="just"/>
                <a:r>
                  <a:rPr lang="en-US" dirty="0">
                    <a:solidFill>
                      <a:schemeClr val="bg2">
                        <a:lumMod val="10000"/>
                      </a:schemeClr>
                    </a:solidFill>
                    <a:latin typeface="+mj-lt"/>
                  </a:rPr>
                  <a:t>Multiple linear regression allows for multiple predictors, and takes the following form where the predictors are 2:</a:t>
                </a:r>
              </a:p>
              <a:p>
                <a:pPr marL="457200" lvl="1" indent="0" algn="just">
                  <a:buNone/>
                </a:pPr>
                <a14:m>
                  <m:oMathPara xmlns:m="http://schemas.openxmlformats.org/officeDocument/2006/math">
                    <m:oMathParaPr>
                      <m:jc m:val="centerGroup"/>
                    </m:oMathParaPr>
                    <m:oMath xmlns:m="http://schemas.openxmlformats.org/officeDocument/2006/math">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𝑦</m:t>
                          </m:r>
                        </m:e>
                        <m:sub>
                          <m:r>
                            <a:rPr lang="en-US" b="0" i="1" smtClean="0">
                              <a:solidFill>
                                <a:schemeClr val="bg2">
                                  <a:lumMod val="10000"/>
                                </a:schemeClr>
                              </a:solidFill>
                              <a:latin typeface="Cambria Math" panose="02040503050406030204" pitchFamily="18" charset="0"/>
                            </a:rPr>
                            <m:t>𝑖</m:t>
                          </m:r>
                        </m:sub>
                      </m:sSub>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𝛽</m:t>
                          </m:r>
                        </m:e>
                        <m:sub>
                          <m:r>
                            <a:rPr lang="en-US" b="0" i="1" smtClean="0">
                              <a:solidFill>
                                <a:schemeClr val="bg2">
                                  <a:lumMod val="10000"/>
                                </a:schemeClr>
                              </a:solidFill>
                              <a:latin typeface="Cambria Math" panose="02040503050406030204" pitchFamily="18" charset="0"/>
                            </a:rPr>
                            <m:t>0</m:t>
                          </m:r>
                        </m:sub>
                      </m:sSub>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𝛽</m:t>
                          </m:r>
                        </m:e>
                        <m:sub>
                          <m:r>
                            <a:rPr lang="en-US" b="0" i="1" smtClean="0">
                              <a:solidFill>
                                <a:schemeClr val="bg2">
                                  <a:lumMod val="10000"/>
                                </a:schemeClr>
                              </a:solidFill>
                              <a:latin typeface="Cambria Math" panose="02040503050406030204" pitchFamily="18" charset="0"/>
                            </a:rPr>
                            <m:t>1</m:t>
                          </m:r>
                        </m:sub>
                      </m:sSub>
                      <m:d>
                        <m:dPr>
                          <m:ctrlPr>
                            <a:rPr lang="en-US" b="0" i="1" smtClean="0">
                              <a:solidFill>
                                <a:schemeClr val="bg2">
                                  <a:lumMod val="10000"/>
                                </a:schemeClr>
                              </a:solidFill>
                              <a:latin typeface="Cambria Math" panose="02040503050406030204" pitchFamily="18" charset="0"/>
                            </a:rPr>
                          </m:ctrlPr>
                        </m:dPr>
                        <m:e>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1</m:t>
                              </m:r>
                            </m:sub>
                          </m:sSub>
                        </m:e>
                      </m:d>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𝛽</m:t>
                          </m:r>
                        </m:e>
                        <m:sub>
                          <m:r>
                            <a:rPr lang="en-US" b="0" i="1" smtClean="0">
                              <a:solidFill>
                                <a:schemeClr val="bg2">
                                  <a:lumMod val="10000"/>
                                </a:schemeClr>
                              </a:solidFill>
                              <a:latin typeface="Cambria Math" panose="02040503050406030204" pitchFamily="18" charset="0"/>
                            </a:rPr>
                            <m:t>2</m:t>
                          </m:r>
                        </m:sub>
                      </m:sSub>
                      <m:d>
                        <m:dPr>
                          <m:ctrlPr>
                            <a:rPr lang="en-US" b="0" i="1" smtClean="0">
                              <a:solidFill>
                                <a:schemeClr val="bg2">
                                  <a:lumMod val="10000"/>
                                </a:schemeClr>
                              </a:solidFill>
                              <a:latin typeface="Cambria Math" panose="02040503050406030204" pitchFamily="18" charset="0"/>
                            </a:rPr>
                          </m:ctrlPr>
                        </m:dPr>
                        <m:e>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2</m:t>
                              </m:r>
                            </m:sub>
                          </m:sSub>
                        </m:e>
                      </m:d>
                    </m:oMath>
                  </m:oMathPara>
                </a14:m>
                <a:endParaRPr lang="en-US" dirty="0">
                  <a:solidFill>
                    <a:schemeClr val="bg2">
                      <a:lumMod val="10000"/>
                    </a:schemeClr>
                  </a:solidFill>
                  <a:latin typeface="+mj-lt"/>
                </a:endParaRPr>
              </a:p>
              <a:p>
                <a:pPr algn="just"/>
                <a:r>
                  <a:rPr lang="en-US" dirty="0">
                    <a:solidFill>
                      <a:schemeClr val="bg2">
                        <a:lumMod val="10000"/>
                      </a:schemeClr>
                    </a:solidFill>
                    <a:latin typeface="+mj-lt"/>
                  </a:rPr>
                  <a:t>Formula:</a:t>
                </a:r>
              </a:p>
              <a:p>
                <a:endParaRPr lang="en-US" dirty="0">
                  <a:solidFill>
                    <a:schemeClr val="bg2">
                      <a:lumMod val="10000"/>
                    </a:schemeClr>
                  </a:solidFill>
                </a:endParaRPr>
              </a:p>
            </p:txBody>
          </p:sp>
        </mc:Choice>
        <mc:Fallback>
          <p:sp>
            <p:nvSpPr>
              <p:cNvPr id="5" name="Content Placeholder 4">
                <a:extLst>
                  <a:ext uri="{FF2B5EF4-FFF2-40B4-BE49-F238E27FC236}">
                    <a16:creationId xmlns:a16="http://schemas.microsoft.com/office/drawing/2014/main" id="{EFB6B267-C656-7DCE-763E-AE61474B7728}"/>
                  </a:ext>
                </a:extLst>
              </p:cNvPr>
              <p:cNvSpPr>
                <a:spLocks noGrp="1" noRot="1" noChangeAspect="1" noMove="1" noResize="1" noEditPoints="1" noAdjustHandles="1" noChangeArrowheads="1" noChangeShapeType="1" noTextEdit="1"/>
              </p:cNvSpPr>
              <p:nvPr>
                <p:ph sz="quarter" idx="11"/>
              </p:nvPr>
            </p:nvSpPr>
            <p:spPr>
              <a:blipFill>
                <a:blip r:embed="rId2"/>
                <a:stretch>
                  <a:fillRect l="-1307" t="-1420" r="-142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48F0548-F205-0E54-B168-0F1154203436}"/>
              </a:ext>
            </a:extLst>
          </p:cNvPr>
          <p:cNvPicPr>
            <a:picLocks noChangeAspect="1"/>
          </p:cNvPicPr>
          <p:nvPr/>
        </p:nvPicPr>
        <p:blipFill>
          <a:blip r:embed="rId3"/>
          <a:stretch>
            <a:fillRect/>
          </a:stretch>
        </p:blipFill>
        <p:spPr>
          <a:xfrm>
            <a:off x="7654016" y="8807373"/>
            <a:ext cx="9228930" cy="4321840"/>
          </a:xfrm>
          <a:prstGeom prst="rect">
            <a:avLst/>
          </a:prstGeom>
        </p:spPr>
      </p:pic>
    </p:spTree>
    <p:extLst>
      <p:ext uri="{BB962C8B-B14F-4D97-AF65-F5344CB8AC3E}">
        <p14:creationId xmlns:p14="http://schemas.microsoft.com/office/powerpoint/2010/main" val="272525986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Multi variable regression: 2 Predictors</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p:pic>
        <p:nvPicPr>
          <p:cNvPr id="6" name="Content Placeholder 5">
            <a:extLst>
              <a:ext uri="{FF2B5EF4-FFF2-40B4-BE49-F238E27FC236}">
                <a16:creationId xmlns:a16="http://schemas.microsoft.com/office/drawing/2014/main" id="{C443851F-CEB8-1016-FE89-E96B5ECD9ADF}"/>
              </a:ext>
            </a:extLst>
          </p:cNvPr>
          <p:cNvPicPr>
            <a:picLocks noGrp="1" noChangeAspect="1"/>
          </p:cNvPicPr>
          <p:nvPr>
            <p:ph sz="quarter" idx="11"/>
          </p:nvPr>
        </p:nvPicPr>
        <p:blipFill>
          <a:blip r:embed="rId2"/>
          <a:stretch>
            <a:fillRect/>
          </a:stretch>
        </p:blipFill>
        <p:spPr>
          <a:xfrm>
            <a:off x="2167377" y="3260663"/>
            <a:ext cx="20406873" cy="9320022"/>
          </a:xfrm>
          <a:prstGeom prst="rect">
            <a:avLst/>
          </a:prstGeom>
        </p:spPr>
      </p:pic>
    </p:spTree>
    <p:extLst>
      <p:ext uri="{BB962C8B-B14F-4D97-AF65-F5344CB8AC3E}">
        <p14:creationId xmlns:p14="http://schemas.microsoft.com/office/powerpoint/2010/main" val="293976737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Multi variable regression: 2 Predictors</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Example</a:t>
            </a:r>
          </a:p>
        </p:txBody>
      </p:sp>
      <p:pic>
        <p:nvPicPr>
          <p:cNvPr id="8" name="Picture 7">
            <a:extLst>
              <a:ext uri="{FF2B5EF4-FFF2-40B4-BE49-F238E27FC236}">
                <a16:creationId xmlns:a16="http://schemas.microsoft.com/office/drawing/2014/main" id="{78875A8B-C04A-7231-119B-D5179A1A40E0}"/>
              </a:ext>
            </a:extLst>
          </p:cNvPr>
          <p:cNvPicPr>
            <a:picLocks noChangeAspect="1"/>
          </p:cNvPicPr>
          <p:nvPr/>
        </p:nvPicPr>
        <p:blipFill>
          <a:blip r:embed="rId2"/>
          <a:stretch>
            <a:fillRect/>
          </a:stretch>
        </p:blipFill>
        <p:spPr>
          <a:xfrm>
            <a:off x="2167377" y="2735776"/>
            <a:ext cx="16520496" cy="10419619"/>
          </a:xfrm>
          <a:prstGeom prst="rect">
            <a:avLst/>
          </a:prstGeom>
        </p:spPr>
      </p:pic>
    </p:spTree>
    <p:extLst>
      <p:ext uri="{BB962C8B-B14F-4D97-AF65-F5344CB8AC3E}">
        <p14:creationId xmlns:p14="http://schemas.microsoft.com/office/powerpoint/2010/main" val="47656926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Multi variable regression</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r>
              <a:rPr lang="en-US" dirty="0"/>
              <a:t>Definition and formula</a:t>
            </a:r>
          </a:p>
        </p:txBody>
      </p:sp>
      <mc:AlternateContent xmlns:mc="http://schemas.openxmlformats.org/markup-compatibility/2006">
        <mc:Choice xmlns:a14="http://schemas.microsoft.com/office/drawing/2010/main" Requires="a14">
          <p:sp>
            <p:nvSpPr>
              <p:cNvPr id="4" name="Content Placeholder 4">
                <a:extLst>
                  <a:ext uri="{FF2B5EF4-FFF2-40B4-BE49-F238E27FC236}">
                    <a16:creationId xmlns:a16="http://schemas.microsoft.com/office/drawing/2014/main" id="{A506FE85-7C68-D231-CB54-4E487464C8F2}"/>
                  </a:ext>
                </a:extLst>
              </p:cNvPr>
              <p:cNvSpPr>
                <a:spLocks noGrp="1"/>
              </p:cNvSpPr>
              <p:nvPr>
                <p:ph sz="quarter" idx="11"/>
              </p:nvPr>
            </p:nvSpPr>
            <p:spPr>
              <a:xfrm>
                <a:off x="2163188" y="3260663"/>
                <a:ext cx="20057623" cy="9607844"/>
              </a:xfrm>
            </p:spPr>
            <p:txBody>
              <a:bodyPr>
                <a:normAutofit/>
              </a:bodyPr>
              <a:lstStyle/>
              <a:p>
                <a:pPr marL="272700" indent="-571500" algn="just"/>
                <a:r>
                  <a:rPr lang="en-US" dirty="0">
                    <a:solidFill>
                      <a:schemeClr val="bg2">
                        <a:lumMod val="10000"/>
                      </a:schemeClr>
                    </a:solidFill>
                    <a:latin typeface="+mj-lt"/>
                  </a:rPr>
                  <a:t>What if we had multiple predictors </a:t>
                </a:r>
                <a14:m>
                  <m:oMath xmlns:m="http://schemas.openxmlformats.org/officeDocument/2006/math">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1</m:t>
                        </m:r>
                      </m:sub>
                    </m:sSub>
                    <m:r>
                      <a:rPr lang="en-US" b="0" i="1" smtClean="0">
                        <a:solidFill>
                          <a:schemeClr val="bg2">
                            <a:lumMod val="10000"/>
                          </a:schemeClr>
                        </a:solidFill>
                        <a:latin typeface="Cambria Math" panose="02040503050406030204" pitchFamily="18" charset="0"/>
                      </a:rPr>
                      <m:t>,</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2</m:t>
                        </m:r>
                      </m:sub>
                    </m:sSub>
                    <m:r>
                      <a:rPr lang="en-US" b="0" i="1" smtClean="0">
                        <a:solidFill>
                          <a:schemeClr val="bg2">
                            <a:lumMod val="10000"/>
                          </a:schemeClr>
                        </a:solidFill>
                        <a:latin typeface="Cambria Math" panose="02040503050406030204" pitchFamily="18" charset="0"/>
                      </a:rPr>
                      <m:t>, </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3</m:t>
                        </m:r>
                      </m:sub>
                    </m:sSub>
                    <m:r>
                      <a:rPr lang="en-US" b="0" i="1" smtClean="0">
                        <a:solidFill>
                          <a:schemeClr val="bg2">
                            <a:lumMod val="10000"/>
                          </a:schemeClr>
                        </a:solidFill>
                        <a:latin typeface="Cambria Math" panose="02040503050406030204" pitchFamily="18" charset="0"/>
                      </a:rPr>
                      <m:t>, …, </m:t>
                    </m:r>
                    <m:sSub>
                      <m:sSubPr>
                        <m:ctrlPr>
                          <a:rPr lang="en-US" b="0" i="1" smtClean="0">
                            <a:solidFill>
                              <a:schemeClr val="bg2">
                                <a:lumMod val="10000"/>
                              </a:schemeClr>
                            </a:solidFill>
                            <a:latin typeface="Cambria Math" panose="02040503050406030204" pitchFamily="18" charset="0"/>
                          </a:rPr>
                        </m:ctrlPr>
                      </m:sSubPr>
                      <m:e>
                        <m:r>
                          <a:rPr lang="en-US" b="0" i="1" smtClean="0">
                            <a:solidFill>
                              <a:schemeClr val="bg2">
                                <a:lumMod val="10000"/>
                              </a:schemeClr>
                            </a:solidFill>
                            <a:latin typeface="Cambria Math" panose="02040503050406030204" pitchFamily="18" charset="0"/>
                          </a:rPr>
                          <m:t>𝑥</m:t>
                        </m:r>
                      </m:e>
                      <m:sub>
                        <m:r>
                          <a:rPr lang="en-US" b="0" i="1" smtClean="0">
                            <a:solidFill>
                              <a:schemeClr val="bg2">
                                <a:lumMod val="10000"/>
                              </a:schemeClr>
                            </a:solidFill>
                            <a:latin typeface="Cambria Math" panose="02040503050406030204" pitchFamily="18" charset="0"/>
                          </a:rPr>
                          <m:t>𝑛</m:t>
                        </m:r>
                      </m:sub>
                    </m:sSub>
                    <m:r>
                      <a:rPr lang="en-US" b="0" i="1" smtClean="0">
                        <a:solidFill>
                          <a:schemeClr val="bg2">
                            <a:lumMod val="10000"/>
                          </a:schemeClr>
                        </a:solidFill>
                        <a:latin typeface="Cambria Math" panose="02040503050406030204" pitchFamily="18" charset="0"/>
                      </a:rPr>
                      <m:t>)</m:t>
                    </m:r>
                  </m:oMath>
                </a14:m>
                <a:r>
                  <a:rPr lang="en-US" dirty="0">
                    <a:solidFill>
                      <a:schemeClr val="bg2">
                        <a:lumMod val="10000"/>
                      </a:schemeClr>
                    </a:solidFill>
                    <a:latin typeface="+mj-lt"/>
                  </a:rPr>
                  <a:t>? </a:t>
                </a:r>
              </a:p>
              <a:p>
                <a:pPr algn="just"/>
                <a:r>
                  <a:rPr lang="en-US" dirty="0">
                    <a:solidFill>
                      <a:schemeClr val="bg2">
                        <a:lumMod val="10000"/>
                      </a:schemeClr>
                    </a:solidFill>
                    <a:latin typeface="+mj-lt"/>
                  </a:rPr>
                  <a:t>Multivariate linear regression allows for multiple predictors, and takes the following form:</a:t>
                </a:r>
              </a:p>
              <a:p>
                <a:pPr marL="457200" lvl="1" indent="0" algn="just">
                  <a:buNone/>
                </a:pPr>
                <a14:m>
                  <m:oMathPara xmlns:m="http://schemas.openxmlformats.org/officeDocument/2006/math">
                    <m:oMathParaPr>
                      <m:jc m:val="centerGroup"/>
                    </m:oMathParaPr>
                    <m:oMath xmlns:m="http://schemas.openxmlformats.org/officeDocument/2006/math">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𝑦</m:t>
                          </m:r>
                        </m:e>
                        <m:sub>
                          <m:r>
                            <a:rPr lang="en-US" sz="4400" b="0" i="1" smtClean="0">
                              <a:solidFill>
                                <a:schemeClr val="bg2">
                                  <a:lumMod val="10000"/>
                                </a:schemeClr>
                              </a:solidFill>
                              <a:latin typeface="Cambria Math" panose="02040503050406030204" pitchFamily="18" charset="0"/>
                            </a:rPr>
                            <m:t>𝑖</m:t>
                          </m:r>
                        </m:sub>
                      </m:sSub>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0</m:t>
                          </m:r>
                        </m:sub>
                      </m:sSub>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1</m:t>
                          </m:r>
                        </m:sub>
                      </m:sSub>
                      <m:d>
                        <m:dPr>
                          <m:ctrlPr>
                            <a:rPr lang="en-US" sz="4400" b="0" i="1" smtClean="0">
                              <a:solidFill>
                                <a:schemeClr val="bg2">
                                  <a:lumMod val="10000"/>
                                </a:schemeClr>
                              </a:solidFill>
                              <a:latin typeface="Cambria Math" panose="02040503050406030204" pitchFamily="18" charset="0"/>
                            </a:rPr>
                          </m:ctrlPr>
                        </m:dPr>
                        <m:e>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𝑥</m:t>
                              </m:r>
                            </m:e>
                            <m:sub>
                              <m:r>
                                <a:rPr lang="en-US" sz="4400" b="0" i="1" smtClean="0">
                                  <a:solidFill>
                                    <a:schemeClr val="bg2">
                                      <a:lumMod val="10000"/>
                                    </a:schemeClr>
                                  </a:solidFill>
                                  <a:latin typeface="Cambria Math" panose="02040503050406030204" pitchFamily="18" charset="0"/>
                                </a:rPr>
                                <m:t>1</m:t>
                              </m:r>
                            </m:sub>
                          </m:sSub>
                        </m:e>
                      </m:d>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2</m:t>
                          </m:r>
                        </m:sub>
                      </m:sSub>
                      <m:d>
                        <m:dPr>
                          <m:ctrlPr>
                            <a:rPr lang="en-US" sz="4400" b="0" i="1" smtClean="0">
                              <a:solidFill>
                                <a:schemeClr val="bg2">
                                  <a:lumMod val="10000"/>
                                </a:schemeClr>
                              </a:solidFill>
                              <a:latin typeface="Cambria Math" panose="02040503050406030204" pitchFamily="18" charset="0"/>
                            </a:rPr>
                          </m:ctrlPr>
                        </m:dPr>
                        <m:e>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𝑥</m:t>
                              </m:r>
                            </m:e>
                            <m:sub>
                              <m:r>
                                <a:rPr lang="en-US" sz="4400" b="0" i="1" smtClean="0">
                                  <a:solidFill>
                                    <a:schemeClr val="bg2">
                                      <a:lumMod val="10000"/>
                                    </a:schemeClr>
                                  </a:solidFill>
                                  <a:latin typeface="Cambria Math" panose="02040503050406030204" pitchFamily="18" charset="0"/>
                                </a:rPr>
                                <m:t>2</m:t>
                              </m:r>
                            </m:sub>
                          </m:sSub>
                        </m:e>
                      </m:d>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𝛽</m:t>
                          </m:r>
                        </m:e>
                        <m:sub>
                          <m:r>
                            <a:rPr lang="en-US" sz="4400" b="0" i="1" smtClean="0">
                              <a:solidFill>
                                <a:schemeClr val="bg2">
                                  <a:lumMod val="10000"/>
                                </a:schemeClr>
                              </a:solidFill>
                              <a:latin typeface="Cambria Math" panose="02040503050406030204" pitchFamily="18" charset="0"/>
                            </a:rPr>
                            <m:t>𝑛</m:t>
                          </m:r>
                        </m:sub>
                      </m:sSub>
                      <m:r>
                        <a:rPr lang="en-US" sz="4400" b="0" i="1" smtClean="0">
                          <a:solidFill>
                            <a:schemeClr val="bg2">
                              <a:lumMod val="10000"/>
                            </a:schemeClr>
                          </a:solidFill>
                          <a:latin typeface="Cambria Math" panose="02040503050406030204" pitchFamily="18" charset="0"/>
                        </a:rPr>
                        <m:t>(</m:t>
                      </m:r>
                      <m:sSub>
                        <m:sSubPr>
                          <m:ctrlPr>
                            <a:rPr lang="en-US" sz="4400" b="0" i="1" smtClean="0">
                              <a:solidFill>
                                <a:schemeClr val="bg2">
                                  <a:lumMod val="10000"/>
                                </a:schemeClr>
                              </a:solidFill>
                              <a:latin typeface="Cambria Math" panose="02040503050406030204" pitchFamily="18" charset="0"/>
                            </a:rPr>
                          </m:ctrlPr>
                        </m:sSubPr>
                        <m:e>
                          <m:r>
                            <a:rPr lang="en-US" sz="4400" b="0" i="1" smtClean="0">
                              <a:solidFill>
                                <a:schemeClr val="bg2">
                                  <a:lumMod val="10000"/>
                                </a:schemeClr>
                              </a:solidFill>
                              <a:latin typeface="Cambria Math" panose="02040503050406030204" pitchFamily="18" charset="0"/>
                            </a:rPr>
                            <m:t>𝑥</m:t>
                          </m:r>
                        </m:e>
                        <m:sub>
                          <m:r>
                            <a:rPr lang="en-US" sz="4400" b="0" i="1" smtClean="0">
                              <a:solidFill>
                                <a:schemeClr val="bg2">
                                  <a:lumMod val="10000"/>
                                </a:schemeClr>
                              </a:solidFill>
                              <a:latin typeface="Cambria Math" panose="02040503050406030204" pitchFamily="18" charset="0"/>
                            </a:rPr>
                            <m:t>𝑛</m:t>
                          </m:r>
                        </m:sub>
                      </m:sSub>
                      <m:r>
                        <a:rPr lang="en-US" sz="4400" b="0" i="1" smtClean="0">
                          <a:solidFill>
                            <a:schemeClr val="bg2">
                              <a:lumMod val="10000"/>
                            </a:schemeClr>
                          </a:solidFill>
                          <a:latin typeface="Cambria Math" panose="02040503050406030204" pitchFamily="18" charset="0"/>
                        </a:rPr>
                        <m:t>)</m:t>
                      </m:r>
                    </m:oMath>
                  </m:oMathPara>
                </a14:m>
                <a:endParaRPr lang="en-US" sz="4400" dirty="0">
                  <a:solidFill>
                    <a:schemeClr val="bg2">
                      <a:lumMod val="10000"/>
                    </a:schemeClr>
                  </a:solidFill>
                  <a:latin typeface="+mj-lt"/>
                </a:endParaRPr>
              </a:p>
              <a:p>
                <a:pPr marL="272700" indent="-571500" algn="just">
                  <a:spcAft>
                    <a:spcPts val="2400"/>
                  </a:spcAft>
                </a:pPr>
                <a:r>
                  <a:rPr lang="en-US" dirty="0">
                    <a:solidFill>
                      <a:schemeClr val="bg2">
                        <a:lumMod val="10000"/>
                      </a:schemeClr>
                    </a:solidFill>
                    <a:latin typeface="+mj-lt"/>
                  </a:rPr>
                  <a:t>Formula for multivariate linear regression using matrix:</a:t>
                </a:r>
                <a:endParaRPr lang="en-US" sz="4400" dirty="0">
                  <a:solidFill>
                    <a:schemeClr val="bg2">
                      <a:lumMod val="10000"/>
                    </a:schemeClr>
                  </a:solidFill>
                  <a:latin typeface="+mj-lt"/>
                </a:endParaRPr>
              </a:p>
              <a:p>
                <a:pPr marL="0" indent="0">
                  <a:buNone/>
                </a:pPr>
                <a14:m>
                  <m:oMathPara xmlns:m="http://schemas.openxmlformats.org/officeDocument/2006/math">
                    <m:oMathParaPr>
                      <m:jc m:val="centerGroup"/>
                    </m:oMathParaPr>
                    <m:oMath xmlns:m="http://schemas.openxmlformats.org/officeDocument/2006/math">
                      <m:r>
                        <a:rPr lang="en-US" sz="4400" b="1" i="1" smtClean="0">
                          <a:solidFill>
                            <a:schemeClr val="bg2">
                              <a:lumMod val="10000"/>
                            </a:schemeClr>
                          </a:solidFill>
                          <a:latin typeface="Cambria Math" panose="02040503050406030204" pitchFamily="18" charset="0"/>
                        </a:rPr>
                        <m:t>𝒃</m:t>
                      </m:r>
                      <m:r>
                        <a:rPr lang="en-US" sz="4400" b="1" i="1" smtClean="0">
                          <a:solidFill>
                            <a:schemeClr val="bg2">
                              <a:lumMod val="10000"/>
                            </a:schemeClr>
                          </a:solidFill>
                          <a:latin typeface="Cambria Math" panose="02040503050406030204" pitchFamily="18" charset="0"/>
                        </a:rPr>
                        <m:t>=</m:t>
                      </m:r>
                      <m:sSup>
                        <m:sSupPr>
                          <m:ctrlPr>
                            <a:rPr lang="en-US" sz="4400" b="1" i="1" smtClean="0">
                              <a:solidFill>
                                <a:schemeClr val="bg2">
                                  <a:lumMod val="10000"/>
                                </a:schemeClr>
                              </a:solidFill>
                              <a:latin typeface="Cambria Math" panose="02040503050406030204" pitchFamily="18" charset="0"/>
                            </a:rPr>
                          </m:ctrlPr>
                        </m:sSupPr>
                        <m:e>
                          <m:d>
                            <m:dPr>
                              <m:ctrlPr>
                                <a:rPr lang="en-US" sz="4400" b="1" i="1" smtClean="0">
                                  <a:solidFill>
                                    <a:schemeClr val="bg2">
                                      <a:lumMod val="10000"/>
                                    </a:schemeClr>
                                  </a:solidFill>
                                  <a:latin typeface="Cambria Math" panose="02040503050406030204" pitchFamily="18" charset="0"/>
                                </a:rPr>
                              </m:ctrlPr>
                            </m:dPr>
                            <m:e>
                              <m:sSup>
                                <m:sSupPr>
                                  <m:ctrlPr>
                                    <a:rPr lang="en-US" sz="4400" b="1" i="1" smtClean="0">
                                      <a:solidFill>
                                        <a:schemeClr val="bg2">
                                          <a:lumMod val="10000"/>
                                        </a:schemeClr>
                                      </a:solidFill>
                                      <a:latin typeface="Cambria Math" panose="02040503050406030204" pitchFamily="18" charset="0"/>
                                    </a:rPr>
                                  </m:ctrlPr>
                                </m:sSupPr>
                                <m:e>
                                  <m:r>
                                    <a:rPr lang="en-US" sz="4400" b="1" i="1" smtClean="0">
                                      <a:solidFill>
                                        <a:schemeClr val="bg2">
                                          <a:lumMod val="10000"/>
                                        </a:schemeClr>
                                      </a:solidFill>
                                      <a:latin typeface="Cambria Math" panose="02040503050406030204" pitchFamily="18" charset="0"/>
                                    </a:rPr>
                                    <m:t>𝑿</m:t>
                                  </m:r>
                                </m:e>
                                <m:sup>
                                  <m:r>
                                    <a:rPr lang="en-US" sz="4400" b="1" i="1" smtClean="0">
                                      <a:solidFill>
                                        <a:schemeClr val="bg2">
                                          <a:lumMod val="10000"/>
                                        </a:schemeClr>
                                      </a:solidFill>
                                      <a:latin typeface="Cambria Math" panose="02040503050406030204" pitchFamily="18" charset="0"/>
                                    </a:rPr>
                                    <m:t>𝑻</m:t>
                                  </m:r>
                                </m:sup>
                              </m:sSup>
                              <m:r>
                                <a:rPr lang="en-US" sz="4400" b="1" i="1" smtClean="0">
                                  <a:solidFill>
                                    <a:schemeClr val="bg2">
                                      <a:lumMod val="10000"/>
                                    </a:schemeClr>
                                  </a:solidFill>
                                  <a:latin typeface="Cambria Math" panose="02040503050406030204" pitchFamily="18" charset="0"/>
                                </a:rPr>
                                <m:t>𝑿</m:t>
                              </m:r>
                            </m:e>
                          </m:d>
                        </m:e>
                        <m:sup>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m:t>
                          </m:r>
                        </m:sup>
                      </m:sSup>
                      <m:sSup>
                        <m:sSupPr>
                          <m:ctrlPr>
                            <a:rPr lang="en-US" sz="4400" b="1" i="1" smtClean="0">
                              <a:solidFill>
                                <a:schemeClr val="bg2">
                                  <a:lumMod val="10000"/>
                                </a:schemeClr>
                              </a:solidFill>
                              <a:latin typeface="Cambria Math" panose="02040503050406030204" pitchFamily="18" charset="0"/>
                            </a:rPr>
                          </m:ctrlPr>
                        </m:sSupPr>
                        <m:e>
                          <m:r>
                            <a:rPr lang="en-US" sz="4400" b="1" i="1" smtClean="0">
                              <a:solidFill>
                                <a:schemeClr val="bg2">
                                  <a:lumMod val="10000"/>
                                </a:schemeClr>
                              </a:solidFill>
                              <a:latin typeface="Cambria Math" panose="02040503050406030204" pitchFamily="18" charset="0"/>
                            </a:rPr>
                            <m:t>𝑿</m:t>
                          </m:r>
                        </m:e>
                        <m:sup>
                          <m:r>
                            <a:rPr lang="en-US" sz="4400" b="1" i="1" smtClean="0">
                              <a:solidFill>
                                <a:schemeClr val="bg2">
                                  <a:lumMod val="10000"/>
                                </a:schemeClr>
                              </a:solidFill>
                              <a:latin typeface="Cambria Math" panose="02040503050406030204" pitchFamily="18" charset="0"/>
                            </a:rPr>
                            <m:t>𝑻</m:t>
                          </m:r>
                        </m:sup>
                      </m:sSup>
                      <m:r>
                        <a:rPr lang="en-US" sz="4400" b="1" i="1" smtClean="0">
                          <a:solidFill>
                            <a:schemeClr val="bg2">
                              <a:lumMod val="10000"/>
                            </a:schemeClr>
                          </a:solidFill>
                          <a:latin typeface="Cambria Math" panose="02040503050406030204" pitchFamily="18" charset="0"/>
                        </a:rPr>
                        <m:t>𝒀</m:t>
                      </m:r>
                    </m:oMath>
                  </m:oMathPara>
                </a14:m>
                <a:endParaRPr lang="en-US" sz="4400" b="1" dirty="0">
                  <a:solidFill>
                    <a:schemeClr val="bg2">
                      <a:lumMod val="10000"/>
                    </a:schemeClr>
                  </a:solidFill>
                </a:endParaRPr>
              </a:p>
              <a:p>
                <a:r>
                  <a:rPr lang="en-ID" sz="4400" dirty="0">
                    <a:solidFill>
                      <a:schemeClr val="bg2">
                        <a:lumMod val="10000"/>
                      </a:schemeClr>
                    </a:solidFill>
                  </a:rPr>
                  <a:t>The formula needs special matrix operations such as transpose and inverse.</a:t>
                </a:r>
              </a:p>
              <a:p>
                <a:r>
                  <a:rPr lang="en-ID" dirty="0">
                    <a:solidFill>
                      <a:schemeClr val="bg2">
                        <a:lumMod val="10000"/>
                      </a:schemeClr>
                    </a:solidFill>
                  </a:rPr>
                  <a:t>The formula that we have learned in previous page is actually a simplification of this formula!</a:t>
                </a:r>
                <a:endParaRPr lang="en-ID" sz="4400" dirty="0">
                  <a:solidFill>
                    <a:schemeClr val="bg2">
                      <a:lumMod val="10000"/>
                    </a:schemeClr>
                  </a:solidFill>
                </a:endParaRPr>
              </a:p>
              <a:p>
                <a:pPr marL="0" indent="0">
                  <a:buNone/>
                </a:pPr>
                <a:endParaRPr lang="en-ID" sz="4400" b="1" dirty="0">
                  <a:solidFill>
                    <a:schemeClr val="bg2">
                      <a:lumMod val="10000"/>
                    </a:schemeClr>
                  </a:solidFill>
                </a:endParaRPr>
              </a:p>
              <a:p>
                <a:endParaRPr lang="en-US" dirty="0">
                  <a:solidFill>
                    <a:schemeClr val="bg2">
                      <a:lumMod val="10000"/>
                    </a:schemeClr>
                  </a:solidFill>
                </a:endParaRPr>
              </a:p>
            </p:txBody>
          </p:sp>
        </mc:Choice>
        <mc:Fallback>
          <p:sp>
            <p:nvSpPr>
              <p:cNvPr id="4" name="Content Placeholder 4">
                <a:extLst>
                  <a:ext uri="{FF2B5EF4-FFF2-40B4-BE49-F238E27FC236}">
                    <a16:creationId xmlns:a16="http://schemas.microsoft.com/office/drawing/2014/main" id="{A506FE85-7C68-D231-CB54-4E487464C8F2}"/>
                  </a:ext>
                </a:extLst>
              </p:cNvPr>
              <p:cNvSpPr>
                <a:spLocks noGrp="1" noRot="1" noChangeAspect="1" noMove="1" noResize="1" noEditPoints="1" noAdjustHandles="1" noChangeArrowheads="1" noChangeShapeType="1" noTextEdit="1"/>
              </p:cNvSpPr>
              <p:nvPr>
                <p:ph sz="quarter" idx="11"/>
              </p:nvPr>
            </p:nvSpPr>
            <p:spPr>
              <a:xfrm>
                <a:off x="2163188" y="3260663"/>
                <a:ext cx="20057623" cy="9607844"/>
              </a:xfrm>
              <a:blipFill>
                <a:blip r:embed="rId2"/>
                <a:stretch>
                  <a:fillRect l="-1307" t="-1206" r="-1429"/>
                </a:stretch>
              </a:blipFill>
            </p:spPr>
            <p:txBody>
              <a:bodyPr/>
              <a:lstStyle/>
              <a:p>
                <a:r>
                  <a:rPr lang="en-US">
                    <a:noFill/>
                  </a:rPr>
                  <a:t> </a:t>
                </a:r>
              </a:p>
            </p:txBody>
          </p:sp>
        </mc:Fallback>
      </mc:AlternateContent>
    </p:spTree>
    <p:extLst>
      <p:ext uri="{BB962C8B-B14F-4D97-AF65-F5344CB8AC3E}">
        <p14:creationId xmlns:p14="http://schemas.microsoft.com/office/powerpoint/2010/main" val="209053971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CBEB2-3AB4-B8D6-1260-296D0FF57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A3F84-E54C-5F77-D132-9604BE3C81F7}"/>
              </a:ext>
            </a:extLst>
          </p:cNvPr>
          <p:cNvSpPr>
            <a:spLocks noGrp="1"/>
          </p:cNvSpPr>
          <p:nvPr>
            <p:ph type="title"/>
          </p:nvPr>
        </p:nvSpPr>
        <p:spPr/>
        <p:txBody>
          <a:bodyPr>
            <a:normAutofit fontScale="90000"/>
          </a:bodyPr>
          <a:lstStyle/>
          <a:p>
            <a:r>
              <a:rPr lang="en-US" dirty="0"/>
              <a:t>Multi variable regression</a:t>
            </a:r>
          </a:p>
        </p:txBody>
      </p:sp>
      <p:sp>
        <p:nvSpPr>
          <p:cNvPr id="3" name="Text Placeholder 2">
            <a:extLst>
              <a:ext uri="{FF2B5EF4-FFF2-40B4-BE49-F238E27FC236}">
                <a16:creationId xmlns:a16="http://schemas.microsoft.com/office/drawing/2014/main" id="{C5867469-6634-8A41-064A-6081AAD25E5E}"/>
              </a:ext>
            </a:extLst>
          </p:cNvPr>
          <p:cNvSpPr>
            <a:spLocks noGrp="1"/>
          </p:cNvSpPr>
          <p:nvPr>
            <p:ph type="body" sz="quarter" idx="10"/>
          </p:nvPr>
        </p:nvSpPr>
        <p:spPr/>
        <p:txBody>
          <a:bodyPr/>
          <a:lstStyle/>
          <a:p>
            <a:r>
              <a:rPr lang="en-US" dirty="0"/>
              <a:t>Example</a:t>
            </a:r>
          </a:p>
        </p:txBody>
      </p:sp>
      <mc:AlternateContent xmlns:mc="http://schemas.openxmlformats.org/markup-compatibility/2006">
        <mc:Choice xmlns:a14="http://schemas.microsoft.com/office/drawing/2010/main" Requires="a14">
          <p:sp>
            <p:nvSpPr>
              <p:cNvPr id="4" name="Content Placeholder 4">
                <a:extLst>
                  <a:ext uri="{FF2B5EF4-FFF2-40B4-BE49-F238E27FC236}">
                    <a16:creationId xmlns:a16="http://schemas.microsoft.com/office/drawing/2014/main" id="{0D6B55CA-B8B5-B1D1-313A-D4070EA144D3}"/>
                  </a:ext>
                </a:extLst>
              </p:cNvPr>
              <p:cNvSpPr>
                <a:spLocks noGrp="1"/>
              </p:cNvSpPr>
              <p:nvPr>
                <p:ph sz="quarter" idx="11"/>
              </p:nvPr>
            </p:nvSpPr>
            <p:spPr>
              <a:xfrm>
                <a:off x="2163188" y="3260663"/>
                <a:ext cx="20057623" cy="8583279"/>
              </a:xfrm>
            </p:spPr>
            <p:txBody>
              <a:bodyPr>
                <a:normAutofit fontScale="92500" lnSpcReduction="10000"/>
              </a:bodyPr>
              <a:lstStyle/>
              <a:p>
                <a:pPr marL="272700" indent="-571500" algn="just"/>
                <a:r>
                  <a:rPr lang="en-US" dirty="0">
                    <a:solidFill>
                      <a:schemeClr val="bg2">
                        <a:lumMod val="10000"/>
                      </a:schemeClr>
                    </a:solidFill>
                    <a:latin typeface="+mj-lt"/>
                  </a:rPr>
                  <a:t>Using the example data from before, we can input them here:</a:t>
                </a:r>
                <a:endParaRPr lang="en-US" sz="4400" dirty="0">
                  <a:solidFill>
                    <a:schemeClr val="bg2">
                      <a:lumMod val="10000"/>
                    </a:schemeClr>
                  </a:solidFill>
                  <a:latin typeface="+mj-lt"/>
                </a:endParaRPr>
              </a:p>
              <a:p>
                <a:pPr marL="0" indent="0">
                  <a:buNone/>
                </a:pPr>
                <a14:m>
                  <m:oMathPara xmlns:m="http://schemas.openxmlformats.org/officeDocument/2006/math">
                    <m:oMathParaPr>
                      <m:jc m:val="centerGroup"/>
                    </m:oMathParaPr>
                    <m:oMath xmlns:m="http://schemas.openxmlformats.org/officeDocument/2006/math">
                      <m:r>
                        <a:rPr lang="en-US" sz="4400" b="1" i="1" smtClean="0">
                          <a:solidFill>
                            <a:schemeClr val="bg2">
                              <a:lumMod val="10000"/>
                            </a:schemeClr>
                          </a:solidFill>
                          <a:latin typeface="Cambria Math" panose="02040503050406030204" pitchFamily="18" charset="0"/>
                        </a:rPr>
                        <m:t>𝒃</m:t>
                      </m:r>
                      <m:r>
                        <a:rPr lang="en-US" sz="4400" b="1" i="1" smtClean="0">
                          <a:solidFill>
                            <a:schemeClr val="bg2">
                              <a:lumMod val="10000"/>
                            </a:schemeClr>
                          </a:solidFill>
                          <a:latin typeface="Cambria Math" panose="02040503050406030204" pitchFamily="18" charset="0"/>
                        </a:rPr>
                        <m:t>=</m:t>
                      </m:r>
                      <m:sSup>
                        <m:sSupPr>
                          <m:ctrlPr>
                            <a:rPr lang="en-US" sz="4400" b="1" i="1" smtClean="0">
                              <a:solidFill>
                                <a:schemeClr val="bg2">
                                  <a:lumMod val="10000"/>
                                </a:schemeClr>
                              </a:solidFill>
                              <a:latin typeface="Cambria Math" panose="02040503050406030204" pitchFamily="18" charset="0"/>
                            </a:rPr>
                          </m:ctrlPr>
                        </m:sSupPr>
                        <m:e>
                          <m:d>
                            <m:dPr>
                              <m:ctrlPr>
                                <a:rPr lang="en-US" sz="4400" b="1" i="1" smtClean="0">
                                  <a:solidFill>
                                    <a:schemeClr val="bg2">
                                      <a:lumMod val="10000"/>
                                    </a:schemeClr>
                                  </a:solidFill>
                                  <a:latin typeface="Cambria Math" panose="02040503050406030204" pitchFamily="18" charset="0"/>
                                </a:rPr>
                              </m:ctrlPr>
                            </m:dPr>
                            <m:e>
                              <m:sSup>
                                <m:sSupPr>
                                  <m:ctrlPr>
                                    <a:rPr lang="en-US" sz="4400" b="1" i="1" smtClean="0">
                                      <a:solidFill>
                                        <a:schemeClr val="bg2">
                                          <a:lumMod val="10000"/>
                                        </a:schemeClr>
                                      </a:solidFill>
                                      <a:latin typeface="Cambria Math" panose="02040503050406030204" pitchFamily="18" charset="0"/>
                                    </a:rPr>
                                  </m:ctrlPr>
                                </m:sSupPr>
                                <m:e>
                                  <m:r>
                                    <a:rPr lang="en-US" sz="4400" b="1" i="1" smtClean="0">
                                      <a:solidFill>
                                        <a:schemeClr val="bg2">
                                          <a:lumMod val="10000"/>
                                        </a:schemeClr>
                                      </a:solidFill>
                                      <a:latin typeface="Cambria Math" panose="02040503050406030204" pitchFamily="18" charset="0"/>
                                    </a:rPr>
                                    <m:t>𝑿</m:t>
                                  </m:r>
                                </m:e>
                                <m:sup>
                                  <m:r>
                                    <a:rPr lang="en-US" sz="4400" b="1" i="1" smtClean="0">
                                      <a:solidFill>
                                        <a:schemeClr val="bg2">
                                          <a:lumMod val="10000"/>
                                        </a:schemeClr>
                                      </a:solidFill>
                                      <a:latin typeface="Cambria Math" panose="02040503050406030204" pitchFamily="18" charset="0"/>
                                    </a:rPr>
                                    <m:t>𝑻</m:t>
                                  </m:r>
                                </m:sup>
                              </m:sSup>
                              <m:r>
                                <a:rPr lang="en-US" sz="4400" b="1" i="1" smtClean="0">
                                  <a:solidFill>
                                    <a:schemeClr val="bg2">
                                      <a:lumMod val="10000"/>
                                    </a:schemeClr>
                                  </a:solidFill>
                                  <a:latin typeface="Cambria Math" panose="02040503050406030204" pitchFamily="18" charset="0"/>
                                </a:rPr>
                                <m:t>𝑿</m:t>
                              </m:r>
                            </m:e>
                          </m:d>
                        </m:e>
                        <m:sup>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m:t>
                          </m:r>
                        </m:sup>
                      </m:sSup>
                      <m:sSup>
                        <m:sSupPr>
                          <m:ctrlPr>
                            <a:rPr lang="en-US" sz="4400" b="1" i="1" smtClean="0">
                              <a:solidFill>
                                <a:schemeClr val="bg2">
                                  <a:lumMod val="10000"/>
                                </a:schemeClr>
                              </a:solidFill>
                              <a:latin typeface="Cambria Math" panose="02040503050406030204" pitchFamily="18" charset="0"/>
                            </a:rPr>
                          </m:ctrlPr>
                        </m:sSupPr>
                        <m:e>
                          <m:r>
                            <a:rPr lang="en-US" sz="4400" b="1" i="1" smtClean="0">
                              <a:solidFill>
                                <a:schemeClr val="bg2">
                                  <a:lumMod val="10000"/>
                                </a:schemeClr>
                              </a:solidFill>
                              <a:latin typeface="Cambria Math" panose="02040503050406030204" pitchFamily="18" charset="0"/>
                            </a:rPr>
                            <m:t>𝑿</m:t>
                          </m:r>
                        </m:e>
                        <m:sup>
                          <m:r>
                            <a:rPr lang="en-US" sz="4400" b="1" i="1" smtClean="0">
                              <a:solidFill>
                                <a:schemeClr val="bg2">
                                  <a:lumMod val="10000"/>
                                </a:schemeClr>
                              </a:solidFill>
                              <a:latin typeface="Cambria Math" panose="02040503050406030204" pitchFamily="18" charset="0"/>
                            </a:rPr>
                            <m:t>𝑻</m:t>
                          </m:r>
                        </m:sup>
                      </m:sSup>
                      <m:r>
                        <a:rPr lang="en-US" sz="4400" b="1" i="1" smtClean="0">
                          <a:solidFill>
                            <a:schemeClr val="bg2">
                              <a:lumMod val="10000"/>
                            </a:schemeClr>
                          </a:solidFill>
                          <a:latin typeface="Cambria Math" panose="02040503050406030204" pitchFamily="18" charset="0"/>
                        </a:rPr>
                        <m:t>𝒀</m:t>
                      </m:r>
                    </m:oMath>
                  </m:oMathPara>
                </a14:m>
                <a:endParaRPr lang="en-US" sz="4400" b="1" dirty="0">
                  <a:solidFill>
                    <a:schemeClr val="bg2">
                      <a:lumMod val="10000"/>
                    </a:schemeClr>
                  </a:solidFill>
                </a:endParaRPr>
              </a:p>
              <a:p>
                <a:pPr marL="0" indent="0" algn="ctr">
                  <a:buNone/>
                </a:pPr>
                <a14:m>
                  <m:oMath xmlns:m="http://schemas.openxmlformats.org/officeDocument/2006/math">
                    <m:r>
                      <a:rPr lang="en-US" sz="4400" b="1" i="1" smtClean="0">
                        <a:solidFill>
                          <a:schemeClr val="bg2">
                            <a:lumMod val="10000"/>
                          </a:schemeClr>
                        </a:solidFill>
                        <a:latin typeface="Cambria Math" panose="02040503050406030204" pitchFamily="18" charset="0"/>
                      </a:rPr>
                      <m:t>𝒃</m:t>
                    </m:r>
                    <m:r>
                      <a:rPr lang="en-US" sz="4400" b="1" i="1" smtClean="0">
                        <a:solidFill>
                          <a:schemeClr val="bg2">
                            <a:lumMod val="10000"/>
                          </a:schemeClr>
                        </a:solidFill>
                        <a:latin typeface="Cambria Math" panose="02040503050406030204" pitchFamily="18" charset="0"/>
                      </a:rPr>
                      <m:t>=</m:t>
                    </m:r>
                    <m:sSup>
                      <m:sSupPr>
                        <m:ctrlPr>
                          <a:rPr lang="en-US" sz="4400" b="1" i="1" smtClean="0">
                            <a:solidFill>
                              <a:schemeClr val="bg2">
                                <a:lumMod val="10000"/>
                              </a:schemeClr>
                            </a:solidFill>
                            <a:latin typeface="Cambria Math" panose="02040503050406030204" pitchFamily="18" charset="0"/>
                          </a:rPr>
                        </m:ctrlPr>
                      </m:sSupPr>
                      <m:e>
                        <m:d>
                          <m:dPr>
                            <m:ctrlPr>
                              <a:rPr lang="en-US" sz="4400" b="1" i="1" smtClean="0">
                                <a:solidFill>
                                  <a:schemeClr val="bg2">
                                    <a:lumMod val="10000"/>
                                  </a:schemeClr>
                                </a:solidFill>
                                <a:latin typeface="Cambria Math" panose="02040503050406030204" pitchFamily="18" charset="0"/>
                              </a:rPr>
                            </m:ctrlPr>
                          </m:dPr>
                          <m:e>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𝟏</m:t>
                                          </m:r>
                                        </m:e>
                                        <m:e>
                                          <m:r>
                                            <a:rPr lang="en-US" b="1" i="1" smtClean="0">
                                              <a:latin typeface="Cambria Math" panose="02040503050406030204" pitchFamily="18" charset="0"/>
                                            </a:rPr>
                                            <m:t>𝟑</m:t>
                                          </m:r>
                                        </m:e>
                                      </m:eqArr>
                                    </m:e>
                                  </m:mr>
                                  <m:mr>
                                    <m:e>
                                      <m:r>
                                        <a:rPr lang="en-US" b="1" i="1" smtClean="0">
                                          <a:solidFill>
                                            <a:schemeClr val="bg2">
                                              <a:lumMod val="10000"/>
                                            </a:schemeClr>
                                          </a:solidFill>
                                          <a:latin typeface="Cambria Math" panose="02040503050406030204" pitchFamily="18" charset="0"/>
                                        </a:rPr>
                                        <m:t>𝟖</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𝟏</m:t>
                                          </m:r>
                                        </m:e>
                                        <m:e>
                                          <m:r>
                                            <a:rPr lang="en-US" b="1" i="1" smtClean="0">
                                              <a:latin typeface="Cambria Math" panose="02040503050406030204" pitchFamily="18" charset="0"/>
                                            </a:rPr>
                                            <m:t>𝟒</m:t>
                                          </m:r>
                                        </m:e>
                                      </m:eqAr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𝟓</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𝟏</m:t>
                                          </m:r>
                                        </m:e>
                                        <m:e>
                                          <m:r>
                                            <a:rPr lang="en-US" b="1" i="1" smtClean="0">
                                              <a:latin typeface="Cambria Math" panose="02040503050406030204" pitchFamily="18" charset="0"/>
                                            </a:rPr>
                                            <m:t>𝟓</m:t>
                                          </m:r>
                                        </m:e>
                                      </m:eqAr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𝟕</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𝟏</m:t>
                                          </m:r>
                                        </m:e>
                                        <m:e>
                                          <m:r>
                                            <a:rPr lang="en-US" b="1" i="1" smtClean="0">
                                              <a:latin typeface="Cambria Math" panose="02040503050406030204" pitchFamily="18" charset="0"/>
                                            </a:rPr>
                                            <m:t>𝟔</m:t>
                                          </m:r>
                                        </m:e>
                                      </m:eqAr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𝟑</m:t>
                                      </m:r>
                                    </m:e>
                                  </m:mr>
                                </m:m>
                                <m:r>
                                  <a:rPr lang="en-US" b="1" i="1" smtClean="0">
                                    <a:solidFill>
                                      <a:schemeClr val="bg2">
                                        <a:lumMod val="10000"/>
                                      </a:schemeClr>
                                    </a:solidFill>
                                    <a:latin typeface="Cambria Math" panose="02040503050406030204" pitchFamily="18" charset="0"/>
                                  </a:rPr>
                                  <m:t>  </m:t>
                                </m:r>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𝟏</m:t>
                                      </m:r>
                                    </m:e>
                                  </m:m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𝟐</m:t>
                                          </m:r>
                                        </m:e>
                                        <m:e>
                                          <m:r>
                                            <a:rPr lang="en-US" b="1" i="1" smtClean="0">
                                              <a:latin typeface="Cambria Math" panose="02040503050406030204" pitchFamily="18" charset="0"/>
                                            </a:rPr>
                                            <m:t>𝟏</m:t>
                                          </m:r>
                                        </m:e>
                                      </m:eqArr>
                                    </m:e>
                                  </m:mr>
                                </m:m>
                              </m:e>
                            </m:d>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𝟏</m:t>
                                      </m:r>
                                    </m:e>
                                  </m:mr>
                                  <m:mr>
                                    <m:e>
                                      <m:r>
                                        <a:rPr lang="en-US" b="1" i="1" smtClean="0">
                                          <a:solidFill>
                                            <a:schemeClr val="bg2">
                                              <a:lumMod val="10000"/>
                                            </a:schemeClr>
                                          </a:solidFill>
                                          <a:latin typeface="Cambria Math" panose="02040503050406030204" pitchFamily="18" charset="0"/>
                                        </a:rPr>
                                        <m:t>𝟏</m:t>
                                      </m:r>
                                    </m:e>
                                  </m:m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𝟏</m:t>
                                          </m:r>
                                        </m:e>
                                        <m:e>
                                          <m:r>
                                            <a:rPr lang="en-US" b="1" i="1" smtClean="0">
                                              <a:latin typeface="Cambria Math" panose="02040503050406030204" pitchFamily="18" charset="0"/>
                                            </a:rPr>
                                            <m:t>𝟏</m:t>
                                          </m:r>
                                        </m:e>
                                        <m:e>
                                          <m:r>
                                            <a:rPr lang="en-US" b="1" i="1" smtClean="0">
                                              <a:latin typeface="Cambria Math" panose="02040503050406030204" pitchFamily="18" charset="0"/>
                                            </a:rPr>
                                            <m:t>𝟏</m:t>
                                          </m:r>
                                        </m:e>
                                      </m:eqAr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𝟑</m:t>
                                          </m:r>
                                        </m:e>
                                        <m:e>
                                          <m:r>
                                            <a:rPr lang="en-US" b="1" i="1" smtClean="0">
                                              <a:latin typeface="Cambria Math" panose="02040503050406030204" pitchFamily="18" charset="0"/>
                                            </a:rPr>
                                            <m:t>  </m:t>
                                          </m:r>
                                          <m:r>
                                            <a:rPr lang="en-US" b="1" i="1" smtClean="0">
                                              <a:latin typeface="Cambria Math" panose="02040503050406030204" pitchFamily="18" charset="0"/>
                                            </a:rPr>
                                            <m:t>𝟒</m:t>
                                          </m:r>
                                        </m:e>
                                        <m:e>
                                          <m:r>
                                            <a:rPr lang="en-US" b="1" i="1" smtClean="0">
                                              <a:latin typeface="Cambria Math" panose="02040503050406030204" pitchFamily="18" charset="0"/>
                                            </a:rPr>
                                            <m:t>  </m:t>
                                          </m:r>
                                          <m:r>
                                            <a:rPr lang="en-US" b="1" i="1" smtClean="0">
                                              <a:latin typeface="Cambria Math" panose="02040503050406030204" pitchFamily="18" charset="0"/>
                                            </a:rPr>
                                            <m:t>𝟓</m:t>
                                          </m:r>
                                        </m:e>
                                      </m:eqAr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𝟔</m:t>
                                      </m: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𝟐</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𝟖</m:t>
                                          </m:r>
                                        </m:e>
                                        <m:e>
                                          <m:r>
                                            <a:rPr lang="en-US" b="1" i="1" smtClean="0">
                                              <a:latin typeface="Cambria Math" panose="02040503050406030204" pitchFamily="18" charset="0"/>
                                            </a:rPr>
                                            <m:t>𝟓</m:t>
                                          </m:r>
                                        </m:e>
                                        <m:e>
                                          <m:r>
                                            <a:rPr lang="en-US" b="1" i="1" smtClean="0">
                                              <a:latin typeface="Cambria Math" panose="02040503050406030204" pitchFamily="18" charset="0"/>
                                            </a:rPr>
                                            <m:t>𝟕</m:t>
                                          </m:r>
                                        </m:e>
                                      </m:eqAr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𝟑</m:t>
                                      </m:r>
                                    </m:e>
                                  </m:mr>
                                  <m:mr>
                                    <m:e>
                                      <m:r>
                                        <a:rPr lang="en-US" b="1" i="1" smtClean="0">
                                          <a:solidFill>
                                            <a:schemeClr val="bg2">
                                              <a:lumMod val="10000"/>
                                            </a:schemeClr>
                                          </a:solidFill>
                                          <a:latin typeface="Cambria Math" panose="02040503050406030204" pitchFamily="18" charset="0"/>
                                        </a:rPr>
                                        <m:t>  </m:t>
                                      </m:r>
                                      <m:r>
                                        <a:rPr lang="en-US" b="1" i="1" smtClean="0">
                                          <a:solidFill>
                                            <a:schemeClr val="bg2">
                                              <a:lumMod val="10000"/>
                                            </a:schemeClr>
                                          </a:solidFill>
                                          <a:latin typeface="Cambria Math" panose="02040503050406030204" pitchFamily="18" charset="0"/>
                                        </a:rPr>
                                        <m:t>𝟏</m:t>
                                      </m:r>
                                    </m:e>
                                  </m:mr>
                                </m:m>
                              </m:e>
                            </m:d>
                          </m:e>
                        </m:d>
                      </m:e>
                      <m:sup>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m:t>
                        </m:r>
                      </m:sup>
                    </m:sSup>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e>
                                <m:e>
                                  <m:r>
                                    <a:rPr lang="en-US" b="1" i="1">
                                      <a:latin typeface="Cambria Math" panose="02040503050406030204" pitchFamily="18" charset="0"/>
                                    </a:rPr>
                                    <m:t>𝟑</m:t>
                                  </m:r>
                                </m:e>
                              </m:eqArr>
                            </m:e>
                          </m:mr>
                          <m:mr>
                            <m:e>
                              <m:r>
                                <a:rPr lang="en-US" b="1" i="1">
                                  <a:solidFill>
                                    <a:schemeClr val="bg2">
                                      <a:lumMod val="10000"/>
                                    </a:schemeClr>
                                  </a:solidFill>
                                  <a:latin typeface="Cambria Math" panose="02040503050406030204" pitchFamily="18" charset="0"/>
                                </a:rPr>
                                <m:t>𝟖</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e>
                                <m:e>
                                  <m:r>
                                    <a:rPr lang="en-US" b="1" i="1">
                                      <a:latin typeface="Cambria Math" panose="02040503050406030204" pitchFamily="18" charset="0"/>
                                    </a:rPr>
                                    <m:t>𝟒</m:t>
                                  </m:r>
                                </m:e>
                              </m:eqArr>
                            </m:e>
                          </m:mr>
                          <m:mr>
                            <m:e>
                              <m: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𝟓</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e>
                                <m:e>
                                  <m:r>
                                    <a:rPr lang="en-US" b="1" i="1">
                                      <a:latin typeface="Cambria Math" panose="02040503050406030204" pitchFamily="18" charset="0"/>
                                    </a:rPr>
                                    <m:t>𝟓</m:t>
                                  </m:r>
                                </m:e>
                              </m:eqArr>
                            </m:e>
                          </m:mr>
                          <m:mr>
                            <m:e>
                              <m: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𝟕</m:t>
                              </m:r>
                            </m:e>
                          </m:mr>
                        </m:m>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 </m:t>
                              </m:r>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e>
                                <m:e>
                                  <m:r>
                                    <a:rPr lang="en-US" b="1" i="1">
                                      <a:latin typeface="Cambria Math" panose="02040503050406030204" pitchFamily="18" charset="0"/>
                                    </a:rPr>
                                    <m:t>𝟔</m:t>
                                  </m:r>
                                </m:e>
                              </m:eqArr>
                            </m:e>
                          </m:mr>
                          <m:mr>
                            <m:e>
                              <m:r>
                                <a:rPr lang="en-US" b="1" i="1">
                                  <a:solidFill>
                                    <a:schemeClr val="bg2">
                                      <a:lumMod val="10000"/>
                                    </a:schemeClr>
                                  </a:solidFill>
                                  <a:latin typeface="Cambria Math" panose="02040503050406030204" pitchFamily="18" charset="0"/>
                                </a:rPr>
                                <m:t>  </m:t>
                              </m:r>
                              <m:r>
                                <a:rPr lang="en-US" b="1" i="1">
                                  <a:solidFill>
                                    <a:schemeClr val="bg2">
                                      <a:lumMod val="10000"/>
                                    </a:schemeClr>
                                  </a:solidFill>
                                  <a:latin typeface="Cambria Math" panose="02040503050406030204" pitchFamily="18" charset="0"/>
                                </a:rPr>
                                <m:t>𝟑</m:t>
                              </m:r>
                            </m:e>
                          </m:mr>
                        </m:m>
                        <m:r>
                          <a:rPr lang="en-US" b="1" i="1">
                            <a:solidFill>
                              <a:schemeClr val="bg2">
                                <a:lumMod val="10000"/>
                              </a:schemeClr>
                            </a:solidFill>
                            <a:latin typeface="Cambria Math" panose="02040503050406030204" pitchFamily="18" charset="0"/>
                          </a:rPr>
                          <m:t>  </m:t>
                        </m:r>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a:solidFill>
                                    <a:schemeClr val="bg2">
                                      <a:lumMod val="10000"/>
                                    </a:schemeClr>
                                  </a:solidFill>
                                  <a:latin typeface="Cambria Math" panose="02040503050406030204" pitchFamily="18" charset="0"/>
                                </a:rPr>
                                <m:t>𝟏</m:t>
                              </m:r>
                            </m:e>
                          </m:mr>
                          <m:mr>
                            <m:e>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𝟐</m:t>
                                  </m:r>
                                </m:e>
                                <m:e>
                                  <m:r>
                                    <a:rPr lang="en-US" b="1" i="1">
                                      <a:latin typeface="Cambria Math" panose="02040503050406030204" pitchFamily="18" charset="0"/>
                                    </a:rPr>
                                    <m:t>𝟏</m:t>
                                  </m:r>
                                </m:e>
                              </m:eqArr>
                            </m:e>
                          </m:mr>
                        </m:m>
                      </m:e>
                    </m:d>
                  </m:oMath>
                </a14:m>
                <a:r>
                  <a:rPr lang="en-US" b="1" dirty="0">
                    <a:solidFill>
                      <a:schemeClr val="bg2">
                        <a:lumMod val="10000"/>
                      </a:schemeClr>
                    </a:solidFill>
                  </a:rPr>
                  <a:t> </a:t>
                </a:r>
                <a14:m>
                  <m:oMath xmlns:m="http://schemas.openxmlformats.org/officeDocument/2006/math">
                    <m:d>
                      <m:dPr>
                        <m:begChr m:val="["/>
                        <m:endChr m:val="]"/>
                        <m:ctrlPr>
                          <a:rPr lang="en-US" b="1" i="0"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r>
                                <m:rPr>
                                  <m:brk m:alnAt="7"/>
                                </m:rP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𝟑</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𝟕</m:t>
                              </m:r>
                            </m:e>
                          </m:mr>
                          <m:mr>
                            <m:e>
                              <m:r>
                                <a:rPr lang="en-US" b="1" i="1" smtClean="0">
                                  <a:solidFill>
                                    <a:schemeClr val="bg2">
                                      <a:lumMod val="10000"/>
                                    </a:schemeClr>
                                  </a:solidFill>
                                  <a:latin typeface="Cambria Math" panose="02040503050406030204" pitchFamily="18" charset="0"/>
                                </a:rPr>
                                <m:t>𝟑</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𝟓</m:t>
                              </m:r>
                            </m:e>
                          </m:m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𝟐</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𝟓</m:t>
                                  </m:r>
                                </m:e>
                                <m:e>
                                  <m:r>
                                    <a:rPr lang="en-US" b="1" i="1" smtClean="0">
                                      <a:solidFill>
                                        <a:schemeClr val="bg2">
                                          <a:lumMod val="10000"/>
                                        </a:schemeClr>
                                      </a:solidFill>
                                      <a:latin typeface="Cambria Math" panose="02040503050406030204" pitchFamily="18" charset="0"/>
                                    </a:rPr>
                                    <m:t>𝟏𝟏</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𝟓</m:t>
                                  </m:r>
                                </m:e>
                                <m:e>
                                  <m:r>
                                    <a:rPr lang="en-US" b="1" i="1" smtClean="0">
                                      <a:latin typeface="Cambria Math" panose="02040503050406030204" pitchFamily="18" charset="0"/>
                                    </a:rPr>
                                    <m:t>𝟓</m:t>
                                  </m:r>
                                  <m:r>
                                    <a:rPr lang="en-US" b="1" i="1" smtClean="0">
                                      <a:latin typeface="Cambria Math" panose="02040503050406030204" pitchFamily="18" charset="0"/>
                                    </a:rPr>
                                    <m:t>.</m:t>
                                  </m:r>
                                  <m:r>
                                    <a:rPr lang="en-US" b="1" i="1" smtClean="0">
                                      <a:latin typeface="Cambria Math" panose="02040503050406030204" pitchFamily="18" charset="0"/>
                                    </a:rPr>
                                    <m:t>𝟕</m:t>
                                  </m:r>
                                </m:e>
                              </m:eqArr>
                            </m:e>
                          </m:mr>
                        </m:m>
                      </m:e>
                    </m:d>
                  </m:oMath>
                </a14:m>
                <a:endParaRPr lang="en-ID" b="1" dirty="0">
                  <a:solidFill>
                    <a:schemeClr val="bg2">
                      <a:lumMod val="10000"/>
                    </a:schemeClr>
                  </a:solidFill>
                </a:endParaRPr>
              </a:p>
              <a:p>
                <a:pPr marL="0" indent="0" algn="ctr">
                  <a:buNone/>
                </a:pPr>
                <a14:m>
                  <m:oMathPara xmlns:m="http://schemas.openxmlformats.org/officeDocument/2006/math">
                    <m:oMathParaPr>
                      <m:jc m:val="centerGroup"/>
                    </m:oMathParaPr>
                    <m:oMath xmlns:m="http://schemas.openxmlformats.org/officeDocument/2006/math">
                      <m:r>
                        <a:rPr lang="en-US" sz="4400" b="1" i="1" smtClean="0">
                          <a:solidFill>
                            <a:schemeClr val="bg2">
                              <a:lumMod val="10000"/>
                            </a:schemeClr>
                          </a:solidFill>
                          <a:latin typeface="Cambria Math" panose="02040503050406030204" pitchFamily="18" charset="0"/>
                        </a:rPr>
                        <m:t>𝒃</m:t>
                      </m:r>
                      <m:r>
                        <a:rPr lang="en-US" sz="4400" b="1" i="1" smtClean="0">
                          <a:solidFill>
                            <a:schemeClr val="bg2">
                              <a:lumMod val="10000"/>
                            </a:schemeClr>
                          </a:solidFill>
                          <a:latin typeface="Cambria Math" panose="02040503050406030204" pitchFamily="18" charset="0"/>
                        </a:rPr>
                        <m:t>=</m:t>
                      </m:r>
                      <m:sSup>
                        <m:sSupPr>
                          <m:ctrlPr>
                            <a:rPr lang="en-US" sz="4400" b="1" i="1" smtClean="0">
                              <a:solidFill>
                                <a:schemeClr val="bg2">
                                  <a:lumMod val="10000"/>
                                </a:schemeClr>
                              </a:solidFill>
                              <a:latin typeface="Cambria Math" panose="02040503050406030204" pitchFamily="18" charset="0"/>
                            </a:rPr>
                          </m:ctrlPr>
                        </m:sSupPr>
                        <m:e>
                          <m:d>
                            <m:dPr>
                              <m:ctrlPr>
                                <a:rPr lang="en-US" sz="4400" b="1" i="1" smtClean="0">
                                  <a:solidFill>
                                    <a:schemeClr val="bg2">
                                      <a:lumMod val="10000"/>
                                    </a:schemeClr>
                                  </a:solidFill>
                                  <a:latin typeface="Cambria Math" panose="02040503050406030204" pitchFamily="18" charset="0"/>
                                </a:rPr>
                              </m:ctrlPr>
                            </m:dPr>
                            <m:e>
                              <m:m>
                                <m:mPr>
                                  <m:mcs>
                                    <m:mc>
                                      <m:mcPr>
                                        <m:count m:val="3"/>
                                        <m:mcJc m:val="center"/>
                                      </m:mcPr>
                                    </m:mc>
                                  </m:mcs>
                                  <m:ctrlPr>
                                    <a:rPr lang="en-US" sz="4400" b="1" i="1" smtClean="0">
                                      <a:solidFill>
                                        <a:schemeClr val="bg2">
                                          <a:lumMod val="10000"/>
                                        </a:schemeClr>
                                      </a:solidFill>
                                      <a:latin typeface="Cambria Math" panose="02040503050406030204" pitchFamily="18" charset="0"/>
                                    </a:rPr>
                                  </m:ctrlPr>
                                </m:mPr>
                                <m:mr>
                                  <m:e>
                                    <m:r>
                                      <m:rPr>
                                        <m:brk m:alnAt="7"/>
                                      </m:rPr>
                                      <a:rPr lang="en-US" sz="4400" b="1" i="1" smtClean="0">
                                        <a:solidFill>
                                          <a:schemeClr val="bg2">
                                            <a:lumMod val="10000"/>
                                          </a:schemeClr>
                                        </a:solidFill>
                                        <a:latin typeface="Cambria Math" panose="02040503050406030204" pitchFamily="18" charset="0"/>
                                      </a:rPr>
                                      <m:t>𝟓</m:t>
                                    </m:r>
                                  </m:e>
                                  <m:e>
                                    <m:r>
                                      <a:rPr lang="en-US" sz="4400" b="1" i="1" smtClean="0">
                                        <a:solidFill>
                                          <a:schemeClr val="bg2">
                                            <a:lumMod val="10000"/>
                                          </a:schemeClr>
                                        </a:solidFill>
                                        <a:latin typeface="Cambria Math" panose="02040503050406030204" pitchFamily="18" charset="0"/>
                                      </a:rPr>
                                      <m:t>𝟐𝟎</m:t>
                                    </m:r>
                                  </m:e>
                                  <m:e>
                                    <m:r>
                                      <a:rPr lang="en-US" sz="4400" b="1" i="1" smtClean="0">
                                        <a:solidFill>
                                          <a:schemeClr val="bg2">
                                            <a:lumMod val="10000"/>
                                          </a:schemeClr>
                                        </a:solidFill>
                                        <a:latin typeface="Cambria Math" panose="02040503050406030204" pitchFamily="18" charset="0"/>
                                      </a:rPr>
                                      <m:t>𝟐𝟒</m:t>
                                    </m:r>
                                  </m:e>
                                </m:mr>
                                <m:mr>
                                  <m:e>
                                    <m:r>
                                      <a:rPr lang="en-US" sz="4400" b="1" i="1" smtClean="0">
                                        <a:solidFill>
                                          <a:schemeClr val="bg2">
                                            <a:lumMod val="10000"/>
                                          </a:schemeClr>
                                        </a:solidFill>
                                        <a:latin typeface="Cambria Math" panose="02040503050406030204" pitchFamily="18" charset="0"/>
                                      </a:rPr>
                                      <m:t>𝟐𝟎</m:t>
                                    </m:r>
                                  </m:e>
                                  <m:e>
                                    <m:r>
                                      <a:rPr lang="en-US" sz="4400" b="1" i="1" smtClean="0">
                                        <a:solidFill>
                                          <a:schemeClr val="bg2">
                                            <a:lumMod val="10000"/>
                                          </a:schemeClr>
                                        </a:solidFill>
                                        <a:latin typeface="Cambria Math" panose="02040503050406030204" pitchFamily="18" charset="0"/>
                                      </a:rPr>
                                      <m:t>𝟗𝟎</m:t>
                                    </m:r>
                                  </m:e>
                                  <m:e>
                                    <m:r>
                                      <a:rPr lang="en-US" sz="4400" b="1" i="1" smtClean="0">
                                        <a:solidFill>
                                          <a:schemeClr val="bg2">
                                            <a:lumMod val="10000"/>
                                          </a:schemeClr>
                                        </a:solidFill>
                                        <a:latin typeface="Cambria Math" panose="02040503050406030204" pitchFamily="18" charset="0"/>
                                      </a:rPr>
                                      <m:t>𝟗𝟗</m:t>
                                    </m:r>
                                  </m:e>
                                </m:mr>
                                <m:mr>
                                  <m:e>
                                    <m:r>
                                      <a:rPr lang="en-US" sz="4400" b="1" i="1" smtClean="0">
                                        <a:solidFill>
                                          <a:schemeClr val="bg2">
                                            <a:lumMod val="10000"/>
                                          </a:schemeClr>
                                        </a:solidFill>
                                        <a:latin typeface="Cambria Math" panose="02040503050406030204" pitchFamily="18" charset="0"/>
                                      </a:rPr>
                                      <m:t>𝟐𝟒</m:t>
                                    </m:r>
                                  </m:e>
                                  <m:e>
                                    <m:r>
                                      <a:rPr lang="en-US" sz="4400" b="1" i="1" smtClean="0">
                                        <a:solidFill>
                                          <a:schemeClr val="bg2">
                                            <a:lumMod val="10000"/>
                                          </a:schemeClr>
                                        </a:solidFill>
                                        <a:latin typeface="Cambria Math" panose="02040503050406030204" pitchFamily="18" charset="0"/>
                                      </a:rPr>
                                      <m:t>𝟗𝟗</m:t>
                                    </m:r>
                                  </m:e>
                                  <m:e>
                                    <m:r>
                                      <a:rPr lang="en-US" sz="4400" b="1" i="1" smtClean="0">
                                        <a:solidFill>
                                          <a:schemeClr val="bg2">
                                            <a:lumMod val="10000"/>
                                          </a:schemeClr>
                                        </a:solidFill>
                                        <a:latin typeface="Cambria Math" panose="02040503050406030204" pitchFamily="18" charset="0"/>
                                      </a:rPr>
                                      <m:t>𝟏𝟒𝟖</m:t>
                                    </m:r>
                                  </m:e>
                                </m:mr>
                              </m:m>
                            </m:e>
                          </m:d>
                        </m:e>
                        <m:sup>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m:t>
                          </m:r>
                        </m:sup>
                      </m:sSup>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r>
                                      <a:rPr lang="en-US" b="1" i="1" smtClean="0">
                                        <a:solidFill>
                                          <a:schemeClr val="bg2">
                                            <a:lumMod val="10000"/>
                                          </a:schemeClr>
                                        </a:solidFill>
                                        <a:latin typeface="Cambria Math" panose="02040503050406030204" pitchFamily="18" charset="0"/>
                                      </a:rPr>
                                      <m:t>𝟗</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𝟓</m:t>
                                    </m:r>
                                  </m:e>
                                  <m:e>
                                    <m:r>
                                      <a:rPr lang="en-US" b="1" i="1" smtClean="0">
                                        <a:solidFill>
                                          <a:schemeClr val="bg2">
                                            <a:lumMod val="10000"/>
                                          </a:schemeClr>
                                        </a:solidFill>
                                        <a:latin typeface="Cambria Math" panose="02040503050406030204" pitchFamily="18" charset="0"/>
                                      </a:rPr>
                                      <m:t>𝟗𝟓</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𝟖</m:t>
                                    </m:r>
                                  </m:e>
                                </m:eqArr>
                              </m:e>
                            </m:mr>
                            <m:mr>
                              <m:e>
                                <m:r>
                                  <a:rPr lang="en-US" b="1" i="1" smtClean="0">
                                    <a:latin typeface="Cambria Math" panose="02040503050406030204" pitchFamily="18" charset="0"/>
                                  </a:rPr>
                                  <m:t>𝟒𝟓</m:t>
                                </m:r>
                                <m:r>
                                  <a:rPr lang="en-US" b="1" i="1" smtClean="0">
                                    <a:latin typeface="Cambria Math" panose="02040503050406030204" pitchFamily="18" charset="0"/>
                                  </a:rPr>
                                  <m:t>.</m:t>
                                </m:r>
                                <m:r>
                                  <a:rPr lang="en-US" b="1" i="1" smtClean="0">
                                    <a:latin typeface="Cambria Math" panose="02040503050406030204" pitchFamily="18" charset="0"/>
                                  </a:rPr>
                                  <m:t>𝟔</m:t>
                                </m:r>
                              </m:e>
                            </m:mr>
                          </m:m>
                        </m:e>
                      </m:d>
                    </m:oMath>
                  </m:oMathPara>
                </a14:m>
                <a:endParaRPr lang="en-US" sz="4400" b="1" dirty="0">
                  <a:solidFill>
                    <a:schemeClr val="bg2">
                      <a:lumMod val="10000"/>
                    </a:schemeClr>
                  </a:solidFill>
                </a:endParaRPr>
              </a:p>
              <a:p>
                <a:pPr marL="0" indent="0" algn="ctr">
                  <a:buNone/>
                </a:pPr>
                <a14:m>
                  <m:oMathPara xmlns:m="http://schemas.openxmlformats.org/officeDocument/2006/math">
                    <m:oMathParaPr>
                      <m:jc m:val="centerGroup"/>
                    </m:oMathParaPr>
                    <m:oMath xmlns:m="http://schemas.openxmlformats.org/officeDocument/2006/math">
                      <m:r>
                        <a:rPr lang="en-US" sz="4400" b="1" i="1" smtClean="0">
                          <a:solidFill>
                            <a:schemeClr val="bg2">
                              <a:lumMod val="10000"/>
                            </a:schemeClr>
                          </a:solidFill>
                          <a:latin typeface="Cambria Math" panose="02040503050406030204" pitchFamily="18" charset="0"/>
                        </a:rPr>
                        <m:t>𝒃</m:t>
                      </m:r>
                      <m:r>
                        <a:rPr lang="en-US" sz="4400" b="1" i="1" smtClean="0">
                          <a:solidFill>
                            <a:schemeClr val="bg2">
                              <a:lumMod val="10000"/>
                            </a:schemeClr>
                          </a:solidFill>
                          <a:latin typeface="Cambria Math" panose="02040503050406030204" pitchFamily="18" charset="0"/>
                        </a:rPr>
                        <m:t>=</m:t>
                      </m:r>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3"/>
                                    <m:mcJc m:val="center"/>
                                  </m:mcPr>
                                </m:mc>
                              </m:mcs>
                              <m:ctrlPr>
                                <a:rPr lang="en-US" sz="4400" b="1" i="1" smtClean="0">
                                  <a:solidFill>
                                    <a:schemeClr val="bg2">
                                      <a:lumMod val="10000"/>
                                    </a:schemeClr>
                                  </a:solidFill>
                                  <a:latin typeface="Cambria Math" panose="02040503050406030204" pitchFamily="18" charset="0"/>
                                </a:rPr>
                              </m:ctrlPr>
                            </m:mPr>
                            <m:mr>
                              <m:e>
                                <m:r>
                                  <m:rPr>
                                    <m:brk m:alnAt="7"/>
                                  </m:rPr>
                                  <a:rPr lang="en-US" sz="4400" b="1" i="1" smtClean="0">
                                    <a:solidFill>
                                      <a:schemeClr val="bg2">
                                        <a:lumMod val="10000"/>
                                      </a:schemeClr>
                                    </a:solidFill>
                                    <a:latin typeface="Cambria Math" panose="02040503050406030204" pitchFamily="18" charset="0"/>
                                  </a:rPr>
                                  <m:t>𝟐</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𝟐𝟎𝟔𝟑</m:t>
                                </m:r>
                              </m:e>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𝟑𝟔𝟔𝟏</m:t>
                                </m:r>
                              </m:e>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𝟏𝟏𝟐𝟗</m:t>
                                </m:r>
                              </m:e>
                            </m:mr>
                            <m:mr>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𝟑𝟔𝟔𝟏</m:t>
                                </m:r>
                              </m:e>
                              <m:e>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𝟏𝟎𝟐𝟖</m:t>
                                </m:r>
                              </m:e>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𝟎𝟎𝟗𝟒</m:t>
                                </m:r>
                              </m:e>
                            </m:mr>
                            <m:mr>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𝟏𝟏𝟐𝟗</m:t>
                                </m:r>
                              </m:e>
                              <m:e>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𝟎𝟎𝟗𝟒</m:t>
                                </m:r>
                              </m:e>
                              <m:e>
                                <m:r>
                                  <a:rPr lang="en-US" sz="4400" b="1" i="1" smtClean="0">
                                    <a:solidFill>
                                      <a:schemeClr val="bg2">
                                        <a:lumMod val="10000"/>
                                      </a:schemeClr>
                                    </a:solidFill>
                                    <a:latin typeface="Cambria Math" panose="02040503050406030204" pitchFamily="18" charset="0"/>
                                  </a:rPr>
                                  <m:t>𝟎</m:t>
                                </m:r>
                                <m:r>
                                  <a:rPr lang="en-US" sz="4400" b="1" i="1" smtClean="0">
                                    <a:solidFill>
                                      <a:schemeClr val="bg2">
                                        <a:lumMod val="10000"/>
                                      </a:schemeClr>
                                    </a:solidFill>
                                    <a:latin typeface="Cambria Math" panose="02040503050406030204" pitchFamily="18" charset="0"/>
                                  </a:rPr>
                                  <m:t>.</m:t>
                                </m:r>
                                <m:r>
                                  <a:rPr lang="en-US" sz="4400" b="1" i="1" smtClean="0">
                                    <a:solidFill>
                                      <a:schemeClr val="bg2">
                                        <a:lumMod val="10000"/>
                                      </a:schemeClr>
                                    </a:solidFill>
                                    <a:latin typeface="Cambria Math" panose="02040503050406030204" pitchFamily="18" charset="0"/>
                                  </a:rPr>
                                  <m:t>𝟎𝟑𝟏𝟑</m:t>
                                </m:r>
                              </m:e>
                            </m:mr>
                          </m:m>
                        </m:e>
                      </m:d>
                      <m:d>
                        <m:dPr>
                          <m:begChr m:val="["/>
                          <m:endChr m:val="]"/>
                          <m:ctrlPr>
                            <a:rPr lang="en-US" sz="4400" b="1" i="1" smtClean="0">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a:solidFill>
                                          <a:schemeClr val="bg2">
                                            <a:lumMod val="10000"/>
                                          </a:schemeClr>
                                        </a:solidFill>
                                        <a:latin typeface="Cambria Math" panose="02040503050406030204" pitchFamily="18" charset="0"/>
                                      </a:rPr>
                                      <m:t>𝟏</m:t>
                                    </m:r>
                                    <m:r>
                                      <a:rPr lang="en-US" b="1" i="1" smtClean="0">
                                        <a:solidFill>
                                          <a:schemeClr val="bg2">
                                            <a:lumMod val="10000"/>
                                          </a:schemeClr>
                                        </a:solidFill>
                                        <a:latin typeface="Cambria Math" panose="02040503050406030204" pitchFamily="18" charset="0"/>
                                      </a:rPr>
                                      <m:t>𝟗</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𝟓</m:t>
                                    </m:r>
                                  </m:e>
                                  <m:e>
                                    <m:r>
                                      <a:rPr lang="en-US" b="1" i="1" smtClean="0">
                                        <a:solidFill>
                                          <a:schemeClr val="bg2">
                                            <a:lumMod val="10000"/>
                                          </a:schemeClr>
                                        </a:solidFill>
                                        <a:latin typeface="Cambria Math" panose="02040503050406030204" pitchFamily="18" charset="0"/>
                                      </a:rPr>
                                      <m:t>𝟗𝟓</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𝟖</m:t>
                                    </m:r>
                                  </m:e>
                                </m:eqArr>
                              </m:e>
                            </m:mr>
                            <m:mr>
                              <m:e>
                                <m:r>
                                  <a:rPr lang="en-US" b="1" i="1" smtClean="0">
                                    <a:latin typeface="Cambria Math" panose="02040503050406030204" pitchFamily="18" charset="0"/>
                                  </a:rPr>
                                  <m:t>𝟒𝟓</m:t>
                                </m:r>
                                <m:r>
                                  <a:rPr lang="en-US" b="1" i="1" smtClean="0">
                                    <a:latin typeface="Cambria Math" panose="02040503050406030204" pitchFamily="18" charset="0"/>
                                  </a:rPr>
                                  <m:t>.</m:t>
                                </m:r>
                                <m:r>
                                  <a:rPr lang="en-US" b="1" i="1" smtClean="0">
                                    <a:latin typeface="Cambria Math" panose="02040503050406030204" pitchFamily="18" charset="0"/>
                                  </a:rPr>
                                  <m:t>𝟔</m:t>
                                </m:r>
                              </m:e>
                            </m:mr>
                          </m:m>
                        </m:e>
                      </m:d>
                      <m:r>
                        <a:rPr lang="en-US" b="1" i="1" smtClean="0">
                          <a:latin typeface="Cambria Math" panose="02040503050406030204" pitchFamily="18" charset="0"/>
                        </a:rPr>
                        <m:t>=</m:t>
                      </m:r>
                      <m:d>
                        <m:dPr>
                          <m:begChr m:val="["/>
                          <m:endChr m:val="]"/>
                          <m:ctrlPr>
                            <a:rPr lang="en-US" b="1" i="1">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r>
                                      <a:rPr lang="en-US" b="1" i="1" smtClean="0">
                                        <a:solidFill>
                                          <a:schemeClr val="bg2">
                                            <a:lumMod val="10000"/>
                                          </a:schemeClr>
                                        </a:solidFill>
                                        <a:latin typeface="Cambria Math" panose="02040503050406030204" pitchFamily="18" charset="0"/>
                                      </a:rPr>
                                      <m:t>𝟐</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𝟖𝟎𝟐𝟐</m:t>
                                    </m:r>
                                  </m:e>
                                  <m:e>
                                    <m:r>
                                      <a:rPr lang="en-US" b="1" i="1" smtClean="0">
                                        <a:solidFill>
                                          <a:schemeClr val="bg2">
                                            <a:lumMod val="10000"/>
                                          </a:schemeClr>
                                        </a:solidFill>
                                        <a:latin typeface="Cambria Math" panose="02040503050406030204" pitchFamily="18" charset="0"/>
                                      </a:rPr>
                                      <m:t>𝟐</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𝟐𝟖𝟎𝟕</m:t>
                                    </m:r>
                                  </m:e>
                                </m:eqArr>
                              </m:e>
                            </m:mr>
                            <m:mr>
                              <m:e>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𝟏</m:t>
                                </m:r>
                                <m:r>
                                  <a:rPr lang="en-US" b="1" i="1" smtClean="0">
                                    <a:solidFill>
                                      <a:schemeClr val="bg2">
                                        <a:lumMod val="10000"/>
                                      </a:schemeClr>
                                    </a:solidFill>
                                    <a:latin typeface="Cambria Math" panose="02040503050406030204" pitchFamily="18" charset="0"/>
                                  </a:rPr>
                                  <m:t>.</m:t>
                                </m:r>
                                <m:r>
                                  <a:rPr lang="en-US" b="1" i="1" smtClean="0">
                                    <a:solidFill>
                                      <a:schemeClr val="bg2">
                                        <a:lumMod val="10000"/>
                                      </a:schemeClr>
                                    </a:solidFill>
                                    <a:latin typeface="Cambria Math" panose="02040503050406030204" pitchFamily="18" charset="0"/>
                                  </a:rPr>
                                  <m:t>𝟔𝟕𝟒𝟖</m:t>
                                </m:r>
                              </m:e>
                            </m:mr>
                          </m:m>
                        </m:e>
                      </m:d>
                      <m:r>
                        <a:rPr lang="en-US" b="1" i="1" smtClean="0">
                          <a:latin typeface="Cambria Math" panose="02040503050406030204" pitchFamily="18" charset="0"/>
                        </a:rPr>
                        <m:t>=</m:t>
                      </m:r>
                      <m:d>
                        <m:dPr>
                          <m:begChr m:val="["/>
                          <m:endChr m:val="]"/>
                          <m:ctrlPr>
                            <a:rPr lang="en-US" b="1" i="1">
                              <a:solidFill>
                                <a:schemeClr val="bg2">
                                  <a:lumMod val="10000"/>
                                </a:schemeClr>
                              </a:solidFill>
                              <a:latin typeface="Cambria Math" panose="02040503050406030204" pitchFamily="18" charset="0"/>
                            </a:rPr>
                          </m:ctrlPr>
                        </m:dPr>
                        <m:e>
                          <m:m>
                            <m:mPr>
                              <m:mcs>
                                <m:mc>
                                  <m:mcPr>
                                    <m:count m:val="1"/>
                                    <m:mcJc m:val="center"/>
                                  </m:mcPr>
                                </m:mc>
                              </m:mcs>
                              <m:ctrlPr>
                                <a:rPr lang="en-US" b="1" i="1">
                                  <a:solidFill>
                                    <a:schemeClr val="bg2">
                                      <a:lumMod val="10000"/>
                                    </a:schemeClr>
                                  </a:solidFill>
                                  <a:latin typeface="Cambria Math" panose="02040503050406030204" pitchFamily="18" charset="0"/>
                                </a:rPr>
                              </m:ctrlPr>
                            </m:mPr>
                            <m:mr>
                              <m:e>
                                <m:eqArr>
                                  <m:eqArrPr>
                                    <m:ctrlPr>
                                      <a:rPr lang="en-US" b="1" i="1">
                                        <a:solidFill>
                                          <a:schemeClr val="bg2">
                                            <a:lumMod val="10000"/>
                                          </a:schemeClr>
                                        </a:solidFill>
                                        <a:latin typeface="Cambria Math" panose="02040503050406030204" pitchFamily="18" charset="0"/>
                                      </a:rPr>
                                    </m:ctrlPr>
                                  </m:eqArrPr>
                                  <m:e>
                                    <m:sSub>
                                      <m:sSubPr>
                                        <m:ctrlPr>
                                          <a:rPr lang="en-US" b="1" i="1" smtClean="0">
                                            <a:solidFill>
                                              <a:schemeClr val="bg2">
                                                <a:lumMod val="10000"/>
                                              </a:schemeClr>
                                            </a:solidFill>
                                            <a:latin typeface="Cambria Math" panose="02040503050406030204" pitchFamily="18" charset="0"/>
                                          </a:rPr>
                                        </m:ctrlPr>
                                      </m:sSubPr>
                                      <m:e>
                                        <m:r>
                                          <a:rPr lang="en-US" b="1" i="1" smtClean="0">
                                            <a:solidFill>
                                              <a:schemeClr val="bg2">
                                                <a:lumMod val="10000"/>
                                              </a:schemeClr>
                                            </a:solidFill>
                                            <a:latin typeface="Cambria Math" panose="02040503050406030204" pitchFamily="18" charset="0"/>
                                          </a:rPr>
                                          <m:t>𝒃</m:t>
                                        </m:r>
                                      </m:e>
                                      <m:sub>
                                        <m:r>
                                          <a:rPr lang="en-US" b="1" i="1" smtClean="0">
                                            <a:solidFill>
                                              <a:schemeClr val="bg2">
                                                <a:lumMod val="10000"/>
                                              </a:schemeClr>
                                            </a:solidFill>
                                            <a:latin typeface="Cambria Math" panose="02040503050406030204" pitchFamily="18" charset="0"/>
                                          </a:rPr>
                                          <m:t>𝟎</m:t>
                                        </m:r>
                                      </m:sub>
                                    </m:sSub>
                                  </m:e>
                                  <m:e>
                                    <m:sSub>
                                      <m:sSubPr>
                                        <m:ctrlPr>
                                          <a:rPr lang="en-US" b="1" i="1" smtClean="0">
                                            <a:solidFill>
                                              <a:schemeClr val="bg2">
                                                <a:lumMod val="10000"/>
                                              </a:schemeClr>
                                            </a:solidFill>
                                            <a:latin typeface="Cambria Math" panose="02040503050406030204" pitchFamily="18" charset="0"/>
                                          </a:rPr>
                                        </m:ctrlPr>
                                      </m:sSubPr>
                                      <m:e>
                                        <m:r>
                                          <a:rPr lang="en-US" b="1" i="1" smtClean="0">
                                            <a:solidFill>
                                              <a:schemeClr val="bg2">
                                                <a:lumMod val="10000"/>
                                              </a:schemeClr>
                                            </a:solidFill>
                                            <a:latin typeface="Cambria Math" panose="02040503050406030204" pitchFamily="18" charset="0"/>
                                          </a:rPr>
                                          <m:t>𝒃</m:t>
                                        </m:r>
                                      </m:e>
                                      <m:sub>
                                        <m:r>
                                          <a:rPr lang="en-US" b="1" i="1" smtClean="0">
                                            <a:solidFill>
                                              <a:schemeClr val="bg2">
                                                <a:lumMod val="10000"/>
                                              </a:schemeClr>
                                            </a:solidFill>
                                            <a:latin typeface="Cambria Math" panose="02040503050406030204" pitchFamily="18" charset="0"/>
                                          </a:rPr>
                                          <m:t>𝟏</m:t>
                                        </m:r>
                                      </m:sub>
                                    </m:sSub>
                                  </m:e>
                                </m:eqArr>
                              </m:e>
                            </m:mr>
                            <m:mr>
                              <m:e>
                                <m:sSub>
                                  <m:sSubPr>
                                    <m:ctrlPr>
                                      <a:rPr lang="en-US" b="1" i="1" smtClean="0">
                                        <a:solidFill>
                                          <a:schemeClr val="bg2">
                                            <a:lumMod val="10000"/>
                                          </a:schemeClr>
                                        </a:solidFill>
                                        <a:latin typeface="Cambria Math" panose="02040503050406030204" pitchFamily="18" charset="0"/>
                                      </a:rPr>
                                    </m:ctrlPr>
                                  </m:sSubPr>
                                  <m:e>
                                    <m:r>
                                      <a:rPr lang="en-US" b="1" i="1" smtClean="0">
                                        <a:solidFill>
                                          <a:schemeClr val="bg2">
                                            <a:lumMod val="10000"/>
                                          </a:schemeClr>
                                        </a:solidFill>
                                        <a:latin typeface="Cambria Math" panose="02040503050406030204" pitchFamily="18" charset="0"/>
                                      </a:rPr>
                                      <m:t>𝒃</m:t>
                                    </m:r>
                                  </m:e>
                                  <m:sub>
                                    <m:r>
                                      <a:rPr lang="en-US" b="1" i="1" smtClean="0">
                                        <a:solidFill>
                                          <a:schemeClr val="bg2">
                                            <a:lumMod val="10000"/>
                                          </a:schemeClr>
                                        </a:solidFill>
                                        <a:latin typeface="Cambria Math" panose="02040503050406030204" pitchFamily="18" charset="0"/>
                                      </a:rPr>
                                      <m:t>𝟐</m:t>
                                    </m:r>
                                  </m:sub>
                                </m:sSub>
                              </m:e>
                            </m:mr>
                          </m:m>
                        </m:e>
                      </m:d>
                    </m:oMath>
                  </m:oMathPara>
                </a14:m>
                <a:endParaRPr lang="en-US" sz="4400" b="1" dirty="0">
                  <a:solidFill>
                    <a:schemeClr val="bg2">
                      <a:lumMod val="10000"/>
                    </a:schemeClr>
                  </a:solidFill>
                </a:endParaRPr>
              </a:p>
            </p:txBody>
          </p:sp>
        </mc:Choice>
        <mc:Fallback>
          <p:sp>
            <p:nvSpPr>
              <p:cNvPr id="4" name="Content Placeholder 4">
                <a:extLst>
                  <a:ext uri="{FF2B5EF4-FFF2-40B4-BE49-F238E27FC236}">
                    <a16:creationId xmlns:a16="http://schemas.microsoft.com/office/drawing/2014/main" id="{0D6B55CA-B8B5-B1D1-313A-D4070EA144D3}"/>
                  </a:ext>
                </a:extLst>
              </p:cNvPr>
              <p:cNvSpPr>
                <a:spLocks noGrp="1" noRot="1" noChangeAspect="1" noMove="1" noResize="1" noEditPoints="1" noAdjustHandles="1" noChangeArrowheads="1" noChangeShapeType="1" noTextEdit="1"/>
              </p:cNvSpPr>
              <p:nvPr>
                <p:ph sz="quarter" idx="11"/>
              </p:nvPr>
            </p:nvSpPr>
            <p:spPr>
              <a:xfrm>
                <a:off x="2163188" y="3260663"/>
                <a:ext cx="20057623" cy="8583279"/>
              </a:xfrm>
              <a:blipFill>
                <a:blip r:embed="rId3"/>
                <a:stretch>
                  <a:fillRect l="-1216" t="-1989"/>
                </a:stretch>
              </a:blipFill>
            </p:spPr>
            <p:txBody>
              <a:bodyPr/>
              <a:lstStyle/>
              <a:p>
                <a:r>
                  <a:rPr lang="en-US">
                    <a:noFill/>
                  </a:rPr>
                  <a:t> </a:t>
                </a:r>
              </a:p>
            </p:txBody>
          </p:sp>
        </mc:Fallback>
      </mc:AlternateContent>
    </p:spTree>
    <p:extLst>
      <p:ext uri="{BB962C8B-B14F-4D97-AF65-F5344CB8AC3E}">
        <p14:creationId xmlns:p14="http://schemas.microsoft.com/office/powerpoint/2010/main" val="140890065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endParaRPr lang="en-US" dirty="0"/>
          </a:p>
        </p:txBody>
      </p:sp>
      <p:sp>
        <p:nvSpPr>
          <p:cNvPr id="4" name="Content Placeholder 4">
            <a:extLst>
              <a:ext uri="{FF2B5EF4-FFF2-40B4-BE49-F238E27FC236}">
                <a16:creationId xmlns:a16="http://schemas.microsoft.com/office/drawing/2014/main" id="{A506FE85-7C68-D231-CB54-4E487464C8F2}"/>
              </a:ext>
            </a:extLst>
          </p:cNvPr>
          <p:cNvSpPr>
            <a:spLocks noGrp="1"/>
          </p:cNvSpPr>
          <p:nvPr>
            <p:ph sz="quarter" idx="11"/>
          </p:nvPr>
        </p:nvSpPr>
        <p:spPr>
          <a:xfrm>
            <a:off x="2163188" y="3260663"/>
            <a:ext cx="20057623" cy="8583279"/>
          </a:xfrm>
        </p:spPr>
        <p:txBody>
          <a:bodyPr>
            <a:normAutofit/>
          </a:bodyPr>
          <a:lstStyle/>
          <a:p>
            <a:r>
              <a:rPr lang="en-US" dirty="0" err="1">
                <a:solidFill>
                  <a:schemeClr val="bg2">
                    <a:lumMod val="10000"/>
                  </a:schemeClr>
                </a:solidFill>
              </a:rPr>
              <a:t>Accu</a:t>
            </a:r>
            <a:r>
              <a:rPr lang="en-US" dirty="0">
                <a:solidFill>
                  <a:schemeClr val="bg2">
                    <a:lumMod val="10000"/>
                  </a:schemeClr>
                </a:solidFill>
              </a:rPr>
              <a:t>-Copiers, Inc., sells and services the Accu-500 copying machine. As part of its standard service contract, the company agrees to perform routine service on this copier. To obtain information about the time it takes to perform routine service, </a:t>
            </a:r>
            <a:r>
              <a:rPr lang="en-US" dirty="0" err="1">
                <a:solidFill>
                  <a:schemeClr val="bg2">
                    <a:lumMod val="10000"/>
                  </a:schemeClr>
                </a:solidFill>
              </a:rPr>
              <a:t>Accu</a:t>
            </a:r>
            <a:r>
              <a:rPr lang="en-US" dirty="0">
                <a:solidFill>
                  <a:schemeClr val="bg2">
                    <a:lumMod val="10000"/>
                  </a:schemeClr>
                </a:solidFill>
              </a:rPr>
              <a:t>-Copiers has collected data for 10 service calls. </a:t>
            </a:r>
          </a:p>
          <a:p>
            <a:pPr lvl="1">
              <a:buFont typeface="Wingdings" pitchFamily="2" charset="2"/>
              <a:buChar char="Ø"/>
            </a:pPr>
            <a:r>
              <a:rPr lang="en-US" dirty="0">
                <a:solidFill>
                  <a:schemeClr val="bg2">
                    <a:lumMod val="10000"/>
                  </a:schemeClr>
                </a:solidFill>
              </a:rPr>
              <a:t>Find the least squares point estimates b0 and b1</a:t>
            </a:r>
          </a:p>
          <a:p>
            <a:pPr lvl="1">
              <a:buFont typeface="Wingdings" pitchFamily="2" charset="2"/>
              <a:buChar char="Ø"/>
            </a:pPr>
            <a:r>
              <a:rPr lang="en-US" dirty="0">
                <a:solidFill>
                  <a:schemeClr val="bg2">
                    <a:lumMod val="10000"/>
                  </a:schemeClr>
                </a:solidFill>
              </a:rPr>
              <a:t>Find the fitted linear regression equation</a:t>
            </a:r>
          </a:p>
          <a:p>
            <a:endParaRPr lang="en-US" dirty="0">
              <a:solidFill>
                <a:schemeClr val="bg2">
                  <a:lumMod val="10000"/>
                </a:schemeClr>
              </a:solidFill>
            </a:endParaRPr>
          </a:p>
          <a:p>
            <a:endParaRPr lang="en-US" dirty="0">
              <a:solidFill>
                <a:schemeClr val="bg2">
                  <a:lumMod val="10000"/>
                </a:schemeClr>
              </a:solidFill>
            </a:endParaRPr>
          </a:p>
        </p:txBody>
      </p:sp>
    </p:spTree>
    <p:extLst>
      <p:ext uri="{BB962C8B-B14F-4D97-AF65-F5344CB8AC3E}">
        <p14:creationId xmlns:p14="http://schemas.microsoft.com/office/powerpoint/2010/main" val="217368579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969-0F6B-A3BF-180A-D22AF6B3D758}"/>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F694864C-6A93-02F2-F82F-54F83432E5AA}"/>
              </a:ext>
            </a:extLst>
          </p:cNvPr>
          <p:cNvSpPr>
            <a:spLocks noGrp="1"/>
          </p:cNvSpPr>
          <p:nvPr>
            <p:ph type="body" sz="quarter" idx="10"/>
          </p:nvPr>
        </p:nvSpPr>
        <p:spPr/>
        <p:txBody>
          <a:bodyPr/>
          <a:lstStyle/>
          <a:p>
            <a:endParaRPr lang="en-US" dirty="0"/>
          </a:p>
        </p:txBody>
      </p:sp>
      <p:pic>
        <p:nvPicPr>
          <p:cNvPr id="6" name="Content Placeholder 5">
            <a:extLst>
              <a:ext uri="{FF2B5EF4-FFF2-40B4-BE49-F238E27FC236}">
                <a16:creationId xmlns:a16="http://schemas.microsoft.com/office/drawing/2014/main" id="{73DE812C-E279-9F7B-EF34-15242DDFB4E6}"/>
              </a:ext>
            </a:extLst>
          </p:cNvPr>
          <p:cNvPicPr>
            <a:picLocks noGrp="1" noChangeAspect="1"/>
          </p:cNvPicPr>
          <p:nvPr>
            <p:ph sz="quarter" idx="11"/>
          </p:nvPr>
        </p:nvPicPr>
        <p:blipFill>
          <a:blip r:embed="rId2"/>
          <a:stretch>
            <a:fillRect/>
          </a:stretch>
        </p:blipFill>
        <p:spPr>
          <a:xfrm>
            <a:off x="3695613" y="3810601"/>
            <a:ext cx="16992773" cy="8619523"/>
          </a:xfrm>
          <a:prstGeom prst="rect">
            <a:avLst/>
          </a:prstGeom>
        </p:spPr>
      </p:pic>
    </p:spTree>
    <p:extLst>
      <p:ext uri="{BB962C8B-B14F-4D97-AF65-F5344CB8AC3E}">
        <p14:creationId xmlns:p14="http://schemas.microsoft.com/office/powerpoint/2010/main" val="365453314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20</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a:latin typeface="+mj-lt"/>
              </a:rPr>
              <a:t>Peter Norvig, Stuart Russel. (2021). Artificial Intelligence: A Modern Approach. Pearson. London. ISBN: 978-1292401133. Ch. 19-20.</a:t>
            </a:r>
          </a:p>
          <a:p>
            <a:pPr>
              <a:spcBef>
                <a:spcPts val="600"/>
              </a:spcBef>
            </a:pPr>
            <a:r>
              <a:rPr lang="en-US" sz="4000" dirty="0">
                <a:latin typeface="+mj-lt"/>
              </a:rPr>
              <a:t>Anderson, D. R. (2020). Essentials of modern business statistics with Microsoft Excel (8e ed.). Cengage.</a:t>
            </a:r>
          </a:p>
          <a:p>
            <a:pPr>
              <a:spcBef>
                <a:spcPts val="600"/>
              </a:spcBef>
            </a:pPr>
            <a:r>
              <a:rPr lang="en-US" sz="4000" dirty="0">
                <a:latin typeface="+mj-lt"/>
              </a:rPr>
              <a:t>James, G., Witten, D., Hastie, T., </a:t>
            </a:r>
            <a:r>
              <a:rPr lang="en-US" sz="4000" dirty="0" err="1">
                <a:latin typeface="+mj-lt"/>
              </a:rPr>
              <a:t>Tibshirani</a:t>
            </a:r>
            <a:r>
              <a:rPr lang="en-US" sz="4000" dirty="0">
                <a:latin typeface="+mj-lt"/>
              </a:rPr>
              <a:t>, R., &amp; Taylor, J. (2023). An introduction to statistical learning: With applications in Python. Springer.</a:t>
            </a:r>
          </a:p>
          <a:p>
            <a:pPr>
              <a:spcBef>
                <a:spcPts val="600"/>
              </a:spcBef>
            </a:pPr>
            <a:endParaRPr lang="en-US" sz="4000" dirty="0">
              <a:latin typeface="+mj-lt"/>
            </a:endParaRPr>
          </a:p>
          <a:p>
            <a:pPr>
              <a:spcBef>
                <a:spcPts val="600"/>
              </a:spcBef>
            </a:pPr>
            <a:endParaRPr lang="en-US" sz="4000" dirty="0">
              <a:latin typeface="+mj-lt"/>
            </a:endParaRPr>
          </a:p>
          <a:p>
            <a:pPr>
              <a:spcBef>
                <a:spcPts val="600"/>
              </a:spcBef>
            </a:pP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4454</TotalTime>
  <Words>826</Words>
  <Application>Microsoft Office PowerPoint</Application>
  <PresentationFormat>Custom</PresentationFormat>
  <Paragraphs>89</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Cambria Math</vt:lpstr>
      <vt:lpstr>Courier New</vt:lpstr>
      <vt:lpstr>OCRB</vt:lpstr>
      <vt:lpstr>Open Sans Light</vt:lpstr>
      <vt:lpstr>Arial</vt:lpstr>
      <vt:lpstr>Open Sans Semibold</vt:lpstr>
      <vt:lpstr>Open Sans</vt:lpstr>
      <vt:lpstr>Open Sans ExtraBold</vt:lpstr>
      <vt:lpstr>Wingdings</vt:lpstr>
      <vt:lpstr>21_BasicWhite</vt:lpstr>
      <vt:lpstr>Linear regression</vt:lpstr>
      <vt:lpstr>Learning Outcomes</vt:lpstr>
      <vt:lpstr>outline</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Multi variable regression: 2 Predictors</vt:lpstr>
      <vt:lpstr>Multi variable regression: 2 Predictors</vt:lpstr>
      <vt:lpstr>Multi variable regression: 2 Predictors</vt:lpstr>
      <vt:lpstr>Multi variable regression</vt:lpstr>
      <vt:lpstr>Multi variable regression</vt:lpstr>
      <vt:lpstr>Exercise</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57</cp:revision>
  <dcterms:created xsi:type="dcterms:W3CDTF">2023-11-17T02:51:40Z</dcterms:created>
  <dcterms:modified xsi:type="dcterms:W3CDTF">2024-12-27T12:42:35Z</dcterms:modified>
</cp:coreProperties>
</file>