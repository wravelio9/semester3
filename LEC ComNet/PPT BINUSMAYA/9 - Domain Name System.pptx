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58" r:id="rId2"/>
    <p:sldId id="259" r:id="rId3"/>
    <p:sldId id="262" r:id="rId4"/>
    <p:sldId id="261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446" r:id="rId13"/>
    <p:sldId id="443" r:id="rId14"/>
    <p:sldId id="445" r:id="rId15"/>
  </p:sldIdLst>
  <p:sldSz cx="24384000" cy="13716000"/>
  <p:notesSz cx="6858000" cy="9144000"/>
  <p:embeddedFontLst>
    <p:embeddedFont>
      <p:font typeface="OCRB" panose="020B0609020202020204" pitchFamily="49" charset="0"/>
      <p:regular r:id="rId17"/>
    </p:embeddedFont>
    <p:embeddedFont>
      <p:font typeface="Open Sans ExtraBold" panose="020B0906030804020204" pitchFamily="34" charset="0"/>
      <p:bold r:id="rId18"/>
      <p:italic r:id="rId19"/>
      <p:boldItalic r:id="rId20"/>
    </p:embeddedFont>
    <p:embeddedFont>
      <p:font typeface="Open Sans Light" panose="020B0306030504020204" pitchFamily="34" charset="0"/>
      <p:regular r:id="rId21"/>
      <p:italic r:id="rId22"/>
    </p:embeddedFont>
    <p:embeddedFont>
      <p:font typeface="Open Sans Semibold" panose="020B0706030804020204" pitchFamily="34" charset="0"/>
      <p:regular r:id="rId23"/>
      <p:bold r:id="rId24"/>
      <p:italic r:id="rId25"/>
      <p:boldItalic r:id="rId26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6197"/>
  </p:normalViewPr>
  <p:slideViewPr>
    <p:cSldViewPr snapToGrid="0" snapToObjects="1">
      <p:cViewPr varScale="1">
        <p:scale>
          <a:sx n="41" d="100"/>
          <a:sy n="41" d="100"/>
        </p:scale>
        <p:origin x="490" y="7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. Santoso Budijono, M.M." userId="bbff4192-f18b-4ea0-9da7-966ec02cbd0b" providerId="ADAL" clId="{85023442-B2F6-4C1B-B990-8E8B0962ED05}"/>
    <pc:docChg chg="custSel addSld modSld">
      <pc:chgData name="Ir. Santoso Budijono, M.M." userId="bbff4192-f18b-4ea0-9da7-966ec02cbd0b" providerId="ADAL" clId="{85023442-B2F6-4C1B-B990-8E8B0962ED05}" dt="2024-12-14T02:05:21.432" v="152" actId="1076"/>
      <pc:docMkLst>
        <pc:docMk/>
      </pc:docMkLst>
      <pc:sldChg chg="modSp new mod">
        <pc:chgData name="Ir. Santoso Budijono, M.M." userId="bbff4192-f18b-4ea0-9da7-966ec02cbd0b" providerId="ADAL" clId="{85023442-B2F6-4C1B-B990-8E8B0962ED05}" dt="2024-12-14T02:05:21.432" v="152" actId="1076"/>
        <pc:sldMkLst>
          <pc:docMk/>
          <pc:sldMk cId="4288056486" sldId="446"/>
        </pc:sldMkLst>
        <pc:spChg chg="mod">
          <ac:chgData name="Ir. Santoso Budijono, M.M." userId="bbff4192-f18b-4ea0-9da7-966ec02cbd0b" providerId="ADAL" clId="{85023442-B2F6-4C1B-B990-8E8B0962ED05}" dt="2024-12-14T02:02:59.349" v="15" actId="20577"/>
          <ac:spMkLst>
            <pc:docMk/>
            <pc:sldMk cId="4288056486" sldId="446"/>
            <ac:spMk id="2" creationId="{37DFFB51-CB5D-4A4F-9647-3621BD66E484}"/>
          </ac:spMkLst>
        </pc:spChg>
        <pc:spChg chg="mod">
          <ac:chgData name="Ir. Santoso Budijono, M.M." userId="bbff4192-f18b-4ea0-9da7-966ec02cbd0b" providerId="ADAL" clId="{85023442-B2F6-4C1B-B990-8E8B0962ED05}" dt="2024-12-14T02:05:21.432" v="152" actId="1076"/>
          <ac:spMkLst>
            <pc:docMk/>
            <pc:sldMk cId="4288056486" sldId="446"/>
            <ac:spMk id="4" creationId="{361D414A-17C6-3962-BD5F-3205D2FB85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xample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DOMAIN NAME SERVICES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network</a:t>
            </a:r>
            <a:br>
              <a:rPr lang="en-US" dirty="0"/>
            </a:br>
            <a:r>
              <a:rPr lang="en-US" dirty="0"/>
              <a:t>session 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Santoso Budijono</a:t>
            </a:r>
          </a:p>
        </p:txBody>
      </p:sp>
    </p:spTree>
    <p:extLst>
      <p:ext uri="{BB962C8B-B14F-4D97-AF65-F5344CB8AC3E}">
        <p14:creationId xmlns:p14="http://schemas.microsoft.com/office/powerpoint/2010/main" val="396391310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C8BBB-4BF7-BE85-D54D-D0A9CF50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C19C5-D693-9A65-B004-1E4675C8F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F0E055-8210-691C-0EF7-F371DBB1757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1: Describe basic structures of network</a:t>
            </a: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3200" b="1" i="0" u="none" strike="noStrike" kern="1200" dirty="0">
                <a:solidFill>
                  <a:srgbClr val="000000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2: Explain basic concepts of network</a:t>
            </a:r>
          </a:p>
          <a:p>
            <a:pPr marL="0" indent="0" fontAlgn="t">
              <a:spcBef>
                <a:spcPts val="0"/>
              </a:spcBef>
              <a:buNone/>
            </a:pPr>
            <a:r>
              <a:rPr lang="en-ID" sz="3200" b="1" kern="1200" dirty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LO 3: Design network environment using TCP/IP Model</a:t>
            </a:r>
            <a:endParaRPr lang="en-US" sz="3200" b="1" i="0" u="none" strike="noStrike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en-US" sz="3200" b="1" i="0" u="none" strike="noStrike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endParaRPr lang="en-US" sz="28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924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2D43-6DC0-82BA-8E90-2AA62432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BF1C5-C280-D9C4-3EDE-DC565FCDC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84CFF8-9855-9ED6-7C79-F73F9AC0855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665836" y="4289404"/>
            <a:ext cx="13714940" cy="4522264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Hieararchy</a:t>
            </a:r>
            <a:r>
              <a:rPr lang="en-US" sz="3200" b="1" dirty="0"/>
              <a:t> – Naming system</a:t>
            </a:r>
          </a:p>
          <a:p>
            <a:r>
              <a:rPr lang="en-US" sz="3200" b="1" dirty="0"/>
              <a:t>Process :</a:t>
            </a:r>
            <a:br>
              <a:rPr lang="en-US" sz="3200" b="1" dirty="0"/>
            </a:br>
            <a:r>
              <a:rPr lang="en-US" sz="3200" b="1" dirty="0"/>
              <a:t>- Name Service</a:t>
            </a:r>
            <a:br>
              <a:rPr lang="en-US" sz="3200" b="1" dirty="0"/>
            </a:br>
            <a:r>
              <a:rPr lang="en-US" sz="3200" b="1" dirty="0"/>
              <a:t>- DNS</a:t>
            </a:r>
          </a:p>
        </p:txBody>
      </p:sp>
    </p:spTree>
    <p:extLst>
      <p:ext uri="{BB962C8B-B14F-4D97-AF65-F5344CB8AC3E}">
        <p14:creationId xmlns:p14="http://schemas.microsoft.com/office/powerpoint/2010/main" val="241531543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2D43-6DC0-82BA-8E90-2AA624325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BF1C5-C280-D9C4-3EDE-DC565FCDC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Role of Name system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0A00C-EDC9-2A5C-78A5-08AE2AE27A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58506" y="4154023"/>
            <a:ext cx="17955491" cy="6935153"/>
          </a:xfrm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An application has to know the IP 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adress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of its counterpart.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IP 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addressis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used for routing and not suitable for human.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Human can remember names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 name must be unique.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use of name instead of IP address is called Domain Name System (DNS).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 name is constructed of alphanumeric and consists of several 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hirarchical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elements to show domain and the computer (host) itself.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Domain Name Server (DNS) is used to find IP address of a certain domain name </a:t>
            </a:r>
          </a:p>
        </p:txBody>
      </p:sp>
    </p:spTree>
    <p:extLst>
      <p:ext uri="{BB962C8B-B14F-4D97-AF65-F5344CB8AC3E}">
        <p14:creationId xmlns:p14="http://schemas.microsoft.com/office/powerpoint/2010/main" val="23251400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B649-A3DF-1E36-96B3-7E97303F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BA061-55EB-633D-91CF-78CAFB6F8A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Name format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777EBA7-5326-8074-ECDD-8AD03171263F}"/>
              </a:ext>
            </a:extLst>
          </p:cNvPr>
          <p:cNvSpPr>
            <a:spLocks noGrp="1" noChangeAspect="1" noChangeArrowheads="1"/>
          </p:cNvSpPr>
          <p:nvPr>
            <p:ph sz="quarter" idx="11"/>
          </p:nvPr>
        </p:nvSpPr>
        <p:spPr bwMode="auto">
          <a:xfrm>
            <a:off x="3470988" y="4064000"/>
            <a:ext cx="15323264" cy="45227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225425" indent="-225425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right element is called Top level atau ZONE</a:t>
            </a:r>
          </a:p>
          <a:p>
            <a:pPr marL="225425" indent="-225425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next segment is called DOMAIN (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domain.zone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and regulated by ICANN. It must be 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uniques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</a:t>
            </a:r>
          </a:p>
          <a:p>
            <a:pPr marL="225425" indent="-225425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There are two Top-Level Domain (TLDs):</a:t>
            </a:r>
          </a:p>
          <a:p>
            <a:pPr marL="571500" lvl="1" indent="-231775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TLD 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generik</a:t>
            </a: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914400" lvl="2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COM, .NET, .ORG, .EDU, .INT, .MIL and .GOV.</a:t>
            </a:r>
          </a:p>
          <a:p>
            <a:pPr marL="914400" lvl="2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New : .aero, .biz, .coop, .info, 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dsb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. </a:t>
            </a:r>
          </a:p>
          <a:p>
            <a:pPr marL="571500" lvl="1" indent="-231775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Country code (.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uk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.de, .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jp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.us, .tv, etc.)</a:t>
            </a:r>
          </a:p>
        </p:txBody>
      </p:sp>
    </p:spTree>
    <p:extLst>
      <p:ext uri="{BB962C8B-B14F-4D97-AF65-F5344CB8AC3E}">
        <p14:creationId xmlns:p14="http://schemas.microsoft.com/office/powerpoint/2010/main" val="9981392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4E36-E6A7-6C1B-F343-899BC1880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5B413-F167-9584-EBE7-34BB1C73FC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Domain name system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E67E3D-F434-758E-DD5E-9439200D2F4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12571" y="3287304"/>
            <a:ext cx="16596023" cy="5217896"/>
          </a:xfrm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Top Level Domains are in the top and the maximum tree depth is 128</a:t>
            </a:r>
          </a:p>
          <a:p>
            <a:pPr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Domains are sub trees (.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edu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univ.edu, ece.univ.edu)</a:t>
            </a:r>
          </a:p>
          <a:p>
            <a:pPr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Name collisions must be avoided.</a:t>
            </a:r>
          </a:p>
          <a:p>
            <a:pPr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DNS system consists of three component: </a:t>
            </a:r>
          </a:p>
          <a:p>
            <a:pPr lvl="1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DNS data (Resource Records)</a:t>
            </a:r>
          </a:p>
          <a:p>
            <a:pPr lvl="1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Servers (Name Servers) </a:t>
            </a:r>
          </a:p>
          <a:p>
            <a:pPr lvl="1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Protocol</a:t>
            </a:r>
          </a:p>
          <a:p>
            <a:pPr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No centralized DNS due to the probability of one point </a:t>
            </a:r>
            <a:r>
              <a:rPr lang="en-US" sz="3200" b="1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failurer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traffic volume, maintenance.</a:t>
            </a:r>
          </a:p>
          <a:p>
            <a:pPr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Distributed Database</a:t>
            </a:r>
          </a:p>
          <a:p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1FFB1B-A6E1-5842-0547-B9D64EDCEA2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60735" y="8440488"/>
            <a:ext cx="9243334" cy="4634783"/>
            <a:chOff x="138" y="672"/>
            <a:chExt cx="5284" cy="2650"/>
          </a:xfrm>
        </p:grpSpPr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75B0A38E-D5B2-5CAC-7FD6-701E3C4B749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708" y="672"/>
              <a:ext cx="542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root</a:t>
              </a: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8B39ABBA-6729-47B3-67E6-26AB641BDE6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84" y="1344"/>
              <a:ext cx="490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edu</a:t>
              </a: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0ED93E46-1426-7ED5-B5D2-230E6EA642D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02" y="1356"/>
              <a:ext cx="539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com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492ABB33-E38A-61A9-42A9-2D08BDDB123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92" y="1344"/>
              <a:ext cx="465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gov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D7DA6EFB-695A-D87B-1D8B-F631C1D6FAE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045" y="1344"/>
              <a:ext cx="431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 dirty="0">
                  <a:cs typeface="Arial" pitchFamily="34" charset="0"/>
                </a:rPr>
                <a:t>mil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5F3FA4C3-B776-CE1F-5C36-B388966799D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595" y="1356"/>
              <a:ext cx="442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org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7E27AE73-98DB-AF0D-03FD-52440F902A5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121" y="1344"/>
              <a:ext cx="449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net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7427212E-D92F-D49E-8566-F7D88C182C2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681" y="1344"/>
              <a:ext cx="367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uk</a:t>
              </a:r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3B20449A-0B7B-3231-DEB3-B92A3978137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44" y="1344"/>
              <a:ext cx="278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fr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894EB5F4-21A9-29AD-72DE-E407C525E22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15" y="1979"/>
              <a:ext cx="553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univ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C95B6783-9FC1-3B13-E123-E15012B9A0D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92" y="1968"/>
              <a:ext cx="457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mit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548F730D-8364-6D28-5DD7-D89CE4E117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38" y="2448"/>
              <a:ext cx="312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cs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449CBC1D-5EA1-9E36-A120-96F66952156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75" y="2458"/>
              <a:ext cx="452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ece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C5C0DE25-BB6C-08C6-DC59-87DE80CC143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4" y="3024"/>
              <a:ext cx="224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x</a:t>
              </a:r>
            </a:p>
          </p:txBody>
        </p:sp>
        <p:cxnSp>
          <p:nvCxnSpPr>
            <p:cNvPr id="20" name="AutoShape 19">
              <a:extLst>
                <a:ext uri="{FF2B5EF4-FFF2-40B4-BE49-F238E27FC236}">
                  <a16:creationId xmlns:a16="http://schemas.microsoft.com/office/drawing/2014/main" id="{E48DCD6B-F194-D528-352B-6C93B805A24E}"/>
                </a:ext>
              </a:extLst>
            </p:cNvPr>
            <p:cNvCxnSpPr>
              <a:cxnSpLocks noChangeAspect="1" noChangeShapeType="1"/>
              <a:stCxn id="6" idx="2"/>
              <a:endCxn id="7" idx="0"/>
            </p:cNvCxnSpPr>
            <p:nvPr/>
          </p:nvCxnSpPr>
          <p:spPr bwMode="auto">
            <a:xfrm flipH="1">
              <a:off x="1029" y="970"/>
              <a:ext cx="1950" cy="3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" name="AutoShape 20">
              <a:extLst>
                <a:ext uri="{FF2B5EF4-FFF2-40B4-BE49-F238E27FC236}">
                  <a16:creationId xmlns:a16="http://schemas.microsoft.com/office/drawing/2014/main" id="{548D9B45-E23E-2966-FB60-528691B03634}"/>
                </a:ext>
              </a:extLst>
            </p:cNvPr>
            <p:cNvCxnSpPr>
              <a:cxnSpLocks noChangeAspect="1" noChangeShapeType="1"/>
              <a:stCxn id="6" idx="2"/>
              <a:endCxn id="8" idx="0"/>
            </p:cNvCxnSpPr>
            <p:nvPr/>
          </p:nvCxnSpPr>
          <p:spPr bwMode="auto">
            <a:xfrm flipH="1">
              <a:off x="1771" y="970"/>
              <a:ext cx="1207" cy="38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2" name="AutoShape 21">
              <a:extLst>
                <a:ext uri="{FF2B5EF4-FFF2-40B4-BE49-F238E27FC236}">
                  <a16:creationId xmlns:a16="http://schemas.microsoft.com/office/drawing/2014/main" id="{B7882559-A989-0F7B-A53C-C41709F32D53}"/>
                </a:ext>
              </a:extLst>
            </p:cNvPr>
            <p:cNvCxnSpPr>
              <a:cxnSpLocks noChangeAspect="1" noChangeShapeType="1"/>
              <a:stCxn id="6" idx="2"/>
              <a:endCxn id="9" idx="0"/>
            </p:cNvCxnSpPr>
            <p:nvPr/>
          </p:nvCxnSpPr>
          <p:spPr bwMode="auto">
            <a:xfrm flipH="1">
              <a:off x="2525" y="970"/>
              <a:ext cx="454" cy="3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3" name="AutoShape 22">
              <a:extLst>
                <a:ext uri="{FF2B5EF4-FFF2-40B4-BE49-F238E27FC236}">
                  <a16:creationId xmlns:a16="http://schemas.microsoft.com/office/drawing/2014/main" id="{F958F192-B063-3B26-AA6B-374AEB419D0D}"/>
                </a:ext>
              </a:extLst>
            </p:cNvPr>
            <p:cNvCxnSpPr>
              <a:cxnSpLocks noChangeAspect="1" noChangeShapeType="1"/>
              <a:stCxn id="6" idx="2"/>
              <a:endCxn id="10" idx="0"/>
            </p:cNvCxnSpPr>
            <p:nvPr/>
          </p:nvCxnSpPr>
          <p:spPr bwMode="auto">
            <a:xfrm>
              <a:off x="2979" y="970"/>
              <a:ext cx="282" cy="3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4" name="AutoShape 23">
              <a:extLst>
                <a:ext uri="{FF2B5EF4-FFF2-40B4-BE49-F238E27FC236}">
                  <a16:creationId xmlns:a16="http://schemas.microsoft.com/office/drawing/2014/main" id="{F191498E-9D70-2CBF-01BD-48447B9C2608}"/>
                </a:ext>
              </a:extLst>
            </p:cNvPr>
            <p:cNvCxnSpPr>
              <a:cxnSpLocks noChangeAspect="1" noChangeShapeType="1"/>
              <a:stCxn id="6" idx="2"/>
              <a:endCxn id="11" idx="0"/>
            </p:cNvCxnSpPr>
            <p:nvPr/>
          </p:nvCxnSpPr>
          <p:spPr bwMode="auto">
            <a:xfrm>
              <a:off x="2979" y="970"/>
              <a:ext cx="837" cy="38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AutoShape 24">
              <a:extLst>
                <a:ext uri="{FF2B5EF4-FFF2-40B4-BE49-F238E27FC236}">
                  <a16:creationId xmlns:a16="http://schemas.microsoft.com/office/drawing/2014/main" id="{9CEE51E9-CB4D-CE2F-BE1D-5BD699CDBDF9}"/>
                </a:ext>
              </a:extLst>
            </p:cNvPr>
            <p:cNvCxnSpPr>
              <a:cxnSpLocks noChangeAspect="1" noChangeShapeType="1"/>
              <a:stCxn id="6" idx="2"/>
              <a:endCxn id="12" idx="0"/>
            </p:cNvCxnSpPr>
            <p:nvPr/>
          </p:nvCxnSpPr>
          <p:spPr bwMode="auto">
            <a:xfrm>
              <a:off x="2979" y="970"/>
              <a:ext cx="1367" cy="3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6" name="AutoShape 25">
              <a:extLst>
                <a:ext uri="{FF2B5EF4-FFF2-40B4-BE49-F238E27FC236}">
                  <a16:creationId xmlns:a16="http://schemas.microsoft.com/office/drawing/2014/main" id="{908470E5-4AB6-2509-1D73-A94E28798244}"/>
                </a:ext>
              </a:extLst>
            </p:cNvPr>
            <p:cNvCxnSpPr>
              <a:cxnSpLocks noChangeAspect="1" noChangeShapeType="1"/>
              <a:stCxn id="6" idx="2"/>
              <a:endCxn id="13" idx="0"/>
            </p:cNvCxnSpPr>
            <p:nvPr/>
          </p:nvCxnSpPr>
          <p:spPr bwMode="auto">
            <a:xfrm>
              <a:off x="2979" y="970"/>
              <a:ext cx="1886" cy="3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7" name="AutoShape 26">
              <a:extLst>
                <a:ext uri="{FF2B5EF4-FFF2-40B4-BE49-F238E27FC236}">
                  <a16:creationId xmlns:a16="http://schemas.microsoft.com/office/drawing/2014/main" id="{DF64D32F-4F8E-8193-5CFC-4B3CA9C08A42}"/>
                </a:ext>
              </a:extLst>
            </p:cNvPr>
            <p:cNvCxnSpPr>
              <a:cxnSpLocks noChangeAspect="1" noChangeShapeType="1"/>
              <a:stCxn id="6" idx="2"/>
              <a:endCxn id="14" idx="0"/>
            </p:cNvCxnSpPr>
            <p:nvPr/>
          </p:nvCxnSpPr>
          <p:spPr bwMode="auto">
            <a:xfrm>
              <a:off x="2979" y="970"/>
              <a:ext cx="2304" cy="3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" name="AutoShape 27">
              <a:extLst>
                <a:ext uri="{FF2B5EF4-FFF2-40B4-BE49-F238E27FC236}">
                  <a16:creationId xmlns:a16="http://schemas.microsoft.com/office/drawing/2014/main" id="{329AB29C-E282-C588-6378-236CBCEA7EEF}"/>
                </a:ext>
              </a:extLst>
            </p:cNvPr>
            <p:cNvCxnSpPr>
              <a:cxnSpLocks noChangeAspect="1" noChangeShapeType="1"/>
              <a:stCxn id="7" idx="2"/>
              <a:endCxn id="15" idx="0"/>
            </p:cNvCxnSpPr>
            <p:nvPr/>
          </p:nvCxnSpPr>
          <p:spPr bwMode="auto">
            <a:xfrm flipH="1">
              <a:off x="691" y="1642"/>
              <a:ext cx="338" cy="33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9" name="AutoShape 28">
              <a:extLst>
                <a:ext uri="{FF2B5EF4-FFF2-40B4-BE49-F238E27FC236}">
                  <a16:creationId xmlns:a16="http://schemas.microsoft.com/office/drawing/2014/main" id="{06D5A86E-9311-2427-0CA9-38979655AE5F}"/>
                </a:ext>
              </a:extLst>
            </p:cNvPr>
            <p:cNvCxnSpPr>
              <a:cxnSpLocks noChangeAspect="1" noChangeShapeType="1"/>
              <a:stCxn id="7" idx="2"/>
              <a:endCxn id="16" idx="0"/>
            </p:cNvCxnSpPr>
            <p:nvPr/>
          </p:nvCxnSpPr>
          <p:spPr bwMode="auto">
            <a:xfrm>
              <a:off x="1029" y="1642"/>
              <a:ext cx="392" cy="32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AutoShape 29">
              <a:extLst>
                <a:ext uri="{FF2B5EF4-FFF2-40B4-BE49-F238E27FC236}">
                  <a16:creationId xmlns:a16="http://schemas.microsoft.com/office/drawing/2014/main" id="{36F7EF76-556B-2A26-9056-3A124EDEAE88}"/>
                </a:ext>
              </a:extLst>
            </p:cNvPr>
            <p:cNvCxnSpPr>
              <a:cxnSpLocks noChangeAspect="1" noChangeShapeType="1"/>
              <a:stCxn id="15" idx="2"/>
              <a:endCxn id="18" idx="0"/>
            </p:cNvCxnSpPr>
            <p:nvPr/>
          </p:nvCxnSpPr>
          <p:spPr bwMode="auto">
            <a:xfrm>
              <a:off x="692" y="2277"/>
              <a:ext cx="9" cy="18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1" name="AutoShape 30">
              <a:extLst>
                <a:ext uri="{FF2B5EF4-FFF2-40B4-BE49-F238E27FC236}">
                  <a16:creationId xmlns:a16="http://schemas.microsoft.com/office/drawing/2014/main" id="{E3861844-B238-6AB6-E7E0-C12D192050DB}"/>
                </a:ext>
              </a:extLst>
            </p:cNvPr>
            <p:cNvCxnSpPr>
              <a:cxnSpLocks noChangeAspect="1" noChangeShapeType="1"/>
              <a:stCxn id="15" idx="2"/>
              <a:endCxn id="17" idx="0"/>
            </p:cNvCxnSpPr>
            <p:nvPr/>
          </p:nvCxnSpPr>
          <p:spPr bwMode="auto">
            <a:xfrm flipH="1">
              <a:off x="294" y="2277"/>
              <a:ext cx="397" cy="17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19D56D3D-D763-1C24-D718-FDABAD07A53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90" y="2458"/>
              <a:ext cx="268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si</a:t>
              </a:r>
            </a:p>
          </p:txBody>
        </p:sp>
        <p:cxnSp>
          <p:nvCxnSpPr>
            <p:cNvPr id="33" name="AutoShape 32">
              <a:extLst>
                <a:ext uri="{FF2B5EF4-FFF2-40B4-BE49-F238E27FC236}">
                  <a16:creationId xmlns:a16="http://schemas.microsoft.com/office/drawing/2014/main" id="{C2F88194-8743-D449-8281-0CE338B7C1F6}"/>
                </a:ext>
              </a:extLst>
            </p:cNvPr>
            <p:cNvCxnSpPr>
              <a:cxnSpLocks noChangeAspect="1" noChangeShapeType="1"/>
              <a:stCxn id="32" idx="0"/>
              <a:endCxn id="15" idx="2"/>
            </p:cNvCxnSpPr>
            <p:nvPr/>
          </p:nvCxnSpPr>
          <p:spPr bwMode="auto">
            <a:xfrm flipH="1" flipV="1">
              <a:off x="692" y="2277"/>
              <a:ext cx="533" cy="18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2B7F6C81-A3B9-028B-11EB-D5774E78303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8" y="273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 sz="2800" b="1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32527784-3DDA-40E2-3ED6-0719F363F98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2" y="273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 sz="2800" b="1"/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528B741C-8F75-2F58-157F-A6E8128F7DA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00" y="2736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 sz="2800" b="1"/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B57E04F1-58B0-4FD0-EB53-B278F974283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59" y="3024"/>
              <a:ext cx="221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y</a:t>
              </a: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4B4F3EEB-01B2-F811-64DA-98398298801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87" y="3024"/>
              <a:ext cx="221" cy="2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/>
              <a:r>
                <a:rPr lang="en-US" sz="2800" b="1">
                  <a:cs typeface="Arial" pitchFamily="34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800858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8ED4-DC0B-DBCD-5C9B-ED994B771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F0766-BD1F-E9F3-6F0E-CFF823E9E7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Dns</a:t>
            </a:r>
            <a:r>
              <a:rPr lang="en-US" dirty="0"/>
              <a:t> data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06CDFC0B-782C-0DD1-3C15-E401993B1791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3001347" y="3689805"/>
            <a:ext cx="13716000" cy="45227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0" indent="0" algn="ctr" defTabSz="347663" eaLnBrk="1" hangingPunct="1">
              <a:spcBef>
                <a:spcPct val="0"/>
              </a:spcBef>
              <a:buFontTx/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DNS databases have more information apart from hostname-to-address.</a:t>
            </a:r>
          </a:p>
          <a:p>
            <a:pPr marL="0" indent="0" algn="ctr" defTabSz="347663" eaLnBrk="1" hangingPunct="1">
              <a:spcBef>
                <a:spcPct val="0"/>
              </a:spcBef>
              <a:buFontTx/>
              <a:buNone/>
            </a:pPr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571500" lvl="1" indent="-228600" defTabSz="347663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Name server records			NS</a:t>
            </a:r>
          </a:p>
          <a:p>
            <a:pPr marL="571500" lvl="1" indent="-228600" defTabSz="347663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Hostname aliases				CNAME</a:t>
            </a:r>
          </a:p>
          <a:p>
            <a:pPr marL="571500" lvl="1" indent="-228600" defTabSz="347663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Mail Exchangers				MX</a:t>
            </a:r>
          </a:p>
          <a:p>
            <a:pPr marL="571500" lvl="1" indent="-228600" defTabSz="347663" eaLnBrk="1" hangingPunct="1">
              <a:spcBef>
                <a:spcPct val="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Host Information				HINFO</a:t>
            </a:r>
          </a:p>
        </p:txBody>
      </p:sp>
    </p:spTree>
    <p:extLst>
      <p:ext uri="{BB962C8B-B14F-4D97-AF65-F5344CB8AC3E}">
        <p14:creationId xmlns:p14="http://schemas.microsoft.com/office/powerpoint/2010/main" val="1938679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A264-56AD-141B-7325-586FA5AD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503DE-20C2-3D0C-E11F-5B7625FFF7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Address resolution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03BA1-288B-5716-9DB2-C76BD01D8C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396873" y="3822873"/>
            <a:ext cx="13714940" cy="4522264"/>
          </a:xfrm>
        </p:spPr>
        <p:txBody>
          <a:bodyPr>
            <a:normAutofit/>
          </a:bodyPr>
          <a:lstStyle/>
          <a:p>
            <a:r>
              <a:rPr 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Mapping a name to an address or an address to a name is called name-address resolution.</a:t>
            </a:r>
          </a:p>
          <a:p>
            <a:r>
              <a:rPr 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Two Type of Resolution</a:t>
            </a:r>
            <a:br>
              <a:rPr 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 Recursive Resolution</a:t>
            </a:r>
            <a:br>
              <a:rPr 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lang="en-US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 Iterative Resolution</a:t>
            </a:r>
          </a:p>
          <a:p>
            <a:endParaRPr lang="en-US" sz="3200" b="1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80877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8E44-D7D8-AB24-7F08-5FA71953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7D974-8D16-7884-42C6-5C3F24547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Recursive resolution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3CB5B986-E734-EF52-7E42-955FDDA4D5EB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83608" y="3223274"/>
            <a:ext cx="13172751" cy="6590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483B63-6F52-46B1-1F7C-75186BABC303}"/>
              </a:ext>
            </a:extLst>
          </p:cNvPr>
          <p:cNvSpPr txBox="1"/>
          <p:nvPr/>
        </p:nvSpPr>
        <p:spPr>
          <a:xfrm>
            <a:off x="4100793" y="10506312"/>
            <a:ext cx="10660236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PC client connect to network of fhda.edu</a:t>
            </a: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Want to browse or get data from mcgraw.com</a:t>
            </a:r>
          </a:p>
          <a:p>
            <a:pPr marR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B6CEB-2DC4-A0C0-F5BB-81EBFCD3F785}"/>
              </a:ext>
            </a:extLst>
          </p:cNvPr>
          <p:cNvSpPr txBox="1"/>
          <p:nvPr/>
        </p:nvSpPr>
        <p:spPr>
          <a:xfrm>
            <a:off x="5393094" y="7144552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86B1A-BDDC-A36D-4616-25107C7FE2E0}"/>
              </a:ext>
            </a:extLst>
          </p:cNvPr>
          <p:cNvSpPr txBox="1"/>
          <p:nvPr/>
        </p:nvSpPr>
        <p:spPr>
          <a:xfrm>
            <a:off x="7136524" y="4969841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BDAA1A-7025-A80C-802C-502E3D625952}"/>
              </a:ext>
            </a:extLst>
          </p:cNvPr>
          <p:cNvSpPr txBox="1"/>
          <p:nvPr/>
        </p:nvSpPr>
        <p:spPr>
          <a:xfrm>
            <a:off x="9968204" y="3624633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93B0B-981B-9CD8-D502-78B2AAF66D77}"/>
              </a:ext>
            </a:extLst>
          </p:cNvPr>
          <p:cNvSpPr txBox="1"/>
          <p:nvPr/>
        </p:nvSpPr>
        <p:spPr>
          <a:xfrm>
            <a:off x="14777561" y="5174287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9273A2-D6ED-1CFF-78C9-F7AFEF0DDBEC}"/>
              </a:ext>
            </a:extLst>
          </p:cNvPr>
          <p:cNvSpPr txBox="1"/>
          <p:nvPr/>
        </p:nvSpPr>
        <p:spPr>
          <a:xfrm>
            <a:off x="13849739" y="8069790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</p:spTree>
    <p:extLst>
      <p:ext uri="{BB962C8B-B14F-4D97-AF65-F5344CB8AC3E}">
        <p14:creationId xmlns:p14="http://schemas.microsoft.com/office/powerpoint/2010/main" val="397850222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00BA-57B1-C1A9-B80D-7ACE9A5BD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45805-4F70-9D11-39F2-194BC2824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Iterative resolution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4FB1FDED-6D31-0A65-91FF-23CA7556E600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86400" y="3477137"/>
            <a:ext cx="13081000" cy="7855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53781F-0B07-76C3-EC7B-7EEB58F6A7AF}"/>
              </a:ext>
            </a:extLst>
          </p:cNvPr>
          <p:cNvSpPr txBox="1"/>
          <p:nvPr/>
        </p:nvSpPr>
        <p:spPr>
          <a:xfrm>
            <a:off x="9525161" y="7144552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7B85E8-A288-0BD6-28EA-FC47D231EC1C}"/>
              </a:ext>
            </a:extLst>
          </p:cNvPr>
          <p:cNvSpPr txBox="1"/>
          <p:nvPr/>
        </p:nvSpPr>
        <p:spPr>
          <a:xfrm>
            <a:off x="10832581" y="5074883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49E1E-F979-5213-1883-8BEAAAE794E6}"/>
              </a:ext>
            </a:extLst>
          </p:cNvPr>
          <p:cNvSpPr txBox="1"/>
          <p:nvPr/>
        </p:nvSpPr>
        <p:spPr>
          <a:xfrm>
            <a:off x="14494309" y="3972144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AC8B1-11B7-F8DD-3362-472C76526752}"/>
              </a:ext>
            </a:extLst>
          </p:cNvPr>
          <p:cNvSpPr txBox="1"/>
          <p:nvPr/>
        </p:nvSpPr>
        <p:spPr>
          <a:xfrm>
            <a:off x="16178763" y="5118584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C8351-63B4-2292-F463-45B9051F5CCB}"/>
              </a:ext>
            </a:extLst>
          </p:cNvPr>
          <p:cNvSpPr txBox="1"/>
          <p:nvPr/>
        </p:nvSpPr>
        <p:spPr>
          <a:xfrm>
            <a:off x="15358188" y="7029132"/>
            <a:ext cx="238863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highlight>
                  <a:srgbClr val="FFFF00"/>
                </a:highlight>
                <a:uFillTx/>
                <a:latin typeface="+mn-lt"/>
                <a:ea typeface="+mn-ea"/>
                <a:cs typeface="+mn-cs"/>
                <a:sym typeface="Helvetica Neue"/>
              </a:rPr>
              <a:t>DNS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2B0F8D-3E78-3CD3-8973-4C100B55E7E2}"/>
              </a:ext>
            </a:extLst>
          </p:cNvPr>
          <p:cNvSpPr txBox="1"/>
          <p:nvPr/>
        </p:nvSpPr>
        <p:spPr>
          <a:xfrm>
            <a:off x="4567323" y="11637169"/>
            <a:ext cx="10660236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PC client connect to network of fhda.edu</a:t>
            </a: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Want to browse or get data from mcgraw.com</a:t>
            </a:r>
          </a:p>
          <a:p>
            <a:pPr marR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en-US" sz="3200" b="1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101644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2707A-4F9B-E982-ADEA-201848B9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61CE4-1AB5-50D8-D124-4FD70ECBF9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At cloud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E9668E-A11C-9971-16B5-BCEBADB816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22600" y="3223274"/>
            <a:ext cx="16179800" cy="66335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DNS server in AWS called “Amazon Route 53”</a:t>
            </a:r>
          </a:p>
          <a:p>
            <a:pPr marL="496888" indent="-273050"/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Is used to route end users to internet applications by translating names (like </a:t>
            </a:r>
            <a:r>
              <a:rPr lang="en-US" sz="3200" b="1" i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www.example.com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into numeric IP addresses (like </a:t>
            </a:r>
            <a:r>
              <a:rPr lang="en-US" sz="3200" b="1" i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192.0.2.1</a:t>
            </a: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) that computers use to connect to each other</a:t>
            </a:r>
          </a:p>
          <a:p>
            <a:pPr marL="496888" indent="-273050">
              <a:spcBef>
                <a:spcPts val="120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Is fully compliant with IPv4 and IPv6</a:t>
            </a:r>
          </a:p>
          <a:p>
            <a:pPr marL="496888" indent="-273050">
              <a:spcBef>
                <a:spcPts val="120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Connects user requests to infrastructure running in AWS and also outside of AWS</a:t>
            </a:r>
          </a:p>
          <a:p>
            <a:pPr marL="496888" indent="-273050">
              <a:spcBef>
                <a:spcPts val="120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Is used to check the health of your resources</a:t>
            </a:r>
          </a:p>
          <a:p>
            <a:pPr marL="496888" indent="-273050">
              <a:spcBef>
                <a:spcPts val="120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Features traffic flow</a:t>
            </a:r>
          </a:p>
          <a:p>
            <a:pPr marL="496888" indent="-273050">
              <a:spcBef>
                <a:spcPts val="1200"/>
              </a:spcBef>
            </a:pPr>
            <a:r>
              <a:rPr lang="en-US" sz="32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Enables you to register domain names</a:t>
            </a:r>
          </a:p>
        </p:txBody>
      </p:sp>
    </p:spTree>
    <p:extLst>
      <p:ext uri="{BB962C8B-B14F-4D97-AF65-F5344CB8AC3E}">
        <p14:creationId xmlns:p14="http://schemas.microsoft.com/office/powerpoint/2010/main" val="31187308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FB51-CB5D-4A4F-9647-3621BD66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8438B-A11D-A515-E493-2F5915E1B3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D414A-17C6-3962-BD5F-3205D2FB858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78782" y="4364049"/>
            <a:ext cx="13714940" cy="452226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Explain DNS process if client at abc.go.id to xyz.co.id, using Iterative process ?</a:t>
            </a:r>
          </a:p>
        </p:txBody>
      </p:sp>
    </p:spTree>
    <p:extLst>
      <p:ext uri="{BB962C8B-B14F-4D97-AF65-F5344CB8AC3E}">
        <p14:creationId xmlns:p14="http://schemas.microsoft.com/office/powerpoint/2010/main" val="428805648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959C-4953-F280-8F3E-E96B200A7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References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D7752-5A55-6930-C9FA-43D826EC45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6ADE253-2CB8-32FF-CDC2-9DA52CF50C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916195" y="3603028"/>
            <a:ext cx="19053467" cy="8957939"/>
          </a:xfrm>
        </p:spPr>
        <p:txBody>
          <a:bodyPr>
            <a:noAutofit/>
          </a:bodyPr>
          <a:lstStyle/>
          <a:p>
            <a:pPr algn="just"/>
            <a:r>
              <a:rPr lang="en-US" sz="3200" dirty="0" err="1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Forouzan</a:t>
            </a:r>
            <a:r>
              <a:rPr lang="en-US" sz="3200" dirty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rPr>
              <a:t>, B. A. (2021). Data Communications and Networking with TCP/IP Protocol Suite. 6th Ed. New York: McGraw-Hill. ISBN: 978-1-26-436335-3. </a:t>
            </a:r>
          </a:p>
        </p:txBody>
      </p:sp>
    </p:spTree>
    <p:extLst>
      <p:ext uri="{BB962C8B-B14F-4D97-AF65-F5344CB8AC3E}">
        <p14:creationId xmlns:p14="http://schemas.microsoft.com/office/powerpoint/2010/main" val="243213615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E48F4F-144E-B982-E51F-76F732804B3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930EC-C957-C09C-7359-7312156E8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18AEA-5401-B692-325F-9E8AD9818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December 2024</a:t>
            </a:r>
          </a:p>
        </p:txBody>
      </p:sp>
    </p:spTree>
    <p:extLst>
      <p:ext uri="{BB962C8B-B14F-4D97-AF65-F5344CB8AC3E}">
        <p14:creationId xmlns:p14="http://schemas.microsoft.com/office/powerpoint/2010/main" val="281341360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2" id="{A9A1C811-4046-44EA-8E0F-7354A0AD2552}" vid="{C3965A57-E83B-4BEA-A297-9AFB7752D311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binus template</Template>
  <TotalTime>3</TotalTime>
  <Words>625</Words>
  <Application>Microsoft Office PowerPoint</Application>
  <PresentationFormat>Custom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Open Sans ExtraBold</vt:lpstr>
      <vt:lpstr>Arial</vt:lpstr>
      <vt:lpstr>OCRB</vt:lpstr>
      <vt:lpstr>Open Sans Light</vt:lpstr>
      <vt:lpstr>Open Sans Semibold</vt:lpstr>
      <vt:lpstr>21_BasicWhite</vt:lpstr>
      <vt:lpstr>Computer network session 9</vt:lpstr>
      <vt:lpstr>Learning outcomes</vt:lpstr>
      <vt:lpstr>topics</vt:lpstr>
      <vt:lpstr>dns</vt:lpstr>
      <vt:lpstr>dns</vt:lpstr>
      <vt:lpstr>dns</vt:lpstr>
      <vt:lpstr>dns</vt:lpstr>
      <vt:lpstr>dns</vt:lpstr>
      <vt:lpstr>dns</vt:lpstr>
      <vt:lpstr>DNS</vt:lpstr>
      <vt:lpstr>dns</vt:lpstr>
      <vt:lpstr>exercise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Ir. Santoso Budijono, M.M.</dc:creator>
  <cp:lastModifiedBy>Ir. Santoso Budijono, M.M.</cp:lastModifiedBy>
  <cp:revision>1</cp:revision>
  <dcterms:created xsi:type="dcterms:W3CDTF">2024-12-13T13:10:46Z</dcterms:created>
  <dcterms:modified xsi:type="dcterms:W3CDTF">2024-12-14T02:05:26Z</dcterms:modified>
</cp:coreProperties>
</file>