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7"/>
  </p:notesMasterIdLst>
  <p:sldIdLst>
    <p:sldId id="258" r:id="rId2"/>
    <p:sldId id="259" r:id="rId3"/>
    <p:sldId id="260" r:id="rId4"/>
    <p:sldId id="446" r:id="rId5"/>
    <p:sldId id="477" r:id="rId6"/>
    <p:sldId id="478" r:id="rId7"/>
    <p:sldId id="459" r:id="rId8"/>
    <p:sldId id="460" r:id="rId9"/>
    <p:sldId id="464" r:id="rId10"/>
    <p:sldId id="465" r:id="rId11"/>
    <p:sldId id="466" r:id="rId12"/>
    <p:sldId id="462" r:id="rId13"/>
    <p:sldId id="463" r:id="rId14"/>
    <p:sldId id="467" r:id="rId15"/>
    <p:sldId id="468" r:id="rId16"/>
    <p:sldId id="469" r:id="rId17"/>
    <p:sldId id="470" r:id="rId18"/>
    <p:sldId id="471" r:id="rId19"/>
    <p:sldId id="472" r:id="rId20"/>
    <p:sldId id="473" r:id="rId21"/>
    <p:sldId id="474" r:id="rId22"/>
    <p:sldId id="475" r:id="rId23"/>
    <p:sldId id="444" r:id="rId24"/>
    <p:sldId id="443" r:id="rId25"/>
    <p:sldId id="476" r:id="rId26"/>
  </p:sldIdLst>
  <p:sldSz cx="24384000" cy="13716000"/>
  <p:notesSz cx="6858000" cy="9144000"/>
  <p:embeddedFontLst>
    <p:embeddedFont>
      <p:font typeface="OCRB" panose="020B0609020202020204" pitchFamily="49" charset="0"/>
      <p:regular r:id="rId28"/>
    </p:embeddedFont>
    <p:embeddedFont>
      <p:font typeface="Open Sans ExtraBold" panose="020B0906030804020204" pitchFamily="34" charset="0"/>
      <p:bold r:id="rId29"/>
      <p:italic r:id="rId30"/>
      <p:boldItalic r:id="rId31"/>
    </p:embeddedFont>
    <p:embeddedFont>
      <p:font typeface="Open Sans Light" panose="020B0306030504020204" pitchFamily="34" charset="0"/>
      <p:regular r:id="rId32"/>
      <p:italic r:id="rId33"/>
    </p:embeddedFont>
    <p:embeddedFont>
      <p:font typeface="Open Sans Semibold" panose="020B0706030804020204" pitchFamily="34" charset="0"/>
      <p:regular r:id="rId34"/>
      <p:bold r:id="rId35"/>
      <p:italic r:id="rId36"/>
      <p:boldItalic r:id="rId37"/>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197"/>
  </p:normalViewPr>
  <p:slideViewPr>
    <p:cSldViewPr snapToGrid="0" snapToObjects="1">
      <p:cViewPr varScale="1">
        <p:scale>
          <a:sx n="41" d="100"/>
          <a:sy n="41" d="100"/>
        </p:scale>
        <p:origin x="720" y="72"/>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5.png"/><Relationship Id="rId5" Type="http://schemas.openxmlformats.org/officeDocument/2006/relationships/image" Target="../media/image11.svg"/><Relationship Id="rId10"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1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svg"/><Relationship Id="rId7"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11"/>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12"/>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12"/>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Network layer1 – data transfer</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dirty="0"/>
              <a:t>COMPUTER NETWORKS</a:t>
            </a:r>
            <a:br>
              <a:rPr lang="en-US" dirty="0"/>
            </a:br>
            <a:r>
              <a:rPr lang="en-US" dirty="0"/>
              <a:t>SESSION 03</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Santoso Budijono</a:t>
            </a:r>
          </a:p>
        </p:txBody>
      </p:sp>
    </p:spTree>
    <p:extLst>
      <p:ext uri="{BB962C8B-B14F-4D97-AF65-F5344CB8AC3E}">
        <p14:creationId xmlns:p14="http://schemas.microsoft.com/office/powerpoint/2010/main" val="2322727912"/>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BB631-69A5-F762-9353-04A0C5FB25A4}"/>
              </a:ext>
            </a:extLst>
          </p:cNvPr>
          <p:cNvSpPr>
            <a:spLocks noGrp="1"/>
          </p:cNvSpPr>
          <p:nvPr>
            <p:ph type="title"/>
          </p:nvPr>
        </p:nvSpPr>
        <p:spPr/>
        <p:txBody>
          <a:bodyPr>
            <a:normAutofit fontScale="90000"/>
          </a:bodyPr>
          <a:lstStyle/>
          <a:p>
            <a:r>
              <a:rPr lang="en-US" dirty="0"/>
              <a:t>Learning outcomes</a:t>
            </a:r>
          </a:p>
        </p:txBody>
      </p:sp>
      <p:sp>
        <p:nvSpPr>
          <p:cNvPr id="3" name="Text Placeholder 2">
            <a:extLst>
              <a:ext uri="{FF2B5EF4-FFF2-40B4-BE49-F238E27FC236}">
                <a16:creationId xmlns:a16="http://schemas.microsoft.com/office/drawing/2014/main" id="{CEF87F28-4EF1-8898-DF4B-2EB677F1FA88}"/>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19FC1A27-A89D-104D-DA0B-474E66F0BD0D}"/>
              </a:ext>
            </a:extLst>
          </p:cNvPr>
          <p:cNvSpPr>
            <a:spLocks noGrp="1"/>
          </p:cNvSpPr>
          <p:nvPr>
            <p:ph sz="quarter" idx="11"/>
          </p:nvPr>
        </p:nvSpPr>
        <p:spPr/>
        <p:txBody>
          <a:bodyPr>
            <a:normAutofit/>
          </a:bodyPr>
          <a:lstStyle/>
          <a:p>
            <a:pPr marL="0" marR="0" indent="0" algn="l" rtl="0" eaLnBrk="1" fontAlgn="t" latinLnBrk="0" hangingPunct="1">
              <a:spcBef>
                <a:spcPts val="0"/>
              </a:spcBef>
              <a:spcAft>
                <a:spcPts val="0"/>
              </a:spcAft>
              <a:buNone/>
            </a:pPr>
            <a:r>
              <a:rPr lang="en-ID" sz="3200" b="1" i="0" u="none" strike="noStrike" kern="1200" dirty="0">
                <a:solidFill>
                  <a:srgbClr val="000000"/>
                </a:solidFill>
                <a:effectLst/>
                <a:latin typeface="Open Sans Light" panose="020B0306030504020204" pitchFamily="34" charset="0"/>
                <a:ea typeface="Open Sans Light" panose="020B0306030504020204" pitchFamily="34" charset="0"/>
                <a:cs typeface="Open Sans Light" panose="020B0306030504020204" pitchFamily="34" charset="0"/>
              </a:rPr>
              <a:t>LO 1: Describe basic structures of network</a:t>
            </a:r>
            <a:endParaRPr lang="en-US" sz="3200" b="1" dirty="0">
              <a:latin typeface="Open Sans Light" panose="020B0306030504020204" pitchFamily="34" charset="0"/>
              <a:ea typeface="Open Sans Light" panose="020B0306030504020204" pitchFamily="34" charset="0"/>
              <a:cs typeface="Open Sans Light" panose="020B0306030504020204" pitchFamily="34" charset="0"/>
            </a:endParaRPr>
          </a:p>
          <a:p>
            <a:pPr marL="0" marR="0" indent="0" algn="l" rtl="0" eaLnBrk="1" fontAlgn="t" latinLnBrk="0" hangingPunct="1">
              <a:spcBef>
                <a:spcPts val="0"/>
              </a:spcBef>
              <a:spcAft>
                <a:spcPts val="0"/>
              </a:spcAft>
              <a:buNone/>
            </a:pPr>
            <a:r>
              <a:rPr lang="en-ID" sz="3200" b="1" i="0" u="none" strike="noStrike" kern="1200" dirty="0">
                <a:solidFill>
                  <a:srgbClr val="000000"/>
                </a:solidFill>
                <a:effectLst/>
                <a:latin typeface="Open Sans Light" panose="020B0306030504020204" pitchFamily="34" charset="0"/>
                <a:ea typeface="Open Sans Light" panose="020B0306030504020204" pitchFamily="34" charset="0"/>
                <a:cs typeface="Open Sans Light" panose="020B0306030504020204" pitchFamily="34" charset="0"/>
              </a:rPr>
              <a:t>LO 2: Explain basic concepts of network</a:t>
            </a:r>
            <a:endParaRPr lang="en-US" sz="3200" b="1" i="0" u="none" strike="noStrike" dirty="0">
              <a:effectLst/>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362737665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CCCEA-4B7A-0083-FFDD-8BB7177B56E0}"/>
              </a:ext>
            </a:extLst>
          </p:cNvPr>
          <p:cNvSpPr>
            <a:spLocks noGrp="1"/>
          </p:cNvSpPr>
          <p:nvPr>
            <p:ph type="title"/>
          </p:nvPr>
        </p:nvSpPr>
        <p:spPr/>
        <p:txBody>
          <a:bodyPr>
            <a:normAutofit fontScale="90000"/>
          </a:bodyPr>
          <a:lstStyle/>
          <a:p>
            <a:r>
              <a:rPr lang="en-US" dirty="0"/>
              <a:t>Outline</a:t>
            </a:r>
          </a:p>
        </p:txBody>
      </p:sp>
      <p:sp>
        <p:nvSpPr>
          <p:cNvPr id="3" name="Text Placeholder 2">
            <a:extLst>
              <a:ext uri="{FF2B5EF4-FFF2-40B4-BE49-F238E27FC236}">
                <a16:creationId xmlns:a16="http://schemas.microsoft.com/office/drawing/2014/main" id="{629FDC97-E3CE-649A-13A1-EEF0E45FA98F}"/>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936D977A-AA13-C477-CA53-BAEB98C2F418}"/>
              </a:ext>
            </a:extLst>
          </p:cNvPr>
          <p:cNvSpPr>
            <a:spLocks noGrp="1"/>
          </p:cNvSpPr>
          <p:nvPr>
            <p:ph sz="quarter" idx="11"/>
          </p:nvPr>
        </p:nvSpPr>
        <p:spPr>
          <a:xfrm>
            <a:off x="5486930" y="3888018"/>
            <a:ext cx="13714940" cy="7955924"/>
          </a:xfrm>
        </p:spPr>
        <p:txBody>
          <a:bodyPr>
            <a:noAutofit/>
          </a:bodyPr>
          <a:lstStyle/>
          <a:p>
            <a:pPr marL="91440">
              <a:lnSpc>
                <a:spcPct val="150000"/>
              </a:lnSpc>
              <a:spcBef>
                <a:spcPts val="0"/>
              </a:spcBef>
              <a:spcAft>
                <a:spcPts val="600"/>
              </a:spcAft>
            </a:pPr>
            <a:r>
              <a:rPr lang="nl-NL" sz="3200" b="1" dirty="0">
                <a:latin typeface="Open Sans Light" panose="020B0306030504020204" pitchFamily="34" charset="0"/>
                <a:ea typeface="Open Sans Light" panose="020B0306030504020204" pitchFamily="34" charset="0"/>
                <a:cs typeface="Open Sans Light" panose="020B0306030504020204" pitchFamily="34" charset="0"/>
              </a:rPr>
              <a:t>Network Layer Services</a:t>
            </a:r>
          </a:p>
          <a:p>
            <a:pPr marL="91440">
              <a:lnSpc>
                <a:spcPct val="150000"/>
              </a:lnSpc>
              <a:spcBef>
                <a:spcPts val="0"/>
              </a:spcBef>
              <a:spcAft>
                <a:spcPts val="600"/>
              </a:spcAft>
            </a:pPr>
            <a:r>
              <a:rPr lang="nl-NL" sz="3200" b="1" dirty="0">
                <a:latin typeface="Open Sans Light" panose="020B0306030504020204" pitchFamily="34" charset="0"/>
                <a:ea typeface="Open Sans Light" panose="020B0306030504020204" pitchFamily="34" charset="0"/>
                <a:cs typeface="Open Sans Light" panose="020B0306030504020204" pitchFamily="34" charset="0"/>
              </a:rPr>
              <a:t>Packet Switching</a:t>
            </a:r>
          </a:p>
          <a:p>
            <a:pPr marL="91440">
              <a:lnSpc>
                <a:spcPct val="150000"/>
              </a:lnSpc>
              <a:spcBef>
                <a:spcPts val="0"/>
              </a:spcBef>
              <a:spcAft>
                <a:spcPts val="600"/>
              </a:spcAft>
            </a:pPr>
            <a:r>
              <a:rPr lang="nl-NL" sz="3200" b="1" dirty="0">
                <a:latin typeface="Open Sans Light" panose="020B0306030504020204" pitchFamily="34" charset="0"/>
                <a:ea typeface="Open Sans Light" panose="020B0306030504020204" pitchFamily="34" charset="0"/>
                <a:cs typeface="Open Sans Light" panose="020B0306030504020204" pitchFamily="34" charset="0"/>
              </a:rPr>
              <a:t>Network Performance</a:t>
            </a:r>
          </a:p>
          <a:p>
            <a:pPr marL="91440">
              <a:lnSpc>
                <a:spcPct val="150000"/>
              </a:lnSpc>
              <a:spcBef>
                <a:spcPts val="0"/>
              </a:spcBef>
              <a:spcAft>
                <a:spcPts val="600"/>
              </a:spcAft>
            </a:pPr>
            <a:r>
              <a:rPr lang="nl-NL" sz="3200" b="1" dirty="0">
                <a:latin typeface="Open Sans Light" panose="020B0306030504020204" pitchFamily="34" charset="0"/>
                <a:ea typeface="Open Sans Light" panose="020B0306030504020204" pitchFamily="34" charset="0"/>
                <a:cs typeface="Open Sans Light" panose="020B0306030504020204" pitchFamily="34" charset="0"/>
              </a:rPr>
              <a:t>IPv4</a:t>
            </a:r>
          </a:p>
          <a:p>
            <a:pPr marL="91440">
              <a:lnSpc>
                <a:spcPct val="150000"/>
              </a:lnSpc>
              <a:spcBef>
                <a:spcPts val="0"/>
              </a:spcBef>
              <a:spcAft>
                <a:spcPts val="600"/>
              </a:spcAft>
            </a:pPr>
            <a:r>
              <a:rPr lang="nl-NL" sz="3200" b="1" dirty="0">
                <a:latin typeface="Open Sans Light" panose="020B0306030504020204" pitchFamily="34" charset="0"/>
                <a:ea typeface="Open Sans Light" panose="020B0306030504020204" pitchFamily="34" charset="0"/>
                <a:cs typeface="Open Sans Light" panose="020B0306030504020204" pitchFamily="34" charset="0"/>
              </a:rPr>
              <a:t>IPv6</a:t>
            </a:r>
          </a:p>
          <a:p>
            <a:pPr marL="91440">
              <a:lnSpc>
                <a:spcPct val="150000"/>
              </a:lnSpc>
              <a:spcBef>
                <a:spcPts val="0"/>
              </a:spcBef>
              <a:spcAft>
                <a:spcPts val="600"/>
              </a:spcAft>
            </a:pPr>
            <a:endParaRPr lang="en-US" sz="3200" b="1" dirty="0">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161659830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06006-CF9B-5801-FA10-206E5CC0FB56}"/>
              </a:ext>
            </a:extLst>
          </p:cNvPr>
          <p:cNvSpPr>
            <a:spLocks noGrp="1"/>
          </p:cNvSpPr>
          <p:nvPr>
            <p:ph type="title"/>
          </p:nvPr>
        </p:nvSpPr>
        <p:spPr/>
        <p:txBody>
          <a:bodyPr>
            <a:normAutofit fontScale="90000"/>
          </a:bodyPr>
          <a:lstStyle/>
          <a:p>
            <a:r>
              <a:rPr lang="en-US" dirty="0"/>
              <a:t>Network layer services</a:t>
            </a:r>
          </a:p>
        </p:txBody>
      </p:sp>
      <p:sp>
        <p:nvSpPr>
          <p:cNvPr id="3" name="Text Placeholder 2">
            <a:extLst>
              <a:ext uri="{FF2B5EF4-FFF2-40B4-BE49-F238E27FC236}">
                <a16:creationId xmlns:a16="http://schemas.microsoft.com/office/drawing/2014/main" id="{2472499E-78B9-5EEA-7ABC-F0630F30FCD9}"/>
              </a:ext>
            </a:extLst>
          </p:cNvPr>
          <p:cNvSpPr>
            <a:spLocks noGrp="1"/>
          </p:cNvSpPr>
          <p:nvPr>
            <p:ph type="body" sz="quarter" idx="10"/>
          </p:nvPr>
        </p:nvSpPr>
        <p:spPr/>
        <p:txBody>
          <a:bodyPr/>
          <a:lstStyle/>
          <a:p>
            <a:endParaRPr lang="en-US" dirty="0"/>
          </a:p>
        </p:txBody>
      </p:sp>
      <p:sp>
        <p:nvSpPr>
          <p:cNvPr id="8" name="Content Placeholder 7">
            <a:extLst>
              <a:ext uri="{FF2B5EF4-FFF2-40B4-BE49-F238E27FC236}">
                <a16:creationId xmlns:a16="http://schemas.microsoft.com/office/drawing/2014/main" id="{FC4EFE17-87F2-D2BE-D35E-2F25EFAA02DC}"/>
              </a:ext>
            </a:extLst>
          </p:cNvPr>
          <p:cNvSpPr>
            <a:spLocks noGrp="1"/>
          </p:cNvSpPr>
          <p:nvPr>
            <p:ph sz="quarter" idx="11"/>
          </p:nvPr>
        </p:nvSpPr>
        <p:spPr>
          <a:xfrm>
            <a:off x="2575560" y="3302114"/>
            <a:ext cx="19232879" cy="9433560"/>
          </a:xfrm>
        </p:spPr>
        <p:txBody>
          <a:bodyPr>
            <a:noAutofit/>
          </a:bodyPr>
          <a:lstStyle/>
          <a:p>
            <a:pPr marL="0" indent="0">
              <a:spcBef>
                <a:spcPts val="0"/>
              </a:spcBef>
              <a:buNone/>
            </a:pPr>
            <a:r>
              <a:rPr lang="en-US" sz="3200" b="1" dirty="0">
                <a:cs typeface="Arial" charset="0"/>
              </a:rPr>
              <a:t>1. Packetizing</a:t>
            </a:r>
          </a:p>
          <a:p>
            <a:pPr marL="579437" lvl="2" indent="0">
              <a:spcBef>
                <a:spcPts val="0"/>
              </a:spcBef>
              <a:buNone/>
            </a:pPr>
            <a:r>
              <a:rPr lang="en-US" sz="3200" b="1" dirty="0">
                <a:cs typeface="Arial" charset="0"/>
              </a:rPr>
              <a:t>Encapsulating the payload (data received from the upper layer) in a network-layer packet at the source and decapsulating the payload from the network-layer packet at the destination</a:t>
            </a:r>
          </a:p>
          <a:p>
            <a:pPr marL="579437" lvl="2" indent="0">
              <a:spcBef>
                <a:spcPts val="0"/>
              </a:spcBef>
              <a:buNone/>
            </a:pPr>
            <a:endParaRPr lang="en-US" sz="3200" b="1" dirty="0">
              <a:cs typeface="Arial" charset="0"/>
            </a:endParaRPr>
          </a:p>
          <a:p>
            <a:pPr marL="0" indent="0" algn="just">
              <a:spcBef>
                <a:spcPct val="0"/>
              </a:spcBef>
              <a:buNone/>
            </a:pPr>
            <a:r>
              <a:rPr lang="en-US" sz="3200" b="1" dirty="0">
                <a:cs typeface="Arial" charset="0"/>
              </a:rPr>
              <a:t>2. Routing</a:t>
            </a:r>
          </a:p>
          <a:p>
            <a:pPr marL="579437" lvl="2" indent="0">
              <a:spcBef>
                <a:spcPts val="0"/>
              </a:spcBef>
              <a:buNone/>
            </a:pPr>
            <a:r>
              <a:rPr lang="en-US" sz="3200" b="1" dirty="0">
                <a:cs typeface="Arial" charset="0"/>
              </a:rPr>
              <a:t>The network layer is responsible for routing a network-layer packet from its source to the destination. A physical network is a combination of networks (LANs and WANs) and routers that connect them</a:t>
            </a:r>
          </a:p>
          <a:p>
            <a:pPr marL="0" indent="0" algn="just">
              <a:spcBef>
                <a:spcPct val="0"/>
              </a:spcBef>
              <a:buNone/>
            </a:pPr>
            <a:endParaRPr lang="en-US" sz="3200" b="1" dirty="0">
              <a:cs typeface="Arial" charset="0"/>
            </a:endParaRPr>
          </a:p>
          <a:p>
            <a:pPr marL="0" indent="0" algn="just">
              <a:spcBef>
                <a:spcPct val="0"/>
              </a:spcBef>
              <a:buNone/>
            </a:pPr>
            <a:r>
              <a:rPr lang="en-US" sz="3200" b="1" dirty="0">
                <a:cs typeface="Arial" charset="0"/>
              </a:rPr>
              <a:t>3. Error Control</a:t>
            </a:r>
          </a:p>
          <a:p>
            <a:pPr marL="579437" lvl="2" indent="0">
              <a:lnSpc>
                <a:spcPct val="110000"/>
              </a:lnSpc>
              <a:spcBef>
                <a:spcPts val="0"/>
              </a:spcBef>
              <a:buNone/>
            </a:pPr>
            <a:r>
              <a:rPr lang="en-US" sz="3200" b="1" dirty="0">
                <a:cs typeface="Arial" charset="0"/>
              </a:rPr>
              <a:t>Discussed error detection and correction. Although error control also can be implemented in the network layer, the designers of the network layer in the Internet ignored this issue for the data being carried by the network layer. One reason for this decision is the fact that the packet in the network layer may be fragmented at each router, which makes error checking at this layer inefficient.</a:t>
            </a:r>
          </a:p>
          <a:p>
            <a:pPr marL="0" indent="0">
              <a:buNone/>
            </a:pPr>
            <a:endParaRPr lang="en-US" sz="3200" b="1" dirty="0"/>
          </a:p>
        </p:txBody>
      </p:sp>
    </p:spTree>
    <p:extLst>
      <p:ext uri="{BB962C8B-B14F-4D97-AF65-F5344CB8AC3E}">
        <p14:creationId xmlns:p14="http://schemas.microsoft.com/office/powerpoint/2010/main" val="27278436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E4304-7D10-44B9-2130-A1103948B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920D40-6445-2BFE-2D60-0978BD971B31}"/>
              </a:ext>
            </a:extLst>
          </p:cNvPr>
          <p:cNvSpPr>
            <a:spLocks noGrp="1"/>
          </p:cNvSpPr>
          <p:nvPr>
            <p:ph type="title"/>
          </p:nvPr>
        </p:nvSpPr>
        <p:spPr/>
        <p:txBody>
          <a:bodyPr>
            <a:normAutofit fontScale="90000"/>
          </a:bodyPr>
          <a:lstStyle/>
          <a:p>
            <a:r>
              <a:rPr lang="en-US" dirty="0"/>
              <a:t>Network layer services</a:t>
            </a:r>
          </a:p>
        </p:txBody>
      </p:sp>
      <p:sp>
        <p:nvSpPr>
          <p:cNvPr id="3" name="Text Placeholder 2">
            <a:extLst>
              <a:ext uri="{FF2B5EF4-FFF2-40B4-BE49-F238E27FC236}">
                <a16:creationId xmlns:a16="http://schemas.microsoft.com/office/drawing/2014/main" id="{6E494A10-6E95-A325-F7FB-281F369A42C7}"/>
              </a:ext>
            </a:extLst>
          </p:cNvPr>
          <p:cNvSpPr>
            <a:spLocks noGrp="1"/>
          </p:cNvSpPr>
          <p:nvPr>
            <p:ph type="body" sz="quarter" idx="10"/>
          </p:nvPr>
        </p:nvSpPr>
        <p:spPr/>
        <p:txBody>
          <a:bodyPr/>
          <a:lstStyle/>
          <a:p>
            <a:endParaRPr lang="en-US" dirty="0"/>
          </a:p>
        </p:txBody>
      </p:sp>
      <p:sp>
        <p:nvSpPr>
          <p:cNvPr id="8" name="Content Placeholder 7">
            <a:extLst>
              <a:ext uri="{FF2B5EF4-FFF2-40B4-BE49-F238E27FC236}">
                <a16:creationId xmlns:a16="http://schemas.microsoft.com/office/drawing/2014/main" id="{4BB8DA19-FF3C-8289-5FB5-C33A52BFBA14}"/>
              </a:ext>
            </a:extLst>
          </p:cNvPr>
          <p:cNvSpPr>
            <a:spLocks noGrp="1"/>
          </p:cNvSpPr>
          <p:nvPr>
            <p:ph sz="quarter" idx="11"/>
          </p:nvPr>
        </p:nvSpPr>
        <p:spPr>
          <a:xfrm>
            <a:off x="2712720" y="3223274"/>
            <a:ext cx="19232879" cy="8945183"/>
          </a:xfrm>
        </p:spPr>
        <p:txBody>
          <a:bodyPr>
            <a:noAutofit/>
          </a:bodyPr>
          <a:lstStyle/>
          <a:p>
            <a:pPr marL="0" indent="0" algn="just">
              <a:spcBef>
                <a:spcPct val="0"/>
              </a:spcBef>
              <a:buNone/>
            </a:pPr>
            <a:r>
              <a:rPr lang="en-US" sz="3200" b="1" dirty="0">
                <a:cs typeface="Arial" charset="0"/>
              </a:rPr>
              <a:t>4. Flow Control</a:t>
            </a:r>
          </a:p>
          <a:p>
            <a:pPr marL="579437" lvl="2" indent="0">
              <a:lnSpc>
                <a:spcPct val="110000"/>
              </a:lnSpc>
              <a:spcBef>
                <a:spcPts val="0"/>
              </a:spcBef>
              <a:buNone/>
            </a:pPr>
            <a:r>
              <a:rPr lang="en-US" sz="3200" b="1" dirty="0">
                <a:cs typeface="Arial" charset="0"/>
              </a:rPr>
              <a:t>Regulates the amount of data a source can send without overwhelming the receiver. If the upper layer at the source computer produces data faster than the upper layer at the destination computer can consume it, the receiver will be overwhelmed with data. To control the flow of data, the receiver needs to send some feedback to the sender to inform the latter that it is overwhelmed with data</a:t>
            </a:r>
          </a:p>
          <a:p>
            <a:pPr marL="579437" lvl="2" indent="0">
              <a:lnSpc>
                <a:spcPct val="110000"/>
              </a:lnSpc>
              <a:spcBef>
                <a:spcPts val="0"/>
              </a:spcBef>
              <a:buNone/>
            </a:pPr>
            <a:endParaRPr lang="en-US" sz="3200" b="1" dirty="0">
              <a:cs typeface="Arial" charset="0"/>
            </a:endParaRPr>
          </a:p>
          <a:p>
            <a:pPr marL="0" indent="0" algn="just">
              <a:spcBef>
                <a:spcPct val="0"/>
              </a:spcBef>
              <a:buNone/>
            </a:pPr>
            <a:r>
              <a:rPr lang="en-US" sz="3200" b="1" dirty="0">
                <a:cs typeface="Arial" charset="0"/>
              </a:rPr>
              <a:t>5. Congestion Control </a:t>
            </a:r>
          </a:p>
          <a:p>
            <a:pPr marL="579437" lvl="2" indent="0">
              <a:lnSpc>
                <a:spcPct val="110000"/>
              </a:lnSpc>
              <a:spcBef>
                <a:spcPts val="0"/>
              </a:spcBef>
              <a:buNone/>
            </a:pPr>
            <a:r>
              <a:rPr lang="en-US" sz="3200" b="1" dirty="0">
                <a:cs typeface="Arial" charset="0"/>
              </a:rPr>
              <a:t>Congestion in the network layer is a situation in which too many datagrams are present in an area of the Internet. Congestion may occur if the number of datagrams sent by source computers is beyond the capacity of the network or routers. In this situation, some routers may drop some of the datagrams. However, as more datagrams are dropped, the situation may become worse because, due to the error-control mechanism at the upper layers, the sender may send duplicates of the lost packets. If the congestion continues, sometimes a situation may reach a point where the system collapses and no datagrams are delivered.</a:t>
            </a:r>
          </a:p>
          <a:p>
            <a:pPr marL="0" indent="0">
              <a:buNone/>
            </a:pPr>
            <a:endParaRPr lang="en-US" sz="3200" b="1" dirty="0"/>
          </a:p>
        </p:txBody>
      </p:sp>
    </p:spTree>
    <p:extLst>
      <p:ext uri="{BB962C8B-B14F-4D97-AF65-F5344CB8AC3E}">
        <p14:creationId xmlns:p14="http://schemas.microsoft.com/office/powerpoint/2010/main" val="243268423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9DEB8-811D-EDDD-F3B3-264CB78AE4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C2BB6E-7A37-510F-4919-7BB20F204CD2}"/>
              </a:ext>
            </a:extLst>
          </p:cNvPr>
          <p:cNvSpPr>
            <a:spLocks noGrp="1"/>
          </p:cNvSpPr>
          <p:nvPr>
            <p:ph type="title"/>
          </p:nvPr>
        </p:nvSpPr>
        <p:spPr/>
        <p:txBody>
          <a:bodyPr>
            <a:normAutofit fontScale="90000"/>
          </a:bodyPr>
          <a:lstStyle/>
          <a:p>
            <a:r>
              <a:rPr lang="en-US" dirty="0"/>
              <a:t>Network layer services</a:t>
            </a:r>
          </a:p>
        </p:txBody>
      </p:sp>
      <p:sp>
        <p:nvSpPr>
          <p:cNvPr id="3" name="Text Placeholder 2">
            <a:extLst>
              <a:ext uri="{FF2B5EF4-FFF2-40B4-BE49-F238E27FC236}">
                <a16:creationId xmlns:a16="http://schemas.microsoft.com/office/drawing/2014/main" id="{04D4BB89-F6BE-5BC3-6A74-8F1C546663A2}"/>
              </a:ext>
            </a:extLst>
          </p:cNvPr>
          <p:cNvSpPr>
            <a:spLocks noGrp="1"/>
          </p:cNvSpPr>
          <p:nvPr>
            <p:ph type="body" sz="quarter" idx="10"/>
          </p:nvPr>
        </p:nvSpPr>
        <p:spPr/>
        <p:txBody>
          <a:bodyPr/>
          <a:lstStyle/>
          <a:p>
            <a:endParaRPr lang="en-US" dirty="0"/>
          </a:p>
        </p:txBody>
      </p:sp>
      <p:sp>
        <p:nvSpPr>
          <p:cNvPr id="8" name="Content Placeholder 7">
            <a:extLst>
              <a:ext uri="{FF2B5EF4-FFF2-40B4-BE49-F238E27FC236}">
                <a16:creationId xmlns:a16="http://schemas.microsoft.com/office/drawing/2014/main" id="{C4FBD666-7647-5439-32B0-5746970A181B}"/>
              </a:ext>
            </a:extLst>
          </p:cNvPr>
          <p:cNvSpPr>
            <a:spLocks noGrp="1"/>
          </p:cNvSpPr>
          <p:nvPr>
            <p:ph sz="quarter" idx="11"/>
          </p:nvPr>
        </p:nvSpPr>
        <p:spPr>
          <a:xfrm>
            <a:off x="3200400" y="3489959"/>
            <a:ext cx="19232879" cy="9219503"/>
          </a:xfrm>
        </p:spPr>
        <p:txBody>
          <a:bodyPr>
            <a:noAutofit/>
          </a:bodyPr>
          <a:lstStyle/>
          <a:p>
            <a:pPr marL="0" indent="0" algn="just">
              <a:spcBef>
                <a:spcPct val="0"/>
              </a:spcBef>
              <a:buNone/>
            </a:pPr>
            <a:r>
              <a:rPr lang="en-US" sz="3200" b="1" dirty="0">
                <a:cs typeface="Arial" charset="0"/>
              </a:rPr>
              <a:t>6. Quality of Services </a:t>
            </a:r>
          </a:p>
          <a:p>
            <a:pPr marL="579437" lvl="2" indent="0">
              <a:lnSpc>
                <a:spcPct val="110000"/>
              </a:lnSpc>
              <a:spcBef>
                <a:spcPts val="0"/>
              </a:spcBef>
              <a:buNone/>
            </a:pPr>
            <a:r>
              <a:rPr lang="en-US" sz="3200" b="1" dirty="0">
                <a:cs typeface="Arial" charset="0"/>
              </a:rPr>
              <a:t>As the Internet has allowed new applications such as multimedia communication (in particular real-time communication of audio and video), the quality of service (QoS) of the communication has become more and more important. The Internet has thrived by providing better quality of service to support these applications. However, to keep the network layer untouched, these provisions are mostly implemented in the upper layer.</a:t>
            </a:r>
          </a:p>
          <a:p>
            <a:pPr marL="0" indent="0" algn="just">
              <a:spcBef>
                <a:spcPct val="0"/>
              </a:spcBef>
              <a:buNone/>
            </a:pPr>
            <a:endParaRPr lang="en-US" sz="3200" b="1" dirty="0">
              <a:cs typeface="Arial" charset="0"/>
            </a:endParaRPr>
          </a:p>
          <a:p>
            <a:pPr marL="0" indent="0" algn="just">
              <a:spcBef>
                <a:spcPct val="0"/>
              </a:spcBef>
              <a:buNone/>
            </a:pPr>
            <a:r>
              <a:rPr lang="en-US" sz="3200" b="1" dirty="0">
                <a:cs typeface="Arial" charset="0"/>
              </a:rPr>
              <a:t>7. Security</a:t>
            </a:r>
          </a:p>
          <a:p>
            <a:pPr marL="579437" lvl="2" indent="0">
              <a:lnSpc>
                <a:spcPct val="110000"/>
              </a:lnSpc>
              <a:spcBef>
                <a:spcPts val="0"/>
              </a:spcBef>
              <a:buNone/>
            </a:pPr>
            <a:r>
              <a:rPr lang="en-US" sz="3200" b="1" dirty="0">
                <a:cs typeface="Arial" charset="0"/>
              </a:rPr>
              <a:t>The network layer was designed with no security provision. Today, however, security is a big concern. To provide security for a connectionless network layer, we need to have another virtual level that changes the connectionless service to a connection-oriented service. This virtual layer, called </a:t>
            </a:r>
            <a:r>
              <a:rPr lang="en-US" sz="3200" b="1" dirty="0" err="1">
                <a:cs typeface="Arial" charset="0"/>
              </a:rPr>
              <a:t>IPSec</a:t>
            </a:r>
            <a:endParaRPr lang="en-US" sz="3200" b="1" dirty="0">
              <a:cs typeface="Arial" charset="0"/>
            </a:endParaRPr>
          </a:p>
          <a:p>
            <a:endParaRPr lang="en-US" sz="3200" b="1" dirty="0"/>
          </a:p>
        </p:txBody>
      </p:sp>
    </p:spTree>
    <p:extLst>
      <p:ext uri="{BB962C8B-B14F-4D97-AF65-F5344CB8AC3E}">
        <p14:creationId xmlns:p14="http://schemas.microsoft.com/office/powerpoint/2010/main" val="264980372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06006-CF9B-5801-FA10-206E5CC0FB56}"/>
              </a:ext>
            </a:extLst>
          </p:cNvPr>
          <p:cNvSpPr>
            <a:spLocks noGrp="1"/>
          </p:cNvSpPr>
          <p:nvPr>
            <p:ph type="title"/>
          </p:nvPr>
        </p:nvSpPr>
        <p:spPr/>
        <p:txBody>
          <a:bodyPr>
            <a:normAutofit fontScale="90000"/>
          </a:bodyPr>
          <a:lstStyle/>
          <a:p>
            <a:r>
              <a:rPr lang="en-US" dirty="0"/>
              <a:t>Packet switching</a:t>
            </a:r>
          </a:p>
        </p:txBody>
      </p:sp>
      <p:sp>
        <p:nvSpPr>
          <p:cNvPr id="3" name="Text Placeholder 2">
            <a:extLst>
              <a:ext uri="{FF2B5EF4-FFF2-40B4-BE49-F238E27FC236}">
                <a16:creationId xmlns:a16="http://schemas.microsoft.com/office/drawing/2014/main" id="{2472499E-78B9-5EEA-7ABC-F0630F30FCD9}"/>
              </a:ext>
            </a:extLst>
          </p:cNvPr>
          <p:cNvSpPr>
            <a:spLocks noGrp="1"/>
          </p:cNvSpPr>
          <p:nvPr>
            <p:ph type="body" sz="quarter" idx="10"/>
          </p:nvPr>
        </p:nvSpPr>
        <p:spPr/>
        <p:txBody>
          <a:bodyPr/>
          <a:lstStyle/>
          <a:p>
            <a:endParaRPr lang="en-US" dirty="0"/>
          </a:p>
        </p:txBody>
      </p:sp>
      <p:sp>
        <p:nvSpPr>
          <p:cNvPr id="8" name="Content Placeholder 7">
            <a:extLst>
              <a:ext uri="{FF2B5EF4-FFF2-40B4-BE49-F238E27FC236}">
                <a16:creationId xmlns:a16="http://schemas.microsoft.com/office/drawing/2014/main" id="{FC4EFE17-87F2-D2BE-D35E-2F25EFAA02DC}"/>
              </a:ext>
            </a:extLst>
          </p:cNvPr>
          <p:cNvSpPr>
            <a:spLocks noGrp="1"/>
          </p:cNvSpPr>
          <p:nvPr>
            <p:ph sz="quarter" idx="11"/>
          </p:nvPr>
        </p:nvSpPr>
        <p:spPr>
          <a:xfrm>
            <a:off x="3780050" y="4176192"/>
            <a:ext cx="13714940" cy="4522264"/>
          </a:xfrm>
        </p:spPr>
        <p:txBody>
          <a:bodyPr>
            <a:normAutofit/>
          </a:bodyPr>
          <a:lstStyle/>
          <a:p>
            <a:pPr algn="just">
              <a:lnSpc>
                <a:spcPct val="80000"/>
              </a:lnSpc>
              <a:spcBef>
                <a:spcPct val="0"/>
              </a:spcBef>
            </a:pPr>
            <a:r>
              <a:rPr lang="en-US" sz="2800" b="1" dirty="0">
                <a:cs typeface="Arial" charset="0"/>
              </a:rPr>
              <a:t>In data communications switching techniques are divided into two broad categories, circuit switching and packet switching, only packet switching is used at the network layer because the unit of data at this layer is a packet.</a:t>
            </a:r>
          </a:p>
          <a:p>
            <a:pPr marL="0" indent="0" algn="just">
              <a:lnSpc>
                <a:spcPct val="80000"/>
              </a:lnSpc>
              <a:spcBef>
                <a:spcPct val="0"/>
              </a:spcBef>
              <a:buNone/>
            </a:pPr>
            <a:endParaRPr lang="en-US" sz="2800" b="1" dirty="0">
              <a:cs typeface="Arial" charset="0"/>
            </a:endParaRPr>
          </a:p>
          <a:p>
            <a:pPr algn="just">
              <a:lnSpc>
                <a:spcPct val="80000"/>
              </a:lnSpc>
              <a:spcBef>
                <a:spcPct val="0"/>
              </a:spcBef>
            </a:pPr>
            <a:r>
              <a:rPr lang="en-US" sz="2800" b="1" dirty="0">
                <a:cs typeface="Arial" charset="0"/>
              </a:rPr>
              <a:t>At the network layer, a message from the upper layer is divided into manageable packets and each packet is sent through the network. The source of the message sends the packets one by one; the destination of the message receives the packets one by one. The destination waits for all packets belonging to the same message to arrive before delivering the message to the upper layer.</a:t>
            </a:r>
          </a:p>
          <a:p>
            <a:pPr algn="just">
              <a:lnSpc>
                <a:spcPct val="80000"/>
              </a:lnSpc>
              <a:spcBef>
                <a:spcPct val="0"/>
              </a:spcBef>
            </a:pPr>
            <a:endParaRPr lang="en-US" sz="2800" b="1" dirty="0">
              <a:cs typeface="Arial" charset="0"/>
            </a:endParaRPr>
          </a:p>
          <a:p>
            <a:pPr algn="just">
              <a:lnSpc>
                <a:spcPct val="80000"/>
              </a:lnSpc>
              <a:spcBef>
                <a:spcPct val="0"/>
              </a:spcBef>
            </a:pPr>
            <a:r>
              <a:rPr lang="en-US" sz="2800" b="1" dirty="0">
                <a:cs typeface="Arial" charset="0"/>
              </a:rPr>
              <a:t>The connecting devices in a packet-switched network still need to decide how to route the packets to the final destination.</a:t>
            </a:r>
          </a:p>
        </p:txBody>
      </p:sp>
    </p:spTree>
    <p:extLst>
      <p:ext uri="{BB962C8B-B14F-4D97-AF65-F5344CB8AC3E}">
        <p14:creationId xmlns:p14="http://schemas.microsoft.com/office/powerpoint/2010/main" val="2611145881"/>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06006-CF9B-5801-FA10-206E5CC0FB56}"/>
              </a:ext>
            </a:extLst>
          </p:cNvPr>
          <p:cNvSpPr>
            <a:spLocks noGrp="1"/>
          </p:cNvSpPr>
          <p:nvPr>
            <p:ph type="title"/>
          </p:nvPr>
        </p:nvSpPr>
        <p:spPr/>
        <p:txBody>
          <a:bodyPr>
            <a:normAutofit fontScale="90000"/>
          </a:bodyPr>
          <a:lstStyle/>
          <a:p>
            <a:r>
              <a:rPr lang="en-US" dirty="0"/>
              <a:t>Network performance</a:t>
            </a:r>
          </a:p>
        </p:txBody>
      </p:sp>
      <p:sp>
        <p:nvSpPr>
          <p:cNvPr id="3" name="Text Placeholder 2">
            <a:extLst>
              <a:ext uri="{FF2B5EF4-FFF2-40B4-BE49-F238E27FC236}">
                <a16:creationId xmlns:a16="http://schemas.microsoft.com/office/drawing/2014/main" id="{2472499E-78B9-5EEA-7ABC-F0630F30FCD9}"/>
              </a:ext>
            </a:extLst>
          </p:cNvPr>
          <p:cNvSpPr>
            <a:spLocks noGrp="1"/>
          </p:cNvSpPr>
          <p:nvPr>
            <p:ph type="body" sz="quarter" idx="10"/>
          </p:nvPr>
        </p:nvSpPr>
        <p:spPr/>
        <p:txBody>
          <a:bodyPr/>
          <a:lstStyle/>
          <a:p>
            <a:r>
              <a:rPr lang="en-US" dirty="0"/>
              <a:t>delay</a:t>
            </a:r>
          </a:p>
        </p:txBody>
      </p:sp>
      <p:sp>
        <p:nvSpPr>
          <p:cNvPr id="8" name="Content Placeholder 7">
            <a:extLst>
              <a:ext uri="{FF2B5EF4-FFF2-40B4-BE49-F238E27FC236}">
                <a16:creationId xmlns:a16="http://schemas.microsoft.com/office/drawing/2014/main" id="{FC4EFE17-87F2-D2BE-D35E-2F25EFAA02DC}"/>
              </a:ext>
            </a:extLst>
          </p:cNvPr>
          <p:cNvSpPr>
            <a:spLocks noGrp="1"/>
          </p:cNvSpPr>
          <p:nvPr>
            <p:ph sz="quarter" idx="11"/>
          </p:nvPr>
        </p:nvSpPr>
        <p:spPr>
          <a:xfrm>
            <a:off x="2941850" y="3260663"/>
            <a:ext cx="13714940" cy="4522264"/>
          </a:xfrm>
        </p:spPr>
        <p:txBody>
          <a:bodyPr>
            <a:noAutofit/>
          </a:bodyPr>
          <a:lstStyle/>
          <a:p>
            <a:pPr marL="0" indent="0">
              <a:buNone/>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Transmission Delay</a:t>
            </a:r>
          </a:p>
          <a:p>
            <a:pPr marL="0" indent="0">
              <a:buNone/>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A source host or a router cannot send a packet instantaneously. A sender needs to put the bits in a packet on the line one by one. If the first bit of the packet is put on the line at time t1 and the last bit is put on the line at time t2, transmission delay of the packet is (t2 − t1). Definitely, the transmission delay is longer for a longer packet and shorter if the sender can transmit faster. In other words, the transmission delay is</a:t>
            </a:r>
          </a:p>
          <a:p>
            <a:pPr marL="0" indent="0" algn="ctr">
              <a:buNone/>
            </a:pPr>
            <a:r>
              <a:rPr lang="en-US" sz="3200" b="1" i="0" u="none" strike="noStrike" baseline="0" dirty="0" err="1">
                <a:latin typeface="Open Sans Light" panose="020B0306030504020204" pitchFamily="34" charset="0"/>
                <a:ea typeface="Open Sans Light" panose="020B0306030504020204" pitchFamily="34" charset="0"/>
                <a:cs typeface="Open Sans Light" panose="020B0306030504020204" pitchFamily="34" charset="0"/>
              </a:rPr>
              <a:t>Delaytr</a:t>
            </a:r>
            <a:r>
              <a:rPr lang="en-US" sz="3200" b="1" i="0" u="none" strike="noStrike" baseline="0" dirty="0">
                <a:latin typeface="Open Sans Light" panose="020B0306030504020204" pitchFamily="34" charset="0"/>
                <a:ea typeface="Open Sans Light" panose="020B0306030504020204" pitchFamily="34" charset="0"/>
                <a:cs typeface="Open Sans Light" panose="020B0306030504020204" pitchFamily="34" charset="0"/>
              </a:rPr>
              <a:t> = (packet length) / (transmission rate)</a:t>
            </a:r>
            <a:endParaRPr lang="en-US" sz="3200" b="1" dirty="0">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332965742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06006-CF9B-5801-FA10-206E5CC0FB56}"/>
              </a:ext>
            </a:extLst>
          </p:cNvPr>
          <p:cNvSpPr>
            <a:spLocks noGrp="1"/>
          </p:cNvSpPr>
          <p:nvPr>
            <p:ph type="title"/>
          </p:nvPr>
        </p:nvSpPr>
        <p:spPr/>
        <p:txBody>
          <a:bodyPr>
            <a:normAutofit fontScale="90000"/>
          </a:bodyPr>
          <a:lstStyle/>
          <a:p>
            <a:r>
              <a:rPr lang="en-US" dirty="0"/>
              <a:t>Network performance</a:t>
            </a:r>
          </a:p>
        </p:txBody>
      </p:sp>
      <p:sp>
        <p:nvSpPr>
          <p:cNvPr id="3" name="Text Placeholder 2">
            <a:extLst>
              <a:ext uri="{FF2B5EF4-FFF2-40B4-BE49-F238E27FC236}">
                <a16:creationId xmlns:a16="http://schemas.microsoft.com/office/drawing/2014/main" id="{2472499E-78B9-5EEA-7ABC-F0630F30FCD9}"/>
              </a:ext>
            </a:extLst>
          </p:cNvPr>
          <p:cNvSpPr>
            <a:spLocks noGrp="1"/>
          </p:cNvSpPr>
          <p:nvPr>
            <p:ph type="body" sz="quarter" idx="10"/>
          </p:nvPr>
        </p:nvSpPr>
        <p:spPr/>
        <p:txBody>
          <a:bodyPr/>
          <a:lstStyle/>
          <a:p>
            <a:r>
              <a:rPr lang="en-US" dirty="0"/>
              <a:t>delay</a:t>
            </a:r>
          </a:p>
        </p:txBody>
      </p:sp>
      <p:sp>
        <p:nvSpPr>
          <p:cNvPr id="8" name="Content Placeholder 7">
            <a:extLst>
              <a:ext uri="{FF2B5EF4-FFF2-40B4-BE49-F238E27FC236}">
                <a16:creationId xmlns:a16="http://schemas.microsoft.com/office/drawing/2014/main" id="{FC4EFE17-87F2-D2BE-D35E-2F25EFAA02DC}"/>
              </a:ext>
            </a:extLst>
          </p:cNvPr>
          <p:cNvSpPr>
            <a:spLocks noGrp="1"/>
          </p:cNvSpPr>
          <p:nvPr>
            <p:ph sz="quarter" idx="11"/>
          </p:nvPr>
        </p:nvSpPr>
        <p:spPr>
          <a:xfrm>
            <a:off x="3001837" y="3251268"/>
            <a:ext cx="13714940" cy="4522264"/>
          </a:xfrm>
        </p:spPr>
        <p:txBody>
          <a:bodyPr>
            <a:noAutofit/>
          </a:bodyPr>
          <a:lstStyle/>
          <a:p>
            <a:pPr marL="0" indent="0">
              <a:buNone/>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Propagation Delay</a:t>
            </a:r>
          </a:p>
          <a:p>
            <a:pPr marL="0" indent="0">
              <a:buNone/>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Propagation delay is the time it takes for a bit to travel from point A to point B in the transmission media. The propagation delay for a packet switched network depends on the propagation delay of each network (LAN or WAN). The propagation delay depends on the propagation speed of the media, which is 3 × 108 m/s in a vacuum and normally much less in a wired medium; it also depends on the distance of the link. In other words, propagation delay is</a:t>
            </a:r>
          </a:p>
          <a:p>
            <a:pPr marL="0" indent="0" algn="ctr">
              <a:buNone/>
            </a:pPr>
            <a:r>
              <a:rPr lang="en-US" sz="3200" b="1" dirty="0" err="1">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Delaypg</a:t>
            </a: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 = (distance) / (propagation speed)</a:t>
            </a:r>
          </a:p>
        </p:txBody>
      </p:sp>
    </p:spTree>
    <p:extLst>
      <p:ext uri="{BB962C8B-B14F-4D97-AF65-F5344CB8AC3E}">
        <p14:creationId xmlns:p14="http://schemas.microsoft.com/office/powerpoint/2010/main" val="68165721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06006-CF9B-5801-FA10-206E5CC0FB56}"/>
              </a:ext>
            </a:extLst>
          </p:cNvPr>
          <p:cNvSpPr>
            <a:spLocks noGrp="1"/>
          </p:cNvSpPr>
          <p:nvPr>
            <p:ph type="title"/>
          </p:nvPr>
        </p:nvSpPr>
        <p:spPr/>
        <p:txBody>
          <a:bodyPr>
            <a:normAutofit fontScale="90000"/>
          </a:bodyPr>
          <a:lstStyle/>
          <a:p>
            <a:r>
              <a:rPr lang="en-US" dirty="0"/>
              <a:t>Network performance</a:t>
            </a:r>
          </a:p>
        </p:txBody>
      </p:sp>
      <p:sp>
        <p:nvSpPr>
          <p:cNvPr id="3" name="Text Placeholder 2">
            <a:extLst>
              <a:ext uri="{FF2B5EF4-FFF2-40B4-BE49-F238E27FC236}">
                <a16:creationId xmlns:a16="http://schemas.microsoft.com/office/drawing/2014/main" id="{2472499E-78B9-5EEA-7ABC-F0630F30FCD9}"/>
              </a:ext>
            </a:extLst>
          </p:cNvPr>
          <p:cNvSpPr>
            <a:spLocks noGrp="1"/>
          </p:cNvSpPr>
          <p:nvPr>
            <p:ph type="body" sz="quarter" idx="10"/>
          </p:nvPr>
        </p:nvSpPr>
        <p:spPr/>
        <p:txBody>
          <a:bodyPr/>
          <a:lstStyle/>
          <a:p>
            <a:r>
              <a:rPr lang="en-US" dirty="0"/>
              <a:t>delay</a:t>
            </a:r>
          </a:p>
        </p:txBody>
      </p:sp>
      <p:sp>
        <p:nvSpPr>
          <p:cNvPr id="8" name="Content Placeholder 7">
            <a:extLst>
              <a:ext uri="{FF2B5EF4-FFF2-40B4-BE49-F238E27FC236}">
                <a16:creationId xmlns:a16="http://schemas.microsoft.com/office/drawing/2014/main" id="{FC4EFE17-87F2-D2BE-D35E-2F25EFAA02DC}"/>
              </a:ext>
            </a:extLst>
          </p:cNvPr>
          <p:cNvSpPr>
            <a:spLocks noGrp="1"/>
          </p:cNvSpPr>
          <p:nvPr>
            <p:ph sz="quarter" idx="11"/>
          </p:nvPr>
        </p:nvSpPr>
        <p:spPr>
          <a:xfrm>
            <a:off x="2950604" y="3377818"/>
            <a:ext cx="15017355" cy="4522264"/>
          </a:xfrm>
        </p:spPr>
        <p:txBody>
          <a:bodyPr>
            <a:noAutofit/>
          </a:bodyPr>
          <a:lstStyle/>
          <a:p>
            <a:pPr marL="0" indent="0">
              <a:buNone/>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Queuing Delay</a:t>
            </a:r>
          </a:p>
          <a:p>
            <a:pPr marL="0" indent="0">
              <a:buNone/>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Queuing delay can normally happen in a router. A router has an input queue connected to each of its input ports to store packets waiting to be processed; the router also has an output queue connected to each of its output ports to store packets waiting to be transmitted. The queuing delay for a packet in a router is measured as the time a packet waits in the input queue and output queue of a router. We can compare the situation with a busy airport. Some planes may need to wait to get the landing band (input delay); some planes may need to wait to get the departure band (output delay).</a:t>
            </a:r>
          </a:p>
          <a:p>
            <a:pPr marL="0" indent="0" algn="ctr">
              <a:buNone/>
            </a:pPr>
            <a:r>
              <a:rPr lang="en-US" sz="3200" b="1" dirty="0" err="1">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Delayqu</a:t>
            </a: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 = time a packet waits in input and output queues in a router</a:t>
            </a:r>
          </a:p>
        </p:txBody>
      </p:sp>
    </p:spTree>
    <p:extLst>
      <p:ext uri="{BB962C8B-B14F-4D97-AF65-F5344CB8AC3E}">
        <p14:creationId xmlns:p14="http://schemas.microsoft.com/office/powerpoint/2010/main" val="128130453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06006-CF9B-5801-FA10-206E5CC0FB56}"/>
              </a:ext>
            </a:extLst>
          </p:cNvPr>
          <p:cNvSpPr>
            <a:spLocks noGrp="1"/>
          </p:cNvSpPr>
          <p:nvPr>
            <p:ph type="title"/>
          </p:nvPr>
        </p:nvSpPr>
        <p:spPr/>
        <p:txBody>
          <a:bodyPr>
            <a:normAutofit fontScale="90000"/>
          </a:bodyPr>
          <a:lstStyle/>
          <a:p>
            <a:r>
              <a:rPr lang="en-US" dirty="0"/>
              <a:t>Network performance</a:t>
            </a:r>
          </a:p>
        </p:txBody>
      </p:sp>
      <p:sp>
        <p:nvSpPr>
          <p:cNvPr id="3" name="Text Placeholder 2">
            <a:extLst>
              <a:ext uri="{FF2B5EF4-FFF2-40B4-BE49-F238E27FC236}">
                <a16:creationId xmlns:a16="http://schemas.microsoft.com/office/drawing/2014/main" id="{2472499E-78B9-5EEA-7ABC-F0630F30FCD9}"/>
              </a:ext>
            </a:extLst>
          </p:cNvPr>
          <p:cNvSpPr>
            <a:spLocks noGrp="1"/>
          </p:cNvSpPr>
          <p:nvPr>
            <p:ph type="body" sz="quarter" idx="10"/>
          </p:nvPr>
        </p:nvSpPr>
        <p:spPr/>
        <p:txBody>
          <a:bodyPr/>
          <a:lstStyle/>
          <a:p>
            <a:r>
              <a:rPr lang="en-US" dirty="0"/>
              <a:t>delay</a:t>
            </a:r>
          </a:p>
        </p:txBody>
      </p:sp>
      <p:sp>
        <p:nvSpPr>
          <p:cNvPr id="8" name="Content Placeholder 7">
            <a:extLst>
              <a:ext uri="{FF2B5EF4-FFF2-40B4-BE49-F238E27FC236}">
                <a16:creationId xmlns:a16="http://schemas.microsoft.com/office/drawing/2014/main" id="{FC4EFE17-87F2-D2BE-D35E-2F25EFAA02DC}"/>
              </a:ext>
            </a:extLst>
          </p:cNvPr>
          <p:cNvSpPr>
            <a:spLocks noGrp="1"/>
          </p:cNvSpPr>
          <p:nvPr>
            <p:ph sz="quarter" idx="11"/>
          </p:nvPr>
        </p:nvSpPr>
        <p:spPr>
          <a:xfrm>
            <a:off x="3168006" y="3530218"/>
            <a:ext cx="17588874" cy="4522264"/>
          </a:xfrm>
        </p:spPr>
        <p:txBody>
          <a:bodyPr>
            <a:noAutofit/>
          </a:bodyPr>
          <a:lstStyle/>
          <a:p>
            <a:pPr marL="0" indent="0">
              <a:buNone/>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Total Delay</a:t>
            </a:r>
          </a:p>
          <a:p>
            <a:pPr marL="0" indent="0" algn="l">
              <a:buNone/>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Assuming equal delays for the sender, routers, and receiver, the total delay (source-to-destination delay) a packet encounters can be calculated if we know the number of routers, n, in the whole path.</a:t>
            </a:r>
          </a:p>
          <a:p>
            <a:pPr marL="0" indent="0">
              <a:buNone/>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if we have n routers, we have (n + 1) links. Therefore, we have (n + 1) transmission delays related to n routers and the source, (n + 1) propagation delays related to (n + 1) links, (n + 1) processing delays related to n routers and the destination, and only n queuing delays related to n routers.</a:t>
            </a:r>
          </a:p>
          <a:p>
            <a:pPr marL="0" indent="0" algn="ctr">
              <a:buNone/>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Total delay = (n + 1) (</a:t>
            </a:r>
            <a:r>
              <a:rPr lang="en-US" sz="3200" b="1" dirty="0" err="1">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delaytr</a:t>
            </a: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3200" b="1" dirty="0" err="1">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delaypg</a:t>
            </a: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 + </a:t>
            </a:r>
            <a:r>
              <a:rPr lang="en-US" sz="3200" b="1" dirty="0" err="1">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delaypr</a:t>
            </a: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 + (n) (</a:t>
            </a:r>
            <a:r>
              <a:rPr lang="en-US" sz="3200" b="1" dirty="0" err="1">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delayqu</a:t>
            </a: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a:t>
            </a:r>
          </a:p>
          <a:p>
            <a:pPr marL="0" indent="0" algn="ctr">
              <a:buNone/>
            </a:pPr>
            <a:endPar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endParaRPr>
          </a:p>
          <a:p>
            <a:pPr marL="0" indent="0" algn="ctr">
              <a:buNone/>
            </a:pPr>
            <a:endPar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60624886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06006-CF9B-5801-FA10-206E5CC0FB56}"/>
              </a:ext>
            </a:extLst>
          </p:cNvPr>
          <p:cNvSpPr>
            <a:spLocks noGrp="1"/>
          </p:cNvSpPr>
          <p:nvPr>
            <p:ph type="title"/>
          </p:nvPr>
        </p:nvSpPr>
        <p:spPr/>
        <p:txBody>
          <a:bodyPr>
            <a:normAutofit fontScale="90000"/>
          </a:bodyPr>
          <a:lstStyle/>
          <a:p>
            <a:r>
              <a:rPr lang="en-US" dirty="0"/>
              <a:t>Network performance</a:t>
            </a:r>
          </a:p>
        </p:txBody>
      </p:sp>
      <p:sp>
        <p:nvSpPr>
          <p:cNvPr id="3" name="Text Placeholder 2">
            <a:extLst>
              <a:ext uri="{FF2B5EF4-FFF2-40B4-BE49-F238E27FC236}">
                <a16:creationId xmlns:a16="http://schemas.microsoft.com/office/drawing/2014/main" id="{2472499E-78B9-5EEA-7ABC-F0630F30FCD9}"/>
              </a:ext>
            </a:extLst>
          </p:cNvPr>
          <p:cNvSpPr>
            <a:spLocks noGrp="1"/>
          </p:cNvSpPr>
          <p:nvPr>
            <p:ph type="body" sz="quarter" idx="10"/>
          </p:nvPr>
        </p:nvSpPr>
        <p:spPr/>
        <p:txBody>
          <a:bodyPr/>
          <a:lstStyle/>
          <a:p>
            <a:r>
              <a:rPr lang="en-US" dirty="0"/>
              <a:t>throughput</a:t>
            </a:r>
          </a:p>
        </p:txBody>
      </p:sp>
      <p:sp>
        <p:nvSpPr>
          <p:cNvPr id="8" name="Content Placeholder 7">
            <a:extLst>
              <a:ext uri="{FF2B5EF4-FFF2-40B4-BE49-F238E27FC236}">
                <a16:creationId xmlns:a16="http://schemas.microsoft.com/office/drawing/2014/main" id="{FC4EFE17-87F2-D2BE-D35E-2F25EFAA02DC}"/>
              </a:ext>
            </a:extLst>
          </p:cNvPr>
          <p:cNvSpPr>
            <a:spLocks noGrp="1"/>
          </p:cNvSpPr>
          <p:nvPr>
            <p:ph sz="quarter" idx="11"/>
          </p:nvPr>
        </p:nvSpPr>
        <p:spPr>
          <a:xfrm>
            <a:off x="2407920" y="3444218"/>
            <a:ext cx="17922240" cy="4522264"/>
          </a:xfrm>
        </p:spPr>
        <p:txBody>
          <a:bodyPr>
            <a:normAutofit/>
          </a:bodyPr>
          <a:lstStyle/>
          <a:p>
            <a:pPr marL="0" indent="0">
              <a:lnSpc>
                <a:spcPct val="80000"/>
              </a:lnSpc>
              <a:buNone/>
            </a:pPr>
            <a:r>
              <a:rPr lang="en-US" sz="3200" b="1" dirty="0">
                <a:solidFill>
                  <a:schemeClr val="bg2">
                    <a:lumMod val="10000"/>
                  </a:schemeClr>
                </a:solidFill>
              </a:rPr>
              <a:t>Throughput at any point in a network is defined as the number of bits passing through the point in a second, which is actually the transmission rate of data at that point. In a path from source to destination, a packet may pass through several links (networks), each with a different transmission rate. How, then, can we determine the throughput of the whole path? To see the situation, assume that we have three links, each with a different transmission rate, as shown in below</a:t>
            </a:r>
          </a:p>
        </p:txBody>
      </p:sp>
      <p:pic>
        <p:nvPicPr>
          <p:cNvPr id="5" name="Picture 4">
            <a:extLst>
              <a:ext uri="{FF2B5EF4-FFF2-40B4-BE49-F238E27FC236}">
                <a16:creationId xmlns:a16="http://schemas.microsoft.com/office/drawing/2014/main" id="{DCCCFFD9-4345-253F-0590-1EAB540A421B}"/>
              </a:ext>
            </a:extLst>
          </p:cNvPr>
          <p:cNvPicPr>
            <a:picLocks noChangeAspect="1"/>
          </p:cNvPicPr>
          <p:nvPr/>
        </p:nvPicPr>
        <p:blipFill>
          <a:blip r:embed="rId2"/>
          <a:stretch>
            <a:fillRect/>
          </a:stretch>
        </p:blipFill>
        <p:spPr>
          <a:xfrm>
            <a:off x="6491792" y="6252165"/>
            <a:ext cx="10333615" cy="4160881"/>
          </a:xfrm>
          <a:prstGeom prst="rect">
            <a:avLst/>
          </a:prstGeom>
        </p:spPr>
      </p:pic>
      <p:sp>
        <p:nvSpPr>
          <p:cNvPr id="6" name="TextBox 5">
            <a:extLst>
              <a:ext uri="{FF2B5EF4-FFF2-40B4-BE49-F238E27FC236}">
                <a16:creationId xmlns:a16="http://schemas.microsoft.com/office/drawing/2014/main" id="{556A48CB-6E16-B8B9-B04C-D5FA9BAFF15F}"/>
              </a:ext>
            </a:extLst>
          </p:cNvPr>
          <p:cNvSpPr txBox="1"/>
          <p:nvPr/>
        </p:nvSpPr>
        <p:spPr>
          <a:xfrm>
            <a:off x="901700" y="13441938"/>
            <a:ext cx="494030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err="1">
                <a:ln>
                  <a:noFill/>
                </a:ln>
                <a:solidFill>
                  <a:srgbClr val="5E5E5E"/>
                </a:solidFill>
                <a:effectLst/>
                <a:uFillTx/>
                <a:latin typeface="+mn-lt"/>
                <a:ea typeface="+mn-ea"/>
                <a:cs typeface="+mn-cs"/>
                <a:sym typeface="Helvetica Neue"/>
              </a:rPr>
              <a:t>Forouzan</a:t>
            </a:r>
            <a:r>
              <a:rPr kumimoji="0" lang="en-US" sz="2400" b="0" i="0" u="none" strike="noStrike" cap="none" spc="0" normalizeH="0" baseline="0" dirty="0">
                <a:ln>
                  <a:noFill/>
                </a:ln>
                <a:solidFill>
                  <a:srgbClr val="5E5E5E"/>
                </a:solidFill>
                <a:effectLst/>
                <a:uFillTx/>
                <a:latin typeface="+mn-lt"/>
                <a:ea typeface="+mn-ea"/>
                <a:cs typeface="+mn-cs"/>
                <a:sym typeface="Helvetica Neue"/>
              </a:rPr>
              <a:t> 6</a:t>
            </a:r>
            <a:r>
              <a:rPr kumimoji="0" lang="en-US" sz="2400" b="0" i="0" u="none" strike="noStrike" cap="none" spc="0" normalizeH="0" baseline="30000" dirty="0">
                <a:ln>
                  <a:noFill/>
                </a:ln>
                <a:solidFill>
                  <a:srgbClr val="5E5E5E"/>
                </a:solidFill>
                <a:effectLst/>
                <a:uFillTx/>
                <a:latin typeface="+mn-lt"/>
                <a:ea typeface="+mn-ea"/>
                <a:cs typeface="+mn-cs"/>
                <a:sym typeface="Helvetica Neue"/>
              </a:rPr>
              <a:t>th</a:t>
            </a:r>
            <a:r>
              <a:rPr kumimoji="0" lang="en-US" sz="2400" b="0" i="0" u="none" strike="noStrike" cap="none" spc="0" normalizeH="0" baseline="0" dirty="0">
                <a:ln>
                  <a:noFill/>
                </a:ln>
                <a:solidFill>
                  <a:srgbClr val="5E5E5E"/>
                </a:solidFill>
                <a:effectLst/>
                <a:uFillTx/>
                <a:latin typeface="+mn-lt"/>
                <a:ea typeface="+mn-ea"/>
                <a:cs typeface="+mn-cs"/>
                <a:sym typeface="Helvetica Neue"/>
              </a:rPr>
              <a:t> edition , chapter 7</a:t>
            </a:r>
          </a:p>
        </p:txBody>
      </p:sp>
      <p:sp>
        <p:nvSpPr>
          <p:cNvPr id="9" name="TextBox 8">
            <a:extLst>
              <a:ext uri="{FF2B5EF4-FFF2-40B4-BE49-F238E27FC236}">
                <a16:creationId xmlns:a16="http://schemas.microsoft.com/office/drawing/2014/main" id="{8B351919-2C31-9159-F9F9-D45A31848138}"/>
              </a:ext>
            </a:extLst>
          </p:cNvPr>
          <p:cNvSpPr txBox="1"/>
          <p:nvPr/>
        </p:nvSpPr>
        <p:spPr>
          <a:xfrm>
            <a:off x="5562600" y="10475808"/>
            <a:ext cx="12192000"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800" b="1" i="0" u="none" strike="noStrike" baseline="0" dirty="0">
                <a:latin typeface="TimesNewRomanPS-BoldMT"/>
              </a:rPr>
              <a:t>Throughput </a:t>
            </a:r>
            <a:r>
              <a:rPr lang="en-US" sz="2800" b="0" i="0" u="none" strike="noStrike" baseline="0" dirty="0">
                <a:latin typeface="TimesNewRomanPSMT"/>
              </a:rPr>
              <a:t>= </a:t>
            </a:r>
            <a:r>
              <a:rPr lang="en-US" sz="2800" b="1" i="0" u="none" strike="noStrike" baseline="0" dirty="0">
                <a:latin typeface="TimesNewRomanPS-BoldMT"/>
              </a:rPr>
              <a:t>minimum {TR</a:t>
            </a:r>
            <a:r>
              <a:rPr lang="en-US" sz="1800" b="1" i="0" u="none" strike="noStrike" baseline="0" dirty="0">
                <a:latin typeface="TimesNewRomanPS-BoldMT"/>
              </a:rPr>
              <a:t>1</a:t>
            </a:r>
            <a:r>
              <a:rPr lang="en-US" sz="2800" b="0" i="0" u="none" strike="noStrike" baseline="0" dirty="0">
                <a:latin typeface="TimesNewRomanPSMT"/>
              </a:rPr>
              <a:t>, </a:t>
            </a:r>
            <a:r>
              <a:rPr lang="en-US" sz="2800" b="1" i="0" u="none" strike="noStrike" baseline="0" dirty="0">
                <a:latin typeface="TimesNewRomanPS-BoldMT"/>
              </a:rPr>
              <a:t>TR</a:t>
            </a:r>
            <a:r>
              <a:rPr lang="en-US" sz="1800" b="1" i="0" u="none" strike="noStrike" baseline="0" dirty="0">
                <a:latin typeface="TimesNewRomanPS-BoldMT"/>
              </a:rPr>
              <a:t>2</a:t>
            </a:r>
            <a:r>
              <a:rPr lang="en-US" sz="2800" b="1" i="0" u="none" strike="noStrike" baseline="0" dirty="0">
                <a:latin typeface="TimesNewRomanPS-BoldMT"/>
              </a:rPr>
              <a:t>, …, </a:t>
            </a:r>
            <a:r>
              <a:rPr lang="en-US" sz="2800" b="1" i="0" u="none" strike="noStrike" baseline="0" dirty="0" err="1">
                <a:latin typeface="TimesNewRomanPS-BoldMT"/>
              </a:rPr>
              <a:t>TR</a:t>
            </a:r>
            <a:r>
              <a:rPr lang="en-US" sz="1800" b="1" i="1" u="none" strike="noStrike" baseline="0" dirty="0" err="1">
                <a:latin typeface="TimesNewRomanPS-BoldItalicMT"/>
              </a:rPr>
              <a:t>n</a:t>
            </a:r>
            <a:r>
              <a:rPr lang="en-US" sz="2800" b="1" i="0" u="none" strike="noStrike" baseline="0" dirty="0">
                <a:latin typeface="TimesNewRomanPS-BoldMT"/>
              </a:rPr>
              <a:t>}</a:t>
            </a:r>
            <a:endParaRPr lang="en-US" sz="2800" dirty="0"/>
          </a:p>
        </p:txBody>
      </p:sp>
    </p:spTree>
    <p:extLst>
      <p:ext uri="{BB962C8B-B14F-4D97-AF65-F5344CB8AC3E}">
        <p14:creationId xmlns:p14="http://schemas.microsoft.com/office/powerpoint/2010/main" val="172508585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06006-CF9B-5801-FA10-206E5CC0FB56}"/>
              </a:ext>
            </a:extLst>
          </p:cNvPr>
          <p:cNvSpPr>
            <a:spLocks noGrp="1"/>
          </p:cNvSpPr>
          <p:nvPr>
            <p:ph type="title"/>
          </p:nvPr>
        </p:nvSpPr>
        <p:spPr/>
        <p:txBody>
          <a:bodyPr>
            <a:normAutofit fontScale="90000"/>
          </a:bodyPr>
          <a:lstStyle/>
          <a:p>
            <a:r>
              <a:rPr lang="en-US" dirty="0"/>
              <a:t>Network performance</a:t>
            </a:r>
          </a:p>
        </p:txBody>
      </p:sp>
      <p:sp>
        <p:nvSpPr>
          <p:cNvPr id="3" name="Text Placeholder 2">
            <a:extLst>
              <a:ext uri="{FF2B5EF4-FFF2-40B4-BE49-F238E27FC236}">
                <a16:creationId xmlns:a16="http://schemas.microsoft.com/office/drawing/2014/main" id="{2472499E-78B9-5EEA-7ABC-F0630F30FCD9}"/>
              </a:ext>
            </a:extLst>
          </p:cNvPr>
          <p:cNvSpPr>
            <a:spLocks noGrp="1"/>
          </p:cNvSpPr>
          <p:nvPr>
            <p:ph type="body" sz="quarter" idx="10"/>
          </p:nvPr>
        </p:nvSpPr>
        <p:spPr/>
        <p:txBody>
          <a:bodyPr/>
          <a:lstStyle/>
          <a:p>
            <a:r>
              <a:rPr lang="en-US" dirty="0"/>
              <a:t>Packet loss</a:t>
            </a:r>
          </a:p>
        </p:txBody>
      </p:sp>
      <p:sp>
        <p:nvSpPr>
          <p:cNvPr id="8" name="Content Placeholder 7">
            <a:extLst>
              <a:ext uri="{FF2B5EF4-FFF2-40B4-BE49-F238E27FC236}">
                <a16:creationId xmlns:a16="http://schemas.microsoft.com/office/drawing/2014/main" id="{FC4EFE17-87F2-D2BE-D35E-2F25EFAA02DC}"/>
              </a:ext>
            </a:extLst>
          </p:cNvPr>
          <p:cNvSpPr>
            <a:spLocks noGrp="1"/>
          </p:cNvSpPr>
          <p:nvPr>
            <p:ph sz="quarter" idx="11"/>
          </p:nvPr>
        </p:nvSpPr>
        <p:spPr>
          <a:xfrm>
            <a:off x="3429530" y="3551352"/>
            <a:ext cx="16214830" cy="6202248"/>
          </a:xfrm>
        </p:spPr>
        <p:txBody>
          <a:bodyPr>
            <a:noAutofit/>
          </a:bodyPr>
          <a:lstStyle/>
          <a:p>
            <a:r>
              <a:rPr lang="en-US" sz="3200" b="1" dirty="0">
                <a:solidFill>
                  <a:schemeClr val="bg2">
                    <a:lumMod val="10000"/>
                  </a:schemeClr>
                </a:solidFill>
              </a:rPr>
              <a:t>Another issue that severely affects the performance of communication is the number of packets lost during transmission. When a router receives a packet while processing another packet, the received packet needs to be stored in the input buffer waiting for its turn. A router, however, has an input buffer with a limited size. A time may come when the buffer is full and the next packet needs to be dropped.</a:t>
            </a:r>
          </a:p>
          <a:p>
            <a:r>
              <a:rPr lang="en-US" sz="3200" b="1" dirty="0">
                <a:solidFill>
                  <a:schemeClr val="bg2">
                    <a:lumMod val="10000"/>
                  </a:schemeClr>
                </a:solidFill>
              </a:rPr>
              <a:t>The effect of packet loss on the Internet network layer is that the packet needs to be re-sent, which in turn may create overflow and cause more packet loss. A lot of theoretical studies have been done in queuing theory to prevent the overflow of queues and prevent packet loss.</a:t>
            </a:r>
          </a:p>
        </p:txBody>
      </p:sp>
    </p:spTree>
    <p:extLst>
      <p:ext uri="{BB962C8B-B14F-4D97-AF65-F5344CB8AC3E}">
        <p14:creationId xmlns:p14="http://schemas.microsoft.com/office/powerpoint/2010/main" val="63502450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26EFF-01FA-381F-9102-FFFD76A6EC07}"/>
              </a:ext>
            </a:extLst>
          </p:cNvPr>
          <p:cNvSpPr>
            <a:spLocks noGrp="1"/>
          </p:cNvSpPr>
          <p:nvPr>
            <p:ph type="title"/>
          </p:nvPr>
        </p:nvSpPr>
        <p:spPr/>
        <p:txBody>
          <a:bodyPr>
            <a:normAutofit fontScale="90000"/>
          </a:bodyPr>
          <a:lstStyle/>
          <a:p>
            <a:r>
              <a:rPr lang="en-US" dirty="0"/>
              <a:t>addressing</a:t>
            </a:r>
          </a:p>
        </p:txBody>
      </p:sp>
      <p:sp>
        <p:nvSpPr>
          <p:cNvPr id="3" name="Text Placeholder 2">
            <a:extLst>
              <a:ext uri="{FF2B5EF4-FFF2-40B4-BE49-F238E27FC236}">
                <a16:creationId xmlns:a16="http://schemas.microsoft.com/office/drawing/2014/main" id="{106F2E4D-5B98-8BBF-C482-9ABA1F5DD07F}"/>
              </a:ext>
            </a:extLst>
          </p:cNvPr>
          <p:cNvSpPr>
            <a:spLocks noGrp="1"/>
          </p:cNvSpPr>
          <p:nvPr>
            <p:ph type="body" sz="quarter" idx="10"/>
          </p:nvPr>
        </p:nvSpPr>
        <p:spPr/>
        <p:txBody>
          <a:bodyPr/>
          <a:lstStyle/>
          <a:p>
            <a:endParaRPr lang="en-US" dirty="0"/>
          </a:p>
        </p:txBody>
      </p:sp>
      <p:sp>
        <p:nvSpPr>
          <p:cNvPr id="5" name="Content Placeholder 2">
            <a:extLst>
              <a:ext uri="{FF2B5EF4-FFF2-40B4-BE49-F238E27FC236}">
                <a16:creationId xmlns:a16="http://schemas.microsoft.com/office/drawing/2014/main" id="{E1350433-C7E4-BD0D-F3C8-8C04457AFF9C}"/>
              </a:ext>
            </a:extLst>
          </p:cNvPr>
          <p:cNvSpPr txBox="1">
            <a:spLocks/>
          </p:cNvSpPr>
          <p:nvPr/>
        </p:nvSpPr>
        <p:spPr>
          <a:xfrm>
            <a:off x="3104147" y="3702198"/>
            <a:ext cx="18721137" cy="8817840"/>
          </a:xfrm>
          <a:prstGeom prst="rect">
            <a:avLst/>
          </a:prstGeom>
        </p:spPr>
        <p:txBody>
          <a:bodyPr>
            <a:normAutofit/>
          </a:bodyPr>
          <a:lst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endParaRPr lang="en-US" sz="3600" dirty="0">
              <a:latin typeface="Open Sans Semibold" panose="020B0706030804020204" pitchFamily="34" charset="0"/>
              <a:ea typeface="Open Sans Semibold" panose="020B0706030804020204" pitchFamily="34" charset="0"/>
              <a:cs typeface="Open Sans Semibold" panose="020B0706030804020204" pitchFamily="34" charset="0"/>
            </a:endParaRPr>
          </a:p>
        </p:txBody>
      </p:sp>
      <p:pic>
        <p:nvPicPr>
          <p:cNvPr id="4" name="Picture 2">
            <a:extLst>
              <a:ext uri="{FF2B5EF4-FFF2-40B4-BE49-F238E27FC236}">
                <a16:creationId xmlns:a16="http://schemas.microsoft.com/office/drawing/2014/main" id="{22D19DD2-A427-BF7C-1716-2065843C877C}"/>
              </a:ext>
            </a:extLst>
          </p:cNvPr>
          <p:cNvPicPr>
            <a:picLocks noChangeAspect="1" noChangeArrowheads="1"/>
          </p:cNvPicPr>
          <p:nvPr/>
        </p:nvPicPr>
        <p:blipFill>
          <a:blip r:embed="rId2"/>
          <a:srcRect/>
          <a:stretch>
            <a:fillRect/>
          </a:stretch>
        </p:blipFill>
        <p:spPr bwMode="auto">
          <a:xfrm>
            <a:off x="5886610" y="4543133"/>
            <a:ext cx="13046557" cy="4394390"/>
          </a:xfrm>
          <a:prstGeom prst="rect">
            <a:avLst/>
          </a:prstGeom>
          <a:noFill/>
          <a:ln w="9525">
            <a:noFill/>
            <a:miter lim="800000"/>
            <a:headEnd/>
            <a:tailEnd/>
          </a:ln>
        </p:spPr>
      </p:pic>
    </p:spTree>
    <p:extLst>
      <p:ext uri="{BB962C8B-B14F-4D97-AF65-F5344CB8AC3E}">
        <p14:creationId xmlns:p14="http://schemas.microsoft.com/office/powerpoint/2010/main" val="95346805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26EFF-01FA-381F-9102-FFFD76A6EC07}"/>
              </a:ext>
            </a:extLst>
          </p:cNvPr>
          <p:cNvSpPr>
            <a:spLocks noGrp="1"/>
          </p:cNvSpPr>
          <p:nvPr>
            <p:ph type="title"/>
          </p:nvPr>
        </p:nvSpPr>
        <p:spPr/>
        <p:txBody>
          <a:bodyPr>
            <a:normAutofit fontScale="90000"/>
          </a:bodyPr>
          <a:lstStyle/>
          <a:p>
            <a:r>
              <a:rPr lang="en-US" dirty="0"/>
              <a:t>addressing</a:t>
            </a:r>
          </a:p>
        </p:txBody>
      </p:sp>
      <p:sp>
        <p:nvSpPr>
          <p:cNvPr id="3" name="Text Placeholder 2">
            <a:extLst>
              <a:ext uri="{FF2B5EF4-FFF2-40B4-BE49-F238E27FC236}">
                <a16:creationId xmlns:a16="http://schemas.microsoft.com/office/drawing/2014/main" id="{106F2E4D-5B98-8BBF-C482-9ABA1F5DD07F}"/>
              </a:ext>
            </a:extLst>
          </p:cNvPr>
          <p:cNvSpPr>
            <a:spLocks noGrp="1"/>
          </p:cNvSpPr>
          <p:nvPr>
            <p:ph type="body" sz="quarter" idx="10"/>
          </p:nvPr>
        </p:nvSpPr>
        <p:spPr/>
        <p:txBody>
          <a:bodyPr/>
          <a:lstStyle/>
          <a:p>
            <a:r>
              <a:rPr lang="en-US" dirty="0"/>
              <a:t>PHYSICAL ADDRESS</a:t>
            </a:r>
          </a:p>
        </p:txBody>
      </p:sp>
      <p:sp>
        <p:nvSpPr>
          <p:cNvPr id="5" name="Content Placeholder 2">
            <a:extLst>
              <a:ext uri="{FF2B5EF4-FFF2-40B4-BE49-F238E27FC236}">
                <a16:creationId xmlns:a16="http://schemas.microsoft.com/office/drawing/2014/main" id="{E1350433-C7E4-BD0D-F3C8-8C04457AFF9C}"/>
              </a:ext>
            </a:extLst>
          </p:cNvPr>
          <p:cNvSpPr txBox="1">
            <a:spLocks/>
          </p:cNvSpPr>
          <p:nvPr/>
        </p:nvSpPr>
        <p:spPr>
          <a:xfrm>
            <a:off x="3104147" y="3702198"/>
            <a:ext cx="18721137" cy="8817840"/>
          </a:xfrm>
          <a:prstGeom prst="rect">
            <a:avLst/>
          </a:prstGeom>
        </p:spPr>
        <p:txBody>
          <a:bodyPr>
            <a:normAutofit/>
          </a:bodyPr>
          <a:lst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endParaRPr lang="en-US" sz="3600" dirty="0">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7" name="Rectangle 3">
            <a:extLst>
              <a:ext uri="{FF2B5EF4-FFF2-40B4-BE49-F238E27FC236}">
                <a16:creationId xmlns:a16="http://schemas.microsoft.com/office/drawing/2014/main" id="{D5FB8DF1-8891-1E58-9103-26B2419BB6E3}"/>
              </a:ext>
            </a:extLst>
          </p:cNvPr>
          <p:cNvSpPr txBox="1">
            <a:spLocks noChangeArrowheads="1"/>
          </p:cNvSpPr>
          <p:nvPr/>
        </p:nvSpPr>
        <p:spPr bwMode="auto">
          <a:xfrm>
            <a:off x="6120579" y="4638101"/>
            <a:ext cx="11282517" cy="4525963"/>
          </a:xfrm>
          <a:prstGeom prst="rect">
            <a:avLst/>
          </a:prstGeom>
          <a:noFill/>
          <a:ln>
            <a:miter lim="800000"/>
            <a:headEnd/>
            <a:tailEnd/>
          </a:ln>
        </p:spPr>
        <p:txBody>
          <a:bodyPr vert="horz" wrap="square" lIns="91440" tIns="45720" rIns="91440" bIns="45720" numCol="1" anchor="t" anchorCtr="0" compatLnSpc="1">
            <a:prstTxWarp prst="textNoShape">
              <a:avLst/>
            </a:prstTxWarp>
            <a:normAutofit/>
          </a:bodyPr>
          <a:lst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US" sz="3200" b="1" dirty="0">
                <a:latin typeface="Open Sans Light" panose="020B0306030504020204" pitchFamily="34" charset="0"/>
                <a:ea typeface="Open Sans Light" panose="020B0306030504020204" pitchFamily="34" charset="0"/>
                <a:cs typeface="Open Sans Light" panose="020B0306030504020204" pitchFamily="34" charset="0"/>
              </a:rPr>
              <a:t>MAC Addresses are split in two:</a:t>
            </a:r>
          </a:p>
          <a:p>
            <a:pPr lvl="1"/>
            <a:r>
              <a:rPr lang="en-US" sz="3200" b="1" dirty="0">
                <a:latin typeface="Open Sans Light" panose="020B0306030504020204" pitchFamily="34" charset="0"/>
                <a:ea typeface="Open Sans Light" panose="020B0306030504020204" pitchFamily="34" charset="0"/>
                <a:cs typeface="Open Sans Light" panose="020B0306030504020204" pitchFamily="34" charset="0"/>
              </a:rPr>
              <a:t>1</a:t>
            </a:r>
            <a:r>
              <a:rPr lang="en-US" sz="3200" b="1" baseline="30000" dirty="0">
                <a:latin typeface="Open Sans Light" panose="020B0306030504020204" pitchFamily="34" charset="0"/>
                <a:ea typeface="Open Sans Light" panose="020B0306030504020204" pitchFamily="34" charset="0"/>
                <a:cs typeface="Open Sans Light" panose="020B0306030504020204" pitchFamily="34" charset="0"/>
              </a:rPr>
              <a:t>st</a:t>
            </a: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 Half is the OUI</a:t>
            </a:r>
          </a:p>
          <a:p>
            <a:pPr lvl="1"/>
            <a:r>
              <a:rPr lang="en-US" sz="3200" b="1" dirty="0">
                <a:latin typeface="Open Sans Light" panose="020B0306030504020204" pitchFamily="34" charset="0"/>
                <a:ea typeface="Open Sans Light" panose="020B0306030504020204" pitchFamily="34" charset="0"/>
                <a:cs typeface="Open Sans Light" panose="020B0306030504020204" pitchFamily="34" charset="0"/>
              </a:rPr>
              <a:t>2</a:t>
            </a:r>
            <a:r>
              <a:rPr lang="en-US" sz="3200" b="1" baseline="30000" dirty="0">
                <a:latin typeface="Open Sans Light" panose="020B0306030504020204" pitchFamily="34" charset="0"/>
                <a:ea typeface="Open Sans Light" panose="020B0306030504020204" pitchFamily="34" charset="0"/>
                <a:cs typeface="Open Sans Light" panose="020B0306030504020204" pitchFamily="34" charset="0"/>
              </a:rPr>
              <a:t>nd</a:t>
            </a: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 Half is Vendor Assigned</a:t>
            </a:r>
          </a:p>
          <a:p>
            <a:r>
              <a:rPr lang="en-US" sz="3200" b="1" dirty="0">
                <a:latin typeface="Open Sans Light" panose="020B0306030504020204" pitchFamily="34" charset="0"/>
                <a:ea typeface="Open Sans Light" panose="020B0306030504020204" pitchFamily="34" charset="0"/>
                <a:cs typeface="Open Sans Light" panose="020B0306030504020204" pitchFamily="34" charset="0"/>
              </a:rPr>
              <a:t>Format: </a:t>
            </a:r>
            <a:r>
              <a:rPr lang="en-US" sz="3200" b="1" dirty="0" err="1">
                <a:latin typeface="Open Sans Light" panose="020B0306030504020204" pitchFamily="34" charset="0"/>
                <a:ea typeface="Open Sans Light" panose="020B0306030504020204" pitchFamily="34" charset="0"/>
                <a:cs typeface="Open Sans Light" panose="020B0306030504020204" pitchFamily="34" charset="0"/>
              </a:rPr>
              <a:t>oktet</a:t>
            </a:r>
            <a:endParaRPr lang="en-US" sz="3200" b="1" dirty="0">
              <a:latin typeface="Open Sans Light" panose="020B0306030504020204" pitchFamily="34" charset="0"/>
              <a:ea typeface="Open Sans Light" panose="020B0306030504020204" pitchFamily="34" charset="0"/>
              <a:cs typeface="Open Sans Light" panose="020B0306030504020204" pitchFamily="34" charset="0"/>
            </a:endParaRPr>
          </a:p>
        </p:txBody>
      </p:sp>
      <p:grpSp>
        <p:nvGrpSpPr>
          <p:cNvPr id="8" name="Group 4">
            <a:extLst>
              <a:ext uri="{FF2B5EF4-FFF2-40B4-BE49-F238E27FC236}">
                <a16:creationId xmlns:a16="http://schemas.microsoft.com/office/drawing/2014/main" id="{F88A46AF-AEDA-1035-9665-9C63DBC2DFF1}"/>
              </a:ext>
            </a:extLst>
          </p:cNvPr>
          <p:cNvGrpSpPr>
            <a:grpSpLocks/>
          </p:cNvGrpSpPr>
          <p:nvPr/>
        </p:nvGrpSpPr>
        <p:grpSpPr bwMode="auto">
          <a:xfrm>
            <a:off x="8202451" y="9724082"/>
            <a:ext cx="6250967" cy="716758"/>
            <a:chOff x="1704" y="624"/>
            <a:chExt cx="2352" cy="365"/>
          </a:xfrm>
        </p:grpSpPr>
        <p:sp>
          <p:nvSpPr>
            <p:cNvPr id="9" name="Text Box 5">
              <a:extLst>
                <a:ext uri="{FF2B5EF4-FFF2-40B4-BE49-F238E27FC236}">
                  <a16:creationId xmlns:a16="http://schemas.microsoft.com/office/drawing/2014/main" id="{70E0ED91-FE2D-2B60-7F0F-093EB1A5F7E0}"/>
                </a:ext>
              </a:extLst>
            </p:cNvPr>
            <p:cNvSpPr txBox="1">
              <a:spLocks noChangeArrowheads="1"/>
            </p:cNvSpPr>
            <p:nvPr/>
          </p:nvSpPr>
          <p:spPr bwMode="auto">
            <a:xfrm>
              <a:off x="1704" y="624"/>
              <a:ext cx="2352" cy="333"/>
            </a:xfrm>
            <a:prstGeom prst="rect">
              <a:avLst/>
            </a:prstGeom>
            <a:noFill/>
            <a:ln w="9525">
              <a:solidFill>
                <a:schemeClr val="folHlink"/>
              </a:solidFill>
              <a:miter lim="800000"/>
              <a:headEnd/>
              <a:tailEnd/>
            </a:ln>
          </p:spPr>
          <p:txBody>
            <a:bodyPr>
              <a:spAutoFit/>
            </a:bodyPr>
            <a:lstStyle/>
            <a:p>
              <a:pPr algn="ctr">
                <a:spcBef>
                  <a:spcPct val="50000"/>
                </a:spcBef>
              </a:pPr>
              <a:r>
                <a:rPr lang="en-US" sz="2800" b="1"/>
                <a:t>44-AB-5F-DF-C1-FB</a:t>
              </a:r>
            </a:p>
          </p:txBody>
        </p:sp>
        <p:sp>
          <p:nvSpPr>
            <p:cNvPr id="10" name="Rectangle 6">
              <a:extLst>
                <a:ext uri="{FF2B5EF4-FFF2-40B4-BE49-F238E27FC236}">
                  <a16:creationId xmlns:a16="http://schemas.microsoft.com/office/drawing/2014/main" id="{AE64F315-CA3E-BBF0-7A3D-5088229457C3}"/>
                </a:ext>
              </a:extLst>
            </p:cNvPr>
            <p:cNvSpPr>
              <a:spLocks noChangeArrowheads="1"/>
            </p:cNvSpPr>
            <p:nvPr/>
          </p:nvSpPr>
          <p:spPr bwMode="auto">
            <a:xfrm>
              <a:off x="1704" y="624"/>
              <a:ext cx="1166" cy="365"/>
            </a:xfrm>
            <a:prstGeom prst="rect">
              <a:avLst/>
            </a:prstGeom>
            <a:noFill/>
            <a:ln w="38100">
              <a:solidFill>
                <a:schemeClr val="tx1"/>
              </a:solidFill>
              <a:miter lim="800000"/>
              <a:headEnd/>
              <a:tailEnd/>
            </a:ln>
          </p:spPr>
          <p:txBody>
            <a:bodyPr wrap="none" anchor="ctr"/>
            <a:lstStyle/>
            <a:p>
              <a:endParaRPr lang="id-ID"/>
            </a:p>
          </p:txBody>
        </p:sp>
        <p:sp>
          <p:nvSpPr>
            <p:cNvPr id="11" name="Rectangle 7">
              <a:extLst>
                <a:ext uri="{FF2B5EF4-FFF2-40B4-BE49-F238E27FC236}">
                  <a16:creationId xmlns:a16="http://schemas.microsoft.com/office/drawing/2014/main" id="{1EFC6776-611C-756A-EE55-F04115D38F71}"/>
                </a:ext>
              </a:extLst>
            </p:cNvPr>
            <p:cNvSpPr>
              <a:spLocks noChangeArrowheads="1"/>
            </p:cNvSpPr>
            <p:nvPr/>
          </p:nvSpPr>
          <p:spPr bwMode="auto">
            <a:xfrm>
              <a:off x="2871" y="624"/>
              <a:ext cx="1181" cy="365"/>
            </a:xfrm>
            <a:prstGeom prst="rect">
              <a:avLst/>
            </a:prstGeom>
            <a:noFill/>
            <a:ln w="38100">
              <a:solidFill>
                <a:schemeClr val="tx1"/>
              </a:solidFill>
              <a:miter lim="800000"/>
              <a:headEnd/>
              <a:tailEnd/>
            </a:ln>
          </p:spPr>
          <p:txBody>
            <a:bodyPr wrap="none" anchor="ctr"/>
            <a:lstStyle/>
            <a:p>
              <a:endParaRPr lang="id-ID"/>
            </a:p>
          </p:txBody>
        </p:sp>
      </p:grpSp>
    </p:spTree>
    <p:extLst>
      <p:ext uri="{BB962C8B-B14F-4D97-AF65-F5344CB8AC3E}">
        <p14:creationId xmlns:p14="http://schemas.microsoft.com/office/powerpoint/2010/main" val="395179185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left)">
                                      <p:cBhvr>
                                        <p:cTn id="22"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3"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26EFF-01FA-381F-9102-FFFD76A6EC07}"/>
              </a:ext>
            </a:extLst>
          </p:cNvPr>
          <p:cNvSpPr>
            <a:spLocks noGrp="1"/>
          </p:cNvSpPr>
          <p:nvPr>
            <p:ph type="title"/>
          </p:nvPr>
        </p:nvSpPr>
        <p:spPr/>
        <p:txBody>
          <a:bodyPr>
            <a:normAutofit fontScale="90000"/>
          </a:bodyPr>
          <a:lstStyle/>
          <a:p>
            <a:r>
              <a:rPr lang="en-US" dirty="0"/>
              <a:t>addressing</a:t>
            </a:r>
          </a:p>
        </p:txBody>
      </p:sp>
      <p:sp>
        <p:nvSpPr>
          <p:cNvPr id="3" name="Text Placeholder 2">
            <a:extLst>
              <a:ext uri="{FF2B5EF4-FFF2-40B4-BE49-F238E27FC236}">
                <a16:creationId xmlns:a16="http://schemas.microsoft.com/office/drawing/2014/main" id="{106F2E4D-5B98-8BBF-C482-9ABA1F5DD07F}"/>
              </a:ext>
            </a:extLst>
          </p:cNvPr>
          <p:cNvSpPr>
            <a:spLocks noGrp="1"/>
          </p:cNvSpPr>
          <p:nvPr>
            <p:ph type="body" sz="quarter" idx="10"/>
          </p:nvPr>
        </p:nvSpPr>
        <p:spPr/>
        <p:txBody>
          <a:bodyPr/>
          <a:lstStyle/>
          <a:p>
            <a:r>
              <a:rPr lang="en-US" dirty="0"/>
              <a:t>LOGICAL ADDRESS</a:t>
            </a:r>
          </a:p>
        </p:txBody>
      </p:sp>
      <p:sp>
        <p:nvSpPr>
          <p:cNvPr id="5" name="Content Placeholder 2">
            <a:extLst>
              <a:ext uri="{FF2B5EF4-FFF2-40B4-BE49-F238E27FC236}">
                <a16:creationId xmlns:a16="http://schemas.microsoft.com/office/drawing/2014/main" id="{E1350433-C7E4-BD0D-F3C8-8C04457AFF9C}"/>
              </a:ext>
            </a:extLst>
          </p:cNvPr>
          <p:cNvSpPr txBox="1">
            <a:spLocks/>
          </p:cNvSpPr>
          <p:nvPr/>
        </p:nvSpPr>
        <p:spPr>
          <a:xfrm>
            <a:off x="3104147" y="3702198"/>
            <a:ext cx="18721137" cy="8817840"/>
          </a:xfrm>
          <a:prstGeom prst="rect">
            <a:avLst/>
          </a:prstGeom>
        </p:spPr>
        <p:txBody>
          <a:bodyPr>
            <a:normAutofit/>
          </a:bodyPr>
          <a:lst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endParaRPr lang="en-US" sz="3600" dirty="0">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14" name="Rectangle 2">
            <a:extLst>
              <a:ext uri="{FF2B5EF4-FFF2-40B4-BE49-F238E27FC236}">
                <a16:creationId xmlns:a16="http://schemas.microsoft.com/office/drawing/2014/main" id="{3ABDBA34-9978-1855-232C-E4E8525A4617}"/>
              </a:ext>
            </a:extLst>
          </p:cNvPr>
          <p:cNvSpPr txBox="1">
            <a:spLocks noChangeArrowheads="1"/>
          </p:cNvSpPr>
          <p:nvPr/>
        </p:nvSpPr>
        <p:spPr bwMode="auto">
          <a:xfrm>
            <a:off x="3398681" y="3260663"/>
            <a:ext cx="14971910" cy="6259795"/>
          </a:xfrm>
          <a:prstGeom prst="rect">
            <a:avLst/>
          </a:prstGeom>
          <a:noFill/>
          <a:ln>
            <a:miter lim="800000"/>
            <a:headEnd/>
            <a:tailEnd/>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ct val="0"/>
              </a:spcBef>
              <a:buClr>
                <a:schemeClr val="tx1"/>
              </a:buClr>
            </a:pPr>
            <a:r>
              <a:rPr lang="en-US" b="1" dirty="0">
                <a:latin typeface="Open Sans Light" panose="020B0306030504020204" pitchFamily="34" charset="0"/>
                <a:ea typeface="Open Sans Light" panose="020B0306030504020204" pitchFamily="34" charset="0"/>
                <a:cs typeface="Open Sans Light" panose="020B0306030504020204" pitchFamily="34" charset="0"/>
              </a:rPr>
              <a:t>IP Address</a:t>
            </a:r>
          </a:p>
          <a:p>
            <a:pPr lvl="1">
              <a:spcBef>
                <a:spcPct val="0"/>
              </a:spcBef>
              <a:buClr>
                <a:schemeClr val="tx1"/>
              </a:buClr>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A logical address used in TCP/IP networking for identifying a host in the network</a:t>
            </a:r>
          </a:p>
          <a:p>
            <a:pPr>
              <a:spcBef>
                <a:spcPct val="0"/>
              </a:spcBef>
              <a:buClr>
                <a:schemeClr val="tx1"/>
              </a:buClr>
            </a:pPr>
            <a:r>
              <a:rPr lang="en-US" b="1" dirty="0">
                <a:latin typeface="Open Sans Light" panose="020B0306030504020204" pitchFamily="34" charset="0"/>
                <a:ea typeface="Open Sans Light" panose="020B0306030504020204" pitchFamily="34" charset="0"/>
                <a:cs typeface="Open Sans Light" panose="020B0306030504020204" pitchFamily="34" charset="0"/>
              </a:rPr>
              <a:t>IP Address Characteristics</a:t>
            </a:r>
          </a:p>
          <a:p>
            <a:pPr lvl="1">
              <a:spcBef>
                <a:spcPct val="0"/>
              </a:spcBef>
              <a:buClr>
                <a:schemeClr val="tx1"/>
              </a:buClr>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An IP address is 32 bits in size, unique, grouped into four 8-bit octets </a:t>
            </a:r>
          </a:p>
          <a:p>
            <a:pPr lvl="1">
              <a:spcBef>
                <a:spcPct val="0"/>
              </a:spcBef>
              <a:buClr>
                <a:schemeClr val="tx1"/>
              </a:buClr>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Octets are separated by decimal points</a:t>
            </a:r>
          </a:p>
          <a:p>
            <a:pPr>
              <a:spcBef>
                <a:spcPct val="0"/>
              </a:spcBef>
              <a:buClr>
                <a:schemeClr val="tx1"/>
              </a:buClr>
            </a:pPr>
            <a:r>
              <a:rPr lang="en-US" b="1" dirty="0">
                <a:latin typeface="Open Sans Light" panose="020B0306030504020204" pitchFamily="34" charset="0"/>
                <a:ea typeface="Open Sans Light" panose="020B0306030504020204" pitchFamily="34" charset="0"/>
                <a:cs typeface="Open Sans Light" panose="020B0306030504020204" pitchFamily="34" charset="0"/>
              </a:rPr>
              <a:t>Network Administrator</a:t>
            </a:r>
          </a:p>
          <a:p>
            <a:pPr lvl="1">
              <a:spcBef>
                <a:spcPct val="0"/>
              </a:spcBef>
              <a:buClr>
                <a:schemeClr val="tx1"/>
              </a:buClr>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IP addresses are assigned by a network administrator according to an organization’s valid IP address range. </a:t>
            </a:r>
          </a:p>
          <a:p>
            <a:pPr>
              <a:spcBef>
                <a:spcPct val="0"/>
              </a:spcBef>
              <a:buClr>
                <a:schemeClr val="tx1"/>
              </a:buClr>
            </a:pPr>
            <a:r>
              <a:rPr lang="en-US" b="1" dirty="0">
                <a:latin typeface="Open Sans Light" panose="020B0306030504020204" pitchFamily="34" charset="0"/>
                <a:ea typeface="Open Sans Light" panose="020B0306030504020204" pitchFamily="34" charset="0"/>
                <a:cs typeface="Open Sans Light" panose="020B0306030504020204" pitchFamily="34" charset="0"/>
              </a:rPr>
              <a:t>ICANN (Internet Corporation for Assigned Names &amp; Numbers) </a:t>
            </a:r>
          </a:p>
          <a:p>
            <a:pPr lvl="1">
              <a:spcBef>
                <a:spcPct val="0"/>
              </a:spcBef>
              <a:buClr>
                <a:schemeClr val="tx1"/>
              </a:buClr>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Central authority on Internet addresses and names. </a:t>
            </a:r>
          </a:p>
          <a:p>
            <a:pPr lvl="1">
              <a:spcBef>
                <a:spcPct val="0"/>
              </a:spcBef>
              <a:buClr>
                <a:schemeClr val="tx1"/>
              </a:buClr>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A group of IP addresses must be obtained via an ISP.</a:t>
            </a:r>
          </a:p>
        </p:txBody>
      </p:sp>
    </p:spTree>
    <p:extLst>
      <p:ext uri="{BB962C8B-B14F-4D97-AF65-F5344CB8AC3E}">
        <p14:creationId xmlns:p14="http://schemas.microsoft.com/office/powerpoint/2010/main" val="209677123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26EFF-01FA-381F-9102-FFFD76A6EC07}"/>
              </a:ext>
            </a:extLst>
          </p:cNvPr>
          <p:cNvSpPr>
            <a:spLocks noGrp="1"/>
          </p:cNvSpPr>
          <p:nvPr>
            <p:ph type="title"/>
          </p:nvPr>
        </p:nvSpPr>
        <p:spPr/>
        <p:txBody>
          <a:bodyPr>
            <a:normAutofit fontScale="90000"/>
          </a:bodyPr>
          <a:lstStyle/>
          <a:p>
            <a:r>
              <a:rPr lang="en-US" dirty="0"/>
              <a:t>addressing</a:t>
            </a:r>
          </a:p>
        </p:txBody>
      </p:sp>
      <p:sp>
        <p:nvSpPr>
          <p:cNvPr id="3" name="Text Placeholder 2">
            <a:extLst>
              <a:ext uri="{FF2B5EF4-FFF2-40B4-BE49-F238E27FC236}">
                <a16:creationId xmlns:a16="http://schemas.microsoft.com/office/drawing/2014/main" id="{106F2E4D-5B98-8BBF-C482-9ABA1F5DD07F}"/>
              </a:ext>
            </a:extLst>
          </p:cNvPr>
          <p:cNvSpPr>
            <a:spLocks noGrp="1"/>
          </p:cNvSpPr>
          <p:nvPr>
            <p:ph type="body" sz="quarter" idx="10"/>
          </p:nvPr>
        </p:nvSpPr>
        <p:spPr/>
        <p:txBody>
          <a:bodyPr/>
          <a:lstStyle/>
          <a:p>
            <a:r>
              <a:rPr lang="en-US" dirty="0"/>
              <a:t>LOGICAL ADDRESS (CLASSFULL ADDRESSES)</a:t>
            </a:r>
          </a:p>
        </p:txBody>
      </p:sp>
      <p:sp>
        <p:nvSpPr>
          <p:cNvPr id="5" name="Content Placeholder 2">
            <a:extLst>
              <a:ext uri="{FF2B5EF4-FFF2-40B4-BE49-F238E27FC236}">
                <a16:creationId xmlns:a16="http://schemas.microsoft.com/office/drawing/2014/main" id="{E1350433-C7E4-BD0D-F3C8-8C04457AFF9C}"/>
              </a:ext>
            </a:extLst>
          </p:cNvPr>
          <p:cNvSpPr txBox="1">
            <a:spLocks/>
          </p:cNvSpPr>
          <p:nvPr/>
        </p:nvSpPr>
        <p:spPr>
          <a:xfrm>
            <a:off x="3104147" y="3702198"/>
            <a:ext cx="18721137" cy="8817840"/>
          </a:xfrm>
          <a:prstGeom prst="rect">
            <a:avLst/>
          </a:prstGeom>
        </p:spPr>
        <p:txBody>
          <a:bodyPr>
            <a:normAutofit/>
          </a:bodyPr>
          <a:lst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endParaRPr lang="en-US" sz="3600" dirty="0">
              <a:latin typeface="Open Sans Semibold" panose="020B0706030804020204" pitchFamily="34" charset="0"/>
              <a:ea typeface="Open Sans Semibold" panose="020B0706030804020204" pitchFamily="34" charset="0"/>
              <a:cs typeface="Open Sans Semibold" panose="020B0706030804020204" pitchFamily="34" charset="0"/>
            </a:endParaRPr>
          </a:p>
        </p:txBody>
      </p:sp>
      <p:pic>
        <p:nvPicPr>
          <p:cNvPr id="4" name="Picture 2">
            <a:extLst>
              <a:ext uri="{FF2B5EF4-FFF2-40B4-BE49-F238E27FC236}">
                <a16:creationId xmlns:a16="http://schemas.microsoft.com/office/drawing/2014/main" id="{A2E6A4AD-7B88-4BC1-33AB-3AA6EA91DEA1}"/>
              </a:ext>
            </a:extLst>
          </p:cNvPr>
          <p:cNvPicPr>
            <a:picLocks noChangeAspect="1" noChangeArrowheads="1"/>
          </p:cNvPicPr>
          <p:nvPr/>
        </p:nvPicPr>
        <p:blipFill>
          <a:blip r:embed="rId2"/>
          <a:srcRect/>
          <a:stretch>
            <a:fillRect/>
          </a:stretch>
        </p:blipFill>
        <p:spPr bwMode="auto">
          <a:xfrm>
            <a:off x="6010436" y="3702198"/>
            <a:ext cx="10872510" cy="7945674"/>
          </a:xfrm>
          <a:prstGeom prst="rect">
            <a:avLst/>
          </a:prstGeom>
          <a:noFill/>
          <a:ln w="9525">
            <a:noFill/>
            <a:miter lim="800000"/>
            <a:headEnd/>
            <a:tailEnd/>
          </a:ln>
        </p:spPr>
      </p:pic>
    </p:spTree>
    <p:extLst>
      <p:ext uri="{BB962C8B-B14F-4D97-AF65-F5344CB8AC3E}">
        <p14:creationId xmlns:p14="http://schemas.microsoft.com/office/powerpoint/2010/main" val="1510902384"/>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26EFF-01FA-381F-9102-FFFD76A6EC07}"/>
              </a:ext>
            </a:extLst>
          </p:cNvPr>
          <p:cNvSpPr>
            <a:spLocks noGrp="1"/>
          </p:cNvSpPr>
          <p:nvPr>
            <p:ph type="title"/>
          </p:nvPr>
        </p:nvSpPr>
        <p:spPr/>
        <p:txBody>
          <a:bodyPr>
            <a:normAutofit fontScale="90000"/>
          </a:bodyPr>
          <a:lstStyle/>
          <a:p>
            <a:r>
              <a:rPr lang="en-US" dirty="0"/>
              <a:t>addressing</a:t>
            </a:r>
          </a:p>
        </p:txBody>
      </p:sp>
      <p:sp>
        <p:nvSpPr>
          <p:cNvPr id="3" name="Text Placeholder 2">
            <a:extLst>
              <a:ext uri="{FF2B5EF4-FFF2-40B4-BE49-F238E27FC236}">
                <a16:creationId xmlns:a16="http://schemas.microsoft.com/office/drawing/2014/main" id="{106F2E4D-5B98-8BBF-C482-9ABA1F5DD07F}"/>
              </a:ext>
            </a:extLst>
          </p:cNvPr>
          <p:cNvSpPr>
            <a:spLocks noGrp="1"/>
          </p:cNvSpPr>
          <p:nvPr>
            <p:ph type="body" sz="quarter" idx="10"/>
          </p:nvPr>
        </p:nvSpPr>
        <p:spPr/>
        <p:txBody>
          <a:bodyPr/>
          <a:lstStyle/>
          <a:p>
            <a:r>
              <a:rPr lang="en-US" dirty="0"/>
              <a:t>SPECIAL IP ADDRESS</a:t>
            </a:r>
          </a:p>
        </p:txBody>
      </p:sp>
      <p:sp>
        <p:nvSpPr>
          <p:cNvPr id="6" name="Rectangle 1026">
            <a:extLst>
              <a:ext uri="{FF2B5EF4-FFF2-40B4-BE49-F238E27FC236}">
                <a16:creationId xmlns:a16="http://schemas.microsoft.com/office/drawing/2014/main" id="{E11BD7E4-5DD6-AAD1-D7D5-6BD157393434}"/>
              </a:ext>
            </a:extLst>
          </p:cNvPr>
          <p:cNvSpPr txBox="1">
            <a:spLocks noChangeArrowheads="1"/>
          </p:cNvSpPr>
          <p:nvPr/>
        </p:nvSpPr>
        <p:spPr bwMode="auto">
          <a:xfrm>
            <a:off x="3632035" y="3726338"/>
            <a:ext cx="15736529" cy="4525963"/>
          </a:xfrm>
          <a:prstGeom prst="rect">
            <a:avLst/>
          </a:prstGeom>
          <a:noFill/>
          <a:ln>
            <a:miter lim="800000"/>
            <a:headEnd/>
            <a:tailEnd/>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8925" indent="-288925">
              <a:spcBef>
                <a:spcPct val="0"/>
              </a:spcBef>
              <a:buClr>
                <a:schemeClr val="tx1"/>
              </a:buClr>
            </a:pPr>
            <a:r>
              <a:rPr lang="en-US" b="1" dirty="0">
                <a:latin typeface="Open Sans Light" panose="020B0306030504020204" pitchFamily="34" charset="0"/>
                <a:ea typeface="Open Sans Light" panose="020B0306030504020204" pitchFamily="34" charset="0"/>
                <a:cs typeface="Open Sans Light" panose="020B0306030504020204" pitchFamily="34" charset="0"/>
              </a:rPr>
              <a:t>Some IP address numbers are reserved for special functions.</a:t>
            </a:r>
          </a:p>
          <a:p>
            <a:pPr marL="288925" indent="-288925">
              <a:spcBef>
                <a:spcPct val="0"/>
              </a:spcBef>
              <a:buClr>
                <a:schemeClr val="tx1"/>
              </a:buClr>
            </a:pPr>
            <a:r>
              <a:rPr lang="en-US" b="1" dirty="0">
                <a:latin typeface="Open Sans Light" panose="020B0306030504020204" pitchFamily="34" charset="0"/>
                <a:ea typeface="Open Sans Light" panose="020B0306030504020204" pitchFamily="34" charset="0"/>
                <a:cs typeface="Open Sans Light" panose="020B0306030504020204" pitchFamily="34" charset="0"/>
              </a:rPr>
              <a:t>IP address whose numeric value is the highest value in the network (host bits all equal to one) is a broadcast address.</a:t>
            </a:r>
          </a:p>
          <a:p>
            <a:pPr marL="288925" indent="-288925">
              <a:spcBef>
                <a:spcPct val="0"/>
              </a:spcBef>
              <a:buClr>
                <a:schemeClr val="tx1"/>
              </a:buClr>
            </a:pPr>
            <a:r>
              <a:rPr lang="en-US" b="1" dirty="0">
                <a:latin typeface="Open Sans Light" panose="020B0306030504020204" pitchFamily="34" charset="0"/>
                <a:ea typeface="Open Sans Light" panose="020B0306030504020204" pitchFamily="34" charset="0"/>
                <a:cs typeface="Open Sans Light" panose="020B0306030504020204" pitchFamily="34" charset="0"/>
              </a:rPr>
              <a:t>IP addresses with first octet of 127 such as 127.0.0.1 is a loopback IP used to test local workstation communication</a:t>
            </a:r>
          </a:p>
          <a:p>
            <a:pPr marL="288925" indent="-288925">
              <a:spcBef>
                <a:spcPct val="0"/>
              </a:spcBef>
              <a:buClr>
                <a:schemeClr val="tx1"/>
              </a:buClr>
            </a:pPr>
            <a:r>
              <a:rPr lang="en-US" b="1" dirty="0">
                <a:latin typeface="Open Sans Light" panose="020B0306030504020204" pitchFamily="34" charset="0"/>
                <a:ea typeface="Open Sans Light" panose="020B0306030504020204" pitchFamily="34" charset="0"/>
                <a:cs typeface="Open Sans Light" panose="020B0306030504020204" pitchFamily="34" charset="0"/>
              </a:rPr>
              <a:t>IP addresses ending in “1” are typically reserved for gateway.</a:t>
            </a:r>
          </a:p>
        </p:txBody>
      </p:sp>
    </p:spTree>
    <p:extLst>
      <p:ext uri="{BB962C8B-B14F-4D97-AF65-F5344CB8AC3E}">
        <p14:creationId xmlns:p14="http://schemas.microsoft.com/office/powerpoint/2010/main" val="3090112860"/>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26EFF-01FA-381F-9102-FFFD76A6EC07}"/>
              </a:ext>
            </a:extLst>
          </p:cNvPr>
          <p:cNvSpPr>
            <a:spLocks noGrp="1"/>
          </p:cNvSpPr>
          <p:nvPr>
            <p:ph type="title"/>
          </p:nvPr>
        </p:nvSpPr>
        <p:spPr/>
        <p:txBody>
          <a:bodyPr>
            <a:normAutofit fontScale="90000"/>
          </a:bodyPr>
          <a:lstStyle/>
          <a:p>
            <a:r>
              <a:rPr lang="en-US" dirty="0"/>
              <a:t>addressing</a:t>
            </a:r>
          </a:p>
        </p:txBody>
      </p:sp>
      <p:sp>
        <p:nvSpPr>
          <p:cNvPr id="3" name="Text Placeholder 2">
            <a:extLst>
              <a:ext uri="{FF2B5EF4-FFF2-40B4-BE49-F238E27FC236}">
                <a16:creationId xmlns:a16="http://schemas.microsoft.com/office/drawing/2014/main" id="{106F2E4D-5B98-8BBF-C482-9ABA1F5DD07F}"/>
              </a:ext>
            </a:extLst>
          </p:cNvPr>
          <p:cNvSpPr>
            <a:spLocks noGrp="1"/>
          </p:cNvSpPr>
          <p:nvPr>
            <p:ph type="body" sz="quarter" idx="10"/>
          </p:nvPr>
        </p:nvSpPr>
        <p:spPr/>
        <p:txBody>
          <a:bodyPr/>
          <a:lstStyle/>
          <a:p>
            <a:r>
              <a:rPr lang="en-US" dirty="0"/>
              <a:t>PRIVATE &amp; PUBLIC IP ADDRESS</a:t>
            </a:r>
          </a:p>
        </p:txBody>
      </p:sp>
      <p:sp>
        <p:nvSpPr>
          <p:cNvPr id="5" name="Content Placeholder 2">
            <a:extLst>
              <a:ext uri="{FF2B5EF4-FFF2-40B4-BE49-F238E27FC236}">
                <a16:creationId xmlns:a16="http://schemas.microsoft.com/office/drawing/2014/main" id="{E1350433-C7E4-BD0D-F3C8-8C04457AFF9C}"/>
              </a:ext>
            </a:extLst>
          </p:cNvPr>
          <p:cNvSpPr txBox="1">
            <a:spLocks/>
          </p:cNvSpPr>
          <p:nvPr/>
        </p:nvSpPr>
        <p:spPr>
          <a:xfrm>
            <a:off x="3104147" y="3702198"/>
            <a:ext cx="18721137" cy="8817840"/>
          </a:xfrm>
          <a:prstGeom prst="rect">
            <a:avLst/>
          </a:prstGeom>
        </p:spPr>
        <p:txBody>
          <a:bodyPr>
            <a:normAutofit/>
          </a:bodyPr>
          <a:lst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endParaRPr lang="en-US" sz="3600" dirty="0">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6" name="Rectangle 3">
            <a:extLst>
              <a:ext uri="{FF2B5EF4-FFF2-40B4-BE49-F238E27FC236}">
                <a16:creationId xmlns:a16="http://schemas.microsoft.com/office/drawing/2014/main" id="{65DD614E-41E4-0D79-344F-FD32C1377BB3}"/>
              </a:ext>
            </a:extLst>
          </p:cNvPr>
          <p:cNvSpPr>
            <a:spLocks noChangeArrowheads="1"/>
          </p:cNvSpPr>
          <p:nvPr/>
        </p:nvSpPr>
        <p:spPr bwMode="auto">
          <a:xfrm>
            <a:off x="2558716" y="3314479"/>
            <a:ext cx="17530813" cy="2554545"/>
          </a:xfrm>
          <a:prstGeom prst="rect">
            <a:avLst/>
          </a:prstGeom>
          <a:noFill/>
          <a:ln w="57150">
            <a:noFill/>
            <a:miter lim="800000"/>
            <a:headEnd/>
            <a:tailEnd/>
          </a:ln>
        </p:spPr>
        <p:txBody>
          <a:bodyPr wrap="square">
            <a:spAutoFit/>
          </a:bodyPr>
          <a:lstStyle/>
          <a:p>
            <a:pPr marL="288925" indent="-288925" algn="l" defTabSz="914400" hangingPunct="1">
              <a:buFontTx/>
              <a:buChar char="•"/>
            </a:pPr>
            <a:r>
              <a:rPr lang="en-US" sz="3200" kern="1200" dirty="0">
                <a:solidFill>
                  <a:prstClr val="black"/>
                </a:solidFill>
                <a:latin typeface="Open Sans Light" panose="020B0306030504020204" pitchFamily="34" charset="0"/>
                <a:ea typeface="Open Sans Light" panose="020B0306030504020204" pitchFamily="34" charset="0"/>
                <a:cs typeface="Open Sans Light" panose="020B0306030504020204" pitchFamily="34" charset="0"/>
              </a:rPr>
              <a:t>A number of blocks in each class are assigned for private use. They are not recognized globally</a:t>
            </a:r>
          </a:p>
          <a:p>
            <a:pPr marL="288925" indent="-288925" algn="l" defTabSz="914400" hangingPunct="1">
              <a:buFontTx/>
              <a:buChar char="•"/>
            </a:pPr>
            <a:r>
              <a:rPr lang="en-US" sz="3200" kern="1200" dirty="0">
                <a:solidFill>
                  <a:prstClr val="black"/>
                </a:solidFill>
                <a:latin typeface="Open Sans Light" panose="020B0306030504020204" pitchFamily="34" charset="0"/>
                <a:ea typeface="Open Sans Light" panose="020B0306030504020204" pitchFamily="34" charset="0"/>
                <a:cs typeface="Open Sans Light" panose="020B0306030504020204" pitchFamily="34" charset="0"/>
              </a:rPr>
              <a:t>Several techniques exist to hide internal network IP addresses from outside view</a:t>
            </a:r>
          </a:p>
          <a:p>
            <a:pPr marL="288925" indent="-288925" algn="l" defTabSz="914400" hangingPunct="1">
              <a:buFontTx/>
              <a:buChar char="•"/>
            </a:pPr>
            <a:r>
              <a:rPr lang="en-US" sz="3200" kern="1200" dirty="0">
                <a:solidFill>
                  <a:prstClr val="black"/>
                </a:solidFill>
                <a:latin typeface="Open Sans Light" panose="020B0306030504020204" pitchFamily="34" charset="0"/>
                <a:ea typeface="Open Sans Light" panose="020B0306030504020204" pitchFamily="34" charset="0"/>
                <a:cs typeface="Open Sans Light" panose="020B0306030504020204" pitchFamily="34" charset="0"/>
              </a:rPr>
              <a:t>Any organization can use these addresses provide they adhere to the rules</a:t>
            </a:r>
          </a:p>
          <a:p>
            <a:pPr marL="288925" indent="-288925" algn="l" defTabSz="914400" hangingPunct="1">
              <a:buFontTx/>
              <a:buChar char="•"/>
            </a:pPr>
            <a:r>
              <a:rPr lang="en-US" sz="3200" kern="1200" dirty="0">
                <a:solidFill>
                  <a:prstClr val="black"/>
                </a:solidFill>
                <a:latin typeface="Open Sans Light" panose="020B0306030504020204" pitchFamily="34" charset="0"/>
                <a:ea typeface="Open Sans Light" panose="020B0306030504020204" pitchFamily="34" charset="0"/>
                <a:cs typeface="Open Sans Light" panose="020B0306030504020204" pitchFamily="34" charset="0"/>
              </a:rPr>
              <a:t>All connectivity to an Internet host must be provided by a Network Address Translator </a:t>
            </a:r>
          </a:p>
        </p:txBody>
      </p:sp>
      <p:sp>
        <p:nvSpPr>
          <p:cNvPr id="7" name="Text Box 2">
            <a:extLst>
              <a:ext uri="{FF2B5EF4-FFF2-40B4-BE49-F238E27FC236}">
                <a16:creationId xmlns:a16="http://schemas.microsoft.com/office/drawing/2014/main" id="{AA9F68CA-9889-BF6F-8CAC-61320EAA125C}"/>
              </a:ext>
            </a:extLst>
          </p:cNvPr>
          <p:cNvSpPr txBox="1">
            <a:spLocks noChangeArrowheads="1"/>
          </p:cNvSpPr>
          <p:nvPr/>
        </p:nvSpPr>
        <p:spPr bwMode="auto">
          <a:xfrm>
            <a:off x="3104147" y="5972257"/>
            <a:ext cx="14758314" cy="2971800"/>
          </a:xfrm>
          <a:prstGeom prst="rect">
            <a:avLst/>
          </a:prstGeom>
          <a:noFill/>
          <a:ln w="9525">
            <a:noFill/>
            <a:miter lim="800000"/>
            <a:headEnd/>
            <a:tailEnd/>
          </a:ln>
        </p:spPr>
        <p:txBody>
          <a:bodyPr lIns="0" tIns="0" rIns="0" bIns="0"/>
          <a:lstStyle/>
          <a:p>
            <a:pPr algn="l" defTabSz="409575" eaLnBrk="0">
              <a:buClr>
                <a:srgbClr val="000000"/>
              </a:buClr>
              <a:buSzPct val="90000"/>
            </a:pPr>
            <a:r>
              <a:rPr lang="en-US" sz="2800" kern="1200" dirty="0">
                <a:solidFill>
                  <a:prstClr val="black"/>
                </a:solidFill>
                <a:latin typeface="Open Sans Light" panose="020B0306030504020204" pitchFamily="34" charset="0"/>
                <a:ea typeface="Open Sans Light" panose="020B0306030504020204" pitchFamily="34" charset="0"/>
                <a:cs typeface="Open Sans Light" panose="020B0306030504020204" pitchFamily="34" charset="0"/>
              </a:rPr>
              <a:t>PRIVATE IP ADDRESS</a:t>
            </a:r>
          </a:p>
          <a:p>
            <a:pPr marL="463550" lvl="1" indent="-231775" algn="l" defTabSz="409575" eaLnBrk="0">
              <a:buClr>
                <a:srgbClr val="000000"/>
              </a:buClr>
              <a:buSzPct val="90000"/>
              <a:buFontTx/>
              <a:buChar char="•"/>
            </a:pPr>
            <a:r>
              <a:rPr lang="en-US" sz="2800" kern="1200" dirty="0">
                <a:solidFill>
                  <a:prstClr val="black"/>
                </a:solidFill>
                <a:latin typeface="Open Sans Light" panose="020B0306030504020204" pitchFamily="34" charset="0"/>
                <a:ea typeface="Open Sans Light" panose="020B0306030504020204" pitchFamily="34" charset="0"/>
                <a:cs typeface="Open Sans Light" panose="020B0306030504020204" pitchFamily="34" charset="0"/>
              </a:rPr>
              <a:t>10.0.0.0 - 10.255.255.255</a:t>
            </a:r>
          </a:p>
          <a:p>
            <a:pPr marL="1766888" lvl="2" indent="-620713" algn="l" defTabSz="409575" eaLnBrk="0">
              <a:buClr>
                <a:srgbClr val="000000"/>
              </a:buClr>
              <a:buSzPct val="90000"/>
            </a:pPr>
            <a:r>
              <a:rPr lang="en-US" sz="2800" kern="1200" dirty="0">
                <a:solidFill>
                  <a:prstClr val="black"/>
                </a:solidFill>
                <a:latin typeface="Open Sans Light" panose="020B0306030504020204" pitchFamily="34" charset="0"/>
                <a:ea typeface="Open Sans Light" panose="020B0306030504020204" pitchFamily="34" charset="0"/>
                <a:cs typeface="Open Sans Light" panose="020B0306030504020204" pitchFamily="34" charset="0"/>
              </a:rPr>
              <a:t>A single Class A network</a:t>
            </a:r>
          </a:p>
          <a:p>
            <a:pPr marL="463550" lvl="1" indent="-231775" algn="l" defTabSz="409575" eaLnBrk="0">
              <a:buClr>
                <a:srgbClr val="000000"/>
              </a:buClr>
              <a:buSzPct val="90000"/>
              <a:buFontTx/>
              <a:buChar char="•"/>
            </a:pPr>
            <a:r>
              <a:rPr lang="en-US" sz="2800" kern="1200" dirty="0">
                <a:solidFill>
                  <a:prstClr val="black"/>
                </a:solidFill>
                <a:latin typeface="Open Sans Light" panose="020B0306030504020204" pitchFamily="34" charset="0"/>
                <a:ea typeface="Open Sans Light" panose="020B0306030504020204" pitchFamily="34" charset="0"/>
                <a:cs typeface="Open Sans Light" panose="020B0306030504020204" pitchFamily="34" charset="0"/>
              </a:rPr>
              <a:t>172.16.0.0 - 172.31.255.255	</a:t>
            </a:r>
          </a:p>
          <a:p>
            <a:pPr marL="1766888" lvl="2" indent="-620713" algn="l" defTabSz="409575" eaLnBrk="0">
              <a:buClr>
                <a:srgbClr val="000000"/>
              </a:buClr>
              <a:buSzPct val="90000"/>
            </a:pPr>
            <a:r>
              <a:rPr lang="en-US" sz="2800" kern="1200" dirty="0">
                <a:solidFill>
                  <a:prstClr val="black"/>
                </a:solidFill>
                <a:latin typeface="Open Sans Light" panose="020B0306030504020204" pitchFamily="34" charset="0"/>
                <a:ea typeface="Open Sans Light" panose="020B0306030504020204" pitchFamily="34" charset="0"/>
                <a:cs typeface="Open Sans Light" panose="020B0306030504020204" pitchFamily="34" charset="0"/>
              </a:rPr>
              <a:t>Sixteen continuous Class B Networks</a:t>
            </a:r>
          </a:p>
          <a:p>
            <a:pPr marL="463550" lvl="1" indent="-231775" algn="l" defTabSz="409575" eaLnBrk="0">
              <a:buClr>
                <a:srgbClr val="000000"/>
              </a:buClr>
              <a:buSzPct val="90000"/>
              <a:buFontTx/>
              <a:buChar char="•"/>
            </a:pPr>
            <a:r>
              <a:rPr lang="en-US" sz="2800" kern="1200" dirty="0">
                <a:solidFill>
                  <a:prstClr val="black"/>
                </a:solidFill>
                <a:latin typeface="Open Sans Light" panose="020B0306030504020204" pitchFamily="34" charset="0"/>
                <a:ea typeface="Open Sans Light" panose="020B0306030504020204" pitchFamily="34" charset="0"/>
                <a:cs typeface="Open Sans Light" panose="020B0306030504020204" pitchFamily="34" charset="0"/>
              </a:rPr>
              <a:t>192.168.0.0 - 192.168.255.255</a:t>
            </a:r>
          </a:p>
          <a:p>
            <a:pPr marL="1766888" lvl="2" indent="-620713" algn="l" defTabSz="409575" eaLnBrk="0">
              <a:buClr>
                <a:srgbClr val="000000"/>
              </a:buClr>
              <a:buSzPct val="90000"/>
            </a:pPr>
            <a:r>
              <a:rPr lang="en-US" sz="2800" kern="1200" dirty="0">
                <a:solidFill>
                  <a:prstClr val="black"/>
                </a:solidFill>
                <a:latin typeface="Open Sans Light" panose="020B0306030504020204" pitchFamily="34" charset="0"/>
                <a:ea typeface="Open Sans Light" panose="020B0306030504020204" pitchFamily="34" charset="0"/>
                <a:cs typeface="Open Sans Light" panose="020B0306030504020204" pitchFamily="34" charset="0"/>
              </a:rPr>
              <a:t>256 contiguous Class C networks</a:t>
            </a:r>
          </a:p>
        </p:txBody>
      </p:sp>
      <p:graphicFrame>
        <p:nvGraphicFramePr>
          <p:cNvPr id="8" name="Object 4">
            <a:extLst>
              <a:ext uri="{FF2B5EF4-FFF2-40B4-BE49-F238E27FC236}">
                <a16:creationId xmlns:a16="http://schemas.microsoft.com/office/drawing/2014/main" id="{60CC4726-B25E-11D0-193F-68A7BFC589B2}"/>
              </a:ext>
            </a:extLst>
          </p:cNvPr>
          <p:cNvGraphicFramePr>
            <a:graphicFrameLocks noChangeAspect="1"/>
          </p:cNvGraphicFramePr>
          <p:nvPr/>
        </p:nvGraphicFramePr>
        <p:xfrm>
          <a:off x="4243462" y="9776033"/>
          <a:ext cx="11889747" cy="2469746"/>
        </p:xfrm>
        <a:graphic>
          <a:graphicData uri="http://schemas.openxmlformats.org/presentationml/2006/ole">
            <mc:AlternateContent xmlns:mc="http://schemas.openxmlformats.org/markup-compatibility/2006">
              <mc:Choice xmlns:v="urn:schemas-microsoft-com:vml" Requires="v">
                <p:oleObj name="Bitmap Image" r:id="rId2" imgW="6144483" imgH="1276190" progId="PBrush">
                  <p:embed/>
                </p:oleObj>
              </mc:Choice>
              <mc:Fallback>
                <p:oleObj name="Bitmap Image" r:id="rId2" imgW="6144483" imgH="1276190" progId="PBrush">
                  <p:embed/>
                  <p:pic>
                    <p:nvPicPr>
                      <p:cNvPr id="8" name="Object 4">
                        <a:extLst>
                          <a:ext uri="{FF2B5EF4-FFF2-40B4-BE49-F238E27FC236}">
                            <a16:creationId xmlns:a16="http://schemas.microsoft.com/office/drawing/2014/main" id="{60CC4726-B25E-11D0-193F-68A7BFC589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3462" y="9776033"/>
                        <a:ext cx="11889747" cy="2469746"/>
                      </a:xfrm>
                      <a:prstGeom prst="rect">
                        <a:avLst/>
                      </a:prstGeom>
                      <a:noFill/>
                    </p:spPr>
                  </p:pic>
                </p:oleObj>
              </mc:Fallback>
            </mc:AlternateContent>
          </a:graphicData>
        </a:graphic>
      </p:graphicFrame>
    </p:spTree>
    <p:extLst>
      <p:ext uri="{BB962C8B-B14F-4D97-AF65-F5344CB8AC3E}">
        <p14:creationId xmlns:p14="http://schemas.microsoft.com/office/powerpoint/2010/main" val="1385222476"/>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26EFF-01FA-381F-9102-FFFD76A6EC07}"/>
              </a:ext>
            </a:extLst>
          </p:cNvPr>
          <p:cNvSpPr>
            <a:spLocks noGrp="1"/>
          </p:cNvSpPr>
          <p:nvPr>
            <p:ph type="title"/>
          </p:nvPr>
        </p:nvSpPr>
        <p:spPr/>
        <p:txBody>
          <a:bodyPr>
            <a:normAutofit fontScale="90000"/>
          </a:bodyPr>
          <a:lstStyle/>
          <a:p>
            <a:r>
              <a:rPr lang="en-US" dirty="0"/>
              <a:t>addressing</a:t>
            </a:r>
          </a:p>
        </p:txBody>
      </p:sp>
      <p:sp>
        <p:nvSpPr>
          <p:cNvPr id="3" name="Text Placeholder 2">
            <a:extLst>
              <a:ext uri="{FF2B5EF4-FFF2-40B4-BE49-F238E27FC236}">
                <a16:creationId xmlns:a16="http://schemas.microsoft.com/office/drawing/2014/main" id="{106F2E4D-5B98-8BBF-C482-9ABA1F5DD07F}"/>
              </a:ext>
            </a:extLst>
          </p:cNvPr>
          <p:cNvSpPr>
            <a:spLocks noGrp="1"/>
          </p:cNvSpPr>
          <p:nvPr>
            <p:ph type="body" sz="quarter" idx="10"/>
          </p:nvPr>
        </p:nvSpPr>
        <p:spPr/>
        <p:txBody>
          <a:bodyPr/>
          <a:lstStyle/>
          <a:p>
            <a:r>
              <a:rPr lang="en-US" dirty="0"/>
              <a:t>DHCP</a:t>
            </a:r>
          </a:p>
        </p:txBody>
      </p:sp>
      <p:sp>
        <p:nvSpPr>
          <p:cNvPr id="5" name="Content Placeholder 2">
            <a:extLst>
              <a:ext uri="{FF2B5EF4-FFF2-40B4-BE49-F238E27FC236}">
                <a16:creationId xmlns:a16="http://schemas.microsoft.com/office/drawing/2014/main" id="{E1350433-C7E4-BD0D-F3C8-8C04457AFF9C}"/>
              </a:ext>
            </a:extLst>
          </p:cNvPr>
          <p:cNvSpPr txBox="1">
            <a:spLocks/>
          </p:cNvSpPr>
          <p:nvPr/>
        </p:nvSpPr>
        <p:spPr>
          <a:xfrm>
            <a:off x="3104147" y="3702198"/>
            <a:ext cx="18721137" cy="8817840"/>
          </a:xfrm>
          <a:prstGeom prst="rect">
            <a:avLst/>
          </a:prstGeom>
        </p:spPr>
        <p:txBody>
          <a:bodyPr>
            <a:normAutofit/>
          </a:bodyPr>
          <a:lst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endParaRPr lang="en-US" sz="3600" dirty="0">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4" name="Content Placeholder 2">
            <a:extLst>
              <a:ext uri="{FF2B5EF4-FFF2-40B4-BE49-F238E27FC236}">
                <a16:creationId xmlns:a16="http://schemas.microsoft.com/office/drawing/2014/main" id="{930313F6-61C3-5E35-C168-27FC3C7B2CB5}"/>
              </a:ext>
            </a:extLst>
          </p:cNvPr>
          <p:cNvSpPr txBox="1">
            <a:spLocks/>
          </p:cNvSpPr>
          <p:nvPr/>
        </p:nvSpPr>
        <p:spPr>
          <a:xfrm>
            <a:off x="3344965" y="3338216"/>
            <a:ext cx="14715569" cy="232212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None/>
              <a:tabLst/>
              <a:defRPr/>
            </a:pPr>
            <a:r>
              <a:rPr kumimoji="0" lang="en-US" b="1" i="0" u="none" strike="noStrike" kern="1200" cap="none" spc="0" normalizeH="0" baseline="0" noProof="0" dirty="0">
                <a:ln>
                  <a:noFill/>
                </a:ln>
                <a:solidFill>
                  <a:sysClr val="windowText" lastClr="000000"/>
                </a:solidFill>
                <a:effectLst/>
                <a:uLnTx/>
                <a:uFillTx/>
                <a:ea typeface="+mn-ea"/>
                <a:cs typeface="+mn-cs"/>
              </a:rPr>
              <a:t>DHCP</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b="1" i="0" u="none" strike="noStrike" kern="1200" cap="none" spc="0" normalizeH="0" baseline="0" noProof="0" dirty="0">
                <a:ln>
                  <a:noFill/>
                </a:ln>
                <a:solidFill>
                  <a:sysClr val="windowText" lastClr="000000"/>
                </a:solidFill>
                <a:effectLst/>
                <a:uLnTx/>
                <a:uFillTx/>
                <a:ea typeface="+mn-ea"/>
                <a:cs typeface="+mn-cs"/>
              </a:rPr>
              <a:t>Give IP address to device automatically</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b="1" i="0" u="none" strike="noStrike" kern="1200" cap="none" spc="0" normalizeH="0" baseline="0" noProof="0" dirty="0">
                <a:ln>
                  <a:noFill/>
                </a:ln>
                <a:solidFill>
                  <a:sysClr val="windowText" lastClr="000000"/>
                </a:solidFill>
                <a:effectLst/>
                <a:uLnTx/>
                <a:uFillTx/>
                <a:ea typeface="+mn-ea"/>
                <a:cs typeface="+mn-cs"/>
              </a:rPr>
              <a:t>Mapping Layer 2 address with layer 3 address, save IP address and MAC address on server DHCP database</a:t>
            </a:r>
          </a:p>
        </p:txBody>
      </p:sp>
      <p:pic>
        <p:nvPicPr>
          <p:cNvPr id="9" name="Picture 10">
            <a:extLst>
              <a:ext uri="{FF2B5EF4-FFF2-40B4-BE49-F238E27FC236}">
                <a16:creationId xmlns:a16="http://schemas.microsoft.com/office/drawing/2014/main" id="{785A2AC0-3560-F8DC-3E15-A131AC39E786}"/>
              </a:ext>
            </a:extLst>
          </p:cNvPr>
          <p:cNvPicPr>
            <a:picLocks noChangeAspect="1" noChangeArrowheads="1"/>
          </p:cNvPicPr>
          <p:nvPr/>
        </p:nvPicPr>
        <p:blipFill>
          <a:blip r:embed="rId2"/>
          <a:srcRect/>
          <a:stretch>
            <a:fillRect/>
          </a:stretch>
        </p:blipFill>
        <p:spPr bwMode="auto">
          <a:xfrm>
            <a:off x="4311367" y="6197610"/>
            <a:ext cx="8602758" cy="6322427"/>
          </a:xfrm>
          <a:prstGeom prst="rect">
            <a:avLst/>
          </a:prstGeom>
          <a:noFill/>
          <a:ln w="9525">
            <a:noFill/>
            <a:miter lim="800000"/>
            <a:headEnd/>
            <a:tailEnd/>
          </a:ln>
          <a:effectLst/>
        </p:spPr>
      </p:pic>
      <p:pic>
        <p:nvPicPr>
          <p:cNvPr id="10" name="Picture 41">
            <a:extLst>
              <a:ext uri="{FF2B5EF4-FFF2-40B4-BE49-F238E27FC236}">
                <a16:creationId xmlns:a16="http://schemas.microsoft.com/office/drawing/2014/main" id="{967C2AF7-03EF-F7EE-C93F-A96DD640C64D}"/>
              </a:ext>
            </a:extLst>
          </p:cNvPr>
          <p:cNvPicPr>
            <a:picLocks noChangeAspect="1" noChangeArrowheads="1"/>
          </p:cNvPicPr>
          <p:nvPr/>
        </p:nvPicPr>
        <p:blipFill>
          <a:blip r:embed="rId3"/>
          <a:srcRect/>
          <a:stretch>
            <a:fillRect/>
          </a:stretch>
        </p:blipFill>
        <p:spPr bwMode="auto">
          <a:xfrm>
            <a:off x="13705656" y="7895942"/>
            <a:ext cx="6892925" cy="2925762"/>
          </a:xfrm>
          <a:prstGeom prst="rect">
            <a:avLst/>
          </a:prstGeom>
          <a:noFill/>
          <a:ln w="9525">
            <a:noFill/>
            <a:miter lim="800000"/>
            <a:headEnd/>
            <a:tailEnd/>
          </a:ln>
          <a:effectLst/>
        </p:spPr>
      </p:pic>
    </p:spTree>
    <p:extLst>
      <p:ext uri="{BB962C8B-B14F-4D97-AF65-F5344CB8AC3E}">
        <p14:creationId xmlns:p14="http://schemas.microsoft.com/office/powerpoint/2010/main" val="4175803854"/>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26EFF-01FA-381F-9102-FFFD76A6EC07}"/>
              </a:ext>
            </a:extLst>
          </p:cNvPr>
          <p:cNvSpPr>
            <a:spLocks noGrp="1"/>
          </p:cNvSpPr>
          <p:nvPr>
            <p:ph type="title"/>
          </p:nvPr>
        </p:nvSpPr>
        <p:spPr/>
        <p:txBody>
          <a:bodyPr>
            <a:normAutofit fontScale="90000"/>
          </a:bodyPr>
          <a:lstStyle/>
          <a:p>
            <a:r>
              <a:rPr lang="en-US" dirty="0"/>
              <a:t>addressing</a:t>
            </a:r>
          </a:p>
        </p:txBody>
      </p:sp>
      <p:sp>
        <p:nvSpPr>
          <p:cNvPr id="3" name="Text Placeholder 2">
            <a:extLst>
              <a:ext uri="{FF2B5EF4-FFF2-40B4-BE49-F238E27FC236}">
                <a16:creationId xmlns:a16="http://schemas.microsoft.com/office/drawing/2014/main" id="{106F2E4D-5B98-8BBF-C482-9ABA1F5DD07F}"/>
              </a:ext>
            </a:extLst>
          </p:cNvPr>
          <p:cNvSpPr>
            <a:spLocks noGrp="1"/>
          </p:cNvSpPr>
          <p:nvPr>
            <p:ph type="body" sz="quarter" idx="10"/>
          </p:nvPr>
        </p:nvSpPr>
        <p:spPr/>
        <p:txBody>
          <a:bodyPr/>
          <a:lstStyle/>
          <a:p>
            <a:r>
              <a:rPr lang="en-US" dirty="0"/>
              <a:t>IPV6</a:t>
            </a:r>
          </a:p>
        </p:txBody>
      </p:sp>
      <p:sp>
        <p:nvSpPr>
          <p:cNvPr id="5" name="Content Placeholder 2">
            <a:extLst>
              <a:ext uri="{FF2B5EF4-FFF2-40B4-BE49-F238E27FC236}">
                <a16:creationId xmlns:a16="http://schemas.microsoft.com/office/drawing/2014/main" id="{E1350433-C7E4-BD0D-F3C8-8C04457AFF9C}"/>
              </a:ext>
            </a:extLst>
          </p:cNvPr>
          <p:cNvSpPr txBox="1">
            <a:spLocks/>
          </p:cNvSpPr>
          <p:nvPr/>
        </p:nvSpPr>
        <p:spPr>
          <a:xfrm>
            <a:off x="3104147" y="3702198"/>
            <a:ext cx="18721137" cy="8817840"/>
          </a:xfrm>
          <a:prstGeom prst="rect">
            <a:avLst/>
          </a:prstGeom>
        </p:spPr>
        <p:txBody>
          <a:bodyPr>
            <a:normAutofit/>
          </a:bodyPr>
          <a:lst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endParaRPr lang="en-US" sz="3600" dirty="0">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6" name="Rectangle 7">
            <a:extLst>
              <a:ext uri="{FF2B5EF4-FFF2-40B4-BE49-F238E27FC236}">
                <a16:creationId xmlns:a16="http://schemas.microsoft.com/office/drawing/2014/main" id="{213676EA-D650-EF08-4D28-731E2B0F71CF}"/>
              </a:ext>
            </a:extLst>
          </p:cNvPr>
          <p:cNvSpPr txBox="1">
            <a:spLocks noChangeArrowheads="1"/>
          </p:cNvSpPr>
          <p:nvPr/>
        </p:nvSpPr>
        <p:spPr>
          <a:xfrm>
            <a:off x="2167377" y="2875793"/>
            <a:ext cx="16963601" cy="5146834"/>
          </a:xfrm>
          <a:prstGeom prst="rect">
            <a:avLst/>
          </a:prstGeom>
        </p:spPr>
        <p:txBody>
          <a:bodyPr vert="horz" lIns="67866" tIns="33338" rIns="67866" bIns="33338"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ct val="0"/>
              </a:spcBef>
            </a:pPr>
            <a:r>
              <a:rPr lang="en-US"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Internet Protocol version 6 (IPv6) or IP new generation (</a:t>
            </a:r>
            <a:r>
              <a:rPr lang="en-US" b="1" dirty="0" err="1">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IPng</a:t>
            </a:r>
            <a:r>
              <a:rPr lang="en-US"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 was a proposal to augment the address space of IPv4 and at the same time redesign the format of the IP packet and revise some auxiliary protocols such as ICMP. </a:t>
            </a:r>
          </a:p>
          <a:p>
            <a:pPr algn="just">
              <a:spcBef>
                <a:spcPct val="0"/>
              </a:spcBef>
            </a:pPr>
            <a:r>
              <a:rPr lang="en-US"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The main changes needed in the new protocol were as follows: larger address space, better header format, new options, allowance for extension, support for resource allocation, and support for more security.</a:t>
            </a:r>
          </a:p>
          <a:p>
            <a:pPr algn="just">
              <a:spcBef>
                <a:spcPct val="0"/>
              </a:spcBef>
            </a:pPr>
            <a:r>
              <a:rPr lang="en-US"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IPv6 address is 128 bits or 16 bytes (octets) long, 4 times the address length in IPv4</a:t>
            </a:r>
          </a:p>
          <a:p>
            <a:pPr algn="just">
              <a:spcBef>
                <a:spcPct val="0"/>
              </a:spcBef>
            </a:pPr>
            <a:r>
              <a:rPr lang="en-US"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Binary notation is used when the addresses are stored in a computer. The colon hexadecimal notation (or colon hex for short) divides the address into eight sections, each made of four hexadecimal digits separated by colons.</a:t>
            </a:r>
          </a:p>
        </p:txBody>
      </p:sp>
      <p:pic>
        <p:nvPicPr>
          <p:cNvPr id="7" name="Picture 6">
            <a:extLst>
              <a:ext uri="{FF2B5EF4-FFF2-40B4-BE49-F238E27FC236}">
                <a16:creationId xmlns:a16="http://schemas.microsoft.com/office/drawing/2014/main" id="{D6862A18-F5D0-34B8-A9B4-DE6DAC79AFCD}"/>
              </a:ext>
            </a:extLst>
          </p:cNvPr>
          <p:cNvPicPr>
            <a:picLocks noChangeAspect="1"/>
          </p:cNvPicPr>
          <p:nvPr/>
        </p:nvPicPr>
        <p:blipFill>
          <a:blip r:embed="rId2"/>
          <a:stretch>
            <a:fillRect/>
          </a:stretch>
        </p:blipFill>
        <p:spPr>
          <a:xfrm>
            <a:off x="5762225" y="7902390"/>
            <a:ext cx="11402497" cy="1884761"/>
          </a:xfrm>
          <a:prstGeom prst="rect">
            <a:avLst/>
          </a:prstGeom>
        </p:spPr>
      </p:pic>
      <p:sp>
        <p:nvSpPr>
          <p:cNvPr id="8" name="Rectangle 7">
            <a:extLst>
              <a:ext uri="{FF2B5EF4-FFF2-40B4-BE49-F238E27FC236}">
                <a16:creationId xmlns:a16="http://schemas.microsoft.com/office/drawing/2014/main" id="{605F42D4-2A70-20D4-40AB-FEF58C8EE8D3}"/>
              </a:ext>
            </a:extLst>
          </p:cNvPr>
          <p:cNvSpPr txBox="1">
            <a:spLocks noChangeArrowheads="1"/>
          </p:cNvSpPr>
          <p:nvPr/>
        </p:nvSpPr>
        <p:spPr>
          <a:xfrm>
            <a:off x="2167377" y="10026613"/>
            <a:ext cx="17313904" cy="1627188"/>
          </a:xfrm>
          <a:prstGeom prst="rect">
            <a:avLst/>
          </a:prstGeom>
        </p:spPr>
        <p:txBody>
          <a:bodyPr vert="horz" lIns="67866" tIns="33338" rIns="67866" bIns="33338"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ct val="0"/>
              </a:spcBef>
            </a:pPr>
            <a:r>
              <a:rPr lang="en-US" dirty="0">
                <a:solidFill>
                  <a:prstClr val="black"/>
                </a:solidFill>
                <a:latin typeface="Open Sans Light" panose="020B0306030504020204" pitchFamily="34" charset="0"/>
                <a:ea typeface="Open Sans Light" panose="020B0306030504020204" pitchFamily="34" charset="0"/>
                <a:cs typeface="Open Sans Light" panose="020B0306030504020204" pitchFamily="34" charset="0"/>
              </a:rPr>
              <a:t>Mixed representation of an IPv6 address: colon hex and dotted-decimal notation.</a:t>
            </a:r>
          </a:p>
          <a:p>
            <a:pPr algn="just">
              <a:spcBef>
                <a:spcPct val="0"/>
              </a:spcBef>
            </a:pPr>
            <a:r>
              <a:rPr lang="en-US" dirty="0">
                <a:solidFill>
                  <a:prstClr val="black"/>
                </a:solidFill>
                <a:latin typeface="Open Sans Light" panose="020B0306030504020204" pitchFamily="34" charset="0"/>
                <a:ea typeface="Open Sans Light" panose="020B0306030504020204" pitchFamily="34" charset="0"/>
                <a:cs typeface="Open Sans Light" panose="020B0306030504020204" pitchFamily="34" charset="0"/>
              </a:rPr>
              <a:t>IPv6 allows slash or CIDR notation.</a:t>
            </a:r>
          </a:p>
          <a:p>
            <a:pPr lvl="1" algn="just">
              <a:spcBef>
                <a:spcPct val="0"/>
              </a:spcBef>
            </a:pPr>
            <a:r>
              <a:rPr lang="en-US" sz="3200" dirty="0">
                <a:solidFill>
                  <a:prstClr val="black"/>
                </a:solidFill>
                <a:latin typeface="Open Sans Light" panose="020B0306030504020204" pitchFamily="34" charset="0"/>
                <a:ea typeface="Open Sans Light" panose="020B0306030504020204" pitchFamily="34" charset="0"/>
                <a:cs typeface="Open Sans Light" panose="020B0306030504020204" pitchFamily="34" charset="0"/>
              </a:rPr>
              <a:t>example, the following shows how we can define a prefix of 60 bits using CIDR.</a:t>
            </a:r>
          </a:p>
          <a:p>
            <a:pPr algn="just">
              <a:spcBef>
                <a:spcPct val="0"/>
              </a:spcBef>
            </a:pPr>
            <a:endParaRPr lang="en-US" dirty="0">
              <a:solidFill>
                <a:prstClr val="black"/>
              </a:solidFill>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11" name="Picture 10">
            <a:extLst>
              <a:ext uri="{FF2B5EF4-FFF2-40B4-BE49-F238E27FC236}">
                <a16:creationId xmlns:a16="http://schemas.microsoft.com/office/drawing/2014/main" id="{F8D87CC9-2DA3-7AB7-9004-66009FE37878}"/>
              </a:ext>
            </a:extLst>
          </p:cNvPr>
          <p:cNvPicPr>
            <a:picLocks noChangeAspect="1"/>
          </p:cNvPicPr>
          <p:nvPr/>
        </p:nvPicPr>
        <p:blipFill>
          <a:blip r:embed="rId3"/>
          <a:stretch>
            <a:fillRect/>
          </a:stretch>
        </p:blipFill>
        <p:spPr>
          <a:xfrm>
            <a:off x="8955776" y="11508496"/>
            <a:ext cx="6954351" cy="1011542"/>
          </a:xfrm>
          <a:prstGeom prst="rect">
            <a:avLst/>
          </a:prstGeom>
        </p:spPr>
      </p:pic>
    </p:spTree>
    <p:extLst>
      <p:ext uri="{BB962C8B-B14F-4D97-AF65-F5344CB8AC3E}">
        <p14:creationId xmlns:p14="http://schemas.microsoft.com/office/powerpoint/2010/main" val="295478610"/>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529F7-E511-234A-CE98-E36D64CE2497}"/>
              </a:ext>
            </a:extLst>
          </p:cNvPr>
          <p:cNvSpPr>
            <a:spLocks noGrp="1"/>
          </p:cNvSpPr>
          <p:nvPr>
            <p:ph type="title"/>
          </p:nvPr>
        </p:nvSpPr>
        <p:spPr/>
        <p:txBody>
          <a:bodyPr>
            <a:normAutofit fontScale="90000"/>
          </a:bodyPr>
          <a:lstStyle/>
          <a:p>
            <a:r>
              <a:rPr lang="en-US" dirty="0"/>
              <a:t>ADDRESSING</a:t>
            </a:r>
          </a:p>
        </p:txBody>
      </p:sp>
      <p:sp>
        <p:nvSpPr>
          <p:cNvPr id="3" name="Text Placeholder 2">
            <a:extLst>
              <a:ext uri="{FF2B5EF4-FFF2-40B4-BE49-F238E27FC236}">
                <a16:creationId xmlns:a16="http://schemas.microsoft.com/office/drawing/2014/main" id="{33D83C49-3FA5-0DD6-41A4-A8233A15241F}"/>
              </a:ext>
            </a:extLst>
          </p:cNvPr>
          <p:cNvSpPr>
            <a:spLocks noGrp="1"/>
          </p:cNvSpPr>
          <p:nvPr>
            <p:ph type="body" sz="quarter" idx="10"/>
          </p:nvPr>
        </p:nvSpPr>
        <p:spPr/>
        <p:txBody>
          <a:bodyPr/>
          <a:lstStyle/>
          <a:p>
            <a:r>
              <a:rPr lang="en-US" dirty="0"/>
              <a:t>IPV6 VS IPV4</a:t>
            </a:r>
          </a:p>
        </p:txBody>
      </p:sp>
      <p:sp>
        <p:nvSpPr>
          <p:cNvPr id="5" name="Rectangle 7">
            <a:extLst>
              <a:ext uri="{FF2B5EF4-FFF2-40B4-BE49-F238E27FC236}">
                <a16:creationId xmlns:a16="http://schemas.microsoft.com/office/drawing/2014/main" id="{4A2D1108-F1C5-892C-439D-5F7A930D314C}"/>
              </a:ext>
            </a:extLst>
          </p:cNvPr>
          <p:cNvSpPr txBox="1">
            <a:spLocks noChangeArrowheads="1"/>
          </p:cNvSpPr>
          <p:nvPr/>
        </p:nvSpPr>
        <p:spPr>
          <a:xfrm>
            <a:off x="3805084" y="4018935"/>
            <a:ext cx="17609574" cy="6629399"/>
          </a:xfrm>
          <a:prstGeom prst="rect">
            <a:avLst/>
          </a:prstGeom>
        </p:spPr>
        <p:txBody>
          <a:bodyPr vert="horz" lIns="67866" tIns="33338" rIns="67866" bIns="33338"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ct val="0"/>
              </a:spcBef>
              <a:buNone/>
            </a:pPr>
            <a:r>
              <a:rPr lang="en-US"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The following shows a quick comparison between the options used in IPv4 and the options used in IPv6 (as extension headers) : </a:t>
            </a:r>
          </a:p>
          <a:p>
            <a:pPr algn="just">
              <a:spcBef>
                <a:spcPct val="0"/>
              </a:spcBef>
            </a:pPr>
            <a:r>
              <a:rPr lang="en-US"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The no-operation and end-of-option options in IPv4 are replaced by Pad1 and </a:t>
            </a:r>
            <a:r>
              <a:rPr lang="en-US" b="1" dirty="0" err="1">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PadN</a:t>
            </a:r>
            <a:r>
              <a:rPr lang="en-US"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 options in IPv6.</a:t>
            </a:r>
          </a:p>
          <a:p>
            <a:pPr algn="just">
              <a:spcBef>
                <a:spcPct val="0"/>
              </a:spcBef>
            </a:pPr>
            <a:r>
              <a:rPr lang="en-US"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The record route option is not implemented in IPv6 because it was not used.</a:t>
            </a:r>
          </a:p>
          <a:p>
            <a:pPr algn="just">
              <a:spcBef>
                <a:spcPct val="0"/>
              </a:spcBef>
            </a:pPr>
            <a:r>
              <a:rPr lang="en-US"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The timestamp option is not implemented because it was not used.</a:t>
            </a:r>
          </a:p>
          <a:p>
            <a:pPr algn="just">
              <a:spcBef>
                <a:spcPct val="0"/>
              </a:spcBef>
            </a:pPr>
            <a:r>
              <a:rPr lang="en-US"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The source route option is called the source route extension header in</a:t>
            </a:r>
          </a:p>
          <a:p>
            <a:pPr algn="just">
              <a:spcBef>
                <a:spcPct val="0"/>
              </a:spcBef>
            </a:pPr>
            <a:r>
              <a:rPr lang="en-US"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IPv6.</a:t>
            </a:r>
          </a:p>
          <a:p>
            <a:pPr algn="just">
              <a:spcBef>
                <a:spcPct val="0"/>
              </a:spcBef>
            </a:pPr>
            <a:r>
              <a:rPr lang="en-US"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The fragmentation fields in the base header section of IPv4 have moved to the fragmentation extension header in IPv6.</a:t>
            </a:r>
          </a:p>
          <a:p>
            <a:pPr algn="just">
              <a:spcBef>
                <a:spcPct val="0"/>
              </a:spcBef>
            </a:pPr>
            <a:r>
              <a:rPr lang="en-US"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The authentication extension header is new in IPv6.</a:t>
            </a:r>
          </a:p>
          <a:p>
            <a:pPr algn="just">
              <a:spcBef>
                <a:spcPct val="0"/>
              </a:spcBef>
            </a:pPr>
            <a:r>
              <a:rPr lang="en-US"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The encrypted security payload extension header is new in IPv6.</a:t>
            </a:r>
          </a:p>
        </p:txBody>
      </p:sp>
    </p:spTree>
    <p:extLst>
      <p:ext uri="{BB962C8B-B14F-4D97-AF65-F5344CB8AC3E}">
        <p14:creationId xmlns:p14="http://schemas.microsoft.com/office/powerpoint/2010/main" val="991108292"/>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26EFF-01FA-381F-9102-FFFD76A6EC07}"/>
              </a:ext>
            </a:extLst>
          </p:cNvPr>
          <p:cNvSpPr>
            <a:spLocks noGrp="1"/>
          </p:cNvSpPr>
          <p:nvPr>
            <p:ph type="title"/>
          </p:nvPr>
        </p:nvSpPr>
        <p:spPr/>
        <p:txBody>
          <a:bodyPr>
            <a:normAutofit fontScale="90000"/>
          </a:bodyPr>
          <a:lstStyle/>
          <a:p>
            <a:r>
              <a:rPr lang="en-US" dirty="0"/>
              <a:t>Review Questions</a:t>
            </a:r>
          </a:p>
        </p:txBody>
      </p:sp>
      <p:sp>
        <p:nvSpPr>
          <p:cNvPr id="3" name="Text Placeholder 2">
            <a:extLst>
              <a:ext uri="{FF2B5EF4-FFF2-40B4-BE49-F238E27FC236}">
                <a16:creationId xmlns:a16="http://schemas.microsoft.com/office/drawing/2014/main" id="{106F2E4D-5B98-8BBF-C482-9ABA1F5DD07F}"/>
              </a:ext>
            </a:extLst>
          </p:cNvPr>
          <p:cNvSpPr>
            <a:spLocks noGrp="1"/>
          </p:cNvSpPr>
          <p:nvPr>
            <p:ph type="body" sz="quarter" idx="10"/>
          </p:nvPr>
        </p:nvSpPr>
        <p:spPr/>
        <p:txBody>
          <a:bodyPr/>
          <a:lstStyle/>
          <a:p>
            <a:endParaRPr lang="en-US"/>
          </a:p>
        </p:txBody>
      </p:sp>
      <p:sp>
        <p:nvSpPr>
          <p:cNvPr id="5" name="Content Placeholder 2">
            <a:extLst>
              <a:ext uri="{FF2B5EF4-FFF2-40B4-BE49-F238E27FC236}">
                <a16:creationId xmlns:a16="http://schemas.microsoft.com/office/drawing/2014/main" id="{E1350433-C7E4-BD0D-F3C8-8C04457AFF9C}"/>
              </a:ext>
            </a:extLst>
          </p:cNvPr>
          <p:cNvSpPr txBox="1">
            <a:spLocks/>
          </p:cNvSpPr>
          <p:nvPr/>
        </p:nvSpPr>
        <p:spPr>
          <a:xfrm>
            <a:off x="3104147" y="3651250"/>
            <a:ext cx="18721137" cy="8817840"/>
          </a:xfrm>
          <a:prstGeom prst="rect">
            <a:avLst/>
          </a:prstGeom>
        </p:spPr>
        <p:txBody>
          <a:bodyPr>
            <a:normAutofit/>
          </a:bodyPr>
          <a:lst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914400" indent="-914400">
              <a:buFont typeface="+mj-lt"/>
              <a:buAutoNum type="alphaUcPeriod"/>
            </a:pPr>
            <a:r>
              <a:rPr lang="en-US" sz="3600" b="1" dirty="0">
                <a:latin typeface="Open Sans Light" panose="020B0306030504020204" pitchFamily="34" charset="0"/>
                <a:ea typeface="Open Sans Light" panose="020B0306030504020204" pitchFamily="34" charset="0"/>
                <a:cs typeface="Open Sans Light" panose="020B0306030504020204" pitchFamily="34" charset="0"/>
              </a:rPr>
              <a:t>What is the difference of ESS and AP at Wireless configuration ?</a:t>
            </a:r>
          </a:p>
          <a:p>
            <a:pPr marL="914400" indent="-914400">
              <a:buFont typeface="+mj-lt"/>
              <a:buAutoNum type="alphaUcPeriod"/>
            </a:pPr>
            <a:r>
              <a:rPr lang="en-US" sz="3600" b="1" dirty="0">
                <a:latin typeface="Open Sans Light" panose="020B0306030504020204" pitchFamily="34" charset="0"/>
                <a:ea typeface="Open Sans Light" panose="020B0306030504020204" pitchFamily="34" charset="0"/>
                <a:cs typeface="Open Sans Light" panose="020B0306030504020204" pitchFamily="34" charset="0"/>
              </a:rPr>
              <a:t>What is function of ARP? And if ARP down what happened in networks ?</a:t>
            </a:r>
          </a:p>
          <a:p>
            <a:pPr marL="914400" indent="-914400">
              <a:buFont typeface="+mj-lt"/>
              <a:buAutoNum type="alphaUcPeriod"/>
            </a:pPr>
            <a:r>
              <a:rPr lang="en-US" sz="3600" b="1" dirty="0">
                <a:latin typeface="Open Sans Light" panose="020B0306030504020204" pitchFamily="34" charset="0"/>
                <a:ea typeface="Open Sans Light" panose="020B0306030504020204" pitchFamily="34" charset="0"/>
                <a:cs typeface="Open Sans Light" panose="020B0306030504020204" pitchFamily="34" charset="0"/>
              </a:rPr>
              <a:t>What is RARP function ? And what is the connection of RARP and DHCP ?</a:t>
            </a:r>
          </a:p>
          <a:p>
            <a:pPr marL="914400" indent="-914400">
              <a:buFont typeface="+mj-lt"/>
              <a:buAutoNum type="alphaUcPeriod"/>
            </a:pPr>
            <a:endParaRPr lang="en-US" sz="3600" b="1" dirty="0">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1290410836"/>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F959C-4953-F280-8F3E-E96B200A7CE2}"/>
              </a:ext>
            </a:extLst>
          </p:cNvPr>
          <p:cNvSpPr>
            <a:spLocks noGrp="1"/>
          </p:cNvSpPr>
          <p:nvPr>
            <p:ph type="title"/>
          </p:nvPr>
        </p:nvSpPr>
        <p:spPr/>
        <p:txBody>
          <a:bodyPr>
            <a:normAutofit fontScale="90000"/>
          </a:bodyPr>
          <a:lstStyle/>
          <a:p>
            <a:r>
              <a:rPr lang="en-US" dirty="0">
                <a:latin typeface="Open Sans ExtraBold" panose="020B0906030804020204" pitchFamily="34" charset="0"/>
                <a:ea typeface="Open Sans ExtraBold" panose="020B0906030804020204" pitchFamily="34" charset="0"/>
                <a:cs typeface="Open Sans ExtraBold" panose="020B0906030804020204" pitchFamily="34" charset="0"/>
              </a:rPr>
              <a:t>References</a:t>
            </a:r>
            <a:endParaRPr lang="en-US" dirty="0"/>
          </a:p>
        </p:txBody>
      </p:sp>
      <p:sp>
        <p:nvSpPr>
          <p:cNvPr id="3" name="Text Placeholder 2">
            <a:extLst>
              <a:ext uri="{FF2B5EF4-FFF2-40B4-BE49-F238E27FC236}">
                <a16:creationId xmlns:a16="http://schemas.microsoft.com/office/drawing/2014/main" id="{D0ED7752-5A55-6930-C9FA-43D826EC4531}"/>
              </a:ext>
            </a:extLst>
          </p:cNvPr>
          <p:cNvSpPr>
            <a:spLocks noGrp="1"/>
          </p:cNvSpPr>
          <p:nvPr>
            <p:ph type="body" sz="quarter" idx="10"/>
          </p:nvPr>
        </p:nvSpPr>
        <p:spPr/>
        <p:txBody>
          <a:bodyPr/>
          <a:lstStyle/>
          <a:p>
            <a:endParaRPr lang="en-US"/>
          </a:p>
        </p:txBody>
      </p:sp>
      <p:sp>
        <p:nvSpPr>
          <p:cNvPr id="5" name="Content Placeholder 2">
            <a:extLst>
              <a:ext uri="{FF2B5EF4-FFF2-40B4-BE49-F238E27FC236}">
                <a16:creationId xmlns:a16="http://schemas.microsoft.com/office/drawing/2014/main" id="{E6ADE253-2CB8-32FF-CDC2-9DA52CF50C57}"/>
              </a:ext>
            </a:extLst>
          </p:cNvPr>
          <p:cNvSpPr>
            <a:spLocks noGrp="1"/>
          </p:cNvSpPr>
          <p:nvPr>
            <p:ph sz="quarter" idx="11"/>
          </p:nvPr>
        </p:nvSpPr>
        <p:spPr>
          <a:xfrm>
            <a:off x="2916195" y="3603028"/>
            <a:ext cx="19053467" cy="8957939"/>
          </a:xfrm>
        </p:spPr>
        <p:txBody>
          <a:bodyPr>
            <a:noAutofit/>
          </a:bodyPr>
          <a:lstStyle/>
          <a:p>
            <a:pPr algn="just"/>
            <a:r>
              <a:rPr lang="en-US" sz="3200" dirty="0" err="1">
                <a:latin typeface="Open Sans Semibold" panose="020B0706030804020204" pitchFamily="34" charset="0"/>
                <a:ea typeface="Open Sans Semibold" panose="020B0706030804020204" pitchFamily="34" charset="0"/>
                <a:cs typeface="Open Sans Semibold" panose="020B0706030804020204" pitchFamily="34" charset="0"/>
              </a:rPr>
              <a:t>Forouzan</a:t>
            </a:r>
            <a:r>
              <a:rPr lang="en-US" sz="3200" dirty="0">
                <a:latin typeface="Open Sans Semibold" panose="020B0706030804020204" pitchFamily="34" charset="0"/>
                <a:ea typeface="Open Sans Semibold" panose="020B0706030804020204" pitchFamily="34" charset="0"/>
                <a:cs typeface="Open Sans Semibold" panose="020B0706030804020204" pitchFamily="34" charset="0"/>
              </a:rPr>
              <a:t>, B. A. (2021). Data Communications and Networking with TCP/IP Protocol Suite. 6th Ed. New York: McGraw-Hill. ISBN: 978-1-26-436335-3. Chapter 7.</a:t>
            </a:r>
          </a:p>
        </p:txBody>
      </p:sp>
    </p:spTree>
    <p:extLst>
      <p:ext uri="{BB962C8B-B14F-4D97-AF65-F5344CB8AC3E}">
        <p14:creationId xmlns:p14="http://schemas.microsoft.com/office/powerpoint/2010/main" val="2432136159"/>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E48F4F-144E-B982-E51F-76F732804B3A}"/>
              </a:ext>
            </a:extLst>
          </p:cNvPr>
          <p:cNvSpPr>
            <a:spLocks noGrp="1"/>
          </p:cNvSpPr>
          <p:nvPr>
            <p:ph type="body" sz="quarter" idx="1"/>
          </p:nvPr>
        </p:nvSpPr>
        <p:spPr/>
        <p:txBody>
          <a:bodyPr/>
          <a:lstStyle/>
          <a:p>
            <a:endParaRPr lang="en-US"/>
          </a:p>
        </p:txBody>
      </p:sp>
      <p:sp>
        <p:nvSpPr>
          <p:cNvPr id="3" name="Title 2">
            <a:extLst>
              <a:ext uri="{FF2B5EF4-FFF2-40B4-BE49-F238E27FC236}">
                <a16:creationId xmlns:a16="http://schemas.microsoft.com/office/drawing/2014/main" id="{B7D930EC-C957-C09C-7359-7312156E8E93}"/>
              </a:ext>
            </a:extLst>
          </p:cNvPr>
          <p:cNvSpPr>
            <a:spLocks noGrp="1"/>
          </p:cNvSpPr>
          <p:nvPr>
            <p:ph type="title"/>
          </p:nvPr>
        </p:nvSpPr>
        <p:spPr/>
        <p:txBody>
          <a:bodyPr/>
          <a:lstStyle/>
          <a:p>
            <a:r>
              <a:rPr lang="en-US" dirty="0"/>
              <a:t>Thank you</a:t>
            </a:r>
          </a:p>
        </p:txBody>
      </p:sp>
      <p:sp>
        <p:nvSpPr>
          <p:cNvPr id="4" name="Text Placeholder 3">
            <a:extLst>
              <a:ext uri="{FF2B5EF4-FFF2-40B4-BE49-F238E27FC236}">
                <a16:creationId xmlns:a16="http://schemas.microsoft.com/office/drawing/2014/main" id="{FDF18AEA-5401-B692-325F-9E8AD981816E}"/>
              </a:ext>
            </a:extLst>
          </p:cNvPr>
          <p:cNvSpPr>
            <a:spLocks noGrp="1"/>
          </p:cNvSpPr>
          <p:nvPr>
            <p:ph type="body" sz="quarter" idx="10"/>
          </p:nvPr>
        </p:nvSpPr>
        <p:spPr/>
        <p:txBody>
          <a:bodyPr>
            <a:normAutofit lnSpcReduction="10000"/>
          </a:bodyPr>
          <a:lstStyle/>
          <a:p>
            <a:r>
              <a:rPr lang="en-US" dirty="0"/>
              <a:t>December 2024</a:t>
            </a:r>
          </a:p>
        </p:txBody>
      </p:sp>
    </p:spTree>
    <p:extLst>
      <p:ext uri="{BB962C8B-B14F-4D97-AF65-F5344CB8AC3E}">
        <p14:creationId xmlns:p14="http://schemas.microsoft.com/office/powerpoint/2010/main" val="2813413609"/>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2" id="{A9A1C811-4046-44EA-8E0F-7354A0AD2552}" vid="{C3965A57-E83B-4BEA-A297-9AFB7752D311}"/>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ppt binus template</Template>
  <TotalTime>1</TotalTime>
  <Words>2114</Words>
  <Application>Microsoft Office PowerPoint</Application>
  <PresentationFormat>Custom</PresentationFormat>
  <Paragraphs>143</Paragraphs>
  <Slides>25</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5" baseType="lpstr">
      <vt:lpstr>Open Sans ExtraBold</vt:lpstr>
      <vt:lpstr>Arial</vt:lpstr>
      <vt:lpstr>OCRB</vt:lpstr>
      <vt:lpstr>TimesNewRomanPSMT</vt:lpstr>
      <vt:lpstr>TimesNewRomanPS-BoldItalicMT</vt:lpstr>
      <vt:lpstr>Open Sans Semibold</vt:lpstr>
      <vt:lpstr>Open Sans Light</vt:lpstr>
      <vt:lpstr>TimesNewRomanPS-BoldMT</vt:lpstr>
      <vt:lpstr>21_BasicWhite</vt:lpstr>
      <vt:lpstr>Bitmap Image</vt:lpstr>
      <vt:lpstr>COMPUTER NETWORKS SESSION 03</vt:lpstr>
      <vt:lpstr>Learning outcomes</vt:lpstr>
      <vt:lpstr>Outline</vt:lpstr>
      <vt:lpstr>Network layer services</vt:lpstr>
      <vt:lpstr>Network layer services</vt:lpstr>
      <vt:lpstr>Network layer services</vt:lpstr>
      <vt:lpstr>Packet switching</vt:lpstr>
      <vt:lpstr>Network performance</vt:lpstr>
      <vt:lpstr>Network performance</vt:lpstr>
      <vt:lpstr>Network performance</vt:lpstr>
      <vt:lpstr>Network performance</vt:lpstr>
      <vt:lpstr>Network performance</vt:lpstr>
      <vt:lpstr>Network performance</vt:lpstr>
      <vt:lpstr>addressing</vt:lpstr>
      <vt:lpstr>addressing</vt:lpstr>
      <vt:lpstr>addressing</vt:lpstr>
      <vt:lpstr>addressing</vt:lpstr>
      <vt:lpstr>addressing</vt:lpstr>
      <vt:lpstr>addressing</vt:lpstr>
      <vt:lpstr>addressing</vt:lpstr>
      <vt:lpstr>addressing</vt:lpstr>
      <vt:lpstr>ADDRESSING</vt:lpstr>
      <vt:lpstr>Review Questions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Ir. Santoso Budijono, M.M.</dc:creator>
  <cp:lastModifiedBy>Ir. Santoso Budijono, M.M.</cp:lastModifiedBy>
  <cp:revision>1</cp:revision>
  <dcterms:created xsi:type="dcterms:W3CDTF">2024-12-13T12:45:02Z</dcterms:created>
  <dcterms:modified xsi:type="dcterms:W3CDTF">2024-12-13T12:46:45Z</dcterms:modified>
</cp:coreProperties>
</file>