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58" r:id="rId2"/>
    <p:sldId id="259" r:id="rId3"/>
    <p:sldId id="260" r:id="rId4"/>
    <p:sldId id="446" r:id="rId5"/>
    <p:sldId id="459" r:id="rId6"/>
    <p:sldId id="483" r:id="rId7"/>
    <p:sldId id="484" r:id="rId8"/>
    <p:sldId id="476" r:id="rId9"/>
    <p:sldId id="482" r:id="rId10"/>
    <p:sldId id="443" r:id="rId11"/>
    <p:sldId id="444" r:id="rId12"/>
  </p:sldIdLst>
  <p:sldSz cx="24384000" cy="13716000"/>
  <p:notesSz cx="6858000" cy="9144000"/>
  <p:embeddedFontLst>
    <p:embeddedFont>
      <p:font typeface="OCRB" panose="020B0609020202020204" pitchFamily="49" charset="0"/>
      <p:regular r:id="rId14"/>
    </p:embeddedFont>
    <p:embeddedFont>
      <p:font typeface="Open Sans ExtraBold" panose="020B0906030804020204" pitchFamily="34" charset="0"/>
      <p:bold r:id="rId15"/>
      <p:italic r:id="rId16"/>
      <p:boldItalic r:id="rId17"/>
    </p:embeddedFont>
    <p:embeddedFont>
      <p:font typeface="Open Sans Light" panose="020B0306030504020204" pitchFamily="34" charset="0"/>
      <p:regular r:id="rId18"/>
      <p:italic r:id="rId19"/>
    </p:embeddedFont>
    <p:embeddedFont>
      <p:font typeface="Open Sans Semibold" panose="020B0706030804020204" pitchFamily="34" charset="0"/>
      <p:regular r:id="rId20"/>
      <p:bold r:id="rId21"/>
      <p:italic r:id="rId22"/>
      <p:boldItalic r:id="rId23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6197"/>
  </p:normalViewPr>
  <p:slideViewPr>
    <p:cSldViewPr snapToGrid="0" snapToObjects="1">
      <p:cViewPr varScale="1">
        <p:scale>
          <a:sx n="41" d="100"/>
          <a:sy n="41" d="100"/>
        </p:scale>
        <p:origin x="490" y="7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Untuk</a:t>
            </a:r>
            <a:r>
              <a:rPr lang="en-US" dirty="0"/>
              <a:t> classful, Mask / </a:t>
            </a:r>
            <a:r>
              <a:rPr lang="en-US" dirty="0" err="1"/>
              <a:t>subnetmask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fix </a:t>
            </a:r>
            <a:r>
              <a:rPr lang="en-US" dirty="0" err="1"/>
              <a:t>sesuai</a:t>
            </a:r>
            <a:r>
              <a:rPr lang="en-US" dirty="0"/>
              <a:t> range IP </a:t>
            </a:r>
            <a:r>
              <a:rPr lang="en-US" dirty="0" err="1"/>
              <a:t>nya</a:t>
            </a:r>
            <a:endParaRPr lang="en-US" dirty="0"/>
          </a:p>
          <a:p>
            <a:r>
              <a:rPr lang="en-US" dirty="0"/>
              <a:t>Class A  </a:t>
            </a:r>
            <a:r>
              <a:rPr lang="en-US" dirty="0">
                <a:sym typeface="Wingdings" panose="05000000000000000000" pitchFamily="2" charset="2"/>
              </a:rPr>
              <a:t>     </a:t>
            </a:r>
            <a:r>
              <a:rPr lang="en-US" dirty="0"/>
              <a:t>0.0.0.0 – 127.255.255.255  </a:t>
            </a:r>
            <a:r>
              <a:rPr lang="en-US" dirty="0" err="1"/>
              <a:t>NetMask</a:t>
            </a:r>
            <a:r>
              <a:rPr lang="en-US" dirty="0"/>
              <a:t> = 255.0.0.0 atau /8</a:t>
            </a:r>
          </a:p>
          <a:p>
            <a:r>
              <a:rPr lang="en-US" dirty="0"/>
              <a:t>Class B  </a:t>
            </a:r>
            <a:r>
              <a:rPr lang="en-US" dirty="0">
                <a:sym typeface="Wingdings" panose="05000000000000000000" pitchFamily="2" charset="2"/>
              </a:rPr>
              <a:t> 128.0.0.0  - 191.255.255.255  </a:t>
            </a:r>
            <a:r>
              <a:rPr lang="en-US" dirty="0" err="1">
                <a:sym typeface="Wingdings" panose="05000000000000000000" pitchFamily="2" charset="2"/>
              </a:rPr>
              <a:t>NetMask</a:t>
            </a:r>
            <a:r>
              <a:rPr lang="en-US" dirty="0">
                <a:sym typeface="Wingdings" panose="05000000000000000000" pitchFamily="2" charset="2"/>
              </a:rPr>
              <a:t> = 255.255.0.0 atau /16</a:t>
            </a:r>
          </a:p>
          <a:p>
            <a:r>
              <a:rPr lang="en-US" dirty="0">
                <a:sym typeface="Wingdings" panose="05000000000000000000" pitchFamily="2" charset="2"/>
              </a:rPr>
              <a:t>Class C   192.0.0.0 –  223.255.255.255  </a:t>
            </a:r>
            <a:r>
              <a:rPr lang="en-US" dirty="0" err="1">
                <a:sym typeface="Wingdings" panose="05000000000000000000" pitchFamily="2" charset="2"/>
              </a:rPr>
              <a:t>NetMask</a:t>
            </a:r>
            <a:r>
              <a:rPr lang="en-US" dirty="0">
                <a:sym typeface="Wingdings" panose="05000000000000000000" pitchFamily="2" charset="2"/>
              </a:rPr>
              <a:t> = 255.255.255.0 atau /24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Untuk</a:t>
            </a:r>
            <a:r>
              <a:rPr lang="en-US" dirty="0">
                <a:sym typeface="Wingdings" panose="05000000000000000000" pitchFamily="2" charset="2"/>
              </a:rPr>
              <a:t> Classless Mask dapat </a:t>
            </a:r>
            <a:r>
              <a:rPr lang="en-US" dirty="0" err="1">
                <a:sym typeface="Wingdings" panose="05000000000000000000" pitchFamily="2" charset="2"/>
              </a:rPr>
              <a:t>bervariasi</a:t>
            </a:r>
            <a:r>
              <a:rPr lang="en-US" dirty="0">
                <a:sym typeface="Wingdings" panose="05000000000000000000" pitchFamily="2" charset="2"/>
              </a:rPr>
              <a:t> tidak </a:t>
            </a:r>
            <a:r>
              <a:rPr lang="en-US" dirty="0" err="1">
                <a:sym typeface="Wingdings" panose="05000000000000000000" pitchFamily="2" charset="2"/>
              </a:rPr>
              <a:t>selalu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bergantung</a:t>
            </a:r>
            <a:r>
              <a:rPr lang="en-US" dirty="0">
                <a:sym typeface="Wingdings" panose="05000000000000000000" pitchFamily="2" charset="2"/>
              </a:rPr>
              <a:t> pada Class </a:t>
            </a:r>
            <a:r>
              <a:rPr lang="en-US" dirty="0" err="1">
                <a:sym typeface="Wingdings" panose="05000000000000000000" pitchFamily="2" charset="2"/>
              </a:rPr>
              <a:t>dari</a:t>
            </a:r>
            <a:r>
              <a:rPr lang="en-US" dirty="0">
                <a:sym typeface="Wingdings" panose="05000000000000000000" pitchFamily="2" charset="2"/>
              </a:rPr>
              <a:t> IP address </a:t>
            </a:r>
            <a:r>
              <a:rPr lang="en-US" dirty="0" err="1">
                <a:sym typeface="Wingdings" panose="05000000000000000000" pitchFamily="2" charset="2"/>
              </a:rPr>
              <a:t>nya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Bila </a:t>
            </a:r>
            <a:r>
              <a:rPr lang="en-US" dirty="0" err="1">
                <a:sym typeface="Wingdings" panose="05000000000000000000" pitchFamily="2" charset="2"/>
              </a:rPr>
              <a:t>sebuah</a:t>
            </a:r>
            <a:r>
              <a:rPr lang="en-US" dirty="0">
                <a:sym typeface="Wingdings" panose="05000000000000000000" pitchFamily="2" charset="2"/>
              </a:rPr>
              <a:t> IP address tidak </a:t>
            </a:r>
            <a:r>
              <a:rPr lang="en-US" dirty="0" err="1">
                <a:sym typeface="Wingdings" panose="05000000000000000000" pitchFamily="2" charset="2"/>
              </a:rPr>
              <a:t>disertakan</a:t>
            </a:r>
            <a:r>
              <a:rPr lang="en-US" dirty="0">
                <a:sym typeface="Wingdings" panose="05000000000000000000" pitchFamily="2" charset="2"/>
              </a:rPr>
              <a:t> subnet mask atau CIDR </a:t>
            </a:r>
            <a:r>
              <a:rPr lang="en-US" dirty="0" err="1">
                <a:sym typeface="Wingdings" panose="05000000000000000000" pitchFamily="2" charset="2"/>
              </a:rPr>
              <a:t>nya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maka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sistem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akan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mengambil</a:t>
            </a:r>
            <a:r>
              <a:rPr lang="en-US" dirty="0">
                <a:sym typeface="Wingdings" panose="05000000000000000000" pitchFamily="2" charset="2"/>
              </a:rPr>
              <a:t> subnet mask atau CIDR default </a:t>
            </a:r>
            <a:r>
              <a:rPr lang="en-US" dirty="0" err="1">
                <a:sym typeface="Wingdings" panose="05000000000000000000" pitchFamily="2" charset="2"/>
              </a:rPr>
              <a:t>sesuai</a:t>
            </a:r>
            <a:r>
              <a:rPr lang="en-US" dirty="0">
                <a:sym typeface="Wingdings" panose="05000000000000000000" pitchFamily="2" charset="2"/>
              </a:rPr>
              <a:t> range Classful </a:t>
            </a:r>
            <a:r>
              <a:rPr lang="en-US" dirty="0" err="1">
                <a:sym typeface="Wingdings" panose="05000000000000000000" pitchFamily="2" charset="2"/>
              </a:rPr>
              <a:t>dari</a:t>
            </a:r>
            <a:r>
              <a:rPr lang="en-US" dirty="0">
                <a:sym typeface="Wingdings" panose="05000000000000000000" pitchFamily="2" charset="2"/>
              </a:rPr>
              <a:t> IP address </a:t>
            </a:r>
            <a:r>
              <a:rPr lang="en-US" dirty="0" err="1">
                <a:sym typeface="Wingdings" panose="05000000000000000000" pitchFamily="2" charset="2"/>
              </a:rPr>
              <a:t>tersebut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224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242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IP Addressing Practice classless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NETWORKS</a:t>
            </a:r>
            <a:br>
              <a:rPr lang="en-US" dirty="0"/>
            </a:br>
            <a:r>
              <a:rPr lang="en-US" dirty="0"/>
              <a:t>SESSION 05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Santoso Budijono</a:t>
            </a:r>
          </a:p>
        </p:txBody>
      </p:sp>
    </p:spTree>
    <p:extLst>
      <p:ext uri="{BB962C8B-B14F-4D97-AF65-F5344CB8AC3E}">
        <p14:creationId xmlns:p14="http://schemas.microsoft.com/office/powerpoint/2010/main" val="404879339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B631-69A5-F762-9353-04A0C5FB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87F28-4EF1-8898-DF4B-2EB677F1FA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C1A27-A89D-104D-DA0B-474E66F0BD0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b="1" i="0" u="none" strike="noStrike" kern="1200" dirty="0">
                <a:solidFill>
                  <a:srgbClr val="00000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2: Explain basic concepts of network</a:t>
            </a:r>
          </a:p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b="1" kern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3: Design network environment using TCP/IP Model</a:t>
            </a:r>
            <a:endParaRPr lang="en-US" sz="3200" b="1" i="0" u="none" strike="noStrike" dirty="0"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37665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CCEA-4B7A-0083-FFDD-8BB7177B5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FDC97-E3CE-649A-13A1-EEF0E45FA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D977A-AA13-C477-CA53-BAEB98C2F41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3888018"/>
            <a:ext cx="13714940" cy="7955924"/>
          </a:xfrm>
        </p:spPr>
        <p:txBody>
          <a:bodyPr>
            <a:noAutofit/>
          </a:bodyPr>
          <a:lstStyle/>
          <a:p>
            <a:pPr marL="9144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nl-NL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Classfull vs Classless</a:t>
            </a:r>
          </a:p>
          <a:p>
            <a:pPr marL="9144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nl-NL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Design Subnetting</a:t>
            </a:r>
          </a:p>
          <a:p>
            <a:pPr marL="9144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59830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6006-CF9B-5801-FA10-206E5CC0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Classful &amp; classless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2499E-78B9-5EEA-7ABC-F0630F30FC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39CD798-DB3B-D58A-D237-0CE9EB0B1756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239883" y="4305294"/>
            <a:ext cx="9533444" cy="6972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E1F3D4-E813-E02C-63BF-89D0B9032FB2}"/>
              </a:ext>
            </a:extLst>
          </p:cNvPr>
          <p:cNvSpPr txBox="1"/>
          <p:nvPr/>
        </p:nvSpPr>
        <p:spPr>
          <a:xfrm>
            <a:off x="2167377" y="3718860"/>
            <a:ext cx="953344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002060"/>
                </a:solidFill>
              </a:rPr>
              <a:t>CLASSFUL ADDRESSING (A, B, C, D, E)</a:t>
            </a:r>
            <a:endParaRPr kumimoji="0" lang="en-US" sz="3200" b="1" i="0" u="none" strike="noStrike" cap="none" spc="0" normalizeH="0" baseline="0" dirty="0">
              <a:ln>
                <a:noFill/>
              </a:ln>
              <a:solidFill>
                <a:srgbClr val="00206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843503-591D-2786-DC53-6E9753CFCC4E}"/>
              </a:ext>
            </a:extLst>
          </p:cNvPr>
          <p:cNvSpPr txBox="1"/>
          <p:nvPr/>
        </p:nvSpPr>
        <p:spPr>
          <a:xfrm>
            <a:off x="11700821" y="3710259"/>
            <a:ext cx="9533444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b="1" dirty="0">
                <a:solidFill>
                  <a:srgbClr val="002060"/>
                </a:solidFill>
              </a:rPr>
              <a:t>CLASSLESS ADDRESSING using CIDR</a:t>
            </a:r>
            <a:endParaRPr kumimoji="0" lang="en-US" sz="3200" b="1" i="0" u="none" strike="noStrike" cap="none" spc="0" normalizeH="0" baseline="0" dirty="0">
              <a:ln>
                <a:noFill/>
              </a:ln>
              <a:solidFill>
                <a:srgbClr val="00206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DBBE2-8E63-F998-AD32-0004016411CA}"/>
              </a:ext>
            </a:extLst>
          </p:cNvPr>
          <p:cNvSpPr txBox="1"/>
          <p:nvPr/>
        </p:nvSpPr>
        <p:spPr>
          <a:xfrm>
            <a:off x="15245543" y="4551956"/>
            <a:ext cx="1097280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/8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1994A4-E693-6CB8-3426-7BCC2AD52477}"/>
              </a:ext>
            </a:extLst>
          </p:cNvPr>
          <p:cNvSpPr txBox="1"/>
          <p:nvPr/>
        </p:nvSpPr>
        <p:spPr>
          <a:xfrm>
            <a:off x="15245543" y="5984208"/>
            <a:ext cx="1097280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/16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B9029E-2B80-732B-4B2D-5D3397BD3ABA}"/>
              </a:ext>
            </a:extLst>
          </p:cNvPr>
          <p:cNvSpPr txBox="1"/>
          <p:nvPr/>
        </p:nvSpPr>
        <p:spPr>
          <a:xfrm>
            <a:off x="15281829" y="7416460"/>
            <a:ext cx="1097280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/24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6EC0BA-C4D4-B164-5CBD-9EEDF163D63F}"/>
              </a:ext>
            </a:extLst>
          </p:cNvPr>
          <p:cNvCxnSpPr/>
          <p:nvPr/>
        </p:nvCxnSpPr>
        <p:spPr>
          <a:xfrm>
            <a:off x="12192000" y="5037513"/>
            <a:ext cx="2671156" cy="0"/>
          </a:xfrm>
          <a:prstGeom prst="straightConnector1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369ADD1-841A-CB35-63E8-5515D5FE7FF6}"/>
              </a:ext>
            </a:extLst>
          </p:cNvPr>
          <p:cNvCxnSpPr/>
          <p:nvPr/>
        </p:nvCxnSpPr>
        <p:spPr>
          <a:xfrm>
            <a:off x="12192000" y="6353695"/>
            <a:ext cx="2671156" cy="0"/>
          </a:xfrm>
          <a:prstGeom prst="straightConnector1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06EE4E-511A-78FB-EE36-DE9AB01850A0}"/>
              </a:ext>
            </a:extLst>
          </p:cNvPr>
          <p:cNvCxnSpPr/>
          <p:nvPr/>
        </p:nvCxnSpPr>
        <p:spPr>
          <a:xfrm>
            <a:off x="12192000" y="7791509"/>
            <a:ext cx="2671156" cy="0"/>
          </a:xfrm>
          <a:prstGeom prst="straightConnector1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ADFDD1-4508-4162-D31E-3910B4FE971A}"/>
              </a:ext>
            </a:extLst>
          </p:cNvPr>
          <p:cNvSpPr txBox="1"/>
          <p:nvPr/>
        </p:nvSpPr>
        <p:spPr>
          <a:xfrm>
            <a:off x="2510444" y="12181466"/>
            <a:ext cx="953344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Classful addressing – 1 group of network can not be divided into smaller networks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C74FAE-9AFB-FD62-2959-3E0634E3C681}"/>
              </a:ext>
            </a:extLst>
          </p:cNvPr>
          <p:cNvSpPr txBox="1"/>
          <p:nvPr/>
        </p:nvSpPr>
        <p:spPr>
          <a:xfrm>
            <a:off x="12604866" y="12181466"/>
            <a:ext cx="9533444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Classless addressing – 1 group of network can be divided into smaller networks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8E5D46-CB36-04C6-8CE3-031F216158A8}"/>
              </a:ext>
            </a:extLst>
          </p:cNvPr>
          <p:cNvSpPr txBox="1"/>
          <p:nvPr/>
        </p:nvSpPr>
        <p:spPr>
          <a:xfrm>
            <a:off x="16467543" y="4703203"/>
            <a:ext cx="5056638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Default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</a:rPr>
              <a:t>Mask for 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Class 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1A92B9-5355-3B99-0AF4-0A3073ADDB46}"/>
              </a:ext>
            </a:extLst>
          </p:cNvPr>
          <p:cNvSpPr txBox="1"/>
          <p:nvPr/>
        </p:nvSpPr>
        <p:spPr>
          <a:xfrm>
            <a:off x="16467543" y="6089371"/>
            <a:ext cx="5056638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Default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</a:rPr>
              <a:t>Mask for 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Class B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626531-B30F-C7CF-CB73-E3CA6AF63529}"/>
              </a:ext>
            </a:extLst>
          </p:cNvPr>
          <p:cNvSpPr txBox="1"/>
          <p:nvPr/>
        </p:nvSpPr>
        <p:spPr>
          <a:xfrm>
            <a:off x="16467543" y="7526196"/>
            <a:ext cx="5056638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Default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</a:rPr>
              <a:t>Mask for </a:t>
            </a: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Class C </a:t>
            </a:r>
          </a:p>
        </p:txBody>
      </p:sp>
    </p:spTree>
    <p:extLst>
      <p:ext uri="{BB962C8B-B14F-4D97-AF65-F5344CB8AC3E}">
        <p14:creationId xmlns:p14="http://schemas.microsoft.com/office/powerpoint/2010/main" val="27278436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6006-CF9B-5801-FA10-206E5CC0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subnetting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2499E-78B9-5EEA-7ABC-F0630F30FC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4EFE17-87F2-D2BE-D35E-2F25EFAA02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91657" y="3393735"/>
            <a:ext cx="19493823" cy="3246338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Designing Subnets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subnetworks in a network should be carefully designed to enable the routing of packets.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assume the total number of addresses granted to the organization is </a:t>
            </a:r>
            <a:r>
              <a:rPr lang="en-US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</a:t>
            </a: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the prefix length is </a:t>
            </a:r>
            <a:r>
              <a:rPr lang="en-US" sz="3200" b="1" dirty="0">
                <a:solidFill>
                  <a:srgbClr val="0070C0"/>
                </a:solidFill>
                <a:effectLst/>
                <a:highlight>
                  <a:srgbClr val="FFFF00"/>
                </a:highligh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</a:t>
            </a: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the assigned number of addresses to each subnetwork is </a:t>
            </a:r>
            <a:r>
              <a:rPr lang="en-US" sz="3200" b="1" dirty="0" err="1">
                <a:solidFill>
                  <a:srgbClr val="C00000"/>
                </a:solidFill>
                <a:effectLst/>
                <a:highlight>
                  <a:srgbClr val="FFFF00"/>
                </a:highligh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</a:t>
            </a:r>
            <a:r>
              <a:rPr lang="en-US" sz="3200" b="1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sub</a:t>
            </a: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and the prefix length for each subnetwork is </a:t>
            </a:r>
            <a:r>
              <a:rPr lang="en-US" sz="3200" b="1" dirty="0" err="1">
                <a:solidFill>
                  <a:srgbClr val="0070C0"/>
                </a:solidFill>
                <a:effectLst/>
                <a:highlight>
                  <a:srgbClr val="FFFF00"/>
                </a:highligh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</a:t>
            </a:r>
            <a:r>
              <a:rPr lang="en-US" sz="3200" b="1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sub</a:t>
            </a: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 </a:t>
            </a:r>
          </a:p>
          <a:p>
            <a:pPr marL="0" indent="0" algn="just">
              <a:lnSpc>
                <a:spcPct val="80000"/>
              </a:lnSpc>
              <a:spcBef>
                <a:spcPct val="0"/>
              </a:spcBef>
              <a:buNone/>
            </a:pPr>
            <a:endParaRPr lang="en-US" sz="44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F8F557-F1D6-4416-DA45-C5511869165E}"/>
              </a:ext>
            </a:extLst>
          </p:cNvPr>
          <p:cNvSpPr txBox="1"/>
          <p:nvPr/>
        </p:nvSpPr>
        <p:spPr>
          <a:xfrm>
            <a:off x="2827473" y="6858000"/>
            <a:ext cx="18729053" cy="41654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Then the following steps need to be carefully followed to guarantee the proper operation of the subnetworks.</a:t>
            </a:r>
          </a:p>
          <a:p>
            <a:pPr marL="457200" marR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number of addresses in each subnetwork should be a power of 2.</a:t>
            </a:r>
          </a:p>
          <a:p>
            <a:pPr marL="457200" marR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prefix length for each subnetwork should be found using the following formula: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 err="1">
                <a:solidFill>
                  <a:srgbClr val="0070C0"/>
                </a:solidFill>
                <a:effectLst/>
                <a:highlight>
                  <a:srgbClr val="FFFF00"/>
                </a:highligh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</a:t>
            </a:r>
            <a:r>
              <a:rPr lang="en-US" sz="3200" b="1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sub</a:t>
            </a: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= 32 − log</a:t>
            </a:r>
            <a:r>
              <a:rPr lang="en-US" sz="3200" b="1" baseline="-250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</a:t>
            </a: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US" sz="3200" b="1" dirty="0" err="1">
                <a:solidFill>
                  <a:srgbClr val="C00000"/>
                </a:solidFill>
                <a:effectLst/>
                <a:highlight>
                  <a:srgbClr val="FFFF00"/>
                </a:highligh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</a:t>
            </a:r>
            <a:r>
              <a:rPr lang="en-US" sz="3200" b="1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sub</a:t>
            </a:r>
            <a:endParaRPr lang="en-US" sz="3200" b="1" dirty="0"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57200" marR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starting address in each subnetwork should be divisible by the number of addresses in that subnetwork. This can be achieved if we first assign addresses to larger subnetworks.</a:t>
            </a:r>
          </a:p>
        </p:txBody>
      </p:sp>
    </p:spTree>
    <p:extLst>
      <p:ext uri="{BB962C8B-B14F-4D97-AF65-F5344CB8AC3E}">
        <p14:creationId xmlns:p14="http://schemas.microsoft.com/office/powerpoint/2010/main" val="261114588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6006-CF9B-5801-FA10-206E5CC0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subnetting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2499E-78B9-5EEA-7ABC-F0630F30FC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417A4A-4277-A0B0-FCC4-1D84EE65DE8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331319" y="3274950"/>
            <a:ext cx="19930166" cy="2016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 organization is granted a block of addresses with the beginning address 14.24.74.0/24. The organization needs to have three subblocks of addresses to use in its three subnets: one subblock of 10 addresses, one subblock of 60 addresses, and one subblock of 120 addresses. Design the subblocks.</a:t>
            </a:r>
          </a:p>
          <a:p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33AA82-BF61-0638-6256-95BED18C78C2}"/>
              </a:ext>
            </a:extLst>
          </p:cNvPr>
          <p:cNvSpPr txBox="1"/>
          <p:nvPr/>
        </p:nvSpPr>
        <p:spPr>
          <a:xfrm>
            <a:off x="4325150" y="6769930"/>
            <a:ext cx="2759825" cy="471924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14.24.74.0 /24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49062F-7A6E-0AFE-ED62-C480CF670C7C}"/>
              </a:ext>
            </a:extLst>
          </p:cNvPr>
          <p:cNvSpPr txBox="1"/>
          <p:nvPr/>
        </p:nvSpPr>
        <p:spPr>
          <a:xfrm>
            <a:off x="3381037" y="8970296"/>
            <a:ext cx="2072112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AD144-3EDD-ACC3-1ACE-D9755BB9FC3B}"/>
              </a:ext>
            </a:extLst>
          </p:cNvPr>
          <p:cNvSpPr txBox="1"/>
          <p:nvPr/>
        </p:nvSpPr>
        <p:spPr>
          <a:xfrm>
            <a:off x="8448260" y="5666416"/>
            <a:ext cx="2759825" cy="471924"/>
          </a:xfrm>
          <a:prstGeom prst="rect">
            <a:avLst/>
          </a:prstGeom>
          <a:noFill/>
          <a:ln w="952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14.24.74.x /xx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1E3262-8CD6-95A3-7AD5-5794EF88A1C2}"/>
              </a:ext>
            </a:extLst>
          </p:cNvPr>
          <p:cNvSpPr txBox="1"/>
          <p:nvPr/>
        </p:nvSpPr>
        <p:spPr>
          <a:xfrm>
            <a:off x="8445488" y="6769930"/>
            <a:ext cx="2759825" cy="471924"/>
          </a:xfrm>
          <a:prstGeom prst="rect">
            <a:avLst/>
          </a:prstGeom>
          <a:noFill/>
          <a:ln w="952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14.24.74.y /</a:t>
            </a:r>
            <a:r>
              <a:rPr kumimoji="0" lang="en-US" sz="2400" b="1" i="0" u="none" strike="noStrike" cap="none" spc="0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yy</a:t>
            </a:r>
            <a:endParaRPr kumimoji="0" lang="en-US" sz="2400" b="1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73736C-BABC-841A-708B-AC88555631C7}"/>
              </a:ext>
            </a:extLst>
          </p:cNvPr>
          <p:cNvSpPr txBox="1"/>
          <p:nvPr/>
        </p:nvSpPr>
        <p:spPr>
          <a:xfrm>
            <a:off x="8448260" y="7842942"/>
            <a:ext cx="2759825" cy="471924"/>
          </a:xfrm>
          <a:prstGeom prst="rect">
            <a:avLst/>
          </a:prstGeom>
          <a:noFill/>
          <a:ln w="952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14.24.74.z /</a:t>
            </a:r>
            <a:r>
              <a:rPr kumimoji="0" lang="en-US" sz="2400" b="1" i="0" u="none" strike="noStrike" cap="none" spc="0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zz</a:t>
            </a:r>
            <a:endParaRPr kumimoji="0" lang="en-US" sz="2400" b="1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F75DC8-B8D1-D040-86FC-EAAAF67A9CE6}"/>
              </a:ext>
            </a:extLst>
          </p:cNvPr>
          <p:cNvCxnSpPr/>
          <p:nvPr/>
        </p:nvCxnSpPr>
        <p:spPr>
          <a:xfrm flipV="1">
            <a:off x="7248698" y="5978369"/>
            <a:ext cx="980902" cy="930123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165F72-97E1-15B8-0F46-8F93934862F2}"/>
              </a:ext>
            </a:extLst>
          </p:cNvPr>
          <p:cNvCxnSpPr/>
          <p:nvPr/>
        </p:nvCxnSpPr>
        <p:spPr>
          <a:xfrm>
            <a:off x="7248698" y="7005892"/>
            <a:ext cx="980902" cy="0"/>
          </a:xfrm>
          <a:prstGeom prst="straightConnector1">
            <a:avLst/>
          </a:prstGeom>
          <a:noFill/>
          <a:ln w="57150" cap="flat">
            <a:solidFill>
              <a:schemeClr val="bg2">
                <a:lumMod val="1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0E7872-A472-18B4-EFC1-756517F3E8DE}"/>
              </a:ext>
            </a:extLst>
          </p:cNvPr>
          <p:cNvCxnSpPr>
            <a:cxnSpLocks/>
          </p:cNvCxnSpPr>
          <p:nvPr/>
        </p:nvCxnSpPr>
        <p:spPr>
          <a:xfrm>
            <a:off x="7248698" y="7144454"/>
            <a:ext cx="980902" cy="698488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B8465B2-D030-20D1-997B-014CEBB899F6}"/>
              </a:ext>
            </a:extLst>
          </p:cNvPr>
          <p:cNvSpPr txBox="1"/>
          <p:nvPr/>
        </p:nvSpPr>
        <p:spPr>
          <a:xfrm>
            <a:off x="3381038" y="9432793"/>
            <a:ext cx="19930166" cy="22769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rgbClr val="0070C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With default </a:t>
            </a:r>
            <a:r>
              <a:rPr lang="en-US" sz="3200" b="1" dirty="0">
                <a:solidFill>
                  <a:srgbClr val="0070C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Class C of this IP Address. </a:t>
            </a:r>
            <a:r>
              <a:rPr lang="en-US" sz="3200" b="1" dirty="0">
                <a:solidFill>
                  <a:srgbClr val="0070C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There are 2</a:t>
            </a:r>
            <a:r>
              <a:rPr lang="en-US" sz="3200" b="1" baseline="30000" dirty="0">
                <a:solidFill>
                  <a:srgbClr val="0070C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32–24</a:t>
            </a:r>
            <a:r>
              <a:rPr lang="en-US" sz="3200" b="1" dirty="0">
                <a:solidFill>
                  <a:srgbClr val="0070C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= 2</a:t>
            </a:r>
            <a:r>
              <a:rPr lang="en-US" sz="3200" b="1" baseline="30000" dirty="0">
                <a:solidFill>
                  <a:srgbClr val="0070C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8</a:t>
            </a:r>
            <a:r>
              <a:rPr lang="en-US" sz="3200" b="1" dirty="0">
                <a:solidFill>
                  <a:srgbClr val="0070C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= 256 addresses in this block. </a:t>
            </a:r>
            <a:br>
              <a:rPr lang="en-US" sz="3200" b="1" dirty="0">
                <a:solidFill>
                  <a:srgbClr val="0070C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dirty="0">
                <a:solidFill>
                  <a:srgbClr val="0070C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first address is 14.24.74.0/24; the last address is 14.24.74.255/24. 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rgbClr val="0070C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 satisfy the third requirement, we assign addresses to subblocks, </a:t>
            </a:r>
            <a:r>
              <a:rPr lang="en-US" sz="3200" b="1" dirty="0">
                <a:solidFill>
                  <a:srgbClr val="0070C0"/>
                </a:solidFill>
                <a:effectLst/>
                <a:highlight>
                  <a:srgbClr val="FFFF00"/>
                </a:highligh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starting with the largest and ending with the smallest one.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5E3302-15D8-F0F0-76C7-028FBF23C950}"/>
              </a:ext>
            </a:extLst>
          </p:cNvPr>
          <p:cNvSpPr txBox="1"/>
          <p:nvPr/>
        </p:nvSpPr>
        <p:spPr>
          <a:xfrm>
            <a:off x="11553867" y="7856575"/>
            <a:ext cx="2509466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120 addresses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5639AC-9D81-34D6-7B99-AFF3B4C3825C}"/>
              </a:ext>
            </a:extLst>
          </p:cNvPr>
          <p:cNvSpPr txBox="1"/>
          <p:nvPr/>
        </p:nvSpPr>
        <p:spPr>
          <a:xfrm>
            <a:off x="11553867" y="6802743"/>
            <a:ext cx="2509466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60 addresses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030228-7184-BBA0-7576-38953B8FF2A5}"/>
              </a:ext>
            </a:extLst>
          </p:cNvPr>
          <p:cNvSpPr txBox="1"/>
          <p:nvPr/>
        </p:nvSpPr>
        <p:spPr>
          <a:xfrm>
            <a:off x="11553867" y="5666416"/>
            <a:ext cx="2509466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1</a:t>
            </a: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0 addresses</a:t>
            </a:r>
          </a:p>
        </p:txBody>
      </p:sp>
    </p:spTree>
    <p:extLst>
      <p:ext uri="{BB962C8B-B14F-4D97-AF65-F5344CB8AC3E}">
        <p14:creationId xmlns:p14="http://schemas.microsoft.com/office/powerpoint/2010/main" val="218346111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E692B-B9F5-5758-23F3-486AA2247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subnetting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9C695-B38B-AF83-0153-2E8FA21160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05503-A2F0-B535-4132-E3A0E394E1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14153" y="3292686"/>
            <a:ext cx="14464145" cy="2845292"/>
          </a:xfrm>
        </p:spPr>
        <p:txBody>
          <a:bodyPr>
            <a:normAutofit/>
          </a:bodyPr>
          <a:lstStyle/>
          <a:p>
            <a:pPr marL="514350" indent="-514350">
              <a:buSzPct val="113000"/>
              <a:buFont typeface="+mj-lt"/>
              <a:buAutoNum type="alphaLcParenR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number of addresses in the largest subblock, 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which requires 120 addresses, 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 Is not a power of 2. 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allocate 128 addresses (2</a:t>
            </a:r>
            <a:r>
              <a:rPr lang="en-US" sz="2800" b="1" baseline="30000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7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 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subnet mask for this subnet can be found as n1 = 32 − log</a:t>
            </a:r>
            <a:r>
              <a:rPr lang="en-US" sz="2800" b="1" baseline="30000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(128) = 32 – 7 = 25. 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first address in this block is 14.24.74.0/25; the last address is 14.24.74.127/25.</a:t>
            </a:r>
          </a:p>
          <a:p>
            <a:pPr marL="742950" indent="-742950">
              <a:buSzPct val="113000"/>
              <a:buFont typeface="+mj-lt"/>
              <a:buAutoNum type="alphaLcParenR"/>
            </a:pP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86FC013-EE37-2EC2-F2C2-C1D53246D8FB}"/>
              </a:ext>
            </a:extLst>
          </p:cNvPr>
          <p:cNvSpPr txBox="1">
            <a:spLocks/>
          </p:cNvSpPr>
          <p:nvPr/>
        </p:nvSpPr>
        <p:spPr>
          <a:xfrm>
            <a:off x="1014153" y="6290378"/>
            <a:ext cx="15062662" cy="297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514350" indent="-514350">
              <a:buSzPct val="113000"/>
              <a:buFont typeface="+mj-lt"/>
              <a:buAutoNum type="alphaLcParenR" startAt="2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number of addresses in the second largest subblock, 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which requires 60 addresses, 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 Is not a power of 2. 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allocate 64 addresses (2</a:t>
            </a:r>
            <a:r>
              <a:rPr lang="en-US" sz="2800" b="1" baseline="300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6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 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subnet mask for this subnet can be found as n1 = 32 − log</a:t>
            </a:r>
            <a:r>
              <a:rPr lang="en-US" sz="2800" b="1" baseline="300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(64) = 32 – 6 = 26.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Continuing  first group that 14.24.74.0 /25 until 14.24.74.127 /25.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first address in this block is 14.24.74.128 /26; the last address is 14.24.74.191 /26.</a:t>
            </a:r>
          </a:p>
          <a:p>
            <a:pPr marL="742950" indent="-742950">
              <a:buSzPct val="113000"/>
              <a:buFont typeface="+mj-lt"/>
              <a:buAutoNum type="alphaLcParenR" startAt="2"/>
            </a:pP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7D460E3-5D97-7651-D53B-F7095130A65D}"/>
              </a:ext>
            </a:extLst>
          </p:cNvPr>
          <p:cNvSpPr txBox="1">
            <a:spLocks/>
          </p:cNvSpPr>
          <p:nvPr/>
        </p:nvSpPr>
        <p:spPr>
          <a:xfrm>
            <a:off x="1014154" y="9518488"/>
            <a:ext cx="15179040" cy="2845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 lnSpcReduction="10000"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514350" indent="-514350">
              <a:buSzPct val="113000"/>
              <a:buFont typeface="+mj-lt"/>
              <a:buAutoNum type="alphaLcParenR" startAt="3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number of addresses in the smallest subblock, 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which requires 10 addresses, 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 Is not a power of 2. 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allocate 16 addresses (2</a:t>
            </a:r>
            <a:r>
              <a:rPr lang="en-US" sz="2800" b="1" baseline="300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4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 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subnet mask for this subnet can be found as n1 = 32 − log</a:t>
            </a:r>
            <a:r>
              <a:rPr lang="en-US" sz="2800" b="1" baseline="30000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2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(16) = 32 – 4 = 28.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Continuing  first group that 14.24.74.128 /26 until 14.24.74.191 /26.</a:t>
            </a:r>
            <a:b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first address in this block is 14.24.74.192 /28; the last address is 14.24.74.208 /28.</a:t>
            </a:r>
          </a:p>
          <a:p>
            <a:pPr marL="742950" indent="-742950">
              <a:buSzPct val="113000"/>
              <a:buFont typeface="+mj-lt"/>
              <a:buAutoNum type="alphaLcParenR" startAt="3"/>
            </a:pPr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EC5BC3-7834-E588-1218-BFDFEFEC9E54}"/>
              </a:ext>
            </a:extLst>
          </p:cNvPr>
          <p:cNvGrpSpPr/>
          <p:nvPr/>
        </p:nvGrpSpPr>
        <p:grpSpPr>
          <a:xfrm>
            <a:off x="13751783" y="5541066"/>
            <a:ext cx="9738183" cy="2662083"/>
            <a:chOff x="13751783" y="5541066"/>
            <a:chExt cx="9738183" cy="266208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CA05B5-56E6-7F82-D099-7939A3499A6C}"/>
                </a:ext>
              </a:extLst>
            </p:cNvPr>
            <p:cNvSpPr txBox="1"/>
            <p:nvPr/>
          </p:nvSpPr>
          <p:spPr>
            <a:xfrm>
              <a:off x="13751783" y="6644580"/>
              <a:ext cx="2759825" cy="471924"/>
            </a:xfrm>
            <a:prstGeom prst="rect">
              <a:avLst/>
            </a:prstGeom>
            <a:noFill/>
            <a:ln w="12700" cap="flat">
              <a:solidFill>
                <a:schemeClr val="bg2">
                  <a:lumMod val="1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  <a:sym typeface="Helvetica Neue"/>
                </a:rPr>
                <a:t>14.24.74.0 /24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0E7804-0766-3591-4E06-29278F6B47EC}"/>
                </a:ext>
              </a:extLst>
            </p:cNvPr>
            <p:cNvSpPr txBox="1"/>
            <p:nvPr/>
          </p:nvSpPr>
          <p:spPr>
            <a:xfrm>
              <a:off x="17874893" y="5541066"/>
              <a:ext cx="2759825" cy="471924"/>
            </a:xfrm>
            <a:prstGeom prst="rect">
              <a:avLst/>
            </a:prstGeom>
            <a:noFill/>
            <a:ln w="952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  <a:sym typeface="Helvetica Neue"/>
                </a:rPr>
                <a:t>14.24.74.192 /28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A86CF0-EAC4-A075-A7BC-3F349455F5D5}"/>
                </a:ext>
              </a:extLst>
            </p:cNvPr>
            <p:cNvSpPr txBox="1"/>
            <p:nvPr/>
          </p:nvSpPr>
          <p:spPr>
            <a:xfrm>
              <a:off x="17872121" y="6644580"/>
              <a:ext cx="2759825" cy="471924"/>
            </a:xfrm>
            <a:prstGeom prst="rect">
              <a:avLst/>
            </a:prstGeom>
            <a:noFill/>
            <a:ln w="952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  <a:sym typeface="Helvetica Neue"/>
                </a:rPr>
                <a:t>14.24.74.128 /26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7D200C-8D60-709A-029D-19521F1C8C8A}"/>
                </a:ext>
              </a:extLst>
            </p:cNvPr>
            <p:cNvSpPr txBox="1"/>
            <p:nvPr/>
          </p:nvSpPr>
          <p:spPr>
            <a:xfrm>
              <a:off x="17874893" y="7717592"/>
              <a:ext cx="2759825" cy="471924"/>
            </a:xfrm>
            <a:prstGeom prst="rect">
              <a:avLst/>
            </a:prstGeom>
            <a:noFill/>
            <a:ln w="9525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  <a:sym typeface="Helvetica Neue"/>
                </a:rPr>
                <a:t>14.24.74.0  /25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E52FAE0-7AFD-EADA-4DA9-487E14AFCC05}"/>
                </a:ext>
              </a:extLst>
            </p:cNvPr>
            <p:cNvCxnSpPr/>
            <p:nvPr/>
          </p:nvCxnSpPr>
          <p:spPr>
            <a:xfrm flipV="1">
              <a:off x="16675331" y="5853019"/>
              <a:ext cx="980902" cy="930123"/>
            </a:xfrm>
            <a:prstGeom prst="straightConnector1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9FFADF6-EBB9-C7D3-81C9-C29B74AD7F09}"/>
                </a:ext>
              </a:extLst>
            </p:cNvPr>
            <p:cNvCxnSpPr/>
            <p:nvPr/>
          </p:nvCxnSpPr>
          <p:spPr>
            <a:xfrm>
              <a:off x="16675331" y="6880542"/>
              <a:ext cx="980902" cy="0"/>
            </a:xfrm>
            <a:prstGeom prst="straightConnector1">
              <a:avLst/>
            </a:prstGeom>
            <a:noFill/>
            <a:ln w="57150" cap="flat">
              <a:solidFill>
                <a:schemeClr val="bg2">
                  <a:lumMod val="10000"/>
                </a:schemeClr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51BA3FE-0D13-1E10-9F39-DFA112CFB202}"/>
                </a:ext>
              </a:extLst>
            </p:cNvPr>
            <p:cNvCxnSpPr>
              <a:cxnSpLocks/>
            </p:cNvCxnSpPr>
            <p:nvPr/>
          </p:nvCxnSpPr>
          <p:spPr>
            <a:xfrm>
              <a:off x="16675331" y="7019104"/>
              <a:ext cx="980902" cy="698488"/>
            </a:xfrm>
            <a:prstGeom prst="straightConnector1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D407CD9-7384-5594-76E7-FE23CF0A3238}"/>
                </a:ext>
              </a:extLst>
            </p:cNvPr>
            <p:cNvSpPr txBox="1"/>
            <p:nvPr/>
          </p:nvSpPr>
          <p:spPr>
            <a:xfrm>
              <a:off x="20980500" y="7731225"/>
              <a:ext cx="2509466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  <a:sym typeface="Helvetica Neue"/>
                </a:rPr>
                <a:t>128 addresses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4D27B90-2A38-9FEB-D30F-6B100767D1B9}"/>
                </a:ext>
              </a:extLst>
            </p:cNvPr>
            <p:cNvSpPr txBox="1"/>
            <p:nvPr/>
          </p:nvSpPr>
          <p:spPr>
            <a:xfrm>
              <a:off x="20980500" y="6677393"/>
              <a:ext cx="2509466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1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  <a:sym typeface="Helvetica Neue"/>
                </a:rPr>
                <a:t>64 addresses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0495BD-81E7-BD11-D16D-0CB5BF0CCF0A}"/>
                </a:ext>
              </a:extLst>
            </p:cNvPr>
            <p:cNvSpPr txBox="1"/>
            <p:nvPr/>
          </p:nvSpPr>
          <p:spPr>
            <a:xfrm>
              <a:off x="20980500" y="5541066"/>
              <a:ext cx="2509466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solidFill>
                    <a:schemeClr val="bg2">
                      <a:lumMod val="10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16</a:t>
              </a:r>
              <a:r>
                <a:rPr kumimoji="0" lang="en-US" sz="2400" b="1" i="0" u="none" strike="noStrike" cap="none" spc="0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uFillTx/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  <a:sym typeface="Helvetica Neue"/>
                </a:rPr>
                <a:t> addresses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167301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6006-CF9B-5801-FA10-206E5CC0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Differences classful &amp; classless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2499E-78B9-5EEA-7ABC-F0630F30FC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54C6069-531A-260B-1132-FB2B155619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43345" y="7664152"/>
            <a:ext cx="18702256" cy="2841854"/>
          </a:xfrm>
        </p:spPr>
        <p:txBody>
          <a:bodyPr>
            <a:noAutofit/>
          </a:bodyPr>
          <a:lstStyle/>
          <a:p>
            <a:r>
              <a:rPr lang="en-US" sz="3200" b="1" dirty="0"/>
              <a:t>If we using classless subnetting, we can efficient the used of IP address</a:t>
            </a:r>
          </a:p>
          <a:p>
            <a:pPr lvl="1">
              <a:spcBef>
                <a:spcPts val="1200"/>
              </a:spcBef>
            </a:pPr>
            <a:r>
              <a:rPr lang="en-US" sz="3200" b="1" dirty="0"/>
              <a:t>For example above, we can use 1 class of class C block addressing to make subnetting of 3 groups consist 16 address, 64 address and 128 address</a:t>
            </a:r>
          </a:p>
          <a:p>
            <a:pPr>
              <a:spcBef>
                <a:spcPts val="1200"/>
              </a:spcBef>
            </a:pPr>
            <a:r>
              <a:rPr lang="en-US" sz="3200" b="1" dirty="0"/>
              <a:t>But if we use classful subnetting, we must create 3 group of class C that each of them consist of 256 address.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143EF97-13B9-74C9-344D-1C3A544EC2D4}"/>
              </a:ext>
            </a:extLst>
          </p:cNvPr>
          <p:cNvGrpSpPr/>
          <p:nvPr/>
        </p:nvGrpSpPr>
        <p:grpSpPr>
          <a:xfrm>
            <a:off x="1899997" y="3056697"/>
            <a:ext cx="18339271" cy="3388410"/>
            <a:chOff x="1899997" y="3056697"/>
            <a:chExt cx="18339271" cy="338841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F700368-F2D6-1E5B-5D33-5BD07FB83BBA}"/>
                </a:ext>
              </a:extLst>
            </p:cNvPr>
            <p:cNvGrpSpPr/>
            <p:nvPr/>
          </p:nvGrpSpPr>
          <p:grpSpPr>
            <a:xfrm>
              <a:off x="1899997" y="3783024"/>
              <a:ext cx="9738183" cy="2662083"/>
              <a:chOff x="13751783" y="5541066"/>
              <a:chExt cx="9738183" cy="2662083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B19EC4-01F4-3230-1EEF-B37FC7A38A16}"/>
                  </a:ext>
                </a:extLst>
              </p:cNvPr>
              <p:cNvSpPr txBox="1"/>
              <p:nvPr/>
            </p:nvSpPr>
            <p:spPr>
              <a:xfrm>
                <a:off x="13751783" y="6644580"/>
                <a:ext cx="2759825" cy="471924"/>
              </a:xfrm>
              <a:prstGeom prst="rect">
                <a:avLst/>
              </a:prstGeom>
              <a:noFill/>
              <a:ln w="12700" cap="flat">
                <a:solidFill>
                  <a:schemeClr val="bg2">
                    <a:lumMod val="1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14.24.74.0 /24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E82806-FD2E-34D4-39C0-79A3D4759751}"/>
                  </a:ext>
                </a:extLst>
              </p:cNvPr>
              <p:cNvSpPr txBox="1"/>
              <p:nvPr/>
            </p:nvSpPr>
            <p:spPr>
              <a:xfrm>
                <a:off x="17874893" y="5541066"/>
                <a:ext cx="2759825" cy="471924"/>
              </a:xfrm>
              <a:prstGeom prst="rect">
                <a:avLst/>
              </a:prstGeom>
              <a:noFill/>
              <a:ln w="9525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14.24.74.192 /28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49DEA7C-A36E-FC93-D71A-4208D26A01E3}"/>
                  </a:ext>
                </a:extLst>
              </p:cNvPr>
              <p:cNvSpPr txBox="1"/>
              <p:nvPr/>
            </p:nvSpPr>
            <p:spPr>
              <a:xfrm>
                <a:off x="17872121" y="6644580"/>
                <a:ext cx="2759825" cy="471924"/>
              </a:xfrm>
              <a:prstGeom prst="rect">
                <a:avLst/>
              </a:prstGeom>
              <a:noFill/>
              <a:ln w="9525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14.24.74.128 /26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FA21E5-498A-5BC6-99BD-A77FCAFF4FF1}"/>
                  </a:ext>
                </a:extLst>
              </p:cNvPr>
              <p:cNvSpPr txBox="1"/>
              <p:nvPr/>
            </p:nvSpPr>
            <p:spPr>
              <a:xfrm>
                <a:off x="17874893" y="7717592"/>
                <a:ext cx="2759825" cy="471924"/>
              </a:xfrm>
              <a:prstGeom prst="rect">
                <a:avLst/>
              </a:prstGeom>
              <a:noFill/>
              <a:ln w="9525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14.24.74.0  /25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7D48C841-B2BE-2120-B898-E893772C9FA1}"/>
                  </a:ext>
                </a:extLst>
              </p:cNvPr>
              <p:cNvCxnSpPr/>
              <p:nvPr/>
            </p:nvCxnSpPr>
            <p:spPr>
              <a:xfrm flipV="1">
                <a:off x="16675331" y="5853019"/>
                <a:ext cx="980902" cy="930123"/>
              </a:xfrm>
              <a:prstGeom prst="straightConnector1">
                <a:avLst/>
              </a:prstGeom>
              <a:noFill/>
              <a:ln w="5715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548D8900-5085-AF64-D730-ACD099066D9C}"/>
                  </a:ext>
                </a:extLst>
              </p:cNvPr>
              <p:cNvCxnSpPr/>
              <p:nvPr/>
            </p:nvCxnSpPr>
            <p:spPr>
              <a:xfrm>
                <a:off x="16675331" y="6880542"/>
                <a:ext cx="980902" cy="0"/>
              </a:xfrm>
              <a:prstGeom prst="straightConnector1">
                <a:avLst/>
              </a:prstGeom>
              <a:noFill/>
              <a:ln w="57150" cap="flat">
                <a:solidFill>
                  <a:schemeClr val="bg2">
                    <a:lumMod val="10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7494F4FA-832A-9EC7-6D4B-0B050212A9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75331" y="7019104"/>
                <a:ext cx="980902" cy="698488"/>
              </a:xfrm>
              <a:prstGeom prst="straightConnector1">
                <a:avLst/>
              </a:prstGeom>
              <a:noFill/>
              <a:ln w="5715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F15E82B-9D37-F9DC-7BFB-1FFD4B4B7290}"/>
                  </a:ext>
                </a:extLst>
              </p:cNvPr>
              <p:cNvSpPr txBox="1"/>
              <p:nvPr/>
            </p:nvSpPr>
            <p:spPr>
              <a:xfrm>
                <a:off x="20980500" y="7731225"/>
                <a:ext cx="2509466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128 addresses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7890F5-9396-CFBE-E1C6-3388A5A5FE9E}"/>
                  </a:ext>
                </a:extLst>
              </p:cNvPr>
              <p:cNvSpPr txBox="1"/>
              <p:nvPr/>
            </p:nvSpPr>
            <p:spPr>
              <a:xfrm>
                <a:off x="20980500" y="6677393"/>
                <a:ext cx="2509466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64 addresses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5E395D3-BEA8-7961-9FDA-803C18D81A46}"/>
                  </a:ext>
                </a:extLst>
              </p:cNvPr>
              <p:cNvSpPr txBox="1"/>
              <p:nvPr/>
            </p:nvSpPr>
            <p:spPr>
              <a:xfrm>
                <a:off x="20980500" y="5541066"/>
                <a:ext cx="2509466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b="1" dirty="0">
                    <a:solidFill>
                      <a:schemeClr val="bg2">
                        <a:lumMod val="10000"/>
                      </a:schemeClr>
                    </a:solidFill>
                  </a:rPr>
                  <a:t>16</a:t>
                </a: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 addresses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E8617A8-E179-09ED-2221-E3C8789483FE}"/>
                </a:ext>
              </a:extLst>
            </p:cNvPr>
            <p:cNvGrpSpPr/>
            <p:nvPr/>
          </p:nvGrpSpPr>
          <p:grpSpPr>
            <a:xfrm>
              <a:off x="14580062" y="3783024"/>
              <a:ext cx="5617845" cy="2662083"/>
              <a:chOff x="14962447" y="3760957"/>
              <a:chExt cx="5617845" cy="2662083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5CFFA6F-50E8-4EAE-D22D-6836AF6BD75B}"/>
                  </a:ext>
                </a:extLst>
              </p:cNvPr>
              <p:cNvSpPr txBox="1"/>
              <p:nvPr/>
            </p:nvSpPr>
            <p:spPr>
              <a:xfrm>
                <a:off x="14965219" y="3760957"/>
                <a:ext cx="2759825" cy="471924"/>
              </a:xfrm>
              <a:prstGeom prst="rect">
                <a:avLst/>
              </a:prstGeom>
              <a:noFill/>
              <a:ln w="9525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14.24.74.0 /24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59BDE25-699F-6796-8EA7-7F1855B8E68E}"/>
                  </a:ext>
                </a:extLst>
              </p:cNvPr>
              <p:cNvSpPr txBox="1"/>
              <p:nvPr/>
            </p:nvSpPr>
            <p:spPr>
              <a:xfrm>
                <a:off x="14962447" y="4864471"/>
                <a:ext cx="2759825" cy="471924"/>
              </a:xfrm>
              <a:prstGeom prst="rect">
                <a:avLst/>
              </a:prstGeom>
              <a:noFill/>
              <a:ln w="9525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14.24.75.0 /24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242826-944F-628B-E7F3-1EDDE9E10C21}"/>
                  </a:ext>
                </a:extLst>
              </p:cNvPr>
              <p:cNvSpPr txBox="1"/>
              <p:nvPr/>
            </p:nvSpPr>
            <p:spPr>
              <a:xfrm>
                <a:off x="14965219" y="5937483"/>
                <a:ext cx="2759825" cy="471924"/>
              </a:xfrm>
              <a:prstGeom prst="rect">
                <a:avLst/>
              </a:prstGeom>
              <a:noFill/>
              <a:ln w="9525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14.24.76.0  /24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1FD3868-0BBC-F503-D3F9-3B0F4B605F63}"/>
                  </a:ext>
                </a:extLst>
              </p:cNvPr>
              <p:cNvSpPr txBox="1"/>
              <p:nvPr/>
            </p:nvSpPr>
            <p:spPr>
              <a:xfrm>
                <a:off x="18070826" y="5951116"/>
                <a:ext cx="2509466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256 addresses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BCE22EE-613A-6F74-17E9-5D4C60F64FEB}"/>
                  </a:ext>
                </a:extLst>
              </p:cNvPr>
              <p:cNvSpPr txBox="1"/>
              <p:nvPr/>
            </p:nvSpPr>
            <p:spPr>
              <a:xfrm>
                <a:off x="18070826" y="4897284"/>
                <a:ext cx="2509466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256 addresses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FCE3A22-F03F-2EA2-8ECB-D839C8CB4962}"/>
                  </a:ext>
                </a:extLst>
              </p:cNvPr>
              <p:cNvSpPr txBox="1"/>
              <p:nvPr/>
            </p:nvSpPr>
            <p:spPr>
              <a:xfrm>
                <a:off x="18070826" y="3760957"/>
                <a:ext cx="2509466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400" b="1" i="0" u="none" strike="noStrike" cap="none" spc="0" normalizeH="0" baseline="0" dirty="0">
                    <a:ln>
                      <a:noFill/>
                    </a:ln>
                    <a:solidFill>
                      <a:schemeClr val="bg2">
                        <a:lumMod val="10000"/>
                      </a:schemeClr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256 addresses</a:t>
                </a:r>
              </a:p>
            </p:txBody>
          </p:sp>
        </p:grpSp>
        <p:sp>
          <p:nvSpPr>
            <p:cNvPr id="35" name="Title 1">
              <a:extLst>
                <a:ext uri="{FF2B5EF4-FFF2-40B4-BE49-F238E27FC236}">
                  <a16:creationId xmlns:a16="http://schemas.microsoft.com/office/drawing/2014/main" id="{3F675F45-6AC8-30E6-E033-03DA17C430CA}"/>
                </a:ext>
              </a:extLst>
            </p:cNvPr>
            <p:cNvSpPr txBox="1">
              <a:spLocks/>
            </p:cNvSpPr>
            <p:nvPr/>
          </p:nvSpPr>
          <p:spPr>
            <a:xfrm>
              <a:off x="7992356" y="3056697"/>
              <a:ext cx="3429342" cy="4719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>
              <a:normAutofit fontScale="90000" lnSpcReduction="20000"/>
            </a:bodyPr>
            <a:lstStyle>
              <a:lvl1pPr marL="0" marR="0" indent="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lang="en-US" sz="3800" b="1" i="0" u="none" strike="noStrike" cap="all" spc="0" normalizeH="0" baseline="0">
                  <a:ln>
                    <a:noFill/>
                  </a:ln>
                  <a:solidFill>
                    <a:srgbClr val="128CCD"/>
                  </a:solidFill>
                  <a:effectLst/>
                  <a:uFill>
                    <a:solidFill>
                      <a:srgbClr val="143E56"/>
                    </a:solidFill>
                  </a:u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  <a:sym typeface="Helvetica Neue"/>
                </a:defRPr>
              </a:lvl1pPr>
              <a:lvl2pPr marL="0" marR="0" indent="4572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9144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13716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18288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22860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27432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32004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36576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r>
                <a:rPr lang="en-US" dirty="0"/>
                <a:t>classful</a:t>
              </a:r>
            </a:p>
          </p:txBody>
        </p:sp>
        <p:sp>
          <p:nvSpPr>
            <p:cNvPr id="36" name="Title 1">
              <a:extLst>
                <a:ext uri="{FF2B5EF4-FFF2-40B4-BE49-F238E27FC236}">
                  <a16:creationId xmlns:a16="http://schemas.microsoft.com/office/drawing/2014/main" id="{C69A1D16-7797-EA7D-435E-105FC25C3F13}"/>
                </a:ext>
              </a:extLst>
            </p:cNvPr>
            <p:cNvSpPr txBox="1">
              <a:spLocks/>
            </p:cNvSpPr>
            <p:nvPr/>
          </p:nvSpPr>
          <p:spPr>
            <a:xfrm>
              <a:off x="16363868" y="3056697"/>
              <a:ext cx="3875400" cy="4719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>
              <a:normAutofit fontScale="90000" lnSpcReduction="20000"/>
            </a:bodyPr>
            <a:lstStyle>
              <a:lvl1pPr marL="0" marR="0" indent="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lang="en-US" sz="3800" b="1" i="0" u="none" strike="noStrike" cap="all" spc="0" normalizeH="0" baseline="0">
                  <a:ln>
                    <a:noFill/>
                  </a:ln>
                  <a:solidFill>
                    <a:srgbClr val="128CCD"/>
                  </a:solidFill>
                  <a:effectLst/>
                  <a:uFill>
                    <a:solidFill>
                      <a:srgbClr val="143E56"/>
                    </a:solidFill>
                  </a:uFill>
                  <a:latin typeface="Open Sans ExtraBold" pitchFamily="2" charset="0"/>
                  <a:ea typeface="Open Sans ExtraBold" pitchFamily="2" charset="0"/>
                  <a:cs typeface="Open Sans ExtraBold" pitchFamily="2" charset="0"/>
                  <a:sym typeface="Helvetica Neue"/>
                </a:defRPr>
              </a:lvl1pPr>
              <a:lvl2pPr marL="0" marR="0" indent="4572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2pPr>
              <a:lvl3pPr marL="0" marR="0" indent="9144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3pPr>
              <a:lvl4pPr marL="0" marR="0" indent="13716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4pPr>
              <a:lvl5pPr marL="0" marR="0" indent="18288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5pPr>
              <a:lvl6pPr marL="0" marR="0" indent="22860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6pPr>
              <a:lvl7pPr marL="0" marR="0" indent="27432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7pPr>
              <a:lvl8pPr marL="0" marR="0" indent="32004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8pPr>
              <a:lvl9pPr marL="0" marR="0" indent="3657600" algn="l" defTabSz="2438338" rtl="0" eaLnBrk="1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500" b="1" i="0" u="none" strike="noStrike" cap="none" spc="-17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"/>
                </a:defRPr>
              </a:lvl9pPr>
            </a:lstStyle>
            <a:p>
              <a:r>
                <a:rPr lang="en-US" dirty="0"/>
                <a:t>classless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667463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F21BC-7E3C-E9F9-DB45-E84D076BE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excercise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F4B72-D243-02F4-3031-0A470D758E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ED7F9D26-FD91-CFAB-7E06-B1B28145A851}"/>
              </a:ext>
            </a:extLst>
          </p:cNvPr>
          <p:cNvSpPr txBox="1">
            <a:spLocks/>
          </p:cNvSpPr>
          <p:nvPr/>
        </p:nvSpPr>
        <p:spPr>
          <a:xfrm>
            <a:off x="2496028" y="3581315"/>
            <a:ext cx="19316568" cy="7491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 organization is granted a block of addresses with the beginning address 192.30.74.0 </a:t>
            </a:r>
            <a:b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organization needs to have six subblocks of addresses to use in its six subnets: </a:t>
            </a:r>
            <a:b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a. Subnet1 = 40 address</a:t>
            </a:r>
            <a:b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b. Subnet2 = 28 address</a:t>
            </a:r>
            <a:b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c. Subnet3 = 20 address</a:t>
            </a:r>
            <a:b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d. Subnet4 = 50 address</a:t>
            </a:r>
            <a:b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e. Subnet5 = 12 address</a:t>
            </a:r>
            <a:b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f. Subnet6 = 4 address</a:t>
            </a:r>
          </a:p>
          <a:p>
            <a:pPr marL="0" indent="0">
              <a:buNone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Design Network for those subnet and calculate for each subnet :</a:t>
            </a:r>
            <a:b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1). Subnet Mask</a:t>
            </a:r>
            <a:b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2). Range IP Address</a:t>
            </a:r>
            <a:b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3). Network Address</a:t>
            </a:r>
            <a:b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     4). Broadcast Address</a:t>
            </a:r>
          </a:p>
          <a:p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95711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959C-4953-F280-8F3E-E96B200A7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References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D7752-5A55-6930-C9FA-43D826EC4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ADE253-2CB8-32FF-CDC2-9DA52CF50C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16195" y="3603028"/>
            <a:ext cx="19053467" cy="8957939"/>
          </a:xfrm>
        </p:spPr>
        <p:txBody>
          <a:bodyPr>
            <a:noAutofit/>
          </a:bodyPr>
          <a:lstStyle/>
          <a:p>
            <a:pPr algn="just"/>
            <a:r>
              <a:rPr lang="en-US" sz="3200" dirty="0" err="1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Forouzan</a:t>
            </a:r>
            <a:r>
              <a:rPr lang="en-US" sz="32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, B. A. (2021). Data Communications and Networking with TCP/IP Protocol Suite. 6th Ed. New York: McGraw-Hill. ISBN: 978-1-26-436335-3. Chapter 7.</a:t>
            </a:r>
          </a:p>
        </p:txBody>
      </p:sp>
    </p:spTree>
    <p:extLst>
      <p:ext uri="{BB962C8B-B14F-4D97-AF65-F5344CB8AC3E}">
        <p14:creationId xmlns:p14="http://schemas.microsoft.com/office/powerpoint/2010/main" val="243213615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E48F4F-144E-B982-E51F-76F732804B3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D930EC-C957-C09C-7359-7312156E8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18AEA-5401-B692-325F-9E8AD98181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December 2024</a:t>
            </a:r>
          </a:p>
        </p:txBody>
      </p:sp>
    </p:spTree>
    <p:extLst>
      <p:ext uri="{BB962C8B-B14F-4D97-AF65-F5344CB8AC3E}">
        <p14:creationId xmlns:p14="http://schemas.microsoft.com/office/powerpoint/2010/main" val="281341360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2" id="{A9A1C811-4046-44EA-8E0F-7354A0AD2552}" vid="{C3965A57-E83B-4BEA-A297-9AFB7752D311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binus template</Template>
  <TotalTime>0</TotalTime>
  <Words>1010</Words>
  <Application>Microsoft Office PowerPoint</Application>
  <PresentationFormat>Custom</PresentationFormat>
  <Paragraphs>89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Open Sans ExtraBold</vt:lpstr>
      <vt:lpstr>Arial</vt:lpstr>
      <vt:lpstr>OCRB</vt:lpstr>
      <vt:lpstr>Open Sans Semibold</vt:lpstr>
      <vt:lpstr>Open Sans Light</vt:lpstr>
      <vt:lpstr>Wingdings</vt:lpstr>
      <vt:lpstr>21_BasicWhite</vt:lpstr>
      <vt:lpstr>COMPUTER NETWORKS SESSION 05</vt:lpstr>
      <vt:lpstr>Learning outcomes</vt:lpstr>
      <vt:lpstr>Outline</vt:lpstr>
      <vt:lpstr>Classful &amp; classless</vt:lpstr>
      <vt:lpstr>subnetting</vt:lpstr>
      <vt:lpstr>subnetting</vt:lpstr>
      <vt:lpstr>subnetting</vt:lpstr>
      <vt:lpstr>Differences classful &amp; classless</vt:lpstr>
      <vt:lpstr>excercise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Ir. Santoso Budijono, M.M.</dc:creator>
  <cp:lastModifiedBy>Ir. Santoso Budijono, M.M.</cp:lastModifiedBy>
  <cp:revision>1</cp:revision>
  <dcterms:created xsi:type="dcterms:W3CDTF">2024-12-13T13:07:03Z</dcterms:created>
  <dcterms:modified xsi:type="dcterms:W3CDTF">2024-12-13T13:07:52Z</dcterms:modified>
</cp:coreProperties>
</file>