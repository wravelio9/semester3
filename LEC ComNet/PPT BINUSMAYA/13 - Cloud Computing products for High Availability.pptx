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258" r:id="rId2"/>
    <p:sldId id="259" r:id="rId3"/>
    <p:sldId id="262" r:id="rId4"/>
    <p:sldId id="264" r:id="rId5"/>
    <p:sldId id="265" r:id="rId6"/>
    <p:sldId id="266" r:id="rId7"/>
    <p:sldId id="267" r:id="rId8"/>
    <p:sldId id="268" r:id="rId9"/>
    <p:sldId id="269" r:id="rId10"/>
    <p:sldId id="270" r:id="rId11"/>
    <p:sldId id="271" r:id="rId12"/>
    <p:sldId id="263" r:id="rId13"/>
    <p:sldId id="260" r:id="rId14"/>
  </p:sldIdLst>
  <p:sldSz cx="24384000" cy="13716000"/>
  <p:notesSz cx="6858000" cy="9144000"/>
  <p:embeddedFontLst>
    <p:embeddedFont>
      <p:font typeface="OCRB" panose="020B0609020202020204" pitchFamily="49" charset="0"/>
      <p:regular r:id="rId16"/>
    </p:embeddedFont>
    <p:embeddedFont>
      <p:font typeface="Open Sans ExtraBold" panose="020B0906030804020204" pitchFamily="34" charset="0"/>
      <p:bold r:id="rId17"/>
      <p:italic r:id="rId18"/>
      <p:boldItalic r:id="rId19"/>
    </p:embeddedFont>
    <p:embeddedFont>
      <p:font typeface="Open Sans Light" panose="020B0306030504020204" pitchFamily="34" charset="0"/>
      <p:regular r:id="rId20"/>
      <p:italic r:id="rId21"/>
    </p:embeddedFont>
    <p:embeddedFont>
      <p:font typeface="Open Sans Semibold" panose="020B0706030804020204" pitchFamily="34" charset="0"/>
      <p:regular r:id="rId22"/>
      <p:bold r:id="rId23"/>
      <p:italic r:id="rId24"/>
      <p:boldItalic r:id="rId2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97"/>
  </p:normalViewPr>
  <p:slideViewPr>
    <p:cSldViewPr snapToGrid="0" snapToObjects="1">
      <p:cViewPr varScale="1">
        <p:scale>
          <a:sx n="41" d="100"/>
          <a:sy n="41" d="100"/>
        </p:scale>
        <p:origin x="720" y="7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r. Santoso Budijono, M.M." userId="bbff4192-f18b-4ea0-9da7-966ec02cbd0b" providerId="ADAL" clId="{D3CA3351-9CCE-4165-9757-FD9ADFBF4423}"/>
    <pc:docChg chg="custSel addSld modSld">
      <pc:chgData name="Ir. Santoso Budijono, M.M." userId="bbff4192-f18b-4ea0-9da7-966ec02cbd0b" providerId="ADAL" clId="{D3CA3351-9CCE-4165-9757-FD9ADFBF4423}" dt="2024-12-14T01:54:27.562" v="134" actId="14100"/>
      <pc:docMkLst>
        <pc:docMk/>
      </pc:docMkLst>
      <pc:sldChg chg="modSp mod">
        <pc:chgData name="Ir. Santoso Budijono, M.M." userId="bbff4192-f18b-4ea0-9da7-966ec02cbd0b" providerId="ADAL" clId="{D3CA3351-9CCE-4165-9757-FD9ADFBF4423}" dt="2024-12-14T01:53:30.444" v="42" actId="20577"/>
        <pc:sldMkLst>
          <pc:docMk/>
          <pc:sldMk cId="1391856750" sldId="260"/>
        </pc:sldMkLst>
        <pc:spChg chg="mod">
          <ac:chgData name="Ir. Santoso Budijono, M.M." userId="bbff4192-f18b-4ea0-9da7-966ec02cbd0b" providerId="ADAL" clId="{D3CA3351-9CCE-4165-9757-FD9ADFBF4423}" dt="2024-12-14T01:53:21.210" v="11" actId="20577"/>
          <ac:spMkLst>
            <pc:docMk/>
            <pc:sldMk cId="1391856750" sldId="260"/>
            <ac:spMk id="3" creationId="{4EF9523A-CB21-27A4-CE1F-9DD9AD4303BF}"/>
          </ac:spMkLst>
        </pc:spChg>
        <pc:spChg chg="mod">
          <ac:chgData name="Ir. Santoso Budijono, M.M." userId="bbff4192-f18b-4ea0-9da7-966ec02cbd0b" providerId="ADAL" clId="{D3CA3351-9CCE-4165-9757-FD9ADFBF4423}" dt="2024-12-14T01:53:30.444" v="42" actId="20577"/>
          <ac:spMkLst>
            <pc:docMk/>
            <pc:sldMk cId="1391856750" sldId="260"/>
            <ac:spMk id="4" creationId="{14BEA336-1A7D-9541-EC70-9D8CE9719891}"/>
          </ac:spMkLst>
        </pc:spChg>
      </pc:sldChg>
      <pc:sldChg chg="modSp new mod">
        <pc:chgData name="Ir. Santoso Budijono, M.M." userId="bbff4192-f18b-4ea0-9da7-966ec02cbd0b" providerId="ADAL" clId="{D3CA3351-9CCE-4165-9757-FD9ADFBF4423}" dt="2024-12-14T01:54:27.562" v="134" actId="14100"/>
        <pc:sldMkLst>
          <pc:docMk/>
          <pc:sldMk cId="2326017878" sldId="271"/>
        </pc:sldMkLst>
        <pc:spChg chg="mod">
          <ac:chgData name="Ir. Santoso Budijono, M.M." userId="bbff4192-f18b-4ea0-9da7-966ec02cbd0b" providerId="ADAL" clId="{D3CA3351-9CCE-4165-9757-FD9ADFBF4423}" dt="2024-12-14T01:53:47.289" v="52" actId="20577"/>
          <ac:spMkLst>
            <pc:docMk/>
            <pc:sldMk cId="2326017878" sldId="271"/>
            <ac:spMk id="2" creationId="{16AC7151-5361-E695-7FDA-4B2C5D614D40}"/>
          </ac:spMkLst>
        </pc:spChg>
        <pc:spChg chg="mod">
          <ac:chgData name="Ir. Santoso Budijono, M.M." userId="bbff4192-f18b-4ea0-9da7-966ec02cbd0b" providerId="ADAL" clId="{D3CA3351-9CCE-4165-9757-FD9ADFBF4423}" dt="2024-12-14T01:54:27.562" v="134" actId="14100"/>
          <ac:spMkLst>
            <pc:docMk/>
            <pc:sldMk cId="2326017878" sldId="271"/>
            <ac:spMk id="4" creationId="{C9AFA7C6-5F2E-BA06-5D42-4FDD9D55376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3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34.svg"/><Relationship Id="rId7" Type="http://schemas.openxmlformats.org/officeDocument/2006/relationships/image" Target="../media/image38.sv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s>
</file>

<file path=ppt/slides/_rels/slide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www.techtarget.com/searchcloudcomputing/definition/cloud-comput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CLOUD SECURITY CONCEPTS</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Computer network</a:t>
            </a:r>
            <a:br>
              <a:rPr lang="en-US" dirty="0"/>
            </a:br>
            <a:r>
              <a:rPr lang="en-US" dirty="0"/>
              <a:t>session 12</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Santoso Budijono</a:t>
            </a:r>
          </a:p>
        </p:txBody>
      </p:sp>
    </p:spTree>
    <p:extLst>
      <p:ext uri="{BB962C8B-B14F-4D97-AF65-F5344CB8AC3E}">
        <p14:creationId xmlns:p14="http://schemas.microsoft.com/office/powerpoint/2010/main" val="133163966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C8BBB-4BF7-BE85-D54D-D0A9CF50CBA4}"/>
              </a:ext>
            </a:extLst>
          </p:cNvPr>
          <p:cNvSpPr>
            <a:spLocks noGrp="1"/>
          </p:cNvSpPr>
          <p:nvPr>
            <p:ph type="title"/>
          </p:nvPr>
        </p:nvSpPr>
        <p:spPr/>
        <p:txBody>
          <a:bodyPr>
            <a:normAutofit fontScale="90000"/>
          </a:bodyPr>
          <a:lstStyle/>
          <a:p>
            <a:r>
              <a:rPr lang="en-US" dirty="0"/>
              <a:t>Learning outcomes</a:t>
            </a:r>
          </a:p>
        </p:txBody>
      </p:sp>
      <p:sp>
        <p:nvSpPr>
          <p:cNvPr id="3" name="Text Placeholder 2">
            <a:extLst>
              <a:ext uri="{FF2B5EF4-FFF2-40B4-BE49-F238E27FC236}">
                <a16:creationId xmlns:a16="http://schemas.microsoft.com/office/drawing/2014/main" id="{DE5C19C5-D693-9A65-B004-1E4675C8F8E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91F0E055-8210-691C-0EF7-F371DBB1757D}"/>
              </a:ext>
            </a:extLst>
          </p:cNvPr>
          <p:cNvSpPr>
            <a:spLocks noGrp="1"/>
          </p:cNvSpPr>
          <p:nvPr>
            <p:ph sz="quarter" idx="11"/>
          </p:nvPr>
        </p:nvSpPr>
        <p:spPr/>
        <p:txBody>
          <a:bodyPr>
            <a:normAutofit/>
          </a:bodyPr>
          <a:lstStyle/>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1: Describe basic structures of network</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2: Explain basic concepts of network</a:t>
            </a:r>
          </a:p>
          <a:p>
            <a:pPr marL="0" marR="0" indent="0" algn="l" rtl="0" eaLnBrk="1" fontAlgn="t" latinLnBrk="0" hangingPunct="1">
              <a:spcBef>
                <a:spcPts val="0"/>
              </a:spcBef>
              <a:spcAft>
                <a:spcPts val="0"/>
              </a:spcAft>
              <a:buNone/>
            </a:pPr>
            <a:endParaRPr lang="en-US" sz="3200" b="1" i="0" u="none" strike="noStrike" dirty="0">
              <a:effectLst/>
              <a:latin typeface="Open Sans Light" panose="020B0306030504020204" pitchFamily="34" charset="0"/>
              <a:ea typeface="Open Sans Light" panose="020B0306030504020204" pitchFamily="34" charset="0"/>
              <a:cs typeface="Open Sans Light" panose="020B0306030504020204" pitchFamily="34" charset="0"/>
            </a:endParaRPr>
          </a:p>
          <a:p>
            <a:endParaRPr lang="en-US" sz="28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20849246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2D43-6DC0-82BA-8E90-2AA624325042}"/>
              </a:ext>
            </a:extLst>
          </p:cNvPr>
          <p:cNvSpPr>
            <a:spLocks noGrp="1"/>
          </p:cNvSpPr>
          <p:nvPr>
            <p:ph type="title"/>
          </p:nvPr>
        </p:nvSpPr>
        <p:spPr/>
        <p:txBody>
          <a:bodyPr>
            <a:normAutofit fontScale="90000"/>
          </a:bodyPr>
          <a:lstStyle/>
          <a:p>
            <a:r>
              <a:rPr lang="en-US" dirty="0"/>
              <a:t>topics</a:t>
            </a:r>
          </a:p>
        </p:txBody>
      </p:sp>
      <p:sp>
        <p:nvSpPr>
          <p:cNvPr id="3" name="Text Placeholder 2">
            <a:extLst>
              <a:ext uri="{FF2B5EF4-FFF2-40B4-BE49-F238E27FC236}">
                <a16:creationId xmlns:a16="http://schemas.microsoft.com/office/drawing/2014/main" id="{C8EBF1C5-C280-D9C4-3EDE-DC565FCDCC5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484CFF8-9855-9ED6-7C79-F73F9AC08556}"/>
              </a:ext>
            </a:extLst>
          </p:cNvPr>
          <p:cNvSpPr>
            <a:spLocks noGrp="1"/>
          </p:cNvSpPr>
          <p:nvPr>
            <p:ph sz="quarter" idx="11"/>
          </p:nvPr>
        </p:nvSpPr>
        <p:spPr/>
        <p:txBody>
          <a:bodyPr>
            <a:normAutofit/>
          </a:bodyPr>
          <a:lstStyle/>
          <a:p>
            <a:r>
              <a:rPr lang="en-US" sz="3200" b="1" dirty="0"/>
              <a:t>Cloud Shared Responsibility Model</a:t>
            </a:r>
          </a:p>
          <a:p>
            <a:r>
              <a:rPr lang="en-US" sz="3200" b="1" dirty="0"/>
              <a:t>Load Balancing</a:t>
            </a:r>
          </a:p>
          <a:p>
            <a:r>
              <a:rPr lang="en-US" sz="3200" b="1" dirty="0"/>
              <a:t>Auto Scaling</a:t>
            </a:r>
          </a:p>
        </p:txBody>
      </p:sp>
    </p:spTree>
    <p:extLst>
      <p:ext uri="{BB962C8B-B14F-4D97-AF65-F5344CB8AC3E}">
        <p14:creationId xmlns:p14="http://schemas.microsoft.com/office/powerpoint/2010/main" val="241531543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FD6C0-E017-0692-F8E8-C9D3586ABA96}"/>
              </a:ext>
            </a:extLst>
          </p:cNvPr>
          <p:cNvSpPr>
            <a:spLocks noGrp="1"/>
          </p:cNvSpPr>
          <p:nvPr>
            <p:ph type="title"/>
          </p:nvPr>
        </p:nvSpPr>
        <p:spPr/>
        <p:txBody>
          <a:bodyPr>
            <a:normAutofit fontScale="90000"/>
          </a:bodyPr>
          <a:lstStyle/>
          <a:p>
            <a:r>
              <a:rPr lang="en-US" dirty="0"/>
              <a:t>Cloud security</a:t>
            </a:r>
          </a:p>
        </p:txBody>
      </p:sp>
      <p:sp>
        <p:nvSpPr>
          <p:cNvPr id="3" name="Text Placeholder 2">
            <a:extLst>
              <a:ext uri="{FF2B5EF4-FFF2-40B4-BE49-F238E27FC236}">
                <a16:creationId xmlns:a16="http://schemas.microsoft.com/office/drawing/2014/main" id="{72A6FE0E-38F3-FE4A-51DF-60D3C6D8E508}"/>
              </a:ext>
            </a:extLst>
          </p:cNvPr>
          <p:cNvSpPr>
            <a:spLocks noGrp="1"/>
          </p:cNvSpPr>
          <p:nvPr>
            <p:ph type="body" sz="quarter" idx="10"/>
          </p:nvPr>
        </p:nvSpPr>
        <p:spPr/>
        <p:txBody>
          <a:bodyPr/>
          <a:lstStyle/>
          <a:p>
            <a:r>
              <a:rPr lang="en-US" dirty="0"/>
              <a:t>Aws shared responsibility model</a:t>
            </a:r>
          </a:p>
        </p:txBody>
      </p:sp>
      <p:pic>
        <p:nvPicPr>
          <p:cNvPr id="5" name="Content Placeholder 4" descr="graphic showing at the bottom that AWS is responsible for secruity of the cloud, including the AWS Global Infrastructure, the compute, storage, database, and networking layers, and the software layer. At the top, the graphic shows that the customer is responsible for security in the cloud, including data encryption, networking traffice protection, the OS, firewall and network configurations, platform, application, and IAM management, and customer data as well.">
            <a:extLst>
              <a:ext uri="{FF2B5EF4-FFF2-40B4-BE49-F238E27FC236}">
                <a16:creationId xmlns:a16="http://schemas.microsoft.com/office/drawing/2014/main" id="{A682583B-C88B-CBD5-B3F3-F7858E9CE9F1}"/>
              </a:ext>
            </a:extLst>
          </p:cNvPr>
          <p:cNvPicPr>
            <a:picLocks noGrp="1" noChangeAspect="1"/>
          </p:cNvPicPr>
          <p:nvPr>
            <p:ph sz="quarter" idx="11"/>
          </p:nvPr>
        </p:nvPicPr>
        <p:blipFill>
          <a:blip r:embed="rId2"/>
          <a:stretch>
            <a:fillRect/>
          </a:stretch>
        </p:blipFill>
        <p:spPr>
          <a:xfrm>
            <a:off x="6772812" y="3716718"/>
            <a:ext cx="12755360" cy="7025261"/>
          </a:xfrm>
          <a:prstGeom prst="rect">
            <a:avLst/>
          </a:prstGeom>
        </p:spPr>
      </p:pic>
    </p:spTree>
    <p:extLst>
      <p:ext uri="{BB962C8B-B14F-4D97-AF65-F5344CB8AC3E}">
        <p14:creationId xmlns:p14="http://schemas.microsoft.com/office/powerpoint/2010/main" val="287548405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F8050-D730-6CCF-5BC7-25DB317E4925}"/>
              </a:ext>
            </a:extLst>
          </p:cNvPr>
          <p:cNvSpPr>
            <a:spLocks noGrp="1"/>
          </p:cNvSpPr>
          <p:nvPr>
            <p:ph type="title"/>
          </p:nvPr>
        </p:nvSpPr>
        <p:spPr/>
        <p:txBody>
          <a:bodyPr>
            <a:normAutofit fontScale="90000"/>
          </a:bodyPr>
          <a:lstStyle/>
          <a:p>
            <a:r>
              <a:rPr lang="en-US" dirty="0"/>
              <a:t>cloud</a:t>
            </a:r>
          </a:p>
        </p:txBody>
      </p:sp>
      <p:sp>
        <p:nvSpPr>
          <p:cNvPr id="3" name="Text Placeholder 2">
            <a:extLst>
              <a:ext uri="{FF2B5EF4-FFF2-40B4-BE49-F238E27FC236}">
                <a16:creationId xmlns:a16="http://schemas.microsoft.com/office/drawing/2014/main" id="{0FD7D496-7AEB-EE83-8511-F612D91B0B41}"/>
              </a:ext>
            </a:extLst>
          </p:cNvPr>
          <p:cNvSpPr>
            <a:spLocks noGrp="1"/>
          </p:cNvSpPr>
          <p:nvPr>
            <p:ph type="body" sz="quarter" idx="10"/>
          </p:nvPr>
        </p:nvSpPr>
        <p:spPr/>
        <p:txBody>
          <a:bodyPr/>
          <a:lstStyle/>
          <a:p>
            <a:r>
              <a:rPr lang="en-US" dirty="0"/>
              <a:t>Security of the cloud</a:t>
            </a:r>
          </a:p>
        </p:txBody>
      </p:sp>
      <p:grpSp>
        <p:nvGrpSpPr>
          <p:cNvPr id="5" name="Group 4" descr="box labeled AWS Services showing four icons labeled as follows: compute, storage, database, and networking.">
            <a:extLst>
              <a:ext uri="{FF2B5EF4-FFF2-40B4-BE49-F238E27FC236}">
                <a16:creationId xmlns:a16="http://schemas.microsoft.com/office/drawing/2014/main" id="{DE6C5227-716E-2A0A-9352-44A34884424B}"/>
              </a:ext>
            </a:extLst>
          </p:cNvPr>
          <p:cNvGrpSpPr/>
          <p:nvPr/>
        </p:nvGrpSpPr>
        <p:grpSpPr>
          <a:xfrm>
            <a:off x="2715998" y="5377142"/>
            <a:ext cx="9012947" cy="2961716"/>
            <a:chOff x="441000" y="2172634"/>
            <a:chExt cx="5323665" cy="1406296"/>
          </a:xfrm>
        </p:grpSpPr>
        <p:sp>
          <p:nvSpPr>
            <p:cNvPr id="6" name="Rectangle 5">
              <a:extLst>
                <a:ext uri="{FF2B5EF4-FFF2-40B4-BE49-F238E27FC236}">
                  <a16:creationId xmlns:a16="http://schemas.microsoft.com/office/drawing/2014/main" id="{A97B64DC-3169-DE04-5D0E-86504B1CC512}"/>
                </a:ext>
              </a:extLst>
            </p:cNvPr>
            <p:cNvSpPr/>
            <p:nvPr/>
          </p:nvSpPr>
          <p:spPr>
            <a:xfrm>
              <a:off x="441000" y="2172634"/>
              <a:ext cx="5323665" cy="136246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r>
                <a:rPr lang="en-US" sz="1350" b="1" dirty="0">
                  <a:solidFill>
                    <a:schemeClr val="tx1"/>
                  </a:solidFill>
                </a:rPr>
                <a:t>AWS services</a:t>
              </a:r>
            </a:p>
          </p:txBody>
        </p:sp>
        <p:pic>
          <p:nvPicPr>
            <p:cNvPr id="7" name="Graphic 6">
              <a:extLst>
                <a:ext uri="{FF2B5EF4-FFF2-40B4-BE49-F238E27FC236}">
                  <a16:creationId xmlns:a16="http://schemas.microsoft.com/office/drawing/2014/main" id="{81329E3A-A5EE-0718-7FD4-313B432809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6992" y="2582294"/>
              <a:ext cx="659595" cy="659595"/>
            </a:xfrm>
            <a:prstGeom prst="rect">
              <a:avLst/>
            </a:prstGeom>
          </p:spPr>
        </p:pic>
        <p:sp>
          <p:nvSpPr>
            <p:cNvPr id="8" name="TextBox 7">
              <a:extLst>
                <a:ext uri="{FF2B5EF4-FFF2-40B4-BE49-F238E27FC236}">
                  <a16:creationId xmlns:a16="http://schemas.microsoft.com/office/drawing/2014/main" id="{FD305819-B9B1-9F41-F0B6-3D24A5FA9C42}"/>
                </a:ext>
              </a:extLst>
            </p:cNvPr>
            <p:cNvSpPr txBox="1"/>
            <p:nvPr/>
          </p:nvSpPr>
          <p:spPr>
            <a:xfrm>
              <a:off x="570613" y="3196544"/>
              <a:ext cx="1075508" cy="369332"/>
            </a:xfrm>
            <a:prstGeom prst="rect">
              <a:avLst/>
            </a:prstGeom>
            <a:noFill/>
          </p:spPr>
          <p:txBody>
            <a:bodyPr wrap="none" rtlCol="0">
              <a:spAutoFit/>
            </a:bodyPr>
            <a:lstStyle/>
            <a:p>
              <a:r>
                <a:rPr lang="en-US" sz="1200" dirty="0">
                  <a:latin typeface="Arial" panose="020B0604020202020204" pitchFamily="34" charset="0"/>
                  <a:ea typeface="Amazon Ember Light" panose="020B0403020204020204" pitchFamily="34" charset="0"/>
                  <a:cs typeface="Arial" panose="020B0604020202020204" pitchFamily="34" charset="0"/>
                </a:rPr>
                <a:t>Compute</a:t>
              </a:r>
            </a:p>
          </p:txBody>
        </p:sp>
        <p:sp>
          <p:nvSpPr>
            <p:cNvPr id="9" name="TextBox 8">
              <a:extLst>
                <a:ext uri="{FF2B5EF4-FFF2-40B4-BE49-F238E27FC236}">
                  <a16:creationId xmlns:a16="http://schemas.microsoft.com/office/drawing/2014/main" id="{0260F90D-6DB2-4A3B-D354-5E49AB9403FE}"/>
                </a:ext>
              </a:extLst>
            </p:cNvPr>
            <p:cNvSpPr txBox="1"/>
            <p:nvPr/>
          </p:nvSpPr>
          <p:spPr>
            <a:xfrm>
              <a:off x="1883201" y="3195910"/>
              <a:ext cx="962229" cy="369332"/>
            </a:xfrm>
            <a:prstGeom prst="rect">
              <a:avLst/>
            </a:prstGeom>
            <a:noFill/>
          </p:spPr>
          <p:txBody>
            <a:bodyPr wrap="none" rtlCol="0">
              <a:spAutoFit/>
            </a:bodyPr>
            <a:lstStyle/>
            <a:p>
              <a:r>
                <a:rPr lang="en-US" sz="1200" dirty="0">
                  <a:latin typeface="Arial" panose="020B0604020202020204" pitchFamily="34" charset="0"/>
                  <a:ea typeface="Amazon Ember Light" panose="020B0403020204020204" pitchFamily="34" charset="0"/>
                  <a:cs typeface="Arial" panose="020B0604020202020204" pitchFamily="34" charset="0"/>
                </a:rPr>
                <a:t>Storage</a:t>
              </a:r>
            </a:p>
          </p:txBody>
        </p:sp>
        <p:sp>
          <p:nvSpPr>
            <p:cNvPr id="10" name="TextBox 9">
              <a:extLst>
                <a:ext uri="{FF2B5EF4-FFF2-40B4-BE49-F238E27FC236}">
                  <a16:creationId xmlns:a16="http://schemas.microsoft.com/office/drawing/2014/main" id="{F46F5953-2273-B845-DEAF-8F9708424755}"/>
                </a:ext>
              </a:extLst>
            </p:cNvPr>
            <p:cNvSpPr txBox="1"/>
            <p:nvPr/>
          </p:nvSpPr>
          <p:spPr>
            <a:xfrm>
              <a:off x="3092260" y="3209598"/>
              <a:ext cx="1120393" cy="369332"/>
            </a:xfrm>
            <a:prstGeom prst="rect">
              <a:avLst/>
            </a:prstGeom>
            <a:noFill/>
          </p:spPr>
          <p:txBody>
            <a:bodyPr wrap="none" rtlCol="0">
              <a:spAutoFit/>
            </a:bodyPr>
            <a:lstStyle/>
            <a:p>
              <a:r>
                <a:rPr lang="en-US" sz="1200" dirty="0">
                  <a:latin typeface="Arial" panose="020B0604020202020204" pitchFamily="34" charset="0"/>
                  <a:ea typeface="Amazon Ember Light" panose="020B0403020204020204" pitchFamily="34" charset="0"/>
                  <a:cs typeface="Arial" panose="020B0604020202020204" pitchFamily="34" charset="0"/>
                </a:rPr>
                <a:t>Database</a:t>
              </a:r>
            </a:p>
          </p:txBody>
        </p:sp>
        <p:sp>
          <p:nvSpPr>
            <p:cNvPr id="11" name="TextBox 10">
              <a:extLst>
                <a:ext uri="{FF2B5EF4-FFF2-40B4-BE49-F238E27FC236}">
                  <a16:creationId xmlns:a16="http://schemas.microsoft.com/office/drawing/2014/main" id="{14633599-188D-0F0A-FBC4-5D26F0524B38}"/>
                </a:ext>
              </a:extLst>
            </p:cNvPr>
            <p:cNvSpPr txBox="1"/>
            <p:nvPr/>
          </p:nvSpPr>
          <p:spPr>
            <a:xfrm>
              <a:off x="4289432" y="3209597"/>
              <a:ext cx="1267868" cy="369332"/>
            </a:xfrm>
            <a:prstGeom prst="rect">
              <a:avLst/>
            </a:prstGeom>
            <a:noFill/>
          </p:spPr>
          <p:txBody>
            <a:bodyPr wrap="none" rtlCol="0">
              <a:spAutoFit/>
            </a:bodyPr>
            <a:lstStyle/>
            <a:p>
              <a:r>
                <a:rPr lang="en-US" sz="1200" dirty="0">
                  <a:latin typeface="Arial" panose="020B0604020202020204" pitchFamily="34" charset="0"/>
                  <a:ea typeface="Amazon Ember Light" panose="020B0403020204020204" pitchFamily="34" charset="0"/>
                  <a:cs typeface="Arial" panose="020B0604020202020204" pitchFamily="34" charset="0"/>
                </a:rPr>
                <a:t>Networking</a:t>
              </a:r>
            </a:p>
          </p:txBody>
        </p:sp>
        <p:pic>
          <p:nvPicPr>
            <p:cNvPr id="12" name="Graphic 11">
              <a:extLst>
                <a:ext uri="{FF2B5EF4-FFF2-40B4-BE49-F238E27FC236}">
                  <a16:creationId xmlns:a16="http://schemas.microsoft.com/office/drawing/2014/main" id="{ACA3E09D-E630-F64E-73BD-894EFCD273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06967" y="2582294"/>
              <a:ext cx="659595" cy="659595"/>
            </a:xfrm>
            <a:prstGeom prst="rect">
              <a:avLst/>
            </a:prstGeom>
          </p:spPr>
        </p:pic>
        <p:pic>
          <p:nvPicPr>
            <p:cNvPr id="13" name="Graphic 12">
              <a:extLst>
                <a:ext uri="{FF2B5EF4-FFF2-40B4-BE49-F238E27FC236}">
                  <a16:creationId xmlns:a16="http://schemas.microsoft.com/office/drawing/2014/main" id="{4B54B3FC-FCEC-CA2C-6325-C5A8333EE5F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21979" y="2582294"/>
              <a:ext cx="659596" cy="659596"/>
            </a:xfrm>
            <a:prstGeom prst="rect">
              <a:avLst/>
            </a:prstGeom>
          </p:spPr>
        </p:pic>
        <p:pic>
          <p:nvPicPr>
            <p:cNvPr id="14" name="Graphic 13">
              <a:extLst>
                <a:ext uri="{FF2B5EF4-FFF2-40B4-BE49-F238E27FC236}">
                  <a16:creationId xmlns:a16="http://schemas.microsoft.com/office/drawing/2014/main" id="{9F59162B-E3B6-C492-5EAE-691891EF7ED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91955" y="2582294"/>
              <a:ext cx="659595" cy="659595"/>
            </a:xfrm>
            <a:prstGeom prst="rect">
              <a:avLst/>
            </a:prstGeom>
          </p:spPr>
        </p:pic>
      </p:grpSp>
      <p:sp>
        <p:nvSpPr>
          <p:cNvPr id="15" name="Content Placeholder 4">
            <a:extLst>
              <a:ext uri="{FF2B5EF4-FFF2-40B4-BE49-F238E27FC236}">
                <a16:creationId xmlns:a16="http://schemas.microsoft.com/office/drawing/2014/main" id="{5D63AC17-BD7E-4802-E866-2457A3F95DFE}"/>
              </a:ext>
            </a:extLst>
          </p:cNvPr>
          <p:cNvSpPr txBox="1">
            <a:spLocks/>
          </p:cNvSpPr>
          <p:nvPr/>
        </p:nvSpPr>
        <p:spPr>
          <a:xfrm>
            <a:off x="13461543" y="3223274"/>
            <a:ext cx="9486359" cy="896368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b="1" dirty="0">
                <a:latin typeface="Open Sans Light" panose="020B0306030504020204" pitchFamily="34" charset="0"/>
                <a:ea typeface="Open Sans Light" panose="020B0306030504020204" pitchFamily="34" charset="0"/>
                <a:cs typeface="Open Sans Light" panose="020B0306030504020204" pitchFamily="34" charset="0"/>
              </a:rPr>
              <a:t>AWS responsibilities:</a:t>
            </a:r>
          </a:p>
          <a:p>
            <a:r>
              <a:rPr lang="en-US" b="1" dirty="0">
                <a:latin typeface="Open Sans Light" panose="020B0306030504020204" pitchFamily="34" charset="0"/>
                <a:ea typeface="Open Sans Light" panose="020B0306030504020204" pitchFamily="34" charset="0"/>
                <a:cs typeface="Open Sans Light" panose="020B0306030504020204" pitchFamily="34" charset="0"/>
              </a:rPr>
              <a:t>Physical security of data centers</a:t>
            </a: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Controlled, need-based access</a:t>
            </a:r>
          </a:p>
          <a:p>
            <a:pPr lvl="1"/>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r>
              <a:rPr lang="en-US" b="1" dirty="0">
                <a:latin typeface="Open Sans Light" panose="020B0306030504020204" pitchFamily="34" charset="0"/>
                <a:ea typeface="Open Sans Light" panose="020B0306030504020204" pitchFamily="34" charset="0"/>
                <a:cs typeface="Open Sans Light" panose="020B0306030504020204" pitchFamily="34" charset="0"/>
              </a:rPr>
              <a:t>Hardware and software infrastructure</a:t>
            </a: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Storage decommissioning, host operating system (OS) access logging, and auditing</a:t>
            </a:r>
          </a:p>
          <a:p>
            <a:pPr lvl="1"/>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r>
              <a:rPr lang="en-US" b="1" dirty="0">
                <a:latin typeface="Open Sans Light" panose="020B0306030504020204" pitchFamily="34" charset="0"/>
                <a:ea typeface="Open Sans Light" panose="020B0306030504020204" pitchFamily="34" charset="0"/>
                <a:cs typeface="Open Sans Light" panose="020B0306030504020204" pitchFamily="34" charset="0"/>
              </a:rPr>
              <a:t>Network infrastructure</a:t>
            </a: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Intrusion detection</a:t>
            </a:r>
          </a:p>
          <a:p>
            <a:pPr lvl="1"/>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r>
              <a:rPr lang="en-US" b="1" dirty="0">
                <a:latin typeface="Open Sans Light" panose="020B0306030504020204" pitchFamily="34" charset="0"/>
                <a:ea typeface="Open Sans Light" panose="020B0306030504020204" pitchFamily="34" charset="0"/>
                <a:cs typeface="Open Sans Light" panose="020B0306030504020204" pitchFamily="34" charset="0"/>
              </a:rPr>
              <a:t>Virtualization infrastructure</a:t>
            </a: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Instance isolation</a:t>
            </a:r>
          </a:p>
        </p:txBody>
      </p:sp>
    </p:spTree>
    <p:extLst>
      <p:ext uri="{BB962C8B-B14F-4D97-AF65-F5344CB8AC3E}">
        <p14:creationId xmlns:p14="http://schemas.microsoft.com/office/powerpoint/2010/main" val="130895571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CC30A-91F1-561B-3BBA-8B2331EE2F15}"/>
              </a:ext>
            </a:extLst>
          </p:cNvPr>
          <p:cNvSpPr>
            <a:spLocks noGrp="1"/>
          </p:cNvSpPr>
          <p:nvPr>
            <p:ph type="title"/>
          </p:nvPr>
        </p:nvSpPr>
        <p:spPr/>
        <p:txBody>
          <a:bodyPr>
            <a:normAutofit fontScale="90000"/>
          </a:bodyPr>
          <a:lstStyle/>
          <a:p>
            <a:r>
              <a:rPr lang="en-US" dirty="0"/>
              <a:t>cloud</a:t>
            </a:r>
          </a:p>
        </p:txBody>
      </p:sp>
      <p:sp>
        <p:nvSpPr>
          <p:cNvPr id="3" name="Text Placeholder 2">
            <a:extLst>
              <a:ext uri="{FF2B5EF4-FFF2-40B4-BE49-F238E27FC236}">
                <a16:creationId xmlns:a16="http://schemas.microsoft.com/office/drawing/2014/main" id="{E2376EFC-41ED-5EE8-8CC6-6C662AB57140}"/>
              </a:ext>
            </a:extLst>
          </p:cNvPr>
          <p:cNvSpPr>
            <a:spLocks noGrp="1"/>
          </p:cNvSpPr>
          <p:nvPr>
            <p:ph type="body" sz="quarter" idx="10"/>
          </p:nvPr>
        </p:nvSpPr>
        <p:spPr/>
        <p:txBody>
          <a:bodyPr/>
          <a:lstStyle/>
          <a:p>
            <a:r>
              <a:rPr lang="en-US" dirty="0"/>
              <a:t>Customer responsibility</a:t>
            </a:r>
          </a:p>
        </p:txBody>
      </p:sp>
      <p:grpSp>
        <p:nvGrpSpPr>
          <p:cNvPr id="5" name="Group 4" descr="the graphic shows that the customer can confgure client-side data encryption, server-side data encryption, networking traffic protection, the OS, firewall and network configurations, applications, and IAM, and customer data as well.">
            <a:extLst>
              <a:ext uri="{FF2B5EF4-FFF2-40B4-BE49-F238E27FC236}">
                <a16:creationId xmlns:a16="http://schemas.microsoft.com/office/drawing/2014/main" id="{7BD1AE52-8175-BDFA-916E-21F734710CD5}"/>
              </a:ext>
            </a:extLst>
          </p:cNvPr>
          <p:cNvGrpSpPr/>
          <p:nvPr/>
        </p:nvGrpSpPr>
        <p:grpSpPr>
          <a:xfrm>
            <a:off x="2404395" y="4372566"/>
            <a:ext cx="9531857" cy="7128590"/>
            <a:chOff x="477118" y="1299408"/>
            <a:chExt cx="5050536" cy="2938370"/>
          </a:xfrm>
        </p:grpSpPr>
        <p:sp>
          <p:nvSpPr>
            <p:cNvPr id="6" name="TextBox 5">
              <a:extLst>
                <a:ext uri="{FF2B5EF4-FFF2-40B4-BE49-F238E27FC236}">
                  <a16:creationId xmlns:a16="http://schemas.microsoft.com/office/drawing/2014/main" id="{7108C16E-1CBA-76E0-DBAA-0FE2103D291C}"/>
                </a:ext>
              </a:extLst>
            </p:cNvPr>
            <p:cNvSpPr txBox="1"/>
            <p:nvPr/>
          </p:nvSpPr>
          <p:spPr>
            <a:xfrm>
              <a:off x="1212725" y="4039007"/>
              <a:ext cx="3569873" cy="198771"/>
            </a:xfrm>
            <a:prstGeom prst="rect">
              <a:avLst/>
            </a:prstGeom>
            <a:noFill/>
          </p:spPr>
          <p:txBody>
            <a:bodyPr wrap="square" lIns="50808" tIns="25421" rIns="50808" bIns="25421" rtlCol="0">
              <a:spAutoFit/>
            </a:bodyPr>
            <a:lstStyle/>
            <a:p>
              <a:pPr algn="ctr" defTabSz="342900"/>
              <a:r>
                <a:rPr lang="en-US" sz="2800" kern="0" dirty="0">
                  <a:solidFill>
                    <a:schemeClr val="accent5"/>
                  </a:solidFill>
                  <a:latin typeface="Open Sans Light" panose="020B0306030504020204" pitchFamily="34" charset="0"/>
                  <a:ea typeface="Open Sans Light" panose="020B0306030504020204" pitchFamily="34" charset="0"/>
                  <a:cs typeface="Open Sans Light" panose="020B0306030504020204" pitchFamily="34" charset="0"/>
                </a:rPr>
                <a:t>Customer-configurable</a:t>
              </a:r>
            </a:p>
          </p:txBody>
        </p:sp>
        <p:sp>
          <p:nvSpPr>
            <p:cNvPr id="7" name="Rectangle 5">
              <a:extLst>
                <a:ext uri="{FF2B5EF4-FFF2-40B4-BE49-F238E27FC236}">
                  <a16:creationId xmlns:a16="http://schemas.microsoft.com/office/drawing/2014/main" id="{8F68418D-48D3-E473-E46F-4683DE9E0FD1}"/>
                </a:ext>
              </a:extLst>
            </p:cNvPr>
            <p:cNvSpPr/>
            <p:nvPr/>
          </p:nvSpPr>
          <p:spPr bwMode="auto">
            <a:xfrm>
              <a:off x="477118" y="1839039"/>
              <a:ext cx="5041087" cy="475009"/>
            </a:xfrm>
            <a:prstGeom prst="roundRect">
              <a:avLst/>
            </a:prstGeom>
            <a:solidFill>
              <a:schemeClr val="accent5">
                <a:lumMod val="20000"/>
                <a:lumOff val="80000"/>
              </a:schemeClr>
            </a:solidFill>
            <a:ln>
              <a:noFill/>
              <a:headEnd type="none" w="med" len="med"/>
              <a:tailEnd type="none" w="med" len="med"/>
            </a:ln>
            <a:effectLst/>
          </p:spPr>
          <p:style>
            <a:lnRef idx="1">
              <a:schemeClr val="accent3"/>
            </a:lnRef>
            <a:fillRef idx="3">
              <a:schemeClr val="accent3"/>
            </a:fillRef>
            <a:effectRef idx="2">
              <a:schemeClr val="accent3"/>
            </a:effectRef>
            <a:fontRef idx="minor">
              <a:schemeClr val="lt1"/>
            </a:fontRef>
          </p:style>
          <p:txBody>
            <a:bodyPr lIns="67744" tIns="33895" rIns="67744" bIns="33895"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338945" fontAlgn="base">
                <a:spcBef>
                  <a:spcPct val="0"/>
                </a:spcBef>
                <a:spcAft>
                  <a:spcPct val="0"/>
                </a:spcAft>
                <a:defRPr/>
              </a:pPr>
              <a:r>
                <a:rPr lang="en-US" altLang="ja-JP" sz="28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sym typeface="Times New Roman" pitchFamily="18" charset="0"/>
                </a:rPr>
                <a:t>Applications, IAM</a:t>
              </a:r>
            </a:p>
          </p:txBody>
        </p:sp>
        <p:sp>
          <p:nvSpPr>
            <p:cNvPr id="8" name="Rectangle 5">
              <a:extLst>
                <a:ext uri="{FF2B5EF4-FFF2-40B4-BE49-F238E27FC236}">
                  <a16:creationId xmlns:a16="http://schemas.microsoft.com/office/drawing/2014/main" id="{C758DC86-32A8-1A44-C63F-6E30A5283F38}"/>
                </a:ext>
              </a:extLst>
            </p:cNvPr>
            <p:cNvSpPr/>
            <p:nvPr/>
          </p:nvSpPr>
          <p:spPr bwMode="auto">
            <a:xfrm>
              <a:off x="490790" y="2371794"/>
              <a:ext cx="5036864" cy="436871"/>
            </a:xfrm>
            <a:prstGeom prst="roundRect">
              <a:avLst/>
            </a:prstGeom>
            <a:solidFill>
              <a:schemeClr val="accent4">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67744" tIns="33895" rIns="67744" bIns="33895"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338945" fontAlgn="base">
                <a:spcBef>
                  <a:spcPct val="0"/>
                </a:spcBef>
                <a:spcAft>
                  <a:spcPct val="0"/>
                </a:spcAft>
                <a:defRPr/>
              </a:pPr>
              <a:r>
                <a:rPr lang="en-US" altLang="ja-JP" sz="28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sym typeface="Times New Roman" pitchFamily="18" charset="0"/>
                </a:rPr>
                <a:t>Operating system, network, and firewall configuration</a:t>
              </a:r>
            </a:p>
          </p:txBody>
        </p:sp>
        <p:sp>
          <p:nvSpPr>
            <p:cNvPr id="9" name="Rectangle 5">
              <a:extLst>
                <a:ext uri="{FF2B5EF4-FFF2-40B4-BE49-F238E27FC236}">
                  <a16:creationId xmlns:a16="http://schemas.microsoft.com/office/drawing/2014/main" id="{315011B0-D695-3953-C56B-DF4151120CD3}"/>
                </a:ext>
              </a:extLst>
            </p:cNvPr>
            <p:cNvSpPr/>
            <p:nvPr/>
          </p:nvSpPr>
          <p:spPr bwMode="auto">
            <a:xfrm>
              <a:off x="477118" y="1299408"/>
              <a:ext cx="5041087" cy="475009"/>
            </a:xfrm>
            <a:prstGeom prst="roundRect">
              <a:avLst/>
            </a:prstGeom>
            <a:solidFill>
              <a:schemeClr val="accent3">
                <a:lumMod val="20000"/>
                <a:lumOff val="80000"/>
              </a:scheme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lIns="67744" tIns="33895" rIns="67744" bIns="33895"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338945" fontAlgn="base">
                <a:spcBef>
                  <a:spcPct val="0"/>
                </a:spcBef>
                <a:spcAft>
                  <a:spcPct val="0"/>
                </a:spcAft>
                <a:defRPr/>
              </a:pPr>
              <a:r>
                <a:rPr lang="en-US" altLang="ja-JP" sz="28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sym typeface="Times New Roman" pitchFamily="18" charset="0"/>
                </a:rPr>
                <a:t>Customer data</a:t>
              </a:r>
            </a:p>
          </p:txBody>
        </p:sp>
        <p:sp>
          <p:nvSpPr>
            <p:cNvPr id="10" name="Rectangle 5">
              <a:extLst>
                <a:ext uri="{FF2B5EF4-FFF2-40B4-BE49-F238E27FC236}">
                  <a16:creationId xmlns:a16="http://schemas.microsoft.com/office/drawing/2014/main" id="{A7513755-F866-5DA4-E04A-F68A5D5EF323}"/>
                </a:ext>
              </a:extLst>
            </p:cNvPr>
            <p:cNvSpPr/>
            <p:nvPr/>
          </p:nvSpPr>
          <p:spPr bwMode="auto">
            <a:xfrm>
              <a:off x="3875671" y="2874436"/>
              <a:ext cx="1651980" cy="1129707"/>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67744" tIns="33895" rIns="67744" bIns="33895"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338945" fontAlgn="base">
                <a:spcBef>
                  <a:spcPct val="0"/>
                </a:spcBef>
                <a:spcAft>
                  <a:spcPct val="0"/>
                </a:spcAft>
              </a:pPr>
              <a:r>
                <a:rPr lang="en-US" altLang="ja-JP" sz="28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sym typeface="Times New Roman" pitchFamily="18" charset="0"/>
                </a:rPr>
                <a:t>Network traffic protection</a:t>
              </a:r>
            </a:p>
            <a:p>
              <a:pPr algn="ctr" defTabSz="338945" fontAlgn="base">
                <a:spcBef>
                  <a:spcPct val="0"/>
                </a:spcBef>
                <a:spcAft>
                  <a:spcPct val="0"/>
                </a:spcAft>
              </a:pPr>
              <a:r>
                <a:rPr lang="en-US" altLang="ja-JP" sz="28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sym typeface="Times New Roman" pitchFamily="18" charset="0"/>
                </a:rPr>
                <a:t>(encryption, integrity, identity)</a:t>
              </a:r>
            </a:p>
          </p:txBody>
        </p:sp>
        <p:sp>
          <p:nvSpPr>
            <p:cNvPr id="11" name="Rectangle 5">
              <a:extLst>
                <a:ext uri="{FF2B5EF4-FFF2-40B4-BE49-F238E27FC236}">
                  <a16:creationId xmlns:a16="http://schemas.microsoft.com/office/drawing/2014/main" id="{B0F23DA5-99BD-C38D-2075-FF4818631EA5}"/>
                </a:ext>
              </a:extLst>
            </p:cNvPr>
            <p:cNvSpPr/>
            <p:nvPr/>
          </p:nvSpPr>
          <p:spPr bwMode="auto">
            <a:xfrm>
              <a:off x="487347" y="2868707"/>
              <a:ext cx="1651980" cy="1129707"/>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67744" tIns="33895" rIns="67744" bIns="33895"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338945" fontAlgn="base">
                <a:spcBef>
                  <a:spcPct val="0"/>
                </a:spcBef>
                <a:spcAft>
                  <a:spcPct val="0"/>
                </a:spcAft>
                <a:defRPr/>
              </a:pPr>
              <a:r>
                <a:rPr lang="en-US" altLang="ja-JP" sz="28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sym typeface="Times New Roman" pitchFamily="18" charset="0"/>
                </a:rPr>
                <a:t>Client-side data</a:t>
              </a:r>
            </a:p>
            <a:p>
              <a:pPr algn="ctr" defTabSz="338945" fontAlgn="base">
                <a:spcBef>
                  <a:spcPct val="0"/>
                </a:spcBef>
                <a:spcAft>
                  <a:spcPct val="0"/>
                </a:spcAft>
                <a:defRPr/>
              </a:pPr>
              <a:r>
                <a:rPr lang="en-US" altLang="ja-JP" sz="28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sym typeface="Times New Roman" pitchFamily="18" charset="0"/>
                </a:rPr>
                <a:t>encryption and data integrity authentication</a:t>
              </a:r>
            </a:p>
          </p:txBody>
        </p:sp>
        <p:sp>
          <p:nvSpPr>
            <p:cNvPr id="12" name="Rectangle 5">
              <a:extLst>
                <a:ext uri="{FF2B5EF4-FFF2-40B4-BE49-F238E27FC236}">
                  <a16:creationId xmlns:a16="http://schemas.microsoft.com/office/drawing/2014/main" id="{AED5B8E2-C4FC-1436-ECB4-CB683F4703E5}"/>
                </a:ext>
              </a:extLst>
            </p:cNvPr>
            <p:cNvSpPr/>
            <p:nvPr/>
          </p:nvSpPr>
          <p:spPr bwMode="auto">
            <a:xfrm>
              <a:off x="2179790" y="2876731"/>
              <a:ext cx="1651980" cy="1117709"/>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67744" tIns="33895" rIns="67744" bIns="33895"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338945" fontAlgn="base">
                <a:spcBef>
                  <a:spcPct val="0"/>
                </a:spcBef>
                <a:spcAft>
                  <a:spcPct val="0"/>
                </a:spcAft>
              </a:pPr>
              <a:r>
                <a:rPr lang="en-US" altLang="ja-JP" sz="28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sym typeface="Times New Roman" pitchFamily="18" charset="0"/>
                </a:rPr>
                <a:t>Server-side encryption </a:t>
              </a:r>
            </a:p>
            <a:p>
              <a:pPr algn="ctr" defTabSz="338945" fontAlgn="base">
                <a:spcBef>
                  <a:spcPct val="0"/>
                </a:spcBef>
                <a:spcAft>
                  <a:spcPct val="0"/>
                </a:spcAft>
              </a:pPr>
              <a:r>
                <a:rPr lang="en-US" altLang="ja-JP" sz="28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sym typeface="Times New Roman" pitchFamily="18" charset="0"/>
                </a:rPr>
                <a:t>(file system or data)</a:t>
              </a:r>
            </a:p>
          </p:txBody>
        </p:sp>
      </p:grpSp>
      <p:sp>
        <p:nvSpPr>
          <p:cNvPr id="13" name="Content Placeholder 3">
            <a:extLst>
              <a:ext uri="{FF2B5EF4-FFF2-40B4-BE49-F238E27FC236}">
                <a16:creationId xmlns:a16="http://schemas.microsoft.com/office/drawing/2014/main" id="{BF580E15-6B40-6F0B-CEF1-A76A067C3284}"/>
              </a:ext>
            </a:extLst>
          </p:cNvPr>
          <p:cNvSpPr txBox="1">
            <a:spLocks/>
          </p:cNvSpPr>
          <p:nvPr/>
        </p:nvSpPr>
        <p:spPr>
          <a:xfrm>
            <a:off x="12906635" y="3633003"/>
            <a:ext cx="10280372" cy="82109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b="1" dirty="0">
                <a:latin typeface="Open Sans Light" panose="020B0306030504020204" pitchFamily="34" charset="0"/>
                <a:ea typeface="Open Sans Light" panose="020B0306030504020204" pitchFamily="34" charset="0"/>
                <a:cs typeface="Open Sans Light" panose="020B0306030504020204" pitchFamily="34" charset="0"/>
              </a:rPr>
              <a:t>Customer responsibilities:</a:t>
            </a:r>
          </a:p>
          <a:p>
            <a:r>
              <a:rPr lang="en-US" b="1" dirty="0">
                <a:latin typeface="Open Sans Light" panose="020B0306030504020204" pitchFamily="34" charset="0"/>
                <a:ea typeface="Open Sans Light" panose="020B0306030504020204" pitchFamily="34" charset="0"/>
                <a:cs typeface="Open Sans Light" panose="020B0306030504020204" pitchFamily="34" charset="0"/>
              </a:rPr>
              <a:t>Amazon Elastic Compute Cloud (Amazon EC2) instance </a:t>
            </a:r>
            <a:r>
              <a:rPr lang="en-US" b="1" dirty="0">
                <a:solidFill>
                  <a:schemeClr val="accent6"/>
                </a:solidFill>
                <a:latin typeface="Open Sans Light" panose="020B0306030504020204" pitchFamily="34" charset="0"/>
                <a:ea typeface="Open Sans Light" panose="020B0306030504020204" pitchFamily="34" charset="0"/>
                <a:cs typeface="Open Sans Light" panose="020B0306030504020204" pitchFamily="34" charset="0"/>
              </a:rPr>
              <a:t>operating system</a:t>
            </a: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Including patching, maintenance</a:t>
            </a:r>
          </a:p>
          <a:p>
            <a:r>
              <a:rPr lang="en-US" b="1" dirty="0">
                <a:solidFill>
                  <a:schemeClr val="accent6"/>
                </a:solidFill>
                <a:latin typeface="Open Sans Light" panose="020B0306030504020204" pitchFamily="34" charset="0"/>
                <a:ea typeface="Open Sans Light" panose="020B0306030504020204" pitchFamily="34" charset="0"/>
                <a:cs typeface="Open Sans Light" panose="020B0306030504020204" pitchFamily="34" charset="0"/>
              </a:rPr>
              <a:t>Applications</a:t>
            </a:r>
            <a:endParaRPr lang="en-US" b="1" dirty="0">
              <a:latin typeface="Open Sans Light" panose="020B0306030504020204" pitchFamily="34" charset="0"/>
              <a:ea typeface="Open Sans Light" panose="020B0306030504020204" pitchFamily="34" charset="0"/>
              <a:cs typeface="Open Sans Light" panose="020B0306030504020204" pitchFamily="34" charset="0"/>
            </a:endParaRP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Passwords, role-based access, etc.</a:t>
            </a:r>
          </a:p>
          <a:p>
            <a:r>
              <a:rPr lang="en-US" b="1" dirty="0">
                <a:solidFill>
                  <a:schemeClr val="accent6"/>
                </a:solidFill>
                <a:latin typeface="Open Sans Light" panose="020B0306030504020204" pitchFamily="34" charset="0"/>
                <a:ea typeface="Open Sans Light" panose="020B0306030504020204" pitchFamily="34" charset="0"/>
                <a:cs typeface="Open Sans Light" panose="020B0306030504020204" pitchFamily="34" charset="0"/>
              </a:rPr>
              <a:t>Security group </a:t>
            </a:r>
            <a:r>
              <a:rPr lang="en-US" b="1" dirty="0">
                <a:latin typeface="Open Sans Light" panose="020B0306030504020204" pitchFamily="34" charset="0"/>
                <a:ea typeface="Open Sans Light" panose="020B0306030504020204" pitchFamily="34" charset="0"/>
                <a:cs typeface="Open Sans Light" panose="020B0306030504020204" pitchFamily="34" charset="0"/>
              </a:rPr>
              <a:t>configuration</a:t>
            </a:r>
          </a:p>
          <a:p>
            <a:r>
              <a:rPr lang="en-US" b="1" dirty="0">
                <a:latin typeface="Open Sans Light" panose="020B0306030504020204" pitchFamily="34" charset="0"/>
                <a:ea typeface="Open Sans Light" panose="020B0306030504020204" pitchFamily="34" charset="0"/>
                <a:cs typeface="Open Sans Light" panose="020B0306030504020204" pitchFamily="34" charset="0"/>
              </a:rPr>
              <a:t>OS or host-based </a:t>
            </a:r>
            <a:r>
              <a:rPr lang="en-US" b="1" dirty="0">
                <a:solidFill>
                  <a:schemeClr val="accent6"/>
                </a:solidFill>
                <a:latin typeface="Open Sans Light" panose="020B0306030504020204" pitchFamily="34" charset="0"/>
                <a:ea typeface="Open Sans Light" panose="020B0306030504020204" pitchFamily="34" charset="0"/>
                <a:cs typeface="Open Sans Light" panose="020B0306030504020204" pitchFamily="34" charset="0"/>
              </a:rPr>
              <a:t>firewalls</a:t>
            </a:r>
            <a:endParaRPr lang="en-US" b="1" dirty="0">
              <a:latin typeface="Open Sans Light" panose="020B0306030504020204" pitchFamily="34" charset="0"/>
              <a:ea typeface="Open Sans Light" panose="020B0306030504020204" pitchFamily="34" charset="0"/>
              <a:cs typeface="Open Sans Light" panose="020B0306030504020204" pitchFamily="34" charset="0"/>
            </a:endParaRP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Including intrusion detection or prevention systems</a:t>
            </a:r>
          </a:p>
          <a:p>
            <a:r>
              <a:rPr lang="en-US" b="1" dirty="0">
                <a:solidFill>
                  <a:schemeClr val="accent6"/>
                </a:solidFill>
                <a:latin typeface="Open Sans Light" panose="020B0306030504020204" pitchFamily="34" charset="0"/>
                <a:ea typeface="Open Sans Light" panose="020B0306030504020204" pitchFamily="34" charset="0"/>
                <a:cs typeface="Open Sans Light" panose="020B0306030504020204" pitchFamily="34" charset="0"/>
              </a:rPr>
              <a:t>Network</a:t>
            </a:r>
            <a:r>
              <a:rPr lang="en-US" b="1" dirty="0">
                <a:latin typeface="Open Sans Light" panose="020B0306030504020204" pitchFamily="34" charset="0"/>
                <a:ea typeface="Open Sans Light" panose="020B0306030504020204" pitchFamily="34" charset="0"/>
                <a:cs typeface="Open Sans Light" panose="020B0306030504020204" pitchFamily="34" charset="0"/>
              </a:rPr>
              <a:t> configurations</a:t>
            </a:r>
          </a:p>
          <a:p>
            <a:r>
              <a:rPr lang="en-US" b="1" dirty="0">
                <a:latin typeface="Open Sans Light" panose="020B0306030504020204" pitchFamily="34" charset="0"/>
                <a:ea typeface="Open Sans Light" panose="020B0306030504020204" pitchFamily="34" charset="0"/>
                <a:cs typeface="Open Sans Light" panose="020B0306030504020204" pitchFamily="34" charset="0"/>
              </a:rPr>
              <a:t>Account management</a:t>
            </a:r>
          </a:p>
          <a:p>
            <a:pPr lvl="1"/>
            <a:r>
              <a:rPr lang="en-US" sz="3200" b="1" dirty="0">
                <a:latin typeface="Open Sans Light" panose="020B0306030504020204" pitchFamily="34" charset="0"/>
                <a:ea typeface="Open Sans Light" panose="020B0306030504020204" pitchFamily="34" charset="0"/>
                <a:cs typeface="Open Sans Light" panose="020B0306030504020204" pitchFamily="34" charset="0"/>
              </a:rPr>
              <a:t>Login and permission settings for each user</a:t>
            </a:r>
          </a:p>
        </p:txBody>
      </p:sp>
    </p:spTree>
    <p:extLst>
      <p:ext uri="{BB962C8B-B14F-4D97-AF65-F5344CB8AC3E}">
        <p14:creationId xmlns:p14="http://schemas.microsoft.com/office/powerpoint/2010/main" val="276860058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9DAD-B08B-C4B4-B0A7-9F8C43D15965}"/>
              </a:ext>
            </a:extLst>
          </p:cNvPr>
          <p:cNvSpPr>
            <a:spLocks noGrp="1"/>
          </p:cNvSpPr>
          <p:nvPr>
            <p:ph type="title"/>
          </p:nvPr>
        </p:nvSpPr>
        <p:spPr/>
        <p:txBody>
          <a:bodyPr>
            <a:normAutofit fontScale="90000"/>
          </a:bodyPr>
          <a:lstStyle/>
          <a:p>
            <a:r>
              <a:rPr lang="en-US" dirty="0"/>
              <a:t>cloud</a:t>
            </a:r>
          </a:p>
        </p:txBody>
      </p:sp>
      <p:sp>
        <p:nvSpPr>
          <p:cNvPr id="3" name="Text Placeholder 2">
            <a:extLst>
              <a:ext uri="{FF2B5EF4-FFF2-40B4-BE49-F238E27FC236}">
                <a16:creationId xmlns:a16="http://schemas.microsoft.com/office/drawing/2014/main" id="{49389ED4-F3CA-360F-BC3C-0F928D6CA99A}"/>
              </a:ext>
            </a:extLst>
          </p:cNvPr>
          <p:cNvSpPr>
            <a:spLocks noGrp="1"/>
          </p:cNvSpPr>
          <p:nvPr>
            <p:ph type="body" sz="quarter" idx="10"/>
          </p:nvPr>
        </p:nvSpPr>
        <p:spPr/>
        <p:txBody>
          <a:bodyPr>
            <a:normAutofit fontScale="92500" lnSpcReduction="20000"/>
          </a:bodyPr>
          <a:lstStyle/>
          <a:p>
            <a:r>
              <a:rPr lang="en-US" dirty="0"/>
              <a:t>Service characteristics and security responsibility </a:t>
            </a:r>
          </a:p>
        </p:txBody>
      </p:sp>
      <p:sp>
        <p:nvSpPr>
          <p:cNvPr id="5" name="Content Placeholder 14">
            <a:extLst>
              <a:ext uri="{FF2B5EF4-FFF2-40B4-BE49-F238E27FC236}">
                <a16:creationId xmlns:a16="http://schemas.microsoft.com/office/drawing/2014/main" id="{501F69D4-CBD6-96F9-3516-E120BB83F7CF}"/>
              </a:ext>
            </a:extLst>
          </p:cNvPr>
          <p:cNvSpPr txBox="1">
            <a:spLocks/>
          </p:cNvSpPr>
          <p:nvPr/>
        </p:nvSpPr>
        <p:spPr>
          <a:xfrm>
            <a:off x="11936252" y="4016983"/>
            <a:ext cx="10771678" cy="701680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b="1" dirty="0">
                <a:latin typeface="Open Sans Light" panose="020B0306030504020204" pitchFamily="34" charset="0"/>
                <a:ea typeface="Open Sans Light" panose="020B0306030504020204" pitchFamily="34" charset="0"/>
                <a:cs typeface="Open Sans Light" panose="020B0306030504020204" pitchFamily="34" charset="0"/>
              </a:rPr>
              <a:t>Infrastructure as a service (IaaS) </a:t>
            </a:r>
          </a:p>
          <a:p>
            <a:r>
              <a:rPr lang="en-US" dirty="0">
                <a:latin typeface="Open Sans Light" panose="020B0306030504020204" pitchFamily="34" charset="0"/>
                <a:ea typeface="Open Sans Light" panose="020B0306030504020204" pitchFamily="34" charset="0"/>
                <a:cs typeface="Open Sans Light" panose="020B0306030504020204" pitchFamily="34" charset="0"/>
              </a:rPr>
              <a:t>Customer has more flexibility over configuring networking and storage settings</a:t>
            </a:r>
          </a:p>
          <a:p>
            <a:r>
              <a:rPr lang="en-US" dirty="0">
                <a:latin typeface="Open Sans Light" panose="020B0306030504020204" pitchFamily="34" charset="0"/>
                <a:ea typeface="Open Sans Light" panose="020B0306030504020204" pitchFamily="34" charset="0"/>
                <a:cs typeface="Open Sans Light" panose="020B0306030504020204" pitchFamily="34" charset="0"/>
              </a:rPr>
              <a:t>Customer is responsible for managing more aspects of the security </a:t>
            </a:r>
          </a:p>
          <a:p>
            <a:r>
              <a:rPr lang="en-US" dirty="0">
                <a:latin typeface="Open Sans Light" panose="020B0306030504020204" pitchFamily="34" charset="0"/>
                <a:ea typeface="Open Sans Light" panose="020B0306030504020204" pitchFamily="34" charset="0"/>
                <a:cs typeface="Open Sans Light" panose="020B0306030504020204" pitchFamily="34" charset="0"/>
              </a:rPr>
              <a:t>Customer configures the access controls </a:t>
            </a:r>
          </a:p>
          <a:p>
            <a:pPr marL="0" indent="0">
              <a:buFont typeface="Arial" pitchFamily="34" charset="0"/>
              <a:buNone/>
            </a:pPr>
            <a:endParaRPr lang="en-US" dirty="0">
              <a:latin typeface="Open Sans Light" panose="020B0306030504020204" pitchFamily="34" charset="0"/>
              <a:ea typeface="Open Sans Light" panose="020B0306030504020204" pitchFamily="34" charset="0"/>
              <a:cs typeface="Open Sans Light" panose="020B0306030504020204" pitchFamily="34" charset="0"/>
            </a:endParaRPr>
          </a:p>
          <a:p>
            <a:pPr marL="0" indent="0">
              <a:buFont typeface="Arial" pitchFamily="34" charset="0"/>
              <a:buNone/>
            </a:pPr>
            <a:r>
              <a:rPr lang="en-US" b="1" dirty="0">
                <a:latin typeface="Open Sans Light" panose="020B0306030504020204" pitchFamily="34" charset="0"/>
                <a:ea typeface="Open Sans Light" panose="020B0306030504020204" pitchFamily="34" charset="0"/>
                <a:cs typeface="Open Sans Light" panose="020B0306030504020204" pitchFamily="34" charset="0"/>
              </a:rPr>
              <a:t>Platform as a service (PaaS) </a:t>
            </a:r>
          </a:p>
          <a:p>
            <a:r>
              <a:rPr lang="en-US" dirty="0">
                <a:latin typeface="Open Sans Light" panose="020B0306030504020204" pitchFamily="34" charset="0"/>
                <a:ea typeface="Open Sans Light" panose="020B0306030504020204" pitchFamily="34" charset="0"/>
                <a:cs typeface="Open Sans Light" panose="020B0306030504020204" pitchFamily="34" charset="0"/>
              </a:rPr>
              <a:t>Customer does not need to manage the underlying infrastructure</a:t>
            </a:r>
          </a:p>
          <a:p>
            <a:r>
              <a:rPr lang="en-US" dirty="0">
                <a:latin typeface="Open Sans Light" panose="020B0306030504020204" pitchFamily="34" charset="0"/>
                <a:ea typeface="Open Sans Light" panose="020B0306030504020204" pitchFamily="34" charset="0"/>
                <a:cs typeface="Open Sans Light" panose="020B0306030504020204" pitchFamily="34" charset="0"/>
              </a:rPr>
              <a:t>AWS handles the operating system, database patching, firewall configuration, and disaster recovery</a:t>
            </a:r>
          </a:p>
          <a:p>
            <a:r>
              <a:rPr lang="en-US" dirty="0">
                <a:latin typeface="Open Sans Light" panose="020B0306030504020204" pitchFamily="34" charset="0"/>
                <a:ea typeface="Open Sans Light" panose="020B0306030504020204" pitchFamily="34" charset="0"/>
                <a:cs typeface="Open Sans Light" panose="020B0306030504020204" pitchFamily="34" charset="0"/>
              </a:rPr>
              <a:t>Customer can focus on managing code or data</a:t>
            </a:r>
          </a:p>
          <a:p>
            <a:pPr marL="0" indent="0">
              <a:buFont typeface="Arial" pitchFamily="34" charset="0"/>
              <a:buNone/>
            </a:pPr>
            <a:endParaRPr lang="en-US" dirty="0">
              <a:latin typeface="Open Sans Light" panose="020B0306030504020204" pitchFamily="34" charset="0"/>
              <a:ea typeface="Open Sans Light" panose="020B0306030504020204" pitchFamily="34" charset="0"/>
              <a:cs typeface="Open Sans Light" panose="020B0306030504020204" pitchFamily="34" charset="0"/>
            </a:endParaRPr>
          </a:p>
          <a:p>
            <a:pPr marL="0" indent="0">
              <a:buFont typeface="Arial" pitchFamily="34" charset="0"/>
              <a:buNone/>
            </a:pPr>
            <a:endParaRPr lang="en-US" dirty="0">
              <a:latin typeface="Open Sans Light" panose="020B0306030504020204" pitchFamily="34" charset="0"/>
              <a:ea typeface="Open Sans Light" panose="020B0306030504020204" pitchFamily="34" charset="0"/>
              <a:cs typeface="Open Sans Light" panose="020B0306030504020204" pitchFamily="34" charset="0"/>
            </a:endParaRPr>
          </a:p>
          <a:p>
            <a:pPr marL="0" indent="0">
              <a:buFont typeface="Arial" pitchFamily="34" charset="0"/>
              <a:buNone/>
            </a:pPr>
            <a:endParaRPr lang="en-US" dirty="0">
              <a:latin typeface="Open Sans Light" panose="020B0306030504020204" pitchFamily="34" charset="0"/>
              <a:ea typeface="Open Sans Light" panose="020B0306030504020204" pitchFamily="34" charset="0"/>
              <a:cs typeface="Open Sans Light" panose="020B0306030504020204" pitchFamily="34" charset="0"/>
            </a:endParaRPr>
          </a:p>
        </p:txBody>
      </p:sp>
      <p:grpSp>
        <p:nvGrpSpPr>
          <p:cNvPr id="6" name="Group 5" descr="box labeled &quot;examle services managed by the customer&quot;, includes three examples: EC2, Elastic Block Store, and Amazon VPC.">
            <a:extLst>
              <a:ext uri="{FF2B5EF4-FFF2-40B4-BE49-F238E27FC236}">
                <a16:creationId xmlns:a16="http://schemas.microsoft.com/office/drawing/2014/main" id="{2A2DE7E0-6765-1719-D699-528138778155}"/>
              </a:ext>
            </a:extLst>
          </p:cNvPr>
          <p:cNvGrpSpPr/>
          <p:nvPr/>
        </p:nvGrpSpPr>
        <p:grpSpPr>
          <a:xfrm>
            <a:off x="2330329" y="3672858"/>
            <a:ext cx="7796882" cy="3891445"/>
            <a:chOff x="326582" y="1516113"/>
            <a:chExt cx="4801867" cy="2239895"/>
          </a:xfrm>
        </p:grpSpPr>
        <p:sp>
          <p:nvSpPr>
            <p:cNvPr id="7" name="Rectangle 6">
              <a:extLst>
                <a:ext uri="{FF2B5EF4-FFF2-40B4-BE49-F238E27FC236}">
                  <a16:creationId xmlns:a16="http://schemas.microsoft.com/office/drawing/2014/main" id="{0D13FF55-016D-1F18-5558-5863F9796049}"/>
                </a:ext>
              </a:extLst>
            </p:cNvPr>
            <p:cNvSpPr/>
            <p:nvPr/>
          </p:nvSpPr>
          <p:spPr>
            <a:xfrm>
              <a:off x="326582" y="1516113"/>
              <a:ext cx="4801867" cy="223989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r>
                <a:rPr lang="en-US" sz="2000" b="1" dirty="0">
                  <a:solidFill>
                    <a:schemeClr val="tx1"/>
                  </a:solidFill>
                </a:rPr>
                <a:t>Example services managed by the customer</a:t>
              </a:r>
            </a:p>
          </p:txBody>
        </p:sp>
        <p:sp>
          <p:nvSpPr>
            <p:cNvPr id="8" name="TextBox 7">
              <a:extLst>
                <a:ext uri="{FF2B5EF4-FFF2-40B4-BE49-F238E27FC236}">
                  <a16:creationId xmlns:a16="http://schemas.microsoft.com/office/drawing/2014/main" id="{FBD57A5B-3E0E-959E-A755-694B9CBBC303}"/>
                </a:ext>
              </a:extLst>
            </p:cNvPr>
            <p:cNvSpPr txBox="1"/>
            <p:nvPr/>
          </p:nvSpPr>
          <p:spPr>
            <a:xfrm>
              <a:off x="344931" y="2835503"/>
              <a:ext cx="1278964" cy="372025"/>
            </a:xfrm>
            <a:prstGeom prst="rect">
              <a:avLst/>
            </a:prstGeom>
            <a:noFill/>
          </p:spPr>
          <p:txBody>
            <a:bodyPr wrap="square" rtlCol="0">
              <a:spAutoFit/>
            </a:bodyPr>
            <a:lstStyle/>
            <a:p>
              <a:pPr algn="ctr"/>
              <a:r>
                <a:rPr lang="en-US" sz="1800" dirty="0"/>
                <a:t>Amazon </a:t>
              </a:r>
              <a:br>
                <a:rPr lang="en-US" sz="1800" dirty="0"/>
              </a:br>
              <a:r>
                <a:rPr lang="en-US" sz="1800" dirty="0"/>
                <a:t>EC2</a:t>
              </a:r>
            </a:p>
          </p:txBody>
        </p:sp>
        <p:pic>
          <p:nvPicPr>
            <p:cNvPr id="9" name="Graphic 8">
              <a:extLst>
                <a:ext uri="{FF2B5EF4-FFF2-40B4-BE49-F238E27FC236}">
                  <a16:creationId xmlns:a16="http://schemas.microsoft.com/office/drawing/2014/main" id="{A61DE6B5-2C37-2A09-4F0A-DBDD6675B9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7868" y="2093819"/>
              <a:ext cx="720047" cy="711200"/>
            </a:xfrm>
            <a:prstGeom prst="rect">
              <a:avLst/>
            </a:prstGeom>
          </p:spPr>
        </p:pic>
        <p:sp>
          <p:nvSpPr>
            <p:cNvPr id="10" name="TextBox 9">
              <a:extLst>
                <a:ext uri="{FF2B5EF4-FFF2-40B4-BE49-F238E27FC236}">
                  <a16:creationId xmlns:a16="http://schemas.microsoft.com/office/drawing/2014/main" id="{FBF788E6-33A2-B0A7-8809-CE2BE74C4BEB}"/>
                </a:ext>
              </a:extLst>
            </p:cNvPr>
            <p:cNvSpPr txBox="1"/>
            <p:nvPr/>
          </p:nvSpPr>
          <p:spPr>
            <a:xfrm>
              <a:off x="1571163" y="2835503"/>
              <a:ext cx="1581951" cy="372025"/>
            </a:xfrm>
            <a:prstGeom prst="rect">
              <a:avLst/>
            </a:prstGeom>
            <a:noFill/>
          </p:spPr>
          <p:txBody>
            <a:bodyPr wrap="square" rtlCol="0">
              <a:spAutoFit/>
            </a:bodyPr>
            <a:lstStyle/>
            <a:p>
              <a:pPr algn="ctr"/>
              <a:r>
                <a:rPr lang="en-US" sz="1800" dirty="0"/>
                <a:t>Amazon Elastic Block Store (Amazon EBS)</a:t>
              </a:r>
            </a:p>
          </p:txBody>
        </p:sp>
        <p:pic>
          <p:nvPicPr>
            <p:cNvPr id="11" name="Graphic 10">
              <a:extLst>
                <a:ext uri="{FF2B5EF4-FFF2-40B4-BE49-F238E27FC236}">
                  <a16:creationId xmlns:a16="http://schemas.microsoft.com/office/drawing/2014/main" id="{FD5D9222-0F42-489D-189B-E27430948C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21711" y="2093819"/>
              <a:ext cx="720047" cy="711200"/>
            </a:xfrm>
            <a:prstGeom prst="rect">
              <a:avLst/>
            </a:prstGeom>
          </p:spPr>
        </p:pic>
        <p:sp>
          <p:nvSpPr>
            <p:cNvPr id="12" name="TextBox 11">
              <a:extLst>
                <a:ext uri="{FF2B5EF4-FFF2-40B4-BE49-F238E27FC236}">
                  <a16:creationId xmlns:a16="http://schemas.microsoft.com/office/drawing/2014/main" id="{7B407F94-C2FB-9DCE-64D4-DF638F6B7F4B}"/>
                </a:ext>
              </a:extLst>
            </p:cNvPr>
            <p:cNvSpPr txBox="1"/>
            <p:nvPr/>
          </p:nvSpPr>
          <p:spPr>
            <a:xfrm>
              <a:off x="3020213" y="2789335"/>
              <a:ext cx="2095879" cy="531464"/>
            </a:xfrm>
            <a:prstGeom prst="rect">
              <a:avLst/>
            </a:prstGeom>
            <a:noFill/>
          </p:spPr>
          <p:txBody>
            <a:bodyPr wrap="square" rtlCol="0">
              <a:spAutoFit/>
            </a:bodyPr>
            <a:lstStyle/>
            <a:p>
              <a:pPr algn="ctr"/>
              <a:r>
                <a:rPr lang="en-US" sz="1800" dirty="0"/>
                <a:t>Amazon </a:t>
              </a:r>
              <a:br>
                <a:rPr lang="en-US" sz="1800" dirty="0"/>
              </a:br>
              <a:r>
                <a:rPr lang="en-US" sz="1800" dirty="0"/>
                <a:t>Virtual Private Cloud </a:t>
              </a:r>
            </a:p>
            <a:p>
              <a:pPr algn="ctr"/>
              <a:r>
                <a:rPr lang="en-US" sz="1800" dirty="0"/>
                <a:t>(Amazon VPC)</a:t>
              </a:r>
            </a:p>
          </p:txBody>
        </p:sp>
        <p:pic>
          <p:nvPicPr>
            <p:cNvPr id="13" name="Graphic 12">
              <a:extLst>
                <a:ext uri="{FF2B5EF4-FFF2-40B4-BE49-F238E27FC236}">
                  <a16:creationId xmlns:a16="http://schemas.microsoft.com/office/drawing/2014/main" id="{C4428167-819A-7815-6EFC-7DC5B26FED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97116" y="2093819"/>
              <a:ext cx="720047" cy="711200"/>
            </a:xfrm>
            <a:prstGeom prst="rect">
              <a:avLst/>
            </a:prstGeom>
          </p:spPr>
        </p:pic>
      </p:grpSp>
      <p:grpSp>
        <p:nvGrpSpPr>
          <p:cNvPr id="14" name="Group 13" descr="box labeled &quot;examle services managed by AWS&quot;, includes three examples: Lambda, RDS, and Elastic Beanstalk.">
            <a:extLst>
              <a:ext uri="{FF2B5EF4-FFF2-40B4-BE49-F238E27FC236}">
                <a16:creationId xmlns:a16="http://schemas.microsoft.com/office/drawing/2014/main" id="{C11E234D-52CC-B01A-C9EE-4119F56C3523}"/>
              </a:ext>
            </a:extLst>
          </p:cNvPr>
          <p:cNvGrpSpPr/>
          <p:nvPr/>
        </p:nvGrpSpPr>
        <p:grpSpPr>
          <a:xfrm>
            <a:off x="2127629" y="8122786"/>
            <a:ext cx="8064879" cy="4080578"/>
            <a:chOff x="213812" y="4058398"/>
            <a:chExt cx="4902280" cy="2297952"/>
          </a:xfrm>
        </p:grpSpPr>
        <p:sp>
          <p:nvSpPr>
            <p:cNvPr id="15" name="Rectangle 14">
              <a:extLst>
                <a:ext uri="{FF2B5EF4-FFF2-40B4-BE49-F238E27FC236}">
                  <a16:creationId xmlns:a16="http://schemas.microsoft.com/office/drawing/2014/main" id="{0625F2CE-A030-C6AD-2C0D-903469AFBD3D}"/>
                </a:ext>
              </a:extLst>
            </p:cNvPr>
            <p:cNvSpPr/>
            <p:nvPr/>
          </p:nvSpPr>
          <p:spPr>
            <a:xfrm>
              <a:off x="314225" y="4058398"/>
              <a:ext cx="4801867" cy="2297952"/>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r>
                <a:rPr lang="en-US" sz="2000" b="1" dirty="0">
                  <a:solidFill>
                    <a:schemeClr val="tx1"/>
                  </a:solidFill>
                </a:rPr>
                <a:t>Example services managed by AWS</a:t>
              </a:r>
            </a:p>
          </p:txBody>
        </p:sp>
        <p:sp>
          <p:nvSpPr>
            <p:cNvPr id="16" name="TextBox 15">
              <a:extLst>
                <a:ext uri="{FF2B5EF4-FFF2-40B4-BE49-F238E27FC236}">
                  <a16:creationId xmlns:a16="http://schemas.microsoft.com/office/drawing/2014/main" id="{1EBAE7BC-B03D-4717-75FD-BB86F0B626C7}"/>
                </a:ext>
              </a:extLst>
            </p:cNvPr>
            <p:cNvSpPr txBox="1"/>
            <p:nvPr/>
          </p:nvSpPr>
          <p:spPr>
            <a:xfrm>
              <a:off x="1519429" y="5434909"/>
              <a:ext cx="2208917" cy="571964"/>
            </a:xfrm>
            <a:prstGeom prst="rect">
              <a:avLst/>
            </a:prstGeom>
            <a:noFill/>
          </p:spPr>
          <p:txBody>
            <a:bodyPr wrap="square" rtlCol="0">
              <a:spAutoFit/>
            </a:bodyPr>
            <a:lstStyle/>
            <a:p>
              <a:pPr algn="ctr"/>
              <a:r>
                <a:rPr lang="en-US" sz="2000" dirty="0"/>
                <a:t>Amazon </a:t>
              </a:r>
              <a:br>
                <a:rPr lang="en-US" sz="2000" dirty="0"/>
              </a:br>
              <a:r>
                <a:rPr lang="en-US" sz="2000" dirty="0"/>
                <a:t>Relational Database Service (Amazon RDS)</a:t>
              </a:r>
            </a:p>
          </p:txBody>
        </p:sp>
        <p:pic>
          <p:nvPicPr>
            <p:cNvPr id="17" name="Graphic 16">
              <a:extLst>
                <a:ext uri="{FF2B5EF4-FFF2-40B4-BE49-F238E27FC236}">
                  <a16:creationId xmlns:a16="http://schemas.microsoft.com/office/drawing/2014/main" id="{A9882593-722D-A608-FAD7-A771E8378E4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68288" y="4687410"/>
              <a:ext cx="711200" cy="711200"/>
            </a:xfrm>
            <a:prstGeom prst="rect">
              <a:avLst/>
            </a:prstGeom>
          </p:spPr>
        </p:pic>
        <p:sp>
          <p:nvSpPr>
            <p:cNvPr id="18" name="TextBox 17">
              <a:extLst>
                <a:ext uri="{FF2B5EF4-FFF2-40B4-BE49-F238E27FC236}">
                  <a16:creationId xmlns:a16="http://schemas.microsoft.com/office/drawing/2014/main" id="{EC7082E4-033A-C112-98F9-B44C64434627}"/>
                </a:ext>
              </a:extLst>
            </p:cNvPr>
            <p:cNvSpPr txBox="1"/>
            <p:nvPr/>
          </p:nvSpPr>
          <p:spPr>
            <a:xfrm>
              <a:off x="3767936" y="5434909"/>
              <a:ext cx="1312064" cy="398642"/>
            </a:xfrm>
            <a:prstGeom prst="rect">
              <a:avLst/>
            </a:prstGeom>
            <a:noFill/>
          </p:spPr>
          <p:txBody>
            <a:bodyPr wrap="square" rtlCol="0">
              <a:spAutoFit/>
            </a:bodyPr>
            <a:lstStyle/>
            <a:p>
              <a:pPr algn="ctr"/>
              <a:r>
                <a:rPr lang="en-US" sz="2000" dirty="0"/>
                <a:t>AWS Elastic Beanstalk</a:t>
              </a:r>
            </a:p>
          </p:txBody>
        </p:sp>
        <p:pic>
          <p:nvPicPr>
            <p:cNvPr id="19" name="Graphic 18">
              <a:extLst>
                <a:ext uri="{FF2B5EF4-FFF2-40B4-BE49-F238E27FC236}">
                  <a16:creationId xmlns:a16="http://schemas.microsoft.com/office/drawing/2014/main" id="{3CE527EA-1338-653E-F799-D9B45ED0BD7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4566" y="4731351"/>
              <a:ext cx="711200" cy="623318"/>
            </a:xfrm>
            <a:prstGeom prst="rect">
              <a:avLst/>
            </a:prstGeom>
          </p:spPr>
        </p:pic>
        <p:sp>
          <p:nvSpPr>
            <p:cNvPr id="20" name="TextBox 19">
              <a:extLst>
                <a:ext uri="{FF2B5EF4-FFF2-40B4-BE49-F238E27FC236}">
                  <a16:creationId xmlns:a16="http://schemas.microsoft.com/office/drawing/2014/main" id="{F3B2826F-7737-A492-7F22-172632CEF82E}"/>
                </a:ext>
              </a:extLst>
            </p:cNvPr>
            <p:cNvSpPr txBox="1"/>
            <p:nvPr/>
          </p:nvSpPr>
          <p:spPr>
            <a:xfrm>
              <a:off x="213812" y="5434909"/>
              <a:ext cx="1506552" cy="398642"/>
            </a:xfrm>
            <a:prstGeom prst="rect">
              <a:avLst/>
            </a:prstGeom>
            <a:noFill/>
          </p:spPr>
          <p:txBody>
            <a:bodyPr wrap="square" rtlCol="0">
              <a:spAutoFit/>
            </a:bodyPr>
            <a:lstStyle/>
            <a:p>
              <a:pPr algn="ctr"/>
              <a:r>
                <a:rPr lang="en-US" sz="2000" dirty="0"/>
                <a:t>AWS </a:t>
              </a:r>
              <a:br>
                <a:rPr lang="en-US" sz="2000" dirty="0"/>
              </a:br>
              <a:r>
                <a:rPr lang="en-US" sz="2000" dirty="0"/>
                <a:t>Lambda</a:t>
              </a:r>
            </a:p>
          </p:txBody>
        </p:sp>
        <p:pic>
          <p:nvPicPr>
            <p:cNvPr id="21" name="Graphic 20">
              <a:extLst>
                <a:ext uri="{FF2B5EF4-FFF2-40B4-BE49-F238E27FC236}">
                  <a16:creationId xmlns:a16="http://schemas.microsoft.com/office/drawing/2014/main" id="{47F545D2-7AD8-5970-E299-B6BA0C9F3FE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33609" y="4687410"/>
              <a:ext cx="711200" cy="711200"/>
            </a:xfrm>
            <a:prstGeom prst="rect">
              <a:avLst/>
            </a:prstGeom>
          </p:spPr>
        </p:pic>
      </p:grpSp>
    </p:spTree>
    <p:extLst>
      <p:ext uri="{BB962C8B-B14F-4D97-AF65-F5344CB8AC3E}">
        <p14:creationId xmlns:p14="http://schemas.microsoft.com/office/powerpoint/2010/main" val="249373903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8F8AD-112F-D06A-DD36-93332B76107B}"/>
              </a:ext>
            </a:extLst>
          </p:cNvPr>
          <p:cNvSpPr>
            <a:spLocks noGrp="1"/>
          </p:cNvSpPr>
          <p:nvPr>
            <p:ph type="title"/>
          </p:nvPr>
        </p:nvSpPr>
        <p:spPr/>
        <p:txBody>
          <a:bodyPr>
            <a:normAutofit fontScale="90000"/>
          </a:bodyPr>
          <a:lstStyle/>
          <a:p>
            <a:r>
              <a:rPr lang="en-US" dirty="0"/>
              <a:t>CLOUD</a:t>
            </a:r>
          </a:p>
        </p:txBody>
      </p:sp>
      <p:sp>
        <p:nvSpPr>
          <p:cNvPr id="7" name="Text Placeholder 2">
            <a:extLst>
              <a:ext uri="{FF2B5EF4-FFF2-40B4-BE49-F238E27FC236}">
                <a16:creationId xmlns:a16="http://schemas.microsoft.com/office/drawing/2014/main" id="{0390FCC3-20CC-917C-B603-70639613FCA4}"/>
              </a:ext>
            </a:extLst>
          </p:cNvPr>
          <p:cNvSpPr txBox="1">
            <a:spLocks/>
          </p:cNvSpPr>
          <p:nvPr/>
        </p:nvSpPr>
        <p:spPr>
          <a:xfrm>
            <a:off x="2015507" y="2579078"/>
            <a:ext cx="9768875" cy="803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fontScale="92500" lnSpcReduction="20000"/>
          </a:bodyPr>
          <a:lstStyle>
            <a:lvl1pPr marL="0" marR="0" indent="0" algn="l" defTabSz="2438338" rtl="0" eaLnBrk="1" latinLnBrk="0" hangingPunct="1">
              <a:lnSpc>
                <a:spcPct val="90000"/>
              </a:lnSpc>
              <a:spcBef>
                <a:spcPts val="4500"/>
              </a:spcBef>
              <a:spcAft>
                <a:spcPts val="0"/>
              </a:spcAft>
              <a:buClrTx/>
              <a:buSzPct val="123000"/>
              <a:buFontTx/>
              <a:buNone/>
              <a:tabLst/>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US" dirty="0"/>
              <a:t>Service characteristics and security responsibility </a:t>
            </a:r>
          </a:p>
        </p:txBody>
      </p:sp>
      <p:sp>
        <p:nvSpPr>
          <p:cNvPr id="8" name="Content Placeholder 14">
            <a:extLst>
              <a:ext uri="{FF2B5EF4-FFF2-40B4-BE49-F238E27FC236}">
                <a16:creationId xmlns:a16="http://schemas.microsoft.com/office/drawing/2014/main" id="{7C722E8C-0C5B-D345-2410-6CD319AE7843}"/>
              </a:ext>
            </a:extLst>
          </p:cNvPr>
          <p:cNvSpPr txBox="1">
            <a:spLocks/>
          </p:cNvSpPr>
          <p:nvPr/>
        </p:nvSpPr>
        <p:spPr>
          <a:xfrm>
            <a:off x="10070084" y="4637031"/>
            <a:ext cx="8819462" cy="697109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b="1" dirty="0">
                <a:latin typeface="Open Sans Light" panose="020B0306030504020204" pitchFamily="34" charset="0"/>
                <a:ea typeface="Open Sans Light" panose="020B0306030504020204" pitchFamily="34" charset="0"/>
                <a:cs typeface="Open Sans Light" panose="020B0306030504020204" pitchFamily="34" charset="0"/>
              </a:rPr>
              <a:t>Software as a service (SaaS) </a:t>
            </a:r>
          </a:p>
          <a:p>
            <a:r>
              <a:rPr lang="en-US" b="1" dirty="0">
                <a:latin typeface="Open Sans Light" panose="020B0306030504020204" pitchFamily="34" charset="0"/>
                <a:ea typeface="Open Sans Light" panose="020B0306030504020204" pitchFamily="34" charset="0"/>
                <a:cs typeface="Open Sans Light" panose="020B0306030504020204" pitchFamily="34" charset="0"/>
              </a:rPr>
              <a:t>Software is centrally hosted</a:t>
            </a:r>
          </a:p>
          <a:p>
            <a:r>
              <a:rPr lang="en-US" b="1" dirty="0">
                <a:latin typeface="Open Sans Light" panose="020B0306030504020204" pitchFamily="34" charset="0"/>
                <a:ea typeface="Open Sans Light" panose="020B0306030504020204" pitchFamily="34" charset="0"/>
                <a:cs typeface="Open Sans Light" panose="020B0306030504020204" pitchFamily="34" charset="0"/>
              </a:rPr>
              <a:t>Licensed on a subscription model or pay-as-you-go basis.</a:t>
            </a:r>
          </a:p>
          <a:p>
            <a:r>
              <a:rPr lang="en-US" b="1" dirty="0">
                <a:latin typeface="Open Sans Light" panose="020B0306030504020204" pitchFamily="34" charset="0"/>
                <a:ea typeface="Open Sans Light" panose="020B0306030504020204" pitchFamily="34" charset="0"/>
                <a:cs typeface="Open Sans Light" panose="020B0306030504020204" pitchFamily="34" charset="0"/>
              </a:rPr>
              <a:t>Services are typically accessed via web browser, mobile app, or application programming interface (API)</a:t>
            </a:r>
          </a:p>
          <a:p>
            <a:r>
              <a:rPr lang="en-US" b="1" dirty="0">
                <a:latin typeface="Open Sans Light" panose="020B0306030504020204" pitchFamily="34" charset="0"/>
                <a:ea typeface="Open Sans Light" panose="020B0306030504020204" pitchFamily="34" charset="0"/>
                <a:cs typeface="Open Sans Light" panose="020B0306030504020204" pitchFamily="34" charset="0"/>
              </a:rPr>
              <a:t>Customers do not need to manage the infrastructure that supports the service</a:t>
            </a:r>
          </a:p>
          <a:p>
            <a:pPr marL="0" indent="0">
              <a:buFont typeface="Arial" pitchFamily="34" charset="0"/>
              <a:buNone/>
            </a:pPr>
            <a:endParaRPr lang="en-US" b="1" dirty="0">
              <a:latin typeface="Open Sans Light" panose="020B0306030504020204" pitchFamily="34" charset="0"/>
              <a:ea typeface="Open Sans Light" panose="020B0306030504020204" pitchFamily="34" charset="0"/>
              <a:cs typeface="Open Sans Light" panose="020B0306030504020204" pitchFamily="34" charset="0"/>
            </a:endParaRPr>
          </a:p>
          <a:p>
            <a:pPr marL="0" indent="0">
              <a:buFont typeface="Arial" pitchFamily="34" charset="0"/>
              <a:buNone/>
            </a:pPr>
            <a:endParaRPr lang="en-US" b="1"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12" name="Picture 11">
            <a:extLst>
              <a:ext uri="{FF2B5EF4-FFF2-40B4-BE49-F238E27FC236}">
                <a16:creationId xmlns:a16="http://schemas.microsoft.com/office/drawing/2014/main" id="{7EBB0281-78DA-6612-696E-DBF233337EDA}"/>
              </a:ext>
            </a:extLst>
          </p:cNvPr>
          <p:cNvPicPr>
            <a:picLocks noChangeAspect="1"/>
          </p:cNvPicPr>
          <p:nvPr/>
        </p:nvPicPr>
        <p:blipFill>
          <a:blip r:embed="rId2"/>
          <a:stretch>
            <a:fillRect/>
          </a:stretch>
        </p:blipFill>
        <p:spPr>
          <a:xfrm>
            <a:off x="2015507" y="4508989"/>
            <a:ext cx="7518874" cy="3611429"/>
          </a:xfrm>
          <a:prstGeom prst="rect">
            <a:avLst/>
          </a:prstGeom>
        </p:spPr>
      </p:pic>
    </p:spTree>
    <p:extLst>
      <p:ext uri="{BB962C8B-B14F-4D97-AF65-F5344CB8AC3E}">
        <p14:creationId xmlns:p14="http://schemas.microsoft.com/office/powerpoint/2010/main" val="209049928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51C81-DDA9-DDFD-9424-B245E241A2A3}"/>
              </a:ext>
            </a:extLst>
          </p:cNvPr>
          <p:cNvSpPr>
            <a:spLocks noGrp="1"/>
          </p:cNvSpPr>
          <p:nvPr>
            <p:ph type="title"/>
          </p:nvPr>
        </p:nvSpPr>
        <p:spPr/>
        <p:txBody>
          <a:bodyPr>
            <a:normAutofit fontScale="90000"/>
          </a:bodyPr>
          <a:lstStyle/>
          <a:p>
            <a:r>
              <a:rPr lang="en-US" dirty="0"/>
              <a:t>CLOUD</a:t>
            </a:r>
          </a:p>
        </p:txBody>
      </p:sp>
      <p:sp>
        <p:nvSpPr>
          <p:cNvPr id="3" name="Text Placeholder 2">
            <a:extLst>
              <a:ext uri="{FF2B5EF4-FFF2-40B4-BE49-F238E27FC236}">
                <a16:creationId xmlns:a16="http://schemas.microsoft.com/office/drawing/2014/main" id="{BFDE2954-1D61-460C-8B04-15B066DE27B5}"/>
              </a:ext>
            </a:extLst>
          </p:cNvPr>
          <p:cNvSpPr>
            <a:spLocks noGrp="1"/>
          </p:cNvSpPr>
          <p:nvPr>
            <p:ph type="body" sz="quarter" idx="10"/>
          </p:nvPr>
        </p:nvSpPr>
        <p:spPr/>
        <p:txBody>
          <a:bodyPr/>
          <a:lstStyle/>
          <a:p>
            <a:r>
              <a:rPr lang="en-US" dirty="0"/>
              <a:t>LOAD BALANCING</a:t>
            </a:r>
          </a:p>
        </p:txBody>
      </p:sp>
      <p:sp>
        <p:nvSpPr>
          <p:cNvPr id="4" name="Content Placeholder 3">
            <a:extLst>
              <a:ext uri="{FF2B5EF4-FFF2-40B4-BE49-F238E27FC236}">
                <a16:creationId xmlns:a16="http://schemas.microsoft.com/office/drawing/2014/main" id="{D4CCBDEA-6147-A345-F69A-B16EFD5EEB5B}"/>
              </a:ext>
            </a:extLst>
          </p:cNvPr>
          <p:cNvSpPr>
            <a:spLocks noGrp="1"/>
          </p:cNvSpPr>
          <p:nvPr>
            <p:ph sz="quarter" idx="11"/>
          </p:nvPr>
        </p:nvSpPr>
        <p:spPr>
          <a:xfrm>
            <a:off x="2314801" y="3296073"/>
            <a:ext cx="16495992" cy="4522264"/>
          </a:xfrm>
        </p:spPr>
        <p:txBody>
          <a:bodyPr>
            <a:normAutofit/>
          </a:bodyPr>
          <a:lstStyle/>
          <a:p>
            <a:r>
              <a:rPr lang="en-US" sz="3200" b="1" dirty="0"/>
              <a:t>Company website or applications typically must be on for 24 hours.</a:t>
            </a:r>
          </a:p>
          <a:p>
            <a:r>
              <a:rPr lang="en-US" sz="3200" b="1" dirty="0"/>
              <a:t>To keep this website or application reliable, one of technique is use load balancing</a:t>
            </a:r>
          </a:p>
          <a:p>
            <a:r>
              <a:rPr lang="en-US" sz="3200" b="1" dirty="0"/>
              <a:t> Load balancing is a way to distribute the load that is incoming across multiple devices, thereby making the resource available to more people than having a single server in place</a:t>
            </a:r>
          </a:p>
        </p:txBody>
      </p:sp>
      <p:pic>
        <p:nvPicPr>
          <p:cNvPr id="6" name="Picture 5">
            <a:extLst>
              <a:ext uri="{FF2B5EF4-FFF2-40B4-BE49-F238E27FC236}">
                <a16:creationId xmlns:a16="http://schemas.microsoft.com/office/drawing/2014/main" id="{8A6CB754-43B0-1AFA-3355-A65C24373791}"/>
              </a:ext>
            </a:extLst>
          </p:cNvPr>
          <p:cNvPicPr>
            <a:picLocks noChangeAspect="1"/>
          </p:cNvPicPr>
          <p:nvPr/>
        </p:nvPicPr>
        <p:blipFill>
          <a:blip r:embed="rId2"/>
          <a:stretch>
            <a:fillRect/>
          </a:stretch>
        </p:blipFill>
        <p:spPr>
          <a:xfrm>
            <a:off x="6401460" y="6680579"/>
            <a:ext cx="8447304" cy="6153339"/>
          </a:xfrm>
          <a:prstGeom prst="rect">
            <a:avLst/>
          </a:prstGeom>
        </p:spPr>
      </p:pic>
      <p:sp>
        <p:nvSpPr>
          <p:cNvPr id="10" name="TextBox 9">
            <a:extLst>
              <a:ext uri="{FF2B5EF4-FFF2-40B4-BE49-F238E27FC236}">
                <a16:creationId xmlns:a16="http://schemas.microsoft.com/office/drawing/2014/main" id="{E8518A88-29B7-B486-2804-D316A193074D}"/>
              </a:ext>
            </a:extLst>
          </p:cNvPr>
          <p:cNvSpPr txBox="1"/>
          <p:nvPr/>
        </p:nvSpPr>
        <p:spPr>
          <a:xfrm>
            <a:off x="5838697" y="13254335"/>
            <a:ext cx="1219511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https://codeburst.io/load-balancers-an-analogy-cc64d9430db0</a:t>
            </a:r>
          </a:p>
        </p:txBody>
      </p:sp>
    </p:spTree>
    <p:extLst>
      <p:ext uri="{BB962C8B-B14F-4D97-AF65-F5344CB8AC3E}">
        <p14:creationId xmlns:p14="http://schemas.microsoft.com/office/powerpoint/2010/main" val="272393288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51C81-DDA9-DDFD-9424-B245E241A2A3}"/>
              </a:ext>
            </a:extLst>
          </p:cNvPr>
          <p:cNvSpPr>
            <a:spLocks noGrp="1"/>
          </p:cNvSpPr>
          <p:nvPr>
            <p:ph type="title"/>
          </p:nvPr>
        </p:nvSpPr>
        <p:spPr/>
        <p:txBody>
          <a:bodyPr>
            <a:normAutofit fontScale="90000"/>
          </a:bodyPr>
          <a:lstStyle/>
          <a:p>
            <a:r>
              <a:rPr lang="en-US" dirty="0"/>
              <a:t>CLOUD</a:t>
            </a:r>
          </a:p>
        </p:txBody>
      </p:sp>
      <p:sp>
        <p:nvSpPr>
          <p:cNvPr id="3" name="Text Placeholder 2">
            <a:extLst>
              <a:ext uri="{FF2B5EF4-FFF2-40B4-BE49-F238E27FC236}">
                <a16:creationId xmlns:a16="http://schemas.microsoft.com/office/drawing/2014/main" id="{BFDE2954-1D61-460C-8B04-15B066DE27B5}"/>
              </a:ext>
            </a:extLst>
          </p:cNvPr>
          <p:cNvSpPr>
            <a:spLocks noGrp="1"/>
          </p:cNvSpPr>
          <p:nvPr>
            <p:ph type="body" sz="quarter" idx="10"/>
          </p:nvPr>
        </p:nvSpPr>
        <p:spPr/>
        <p:txBody>
          <a:bodyPr/>
          <a:lstStyle/>
          <a:p>
            <a:r>
              <a:rPr lang="en-US" dirty="0"/>
              <a:t>AUTO SCALLING</a:t>
            </a:r>
          </a:p>
        </p:txBody>
      </p:sp>
      <p:sp>
        <p:nvSpPr>
          <p:cNvPr id="4" name="Content Placeholder 3">
            <a:extLst>
              <a:ext uri="{FF2B5EF4-FFF2-40B4-BE49-F238E27FC236}">
                <a16:creationId xmlns:a16="http://schemas.microsoft.com/office/drawing/2014/main" id="{D4CCBDEA-6147-A345-F69A-B16EFD5EEB5B}"/>
              </a:ext>
            </a:extLst>
          </p:cNvPr>
          <p:cNvSpPr>
            <a:spLocks noGrp="1"/>
          </p:cNvSpPr>
          <p:nvPr>
            <p:ph sz="quarter" idx="11"/>
          </p:nvPr>
        </p:nvSpPr>
        <p:spPr>
          <a:xfrm>
            <a:off x="1977179" y="3183059"/>
            <a:ext cx="18214266" cy="3870883"/>
          </a:xfrm>
        </p:spPr>
        <p:txBody>
          <a:bodyPr>
            <a:normAutofit/>
          </a:bodyPr>
          <a:lstStyle/>
          <a:p>
            <a:r>
              <a:rPr lang="en-US" sz="3200" b="1" i="0" dirty="0">
                <a:solidFill>
                  <a:srgbClr val="666666"/>
                </a:solidFill>
                <a:effectLst/>
                <a:latin typeface="Open Sans Light" panose="020B0306030504020204" pitchFamily="34" charset="0"/>
                <a:ea typeface="Open Sans Light" panose="020B0306030504020204" pitchFamily="34" charset="0"/>
                <a:cs typeface="Open Sans Light" panose="020B0306030504020204" pitchFamily="34" charset="0"/>
              </a:rPr>
              <a:t>Autoscaling provides users with an automated approach to increase or decrease the compute, memory or networking resources they have allocated, as traffic spikes and use patterns demand</a:t>
            </a:r>
          </a:p>
          <a:p>
            <a:r>
              <a:rPr lang="en-US" sz="3200" b="1" i="0" dirty="0">
                <a:solidFill>
                  <a:srgbClr val="666666"/>
                </a:solidFill>
                <a:effectLst/>
                <a:latin typeface="Open Sans Light" panose="020B0306030504020204" pitchFamily="34" charset="0"/>
                <a:ea typeface="Open Sans Light" panose="020B0306030504020204" pitchFamily="34" charset="0"/>
                <a:cs typeface="Open Sans Light" panose="020B0306030504020204" pitchFamily="34" charset="0"/>
              </a:rPr>
              <a:t>Autoscaling is a critical aspect of modern </a:t>
            </a:r>
            <a:r>
              <a:rPr lang="en-US" sz="3200" b="1" i="0" u="sng" dirty="0">
                <a:solidFill>
                  <a:srgbClr val="007CAD"/>
                </a:solidFill>
                <a:effectLst/>
                <a:latin typeface="Open Sans Light" panose="020B0306030504020204" pitchFamily="34" charset="0"/>
                <a:ea typeface="Open Sans Light" panose="020B0306030504020204" pitchFamily="34" charset="0"/>
                <a:cs typeface="Open Sans Light" panose="020B0306030504020204" pitchFamily="34" charset="0"/>
                <a:hlinkClick r:id="rId2"/>
              </a:rPr>
              <a:t>cloud computing</a:t>
            </a:r>
            <a:r>
              <a:rPr lang="en-US" sz="3200" b="1" i="0" dirty="0">
                <a:solidFill>
                  <a:srgbClr val="666666"/>
                </a:solidFill>
                <a:effectLst/>
                <a:latin typeface="Open Sans Light" panose="020B0306030504020204" pitchFamily="34" charset="0"/>
                <a:ea typeface="Open Sans Light" panose="020B0306030504020204" pitchFamily="34" charset="0"/>
                <a:cs typeface="Open Sans Light" panose="020B0306030504020204" pitchFamily="34" charset="0"/>
              </a:rPr>
              <a:t> deployments. The core idea behind cloud computing is to enable users to only pay for what they need, which is achieved in part with elastic resources -- applications and infrastructure that can be called on as needed to meet demand.</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TextBox 5">
            <a:extLst>
              <a:ext uri="{FF2B5EF4-FFF2-40B4-BE49-F238E27FC236}">
                <a16:creationId xmlns:a16="http://schemas.microsoft.com/office/drawing/2014/main" id="{FA4F4AAE-DD6F-0B10-23E5-1D9D8AC13047}"/>
              </a:ext>
            </a:extLst>
          </p:cNvPr>
          <p:cNvSpPr txBox="1"/>
          <p:nvPr/>
        </p:nvSpPr>
        <p:spPr>
          <a:xfrm>
            <a:off x="3855534" y="13340206"/>
            <a:ext cx="1219385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dirty="0"/>
              <a:t>https://www.techtarget.com/searchcloudcomputing/definition/autoscaling#:~:text=Autoscaling%20enables%20resources%20to%20scale,a%20scalable%20or%20efficient%20approach.</a:t>
            </a:r>
          </a:p>
        </p:txBody>
      </p:sp>
      <p:pic>
        <p:nvPicPr>
          <p:cNvPr id="1026" name="Picture 2">
            <a:extLst>
              <a:ext uri="{FF2B5EF4-FFF2-40B4-BE49-F238E27FC236}">
                <a16:creationId xmlns:a16="http://schemas.microsoft.com/office/drawing/2014/main" id="{88937343-15E3-0E1F-DB02-0B1548B7C2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7446" y="6858000"/>
            <a:ext cx="9715500" cy="577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123438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C7151-5361-E695-7FDA-4B2C5D614D40}"/>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B68BCF36-E12A-DF0E-6392-0D2F46848FDD}"/>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C9AFA7C6-5F2E-BA06-5D42-4FDD9D553761}"/>
              </a:ext>
            </a:extLst>
          </p:cNvPr>
          <p:cNvSpPr>
            <a:spLocks noGrp="1"/>
          </p:cNvSpPr>
          <p:nvPr>
            <p:ph sz="quarter" idx="11"/>
          </p:nvPr>
        </p:nvSpPr>
        <p:spPr>
          <a:xfrm>
            <a:off x="3919387" y="4596868"/>
            <a:ext cx="14715568" cy="1691965"/>
          </a:xfrm>
        </p:spPr>
        <p:txBody>
          <a:bodyPr>
            <a:normAutofit/>
          </a:bodyPr>
          <a:lstStyle/>
          <a:p>
            <a:pPr marL="514350" indent="-514350">
              <a:buFont typeface="+mj-lt"/>
              <a:buAutoNum type="arabicPeriod"/>
            </a:pPr>
            <a:r>
              <a:rPr lang="en-US" sz="3200" b="1" dirty="0"/>
              <a:t>What component that must be have for create high availability systems ?</a:t>
            </a:r>
          </a:p>
        </p:txBody>
      </p:sp>
    </p:spTree>
    <p:extLst>
      <p:ext uri="{BB962C8B-B14F-4D97-AF65-F5344CB8AC3E}">
        <p14:creationId xmlns:p14="http://schemas.microsoft.com/office/powerpoint/2010/main" val="232601787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9DFB8-CDAD-62FE-0401-D1E232D08AEE}"/>
              </a:ext>
            </a:extLst>
          </p:cNvPr>
          <p:cNvSpPr>
            <a:spLocks noGrp="1"/>
          </p:cNvSpPr>
          <p:nvPr>
            <p:ph type="title"/>
          </p:nvPr>
        </p:nvSpPr>
        <p:spPr/>
        <p:txBody>
          <a:bodyPr>
            <a:normAutofit fontScale="90000"/>
          </a:bodyPr>
          <a:lstStyle/>
          <a:p>
            <a:r>
              <a:rPr lang="en-US" dirty="0"/>
              <a:t>REFFERENCE</a:t>
            </a:r>
          </a:p>
        </p:txBody>
      </p:sp>
      <p:sp>
        <p:nvSpPr>
          <p:cNvPr id="3" name="Text Placeholder 2">
            <a:extLst>
              <a:ext uri="{FF2B5EF4-FFF2-40B4-BE49-F238E27FC236}">
                <a16:creationId xmlns:a16="http://schemas.microsoft.com/office/drawing/2014/main" id="{40E6D3AE-27C5-FFC1-6238-E2BDB4BF4C1B}"/>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1A7BED26-C92F-8FDD-6A74-95C5D8ED6386}"/>
              </a:ext>
            </a:extLst>
          </p:cNvPr>
          <p:cNvSpPr txBox="1">
            <a:spLocks/>
          </p:cNvSpPr>
          <p:nvPr/>
        </p:nvSpPr>
        <p:spPr>
          <a:xfrm>
            <a:off x="2960578" y="3806228"/>
            <a:ext cx="19053467" cy="89579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r>
              <a:rPr lang="en-US" sz="3200" dirty="0" err="1">
                <a:latin typeface="Open Sans Semibold" panose="020B0706030804020204" pitchFamily="34" charset="0"/>
                <a:ea typeface="Open Sans Semibold" panose="020B0706030804020204" pitchFamily="34" charset="0"/>
                <a:cs typeface="Open Sans Semibold" panose="020B0706030804020204" pitchFamily="34" charset="0"/>
              </a:rPr>
              <a:t>Forouzan</a:t>
            </a:r>
            <a:r>
              <a:rPr lang="en-US" sz="3200" dirty="0">
                <a:latin typeface="Open Sans Semibold" panose="020B0706030804020204" pitchFamily="34" charset="0"/>
                <a:ea typeface="Open Sans Semibold" panose="020B0706030804020204" pitchFamily="34" charset="0"/>
                <a:cs typeface="Open Sans Semibold" panose="020B0706030804020204" pitchFamily="34" charset="0"/>
              </a:rPr>
              <a:t>, B. A. (2021). Data Communications and Networking with TCP/IP Protocol Suite. 6th Ed. New York: McGraw-Hill. ISBN: 978-1-26-436335-3.</a:t>
            </a:r>
          </a:p>
          <a:p>
            <a:pPr algn="just"/>
            <a:r>
              <a:rPr lang="en-US" sz="3200" dirty="0">
                <a:latin typeface="Open Sans Semibold" panose="020B0706030804020204" pitchFamily="34" charset="0"/>
                <a:ea typeface="Open Sans Semibold" panose="020B0706030804020204" pitchFamily="34" charset="0"/>
                <a:cs typeface="Open Sans Semibold" panose="020B0706030804020204" pitchFamily="34" charset="0"/>
              </a:rPr>
              <a:t>https://www.professormesser.com/security-plus/sy0-601/sy0-601-video/load-balancing-sy0-601-comptia-security-3-3/</a:t>
            </a:r>
          </a:p>
          <a:p>
            <a:pPr algn="just"/>
            <a:r>
              <a:rPr lang="en-US" sz="3200" dirty="0">
                <a:latin typeface="Open Sans Semibold" panose="020B0706030804020204" pitchFamily="34" charset="0"/>
                <a:ea typeface="Open Sans Semibold" panose="020B0706030804020204" pitchFamily="34" charset="0"/>
                <a:cs typeface="Open Sans Semibold" panose="020B0706030804020204" pitchFamily="34" charset="0"/>
              </a:rPr>
              <a:t>https://www.techtarget.com/searchcloudcomputing/definition/autoscaling#:~:text=Autoscaling%20enables%20resources%20to%20scale,a%20scalable%20or%20efficient%20approach</a:t>
            </a:r>
          </a:p>
          <a:p>
            <a:pPr marL="0" indent="0" algn="just">
              <a:buNone/>
            </a:pPr>
            <a:endParaRPr lang="en-US" sz="3200" dirty="0">
              <a:latin typeface="Open Sans Semibold" panose="020B0706030804020204" pitchFamily="34" charset="0"/>
              <a:ea typeface="Open Sans Semibold" panose="020B0706030804020204" pitchFamily="34" charset="0"/>
              <a:cs typeface="Open Sans Semibold" panose="020B0706030804020204" pitchFamily="34" charset="0"/>
            </a:endParaRPr>
          </a:p>
          <a:p>
            <a:pPr algn="just"/>
            <a:endParaRPr lang="en-US" sz="3200"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286702289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7CA042-A27D-DA2B-B62C-9571D8EEE5A6}"/>
              </a:ext>
            </a:extLst>
          </p:cNvPr>
          <p:cNvSpPr>
            <a:spLocks noGrp="1"/>
          </p:cNvSpPr>
          <p:nvPr>
            <p:ph type="body" sz="quarter" idx="1"/>
          </p:nvPr>
        </p:nvSpPr>
        <p:spPr/>
        <p:txBody>
          <a:bodyPr/>
          <a:lstStyle/>
          <a:p>
            <a:endParaRPr lang="en-US"/>
          </a:p>
        </p:txBody>
      </p:sp>
      <p:sp>
        <p:nvSpPr>
          <p:cNvPr id="3" name="Title 2">
            <a:extLst>
              <a:ext uri="{FF2B5EF4-FFF2-40B4-BE49-F238E27FC236}">
                <a16:creationId xmlns:a16="http://schemas.microsoft.com/office/drawing/2014/main" id="{4EF9523A-CB21-27A4-CE1F-9DD9AD4303BF}"/>
              </a:ext>
            </a:extLst>
          </p:cNvPr>
          <p:cNvSpPr>
            <a:spLocks noGrp="1"/>
          </p:cNvSpPr>
          <p:nvPr>
            <p:ph type="title"/>
          </p:nvPr>
        </p:nvSpPr>
        <p:spPr/>
        <p:txBody>
          <a:bodyPr/>
          <a:lstStyle/>
          <a:p>
            <a:r>
              <a:rPr lang="en-US" dirty="0"/>
              <a:t>Thank you</a:t>
            </a:r>
          </a:p>
        </p:txBody>
      </p:sp>
      <p:sp>
        <p:nvSpPr>
          <p:cNvPr id="4" name="Text Placeholder 3">
            <a:extLst>
              <a:ext uri="{FF2B5EF4-FFF2-40B4-BE49-F238E27FC236}">
                <a16:creationId xmlns:a16="http://schemas.microsoft.com/office/drawing/2014/main" id="{14BEA336-1A7D-9541-EC70-9D8CE9719891}"/>
              </a:ext>
            </a:extLst>
          </p:cNvPr>
          <p:cNvSpPr>
            <a:spLocks noGrp="1"/>
          </p:cNvSpPr>
          <p:nvPr>
            <p:ph type="body" sz="quarter" idx="10"/>
          </p:nvPr>
        </p:nvSpPr>
        <p:spPr/>
        <p:txBody>
          <a:bodyPr>
            <a:normAutofit lnSpcReduction="10000"/>
          </a:bodyPr>
          <a:lstStyle/>
          <a:p>
            <a:r>
              <a:rPr lang="en-US" dirty="0"/>
              <a:t>December 2024</a:t>
            </a:r>
          </a:p>
        </p:txBody>
      </p:sp>
    </p:spTree>
    <p:extLst>
      <p:ext uri="{BB962C8B-B14F-4D97-AF65-F5344CB8AC3E}">
        <p14:creationId xmlns:p14="http://schemas.microsoft.com/office/powerpoint/2010/main" val="1391856750"/>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A9A1C811-4046-44EA-8E0F-7354A0AD2552}" vid="{C3965A57-E83B-4BEA-A297-9AFB7752D311}"/>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ppt binus template</Template>
  <TotalTime>2</TotalTime>
  <Words>653</Words>
  <Application>Microsoft Office PowerPoint</Application>
  <PresentationFormat>Custom</PresentationFormat>
  <Paragraphs>101</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Open Sans Light</vt:lpstr>
      <vt:lpstr>Open Sans Semibold</vt:lpstr>
      <vt:lpstr>Arial</vt:lpstr>
      <vt:lpstr>OCRB</vt:lpstr>
      <vt:lpstr>Open Sans ExtraBold</vt:lpstr>
      <vt:lpstr>21_BasicWhite</vt:lpstr>
      <vt:lpstr>Computer network session 12</vt:lpstr>
      <vt:lpstr>Learning outcomes</vt:lpstr>
      <vt:lpstr>topics</vt:lpstr>
      <vt:lpstr>Cloud security</vt:lpstr>
      <vt:lpstr>cloud</vt:lpstr>
      <vt:lpstr>cloud</vt:lpstr>
      <vt:lpstr>cloud</vt:lpstr>
      <vt:lpstr>CLOUD</vt:lpstr>
      <vt:lpstr>CLOUD</vt:lpstr>
      <vt:lpstr>CLOUD</vt:lpstr>
      <vt:lpstr>exercise</vt:lpstr>
      <vt:lpstr>REFFERENCE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 Santoso Budijono, M.M.</dc:creator>
  <cp:lastModifiedBy>Ir. Santoso Budijono, M.M.</cp:lastModifiedBy>
  <cp:revision>1</cp:revision>
  <dcterms:created xsi:type="dcterms:W3CDTF">2024-12-14T01:51:37Z</dcterms:created>
  <dcterms:modified xsi:type="dcterms:W3CDTF">2024-12-14T01:54:32Z</dcterms:modified>
</cp:coreProperties>
</file>