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sldIdLst>
    <p:sldId id="258" r:id="rId2"/>
    <p:sldId id="259" r:id="rId3"/>
    <p:sldId id="262" r:id="rId4"/>
    <p:sldId id="261" r:id="rId5"/>
    <p:sldId id="269" r:id="rId6"/>
    <p:sldId id="270" r:id="rId7"/>
    <p:sldId id="271" r:id="rId8"/>
    <p:sldId id="272" r:id="rId9"/>
    <p:sldId id="273" r:id="rId10"/>
    <p:sldId id="274" r:id="rId11"/>
    <p:sldId id="264" r:id="rId12"/>
    <p:sldId id="265" r:id="rId13"/>
    <p:sldId id="266" r:id="rId14"/>
    <p:sldId id="267" r:id="rId15"/>
    <p:sldId id="268" r:id="rId16"/>
    <p:sldId id="446" r:id="rId17"/>
    <p:sldId id="263" r:id="rId18"/>
    <p:sldId id="445" r:id="rId19"/>
  </p:sldIdLst>
  <p:sldSz cx="24384000" cy="13716000"/>
  <p:notesSz cx="6858000" cy="9144000"/>
  <p:embeddedFontLst>
    <p:embeddedFont>
      <p:font typeface="OCRB" panose="020B0609020202020204" pitchFamily="49" charset="0"/>
      <p:regular r:id="rId21"/>
    </p:embeddedFont>
    <p:embeddedFont>
      <p:font typeface="Open Sans ExtraBold" panose="020B0906030804020204" pitchFamily="34" charset="0"/>
      <p:bold r:id="rId22"/>
      <p:italic r:id="rId23"/>
      <p:boldItalic r:id="rId24"/>
    </p:embeddedFont>
    <p:embeddedFont>
      <p:font typeface="Open Sans Light" panose="020B0306030504020204" pitchFamily="34" charset="0"/>
      <p:regular r:id="rId25"/>
      <p:italic r:id="rId26"/>
    </p:embeddedFont>
    <p:embeddedFont>
      <p:font typeface="Open Sans Semibold" panose="020B0706030804020204" pitchFamily="34" charset="0"/>
      <p:regular r:id="rId27"/>
      <p:bold r:id="rId28"/>
      <p:italic r:id="rId29"/>
      <p:boldItalic r:id="rId30"/>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97"/>
  </p:normalViewPr>
  <p:slideViewPr>
    <p:cSldViewPr snapToGrid="0" snapToObjects="1">
      <p:cViewPr varScale="1">
        <p:scale>
          <a:sx n="41" d="100"/>
          <a:sy n="41" d="100"/>
        </p:scale>
        <p:origin x="720" y="72"/>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r. Santoso Budijono, M.M." userId="bbff4192-f18b-4ea0-9da7-966ec02cbd0b" providerId="ADAL" clId="{DB49C289-FCA6-4A23-8788-34A55D26780F}"/>
    <pc:docChg chg="custSel addSld modSld">
      <pc:chgData name="Ir. Santoso Budijono, M.M." userId="bbff4192-f18b-4ea0-9da7-966ec02cbd0b" providerId="ADAL" clId="{DB49C289-FCA6-4A23-8788-34A55D26780F}" dt="2024-12-14T02:02:36.337" v="124" actId="113"/>
      <pc:docMkLst>
        <pc:docMk/>
      </pc:docMkLst>
      <pc:sldChg chg="modSp mod">
        <pc:chgData name="Ir. Santoso Budijono, M.M." userId="bbff4192-f18b-4ea0-9da7-966ec02cbd0b" providerId="ADAL" clId="{DB49C289-FCA6-4A23-8788-34A55D26780F}" dt="2024-12-13T12:37:04.417" v="24" actId="20577"/>
        <pc:sldMkLst>
          <pc:docMk/>
          <pc:sldMk cId="2415315432" sldId="262"/>
        </pc:sldMkLst>
        <pc:spChg chg="mod">
          <ac:chgData name="Ir. Santoso Budijono, M.M." userId="bbff4192-f18b-4ea0-9da7-966ec02cbd0b" providerId="ADAL" clId="{DB49C289-FCA6-4A23-8788-34A55D26780F}" dt="2024-12-13T12:37:04.417" v="24" actId="20577"/>
          <ac:spMkLst>
            <pc:docMk/>
            <pc:sldMk cId="2415315432" sldId="262"/>
            <ac:spMk id="8" creationId="{F7C0DC8E-559E-5B1C-1F7F-9F3120BD5215}"/>
          </ac:spMkLst>
        </pc:spChg>
      </pc:sldChg>
      <pc:sldChg chg="modSp new mod">
        <pc:chgData name="Ir. Santoso Budijono, M.M." userId="bbff4192-f18b-4ea0-9da7-966ec02cbd0b" providerId="ADAL" clId="{DB49C289-FCA6-4A23-8788-34A55D26780F}" dt="2024-12-14T02:02:36.337" v="124" actId="113"/>
        <pc:sldMkLst>
          <pc:docMk/>
          <pc:sldMk cId="2161445995" sldId="446"/>
        </pc:sldMkLst>
        <pc:spChg chg="mod">
          <ac:chgData name="Ir. Santoso Budijono, M.M." userId="bbff4192-f18b-4ea0-9da7-966ec02cbd0b" providerId="ADAL" clId="{DB49C289-FCA6-4A23-8788-34A55D26780F}" dt="2024-12-14T02:01:39.006" v="35" actId="20577"/>
          <ac:spMkLst>
            <pc:docMk/>
            <pc:sldMk cId="2161445995" sldId="446"/>
            <ac:spMk id="2" creationId="{1E1A1DBB-A222-E068-82CD-93E49BBD879A}"/>
          </ac:spMkLst>
        </pc:spChg>
        <pc:spChg chg="mod">
          <ac:chgData name="Ir. Santoso Budijono, M.M." userId="bbff4192-f18b-4ea0-9da7-966ec02cbd0b" providerId="ADAL" clId="{DB49C289-FCA6-4A23-8788-34A55D26780F}" dt="2024-12-14T02:02:36.337" v="124" actId="113"/>
          <ac:spMkLst>
            <pc:docMk/>
            <pc:sldMk cId="2161445995" sldId="446"/>
            <ac:spMk id="4" creationId="{FDD0E2E2-8C4B-A86E-461D-95D3159401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5.png"/><Relationship Id="rId5" Type="http://schemas.openxmlformats.org/officeDocument/2006/relationships/image" Target="../media/image11.svg"/><Relationship Id="rId10"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15.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11"/>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12"/>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12"/>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Transport layer</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Computer network</a:t>
            </a:r>
            <a:br>
              <a:rPr lang="en-US" dirty="0"/>
            </a:br>
            <a:r>
              <a:rPr lang="en-US" dirty="0"/>
              <a:t>session 8</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Santoso Budijono</a:t>
            </a:r>
          </a:p>
        </p:txBody>
      </p:sp>
    </p:spTree>
    <p:extLst>
      <p:ext uri="{BB962C8B-B14F-4D97-AF65-F5344CB8AC3E}">
        <p14:creationId xmlns:p14="http://schemas.microsoft.com/office/powerpoint/2010/main" val="250814493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C8BBB-4BF7-BE85-D54D-D0A9CF50CBA4}"/>
              </a:ext>
            </a:extLst>
          </p:cNvPr>
          <p:cNvSpPr>
            <a:spLocks noGrp="1"/>
          </p:cNvSpPr>
          <p:nvPr>
            <p:ph type="title"/>
          </p:nvPr>
        </p:nvSpPr>
        <p:spPr/>
        <p:txBody>
          <a:bodyPr>
            <a:normAutofit fontScale="90000"/>
          </a:bodyPr>
          <a:lstStyle/>
          <a:p>
            <a:r>
              <a:rPr lang="en-US" dirty="0"/>
              <a:t>Learning outcomes</a:t>
            </a:r>
          </a:p>
        </p:txBody>
      </p:sp>
      <p:sp>
        <p:nvSpPr>
          <p:cNvPr id="3" name="Text Placeholder 2">
            <a:extLst>
              <a:ext uri="{FF2B5EF4-FFF2-40B4-BE49-F238E27FC236}">
                <a16:creationId xmlns:a16="http://schemas.microsoft.com/office/drawing/2014/main" id="{DE5C19C5-D693-9A65-B004-1E4675C8F8E7}"/>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91F0E055-8210-691C-0EF7-F371DBB1757D}"/>
              </a:ext>
            </a:extLst>
          </p:cNvPr>
          <p:cNvSpPr>
            <a:spLocks noGrp="1"/>
          </p:cNvSpPr>
          <p:nvPr>
            <p:ph sz="quarter" idx="11"/>
          </p:nvPr>
        </p:nvSpPr>
        <p:spPr/>
        <p:txBody>
          <a:bodyPr>
            <a:normAutofit/>
          </a:bodyPr>
          <a:lstStyle/>
          <a:p>
            <a:pPr marL="0" marR="0" indent="0" algn="l" rtl="0" eaLnBrk="1" fontAlgn="t" latinLnBrk="0" hangingPunct="1">
              <a:spcBef>
                <a:spcPts val="0"/>
              </a:spcBef>
              <a:spcAft>
                <a:spcPts val="0"/>
              </a:spcAft>
              <a:buNone/>
            </a:pPr>
            <a:r>
              <a:rPr lang="en-ID" sz="3200" b="1" i="0" u="none" strike="noStrike" kern="12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LO 1: Describe basic structures of network</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pPr marL="0" marR="0" indent="0" algn="l" rtl="0" eaLnBrk="1" fontAlgn="t" latinLnBrk="0" hangingPunct="1">
              <a:spcBef>
                <a:spcPts val="0"/>
              </a:spcBef>
              <a:spcAft>
                <a:spcPts val="0"/>
              </a:spcAft>
              <a:buNone/>
            </a:pPr>
            <a:r>
              <a:rPr lang="en-ID" sz="3200" b="1" i="0" u="none" strike="noStrike" kern="1200" dirty="0">
                <a:solidFill>
                  <a:srgbClr val="000000"/>
                </a:solidFill>
                <a:effectLst/>
                <a:latin typeface="Open Sans Light" panose="020B0306030504020204" pitchFamily="34" charset="0"/>
                <a:ea typeface="Open Sans Light" panose="020B0306030504020204" pitchFamily="34" charset="0"/>
                <a:cs typeface="Open Sans Light" panose="020B0306030504020204" pitchFamily="34" charset="0"/>
              </a:rPr>
              <a:t>LO 2: Explain basic concepts of network</a:t>
            </a:r>
            <a:endParaRPr lang="en-US" sz="3200" b="1" i="0" u="none" strike="noStrike" dirty="0">
              <a:effectLst/>
              <a:latin typeface="Open Sans Light" panose="020B0306030504020204" pitchFamily="34" charset="0"/>
              <a:ea typeface="Open Sans Light" panose="020B0306030504020204" pitchFamily="34" charset="0"/>
              <a:cs typeface="Open Sans Light" panose="020B0306030504020204" pitchFamily="34" charset="0"/>
            </a:endParaRPr>
          </a:p>
          <a:p>
            <a:endParaRPr lang="en-US" sz="28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120849246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2D43-6DC0-82BA-8E90-2AA624325042}"/>
              </a:ext>
            </a:extLst>
          </p:cNvPr>
          <p:cNvSpPr>
            <a:spLocks noGrp="1"/>
          </p:cNvSpPr>
          <p:nvPr>
            <p:ph type="title"/>
          </p:nvPr>
        </p:nvSpPr>
        <p:spPr/>
        <p:txBody>
          <a:bodyPr>
            <a:normAutofit fontScale="90000"/>
          </a:bodyPr>
          <a:lstStyle/>
          <a:p>
            <a:r>
              <a:rPr lang="en-US" dirty="0"/>
              <a:t>topics</a:t>
            </a:r>
          </a:p>
        </p:txBody>
      </p:sp>
      <p:sp>
        <p:nvSpPr>
          <p:cNvPr id="3" name="Text Placeholder 2">
            <a:extLst>
              <a:ext uri="{FF2B5EF4-FFF2-40B4-BE49-F238E27FC236}">
                <a16:creationId xmlns:a16="http://schemas.microsoft.com/office/drawing/2014/main" id="{C8EBF1C5-C280-D9C4-3EDE-DC565FCDCC5F}"/>
              </a:ext>
            </a:extLst>
          </p:cNvPr>
          <p:cNvSpPr>
            <a:spLocks noGrp="1"/>
          </p:cNvSpPr>
          <p:nvPr>
            <p:ph type="body" sz="quarter" idx="10"/>
          </p:nvPr>
        </p:nvSpPr>
        <p:spPr/>
        <p:txBody>
          <a:bodyPr/>
          <a:lstStyle/>
          <a:p>
            <a:endParaRPr lang="en-US"/>
          </a:p>
        </p:txBody>
      </p:sp>
      <p:sp>
        <p:nvSpPr>
          <p:cNvPr id="8" name="Content Placeholder 7">
            <a:extLst>
              <a:ext uri="{FF2B5EF4-FFF2-40B4-BE49-F238E27FC236}">
                <a16:creationId xmlns:a16="http://schemas.microsoft.com/office/drawing/2014/main" id="{F7C0DC8E-559E-5B1C-1F7F-9F3120BD5215}"/>
              </a:ext>
            </a:extLst>
          </p:cNvPr>
          <p:cNvSpPr>
            <a:spLocks noGrp="1"/>
          </p:cNvSpPr>
          <p:nvPr>
            <p:ph sz="quarter" idx="11"/>
          </p:nvPr>
        </p:nvSpPr>
        <p:spPr/>
        <p:txBody>
          <a:bodyPr>
            <a:normAutofit/>
          </a:bodyPr>
          <a:lstStyle/>
          <a:p>
            <a:r>
              <a:rPr lang="en-US" sz="3200" b="1" dirty="0"/>
              <a:t>TRANSPORT LAYER SERVICES</a:t>
            </a:r>
          </a:p>
          <a:p>
            <a:r>
              <a:rPr lang="en-US" sz="3200" b="1" dirty="0"/>
              <a:t>TCP</a:t>
            </a:r>
          </a:p>
          <a:p>
            <a:r>
              <a:rPr lang="en-US" sz="3200" b="1" dirty="0"/>
              <a:t>UDP</a:t>
            </a:r>
          </a:p>
          <a:p>
            <a:r>
              <a:rPr lang="en-US" sz="3200" b="1" dirty="0"/>
              <a:t>SCTP</a:t>
            </a:r>
          </a:p>
        </p:txBody>
      </p:sp>
    </p:spTree>
    <p:extLst>
      <p:ext uri="{BB962C8B-B14F-4D97-AF65-F5344CB8AC3E}">
        <p14:creationId xmlns:p14="http://schemas.microsoft.com/office/powerpoint/2010/main" val="241531543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2D43-6DC0-82BA-8E90-2AA624325042}"/>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C8EBF1C5-C280-D9C4-3EDE-DC565FCDCC5F}"/>
              </a:ext>
            </a:extLst>
          </p:cNvPr>
          <p:cNvSpPr>
            <a:spLocks noGrp="1"/>
          </p:cNvSpPr>
          <p:nvPr>
            <p:ph type="body" sz="quarter" idx="10"/>
          </p:nvPr>
        </p:nvSpPr>
        <p:spPr/>
        <p:txBody>
          <a:bodyPr/>
          <a:lstStyle/>
          <a:p>
            <a:r>
              <a:rPr lang="en-US" dirty="0"/>
              <a:t>SERVICES</a:t>
            </a:r>
          </a:p>
        </p:txBody>
      </p:sp>
      <p:pic>
        <p:nvPicPr>
          <p:cNvPr id="8" name="Content Placeholder 7">
            <a:extLst>
              <a:ext uri="{FF2B5EF4-FFF2-40B4-BE49-F238E27FC236}">
                <a16:creationId xmlns:a16="http://schemas.microsoft.com/office/drawing/2014/main" id="{3A64FA84-C787-BBAA-F4B9-4D15317BF580}"/>
              </a:ext>
            </a:extLst>
          </p:cNvPr>
          <p:cNvPicPr>
            <a:picLocks noGrp="1" noChangeAspect="1"/>
          </p:cNvPicPr>
          <p:nvPr>
            <p:ph sz="quarter" idx="11"/>
          </p:nvPr>
        </p:nvPicPr>
        <p:blipFill>
          <a:blip r:embed="rId2"/>
          <a:stretch>
            <a:fillRect/>
          </a:stretch>
        </p:blipFill>
        <p:spPr>
          <a:xfrm>
            <a:off x="1071562" y="3357002"/>
            <a:ext cx="8358015" cy="8782997"/>
          </a:xfrm>
        </p:spPr>
      </p:pic>
      <p:sp>
        <p:nvSpPr>
          <p:cNvPr id="9" name="TextBox 8">
            <a:extLst>
              <a:ext uri="{FF2B5EF4-FFF2-40B4-BE49-F238E27FC236}">
                <a16:creationId xmlns:a16="http://schemas.microsoft.com/office/drawing/2014/main" id="{F53A59F4-8C13-390B-5E18-6D8E41391B6F}"/>
              </a:ext>
            </a:extLst>
          </p:cNvPr>
          <p:cNvSpPr txBox="1"/>
          <p:nvPr/>
        </p:nvSpPr>
        <p:spPr>
          <a:xfrm>
            <a:off x="10439283" y="2496302"/>
            <a:ext cx="13420841" cy="9459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57200" indent="-457200" algn="l">
              <a:buFont typeface="+mj-lt"/>
              <a:buAutoNum type="arabicPeriod"/>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Process-to-Process Communication</a:t>
            </a:r>
            <a:br>
              <a:rPr lang="en-US" sz="3200" b="1" dirty="0">
                <a:latin typeface="Open Sans Light" panose="020B0306030504020204" pitchFamily="34" charset="0"/>
                <a:ea typeface="Open Sans Light" panose="020B0306030504020204" pitchFamily="34" charset="0"/>
                <a:cs typeface="Open Sans Light" panose="020B0306030504020204" pitchFamily="34" charset="0"/>
              </a:rPr>
            </a:br>
            <a:r>
              <a:rPr lang="en-US" b="1" i="0" u="none" strike="noStrike" baseline="0" dirty="0">
                <a:latin typeface="Open Sans Light" panose="020B0306030504020204" pitchFamily="34" charset="0"/>
                <a:ea typeface="Open Sans Light" panose="020B0306030504020204" pitchFamily="34" charset="0"/>
                <a:cs typeface="Open Sans Light" panose="020B0306030504020204" pitchFamily="34" charset="0"/>
              </a:rPr>
              <a:t>A process is an application-layer entity (running program) that uses the services of the transport layer.</a:t>
            </a:r>
          </a:p>
          <a:p>
            <a:pPr marL="457200" indent="-457200" algn="l">
              <a:buFont typeface="+mj-lt"/>
              <a:buAutoNum type="arabicPeriod"/>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Port Numbers</a:t>
            </a:r>
            <a:br>
              <a:rPr lang="en-US" b="1" dirty="0">
                <a:latin typeface="Open Sans Light" panose="020B0306030504020204" pitchFamily="34" charset="0"/>
                <a:ea typeface="Open Sans Light" panose="020B0306030504020204" pitchFamily="34" charset="0"/>
                <a:cs typeface="Open Sans Light" panose="020B0306030504020204" pitchFamily="34" charset="0"/>
              </a:rPr>
            </a:br>
            <a:r>
              <a:rPr lang="en-US" b="1" dirty="0">
                <a:latin typeface="Open Sans Light" panose="020B0306030504020204" pitchFamily="34" charset="0"/>
                <a:ea typeface="Open Sans Light" panose="020B0306030504020204" pitchFamily="34" charset="0"/>
                <a:cs typeface="Open Sans Light" panose="020B0306030504020204" pitchFamily="34" charset="0"/>
              </a:rPr>
              <a:t>a. P</a:t>
            </a:r>
            <a:r>
              <a:rPr lang="en-US" b="1" i="0" u="none" strike="noStrike" baseline="0" dirty="0">
                <a:latin typeface="Open Sans Light" panose="020B0306030504020204" pitchFamily="34" charset="0"/>
                <a:ea typeface="Open Sans Light" panose="020B0306030504020204" pitchFamily="34" charset="0"/>
                <a:cs typeface="Open Sans Light" panose="020B0306030504020204" pitchFamily="34" charset="0"/>
              </a:rPr>
              <a:t>ort numbers are integers between 0 and 65,535 (16 bits).</a:t>
            </a:r>
            <a:br>
              <a:rPr lang="en-US" b="1" dirty="0">
                <a:latin typeface="Open Sans Light" panose="020B0306030504020204" pitchFamily="34" charset="0"/>
                <a:ea typeface="Open Sans Light" panose="020B0306030504020204" pitchFamily="34" charset="0"/>
                <a:cs typeface="Open Sans Light" panose="020B0306030504020204" pitchFamily="34" charset="0"/>
              </a:rPr>
            </a:br>
            <a:r>
              <a:rPr lang="en-US" b="1" dirty="0">
                <a:latin typeface="Open Sans Light" panose="020B0306030504020204" pitchFamily="34" charset="0"/>
                <a:ea typeface="Open Sans Light" panose="020B0306030504020204" pitchFamily="34" charset="0"/>
                <a:cs typeface="Open Sans Light" panose="020B0306030504020204" pitchFamily="34" charset="0"/>
              </a:rPr>
              <a:t>b. Port numbers together with IP number create Socket Address</a:t>
            </a:r>
          </a:p>
          <a:p>
            <a:pPr marL="457200" indent="-457200" algn="l">
              <a:buFont typeface="+mj-lt"/>
              <a:buAutoNum type="arabicPeriod"/>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Multiplexing and Demultiplexing</a:t>
            </a:r>
            <a:br>
              <a:rPr lang="en-US" b="1" dirty="0">
                <a:latin typeface="Open Sans Light" panose="020B0306030504020204" pitchFamily="34" charset="0"/>
                <a:ea typeface="Open Sans Light" panose="020B0306030504020204" pitchFamily="34" charset="0"/>
                <a:cs typeface="Open Sans Light" panose="020B0306030504020204" pitchFamily="34" charset="0"/>
              </a:rPr>
            </a:br>
            <a:r>
              <a:rPr lang="en-US" b="1" dirty="0">
                <a:latin typeface="Open Sans Light" panose="020B0306030504020204" pitchFamily="34" charset="0"/>
                <a:ea typeface="Open Sans Light" panose="020B0306030504020204" pitchFamily="34" charset="0"/>
                <a:cs typeface="Open Sans Light" panose="020B0306030504020204" pitchFamily="34" charset="0"/>
              </a:rPr>
              <a:t>a. Multiplexing is many to one – entity accepts items from more than one source – performs at source</a:t>
            </a:r>
            <a:br>
              <a:rPr lang="en-US" b="1" dirty="0">
                <a:latin typeface="Open Sans Light" panose="020B0306030504020204" pitchFamily="34" charset="0"/>
                <a:ea typeface="Open Sans Light" panose="020B0306030504020204" pitchFamily="34" charset="0"/>
                <a:cs typeface="Open Sans Light" panose="020B0306030504020204" pitchFamily="34" charset="0"/>
              </a:rPr>
            </a:br>
            <a:r>
              <a:rPr lang="en-US" b="1" dirty="0">
                <a:latin typeface="Open Sans Light" panose="020B0306030504020204" pitchFamily="34" charset="0"/>
                <a:ea typeface="Open Sans Light" panose="020B0306030504020204" pitchFamily="34" charset="0"/>
                <a:cs typeface="Open Sans Light" panose="020B0306030504020204" pitchFamily="34" charset="0"/>
              </a:rPr>
              <a:t>b. Demultiplexing is one to many – entity delivers items to more than one destination – performs at destination</a:t>
            </a:r>
          </a:p>
          <a:p>
            <a:pPr marL="457200" indent="-457200" algn="l">
              <a:buFont typeface="+mj-lt"/>
              <a:buAutoNum type="arabicPeriod"/>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Flow Control</a:t>
            </a:r>
            <a:br>
              <a:rPr lang="en-US" b="1" dirty="0">
                <a:latin typeface="Open Sans Light" panose="020B0306030504020204" pitchFamily="34" charset="0"/>
                <a:ea typeface="Open Sans Light" panose="020B0306030504020204" pitchFamily="34" charset="0"/>
                <a:cs typeface="Open Sans Light" panose="020B0306030504020204" pitchFamily="34" charset="0"/>
              </a:rPr>
            </a:br>
            <a:r>
              <a:rPr lang="en-US" b="1" dirty="0">
                <a:latin typeface="Open Sans Light" panose="020B0306030504020204" pitchFamily="34" charset="0"/>
                <a:ea typeface="Open Sans Light" panose="020B0306030504020204" pitchFamily="34" charset="0"/>
                <a:cs typeface="Open Sans Light" panose="020B0306030504020204" pitchFamily="34" charset="0"/>
              </a:rPr>
              <a:t>a. Pushing – Pulling – flow control need to control Pushing-Pulling from consumer to producer.</a:t>
            </a:r>
            <a:br>
              <a:rPr lang="en-US" b="1" dirty="0">
                <a:latin typeface="Open Sans Light" panose="020B0306030504020204" pitchFamily="34" charset="0"/>
                <a:ea typeface="Open Sans Light" panose="020B0306030504020204" pitchFamily="34" charset="0"/>
                <a:cs typeface="Open Sans Light" panose="020B0306030504020204" pitchFamily="34" charset="0"/>
              </a:rPr>
            </a:br>
            <a:r>
              <a:rPr lang="en-US" b="1" dirty="0">
                <a:latin typeface="Open Sans Light" panose="020B0306030504020204" pitchFamily="34" charset="0"/>
                <a:ea typeface="Open Sans Light" panose="020B0306030504020204" pitchFamily="34" charset="0"/>
                <a:cs typeface="Open Sans Light" panose="020B0306030504020204" pitchFamily="34" charset="0"/>
              </a:rPr>
              <a:t>b. Handling flow Control</a:t>
            </a:r>
          </a:p>
          <a:p>
            <a:pPr marL="342900" indent="-342900" algn="l">
              <a:buFont typeface="+mj-lt"/>
              <a:buAutoNum type="arabicPeriod"/>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Error Control</a:t>
            </a:r>
            <a:br>
              <a:rPr lang="en-US" b="1" dirty="0">
                <a:latin typeface="Open Sans Light" panose="020B0306030504020204" pitchFamily="34" charset="0"/>
                <a:ea typeface="Open Sans Light" panose="020B0306030504020204" pitchFamily="34" charset="0"/>
                <a:cs typeface="Open Sans Light" panose="020B0306030504020204" pitchFamily="34" charset="0"/>
              </a:rPr>
            </a:br>
            <a:r>
              <a:rPr lang="en-US" b="1" i="0" u="none" strike="noStrike" baseline="0" dirty="0">
                <a:latin typeface="Open Sans Light" panose="020B0306030504020204" pitchFamily="34" charset="0"/>
                <a:ea typeface="Open Sans Light" panose="020B0306030504020204" pitchFamily="34" charset="0"/>
                <a:cs typeface="Open Sans Light" panose="020B0306030504020204" pitchFamily="34" charset="0"/>
              </a:rPr>
              <a:t>In the Internet, because the underlying network layer (IP) is unreliable, we need to make the transport layer reliable if the application requires reliability. Reliability can be achieved to add error-control services to the transport layer.</a:t>
            </a:r>
          </a:p>
          <a:p>
            <a:pPr marL="342900" indent="-342900" algn="l">
              <a:buFont typeface="+mj-lt"/>
              <a:buAutoNum type="arabicPeriod"/>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Congestion Control</a:t>
            </a:r>
            <a:br>
              <a:rPr lang="en-US" b="1" dirty="0">
                <a:latin typeface="Open Sans Light" panose="020B0306030504020204" pitchFamily="34" charset="0"/>
                <a:ea typeface="Open Sans Light" panose="020B0306030504020204" pitchFamily="34" charset="0"/>
                <a:cs typeface="Open Sans Light" panose="020B0306030504020204" pitchFamily="34" charset="0"/>
              </a:rPr>
            </a:br>
            <a:r>
              <a:rPr lang="en-US" b="1" dirty="0">
                <a:latin typeface="Open Sans Light" panose="020B0306030504020204" pitchFamily="34" charset="0"/>
                <a:ea typeface="Open Sans Light" panose="020B0306030504020204" pitchFamily="34" charset="0"/>
                <a:cs typeface="Open Sans Light" panose="020B0306030504020204" pitchFamily="34" charset="0"/>
              </a:rPr>
              <a:t>a. Connectionless service</a:t>
            </a:r>
            <a:br>
              <a:rPr lang="en-US" b="1" dirty="0">
                <a:latin typeface="Open Sans Light" panose="020B0306030504020204" pitchFamily="34" charset="0"/>
                <a:ea typeface="Open Sans Light" panose="020B0306030504020204" pitchFamily="34" charset="0"/>
                <a:cs typeface="Open Sans Light" panose="020B0306030504020204" pitchFamily="34" charset="0"/>
              </a:rPr>
            </a:br>
            <a:r>
              <a:rPr lang="en-US" b="1" dirty="0">
                <a:latin typeface="Open Sans Light" panose="020B0306030504020204" pitchFamily="34" charset="0"/>
                <a:ea typeface="Open Sans Light" panose="020B0306030504020204" pitchFamily="34" charset="0"/>
                <a:cs typeface="Open Sans Light" panose="020B0306030504020204" pitchFamily="34" charset="0"/>
              </a:rPr>
              <a:t>b. Connection-Oriented Service</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a:p>
            <a:pPr marL="457200" marR="0" indent="-457200" algn="l" defTabSz="2438338" rtl="0" fontAlgn="auto" latinLnBrk="0" hangingPunct="0">
              <a:lnSpc>
                <a:spcPct val="100000"/>
              </a:lnSpc>
              <a:spcBef>
                <a:spcPts val="0"/>
              </a:spcBef>
              <a:spcAft>
                <a:spcPts val="0"/>
              </a:spcAft>
              <a:buClrTx/>
              <a:buSzTx/>
              <a:buFont typeface="+mj-lt"/>
              <a:buAutoNum type="arabicPeriod"/>
              <a:tabLst/>
            </a:pPr>
            <a:endParaRPr kumimoji="0" lang="en-US" sz="3200" b="1" i="0" u="none" strike="noStrike" cap="none" spc="0" normalizeH="0" baseline="0" dirty="0">
              <a:ln>
                <a:noFill/>
              </a:ln>
              <a:solidFill>
                <a:srgbClr val="5E5E5E"/>
              </a:solidFill>
              <a:effectLst/>
              <a:uFillTx/>
              <a:latin typeface="Open Sans Light" panose="020B0306030504020204" pitchFamily="34" charset="0"/>
              <a:ea typeface="Open Sans Light" panose="020B0306030504020204" pitchFamily="34" charset="0"/>
              <a:cs typeface="Open Sans Light" panose="020B0306030504020204" pitchFamily="34" charset="0"/>
              <a:sym typeface="Helvetica Neue"/>
            </a:endParaRPr>
          </a:p>
        </p:txBody>
      </p:sp>
    </p:spTree>
    <p:extLst>
      <p:ext uri="{BB962C8B-B14F-4D97-AF65-F5344CB8AC3E}">
        <p14:creationId xmlns:p14="http://schemas.microsoft.com/office/powerpoint/2010/main" val="23251400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D8614-7CAD-56BB-C15F-1C5B6B54A2D8}"/>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4532C2B1-B29E-E155-613E-6B37102B2E77}"/>
              </a:ext>
            </a:extLst>
          </p:cNvPr>
          <p:cNvSpPr>
            <a:spLocks noGrp="1"/>
          </p:cNvSpPr>
          <p:nvPr>
            <p:ph type="body" sz="quarter" idx="10"/>
          </p:nvPr>
        </p:nvSpPr>
        <p:spPr/>
        <p:txBody>
          <a:bodyPr/>
          <a:lstStyle/>
          <a:p>
            <a:r>
              <a:rPr lang="en-US" dirty="0"/>
              <a:t>Process to process delivery</a:t>
            </a:r>
          </a:p>
        </p:txBody>
      </p:sp>
      <p:pic>
        <p:nvPicPr>
          <p:cNvPr id="1026" name="Picture 2" descr="Process to Process Delivery in Transport Layer">
            <a:extLst>
              <a:ext uri="{FF2B5EF4-FFF2-40B4-BE49-F238E27FC236}">
                <a16:creationId xmlns:a16="http://schemas.microsoft.com/office/drawing/2014/main" id="{5D85E611-408D-D00C-39B3-B2BB0C4D38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7345" y="4122574"/>
            <a:ext cx="16630247" cy="8193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02818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A18FC-FA25-4E76-BDCE-8F3981DAF415}"/>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45F1CA92-6A5C-5668-9EB0-F2C362E59583}"/>
              </a:ext>
            </a:extLst>
          </p:cNvPr>
          <p:cNvSpPr>
            <a:spLocks noGrp="1"/>
          </p:cNvSpPr>
          <p:nvPr>
            <p:ph type="body" sz="quarter" idx="10"/>
          </p:nvPr>
        </p:nvSpPr>
        <p:spPr/>
        <p:txBody>
          <a:bodyPr/>
          <a:lstStyle/>
          <a:p>
            <a:r>
              <a:rPr lang="en-US" dirty="0"/>
              <a:t>Port numbers – socket address</a:t>
            </a:r>
          </a:p>
        </p:txBody>
      </p:sp>
      <p:sp>
        <p:nvSpPr>
          <p:cNvPr id="4" name="Content Placeholder 3">
            <a:extLst>
              <a:ext uri="{FF2B5EF4-FFF2-40B4-BE49-F238E27FC236}">
                <a16:creationId xmlns:a16="http://schemas.microsoft.com/office/drawing/2014/main" id="{76CAEEDC-0CE6-0DCC-3431-F641E6BA264E}"/>
              </a:ext>
            </a:extLst>
          </p:cNvPr>
          <p:cNvSpPr>
            <a:spLocks noGrp="1"/>
          </p:cNvSpPr>
          <p:nvPr>
            <p:ph sz="quarter" idx="11"/>
          </p:nvPr>
        </p:nvSpPr>
        <p:spPr>
          <a:xfrm>
            <a:off x="4236628" y="4214758"/>
            <a:ext cx="15824188" cy="4522264"/>
          </a:xfrm>
        </p:spPr>
        <p:txBody>
          <a:bodyPr>
            <a:normAutofit/>
          </a:bodyPr>
          <a:lstStyle/>
          <a:p>
            <a:pPr marL="0" indent="0">
              <a:spcBef>
                <a:spcPts val="0"/>
              </a:spcBef>
              <a:buNone/>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Port Numbers</a:t>
            </a:r>
            <a:br>
              <a:rPr lang="en-US" sz="3200" b="1" dirty="0">
                <a:latin typeface="Open Sans Light" panose="020B0306030504020204" pitchFamily="34" charset="0"/>
                <a:ea typeface="Open Sans Light" panose="020B0306030504020204" pitchFamily="34" charset="0"/>
                <a:cs typeface="Open Sans Light" panose="020B0306030504020204" pitchFamily="34" charset="0"/>
              </a:rPr>
            </a:b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a. P</a:t>
            </a:r>
            <a:r>
              <a:rPr lang="en-US" sz="3200" b="1" i="0" u="none" strike="noStrike" baseline="0" dirty="0">
                <a:latin typeface="Open Sans Light" panose="020B0306030504020204" pitchFamily="34" charset="0"/>
                <a:ea typeface="Open Sans Light" panose="020B0306030504020204" pitchFamily="34" charset="0"/>
                <a:cs typeface="Open Sans Light" panose="020B0306030504020204" pitchFamily="34" charset="0"/>
              </a:rPr>
              <a:t>ort numbers are integers between 0 and 65,535 (16 bits).</a:t>
            </a:r>
          </a:p>
          <a:p>
            <a:pPr marL="0" indent="0">
              <a:spcBef>
                <a:spcPts val="0"/>
              </a:spcBef>
              <a:buNone/>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    Port number correlation with application, each application has unique port number</a:t>
            </a:r>
          </a:p>
          <a:p>
            <a:pPr marL="0" indent="0">
              <a:spcBef>
                <a:spcPts val="0"/>
              </a:spcBef>
              <a:buNone/>
            </a:pPr>
            <a:br>
              <a:rPr lang="en-US" sz="3200" b="1" dirty="0">
                <a:latin typeface="Open Sans Light" panose="020B0306030504020204" pitchFamily="34" charset="0"/>
                <a:ea typeface="Open Sans Light" panose="020B0306030504020204" pitchFamily="34" charset="0"/>
                <a:cs typeface="Open Sans Light" panose="020B0306030504020204" pitchFamily="34" charset="0"/>
              </a:rPr>
            </a:b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b. Port numbers together with IP number create Socket Address</a:t>
            </a:r>
          </a:p>
          <a:p>
            <a:pPr>
              <a:spcBef>
                <a:spcPts val="0"/>
              </a:spcBef>
            </a:pPr>
            <a:endParaRPr lang="en-US" sz="3200" b="1" dirty="0"/>
          </a:p>
        </p:txBody>
      </p:sp>
      <p:pic>
        <p:nvPicPr>
          <p:cNvPr id="2050" name="Picture 2" descr="What is socket address? Explain with ...">
            <a:extLst>
              <a:ext uri="{FF2B5EF4-FFF2-40B4-BE49-F238E27FC236}">
                <a16:creationId xmlns:a16="http://schemas.microsoft.com/office/drawing/2014/main" id="{6B41DBE8-F247-BC06-2F12-8CE1BE4023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8076" y="7526499"/>
            <a:ext cx="6821940" cy="3378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5866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9B096-0F63-F162-2B62-EC72343DA966}"/>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F26587FA-9252-A90E-CF64-899DCAE68AC8}"/>
              </a:ext>
            </a:extLst>
          </p:cNvPr>
          <p:cNvSpPr>
            <a:spLocks noGrp="1"/>
          </p:cNvSpPr>
          <p:nvPr>
            <p:ph type="body" sz="quarter" idx="10"/>
          </p:nvPr>
        </p:nvSpPr>
        <p:spPr/>
        <p:txBody>
          <a:bodyPr/>
          <a:lstStyle/>
          <a:p>
            <a:r>
              <a:rPr lang="en-US" dirty="0"/>
              <a:t>Multiplexing - demultiplexing</a:t>
            </a:r>
          </a:p>
        </p:txBody>
      </p:sp>
      <p:sp>
        <p:nvSpPr>
          <p:cNvPr id="4" name="Content Placeholder 3">
            <a:extLst>
              <a:ext uri="{FF2B5EF4-FFF2-40B4-BE49-F238E27FC236}">
                <a16:creationId xmlns:a16="http://schemas.microsoft.com/office/drawing/2014/main" id="{FF31CF16-711D-7A3F-2929-AD31BE3E607E}"/>
              </a:ext>
            </a:extLst>
          </p:cNvPr>
          <p:cNvSpPr>
            <a:spLocks noGrp="1"/>
          </p:cNvSpPr>
          <p:nvPr>
            <p:ph sz="quarter" idx="11"/>
          </p:nvPr>
        </p:nvSpPr>
        <p:spPr>
          <a:xfrm>
            <a:off x="2929812" y="3841534"/>
            <a:ext cx="16272058" cy="8858466"/>
          </a:xfrm>
        </p:spPr>
        <p:txBody>
          <a:bodyPr>
            <a:normAutofit/>
          </a:bodyPr>
          <a:lstStyle/>
          <a:p>
            <a:r>
              <a:rPr lang="en-US" sz="3200" b="1" i="0" dirty="0">
                <a:solidFill>
                  <a:srgbClr val="242424"/>
                </a:solidFill>
                <a:effectLst/>
                <a:latin typeface="Open Sans Light" panose="020B0306030504020204" pitchFamily="34" charset="0"/>
                <a:ea typeface="Open Sans Light" panose="020B0306030504020204" pitchFamily="34" charset="0"/>
                <a:cs typeface="Open Sans Light" panose="020B0306030504020204" pitchFamily="34" charset="0"/>
              </a:rPr>
              <a:t>Allows multiple applications to use the network simultaneously by assigning unique identifiers (ports) to each application</a:t>
            </a:r>
          </a:p>
          <a:p>
            <a:r>
              <a:rPr lang="en-US" sz="3200" b="1" dirty="0">
                <a:solidFill>
                  <a:srgbClr val="242424"/>
                </a:solidFill>
                <a:latin typeface="Open Sans Light" panose="020B0306030504020204" pitchFamily="34" charset="0"/>
                <a:ea typeface="Open Sans Light" panose="020B0306030504020204" pitchFamily="34" charset="0"/>
                <a:cs typeface="Open Sans Light" panose="020B0306030504020204" pitchFamily="34" charset="0"/>
              </a:rPr>
              <a:t>Multiplexing :</a:t>
            </a:r>
          </a:p>
          <a:p>
            <a:pPr marL="609600" lvl="1" indent="0">
              <a:spcBef>
                <a:spcPts val="0"/>
              </a:spcBef>
              <a:buNone/>
            </a:pPr>
            <a:r>
              <a:rPr lang="en-US" sz="3200" b="1" dirty="0">
                <a:solidFill>
                  <a:srgbClr val="242424"/>
                </a:solidFill>
                <a:latin typeface="Open Sans Light" panose="020B0306030504020204" pitchFamily="34" charset="0"/>
                <a:ea typeface="Open Sans Light" panose="020B0306030504020204" pitchFamily="34" charset="0"/>
                <a:cs typeface="Open Sans Light" panose="020B0306030504020204" pitchFamily="34" charset="0"/>
              </a:rPr>
              <a:t>Gathering data from multiple application processes of sender, enveloping that data with header and sending them as a whole to the intended receiver.</a:t>
            </a:r>
          </a:p>
          <a:p>
            <a:r>
              <a:rPr lang="en-US" sz="3200" b="1" dirty="0">
                <a:solidFill>
                  <a:srgbClr val="242424"/>
                </a:solidFill>
                <a:latin typeface="Open Sans Light" panose="020B0306030504020204" pitchFamily="34" charset="0"/>
                <a:ea typeface="Open Sans Light" panose="020B0306030504020204" pitchFamily="34" charset="0"/>
                <a:cs typeface="Open Sans Light" panose="020B0306030504020204" pitchFamily="34" charset="0"/>
              </a:rPr>
              <a:t>Demultiplexing :</a:t>
            </a:r>
          </a:p>
          <a:p>
            <a:pPr marL="609600" lvl="1" indent="0">
              <a:spcBef>
                <a:spcPts val="0"/>
              </a:spcBef>
              <a:buNone/>
            </a:pPr>
            <a:r>
              <a:rPr lang="en-US" sz="3200" b="1" dirty="0">
                <a:solidFill>
                  <a:srgbClr val="242424"/>
                </a:solidFill>
                <a:latin typeface="Open Sans Light" panose="020B0306030504020204" pitchFamily="34" charset="0"/>
                <a:ea typeface="Open Sans Light" panose="020B0306030504020204" pitchFamily="34" charset="0"/>
                <a:cs typeface="Open Sans Light" panose="020B0306030504020204" pitchFamily="34" charset="0"/>
              </a:rPr>
              <a:t>Delivering received segments at receiver side to the correct application at app layer process.</a:t>
            </a:r>
            <a:endParaRPr lang="en-US" sz="3200" b="1" dirty="0">
              <a:latin typeface="Open Sans Light" panose="020B0306030504020204" pitchFamily="34" charset="0"/>
              <a:ea typeface="Open Sans Light" panose="020B0306030504020204" pitchFamily="34" charset="0"/>
              <a:cs typeface="Open Sans Light" panose="020B0306030504020204" pitchFamily="34" charset="0"/>
            </a:endParaRPr>
          </a:p>
        </p:txBody>
      </p:sp>
    </p:spTree>
    <p:extLst>
      <p:ext uri="{BB962C8B-B14F-4D97-AF65-F5344CB8AC3E}">
        <p14:creationId xmlns:p14="http://schemas.microsoft.com/office/powerpoint/2010/main" val="253071618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E2298-8B2E-7101-DC1B-8CDBE9D620B0}"/>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8662BCB2-B606-0AD7-C15F-40A18C67574F}"/>
              </a:ext>
            </a:extLst>
          </p:cNvPr>
          <p:cNvSpPr>
            <a:spLocks noGrp="1"/>
          </p:cNvSpPr>
          <p:nvPr>
            <p:ph type="body" sz="quarter" idx="10"/>
          </p:nvPr>
        </p:nvSpPr>
        <p:spPr/>
        <p:txBody>
          <a:bodyPr/>
          <a:lstStyle/>
          <a:p>
            <a:r>
              <a:rPr lang="en-US" dirty="0"/>
              <a:t>Flow control</a:t>
            </a:r>
          </a:p>
        </p:txBody>
      </p:sp>
      <p:sp>
        <p:nvSpPr>
          <p:cNvPr id="4" name="Content Placeholder 3">
            <a:extLst>
              <a:ext uri="{FF2B5EF4-FFF2-40B4-BE49-F238E27FC236}">
                <a16:creationId xmlns:a16="http://schemas.microsoft.com/office/drawing/2014/main" id="{CBA54BE8-BC9A-F7C9-2F56-778CC23A2758}"/>
              </a:ext>
            </a:extLst>
          </p:cNvPr>
          <p:cNvSpPr>
            <a:spLocks noGrp="1"/>
          </p:cNvSpPr>
          <p:nvPr>
            <p:ph sz="quarter" idx="11"/>
          </p:nvPr>
        </p:nvSpPr>
        <p:spPr>
          <a:xfrm>
            <a:off x="3321246" y="3962832"/>
            <a:ext cx="13714940" cy="4522264"/>
          </a:xfrm>
        </p:spPr>
        <p:txBody>
          <a:bodyPr>
            <a:normAutofit/>
          </a:bodyPr>
          <a:lstStyle/>
          <a:p>
            <a:r>
              <a:rPr lang="en-US" sz="3200" b="1" dirty="0"/>
              <a:t>Transport layer provides a flow control mechanism between the adjacent layer of the TCP/IP model.</a:t>
            </a:r>
          </a:p>
          <a:p>
            <a:r>
              <a:rPr lang="en-US" sz="3200" b="1" dirty="0"/>
              <a:t>TCP also prevents the data loss due to a fast sender and slow receiver by imposing some flow control techniques</a:t>
            </a:r>
          </a:p>
          <a:p>
            <a:r>
              <a:rPr lang="en-US" sz="3200" b="1" dirty="0"/>
              <a:t>Each sender and receiver of TCP layer has buffer.</a:t>
            </a:r>
          </a:p>
        </p:txBody>
      </p:sp>
    </p:spTree>
    <p:extLst>
      <p:ext uri="{BB962C8B-B14F-4D97-AF65-F5344CB8AC3E}">
        <p14:creationId xmlns:p14="http://schemas.microsoft.com/office/powerpoint/2010/main" val="246851472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89D9F-4D5E-AF27-E4AB-8C3460532943}"/>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5EA52A0F-AFF9-8118-ECB1-70B81B5914E1}"/>
              </a:ext>
            </a:extLst>
          </p:cNvPr>
          <p:cNvSpPr>
            <a:spLocks noGrp="1"/>
          </p:cNvSpPr>
          <p:nvPr>
            <p:ph type="body" sz="quarter" idx="10"/>
          </p:nvPr>
        </p:nvSpPr>
        <p:spPr/>
        <p:txBody>
          <a:bodyPr/>
          <a:lstStyle/>
          <a:p>
            <a:r>
              <a:rPr lang="en-US" dirty="0"/>
              <a:t>error control</a:t>
            </a:r>
          </a:p>
        </p:txBody>
      </p:sp>
      <p:sp>
        <p:nvSpPr>
          <p:cNvPr id="4" name="Content Placeholder 3">
            <a:extLst>
              <a:ext uri="{FF2B5EF4-FFF2-40B4-BE49-F238E27FC236}">
                <a16:creationId xmlns:a16="http://schemas.microsoft.com/office/drawing/2014/main" id="{6655E25E-F18A-DBEA-5073-4CF93BC74451}"/>
              </a:ext>
            </a:extLst>
          </p:cNvPr>
          <p:cNvSpPr>
            <a:spLocks noGrp="1"/>
          </p:cNvSpPr>
          <p:nvPr>
            <p:ph sz="quarter" idx="11"/>
          </p:nvPr>
        </p:nvSpPr>
        <p:spPr>
          <a:xfrm>
            <a:off x="3369372" y="4371906"/>
            <a:ext cx="13714940" cy="4522264"/>
          </a:xfrm>
        </p:spPr>
        <p:txBody>
          <a:bodyPr>
            <a:normAutofit/>
          </a:bodyPr>
          <a:lstStyle/>
          <a:p>
            <a:r>
              <a:rPr lang="en-US" sz="3200" b="1" dirty="0"/>
              <a:t>Transport layer checks for errors in the messages coming from application layer by using error detection codes, computing checksums, it checks whether the received data is not corrupted and uses the ACK and NACK services to inform the sender if the data is arrived or not and also checks for the integrity of data</a:t>
            </a:r>
          </a:p>
        </p:txBody>
      </p:sp>
    </p:spTree>
    <p:extLst>
      <p:ext uri="{BB962C8B-B14F-4D97-AF65-F5344CB8AC3E}">
        <p14:creationId xmlns:p14="http://schemas.microsoft.com/office/powerpoint/2010/main" val="231842932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B2A2E-602B-D7A1-CD55-0128C3A3C240}"/>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165FF411-EBDB-1591-8E0D-E9FFDCF52A6D}"/>
              </a:ext>
            </a:extLst>
          </p:cNvPr>
          <p:cNvSpPr>
            <a:spLocks noGrp="1"/>
          </p:cNvSpPr>
          <p:nvPr>
            <p:ph type="body" sz="quarter" idx="10"/>
          </p:nvPr>
        </p:nvSpPr>
        <p:spPr/>
        <p:txBody>
          <a:bodyPr/>
          <a:lstStyle/>
          <a:p>
            <a:r>
              <a:rPr lang="en-US" dirty="0"/>
              <a:t>Congestion Control</a:t>
            </a:r>
          </a:p>
        </p:txBody>
      </p:sp>
      <p:sp>
        <p:nvSpPr>
          <p:cNvPr id="4" name="Content Placeholder 3">
            <a:extLst>
              <a:ext uri="{FF2B5EF4-FFF2-40B4-BE49-F238E27FC236}">
                <a16:creationId xmlns:a16="http://schemas.microsoft.com/office/drawing/2014/main" id="{ECE4DA23-1634-7D86-B7ED-A6F511D454A0}"/>
              </a:ext>
            </a:extLst>
          </p:cNvPr>
          <p:cNvSpPr>
            <a:spLocks noGrp="1"/>
          </p:cNvSpPr>
          <p:nvPr>
            <p:ph sz="quarter" idx="11"/>
          </p:nvPr>
        </p:nvSpPr>
        <p:spPr/>
        <p:txBody>
          <a:bodyPr>
            <a:normAutofit/>
          </a:bodyPr>
          <a:lstStyle/>
          <a:p>
            <a:r>
              <a:rPr lang="en-US" sz="3200" b="1" dirty="0"/>
              <a:t>Congestion is a situation in which too many sources over a network attempt to send data and the router buffers start overflowing due to which loss of packet occur</a:t>
            </a:r>
          </a:p>
        </p:txBody>
      </p:sp>
    </p:spTree>
    <p:extLst>
      <p:ext uri="{BB962C8B-B14F-4D97-AF65-F5344CB8AC3E}">
        <p14:creationId xmlns:p14="http://schemas.microsoft.com/office/powerpoint/2010/main" val="278314773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9421C-2B1D-97E6-3D57-2A777297C862}"/>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0F3D36B8-338F-6A58-E58C-B8E3CDB39663}"/>
              </a:ext>
            </a:extLst>
          </p:cNvPr>
          <p:cNvSpPr>
            <a:spLocks noGrp="1"/>
          </p:cNvSpPr>
          <p:nvPr>
            <p:ph type="body" sz="quarter" idx="10"/>
          </p:nvPr>
        </p:nvSpPr>
        <p:spPr/>
        <p:txBody>
          <a:bodyPr/>
          <a:lstStyle/>
          <a:p>
            <a:r>
              <a:rPr lang="en-US" dirty="0"/>
              <a:t>duties</a:t>
            </a:r>
          </a:p>
        </p:txBody>
      </p:sp>
      <p:pic>
        <p:nvPicPr>
          <p:cNvPr id="5" name="Content Placeholder 4">
            <a:extLst>
              <a:ext uri="{FF2B5EF4-FFF2-40B4-BE49-F238E27FC236}">
                <a16:creationId xmlns:a16="http://schemas.microsoft.com/office/drawing/2014/main" id="{659DFB76-B893-1019-CCC2-171EDA3FA8E5}"/>
              </a:ext>
            </a:extLst>
          </p:cNvPr>
          <p:cNvPicPr>
            <a:picLocks noGrp="1" noChangeAspect="1" noChangeArrowheads="1"/>
          </p:cNvPicPr>
          <p:nvPr>
            <p:ph sz="quarter" idx="11"/>
          </p:nvPr>
        </p:nvPicPr>
        <p:blipFill>
          <a:blip r:embed="rId2"/>
          <a:srcRect/>
          <a:stretch>
            <a:fillRect/>
          </a:stretch>
        </p:blipFill>
        <p:spPr bwMode="auto">
          <a:xfrm>
            <a:off x="2167377" y="4217284"/>
            <a:ext cx="20434206" cy="3729063"/>
          </a:xfrm>
          <a:prstGeom prst="rect">
            <a:avLst/>
          </a:prstGeom>
          <a:noFill/>
          <a:ln w="9525">
            <a:noFill/>
            <a:miter lim="800000"/>
            <a:headEnd/>
            <a:tailEnd/>
          </a:ln>
        </p:spPr>
      </p:pic>
      <p:sp>
        <p:nvSpPr>
          <p:cNvPr id="4" name="TextBox 3">
            <a:extLst>
              <a:ext uri="{FF2B5EF4-FFF2-40B4-BE49-F238E27FC236}">
                <a16:creationId xmlns:a16="http://schemas.microsoft.com/office/drawing/2014/main" id="{636AA675-D926-77A7-2165-A8AE58AF8AF0}"/>
              </a:ext>
            </a:extLst>
          </p:cNvPr>
          <p:cNvSpPr txBox="1"/>
          <p:nvPr/>
        </p:nvSpPr>
        <p:spPr>
          <a:xfrm>
            <a:off x="1120615" y="9067830"/>
            <a:ext cx="5149556" cy="3980577"/>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lang="en-US" sz="2800" b="1" i="0" dirty="0">
                <a:solidFill>
                  <a:srgbClr val="242424"/>
                </a:solidFill>
                <a:effectLst/>
                <a:latin typeface="Open Sans Light" panose="020B0306030504020204" pitchFamily="34" charset="0"/>
                <a:ea typeface="Open Sans Light" panose="020B0306030504020204" pitchFamily="34" charset="0"/>
                <a:cs typeface="Open Sans Light" panose="020B0306030504020204" pitchFamily="34" charset="0"/>
              </a:rPr>
              <a:t>Segmentation</a:t>
            </a:r>
            <a:r>
              <a:rPr lang="en-US" sz="2800" b="0" i="0" dirty="0">
                <a:solidFill>
                  <a:srgbClr val="242424"/>
                </a:solidFill>
                <a:effectLst/>
                <a:latin typeface="Open Sans Light" panose="020B0306030504020204" pitchFamily="34" charset="0"/>
                <a:ea typeface="Open Sans Light" panose="020B0306030504020204" pitchFamily="34" charset="0"/>
                <a:cs typeface="Open Sans Light" panose="020B0306030504020204" pitchFamily="34" charset="0"/>
              </a:rPr>
              <a:t>: </a:t>
            </a:r>
          </a:p>
          <a:p>
            <a:pPr marL="0" marR="0" indent="0" algn="l" defTabSz="2438338" rtl="0" fontAlgn="auto" latinLnBrk="0" hangingPunct="0">
              <a:lnSpc>
                <a:spcPct val="100000"/>
              </a:lnSpc>
              <a:spcBef>
                <a:spcPts val="0"/>
              </a:spcBef>
              <a:spcAft>
                <a:spcPts val="0"/>
              </a:spcAft>
              <a:buClrTx/>
              <a:buSzTx/>
              <a:buFontTx/>
              <a:buNone/>
              <a:tabLst/>
            </a:pPr>
            <a:r>
              <a:rPr lang="en-US" sz="2800" b="0" i="0" dirty="0">
                <a:solidFill>
                  <a:srgbClr val="242424"/>
                </a:solidFill>
                <a:effectLst/>
                <a:latin typeface="Open Sans Light" panose="020B0306030504020204" pitchFamily="34" charset="0"/>
                <a:ea typeface="Open Sans Light" panose="020B0306030504020204" pitchFamily="34" charset="0"/>
                <a:cs typeface="Open Sans Light" panose="020B0306030504020204" pitchFamily="34" charset="0"/>
              </a:rPr>
              <a:t>The transport layer divides large messages into smaller segments that can be easily transmitted over the network. This ensures that data can be sent in manageable chunks, reducing the risk of errors during transmission</a:t>
            </a:r>
            <a:endParaRPr kumimoji="0" lang="en-US" sz="2800" b="0" i="0" u="none" strike="noStrike" cap="none" spc="0" normalizeH="0" baseline="0" dirty="0">
              <a:ln>
                <a:noFill/>
              </a:ln>
              <a:solidFill>
                <a:srgbClr val="5E5E5E"/>
              </a:solidFill>
              <a:effectLst/>
              <a:uFillTx/>
              <a:latin typeface="Open Sans Light" panose="020B0306030504020204" pitchFamily="34" charset="0"/>
              <a:ea typeface="Open Sans Light" panose="020B0306030504020204" pitchFamily="34" charset="0"/>
              <a:cs typeface="Open Sans Light" panose="020B0306030504020204" pitchFamily="34" charset="0"/>
              <a:sym typeface="Helvetica Neue"/>
            </a:endParaRPr>
          </a:p>
        </p:txBody>
      </p:sp>
      <p:sp>
        <p:nvSpPr>
          <p:cNvPr id="7" name="TextBox 6">
            <a:extLst>
              <a:ext uri="{FF2B5EF4-FFF2-40B4-BE49-F238E27FC236}">
                <a16:creationId xmlns:a16="http://schemas.microsoft.com/office/drawing/2014/main" id="{0BD05043-18A0-3AA4-850A-46007766C722}"/>
              </a:ext>
            </a:extLst>
          </p:cNvPr>
          <p:cNvSpPr txBox="1"/>
          <p:nvPr/>
        </p:nvSpPr>
        <p:spPr>
          <a:xfrm>
            <a:off x="7051814" y="9293163"/>
            <a:ext cx="4576665" cy="3108543"/>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2800" b="1" i="0" dirty="0">
                <a:solidFill>
                  <a:srgbClr val="242424"/>
                </a:solidFill>
                <a:effectLst/>
                <a:latin typeface="Open Sans Light" panose="020B0306030504020204" pitchFamily="34" charset="0"/>
                <a:ea typeface="Open Sans Light" panose="020B0306030504020204" pitchFamily="34" charset="0"/>
                <a:cs typeface="Open Sans Light" panose="020B0306030504020204" pitchFamily="34" charset="0"/>
              </a:rPr>
              <a:t>Connection Control: </a:t>
            </a:r>
            <a:r>
              <a:rPr lang="en-US" sz="2800" i="0" dirty="0">
                <a:solidFill>
                  <a:srgbClr val="242424"/>
                </a:solidFill>
                <a:effectLst/>
                <a:latin typeface="Open Sans Light" panose="020B0306030504020204" pitchFamily="34" charset="0"/>
                <a:ea typeface="Open Sans Light" panose="020B0306030504020204" pitchFamily="34" charset="0"/>
                <a:cs typeface="Open Sans Light" panose="020B0306030504020204" pitchFamily="34" charset="0"/>
              </a:rPr>
              <a:t>managing the establishment, maintenance, and termination of connections between applications on different hosts</a:t>
            </a:r>
            <a:endParaRPr lang="en-US" sz="2800"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9" name="Picture 2" descr="What is socket address? Explain with ...">
            <a:extLst>
              <a:ext uri="{FF2B5EF4-FFF2-40B4-BE49-F238E27FC236}">
                <a16:creationId xmlns:a16="http://schemas.microsoft.com/office/drawing/2014/main" id="{5469895C-B141-C6FD-2A62-871795489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7253" y="9627405"/>
            <a:ext cx="4309627" cy="2134549"/>
          </a:xfrm>
          <a:prstGeom prst="rect">
            <a:avLst/>
          </a:prstGeom>
          <a:noFill/>
          <a:ln>
            <a:solidFill>
              <a:schemeClr val="bg2">
                <a:lumMod val="10000"/>
              </a:schemeClr>
            </a:solidFill>
          </a:ln>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EA87DB7-6A3A-170F-DE41-E34F447ED5AC}"/>
              </a:ext>
            </a:extLst>
          </p:cNvPr>
          <p:cNvSpPr txBox="1"/>
          <p:nvPr/>
        </p:nvSpPr>
        <p:spPr>
          <a:xfrm>
            <a:off x="18294492" y="9566165"/>
            <a:ext cx="5411755" cy="2257028"/>
          </a:xfrm>
          <a:prstGeom prst="rect">
            <a:avLst/>
          </a:prstGeom>
          <a:noFill/>
          <a:ln w="12700" cap="flat">
            <a:solidFill>
              <a:schemeClr val="bg2">
                <a:lumMod val="10000"/>
              </a:schemeClr>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457200" marR="0" indent="-457200" algn="l"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800" b="1" i="0" u="none" strike="noStrike" cap="none" spc="0" normalizeH="0" baseline="0" dirty="0">
                <a:ln>
                  <a:noFill/>
                </a:ln>
                <a:solidFill>
                  <a:srgbClr val="5E5E5E"/>
                </a:solidFill>
                <a:effectLst/>
                <a:uFillTx/>
                <a:latin typeface="Open Sans Light" panose="020B0306030504020204" pitchFamily="34" charset="0"/>
                <a:ea typeface="Open Sans Light" panose="020B0306030504020204" pitchFamily="34" charset="0"/>
                <a:cs typeface="Open Sans Light" panose="020B0306030504020204" pitchFamily="34" charset="0"/>
                <a:sym typeface="Helvetica Neue"/>
              </a:rPr>
              <a:t>Error detection and correction</a:t>
            </a:r>
          </a:p>
          <a:p>
            <a:pPr marL="457200" marR="0" indent="-457200" algn="l"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2800" b="1" dirty="0">
                <a:latin typeface="Open Sans Light" panose="020B0306030504020204" pitchFamily="34" charset="0"/>
                <a:ea typeface="Open Sans Light" panose="020B0306030504020204" pitchFamily="34" charset="0"/>
                <a:cs typeface="Open Sans Light" panose="020B0306030504020204" pitchFamily="34" charset="0"/>
              </a:rPr>
              <a:t>Acknowledgment (TCP)</a:t>
            </a:r>
          </a:p>
          <a:p>
            <a:pPr marL="457200" marR="0" indent="-457200" algn="l" defTabSz="2438338"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800" b="1" i="0" u="none" strike="noStrike" cap="none" spc="0" normalizeH="0" baseline="0" dirty="0">
                <a:ln>
                  <a:noFill/>
                </a:ln>
                <a:solidFill>
                  <a:srgbClr val="5E5E5E"/>
                </a:solidFill>
                <a:effectLst/>
                <a:uFillTx/>
                <a:latin typeface="Open Sans Light" panose="020B0306030504020204" pitchFamily="34" charset="0"/>
                <a:ea typeface="Open Sans Light" panose="020B0306030504020204" pitchFamily="34" charset="0"/>
                <a:cs typeface="Open Sans Light" panose="020B0306030504020204" pitchFamily="34" charset="0"/>
                <a:sym typeface="Helvetica Neue"/>
              </a:rPr>
              <a:t>Retransmission loss packets</a:t>
            </a:r>
          </a:p>
          <a:p>
            <a:pPr marL="457200" marR="0" indent="-457200" algn="l" defTabSz="2438338" rtl="0" fontAlgn="auto" latinLnBrk="0" hangingPunct="0">
              <a:lnSpc>
                <a:spcPct val="100000"/>
              </a:lnSpc>
              <a:spcBef>
                <a:spcPts val="0"/>
              </a:spcBef>
              <a:spcAft>
                <a:spcPts val="0"/>
              </a:spcAft>
              <a:buClrTx/>
              <a:buSzTx/>
              <a:buFont typeface="Arial" panose="020B0604020202020204" pitchFamily="34" charset="0"/>
              <a:buChar char="•"/>
              <a:tabLst/>
            </a:pPr>
            <a:r>
              <a:rPr lang="en-US" sz="2800" b="1" dirty="0">
                <a:latin typeface="Open Sans Light" panose="020B0306030504020204" pitchFamily="34" charset="0"/>
                <a:ea typeface="Open Sans Light" panose="020B0306030504020204" pitchFamily="34" charset="0"/>
                <a:cs typeface="Open Sans Light" panose="020B0306030504020204" pitchFamily="34" charset="0"/>
              </a:rPr>
              <a:t>Flow Control</a:t>
            </a:r>
            <a:endParaRPr kumimoji="0" lang="en-US" sz="2800" b="1" i="0" u="none" strike="noStrike" cap="none" spc="0" normalizeH="0" baseline="0" dirty="0">
              <a:ln>
                <a:noFill/>
              </a:ln>
              <a:solidFill>
                <a:srgbClr val="5E5E5E"/>
              </a:solidFill>
              <a:effectLst/>
              <a:uFillTx/>
              <a:latin typeface="Open Sans Light" panose="020B0306030504020204" pitchFamily="34" charset="0"/>
              <a:ea typeface="Open Sans Light" panose="020B0306030504020204" pitchFamily="34" charset="0"/>
              <a:cs typeface="Open Sans Light" panose="020B0306030504020204" pitchFamily="34" charset="0"/>
              <a:sym typeface="Helvetica Neue"/>
            </a:endParaRPr>
          </a:p>
          <a:p>
            <a:pPr marL="457200" marR="0" indent="-457200" algn="l" defTabSz="2438338" rtl="0" fontAlgn="auto" latinLnBrk="0" hangingPunct="0">
              <a:lnSpc>
                <a:spcPct val="100000"/>
              </a:lnSpc>
              <a:spcBef>
                <a:spcPts val="0"/>
              </a:spcBef>
              <a:spcAft>
                <a:spcPts val="0"/>
              </a:spcAft>
              <a:buClrTx/>
              <a:buSzTx/>
              <a:buFont typeface="Arial" panose="020B0604020202020204" pitchFamily="34" charset="0"/>
              <a:buChar char="•"/>
              <a:tabLst/>
            </a:pPr>
            <a:endParaRPr kumimoji="0" lang="en-US" sz="2800" b="1" i="0" u="none" strike="noStrike" cap="none" spc="0" normalizeH="0" baseline="0" dirty="0">
              <a:ln>
                <a:noFill/>
              </a:ln>
              <a:solidFill>
                <a:srgbClr val="5E5E5E"/>
              </a:solidFill>
              <a:effectLst/>
              <a:uFillTx/>
              <a:latin typeface="Open Sans Light" panose="020B0306030504020204" pitchFamily="34" charset="0"/>
              <a:ea typeface="Open Sans Light" panose="020B0306030504020204" pitchFamily="34" charset="0"/>
              <a:cs typeface="Open Sans Light" panose="020B0306030504020204" pitchFamily="34" charset="0"/>
              <a:sym typeface="Helvetica Neue"/>
            </a:endParaRPr>
          </a:p>
        </p:txBody>
      </p:sp>
    </p:spTree>
    <p:extLst>
      <p:ext uri="{BB962C8B-B14F-4D97-AF65-F5344CB8AC3E}">
        <p14:creationId xmlns:p14="http://schemas.microsoft.com/office/powerpoint/2010/main" val="391778023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841FA-508C-4C55-B4B4-AE631A26FC83}"/>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02C3BF21-2C86-3571-0BA2-65F65AB396B5}"/>
              </a:ext>
            </a:extLst>
          </p:cNvPr>
          <p:cNvSpPr>
            <a:spLocks noGrp="1"/>
          </p:cNvSpPr>
          <p:nvPr>
            <p:ph type="body" sz="quarter" idx="10"/>
          </p:nvPr>
        </p:nvSpPr>
        <p:spPr/>
        <p:txBody>
          <a:bodyPr/>
          <a:lstStyle/>
          <a:p>
            <a:r>
              <a:rPr lang="en-US" dirty="0"/>
              <a:t>Application addressing</a:t>
            </a:r>
          </a:p>
        </p:txBody>
      </p:sp>
      <p:sp>
        <p:nvSpPr>
          <p:cNvPr id="5" name="Content Placeholder 4">
            <a:extLst>
              <a:ext uri="{FF2B5EF4-FFF2-40B4-BE49-F238E27FC236}">
                <a16:creationId xmlns:a16="http://schemas.microsoft.com/office/drawing/2014/main" id="{863D1FB4-1B54-BD29-5D26-1BFFD30D6488}"/>
              </a:ext>
            </a:extLst>
          </p:cNvPr>
          <p:cNvSpPr>
            <a:spLocks noGrp="1" noChangeArrowheads="1"/>
          </p:cNvSpPr>
          <p:nvPr>
            <p:ph sz="quarter" idx="11"/>
          </p:nvPr>
        </p:nvSpPr>
        <p:spPr bwMode="auto">
          <a:xfrm>
            <a:off x="4944005" y="3260663"/>
            <a:ext cx="13714940" cy="4268850"/>
          </a:xfrm>
          <a:prstGeom prst="rect">
            <a:avLst/>
          </a:prstGeom>
          <a:noFill/>
          <a:ln w="9525">
            <a:noFill/>
            <a:miter lim="800000"/>
            <a:headEnd/>
            <a:tailEnd/>
          </a:ln>
        </p:spPr>
        <p:txBody>
          <a:bodyP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Tx/>
              <a:buChar char="•"/>
            </a:pPr>
            <a:r>
              <a:rPr lang="en-US" sz="3200" dirty="0">
                <a:solidFill>
                  <a:schemeClr val="tx1"/>
                </a:solidFill>
                <a:cs typeface="Arial" pitchFamily="34" charset="0"/>
              </a:rPr>
              <a:t>TCP uses the concept of source and destination port numbers which uniquely identify a particular communicating process on a host.</a:t>
            </a:r>
          </a:p>
          <a:p>
            <a:pPr marL="342900" indent="-342900">
              <a:buFontTx/>
              <a:buChar char="•"/>
            </a:pPr>
            <a:r>
              <a:rPr lang="en-US" sz="3200" dirty="0">
                <a:solidFill>
                  <a:schemeClr val="tx1"/>
                </a:solidFill>
                <a:cs typeface="Arial" pitchFamily="34" charset="0"/>
              </a:rPr>
              <a:t>Port numbers</a:t>
            </a:r>
          </a:p>
          <a:p>
            <a:pPr marL="742950" lvl="1" indent="-285750">
              <a:spcBef>
                <a:spcPts val="600"/>
              </a:spcBef>
              <a:buFont typeface="Wingdings" pitchFamily="2" charset="2"/>
              <a:buChar char="§"/>
            </a:pPr>
            <a:r>
              <a:rPr lang="en-US" sz="3200" dirty="0">
                <a:solidFill>
                  <a:schemeClr val="tx1"/>
                </a:solidFill>
                <a:cs typeface="Arial" pitchFamily="34" charset="0"/>
              </a:rPr>
              <a:t>Well known port numbers (defined by IANA 0 – 1023)</a:t>
            </a:r>
          </a:p>
          <a:p>
            <a:pPr marL="742950" lvl="1" indent="-285750">
              <a:spcBef>
                <a:spcPts val="600"/>
              </a:spcBef>
              <a:buFont typeface="Wingdings" pitchFamily="2" charset="2"/>
              <a:buChar char="§"/>
            </a:pPr>
            <a:r>
              <a:rPr lang="en-US" sz="3200" dirty="0">
                <a:solidFill>
                  <a:schemeClr val="tx1"/>
                </a:solidFill>
                <a:cs typeface="Arial" pitchFamily="34" charset="0"/>
              </a:rPr>
              <a:t>Registered ports (1024 - 49151)</a:t>
            </a:r>
          </a:p>
          <a:p>
            <a:pPr marL="742950" lvl="1" indent="-285750">
              <a:spcBef>
                <a:spcPts val="600"/>
              </a:spcBef>
              <a:buFont typeface="Wingdings" pitchFamily="2" charset="2"/>
              <a:buChar char="§"/>
            </a:pPr>
            <a:r>
              <a:rPr lang="en-US" sz="3200" dirty="0">
                <a:solidFill>
                  <a:schemeClr val="tx1"/>
                </a:solidFill>
                <a:cs typeface="Arial" pitchFamily="34" charset="0"/>
              </a:rPr>
              <a:t>Private ports/</a:t>
            </a:r>
            <a:r>
              <a:rPr lang="en-US" sz="3200" dirty="0" err="1">
                <a:solidFill>
                  <a:schemeClr val="tx1"/>
                </a:solidFill>
                <a:cs typeface="Arial" pitchFamily="34" charset="0"/>
              </a:rPr>
              <a:t>Ephemereal</a:t>
            </a:r>
            <a:r>
              <a:rPr lang="en-US" sz="3200" dirty="0">
                <a:solidFill>
                  <a:schemeClr val="tx1"/>
                </a:solidFill>
                <a:cs typeface="Arial" pitchFamily="34" charset="0"/>
              </a:rPr>
              <a:t> (49152 - 65535) </a:t>
            </a:r>
          </a:p>
          <a:p>
            <a:pPr marL="342900" indent="-342900">
              <a:buFontTx/>
              <a:buChar char="•"/>
            </a:pPr>
            <a:r>
              <a:rPr lang="en-US" sz="3200" dirty="0">
                <a:solidFill>
                  <a:schemeClr val="tx1"/>
                </a:solidFill>
                <a:cs typeface="Arial" pitchFamily="34" charset="0"/>
              </a:rPr>
              <a:t>Socket Address</a:t>
            </a:r>
          </a:p>
        </p:txBody>
      </p:sp>
      <p:pic>
        <p:nvPicPr>
          <p:cNvPr id="7" name="Picture 6">
            <a:extLst>
              <a:ext uri="{FF2B5EF4-FFF2-40B4-BE49-F238E27FC236}">
                <a16:creationId xmlns:a16="http://schemas.microsoft.com/office/drawing/2014/main" id="{92ADC407-9901-B95C-931F-D79D4773C787}"/>
              </a:ext>
            </a:extLst>
          </p:cNvPr>
          <p:cNvPicPr>
            <a:picLocks noChangeAspect="1"/>
          </p:cNvPicPr>
          <p:nvPr/>
        </p:nvPicPr>
        <p:blipFill>
          <a:blip r:embed="rId2"/>
          <a:stretch>
            <a:fillRect/>
          </a:stretch>
        </p:blipFill>
        <p:spPr>
          <a:xfrm>
            <a:off x="7556013" y="8235812"/>
            <a:ext cx="6984793" cy="3608129"/>
          </a:xfrm>
          <a:prstGeom prst="rect">
            <a:avLst/>
          </a:prstGeom>
        </p:spPr>
      </p:pic>
    </p:spTree>
    <p:extLst>
      <p:ext uri="{BB962C8B-B14F-4D97-AF65-F5344CB8AC3E}">
        <p14:creationId xmlns:p14="http://schemas.microsoft.com/office/powerpoint/2010/main" val="346115083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63056-1C08-B551-B038-8CED82140BCB}"/>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620A09DA-3FB0-5870-096A-BDCC5312FCFE}"/>
              </a:ext>
            </a:extLst>
          </p:cNvPr>
          <p:cNvSpPr>
            <a:spLocks noGrp="1"/>
          </p:cNvSpPr>
          <p:nvPr>
            <p:ph type="body" sz="quarter" idx="10"/>
          </p:nvPr>
        </p:nvSpPr>
        <p:spPr/>
        <p:txBody>
          <a:bodyPr/>
          <a:lstStyle/>
          <a:p>
            <a:r>
              <a:rPr lang="en-US" dirty="0" err="1"/>
              <a:t>Tcp</a:t>
            </a:r>
            <a:r>
              <a:rPr lang="en-US" dirty="0"/>
              <a:t> mechanisms</a:t>
            </a:r>
          </a:p>
        </p:txBody>
      </p:sp>
      <p:sp>
        <p:nvSpPr>
          <p:cNvPr id="5" name="Content Placeholder 4">
            <a:extLst>
              <a:ext uri="{FF2B5EF4-FFF2-40B4-BE49-F238E27FC236}">
                <a16:creationId xmlns:a16="http://schemas.microsoft.com/office/drawing/2014/main" id="{56E725B9-DF06-532F-019E-F9EF1DADD762}"/>
              </a:ext>
            </a:extLst>
          </p:cNvPr>
          <p:cNvSpPr>
            <a:spLocks noGrp="1" noChangeArrowheads="1"/>
          </p:cNvSpPr>
          <p:nvPr>
            <p:ph sz="quarter" idx="11"/>
          </p:nvPr>
        </p:nvSpPr>
        <p:spPr>
          <a:xfrm>
            <a:off x="4532773" y="3843562"/>
            <a:ext cx="13714940" cy="4522264"/>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indent="-228600" eaLnBrk="1" hangingPunct="1">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Connection establishment</a:t>
            </a:r>
          </a:p>
          <a:p>
            <a:pPr marL="635000" lvl="1" indent="-228600" eaLnBrk="1" hangingPunct="1">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Three way handshake</a:t>
            </a:r>
          </a:p>
          <a:p>
            <a:pPr marL="635000" lvl="1" indent="-228600" eaLnBrk="1" hangingPunct="1">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Between pairs of ports</a:t>
            </a:r>
          </a:p>
          <a:p>
            <a:pPr marL="635000" lvl="1" indent="-228600" eaLnBrk="1" hangingPunct="1">
              <a:spcBef>
                <a:spcPct val="0"/>
              </a:spcBef>
            </a:pPr>
            <a:r>
              <a:rPr lang="en-US" sz="3200" b="1" dirty="0">
                <a:latin typeface="Open Sans Light" panose="020B0306030504020204" pitchFamily="34" charset="0"/>
                <a:ea typeface="Open Sans Light" panose="020B0306030504020204" pitchFamily="34" charset="0"/>
                <a:cs typeface="Open Sans Light" panose="020B0306030504020204" pitchFamily="34" charset="0"/>
              </a:rPr>
              <a:t>One port can connect to multiple destinations</a:t>
            </a:r>
          </a:p>
        </p:txBody>
      </p:sp>
    </p:spTree>
    <p:extLst>
      <p:ext uri="{BB962C8B-B14F-4D97-AF65-F5344CB8AC3E}">
        <p14:creationId xmlns:p14="http://schemas.microsoft.com/office/powerpoint/2010/main" val="381656875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84456-D587-17E5-907E-B804911CB8F8}"/>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95405609-6FE8-3D72-1EA1-F34910476B8B}"/>
              </a:ext>
            </a:extLst>
          </p:cNvPr>
          <p:cNvSpPr>
            <a:spLocks noGrp="1"/>
          </p:cNvSpPr>
          <p:nvPr>
            <p:ph type="body" sz="quarter" idx="10"/>
          </p:nvPr>
        </p:nvSpPr>
        <p:spPr/>
        <p:txBody>
          <a:bodyPr/>
          <a:lstStyle/>
          <a:p>
            <a:r>
              <a:rPr lang="en-US" dirty="0" err="1"/>
              <a:t>Udp</a:t>
            </a:r>
            <a:r>
              <a:rPr lang="en-US" dirty="0"/>
              <a:t> mechanisms</a:t>
            </a:r>
          </a:p>
        </p:txBody>
      </p:sp>
      <p:sp>
        <p:nvSpPr>
          <p:cNvPr id="5" name="Content Placeholder 4">
            <a:extLst>
              <a:ext uri="{FF2B5EF4-FFF2-40B4-BE49-F238E27FC236}">
                <a16:creationId xmlns:a16="http://schemas.microsoft.com/office/drawing/2014/main" id="{529AE039-8E6D-0EDA-78DE-F689E1DF9932}"/>
              </a:ext>
            </a:extLst>
          </p:cNvPr>
          <p:cNvSpPr>
            <a:spLocks noGrp="1" noChangeArrowheads="1"/>
          </p:cNvSpPr>
          <p:nvPr>
            <p:ph sz="quarter" idx="11"/>
          </p:nvPr>
        </p:nvSpPr>
        <p:spPr>
          <a:xfrm>
            <a:off x="3797278" y="3783928"/>
            <a:ext cx="15981592" cy="5479342"/>
          </a:xfrm>
          <a:prstGeom prst="rect">
            <a:avLst/>
          </a:prstGeom>
          <a:noFill/>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UDP is a connectionless, unreliable protocol that has no flow and error control</a:t>
            </a:r>
          </a:p>
          <a:p>
            <a:pPr eaLnBrk="1" hangingPunct="1">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It uses port numbers to multiplex data from the application layer </a:t>
            </a:r>
          </a:p>
          <a:p>
            <a:pPr eaLnBrk="1" hangingPunct="1">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Delivery and duplication control not guaranteed</a:t>
            </a:r>
          </a:p>
          <a:p>
            <a:pPr eaLnBrk="1" hangingPunct="1">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Reduced overhead</a:t>
            </a:r>
          </a:p>
          <a:p>
            <a:pPr eaLnBrk="1" hangingPunct="1">
              <a:spcBef>
                <a:spcPct val="0"/>
              </a:spcBef>
            </a:pPr>
            <a:r>
              <a:rPr lang="en-US" b="1" dirty="0">
                <a:latin typeface="Open Sans Light" panose="020B0306030504020204" pitchFamily="34" charset="0"/>
                <a:ea typeface="Open Sans Light" panose="020B0306030504020204" pitchFamily="34" charset="0"/>
                <a:cs typeface="Open Sans Light" panose="020B0306030504020204" pitchFamily="34" charset="0"/>
              </a:rPr>
              <a:t>UDP is a convenient transport-layer protocol for applications that provide flow and error control. It is also used by multimedia applications</a:t>
            </a:r>
          </a:p>
        </p:txBody>
      </p:sp>
    </p:spTree>
    <p:extLst>
      <p:ext uri="{BB962C8B-B14F-4D97-AF65-F5344CB8AC3E}">
        <p14:creationId xmlns:p14="http://schemas.microsoft.com/office/powerpoint/2010/main" val="383583487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553E6-F8FC-AB0C-0315-33E4E5DDBE8A}"/>
              </a:ext>
            </a:extLst>
          </p:cNvPr>
          <p:cNvSpPr>
            <a:spLocks noGrp="1"/>
          </p:cNvSpPr>
          <p:nvPr>
            <p:ph type="title"/>
          </p:nvPr>
        </p:nvSpPr>
        <p:spPr/>
        <p:txBody>
          <a:bodyPr>
            <a:normAutofit fontScale="90000"/>
          </a:bodyPr>
          <a:lstStyle/>
          <a:p>
            <a:r>
              <a:rPr lang="en-US" dirty="0"/>
              <a:t>Transport layer</a:t>
            </a:r>
          </a:p>
        </p:txBody>
      </p:sp>
      <p:sp>
        <p:nvSpPr>
          <p:cNvPr id="3" name="Text Placeholder 2">
            <a:extLst>
              <a:ext uri="{FF2B5EF4-FFF2-40B4-BE49-F238E27FC236}">
                <a16:creationId xmlns:a16="http://schemas.microsoft.com/office/drawing/2014/main" id="{18993E60-3D53-983A-697A-27DEF0B20498}"/>
              </a:ext>
            </a:extLst>
          </p:cNvPr>
          <p:cNvSpPr>
            <a:spLocks noGrp="1"/>
          </p:cNvSpPr>
          <p:nvPr>
            <p:ph type="body" sz="quarter" idx="10"/>
          </p:nvPr>
        </p:nvSpPr>
        <p:spPr/>
        <p:txBody>
          <a:bodyPr/>
          <a:lstStyle/>
          <a:p>
            <a:r>
              <a:rPr lang="en-US" dirty="0" err="1"/>
              <a:t>Sctp</a:t>
            </a:r>
            <a:r>
              <a:rPr lang="en-US" dirty="0"/>
              <a:t> mechanisms</a:t>
            </a:r>
          </a:p>
        </p:txBody>
      </p:sp>
      <p:sp>
        <p:nvSpPr>
          <p:cNvPr id="4" name="Content Placeholder 3">
            <a:extLst>
              <a:ext uri="{FF2B5EF4-FFF2-40B4-BE49-F238E27FC236}">
                <a16:creationId xmlns:a16="http://schemas.microsoft.com/office/drawing/2014/main" id="{A5E10269-4662-DB2E-2B0B-5FF97D83FF2D}"/>
              </a:ext>
            </a:extLst>
          </p:cNvPr>
          <p:cNvSpPr>
            <a:spLocks noGrp="1"/>
          </p:cNvSpPr>
          <p:nvPr>
            <p:ph sz="quarter" idx="11"/>
          </p:nvPr>
        </p:nvSpPr>
        <p:spPr>
          <a:xfrm>
            <a:off x="5486930" y="4314825"/>
            <a:ext cx="13714940" cy="5541871"/>
          </a:xfrm>
        </p:spPr>
        <p:txBody>
          <a:bodyPr>
            <a:noAutofit/>
          </a:bodyPr>
          <a:lstStyle/>
          <a:p>
            <a:pPr algn="l"/>
            <a:r>
              <a:rPr lang="en-US" sz="2800" dirty="0">
                <a:latin typeface="+mn-lt"/>
                <a:ea typeface="Open Sans ExtraBold" panose="020B0906030804020204" pitchFamily="34" charset="0"/>
                <a:cs typeface="Open Sans ExtraBold" panose="020B0906030804020204" pitchFamily="34" charset="0"/>
              </a:rPr>
              <a:t>SCTP – Stream Control Transmission Protocol</a:t>
            </a:r>
            <a:br>
              <a:rPr lang="en-US" sz="2800" dirty="0"/>
            </a:br>
            <a:r>
              <a:rPr lang="en-US" sz="2800" b="0" i="0" u="none" strike="noStrike" baseline="0" dirty="0">
                <a:latin typeface="+mn-lt"/>
              </a:rPr>
              <a:t>new transport-layer protocol designed to combine some features of UDP and TCP in an effort to</a:t>
            </a:r>
            <a:r>
              <a:rPr lang="en-US" sz="2800" dirty="0">
                <a:latin typeface="+mn-lt"/>
              </a:rPr>
              <a:t> </a:t>
            </a:r>
            <a:r>
              <a:rPr lang="en-US" sz="2800" b="0" i="0" u="none" strike="noStrike" baseline="0" dirty="0">
                <a:latin typeface="+mn-lt"/>
              </a:rPr>
              <a:t>create a better protocol for multimedia communication.</a:t>
            </a:r>
          </a:p>
          <a:p>
            <a:r>
              <a:rPr lang="en-US" sz="2800" dirty="0">
                <a:latin typeface="+mn-lt"/>
              </a:rPr>
              <a:t>Services</a:t>
            </a:r>
            <a:br>
              <a:rPr lang="en-US" sz="2800" dirty="0">
                <a:latin typeface="+mn-lt"/>
              </a:rPr>
            </a:br>
            <a:r>
              <a:rPr lang="en-US" sz="2800" dirty="0">
                <a:latin typeface="+mn-lt"/>
              </a:rPr>
              <a:t>- Process to Process Communication</a:t>
            </a:r>
            <a:br>
              <a:rPr lang="en-US" sz="2800" dirty="0">
                <a:latin typeface="+mn-lt"/>
              </a:rPr>
            </a:br>
            <a:r>
              <a:rPr lang="en-US" sz="2800" dirty="0">
                <a:latin typeface="+mn-lt"/>
              </a:rPr>
              <a:t>- SCTP allow multi-stream service in each connection called association</a:t>
            </a:r>
            <a:br>
              <a:rPr lang="en-US" sz="2800" dirty="0">
                <a:latin typeface="+mn-lt"/>
              </a:rPr>
            </a:br>
            <a:r>
              <a:rPr lang="en-US" sz="2800" dirty="0">
                <a:latin typeface="+mn-lt"/>
              </a:rPr>
              <a:t>     if one of the streams is blocked, the other streams can still deliver their data.</a:t>
            </a:r>
            <a:br>
              <a:rPr lang="en-US" sz="2800" dirty="0">
                <a:latin typeface="+mn-lt"/>
              </a:rPr>
            </a:br>
            <a:r>
              <a:rPr lang="en-US" sz="2800" dirty="0">
                <a:latin typeface="+mn-lt"/>
              </a:rPr>
              <a:t>- Multihoming</a:t>
            </a:r>
            <a:br>
              <a:rPr lang="en-US" sz="2800" dirty="0">
                <a:latin typeface="+mn-lt"/>
              </a:rPr>
            </a:br>
            <a:r>
              <a:rPr lang="en-US" sz="2800" dirty="0">
                <a:latin typeface="+mn-lt"/>
              </a:rPr>
              <a:t>   </a:t>
            </a:r>
            <a:r>
              <a:rPr lang="en-US" sz="2800" dirty="0">
                <a:effectLst/>
                <a:latin typeface="+mn-lt"/>
                <a:ea typeface="Calibri" panose="020F0502020204030204" pitchFamily="34" charset="0"/>
                <a:cs typeface="Times New Roman" panose="02020603050405020304" pitchFamily="18" charset="0"/>
              </a:rPr>
              <a:t>The sending and receiving host can define multiple IP addresses in each end for an association. In this fault-tolerant approach, when one path fails, another interface can be used for data delivery without interruption. This fault-tolerant feature is very helpful when we are sending and receiving a real-time payload such as Internet telephony</a:t>
            </a:r>
          </a:p>
          <a:p>
            <a:pPr marL="0" indent="0" algn="l">
              <a:buNone/>
            </a:pPr>
            <a:br>
              <a:rPr lang="en-US" sz="2800" dirty="0">
                <a:latin typeface="+mn-lt"/>
              </a:rPr>
            </a:br>
            <a:r>
              <a:rPr lang="en-US" sz="2800" dirty="0">
                <a:latin typeface="+mn-lt"/>
              </a:rPr>
              <a:t>     </a:t>
            </a:r>
          </a:p>
        </p:txBody>
      </p:sp>
    </p:spTree>
    <p:extLst>
      <p:ext uri="{BB962C8B-B14F-4D97-AF65-F5344CB8AC3E}">
        <p14:creationId xmlns:p14="http://schemas.microsoft.com/office/powerpoint/2010/main" val="245586290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A1DBB-A222-E068-82CD-93E49BBD879A}"/>
              </a:ext>
            </a:extLst>
          </p:cNvPr>
          <p:cNvSpPr>
            <a:spLocks noGrp="1"/>
          </p:cNvSpPr>
          <p:nvPr>
            <p:ph type="title"/>
          </p:nvPr>
        </p:nvSpPr>
        <p:spPr>
          <a:xfrm>
            <a:off x="2167377" y="1909447"/>
            <a:ext cx="14715569" cy="510281"/>
          </a:xfrm>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0AFCB5E3-0DCD-8B7F-1F46-6079B3294A03}"/>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FDD0E2E2-8C4B-A86E-461D-95D315940191}"/>
              </a:ext>
            </a:extLst>
          </p:cNvPr>
          <p:cNvSpPr>
            <a:spLocks noGrp="1"/>
          </p:cNvSpPr>
          <p:nvPr>
            <p:ph sz="quarter" idx="11"/>
          </p:nvPr>
        </p:nvSpPr>
        <p:spPr/>
        <p:txBody>
          <a:bodyPr>
            <a:normAutofit/>
          </a:bodyPr>
          <a:lstStyle/>
          <a:p>
            <a:pPr marL="514350" indent="-514350">
              <a:buFont typeface="+mj-lt"/>
              <a:buAutoNum type="arabicPeriod"/>
            </a:pPr>
            <a:r>
              <a:rPr lang="en-US" sz="3200" b="1" dirty="0"/>
              <a:t>Explain transport layer duty (4 duty) and give example on each duty ?</a:t>
            </a:r>
          </a:p>
        </p:txBody>
      </p:sp>
    </p:spTree>
    <p:extLst>
      <p:ext uri="{BB962C8B-B14F-4D97-AF65-F5344CB8AC3E}">
        <p14:creationId xmlns:p14="http://schemas.microsoft.com/office/powerpoint/2010/main" val="216144599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2D43-6DC0-82BA-8E90-2AA624325042}"/>
              </a:ext>
            </a:extLst>
          </p:cNvPr>
          <p:cNvSpPr>
            <a:spLocks noGrp="1"/>
          </p:cNvSpPr>
          <p:nvPr>
            <p:ph type="title"/>
          </p:nvPr>
        </p:nvSpPr>
        <p:spPr/>
        <p:txBody>
          <a:bodyPr>
            <a:normAutofit fontScale="90000"/>
          </a:bodyPr>
          <a:lstStyle/>
          <a:p>
            <a:r>
              <a:rPr lang="en-US" dirty="0"/>
              <a:t>Books reference</a:t>
            </a:r>
          </a:p>
        </p:txBody>
      </p:sp>
      <p:sp>
        <p:nvSpPr>
          <p:cNvPr id="3" name="Text Placeholder 2">
            <a:extLst>
              <a:ext uri="{FF2B5EF4-FFF2-40B4-BE49-F238E27FC236}">
                <a16:creationId xmlns:a16="http://schemas.microsoft.com/office/drawing/2014/main" id="{C8EBF1C5-C280-D9C4-3EDE-DC565FCDCC5F}"/>
              </a:ext>
            </a:extLst>
          </p:cNvPr>
          <p:cNvSpPr>
            <a:spLocks noGrp="1"/>
          </p:cNvSpPr>
          <p:nvPr>
            <p:ph type="body" sz="quarter" idx="10"/>
          </p:nvPr>
        </p:nvSpPr>
        <p:spPr/>
        <p:txBody>
          <a:bodyPr/>
          <a:lstStyle/>
          <a:p>
            <a:endParaRPr lang="en-US"/>
          </a:p>
        </p:txBody>
      </p:sp>
      <p:sp>
        <p:nvSpPr>
          <p:cNvPr id="5" name="Content Placeholder 3">
            <a:extLst>
              <a:ext uri="{FF2B5EF4-FFF2-40B4-BE49-F238E27FC236}">
                <a16:creationId xmlns:a16="http://schemas.microsoft.com/office/drawing/2014/main" id="{7701E75A-B7C9-02CD-762F-E270ADBBDE03}"/>
              </a:ext>
            </a:extLst>
          </p:cNvPr>
          <p:cNvSpPr txBox="1">
            <a:spLocks/>
          </p:cNvSpPr>
          <p:nvPr/>
        </p:nvSpPr>
        <p:spPr>
          <a:xfrm>
            <a:off x="5639330" y="5486832"/>
            <a:ext cx="13714940" cy="45222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just"/>
            <a:endParaRPr lang="en-US" sz="2800" dirty="0">
              <a:latin typeface="Open Sans Semibold" panose="020B0706030804020204" pitchFamily="34" charset="0"/>
              <a:ea typeface="Open Sans Semibold" panose="020B0706030804020204" pitchFamily="34" charset="0"/>
              <a:cs typeface="Open Sans Semibold" panose="020B0706030804020204" pitchFamily="34" charset="0"/>
            </a:endParaRPr>
          </a:p>
        </p:txBody>
      </p:sp>
      <p:sp>
        <p:nvSpPr>
          <p:cNvPr id="7" name="Content Placeholder 6">
            <a:extLst>
              <a:ext uri="{FF2B5EF4-FFF2-40B4-BE49-F238E27FC236}">
                <a16:creationId xmlns:a16="http://schemas.microsoft.com/office/drawing/2014/main" id="{1A8F48AC-F371-2734-52C4-567E0A352D48}"/>
              </a:ext>
            </a:extLst>
          </p:cNvPr>
          <p:cNvSpPr>
            <a:spLocks noGrp="1"/>
          </p:cNvSpPr>
          <p:nvPr>
            <p:ph sz="quarter" idx="11"/>
          </p:nvPr>
        </p:nvSpPr>
        <p:spPr>
          <a:xfrm>
            <a:off x="2958042" y="4645897"/>
            <a:ext cx="16979854" cy="4522264"/>
          </a:xfrm>
        </p:spPr>
        <p:txBody>
          <a:bodyPr>
            <a:normAutofit/>
          </a:bodyPr>
          <a:lstStyle/>
          <a:p>
            <a:r>
              <a:rPr lang="en-US" sz="3200" dirty="0" err="1">
                <a:latin typeface="+mn-lt"/>
                <a:ea typeface="Open Sans Semibold" panose="020B0706030804020204" pitchFamily="34" charset="0"/>
                <a:cs typeface="Open Sans Semibold" panose="020B0706030804020204" pitchFamily="34" charset="0"/>
              </a:rPr>
              <a:t>Forouzan</a:t>
            </a:r>
            <a:r>
              <a:rPr lang="en-US" sz="3200" dirty="0">
                <a:latin typeface="+mn-lt"/>
                <a:ea typeface="Open Sans Semibold" panose="020B0706030804020204" pitchFamily="34" charset="0"/>
                <a:cs typeface="Open Sans Semibold" panose="020B0706030804020204" pitchFamily="34" charset="0"/>
              </a:rPr>
              <a:t>, B. A. (2021). Data Communications and Networking with TCP/IP Protocol Suite. 6th Ed. New York: McGraw-Hill. ISBN: 978-1-26-436335-3. Chapter 9</a:t>
            </a:r>
          </a:p>
          <a:p>
            <a:endParaRPr lang="en-US" sz="3200" dirty="0">
              <a:latin typeface="+mn-lt"/>
            </a:endParaRPr>
          </a:p>
        </p:txBody>
      </p:sp>
    </p:spTree>
    <p:extLst>
      <p:ext uri="{BB962C8B-B14F-4D97-AF65-F5344CB8AC3E}">
        <p14:creationId xmlns:p14="http://schemas.microsoft.com/office/powerpoint/2010/main" val="207489561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E48F4F-144E-B982-E51F-76F732804B3A}"/>
              </a:ext>
            </a:extLst>
          </p:cNvPr>
          <p:cNvSpPr>
            <a:spLocks noGrp="1"/>
          </p:cNvSpPr>
          <p:nvPr>
            <p:ph type="body" sz="quarter" idx="1"/>
          </p:nvPr>
        </p:nvSpPr>
        <p:spPr/>
        <p:txBody>
          <a:bodyPr/>
          <a:lstStyle/>
          <a:p>
            <a:endParaRPr lang="en-US"/>
          </a:p>
        </p:txBody>
      </p:sp>
      <p:sp>
        <p:nvSpPr>
          <p:cNvPr id="3" name="Title 2">
            <a:extLst>
              <a:ext uri="{FF2B5EF4-FFF2-40B4-BE49-F238E27FC236}">
                <a16:creationId xmlns:a16="http://schemas.microsoft.com/office/drawing/2014/main" id="{B7D930EC-C957-C09C-7359-7312156E8E93}"/>
              </a:ext>
            </a:extLst>
          </p:cNvPr>
          <p:cNvSpPr>
            <a:spLocks noGrp="1"/>
          </p:cNvSpPr>
          <p:nvPr>
            <p:ph type="title"/>
          </p:nvPr>
        </p:nvSpPr>
        <p:spPr/>
        <p:txBody>
          <a:bodyPr/>
          <a:lstStyle/>
          <a:p>
            <a:r>
              <a:rPr lang="en-US" dirty="0"/>
              <a:t>Thank you</a:t>
            </a:r>
          </a:p>
        </p:txBody>
      </p:sp>
      <p:sp>
        <p:nvSpPr>
          <p:cNvPr id="4" name="Text Placeholder 3">
            <a:extLst>
              <a:ext uri="{FF2B5EF4-FFF2-40B4-BE49-F238E27FC236}">
                <a16:creationId xmlns:a16="http://schemas.microsoft.com/office/drawing/2014/main" id="{FDF18AEA-5401-B692-325F-9E8AD981816E}"/>
              </a:ext>
            </a:extLst>
          </p:cNvPr>
          <p:cNvSpPr>
            <a:spLocks noGrp="1"/>
          </p:cNvSpPr>
          <p:nvPr>
            <p:ph type="body" sz="quarter" idx="10"/>
          </p:nvPr>
        </p:nvSpPr>
        <p:spPr/>
        <p:txBody>
          <a:bodyPr>
            <a:normAutofit lnSpcReduction="10000"/>
          </a:bodyPr>
          <a:lstStyle/>
          <a:p>
            <a:r>
              <a:rPr lang="en-US" dirty="0"/>
              <a:t>December 2024</a:t>
            </a:r>
          </a:p>
        </p:txBody>
      </p:sp>
    </p:spTree>
    <p:extLst>
      <p:ext uri="{BB962C8B-B14F-4D97-AF65-F5344CB8AC3E}">
        <p14:creationId xmlns:p14="http://schemas.microsoft.com/office/powerpoint/2010/main" val="2813413609"/>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2" id="{A9A1C811-4046-44EA-8E0F-7354A0AD2552}" vid="{C3965A57-E83B-4BEA-A297-9AFB7752D311}"/>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ppt binus template</Template>
  <TotalTime>37</TotalTime>
  <Words>883</Words>
  <Application>Microsoft Office PowerPoint</Application>
  <PresentationFormat>Custom</PresentationFormat>
  <Paragraphs>85</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Open Sans Light</vt:lpstr>
      <vt:lpstr>Open Sans ExtraBold</vt:lpstr>
      <vt:lpstr>Open Sans Semibold</vt:lpstr>
      <vt:lpstr>Arial</vt:lpstr>
      <vt:lpstr>Wingdings</vt:lpstr>
      <vt:lpstr>OCRB</vt:lpstr>
      <vt:lpstr>21_BasicWhite</vt:lpstr>
      <vt:lpstr>Computer network session 8</vt:lpstr>
      <vt:lpstr>Learning outcomes</vt:lpstr>
      <vt:lpstr>topics</vt:lpstr>
      <vt:lpstr>TRANSPORT LAYER</vt:lpstr>
      <vt:lpstr>TRANSPORT LAYER</vt:lpstr>
      <vt:lpstr>TRANSPORT LAYER</vt:lpstr>
      <vt:lpstr>TRANSPORT LAYER</vt:lpstr>
      <vt:lpstr>Transport layer</vt:lpstr>
      <vt:lpstr>Transport layer</vt:lpstr>
      <vt:lpstr>Transport layer</vt:lpstr>
      <vt:lpstr>Transport layer</vt:lpstr>
      <vt:lpstr>Transport layer</vt:lpstr>
      <vt:lpstr>Transport layer</vt:lpstr>
      <vt:lpstr>Transport layer</vt:lpstr>
      <vt:lpstr>Transport layer</vt:lpstr>
      <vt:lpstr>Exercise</vt:lpstr>
      <vt:lpstr>Books reference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Ir. Santoso Budijono, M.M.</dc:creator>
  <cp:lastModifiedBy>Ir. Santoso Budijono, M.M.</cp:lastModifiedBy>
  <cp:revision>1</cp:revision>
  <dcterms:created xsi:type="dcterms:W3CDTF">2024-12-13T12:00:55Z</dcterms:created>
  <dcterms:modified xsi:type="dcterms:W3CDTF">2024-12-14T02:02:37Z</dcterms:modified>
</cp:coreProperties>
</file>