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270" r:id="rId11"/>
    <p:sldId id="269" r:id="rId12"/>
    <p:sldId id="271" r:id="rId13"/>
    <p:sldId id="272" r:id="rId14"/>
    <p:sldId id="273" r:id="rId15"/>
    <p:sldId id="274" r:id="rId16"/>
    <p:sldId id="275" r:id="rId17"/>
    <p:sldId id="445" r:id="rId18"/>
    <p:sldId id="263" r:id="rId19"/>
    <p:sldId id="444" r:id="rId20"/>
  </p:sldIdLst>
  <p:sldSz cx="24384000" cy="13716000"/>
  <p:notesSz cx="6858000" cy="9144000"/>
  <p:embeddedFontLst>
    <p:embeddedFont>
      <p:font typeface="Gill Sans Nova Cond Ultra Bold" panose="020B0B04020104020203" pitchFamily="34" charset="0"/>
      <p:bold r:id="rId22"/>
    </p:embeddedFont>
    <p:embeddedFont>
      <p:font typeface="OCRB" panose="020B0609020202020204" pitchFamily="49" charset="0"/>
      <p:regular r:id="rId23"/>
    </p:embeddedFont>
    <p:embeddedFont>
      <p:font typeface="Open Sans ExtraBold" panose="020B0906030804020204" pitchFamily="34" charset="0"/>
      <p:bold r:id="rId24"/>
      <p:italic r:id="rId25"/>
      <p:boldItalic r:id="rId26"/>
    </p:embeddedFont>
    <p:embeddedFont>
      <p:font typeface="Open Sans Light" panose="020B0306030504020204" pitchFamily="34" charset="0"/>
      <p:regular r:id="rId27"/>
      <p:italic r:id="rId28"/>
    </p:embeddedFont>
    <p:embeddedFont>
      <p:font typeface="Open Sans Semibold" panose="020B0706030804020204" pitchFamily="34" charset="0"/>
      <p:regular r:id="rId29"/>
      <p:bold r:id="rId30"/>
      <p:italic r:id="rId31"/>
      <p:boldItalic r:id="rId32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97"/>
  </p:normalViewPr>
  <p:slideViewPr>
    <p:cSldViewPr snapToGrid="0" snapToObjects="1">
      <p:cViewPr varScale="1">
        <p:scale>
          <a:sx n="41" d="100"/>
          <a:sy n="41" d="100"/>
        </p:scale>
        <p:origin x="72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. Santoso Budijono, M.M." userId="bbff4192-f18b-4ea0-9da7-966ec02cbd0b" providerId="ADAL" clId="{BCAAFCCD-3702-4E05-9EFE-7EC9E8212E30}"/>
    <pc:docChg chg="custSel addSld modSld">
      <pc:chgData name="Ir. Santoso Budijono, M.M." userId="bbff4192-f18b-4ea0-9da7-966ec02cbd0b" providerId="ADAL" clId="{BCAAFCCD-3702-4E05-9EFE-7EC9E8212E30}" dt="2024-12-14T02:01:12.149" v="133" actId="1076"/>
      <pc:docMkLst>
        <pc:docMk/>
      </pc:docMkLst>
      <pc:sldChg chg="modSp mod">
        <pc:chgData name="Ir. Santoso Budijono, M.M." userId="bbff4192-f18b-4ea0-9da7-966ec02cbd0b" providerId="ADAL" clId="{BCAAFCCD-3702-4E05-9EFE-7EC9E8212E30}" dt="2024-12-14T02:00:17.311" v="0" actId="20577"/>
        <pc:sldMkLst>
          <pc:docMk/>
          <pc:sldMk cId="993509527" sldId="274"/>
        </pc:sldMkLst>
        <pc:spChg chg="mod">
          <ac:chgData name="Ir. Santoso Budijono, M.M." userId="bbff4192-f18b-4ea0-9da7-966ec02cbd0b" providerId="ADAL" clId="{BCAAFCCD-3702-4E05-9EFE-7EC9E8212E30}" dt="2024-12-14T02:00:17.311" v="0" actId="20577"/>
          <ac:spMkLst>
            <pc:docMk/>
            <pc:sldMk cId="993509527" sldId="274"/>
            <ac:spMk id="3" creationId="{0DF6E300-6778-12D6-8217-8A50A447E2E6}"/>
          </ac:spMkLst>
        </pc:spChg>
      </pc:sldChg>
      <pc:sldChg chg="modSp new mod">
        <pc:chgData name="Ir. Santoso Budijono, M.M." userId="bbff4192-f18b-4ea0-9da7-966ec02cbd0b" providerId="ADAL" clId="{BCAAFCCD-3702-4E05-9EFE-7EC9E8212E30}" dt="2024-12-14T02:01:12.149" v="133" actId="1076"/>
        <pc:sldMkLst>
          <pc:docMk/>
          <pc:sldMk cId="4109024446" sldId="445"/>
        </pc:sldMkLst>
        <pc:spChg chg="mod">
          <ac:chgData name="Ir. Santoso Budijono, M.M." userId="bbff4192-f18b-4ea0-9da7-966ec02cbd0b" providerId="ADAL" clId="{BCAAFCCD-3702-4E05-9EFE-7EC9E8212E30}" dt="2024-12-14T02:00:28.966" v="16" actId="20577"/>
          <ac:spMkLst>
            <pc:docMk/>
            <pc:sldMk cId="4109024446" sldId="445"/>
            <ac:spMk id="2" creationId="{7249D502-F2B3-992C-4787-94ED7866BE06}"/>
          </ac:spMkLst>
        </pc:spChg>
        <pc:spChg chg="mod">
          <ac:chgData name="Ir. Santoso Budijono, M.M." userId="bbff4192-f18b-4ea0-9da7-966ec02cbd0b" providerId="ADAL" clId="{BCAAFCCD-3702-4E05-9EFE-7EC9E8212E30}" dt="2024-12-14T02:01:12.149" v="133" actId="1076"/>
          <ac:spMkLst>
            <pc:docMk/>
            <pc:sldMk cId="4109024446" sldId="445"/>
            <ac:spMk id="4" creationId="{6A57420F-7F16-044F-2161-E91A96EA54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packet arrives whose leftmost 26 bits in the destination address match the bits in the first row, the packet is sent out from interface m2.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packet arrives whose leftmost 25 bits in the address match the bits in the second row, the packet is sent out from interface m0. And so 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 7.4 clearly shows that the first row has the longest prefix and the fourth row has the shortest prefix.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longer prefix means a smaller range of addresses;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shorter prefix means a larger range of addresses.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60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see </a:t>
            </a:r>
            <a:r>
              <a:rPr lang="en-US" dirty="0" err="1"/>
              <a:t>Forouzan</a:t>
            </a:r>
            <a:r>
              <a:rPr lang="en-US" dirty="0"/>
              <a:t> – text book, Page 251 – 252 (Address Aggregation)</a:t>
            </a:r>
          </a:p>
        </p:txBody>
      </p:sp>
    </p:spTree>
    <p:extLst>
      <p:ext uri="{BB962C8B-B14F-4D97-AF65-F5344CB8AC3E}">
        <p14:creationId xmlns:p14="http://schemas.microsoft.com/office/powerpoint/2010/main" val="2243281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see book </a:t>
            </a:r>
            <a:r>
              <a:rPr lang="en-US" dirty="0" err="1"/>
              <a:t>Forouzan</a:t>
            </a:r>
            <a:r>
              <a:rPr lang="en-US" dirty="0"/>
              <a:t> Chapter 8, page 287 – 288</a:t>
            </a:r>
          </a:p>
          <a:p>
            <a:r>
              <a:rPr lang="en-US" dirty="0" err="1"/>
              <a:t>Setiap</a:t>
            </a:r>
            <a:r>
              <a:rPr lang="en-US" dirty="0"/>
              <a:t> router </a:t>
            </a:r>
            <a:r>
              <a:rPr lang="en-US" dirty="0" err="1"/>
              <a:t>memiliki</a:t>
            </a:r>
            <a:r>
              <a:rPr lang="en-US" dirty="0"/>
              <a:t> routing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sendiri-sendiri</a:t>
            </a:r>
            <a:endParaRPr lang="en-US" dirty="0"/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pengiriman</a:t>
            </a:r>
            <a:r>
              <a:rPr lang="en-US" dirty="0"/>
              <a:t> packet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router ke router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Least-Cost algorithm. </a:t>
            </a:r>
          </a:p>
          <a:p>
            <a:r>
              <a:rPr lang="en-US" dirty="0"/>
              <a:t>Dimana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router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least-cost ke </a:t>
            </a:r>
            <a:r>
              <a:rPr lang="en-US" dirty="0" err="1"/>
              <a:t>semua</a:t>
            </a:r>
            <a:r>
              <a:rPr lang="en-US" dirty="0"/>
              <a:t> router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1 group.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Analisa </a:t>
            </a:r>
            <a:r>
              <a:rPr lang="en-US" dirty="0" err="1"/>
              <a:t>untuk</a:t>
            </a:r>
            <a:r>
              <a:rPr lang="en-US" dirty="0"/>
              <a:t> tree 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kuning</a:t>
            </a:r>
            <a:r>
              <a:rPr lang="en-US" dirty="0"/>
              <a:t>.</a:t>
            </a:r>
          </a:p>
          <a:p>
            <a:r>
              <a:rPr lang="en-US" dirty="0"/>
              <a:t>Router A </a:t>
            </a:r>
            <a:r>
              <a:rPr lang="en-US" dirty="0" err="1"/>
              <a:t>sebagai</a:t>
            </a:r>
            <a:r>
              <a:rPr lang="en-US" dirty="0"/>
              <a:t> Root of the tree dengan Analisa </a:t>
            </a:r>
            <a:r>
              <a:rPr lang="en-US" dirty="0" err="1"/>
              <a:t>sbb</a:t>
            </a:r>
            <a:r>
              <a:rPr lang="en-US" dirty="0"/>
              <a:t> :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to RB </a:t>
            </a:r>
            <a:r>
              <a:rPr lang="en-US" dirty="0" err="1"/>
              <a:t>adalah</a:t>
            </a:r>
            <a:r>
              <a:rPr lang="en-US" dirty="0"/>
              <a:t> 2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to RC </a:t>
            </a:r>
            <a:r>
              <a:rPr lang="en-US" dirty="0" err="1"/>
              <a:t>adalah</a:t>
            </a:r>
            <a:r>
              <a:rPr lang="en-US" dirty="0"/>
              <a:t> 2+5=7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RD </a:t>
            </a:r>
            <a:r>
              <a:rPr lang="en-US" dirty="0" err="1"/>
              <a:t>adalah</a:t>
            </a:r>
            <a:r>
              <a:rPr lang="en-US" dirty="0"/>
              <a:t> 3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RE </a:t>
            </a:r>
            <a:r>
              <a:rPr lang="en-US" dirty="0" err="1"/>
              <a:t>adalah</a:t>
            </a:r>
            <a:r>
              <a:rPr lang="en-US" dirty="0"/>
              <a:t> RA-RB-RE = 2+4=6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RE via RD </a:t>
            </a:r>
            <a:r>
              <a:rPr lang="en-US" dirty="0" err="1"/>
              <a:t>adalah</a:t>
            </a:r>
            <a:r>
              <a:rPr lang="en-US" dirty="0"/>
              <a:t> RA-RD-RE = 3+5 = 8  </a:t>
            </a:r>
            <a:r>
              <a:rPr lang="en-US" dirty="0">
                <a:sym typeface="Wingdings" panose="05000000000000000000" pitchFamily="2" charset="2"/>
              </a:rPr>
              <a:t> tidak </a:t>
            </a:r>
            <a:r>
              <a:rPr lang="en-US" dirty="0" err="1">
                <a:sym typeface="Wingdings" panose="05000000000000000000" pitchFamily="2" charset="2"/>
              </a:rPr>
              <a:t>digunakan</a:t>
            </a:r>
            <a:r>
              <a:rPr lang="en-US" dirty="0">
                <a:sym typeface="Wingdings" panose="05000000000000000000" pitchFamily="2" charset="2"/>
              </a:rPr>
              <a:t> algorithm ini </a:t>
            </a:r>
            <a:r>
              <a:rPr lang="en-US" dirty="0" err="1">
                <a:sym typeface="Wingdings" panose="05000000000000000000" pitchFamily="2" charset="2"/>
              </a:rPr>
              <a:t>karena</a:t>
            </a:r>
            <a:r>
              <a:rPr lang="en-US" dirty="0">
                <a:sym typeface="Wingdings" panose="05000000000000000000" pitchFamily="2" charset="2"/>
              </a:rPr>
              <a:t> tidak paling </a:t>
            </a:r>
            <a:r>
              <a:rPr lang="en-US" dirty="0" err="1">
                <a:sym typeface="Wingdings" panose="05000000000000000000" pitchFamily="2" charset="2"/>
              </a:rPr>
              <a:t>pendek</a:t>
            </a:r>
            <a:r>
              <a:rPr lang="en-US" dirty="0">
                <a:sym typeface="Wingdings" panose="05000000000000000000" pitchFamily="2" charset="2"/>
              </a:rPr>
              <a:t> atau </a:t>
            </a:r>
            <a:r>
              <a:rPr lang="en-US" dirty="0" err="1">
                <a:sym typeface="Wingdings" panose="05000000000000000000" pitchFamily="2" charset="2"/>
              </a:rPr>
              <a:t>murah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457200" indent="-4572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Cost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RA ke RF via RB-RE-RF = 2+4+2 = 8</a:t>
            </a:r>
          </a:p>
          <a:p>
            <a:pPr marL="457200" indent="-4572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Cost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RA ke RG via RB-RE-RF-RG = 2+4+2+1 = 9</a:t>
            </a: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18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see book </a:t>
            </a:r>
            <a:r>
              <a:rPr lang="en-US" dirty="0" err="1"/>
              <a:t>Forouzan</a:t>
            </a:r>
            <a:r>
              <a:rPr lang="en-US" dirty="0"/>
              <a:t> Chapter 8, page 287 – 291</a:t>
            </a:r>
          </a:p>
          <a:p>
            <a:r>
              <a:rPr lang="en-US" dirty="0" err="1"/>
              <a:t>Setiap</a:t>
            </a:r>
            <a:r>
              <a:rPr lang="en-US" dirty="0"/>
              <a:t> router </a:t>
            </a:r>
            <a:r>
              <a:rPr lang="en-US" dirty="0" err="1"/>
              <a:t>memiliki</a:t>
            </a:r>
            <a:r>
              <a:rPr lang="en-US" dirty="0"/>
              <a:t> routing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sendiri-sendiri</a:t>
            </a:r>
            <a:endParaRPr lang="en-US" dirty="0"/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pengiriman</a:t>
            </a:r>
            <a:r>
              <a:rPr lang="en-US" dirty="0"/>
              <a:t> packet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router ke router </a:t>
            </a:r>
            <a:r>
              <a:rPr lang="en-US" dirty="0" err="1"/>
              <a:t>lainnya</a:t>
            </a:r>
            <a:r>
              <a:rPr lang="en-US" dirty="0"/>
              <a:t>,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Least-Cost algorithm. </a:t>
            </a:r>
          </a:p>
          <a:p>
            <a:r>
              <a:rPr lang="en-US" dirty="0"/>
              <a:t>Dimana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router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least-cost ke </a:t>
            </a:r>
            <a:r>
              <a:rPr lang="en-US" dirty="0" err="1"/>
              <a:t>semua</a:t>
            </a:r>
            <a:r>
              <a:rPr lang="en-US" dirty="0"/>
              <a:t> router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1 group.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Analisa </a:t>
            </a:r>
            <a:r>
              <a:rPr lang="en-US" dirty="0" err="1"/>
              <a:t>untuk</a:t>
            </a:r>
            <a:r>
              <a:rPr lang="en-US" dirty="0"/>
              <a:t> tree 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kuning</a:t>
            </a:r>
            <a:r>
              <a:rPr lang="en-US" dirty="0"/>
              <a:t>.</a:t>
            </a:r>
          </a:p>
          <a:p>
            <a:r>
              <a:rPr lang="en-US" dirty="0"/>
              <a:t>Router A </a:t>
            </a:r>
            <a:r>
              <a:rPr lang="en-US" dirty="0" err="1"/>
              <a:t>sebagai</a:t>
            </a:r>
            <a:r>
              <a:rPr lang="en-US" dirty="0"/>
              <a:t> Root of the tree dengan Analisa </a:t>
            </a:r>
            <a:r>
              <a:rPr lang="en-US" dirty="0" err="1"/>
              <a:t>sbb</a:t>
            </a:r>
            <a:r>
              <a:rPr lang="en-US" dirty="0"/>
              <a:t> :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to RB </a:t>
            </a:r>
            <a:r>
              <a:rPr lang="en-US" dirty="0" err="1"/>
              <a:t>adalah</a:t>
            </a:r>
            <a:r>
              <a:rPr lang="en-US" dirty="0"/>
              <a:t> 2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to RC </a:t>
            </a:r>
            <a:r>
              <a:rPr lang="en-US" dirty="0" err="1"/>
              <a:t>adalah</a:t>
            </a:r>
            <a:r>
              <a:rPr lang="en-US" dirty="0"/>
              <a:t> 2+5=7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RD </a:t>
            </a:r>
            <a:r>
              <a:rPr lang="en-US" dirty="0" err="1"/>
              <a:t>adalah</a:t>
            </a:r>
            <a:r>
              <a:rPr lang="en-US" dirty="0"/>
              <a:t> 3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RE </a:t>
            </a:r>
            <a:r>
              <a:rPr lang="en-US" dirty="0" err="1"/>
              <a:t>adalah</a:t>
            </a:r>
            <a:r>
              <a:rPr lang="en-US" dirty="0"/>
              <a:t> RA-RB-RE = 2+4=6</a:t>
            </a:r>
          </a:p>
          <a:p>
            <a:pPr marL="457200" indent="-457200">
              <a:buAutoNum type="arabicPeriod"/>
            </a:pPr>
            <a:r>
              <a:rPr lang="en-US" dirty="0"/>
              <a:t>Cost </a:t>
            </a:r>
            <a:r>
              <a:rPr lang="en-US" dirty="0" err="1"/>
              <a:t>dari</a:t>
            </a:r>
            <a:r>
              <a:rPr lang="en-US" dirty="0"/>
              <a:t> RA ke RE via RD </a:t>
            </a:r>
            <a:r>
              <a:rPr lang="en-US" dirty="0" err="1"/>
              <a:t>adalah</a:t>
            </a:r>
            <a:r>
              <a:rPr lang="en-US" dirty="0"/>
              <a:t> RA-RD-RE = 3+5 = 8  </a:t>
            </a:r>
            <a:r>
              <a:rPr lang="en-US" dirty="0">
                <a:sym typeface="Wingdings" panose="05000000000000000000" pitchFamily="2" charset="2"/>
              </a:rPr>
              <a:t> tidak </a:t>
            </a:r>
            <a:r>
              <a:rPr lang="en-US" dirty="0" err="1">
                <a:sym typeface="Wingdings" panose="05000000000000000000" pitchFamily="2" charset="2"/>
              </a:rPr>
              <a:t>digunakan</a:t>
            </a:r>
            <a:r>
              <a:rPr lang="en-US" dirty="0">
                <a:sym typeface="Wingdings" panose="05000000000000000000" pitchFamily="2" charset="2"/>
              </a:rPr>
              <a:t> algorithm ini </a:t>
            </a:r>
            <a:r>
              <a:rPr lang="en-US" dirty="0" err="1">
                <a:sym typeface="Wingdings" panose="05000000000000000000" pitchFamily="2" charset="2"/>
              </a:rPr>
              <a:t>karena</a:t>
            </a:r>
            <a:r>
              <a:rPr lang="en-US" dirty="0">
                <a:sym typeface="Wingdings" panose="05000000000000000000" pitchFamily="2" charset="2"/>
              </a:rPr>
              <a:t> tidak paling </a:t>
            </a:r>
            <a:r>
              <a:rPr lang="en-US" dirty="0" err="1">
                <a:sym typeface="Wingdings" panose="05000000000000000000" pitchFamily="2" charset="2"/>
              </a:rPr>
              <a:t>pendek</a:t>
            </a:r>
            <a:r>
              <a:rPr lang="en-US" dirty="0">
                <a:sym typeface="Wingdings" panose="05000000000000000000" pitchFamily="2" charset="2"/>
              </a:rPr>
              <a:t> atau </a:t>
            </a:r>
            <a:r>
              <a:rPr lang="en-US" dirty="0" err="1">
                <a:sym typeface="Wingdings" panose="05000000000000000000" pitchFamily="2" charset="2"/>
              </a:rPr>
              <a:t>murah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marL="457200" indent="-4572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Cost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RA ke RF via RB-RE-RF = 2+4+2 = 8</a:t>
            </a:r>
          </a:p>
          <a:p>
            <a:pPr marL="457200" indent="-457200"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Cost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RA ke RG via RB-RE-RF-RG = 2+4+2+1 = 9</a:t>
            </a: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34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eArDrC2xP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</a:t>
            </a:r>
            <a:br>
              <a:rPr lang="en-US" dirty="0"/>
            </a:br>
            <a:r>
              <a:rPr lang="en-US" dirty="0"/>
              <a:t>session 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201259913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8BBB-4BF7-BE85-D54D-D0A9CF50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C19C5-D693-9A65-B004-1E4675C8F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0E055-8210-691C-0EF7-F371DBB175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1: Describe basic structures of network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sz="28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924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59A9F7-F2D3-D1C2-4D00-E9B56E57A85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Forwarding Concepts</a:t>
            </a:r>
          </a:p>
          <a:p>
            <a:r>
              <a:rPr lang="en-US" sz="3200" b="1" dirty="0"/>
              <a:t>Routing Packets</a:t>
            </a:r>
          </a:p>
          <a:p>
            <a:r>
              <a:rPr lang="en-US" sz="3200" b="1" dirty="0"/>
              <a:t>Routing Algorithm</a:t>
            </a:r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153154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Forwarding packets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0A00C-EDC9-2A5C-78A5-08AE2AE27A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53361" y="3613696"/>
            <a:ext cx="18654585" cy="9416504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Forwarding means to deliver the packet to the next hop (which can be the final destination or the intermediate connecting device).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Although the IP was originally designed as a connectionless protocol, today the tendency is to change it to a connection-oriented protocol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Two types of forwarding  :</a:t>
            </a:r>
          </a:p>
          <a:p>
            <a:pPr marL="1123950" lvl="1" indent="-514350">
              <a:lnSpc>
                <a:spcPct val="150000"/>
              </a:lnSpc>
              <a:spcBef>
                <a:spcPts val="0"/>
              </a:spcBef>
              <a:buSzPct val="100000"/>
              <a:buFont typeface="+mj-lt"/>
              <a:buAutoNum type="alphaLcParenR"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Forwarding Based on Destination (connectionless-oriented Protocol)</a:t>
            </a:r>
          </a:p>
          <a:p>
            <a:pPr marL="1887538" lvl="3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router forwards a packet based on the destination address in the header of the packet </a:t>
            </a:r>
          </a:p>
          <a:p>
            <a:pPr marL="1123950" lvl="1" indent="-514350">
              <a:lnSpc>
                <a:spcPct val="150000"/>
              </a:lnSpc>
              <a:spcBef>
                <a:spcPts val="0"/>
              </a:spcBef>
              <a:buSzPct val="100000"/>
              <a:buFont typeface="+mj-lt"/>
              <a:buAutoNum type="alphaLcParenR"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Forwarding Based on Label (Connection-oriented Protocol)</a:t>
            </a:r>
          </a:p>
          <a:p>
            <a:pPr marL="1189037" lvl="2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	switch forwards a packet based on the label attached to the packet</a:t>
            </a:r>
          </a:p>
        </p:txBody>
      </p:sp>
    </p:spTree>
    <p:extLst>
      <p:ext uri="{BB962C8B-B14F-4D97-AF65-F5344CB8AC3E}">
        <p14:creationId xmlns:p14="http://schemas.microsoft.com/office/powerpoint/2010/main" val="2325140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824C-D62A-8686-8F61-CAAB1E1E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Forwarding packets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631E-CF1C-46C0-1C8F-ACC38A539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B9CEF-DA37-823E-1DEC-2C4566DEDCD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8432B-5840-E612-8406-EC79190B3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7" y="4672332"/>
            <a:ext cx="9595469" cy="7171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0FD8A-AC51-33D0-467B-6BCA4C4DF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1634" y="4493497"/>
            <a:ext cx="10216321" cy="43452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72BF7F-1F57-D7CA-AF73-BD371B76B808}"/>
              </a:ext>
            </a:extLst>
          </p:cNvPr>
          <p:cNvSpPr txBox="1"/>
          <p:nvPr/>
        </p:nvSpPr>
        <p:spPr>
          <a:xfrm>
            <a:off x="12731268" y="3819112"/>
            <a:ext cx="6740236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Forwarding table for Router R1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248D-4271-FB5D-5171-5601A38B4FD3}"/>
              </a:ext>
            </a:extLst>
          </p:cNvPr>
          <p:cNvSpPr txBox="1"/>
          <p:nvPr/>
        </p:nvSpPr>
        <p:spPr>
          <a:xfrm>
            <a:off x="2167377" y="3872264"/>
            <a:ext cx="6740236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Network Configuration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AAE201-47FC-2C4E-84FD-8FF75BEE3362}"/>
              </a:ext>
            </a:extLst>
          </p:cNvPr>
          <p:cNvSpPr txBox="1"/>
          <p:nvPr/>
        </p:nvSpPr>
        <p:spPr>
          <a:xfrm>
            <a:off x="12916281" y="9264216"/>
            <a:ext cx="9300342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Show the forwarding process if a packet arrives at R1 with the destination address 180.70.65.140.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191F8-56B6-2243-6B51-69B828964C4D}"/>
              </a:ext>
            </a:extLst>
          </p:cNvPr>
          <p:cNvSpPr txBox="1"/>
          <p:nvPr/>
        </p:nvSpPr>
        <p:spPr>
          <a:xfrm>
            <a:off x="13186998" y="10284035"/>
            <a:ext cx="9595469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Helvetica Neue"/>
              </a:rPr>
              <a:t>Calculate Network Address of IP 180.70.65.140 with CIDR /26 will result 180.70.65.128 /26  </a:t>
            </a: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there is no NA specify in Routing table R1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Calculate Network Address of IP 180.70.65.140 with CIDR /25 will result 180.70.65.128 /25  match with corresponding network address in Routing Table R1 (connected to interface m0)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12484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824C-D62A-8686-8F61-CAAB1E1E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Forwarding packets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631E-CF1C-46C0-1C8F-ACC38A539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0" i="1" dirty="0"/>
              <a:t>Longest mask matching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B61EF-1904-4F50-4CB5-A69816F5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01" y="4293458"/>
            <a:ext cx="10488214" cy="7083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1C8EB4-FA38-85ED-5BDB-E6BDA6C521DE}"/>
              </a:ext>
            </a:extLst>
          </p:cNvPr>
          <p:cNvSpPr txBox="1"/>
          <p:nvPr/>
        </p:nvSpPr>
        <p:spPr>
          <a:xfrm>
            <a:off x="759201" y="3758366"/>
            <a:ext cx="1068908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All 4 organizations in one area (connected to router in closed area)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90F58-D19E-8088-2B08-18441414D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2469" y="4293457"/>
            <a:ext cx="11570920" cy="70837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13239F-ED4C-1329-B21C-EC6BDDB0C796}"/>
              </a:ext>
            </a:extLst>
          </p:cNvPr>
          <p:cNvSpPr txBox="1"/>
          <p:nvPr/>
        </p:nvSpPr>
        <p:spPr>
          <a:xfrm>
            <a:off x="12192000" y="3758366"/>
            <a:ext cx="1068908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Organization 4 closed to Router R2 – connected to Router R2</a:t>
            </a:r>
          </a:p>
        </p:txBody>
      </p:sp>
    </p:spTree>
    <p:extLst>
      <p:ext uri="{BB962C8B-B14F-4D97-AF65-F5344CB8AC3E}">
        <p14:creationId xmlns:p14="http://schemas.microsoft.com/office/powerpoint/2010/main" val="14384435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F08D-1EF0-D3A4-4334-3AA80C7B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packets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DC47D-A8CA-12A6-924B-52AC0C2175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39A3B-6689-BA7F-34F0-D6145624751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1362" y="4596868"/>
            <a:ext cx="15983182" cy="4522264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outing a packet from its source to its destination means routing the packet from a source router (the default router of the source host) to a destination router (the router connected to the destination network). </a:t>
            </a:r>
          </a:p>
          <a:p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Although a packet needs to visit the source and the destination routers, the question is what other routers the packet should visit. </a:t>
            </a:r>
          </a:p>
          <a:p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 other words, there are several routes that a packet can travel from the source to the destination; what must be determined is which route the packet should take.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235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44F5-F24C-4AC9-152C-A4E20960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packets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63EB5-95BF-628B-4B22-B902D8072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Least-cost routing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9DBB8-A70F-1E63-6120-6C04F4ED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58" y="4993208"/>
            <a:ext cx="9620558" cy="4004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DC6CE3-6699-1693-BBD0-D179AA84C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2268" y="7493097"/>
            <a:ext cx="493137" cy="45025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F3DEC4F-4930-3130-7F26-A387925CDA30}"/>
              </a:ext>
            </a:extLst>
          </p:cNvPr>
          <p:cNvGrpSpPr/>
          <p:nvPr/>
        </p:nvGrpSpPr>
        <p:grpSpPr>
          <a:xfrm>
            <a:off x="11936252" y="4292600"/>
            <a:ext cx="11422647" cy="5893816"/>
            <a:chOff x="11936252" y="4292600"/>
            <a:chExt cx="11422647" cy="589381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8D9196-DEA2-34CA-E809-C7734F244B4A}"/>
                </a:ext>
              </a:extLst>
            </p:cNvPr>
            <p:cNvGrpSpPr/>
            <p:nvPr/>
          </p:nvGrpSpPr>
          <p:grpSpPr>
            <a:xfrm>
              <a:off x="11936252" y="4389848"/>
              <a:ext cx="11422647" cy="5796568"/>
              <a:chOff x="11936252" y="4389848"/>
              <a:chExt cx="11422647" cy="579656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E53AB31-1BEC-05C0-5071-BDF7C2C48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36252" y="4389848"/>
                <a:ext cx="11422647" cy="5796568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02DCCB-573E-582A-240F-D82D88499168}"/>
                  </a:ext>
                </a:extLst>
              </p:cNvPr>
              <p:cNvSpPr/>
              <p:nvPr/>
            </p:nvSpPr>
            <p:spPr>
              <a:xfrm>
                <a:off x="21839052" y="7449819"/>
                <a:ext cx="424599" cy="533777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 w="12700" cap="flat">
                <a:solidFill>
                  <a:srgbClr val="00206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Gill Sans Nova Cond Ultra Bold" panose="020B0604020202020204" pitchFamily="34" charset="0"/>
                    <a:ea typeface="Helvetica Neue Medium"/>
                    <a:cs typeface="Helvetica Neue Medium"/>
                    <a:sym typeface="Helvetica Neue Medium"/>
                  </a:rPr>
                  <a:t>F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390625-548C-29D2-537D-4E07B2E788B4}"/>
                </a:ext>
              </a:extLst>
            </p:cNvPr>
            <p:cNvSpPr/>
            <p:nvPr/>
          </p:nvSpPr>
          <p:spPr>
            <a:xfrm>
              <a:off x="11936252" y="4292600"/>
              <a:ext cx="3659348" cy="189230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895552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44F5-F24C-4AC9-152C-A4E20960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packets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63EB5-95BF-628B-4B22-B902D8072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800" i="1" u="none" strike="noStrike" baseline="0" dirty="0">
                <a:latin typeface="+mn-lt"/>
              </a:rPr>
              <a:t>The distance vector corresponding to a tree</a:t>
            </a:r>
            <a:endParaRPr lang="en-US" sz="44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A9DBB8-A70F-1E63-6120-6C04F4ED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958" y="3553844"/>
            <a:ext cx="7117642" cy="290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53ED85-D456-D990-9972-2378F01FD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2052" y="3553844"/>
            <a:ext cx="7727766" cy="290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1A0620-0140-8205-9C5F-4595D0BBE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7490553"/>
            <a:ext cx="5770869" cy="55847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CF6101-5B09-33CC-DA96-237F705EF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973" y="7490553"/>
            <a:ext cx="12678801" cy="55847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62E496-0CAA-F692-ACD4-ADD76CB93C3C}"/>
              </a:ext>
            </a:extLst>
          </p:cNvPr>
          <p:cNvSpPr txBox="1"/>
          <p:nvPr/>
        </p:nvSpPr>
        <p:spPr>
          <a:xfrm>
            <a:off x="2508958" y="3000326"/>
            <a:ext cx="558094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Router 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4C30EB-E29B-3FBF-1C17-022E16480F9D}"/>
              </a:ext>
            </a:extLst>
          </p:cNvPr>
          <p:cNvSpPr txBox="1"/>
          <p:nvPr/>
        </p:nvSpPr>
        <p:spPr>
          <a:xfrm>
            <a:off x="11352052" y="2965352"/>
            <a:ext cx="558094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Router design for node A</a:t>
            </a:r>
          </a:p>
        </p:txBody>
      </p:sp>
    </p:spTree>
    <p:extLst>
      <p:ext uri="{BB962C8B-B14F-4D97-AF65-F5344CB8AC3E}">
        <p14:creationId xmlns:p14="http://schemas.microsoft.com/office/powerpoint/2010/main" val="167006358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4202-AC05-DAAE-FAAB-857C8932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1D12B-EEFE-C72E-9D47-F4DD738382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BA6EF-DC42-566D-1D4C-8AC2084F04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97930" y="4178731"/>
            <a:ext cx="13714940" cy="623747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Information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About topology and delays in the internet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Algorithm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Used to make routing decisions based on information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algorithms are implemented using routing protocols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914E6-9867-6F92-E8D4-238DD7366B49}"/>
              </a:ext>
            </a:extLst>
          </p:cNvPr>
          <p:cNvSpPr txBox="1"/>
          <p:nvPr/>
        </p:nvSpPr>
        <p:spPr>
          <a:xfrm>
            <a:off x="4597930" y="7261782"/>
            <a:ext cx="12192000" cy="25237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Three types of routing algorithms</a:t>
            </a:r>
          </a:p>
          <a:p>
            <a:pPr marL="514350" indent="-514350" algn="l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Distance-Vector Routing</a:t>
            </a:r>
          </a:p>
          <a:p>
            <a:pPr marL="514350" indent="-514350" algn="l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Link-State Routing</a:t>
            </a:r>
          </a:p>
          <a:p>
            <a:pPr marL="514350" indent="-514350" algn="l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Path-Vector routing</a:t>
            </a:r>
          </a:p>
        </p:txBody>
      </p:sp>
    </p:spTree>
    <p:extLst>
      <p:ext uri="{BB962C8B-B14F-4D97-AF65-F5344CB8AC3E}">
        <p14:creationId xmlns:p14="http://schemas.microsoft.com/office/powerpoint/2010/main" val="4386441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8C94-2CC3-55EB-BA89-4A334542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79514-73DA-2AF3-D8B1-C5B5485E09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Autonomous systems (AS)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92330-E565-26D4-9A27-F2232DCA25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78729" y="3656806"/>
            <a:ext cx="16201357" cy="4522264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Group of routers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Exchange information 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Common routing protocol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Set of routers and networks managed by single organization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 connected network</a:t>
            </a:r>
          </a:p>
          <a:p>
            <a:pPr lvl="1"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There is at least one route between any pair of nodes</a:t>
            </a:r>
          </a:p>
          <a:p>
            <a:pPr marL="0" indent="0">
              <a:buNone/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D72F8491-1834-DDBD-DBFA-D0494DC7F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3442" y="7428915"/>
            <a:ext cx="8226162" cy="507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04657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AB48-6E64-6BC2-8717-29280F42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F629C-00BC-FF7C-9464-9DD8921B9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Interior routing protocol (IRP)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04F11B-6AD2-8434-E5DE-E6CB145E86E0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949700" y="4432300"/>
            <a:ext cx="13716000" cy="45227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protocols that operate within a network (called an autonomous system) are called interior routing protocols.</a:t>
            </a:r>
          </a:p>
          <a:p>
            <a:pPr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Passes routing information between routers within AS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algorithms and tables may differ between different AS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IRP needs detailed model</a:t>
            </a:r>
          </a:p>
        </p:txBody>
      </p:sp>
    </p:spTree>
    <p:extLst>
      <p:ext uri="{BB962C8B-B14F-4D97-AF65-F5344CB8AC3E}">
        <p14:creationId xmlns:p14="http://schemas.microsoft.com/office/powerpoint/2010/main" val="16023626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689-FAE8-233F-FF1A-3FB377C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BE496-B44E-26A6-305D-45D409DBD3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Exterior Routing protocol (ERP)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D3AEAB-0DC5-32EA-BCB6-FEC816445470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2808907" y="3709868"/>
            <a:ext cx="17745214" cy="813407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Exterior router protocol (ERP) is used for operating outside of or between networks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Because there are many more possible routes it is far more complex than interior routing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 cannot maintain tables of every single route and have to concentrate instead on the main routes only.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There may be more than one AS in internet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algorithms and tables may differ between different AS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Routers need some info about networks outside their AS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alt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ERP supports summary information on reachability</a:t>
            </a:r>
          </a:p>
        </p:txBody>
      </p:sp>
    </p:spTree>
    <p:extLst>
      <p:ext uri="{BB962C8B-B14F-4D97-AF65-F5344CB8AC3E}">
        <p14:creationId xmlns:p14="http://schemas.microsoft.com/office/powerpoint/2010/main" val="3040418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EEBE-DD3F-5435-0F03-D206A073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protocol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ADBCA-E654-41B7-9624-1D5025F2B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RIP (Routing information protocol)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3BB4268-2446-17AB-8FE2-263A25FFDCF0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836504" y="3505200"/>
            <a:ext cx="13716000" cy="45227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Routing protocol commonly used on the Internet. 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Computers using RIP broadcast routing tables every minute or so. 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Now used on simpler networks</a:t>
            </a:r>
          </a:p>
          <a:p>
            <a:pPr>
              <a:lnSpc>
                <a:spcPct val="90000"/>
              </a:lnSpc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original dynamic distance vector protocol</a:t>
            </a:r>
          </a:p>
        </p:txBody>
      </p:sp>
    </p:spTree>
    <p:extLst>
      <p:ext uri="{BB962C8B-B14F-4D97-AF65-F5344CB8AC3E}">
        <p14:creationId xmlns:p14="http://schemas.microsoft.com/office/powerpoint/2010/main" val="353973560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C0A2-689C-CB95-52BF-A6A90328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6E300-6778-12D6-8217-8A50A447E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Ospf</a:t>
            </a:r>
            <a:r>
              <a:rPr lang="en-US" dirty="0"/>
              <a:t> (Open Shortest Path first)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42E779-C585-F8E5-F701-D2DF8360F789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041374" y="3936999"/>
            <a:ext cx="16376926" cy="69562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Has overtaken RIP as the most popular interior routing protocol on the Internet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Has the ability to incorporate  traffic and error rate measures in its routing decisions. 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Sends updates state info, not entire routing tables, and only to other routers (not broadcasting them)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Each router keeps list of state of local links to network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Little traffic (less burdensome to the network since) as messages are small and not sent often </a:t>
            </a: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Route computed on least cost based on user cost metric using Link State Routing Algorithm</a:t>
            </a:r>
          </a:p>
        </p:txBody>
      </p:sp>
    </p:spTree>
    <p:extLst>
      <p:ext uri="{BB962C8B-B14F-4D97-AF65-F5344CB8AC3E}">
        <p14:creationId xmlns:p14="http://schemas.microsoft.com/office/powerpoint/2010/main" val="9935095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4848-0C10-554B-2E79-C060C51C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E04F7-401C-FE67-353C-DD17A51B8D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07F33-1D3F-D462-94C1-967887A5162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hlinkClick r:id="rId2"/>
              </a:rPr>
              <a:t>Routing Tables - CompTIA Network+ N10-006 - 1.9 – YouTube</a:t>
            </a:r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310968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D502-F2B3-992C-4787-94ED7866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7C332-1062-339D-501D-E496E6775F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7420F-7F16-044F-2161-E91A96EA54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46161" y="3916179"/>
            <a:ext cx="14947111" cy="452226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What is the difference between RIP and OSPF protocol that used on router ?</a:t>
            </a:r>
          </a:p>
        </p:txBody>
      </p:sp>
    </p:spTree>
    <p:extLst>
      <p:ext uri="{BB962C8B-B14F-4D97-AF65-F5344CB8AC3E}">
        <p14:creationId xmlns:p14="http://schemas.microsoft.com/office/powerpoint/2010/main" val="41090244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Books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0A00C-EDC9-2A5C-78A5-08AE2AE27A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6195" y="5334432"/>
            <a:ext cx="16285675" cy="4522264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Forouzan</a:t>
            </a:r>
            <a:r>
              <a:rPr lang="en-US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B. A. (2021). Data Communications and Networking with TCP/IP Protocol Suite. 6th Ed. New York: McGraw-Hill. ISBN: 978-1-26-436335-3. Chapter 7 &amp; 8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3F4DE9-7952-B183-BDF7-0291ACCFEDE9}"/>
              </a:ext>
            </a:extLst>
          </p:cNvPr>
          <p:cNvSpPr txBox="1">
            <a:spLocks/>
          </p:cNvSpPr>
          <p:nvPr/>
        </p:nvSpPr>
        <p:spPr>
          <a:xfrm>
            <a:off x="2916195" y="3603028"/>
            <a:ext cx="19053467" cy="8957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endParaRPr lang="en-US" sz="32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9561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48F4F-144E-B982-E51F-76F732804B3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930EC-C957-C09C-7359-7312156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8AEA-5401-B692-325F-9E8AD9818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13413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1</TotalTime>
  <Words>1191</Words>
  <Application>Microsoft Office PowerPoint</Application>
  <PresentationFormat>Custom</PresentationFormat>
  <Paragraphs>130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Open Sans Light</vt:lpstr>
      <vt:lpstr>OCRB</vt:lpstr>
      <vt:lpstr>Open Sans Semibold</vt:lpstr>
      <vt:lpstr>Calibri</vt:lpstr>
      <vt:lpstr>Arial</vt:lpstr>
      <vt:lpstr>Helvetica Neue Medium</vt:lpstr>
      <vt:lpstr>Wingdings</vt:lpstr>
      <vt:lpstr>Gill Sans Nova Cond Ultra Bold</vt:lpstr>
      <vt:lpstr>Open Sans ExtraBold</vt:lpstr>
      <vt:lpstr>21_BasicWhite</vt:lpstr>
      <vt:lpstr>Computer network session 7</vt:lpstr>
      <vt:lpstr>Learning outcomes</vt:lpstr>
      <vt:lpstr>topics</vt:lpstr>
      <vt:lpstr>Forwarding packets</vt:lpstr>
      <vt:lpstr>Forwarding packets </vt:lpstr>
      <vt:lpstr>Forwarding packets </vt:lpstr>
      <vt:lpstr>Routing packets</vt:lpstr>
      <vt:lpstr>Routing packets</vt:lpstr>
      <vt:lpstr>Routing packets</vt:lpstr>
      <vt:lpstr>routing protocols</vt:lpstr>
      <vt:lpstr>Routing</vt:lpstr>
      <vt:lpstr>Routing protocol</vt:lpstr>
      <vt:lpstr>Routing protocol</vt:lpstr>
      <vt:lpstr>Routing protocol </vt:lpstr>
      <vt:lpstr>Routing protocol</vt:lpstr>
      <vt:lpstr>ROUTING TABLE</vt:lpstr>
      <vt:lpstr>exercise</vt:lpstr>
      <vt:lpstr>Books 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2024-12-13T13:09:34Z</dcterms:created>
  <dcterms:modified xsi:type="dcterms:W3CDTF">2024-12-14T02:01:12Z</dcterms:modified>
</cp:coreProperties>
</file>