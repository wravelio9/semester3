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7"/>
  </p:notesMasterIdLst>
  <p:sldIdLst>
    <p:sldId id="258" r:id="rId2"/>
    <p:sldId id="259" r:id="rId3"/>
    <p:sldId id="260" r:id="rId4"/>
    <p:sldId id="446" r:id="rId5"/>
    <p:sldId id="459" r:id="rId6"/>
    <p:sldId id="460" r:id="rId7"/>
    <p:sldId id="476" r:id="rId8"/>
    <p:sldId id="477" r:id="rId9"/>
    <p:sldId id="478" r:id="rId10"/>
    <p:sldId id="479" r:id="rId11"/>
    <p:sldId id="480" r:id="rId12"/>
    <p:sldId id="481" r:id="rId13"/>
    <p:sldId id="482" r:id="rId14"/>
    <p:sldId id="443" r:id="rId15"/>
    <p:sldId id="444" r:id="rId16"/>
  </p:sldIdLst>
  <p:sldSz cx="24384000" cy="13716000"/>
  <p:notesSz cx="6858000" cy="9144000"/>
  <p:embeddedFontLst>
    <p:embeddedFont>
      <p:font typeface="OCRB" panose="020B0609020202020204" pitchFamily="49" charset="0"/>
      <p:regular r:id="rId18"/>
    </p:embeddedFont>
    <p:embeddedFont>
      <p:font typeface="Open Sans ExtraBold" panose="020B0906030804020204" pitchFamily="34" charset="0"/>
      <p:bold r:id="rId19"/>
      <p:italic r:id="rId20"/>
      <p:boldItalic r:id="rId21"/>
    </p:embeddedFont>
    <p:embeddedFont>
      <p:font typeface="Open Sans Light" panose="020B0306030504020204" pitchFamily="34" charset="0"/>
      <p:regular r:id="rId22"/>
      <p:italic r:id="rId23"/>
    </p:embeddedFont>
    <p:embeddedFont>
      <p:font typeface="Open Sans Semibold" panose="020B0706030804020204" pitchFamily="34" charset="0"/>
      <p:regular r:id="rId24"/>
      <p:bold r:id="rId25"/>
      <p:italic r:id="rId26"/>
      <p:boldItalic r:id="rId27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6197"/>
  </p:normalViewPr>
  <p:slideViewPr>
    <p:cSldViewPr snapToGrid="0" snapToObjects="1">
      <p:cViewPr varScale="1">
        <p:scale>
          <a:sx n="20" d="100"/>
          <a:sy n="20" d="100"/>
        </p:scale>
        <p:origin x="58" y="787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IP Addressing Practice classful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NETWORKS</a:t>
            </a:r>
            <a:br>
              <a:rPr lang="en-US" dirty="0"/>
            </a:br>
            <a:r>
              <a:rPr lang="en-US" dirty="0"/>
              <a:t>SESSION 04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Santoso Budijono</a:t>
            </a:r>
          </a:p>
        </p:txBody>
      </p:sp>
    </p:spTree>
    <p:extLst>
      <p:ext uri="{BB962C8B-B14F-4D97-AF65-F5344CB8AC3E}">
        <p14:creationId xmlns:p14="http://schemas.microsoft.com/office/powerpoint/2010/main" val="34246773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BB631-69A5-F762-9353-04A0C5FB2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87F28-4EF1-8898-DF4B-2EB677F1FA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C1A27-A89D-104D-DA0B-474E66F0BD0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marR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200" b="1" i="0" u="none" strike="noStrike" kern="1200" dirty="0">
                <a:solidFill>
                  <a:srgbClr val="000000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LO 2: Explain basic concepts of network</a:t>
            </a:r>
          </a:p>
          <a:p>
            <a:pPr marL="0" marR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200" b="1" kern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LO 3: Design network environment using TCP/IP Model</a:t>
            </a:r>
            <a:endParaRPr lang="en-US" sz="3200" b="1" i="0" u="none" strike="noStrike" dirty="0">
              <a:effectLst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37665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CCCEA-4B7A-0083-FFDD-8BB7177B5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FDC97-E3CE-649A-13A1-EEF0E45FA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D977A-AA13-C477-CA53-BAEB98C2F41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3888018"/>
            <a:ext cx="13714940" cy="7955924"/>
          </a:xfrm>
        </p:spPr>
        <p:txBody>
          <a:bodyPr>
            <a:noAutofit/>
          </a:bodyPr>
          <a:lstStyle/>
          <a:p>
            <a:pPr marL="9144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nl-NL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Class of IP</a:t>
            </a:r>
          </a:p>
          <a:p>
            <a:pPr marL="9144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nl-NL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Type IP Address</a:t>
            </a:r>
          </a:p>
          <a:p>
            <a:pPr marL="9144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nl-NL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MASK</a:t>
            </a:r>
          </a:p>
          <a:p>
            <a:pPr marL="9144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nl-NL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Network Address</a:t>
            </a:r>
          </a:p>
          <a:p>
            <a:pPr marL="9144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nl-NL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Broadcast Address</a:t>
            </a:r>
          </a:p>
          <a:p>
            <a:pPr marL="9144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nl-NL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Gateway Address</a:t>
            </a:r>
          </a:p>
          <a:p>
            <a:pPr marL="9144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endParaRPr lang="en-US" sz="32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59830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06006-CF9B-5801-FA10-206E5CC0F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 of </a:t>
            </a:r>
            <a:r>
              <a:rPr lang="en-US" dirty="0" err="1"/>
              <a:t>ip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2499E-78B9-5EEA-7ABC-F0630F30FC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39CD798-DB3B-D58A-D237-0CE9EB0B1756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39883" y="4305294"/>
            <a:ext cx="9533444" cy="6972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E1F3D4-E813-E02C-63BF-89D0B9032FB2}"/>
              </a:ext>
            </a:extLst>
          </p:cNvPr>
          <p:cNvSpPr txBox="1"/>
          <p:nvPr/>
        </p:nvSpPr>
        <p:spPr>
          <a:xfrm>
            <a:off x="2167377" y="3718860"/>
            <a:ext cx="9533444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b="1" dirty="0">
                <a:solidFill>
                  <a:srgbClr val="002060"/>
                </a:solidFill>
              </a:rPr>
              <a:t>CLASSFUL ADDRESSING (A, B, C, D, E)</a:t>
            </a:r>
            <a:endParaRPr kumimoji="0" lang="en-US" sz="3200" b="1" i="0" u="none" strike="noStrike" cap="none" spc="0" normalizeH="0" baseline="0" dirty="0">
              <a:ln>
                <a:noFill/>
              </a:ln>
              <a:solidFill>
                <a:srgbClr val="00206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843503-591D-2786-DC53-6E9753CFCC4E}"/>
              </a:ext>
            </a:extLst>
          </p:cNvPr>
          <p:cNvSpPr txBox="1"/>
          <p:nvPr/>
        </p:nvSpPr>
        <p:spPr>
          <a:xfrm>
            <a:off x="11700821" y="3710259"/>
            <a:ext cx="9533444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b="1" dirty="0">
                <a:solidFill>
                  <a:srgbClr val="002060"/>
                </a:solidFill>
              </a:rPr>
              <a:t>CLASSLESS ADDRESSING using CIDR</a:t>
            </a:r>
            <a:endParaRPr kumimoji="0" lang="en-US" sz="3200" b="1" i="0" u="none" strike="noStrike" cap="none" spc="0" normalizeH="0" baseline="0" dirty="0">
              <a:ln>
                <a:noFill/>
              </a:ln>
              <a:solidFill>
                <a:srgbClr val="00206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CDBBE2-8E63-F998-AD32-0004016411CA}"/>
              </a:ext>
            </a:extLst>
          </p:cNvPr>
          <p:cNvSpPr txBox="1"/>
          <p:nvPr/>
        </p:nvSpPr>
        <p:spPr>
          <a:xfrm>
            <a:off x="15245543" y="4551956"/>
            <a:ext cx="1097280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/8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1994A4-E693-6CB8-3426-7BCC2AD52477}"/>
              </a:ext>
            </a:extLst>
          </p:cNvPr>
          <p:cNvSpPr txBox="1"/>
          <p:nvPr/>
        </p:nvSpPr>
        <p:spPr>
          <a:xfrm>
            <a:off x="15245543" y="5984208"/>
            <a:ext cx="1097280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/16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B9029E-2B80-732B-4B2D-5D3397BD3ABA}"/>
              </a:ext>
            </a:extLst>
          </p:cNvPr>
          <p:cNvSpPr txBox="1"/>
          <p:nvPr/>
        </p:nvSpPr>
        <p:spPr>
          <a:xfrm>
            <a:off x="15281829" y="7416460"/>
            <a:ext cx="1097280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/24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6EC0BA-C4D4-B164-5CBD-9EEDF163D63F}"/>
              </a:ext>
            </a:extLst>
          </p:cNvPr>
          <p:cNvCxnSpPr/>
          <p:nvPr/>
        </p:nvCxnSpPr>
        <p:spPr>
          <a:xfrm>
            <a:off x="12192000" y="5037513"/>
            <a:ext cx="2671156" cy="0"/>
          </a:xfrm>
          <a:prstGeom prst="straightConnector1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369ADD1-841A-CB35-63E8-5515D5FE7FF6}"/>
              </a:ext>
            </a:extLst>
          </p:cNvPr>
          <p:cNvCxnSpPr/>
          <p:nvPr/>
        </p:nvCxnSpPr>
        <p:spPr>
          <a:xfrm>
            <a:off x="12192000" y="6353695"/>
            <a:ext cx="2671156" cy="0"/>
          </a:xfrm>
          <a:prstGeom prst="straightConnector1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B06EE4E-511A-78FB-EE36-DE9AB01850A0}"/>
              </a:ext>
            </a:extLst>
          </p:cNvPr>
          <p:cNvCxnSpPr/>
          <p:nvPr/>
        </p:nvCxnSpPr>
        <p:spPr>
          <a:xfrm>
            <a:off x="12192000" y="7791509"/>
            <a:ext cx="2671156" cy="0"/>
          </a:xfrm>
          <a:prstGeom prst="straightConnector1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4ADFDD1-4508-4162-D31E-3910B4FE971A}"/>
              </a:ext>
            </a:extLst>
          </p:cNvPr>
          <p:cNvSpPr txBox="1"/>
          <p:nvPr/>
        </p:nvSpPr>
        <p:spPr>
          <a:xfrm>
            <a:off x="2510444" y="12181466"/>
            <a:ext cx="9533444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Classful addressing – 1 group of network can not be divided into smaller networks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C74FAE-9AFB-FD62-2959-3E0634E3C681}"/>
              </a:ext>
            </a:extLst>
          </p:cNvPr>
          <p:cNvSpPr txBox="1"/>
          <p:nvPr/>
        </p:nvSpPr>
        <p:spPr>
          <a:xfrm>
            <a:off x="12604866" y="12181466"/>
            <a:ext cx="9533444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Classless addressing – 1 group of network can be divided into smaller networks</a:t>
            </a:r>
          </a:p>
        </p:txBody>
      </p:sp>
    </p:spTree>
    <p:extLst>
      <p:ext uri="{BB962C8B-B14F-4D97-AF65-F5344CB8AC3E}">
        <p14:creationId xmlns:p14="http://schemas.microsoft.com/office/powerpoint/2010/main" val="27278436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06006-CF9B-5801-FA10-206E5CC0F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 of </a:t>
            </a:r>
            <a:r>
              <a:rPr lang="en-US" dirty="0" err="1"/>
              <a:t>ip</a:t>
            </a:r>
            <a:r>
              <a:rPr lang="en-US" dirty="0"/>
              <a:t> address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2499E-78B9-5EEA-7ABC-F0630F30FC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4EFE17-87F2-D2BE-D35E-2F25EFAA02D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07298" y="3280882"/>
            <a:ext cx="20956555" cy="9334106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en-US" sz="3200" b="1" dirty="0">
                <a:cs typeface="Arial" charset="0"/>
              </a:rPr>
              <a:t>Private IP Address</a:t>
            </a:r>
          </a:p>
          <a:p>
            <a:pPr lvl="1" algn="just">
              <a:lnSpc>
                <a:spcPct val="120000"/>
              </a:lnSpc>
              <a:spcBef>
                <a:spcPct val="0"/>
              </a:spcBef>
            </a:pPr>
            <a:r>
              <a:rPr lang="en-US" sz="3200" b="1" dirty="0">
                <a:cs typeface="Arial" charset="0"/>
              </a:rPr>
              <a:t>Used for LAN</a:t>
            </a:r>
          </a:p>
          <a:p>
            <a:pPr marL="609600" lvl="1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en-US" sz="3200" b="1" dirty="0">
              <a:cs typeface="Arial" charset="0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en-US" sz="3200" b="1" dirty="0">
                <a:cs typeface="Arial" charset="0"/>
              </a:rPr>
              <a:t>Public IP Address</a:t>
            </a:r>
          </a:p>
          <a:p>
            <a:pPr lvl="1" algn="just">
              <a:lnSpc>
                <a:spcPct val="120000"/>
              </a:lnSpc>
              <a:spcBef>
                <a:spcPct val="0"/>
              </a:spcBef>
            </a:pPr>
            <a:r>
              <a:rPr lang="en-US" sz="3200" b="1" dirty="0">
                <a:cs typeface="Arial" charset="0"/>
              </a:rPr>
              <a:t>Used for WAN / Internet</a:t>
            </a:r>
          </a:p>
          <a:p>
            <a:pPr marL="609600" lvl="1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en-US" sz="3200" b="1" dirty="0">
              <a:cs typeface="Arial" charset="0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en-US" sz="3200" b="1" dirty="0">
                <a:cs typeface="Arial" charset="0"/>
              </a:rPr>
              <a:t>NAT</a:t>
            </a:r>
          </a:p>
          <a:p>
            <a:pPr lvl="1" algn="just">
              <a:lnSpc>
                <a:spcPct val="120000"/>
              </a:lnSpc>
              <a:spcBef>
                <a:spcPct val="0"/>
              </a:spcBef>
            </a:pPr>
            <a:r>
              <a:rPr lang="en-US" sz="3200" b="1" dirty="0">
                <a:cs typeface="Arial" charset="0"/>
              </a:rPr>
              <a:t>Translate a Private IP Address to a Public IP Address</a:t>
            </a:r>
          </a:p>
          <a:p>
            <a:pPr lvl="1" algn="just">
              <a:lnSpc>
                <a:spcPct val="120000"/>
              </a:lnSpc>
              <a:spcBef>
                <a:spcPct val="0"/>
              </a:spcBef>
            </a:pPr>
            <a:r>
              <a:rPr lang="en-US" sz="3200" b="1" dirty="0">
                <a:cs typeface="Arial" charset="0"/>
              </a:rPr>
              <a:t>Typically implemented on Router</a:t>
            </a:r>
          </a:p>
          <a:p>
            <a:pPr marL="609600" lvl="1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en-US" sz="3200" b="1" dirty="0">
              <a:cs typeface="Arial" charset="0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en-US" sz="3200" b="1" dirty="0">
                <a:cs typeface="Arial" charset="0"/>
              </a:rPr>
              <a:t>Devices</a:t>
            </a:r>
          </a:p>
          <a:p>
            <a:pPr lvl="1" algn="just">
              <a:lnSpc>
                <a:spcPct val="120000"/>
              </a:lnSpc>
              <a:spcBef>
                <a:spcPct val="0"/>
              </a:spcBef>
            </a:pPr>
            <a:r>
              <a:rPr lang="en-US" sz="3200" b="1" dirty="0">
                <a:cs typeface="Arial" charset="0"/>
              </a:rPr>
              <a:t>Router is device that connects two networks</a:t>
            </a:r>
          </a:p>
          <a:p>
            <a:pPr lvl="1" algn="just">
              <a:lnSpc>
                <a:spcPct val="120000"/>
              </a:lnSpc>
              <a:spcBef>
                <a:spcPct val="0"/>
              </a:spcBef>
            </a:pPr>
            <a:r>
              <a:rPr lang="en-US" sz="3200" b="1" dirty="0">
                <a:cs typeface="Arial" charset="0"/>
              </a:rPr>
              <a:t>Modem (stand for modulator-demodulator) is device that translate one type signal to other type signal. (Fiber optic from ISP to home router)</a:t>
            </a:r>
          </a:p>
        </p:txBody>
      </p:sp>
      <p:pic>
        <p:nvPicPr>
          <p:cNvPr id="1026" name="Picture 2" descr="comparison of modem with router and gateway combo">
            <a:extLst>
              <a:ext uri="{FF2B5EF4-FFF2-40B4-BE49-F238E27FC236}">
                <a16:creationId xmlns:a16="http://schemas.microsoft.com/office/drawing/2014/main" id="{FB2D51A7-E7D5-5755-8ECC-96446CEC5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6286" y="4539353"/>
            <a:ext cx="762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641C09-E38A-97E9-4C19-765CDEDD3370}"/>
              </a:ext>
            </a:extLst>
          </p:cNvPr>
          <p:cNvSpPr txBox="1"/>
          <p:nvPr/>
        </p:nvSpPr>
        <p:spPr>
          <a:xfrm>
            <a:off x="14586788" y="8430675"/>
            <a:ext cx="7105089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600" dirty="0"/>
              <a:t>https://www.tech21century.com/modem-vs-router-vs-gateway/</a:t>
            </a:r>
          </a:p>
        </p:txBody>
      </p:sp>
    </p:spTree>
    <p:extLst>
      <p:ext uri="{BB962C8B-B14F-4D97-AF65-F5344CB8AC3E}">
        <p14:creationId xmlns:p14="http://schemas.microsoft.com/office/powerpoint/2010/main" val="261114588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06006-CF9B-5801-FA10-206E5CC0F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2499E-78B9-5EEA-7ABC-F0630F30FC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Address mask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F0F989EC-CEE5-EE75-1672-7E3962E83D64}"/>
              </a:ext>
            </a:extLst>
          </p:cNvPr>
          <p:cNvSpPr txBox="1">
            <a:spLocks/>
          </p:cNvSpPr>
          <p:nvPr/>
        </p:nvSpPr>
        <p:spPr>
          <a:xfrm>
            <a:off x="3668882" y="3815296"/>
            <a:ext cx="17903494" cy="8028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buFontTx/>
              <a:buNone/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Address Mask / Net Mask / Subnet Mask</a:t>
            </a:r>
          </a:p>
          <a:p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address mask is a 32-bit number in which the </a:t>
            </a:r>
            <a:r>
              <a:rPr lang="en-US" sz="3200" b="1" i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 </a:t>
            </a: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leftmost bits are set to 1s and the rest of the bits (32 − </a:t>
            </a:r>
            <a:r>
              <a:rPr lang="en-US" sz="3200" b="1" i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</a:t>
            </a: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) are set to 0s. A computer can easily find the address mask because it is the complement of (2</a:t>
            </a:r>
            <a:r>
              <a:rPr lang="en-US" sz="3200" b="1" baseline="30000" dirty="0">
                <a:solidFill>
                  <a:srgbClr val="00206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32−</a:t>
            </a:r>
            <a:r>
              <a:rPr lang="en-US" sz="3200" b="1" i="1" baseline="30000" dirty="0">
                <a:solidFill>
                  <a:srgbClr val="00206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 </a:t>
            </a: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−1). The reason for defining a mask in this way is that it can be used by a computer program to extract the information in a block, using the three bitwise operations NOT, AND, and OR.</a:t>
            </a:r>
          </a:p>
          <a:p>
            <a:r>
              <a:rPr lang="en-US" sz="3200" b="1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reason for defining a mask in this way is that it can be used by a computer program to extract the information in a block, using the three bitwise operations NOT, AND, and OR.</a:t>
            </a:r>
          </a:p>
          <a:p>
            <a:pPr marL="966788" lvl="1" indent="-342900">
              <a:spcBef>
                <a:spcPts val="600"/>
              </a:spcBef>
              <a:buSzPct val="90000"/>
              <a:buFontTx/>
              <a:buAutoNum type="arabicPeriod"/>
            </a:pPr>
            <a:r>
              <a:rPr lang="en-US" sz="3200" b="1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number of addresses in the block </a:t>
            </a:r>
            <a:r>
              <a:rPr lang="en-US" sz="3200" b="1" i="1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 </a:t>
            </a:r>
            <a:r>
              <a:rPr lang="en-US" sz="3200" b="1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= </a:t>
            </a:r>
            <a:r>
              <a:rPr lang="en-US" sz="3200" b="1" dirty="0">
                <a:solidFill>
                  <a:srgbClr val="00AFF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NOT </a:t>
            </a:r>
            <a:r>
              <a:rPr lang="en-US" sz="3200" b="1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(Mask) + 1.</a:t>
            </a:r>
          </a:p>
          <a:p>
            <a:pPr marL="966788" lvl="1" indent="-342900">
              <a:spcBef>
                <a:spcPts val="600"/>
              </a:spcBef>
              <a:buSzPct val="90000"/>
              <a:buFontTx/>
              <a:buAutoNum type="arabicPeriod"/>
            </a:pPr>
            <a:r>
              <a:rPr lang="en-US" sz="3200" b="1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first address in the block </a:t>
            </a:r>
            <a:r>
              <a:rPr lang="en-US" sz="3200" b="1" i="1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(Network Address) </a:t>
            </a:r>
            <a:r>
              <a:rPr lang="en-US" sz="3200" b="1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= (Any address in the block) </a:t>
            </a:r>
            <a:r>
              <a:rPr lang="en-US" sz="3200" b="1" dirty="0">
                <a:solidFill>
                  <a:srgbClr val="00AFF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AND </a:t>
            </a:r>
            <a:r>
              <a:rPr lang="en-US" sz="3200" b="1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(Mask).</a:t>
            </a:r>
          </a:p>
          <a:p>
            <a:pPr marL="966788" lvl="1" indent="-342900">
              <a:spcBef>
                <a:spcPts val="600"/>
              </a:spcBef>
              <a:buSzPct val="90000"/>
              <a:buFontTx/>
              <a:buAutoNum type="arabicPeriod"/>
            </a:pPr>
            <a:r>
              <a:rPr lang="en-US" sz="3200" b="1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last address in the block </a:t>
            </a:r>
            <a:r>
              <a:rPr lang="en-US" sz="3200" b="1" i="1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(Broadcast Address) </a:t>
            </a:r>
            <a:r>
              <a:rPr lang="en-US" sz="3200" b="1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= (Any address in the block) </a:t>
            </a:r>
            <a:r>
              <a:rPr lang="en-US" sz="3200" b="1" dirty="0">
                <a:solidFill>
                  <a:srgbClr val="00AFF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OR </a:t>
            </a:r>
            <a:r>
              <a:rPr lang="en-US" sz="3200" b="1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[(</a:t>
            </a:r>
            <a:r>
              <a:rPr lang="en-US" sz="3200" b="1" dirty="0">
                <a:solidFill>
                  <a:srgbClr val="00AFF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NOT </a:t>
            </a:r>
            <a:r>
              <a:rPr lang="en-US" sz="3200" b="1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(Mask)].</a:t>
            </a:r>
            <a:endParaRPr lang="en-US" sz="32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65742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06006-CF9B-5801-FA10-206E5CC0F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2499E-78B9-5EEA-7ABC-F0630F30FC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4EFE17-87F2-D2BE-D35E-2F25EFAA02D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42189" y="3009852"/>
            <a:ext cx="17327456" cy="3060373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00206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IP address of devices 167.199.170.82 with subnet mask 255.255.255.0 or 167.199.170.82 /24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00206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Find :</a:t>
            </a:r>
          </a:p>
          <a:p>
            <a:pPr marL="457200" indent="-457200">
              <a:spcBef>
                <a:spcPts val="600"/>
              </a:spcBef>
              <a:buSzPct val="100000"/>
              <a:buAutoNum type="alphaLcPeriod"/>
            </a:pPr>
            <a:r>
              <a:rPr lang="en-US" sz="2800" b="1" dirty="0">
                <a:solidFill>
                  <a:srgbClr val="00206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Network Address</a:t>
            </a:r>
          </a:p>
          <a:p>
            <a:pPr marL="457200" indent="-457200">
              <a:spcBef>
                <a:spcPts val="600"/>
              </a:spcBef>
              <a:buSzPct val="100000"/>
              <a:buAutoNum type="alphaLcPeriod"/>
            </a:pPr>
            <a:r>
              <a:rPr lang="en-US" sz="2800" b="1" dirty="0">
                <a:solidFill>
                  <a:srgbClr val="00206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Broadcast Address</a:t>
            </a:r>
          </a:p>
          <a:p>
            <a:pPr marL="457200" indent="-457200">
              <a:spcBef>
                <a:spcPts val="600"/>
              </a:spcBef>
              <a:buSzPct val="100000"/>
              <a:buAutoNum type="alphaLcPeriod"/>
            </a:pPr>
            <a:r>
              <a:rPr lang="en-US" sz="2800" b="1" dirty="0">
                <a:solidFill>
                  <a:srgbClr val="00206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Number of IP for this group</a:t>
            </a:r>
          </a:p>
          <a:p>
            <a:pPr marL="0" indent="0">
              <a:spcBef>
                <a:spcPts val="600"/>
              </a:spcBef>
              <a:buSzPct val="100000"/>
              <a:buNone/>
            </a:pPr>
            <a:endParaRPr lang="en-US" sz="2800" b="1" dirty="0">
              <a:solidFill>
                <a:srgbClr val="002060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spcBef>
                <a:spcPts val="600"/>
              </a:spcBef>
              <a:buSzPct val="100000"/>
              <a:buNone/>
            </a:pPr>
            <a:r>
              <a:rPr lang="en-US" sz="2800" b="1" dirty="0">
                <a:solidFill>
                  <a:srgbClr val="00206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Answer :</a:t>
            </a:r>
          </a:p>
          <a:p>
            <a:pPr marL="0" indent="0">
              <a:spcBef>
                <a:spcPts val="600"/>
              </a:spcBef>
              <a:buSzPct val="100000"/>
              <a:buNone/>
            </a:pPr>
            <a:endParaRPr lang="en-US" sz="2800" b="1" dirty="0">
              <a:solidFill>
                <a:srgbClr val="002060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52F67F-8B65-411A-5310-BE1A30442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817" y="5558786"/>
            <a:ext cx="12449842" cy="19957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B871AA-49BA-11D3-DA62-CF56A30B354C}"/>
              </a:ext>
            </a:extLst>
          </p:cNvPr>
          <p:cNvSpPr txBox="1"/>
          <p:nvPr/>
        </p:nvSpPr>
        <p:spPr>
          <a:xfrm>
            <a:off x="3577094" y="5882122"/>
            <a:ext cx="347472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a. Network Address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E38404-EAD0-DC31-C786-737E7745FE3F}"/>
              </a:ext>
            </a:extLst>
          </p:cNvPr>
          <p:cNvSpPr txBox="1"/>
          <p:nvPr/>
        </p:nvSpPr>
        <p:spPr>
          <a:xfrm>
            <a:off x="3803712" y="8711453"/>
            <a:ext cx="347472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b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. Broadcast Address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E9634E-DA4E-5711-E043-09C2294A0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209" y="7968684"/>
            <a:ext cx="12449843" cy="25291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93C3C0-4FE8-A749-6166-021724126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815" y="11038378"/>
            <a:ext cx="12613619" cy="24282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90C710B-CDB6-84F6-82F4-591E108C8993}"/>
              </a:ext>
            </a:extLst>
          </p:cNvPr>
          <p:cNvSpPr txBox="1"/>
          <p:nvPr/>
        </p:nvSpPr>
        <p:spPr>
          <a:xfrm>
            <a:off x="3803712" y="11316778"/>
            <a:ext cx="3474720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c. Number of IP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at group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B18936-3EA1-0F19-E823-01316CE8C6DD}"/>
              </a:ext>
            </a:extLst>
          </p:cNvPr>
          <p:cNvSpPr txBox="1"/>
          <p:nvPr/>
        </p:nvSpPr>
        <p:spPr>
          <a:xfrm>
            <a:off x="20233178" y="12025311"/>
            <a:ext cx="254606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Or 2^8 = 256</a:t>
            </a:r>
            <a:endParaRPr kumimoji="0" lang="en-US" sz="2400" b="1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9667463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06006-CF9B-5801-FA10-206E5CC0F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2499E-78B9-5EEA-7ABC-F0630F30FC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4EFE17-87F2-D2BE-D35E-2F25EFAA02D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847461" y="3009852"/>
            <a:ext cx="17122183" cy="3060373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00206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IP address of devices 167.199.170.82 with subnet mask 255.255.255.192 or 167.199.170.82 /26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00206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Find :</a:t>
            </a:r>
          </a:p>
          <a:p>
            <a:pPr marL="457200" indent="-457200">
              <a:spcBef>
                <a:spcPts val="600"/>
              </a:spcBef>
              <a:buSzPct val="100000"/>
              <a:buAutoNum type="alphaLcPeriod"/>
            </a:pPr>
            <a:r>
              <a:rPr lang="en-US" sz="2800" b="1" dirty="0">
                <a:solidFill>
                  <a:srgbClr val="00206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Network Address</a:t>
            </a:r>
          </a:p>
          <a:p>
            <a:pPr marL="457200" indent="-457200">
              <a:spcBef>
                <a:spcPts val="600"/>
              </a:spcBef>
              <a:buSzPct val="100000"/>
              <a:buAutoNum type="alphaLcPeriod"/>
            </a:pPr>
            <a:r>
              <a:rPr lang="en-US" sz="2800" b="1" dirty="0">
                <a:solidFill>
                  <a:srgbClr val="00206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Broadcast Address</a:t>
            </a:r>
          </a:p>
          <a:p>
            <a:pPr marL="457200" indent="-457200">
              <a:spcBef>
                <a:spcPts val="600"/>
              </a:spcBef>
              <a:buSzPct val="100000"/>
              <a:buAutoNum type="alphaLcPeriod"/>
            </a:pPr>
            <a:r>
              <a:rPr lang="en-US" sz="2800" b="1" dirty="0">
                <a:solidFill>
                  <a:srgbClr val="00206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Number of IP for this group</a:t>
            </a:r>
          </a:p>
          <a:p>
            <a:pPr marL="0" indent="0">
              <a:spcBef>
                <a:spcPts val="600"/>
              </a:spcBef>
              <a:buSzPct val="100000"/>
              <a:buNone/>
            </a:pPr>
            <a:endParaRPr lang="en-US" sz="2800" b="1" dirty="0">
              <a:solidFill>
                <a:srgbClr val="002060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spcBef>
                <a:spcPts val="600"/>
              </a:spcBef>
              <a:buSzPct val="100000"/>
              <a:buNone/>
            </a:pPr>
            <a:r>
              <a:rPr lang="en-US" sz="2800" b="1" dirty="0">
                <a:solidFill>
                  <a:srgbClr val="00206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Answer :</a:t>
            </a:r>
          </a:p>
          <a:p>
            <a:pPr marL="0" indent="0">
              <a:spcBef>
                <a:spcPts val="600"/>
              </a:spcBef>
              <a:buSzPct val="100000"/>
              <a:buNone/>
            </a:pPr>
            <a:endParaRPr lang="en-US" sz="2800" b="1" dirty="0">
              <a:solidFill>
                <a:srgbClr val="002060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B871AA-49BA-11D3-DA62-CF56A30B354C}"/>
              </a:ext>
            </a:extLst>
          </p:cNvPr>
          <p:cNvSpPr txBox="1"/>
          <p:nvPr/>
        </p:nvSpPr>
        <p:spPr>
          <a:xfrm>
            <a:off x="3577094" y="5882122"/>
            <a:ext cx="347472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a. Network Address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E38404-EAD0-DC31-C786-737E7745FE3F}"/>
              </a:ext>
            </a:extLst>
          </p:cNvPr>
          <p:cNvSpPr txBox="1"/>
          <p:nvPr/>
        </p:nvSpPr>
        <p:spPr>
          <a:xfrm>
            <a:off x="3803712" y="8711453"/>
            <a:ext cx="347472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b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. Broadcast Address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0C710B-CDB6-84F6-82F4-591E108C8993}"/>
              </a:ext>
            </a:extLst>
          </p:cNvPr>
          <p:cNvSpPr txBox="1"/>
          <p:nvPr/>
        </p:nvSpPr>
        <p:spPr>
          <a:xfrm>
            <a:off x="3803712" y="11316778"/>
            <a:ext cx="3474720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c. Number of IP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at group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A973DE-DB24-F188-50A2-3405EDE01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814" y="5282204"/>
            <a:ext cx="12396450" cy="22505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F189FA-0C28-029F-2262-5527F6CC2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814" y="8020970"/>
            <a:ext cx="12750524" cy="25291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20E15D-EE3B-E54D-8BE0-E63FEB312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814" y="10906601"/>
            <a:ext cx="12479326" cy="227738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23D877F-5653-2721-0768-60F57C7C465A}"/>
              </a:ext>
            </a:extLst>
          </p:cNvPr>
          <p:cNvSpPr txBox="1"/>
          <p:nvPr/>
        </p:nvSpPr>
        <p:spPr>
          <a:xfrm>
            <a:off x="20233178" y="12025311"/>
            <a:ext cx="254606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Or 2^6 = 64</a:t>
            </a:r>
          </a:p>
        </p:txBody>
      </p:sp>
    </p:spTree>
    <p:extLst>
      <p:ext uri="{BB962C8B-B14F-4D97-AF65-F5344CB8AC3E}">
        <p14:creationId xmlns:p14="http://schemas.microsoft.com/office/powerpoint/2010/main" val="203903644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06006-CF9B-5801-FA10-206E5CC0F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2499E-78B9-5EEA-7ABC-F0630F30FC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4EFE17-87F2-D2BE-D35E-2F25EFAA02D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009852"/>
            <a:ext cx="17501554" cy="3584153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200" b="1" dirty="0">
                <a:solidFill>
                  <a:srgbClr val="00206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IP address of devices 167.199.170.82 with subnet mask 255.255.240.0 or 167.199.170.82 /20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b="1" dirty="0">
                <a:solidFill>
                  <a:srgbClr val="00206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Find :</a:t>
            </a:r>
          </a:p>
          <a:p>
            <a:pPr marL="457200" indent="-457200">
              <a:spcBef>
                <a:spcPts val="600"/>
              </a:spcBef>
              <a:buSzPct val="100000"/>
              <a:buAutoNum type="alphaLcPeriod"/>
            </a:pPr>
            <a:r>
              <a:rPr lang="en-US" sz="3200" b="1" dirty="0">
                <a:solidFill>
                  <a:srgbClr val="00206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Network Address</a:t>
            </a:r>
          </a:p>
          <a:p>
            <a:pPr marL="457200" indent="-457200">
              <a:spcBef>
                <a:spcPts val="600"/>
              </a:spcBef>
              <a:buSzPct val="100000"/>
              <a:buAutoNum type="alphaLcPeriod"/>
            </a:pPr>
            <a:r>
              <a:rPr lang="en-US" sz="3200" b="1" dirty="0">
                <a:solidFill>
                  <a:srgbClr val="00206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Broadcast Address</a:t>
            </a:r>
          </a:p>
          <a:p>
            <a:pPr marL="457200" indent="-457200">
              <a:spcBef>
                <a:spcPts val="600"/>
              </a:spcBef>
              <a:buSzPct val="100000"/>
              <a:buAutoNum type="alphaLcPeriod"/>
            </a:pPr>
            <a:r>
              <a:rPr lang="en-US" sz="3200" b="1" dirty="0">
                <a:solidFill>
                  <a:srgbClr val="00206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Number of IP for this group</a:t>
            </a:r>
          </a:p>
          <a:p>
            <a:pPr marL="0" indent="0">
              <a:spcBef>
                <a:spcPts val="600"/>
              </a:spcBef>
              <a:buSzPct val="100000"/>
              <a:buNone/>
            </a:pPr>
            <a:endParaRPr lang="en-US" sz="3200" b="1" dirty="0">
              <a:solidFill>
                <a:srgbClr val="002060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spcBef>
                <a:spcPts val="600"/>
              </a:spcBef>
              <a:buSzPct val="100000"/>
              <a:buNone/>
            </a:pPr>
            <a:r>
              <a:rPr lang="en-US" sz="3200" b="1" dirty="0">
                <a:solidFill>
                  <a:srgbClr val="00206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Answer :</a:t>
            </a:r>
          </a:p>
          <a:p>
            <a:pPr marL="0" indent="0">
              <a:spcBef>
                <a:spcPts val="600"/>
              </a:spcBef>
              <a:buSzPct val="100000"/>
              <a:buNone/>
            </a:pPr>
            <a:endParaRPr lang="en-US" sz="3200" b="1" dirty="0">
              <a:solidFill>
                <a:srgbClr val="002060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B871AA-49BA-11D3-DA62-CF56A30B354C}"/>
              </a:ext>
            </a:extLst>
          </p:cNvPr>
          <p:cNvSpPr txBox="1"/>
          <p:nvPr/>
        </p:nvSpPr>
        <p:spPr>
          <a:xfrm>
            <a:off x="3577094" y="6070185"/>
            <a:ext cx="347472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a. Network Address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E38404-EAD0-DC31-C786-737E7745FE3F}"/>
              </a:ext>
            </a:extLst>
          </p:cNvPr>
          <p:cNvSpPr txBox="1"/>
          <p:nvPr/>
        </p:nvSpPr>
        <p:spPr>
          <a:xfrm>
            <a:off x="3803712" y="8899516"/>
            <a:ext cx="347472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b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. Broadcast Address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0C710B-CDB6-84F6-82F4-591E108C8993}"/>
              </a:ext>
            </a:extLst>
          </p:cNvPr>
          <p:cNvSpPr txBox="1"/>
          <p:nvPr/>
        </p:nvSpPr>
        <p:spPr>
          <a:xfrm>
            <a:off x="3803712" y="11345449"/>
            <a:ext cx="3474720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c. Number of IP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at group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BC87FD-8A13-4F72-BE1F-9242FD684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432" y="5467197"/>
            <a:ext cx="12607047" cy="22536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70A815-9919-CB48-5040-1C5275A4B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432" y="8076754"/>
            <a:ext cx="12645549" cy="258937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FA5CC20-560C-928B-ADFD-CE566BAE9FCC}"/>
              </a:ext>
            </a:extLst>
          </p:cNvPr>
          <p:cNvSpPr txBox="1"/>
          <p:nvPr/>
        </p:nvSpPr>
        <p:spPr>
          <a:xfrm>
            <a:off x="20233178" y="12213374"/>
            <a:ext cx="254606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Or 2^12 = 4096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4F003CE-1BF4-09F9-9C86-FAA626653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535" y="11211260"/>
            <a:ext cx="12496511" cy="234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9933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11C61-F095-7710-79F7-D93783369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Ussed</a:t>
            </a:r>
            <a:r>
              <a:rPr lang="en-US" dirty="0"/>
              <a:t> of </a:t>
            </a:r>
            <a:r>
              <a:rPr lang="en-US" dirty="0" err="1"/>
              <a:t>ip</a:t>
            </a:r>
            <a:r>
              <a:rPr lang="en-US" dirty="0"/>
              <a:t> Addressing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CBF2E-83DA-59B2-9AE1-EF68932EB5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Network address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36982-D972-8016-A1E4-C962E18FC7E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754155" y="3223273"/>
            <a:ext cx="19258384" cy="4801053"/>
          </a:xfrm>
        </p:spPr>
        <p:txBody>
          <a:bodyPr>
            <a:normAutofit fontScale="92500" lnSpcReduction="20000"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Network Address is used for routing a packet to its destination network.</a:t>
            </a:r>
          </a:p>
          <a:p>
            <a:pPr>
              <a:spcBef>
                <a:spcPts val="3000"/>
              </a:spcBef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Source IP :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167.199.170.82 /24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 calculated Network address : 167.199.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highlight>
                  <a:srgbClr val="FFFF00"/>
                </a:highligh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170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.0</a:t>
            </a:r>
          </a:p>
          <a:p>
            <a:pPr>
              <a:spcBef>
                <a:spcPts val="1200"/>
              </a:spcBef>
            </a:pP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Dest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 IP    : 167.199.179.82 /24  calculated Network address : 167.199.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highlight>
                  <a:srgbClr val="FFFF00"/>
                </a:highligh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179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.0</a:t>
            </a:r>
          </a:p>
          <a:p>
            <a:pPr>
              <a:spcBef>
                <a:spcPts val="3000"/>
              </a:spcBef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Network Address source different with Network Address destination, to forward packet from source (167.199.170.82 /24) to destination (167.199.179.82 /24) will used Router</a:t>
            </a:r>
          </a:p>
          <a:p>
            <a:pPr>
              <a:spcBef>
                <a:spcPts val="3000"/>
              </a:spcBef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Router will forward Packet to other network address using Routing table (forwarding table) via Interface Number</a:t>
            </a:r>
          </a:p>
          <a:p>
            <a:pPr>
              <a:spcBef>
                <a:spcPts val="3000"/>
              </a:spcBef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Interface 1, 2, 3 at router act as gateway for Network1, Network2, Network3</a:t>
            </a:r>
          </a:p>
          <a:p>
            <a:endParaRPr lang="en-US" sz="32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CC1B6F-26D4-36DE-4820-60349DF0E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373" y="8375952"/>
            <a:ext cx="8970326" cy="494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34136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84BCB-7A0A-3C15-7868-5CAE18BBC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Used of Ip addressing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A4EF9-CB3E-BDD8-66E6-BE04155B8B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Broadcast address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6BF96-547D-303C-A8CD-77BC4DB4435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986325" y="3542954"/>
            <a:ext cx="14715569" cy="4522264"/>
          </a:xfrm>
        </p:spPr>
        <p:txBody>
          <a:bodyPr>
            <a:normAutofit/>
          </a:bodyPr>
          <a:lstStyle/>
          <a:p>
            <a:r>
              <a:rPr lang="en-US" sz="3200" b="1" dirty="0"/>
              <a:t>Broadcasting means one-to-all communication. A frame with a destination broadcast address is sent to all entities in the link</a:t>
            </a:r>
          </a:p>
          <a:p>
            <a:r>
              <a:rPr lang="en-US" sz="3200" b="1" dirty="0"/>
              <a:t>Broadcast address always the highest number possible in a network or sub-network.</a:t>
            </a:r>
          </a:p>
          <a:p>
            <a:r>
              <a:rPr lang="en-US" sz="3200" b="1" dirty="0"/>
              <a:t>Some protocol used broadcast to send frame to all entities like ARP, RIP, etc.</a:t>
            </a:r>
          </a:p>
        </p:txBody>
      </p:sp>
    </p:spTree>
    <p:extLst>
      <p:ext uri="{BB962C8B-B14F-4D97-AF65-F5344CB8AC3E}">
        <p14:creationId xmlns:p14="http://schemas.microsoft.com/office/powerpoint/2010/main" val="259615575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859B-BD63-8540-7F27-F7221179A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Used of </a:t>
            </a:r>
            <a:r>
              <a:rPr lang="en-US" dirty="0" err="1"/>
              <a:t>ip</a:t>
            </a:r>
            <a:r>
              <a:rPr lang="en-US" dirty="0"/>
              <a:t> addressing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9566B-7A4D-8611-31F9-3E92283B79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Number of </a:t>
            </a:r>
            <a:r>
              <a:rPr lang="en-US" dirty="0" err="1"/>
              <a:t>ip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4D627-5BF8-BDE6-2C5A-07E7273BF9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930342" y="3636259"/>
            <a:ext cx="17373070" cy="5675691"/>
          </a:xfrm>
        </p:spPr>
        <p:txBody>
          <a:bodyPr>
            <a:normAutofit/>
          </a:bodyPr>
          <a:lstStyle/>
          <a:p>
            <a:r>
              <a:rPr lang="en-US" sz="3200" b="1" dirty="0"/>
              <a:t>Number of IP in a group does not mean all IP can applied to all devices</a:t>
            </a:r>
          </a:p>
          <a:p>
            <a:r>
              <a:rPr lang="en-US" sz="3200" b="1" dirty="0"/>
              <a:t>IP of network address can not apply to devices because it used for routing purpose</a:t>
            </a:r>
          </a:p>
          <a:p>
            <a:r>
              <a:rPr lang="en-US" sz="3200" b="1" dirty="0"/>
              <a:t>IP of Broadcast address also can not apply to .</a:t>
            </a:r>
          </a:p>
          <a:p>
            <a:r>
              <a:rPr lang="en-US" sz="3200" b="1" dirty="0"/>
              <a:t>So numbers of IP that can be apply to device will be minus 2 from total IP at those network.</a:t>
            </a:r>
          </a:p>
        </p:txBody>
      </p:sp>
    </p:spTree>
    <p:extLst>
      <p:ext uri="{BB962C8B-B14F-4D97-AF65-F5344CB8AC3E}">
        <p14:creationId xmlns:p14="http://schemas.microsoft.com/office/powerpoint/2010/main" val="34449555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F21BC-7E3C-E9F9-DB45-E84D076BE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excercise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F4B72-D243-02F4-3031-0A470D758E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D1D31-B3FA-711F-5BFE-9E8557111E5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94222" y="4037030"/>
            <a:ext cx="14197608" cy="51123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Find Network Address, Broadcast Address and total number of IP reserved for devices for this IP address shown below :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192.168.10.100 /24</a:t>
            </a:r>
          </a:p>
          <a:p>
            <a:pPr marL="514350" indent="-514350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18.20.220.100 /8</a:t>
            </a:r>
          </a:p>
          <a:p>
            <a:pPr marL="514350" indent="-514350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160.80.90.100 /16</a:t>
            </a:r>
          </a:p>
          <a:p>
            <a:pPr marL="514350" indent="-514350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192.168.10.100 /28</a:t>
            </a:r>
          </a:p>
        </p:txBody>
      </p:sp>
    </p:spTree>
    <p:extLst>
      <p:ext uri="{BB962C8B-B14F-4D97-AF65-F5344CB8AC3E}">
        <p14:creationId xmlns:p14="http://schemas.microsoft.com/office/powerpoint/2010/main" val="112495711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F959C-4953-F280-8F3E-E96B200A7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References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D7752-5A55-6930-C9FA-43D826EC4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ADE253-2CB8-32FF-CDC2-9DA52CF50C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916195" y="3603028"/>
            <a:ext cx="19053467" cy="8957939"/>
          </a:xfrm>
        </p:spPr>
        <p:txBody>
          <a:bodyPr>
            <a:noAutofit/>
          </a:bodyPr>
          <a:lstStyle/>
          <a:p>
            <a:pPr algn="just"/>
            <a:r>
              <a:rPr lang="en-US" sz="3200" b="1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Forouzan</a:t>
            </a: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B. A. (2021). Data Communications and Networking with TCP/IP Protocol Suite. 6th Ed. New York: McGraw-Hill. ISBN: 978-1-26-436335-3. Chapter 7.</a:t>
            </a:r>
          </a:p>
        </p:txBody>
      </p:sp>
    </p:spTree>
    <p:extLst>
      <p:ext uri="{BB962C8B-B14F-4D97-AF65-F5344CB8AC3E}">
        <p14:creationId xmlns:p14="http://schemas.microsoft.com/office/powerpoint/2010/main" val="243213615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E48F4F-144E-B982-E51F-76F732804B3A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D930EC-C957-C09C-7359-7312156E8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18AEA-5401-B692-325F-9E8AD98181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December 2024</a:t>
            </a:r>
          </a:p>
        </p:txBody>
      </p:sp>
    </p:spTree>
    <p:extLst>
      <p:ext uri="{BB962C8B-B14F-4D97-AF65-F5344CB8AC3E}">
        <p14:creationId xmlns:p14="http://schemas.microsoft.com/office/powerpoint/2010/main" val="281341360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2" id="{A9A1C811-4046-44EA-8E0F-7354A0AD2552}" vid="{C3965A57-E83B-4BEA-A297-9AFB7752D311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binus template</Template>
  <TotalTime>1</TotalTime>
  <Words>832</Words>
  <Application>Microsoft Office PowerPoint</Application>
  <PresentationFormat>Custom</PresentationFormat>
  <Paragraphs>112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Open Sans ExtraBold</vt:lpstr>
      <vt:lpstr>Arial</vt:lpstr>
      <vt:lpstr>OCRB</vt:lpstr>
      <vt:lpstr>Open Sans Semibold</vt:lpstr>
      <vt:lpstr>Open Sans Light</vt:lpstr>
      <vt:lpstr>21_BasicWhite</vt:lpstr>
      <vt:lpstr>COMPUTER NETWORKS SESSION 04</vt:lpstr>
      <vt:lpstr>Learning outcomes</vt:lpstr>
      <vt:lpstr>Outline</vt:lpstr>
      <vt:lpstr>Class of ip</vt:lpstr>
      <vt:lpstr>Type of ip address</vt:lpstr>
      <vt:lpstr>addressing</vt:lpstr>
      <vt:lpstr>addressing</vt:lpstr>
      <vt:lpstr>addressing</vt:lpstr>
      <vt:lpstr>addressing</vt:lpstr>
      <vt:lpstr>Ussed of ip Addressing</vt:lpstr>
      <vt:lpstr>Used of Ip addressing</vt:lpstr>
      <vt:lpstr>Used of ip addressing</vt:lpstr>
      <vt:lpstr>excercise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Ir. Santoso Budijono, M.M.</dc:creator>
  <cp:lastModifiedBy>Ir. Santoso Budijono, M.M.</cp:lastModifiedBy>
  <cp:revision>1</cp:revision>
  <dcterms:created xsi:type="dcterms:W3CDTF">2024-12-13T12:47:12Z</dcterms:created>
  <dcterms:modified xsi:type="dcterms:W3CDTF">2024-12-13T12:48:22Z</dcterms:modified>
</cp:coreProperties>
</file>