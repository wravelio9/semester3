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58" r:id="rId2"/>
    <p:sldId id="315" r:id="rId3"/>
    <p:sldId id="445" r:id="rId4"/>
    <p:sldId id="327" r:id="rId5"/>
    <p:sldId id="328" r:id="rId6"/>
    <p:sldId id="329" r:id="rId7"/>
    <p:sldId id="330" r:id="rId8"/>
    <p:sldId id="331" r:id="rId9"/>
    <p:sldId id="446" r:id="rId10"/>
    <p:sldId id="332" r:id="rId11"/>
    <p:sldId id="333" r:id="rId12"/>
    <p:sldId id="448" r:id="rId13"/>
    <p:sldId id="449" r:id="rId14"/>
    <p:sldId id="443" r:id="rId15"/>
    <p:sldId id="444" r:id="rId16"/>
  </p:sldIdLst>
  <p:sldSz cx="24384000" cy="13716000"/>
  <p:notesSz cx="6858000" cy="9144000"/>
  <p:embeddedFontLst>
    <p:embeddedFont>
      <p:font typeface="OCRB" panose="020B0609020202020204" pitchFamily="49" charset="0"/>
      <p:regular r:id="rId18"/>
    </p:embeddedFont>
    <p:embeddedFont>
      <p:font typeface="Open Sans ExtraBold" panose="020B0906030804020204" pitchFamily="34" charset="0"/>
      <p:bold r:id="rId19"/>
      <p:italic r:id="rId20"/>
      <p:boldItalic r:id="rId21"/>
    </p:embeddedFont>
    <p:embeddedFont>
      <p:font typeface="Open Sans Light" panose="020B0306030504020204" pitchFamily="34" charset="0"/>
      <p:regular r:id="rId22"/>
      <p:italic r:id="rId23"/>
    </p:embeddedFont>
    <p:embeddedFont>
      <p:font typeface="Open Sans Semibold" panose="020B0706030804020204" pitchFamily="34" charset="0"/>
      <p:regular r:id="rId24"/>
      <p:bold r:id="rId25"/>
      <p:italic r:id="rId26"/>
      <p:boldItalic r:id="rId2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630AF8-534D-4D66-9399-0067522134E5}" v="4" dt="2024-12-14T01:58:35.21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97"/>
  </p:normalViewPr>
  <p:slideViewPr>
    <p:cSldViewPr snapToGrid="0" snapToObjects="1">
      <p:cViewPr varScale="1">
        <p:scale>
          <a:sx n="41" d="100"/>
          <a:sy n="41" d="100"/>
        </p:scale>
        <p:origin x="720"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 Santoso Budijono, M.M." userId="bbff4192-f18b-4ea0-9da7-966ec02cbd0b" providerId="ADAL" clId="{87630AF8-534D-4D66-9399-0067522134E5}"/>
    <pc:docChg chg="addSld delSld modSld sldOrd">
      <pc:chgData name="Ir. Santoso Budijono, M.M." userId="bbff4192-f18b-4ea0-9da7-966ec02cbd0b" providerId="ADAL" clId="{87630AF8-534D-4D66-9399-0067522134E5}" dt="2024-12-14T01:59:47.973" v="96" actId="1076"/>
      <pc:docMkLst>
        <pc:docMk/>
      </pc:docMkLst>
      <pc:sldChg chg="modSp del mod ord">
        <pc:chgData name="Ir. Santoso Budijono, M.M." userId="bbff4192-f18b-4ea0-9da7-966ec02cbd0b" providerId="ADAL" clId="{87630AF8-534D-4D66-9399-0067522134E5}" dt="2024-12-14T01:58:23.009" v="7" actId="47"/>
        <pc:sldMkLst>
          <pc:docMk/>
          <pc:sldMk cId="2272942927" sldId="326"/>
        </pc:sldMkLst>
        <pc:spChg chg="mod">
          <ac:chgData name="Ir. Santoso Budijono, M.M." userId="bbff4192-f18b-4ea0-9da7-966ec02cbd0b" providerId="ADAL" clId="{87630AF8-534D-4D66-9399-0067522134E5}" dt="2024-12-14T01:57:13.548" v="0" actId="1076"/>
          <ac:spMkLst>
            <pc:docMk/>
            <pc:sldMk cId="2272942927" sldId="326"/>
            <ac:spMk id="2" creationId="{03E11191-E254-0843-9FFB-6881A52285FF}"/>
          </ac:spMkLst>
        </pc:spChg>
        <pc:picChg chg="mod">
          <ac:chgData name="Ir. Santoso Budijono, M.M." userId="bbff4192-f18b-4ea0-9da7-966ec02cbd0b" providerId="ADAL" clId="{87630AF8-534D-4D66-9399-0067522134E5}" dt="2024-12-14T01:57:16.896" v="1" actId="1076"/>
          <ac:picMkLst>
            <pc:docMk/>
            <pc:sldMk cId="2272942927" sldId="326"/>
            <ac:picMk id="4" creationId="{6CF4924A-09B8-404E-9449-9FA7EFE6D824}"/>
          </ac:picMkLst>
        </pc:picChg>
      </pc:sldChg>
      <pc:sldChg chg="new del">
        <pc:chgData name="Ir. Santoso Budijono, M.M." userId="bbff4192-f18b-4ea0-9da7-966ec02cbd0b" providerId="ADAL" clId="{87630AF8-534D-4D66-9399-0067522134E5}" dt="2024-12-14T01:58:00.379" v="4" actId="47"/>
        <pc:sldMkLst>
          <pc:docMk/>
          <pc:sldMk cId="3137272284" sldId="447"/>
        </pc:sldMkLst>
      </pc:sldChg>
      <pc:sldChg chg="add">
        <pc:chgData name="Ir. Santoso Budijono, M.M." userId="bbff4192-f18b-4ea0-9da7-966ec02cbd0b" providerId="ADAL" clId="{87630AF8-534D-4D66-9399-0067522134E5}" dt="2024-12-14T01:57:58.818" v="3"/>
        <pc:sldMkLst>
          <pc:docMk/>
          <pc:sldMk cId="4214111545" sldId="448"/>
        </pc:sldMkLst>
      </pc:sldChg>
      <pc:sldChg chg="addSp delSp modSp add mod">
        <pc:chgData name="Ir. Santoso Budijono, M.M." userId="bbff4192-f18b-4ea0-9da7-966ec02cbd0b" providerId="ADAL" clId="{87630AF8-534D-4D66-9399-0067522134E5}" dt="2024-12-14T01:59:47.973" v="96" actId="1076"/>
        <pc:sldMkLst>
          <pc:docMk/>
          <pc:sldMk cId="3745981358" sldId="449"/>
        </pc:sldMkLst>
        <pc:spChg chg="mod">
          <ac:chgData name="Ir. Santoso Budijono, M.M." userId="bbff4192-f18b-4ea0-9da7-966ec02cbd0b" providerId="ADAL" clId="{87630AF8-534D-4D66-9399-0067522134E5}" dt="2024-12-14T01:58:32.934" v="16" actId="20577"/>
          <ac:spMkLst>
            <pc:docMk/>
            <pc:sldMk cId="3745981358" sldId="449"/>
            <ac:spMk id="2" creationId="{8601DD39-3C58-03F5-6106-3718C0582C39}"/>
          </ac:spMkLst>
        </pc:spChg>
        <pc:spChg chg="add mod">
          <ac:chgData name="Ir. Santoso Budijono, M.M." userId="bbff4192-f18b-4ea0-9da7-966ec02cbd0b" providerId="ADAL" clId="{87630AF8-534D-4D66-9399-0067522134E5}" dt="2024-12-14T01:59:47.973" v="96" actId="1076"/>
          <ac:spMkLst>
            <pc:docMk/>
            <pc:sldMk cId="3745981358" sldId="449"/>
            <ac:spMk id="4" creationId="{2F35AD67-93C3-E4B4-964F-B39C96414E69}"/>
          </ac:spMkLst>
        </pc:spChg>
        <pc:picChg chg="del">
          <ac:chgData name="Ir. Santoso Budijono, M.M." userId="bbff4192-f18b-4ea0-9da7-966ec02cbd0b" providerId="ADAL" clId="{87630AF8-534D-4D66-9399-0067522134E5}" dt="2024-12-14T01:58:35.212" v="17" actId="478"/>
          <ac:picMkLst>
            <pc:docMk/>
            <pc:sldMk cId="3745981358" sldId="449"/>
            <ac:picMk id="5" creationId="{126094F3-FED1-3803-0B7C-4A527C53F54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7AB576-40D0-4449-85EA-28209CC24D0F}" type="datetimeFigureOut">
              <a:rPr lang="en-US" smtClean="0"/>
              <a:pPr/>
              <a:t>12/14/2024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2000605" y="13076008"/>
            <a:ext cx="370294" cy="379591"/>
          </a:xfrm>
        </p:spPr>
        <p:txBody>
          <a:bodyPr/>
          <a:lstStyle/>
          <a:p>
            <a:fld id="{92E8EF2C-6893-4F23-B89A-3752F6DC6D01}" type="slidenum">
              <a:rPr lang="en-US" smtClean="0"/>
              <a:pPr/>
              <a:t>‹#›</a:t>
            </a:fld>
            <a:endParaRPr lang="en-US"/>
          </a:p>
        </p:txBody>
      </p:sp>
      <p:pic>
        <p:nvPicPr>
          <p:cNvPr id="10" name="Picture 9" descr="binus-main2.jpg"/>
          <p:cNvPicPr>
            <a:picLocks noChangeAspect="1"/>
          </p:cNvPicPr>
          <p:nvPr userDrawn="1"/>
        </p:nvPicPr>
        <p:blipFill>
          <a:blip r:embed="rId2"/>
          <a:stretch>
            <a:fillRect/>
          </a:stretch>
        </p:blipFill>
        <p:spPr>
          <a:xfrm>
            <a:off x="0" y="386862"/>
            <a:ext cx="24384000" cy="12942276"/>
          </a:xfrm>
          <a:prstGeom prst="rect">
            <a:avLst/>
          </a:prstGeom>
        </p:spPr>
      </p:pic>
    </p:spTree>
    <p:extLst>
      <p:ext uri="{BB962C8B-B14F-4D97-AF65-F5344CB8AC3E}">
        <p14:creationId xmlns:p14="http://schemas.microsoft.com/office/powerpoint/2010/main" val="2864603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Cloud computing</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 </a:t>
            </a:r>
            <a:br>
              <a:rPr lang="en-US" dirty="0"/>
            </a:br>
            <a:r>
              <a:rPr lang="en-US" dirty="0"/>
              <a:t>session 06</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a:t>
            </a:r>
            <a:r>
              <a:rPr lang="en-US" dirty="0" err="1"/>
              <a:t>Budiijono</a:t>
            </a:r>
            <a:endParaRPr lang="en-US" dirty="0"/>
          </a:p>
        </p:txBody>
      </p:sp>
    </p:spTree>
    <p:extLst>
      <p:ext uri="{BB962C8B-B14F-4D97-AF65-F5344CB8AC3E}">
        <p14:creationId xmlns:p14="http://schemas.microsoft.com/office/powerpoint/2010/main" val="296076562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EB0F-3BFA-F04B-A9FC-7B555C10681E}"/>
              </a:ext>
            </a:extLst>
          </p:cNvPr>
          <p:cNvSpPr>
            <a:spLocks noGrp="1"/>
          </p:cNvSpPr>
          <p:nvPr>
            <p:ph type="title"/>
          </p:nvPr>
        </p:nvSpPr>
        <p:spPr>
          <a:xfrm>
            <a:off x="2752667" y="2243282"/>
            <a:ext cx="21971000" cy="1433163"/>
          </a:xfrm>
        </p:spPr>
        <p:txBody>
          <a:bodyPr>
            <a:normAutofit/>
          </a:bodyPr>
          <a:lstStyle/>
          <a:p>
            <a:r>
              <a:rPr lang="en-US" sz="4400" dirty="0"/>
              <a:t>Cloud Computing</a:t>
            </a:r>
          </a:p>
        </p:txBody>
      </p:sp>
      <p:sp>
        <p:nvSpPr>
          <p:cNvPr id="3" name="Content Placeholder 2">
            <a:extLst>
              <a:ext uri="{FF2B5EF4-FFF2-40B4-BE49-F238E27FC236}">
                <a16:creationId xmlns:a16="http://schemas.microsoft.com/office/drawing/2014/main" id="{3E17E35A-D117-2345-B0A6-5B9224B4DF48}"/>
              </a:ext>
            </a:extLst>
          </p:cNvPr>
          <p:cNvSpPr>
            <a:spLocks noGrp="1"/>
          </p:cNvSpPr>
          <p:nvPr>
            <p:ph idx="1"/>
          </p:nvPr>
        </p:nvSpPr>
        <p:spPr>
          <a:xfrm>
            <a:off x="2907045" y="3243219"/>
            <a:ext cx="19812000" cy="5065895"/>
          </a:xfrm>
        </p:spPr>
        <p:txBody>
          <a:bodyPr>
            <a:normAutofit/>
          </a:bodyPr>
          <a:lstStyle/>
          <a:p>
            <a:r>
              <a:rPr lang="en-ID" sz="3200" b="1" dirty="0">
                <a:highlight>
                  <a:srgbClr val="FFFF00"/>
                </a:highlight>
              </a:rPr>
              <a:t>What is cloud computing?</a:t>
            </a:r>
          </a:p>
          <a:p>
            <a:pPr marL="1517650" indent="0">
              <a:buNone/>
            </a:pPr>
            <a:r>
              <a:rPr lang="en-ID" sz="3200" b="1" dirty="0"/>
              <a:t>Cloud computing is the on-demand delivery of IT resources over the Internet with pay-as-you-go pricing. </a:t>
            </a:r>
          </a:p>
          <a:p>
            <a:pPr marL="1517650" indent="0">
              <a:buNone/>
            </a:pPr>
            <a:r>
              <a:rPr lang="en-ID" sz="3200" b="1" dirty="0"/>
              <a:t>Instead of buying, owning, and maintaining physical data </a:t>
            </a:r>
            <a:r>
              <a:rPr lang="en-ID" sz="3200" b="1" dirty="0" err="1"/>
              <a:t>centers</a:t>
            </a:r>
            <a:r>
              <a:rPr lang="en-ID" sz="3200" b="1" dirty="0"/>
              <a:t> and servers, you can access technology services, such as computing power, storage, and databases, on an as-needed basis from a cloud provider like Amazon Web Services (AWS).</a:t>
            </a:r>
          </a:p>
          <a:p>
            <a:pPr marL="98426" indent="0">
              <a:buNone/>
            </a:pPr>
            <a:endParaRPr lang="en-ID" sz="3200" b="1" dirty="0"/>
          </a:p>
          <a:p>
            <a:endParaRPr lang="en-US" sz="3200" b="1" dirty="0"/>
          </a:p>
        </p:txBody>
      </p:sp>
    </p:spTree>
    <p:extLst>
      <p:ext uri="{BB962C8B-B14F-4D97-AF65-F5344CB8AC3E}">
        <p14:creationId xmlns:p14="http://schemas.microsoft.com/office/powerpoint/2010/main" val="3125889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3415D-BB9E-0064-4365-A4E0E4951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40A6-5840-68BA-518D-85DABBE238F8}"/>
              </a:ext>
            </a:extLst>
          </p:cNvPr>
          <p:cNvSpPr>
            <a:spLocks noGrp="1"/>
          </p:cNvSpPr>
          <p:nvPr>
            <p:ph type="title"/>
          </p:nvPr>
        </p:nvSpPr>
        <p:spPr>
          <a:xfrm>
            <a:off x="2752667" y="2243282"/>
            <a:ext cx="21971000" cy="1433163"/>
          </a:xfrm>
        </p:spPr>
        <p:txBody>
          <a:bodyPr>
            <a:normAutofit/>
          </a:bodyPr>
          <a:lstStyle/>
          <a:p>
            <a:r>
              <a:rPr lang="en-US" sz="4400" dirty="0"/>
              <a:t>Cloud Computing</a:t>
            </a:r>
          </a:p>
        </p:txBody>
      </p:sp>
      <p:sp>
        <p:nvSpPr>
          <p:cNvPr id="3" name="Content Placeholder 2">
            <a:extLst>
              <a:ext uri="{FF2B5EF4-FFF2-40B4-BE49-F238E27FC236}">
                <a16:creationId xmlns:a16="http://schemas.microsoft.com/office/drawing/2014/main" id="{58E5D055-154D-15B7-F732-AFC27655B70D}"/>
              </a:ext>
            </a:extLst>
          </p:cNvPr>
          <p:cNvSpPr>
            <a:spLocks noGrp="1"/>
          </p:cNvSpPr>
          <p:nvPr>
            <p:ph idx="1"/>
          </p:nvPr>
        </p:nvSpPr>
        <p:spPr>
          <a:xfrm>
            <a:off x="2752667" y="2987863"/>
            <a:ext cx="19812000" cy="9753600"/>
          </a:xfrm>
        </p:spPr>
        <p:txBody>
          <a:bodyPr>
            <a:normAutofit/>
          </a:bodyPr>
          <a:lstStyle/>
          <a:p>
            <a:r>
              <a:rPr lang="en-ID" sz="3200" b="1" dirty="0">
                <a:highlight>
                  <a:srgbClr val="FFFF00"/>
                </a:highlight>
              </a:rPr>
              <a:t>Who is using cloud computing?</a:t>
            </a:r>
          </a:p>
          <a:p>
            <a:pPr marL="1517650" indent="0">
              <a:buNone/>
            </a:pPr>
            <a:r>
              <a:rPr lang="en-ID" sz="3200" b="1" dirty="0"/>
              <a:t>Organizations of every type, size, and industry are using the cloud for a wide variety of use cases, such as data backup, disaster recovery, email, virtual desktops, software development and testing, big data analytics, and customer-facing web applications. </a:t>
            </a:r>
          </a:p>
          <a:p>
            <a:pPr marL="1517650" indent="0">
              <a:buNone/>
            </a:pPr>
            <a:r>
              <a:rPr lang="en-ID" sz="3200" b="1" dirty="0"/>
              <a:t>For example, healthcare companies are using the cloud to develop more personalized treatments for patients. </a:t>
            </a:r>
          </a:p>
          <a:p>
            <a:pPr marL="1517650" indent="0">
              <a:buNone/>
            </a:pPr>
            <a:r>
              <a:rPr lang="en-ID" sz="3200" b="1" dirty="0"/>
              <a:t>Financial services companies are using the cloud to power real-time fraud detection and prevention. </a:t>
            </a:r>
          </a:p>
          <a:p>
            <a:pPr marL="1517650" indent="0">
              <a:buNone/>
            </a:pPr>
            <a:r>
              <a:rPr lang="en-ID" sz="3200" b="1" dirty="0"/>
              <a:t>And video game makers are using the cloud to deliver online games to millions of players around the world.</a:t>
            </a:r>
          </a:p>
          <a:p>
            <a:pPr marL="98426" indent="0">
              <a:buNone/>
            </a:pPr>
            <a:endParaRPr lang="en-ID" sz="3200" b="1" dirty="0"/>
          </a:p>
          <a:p>
            <a:endParaRPr lang="en-US" sz="3200" b="1" dirty="0"/>
          </a:p>
        </p:txBody>
      </p:sp>
    </p:spTree>
    <p:extLst>
      <p:ext uri="{BB962C8B-B14F-4D97-AF65-F5344CB8AC3E}">
        <p14:creationId xmlns:p14="http://schemas.microsoft.com/office/powerpoint/2010/main" val="4166755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0FAF-FE8A-F633-30A1-B5A0C22C68DD}"/>
              </a:ext>
            </a:extLst>
          </p:cNvPr>
          <p:cNvSpPr>
            <a:spLocks noGrp="1"/>
          </p:cNvSpPr>
          <p:nvPr>
            <p:ph type="title"/>
          </p:nvPr>
        </p:nvSpPr>
        <p:spPr/>
        <p:txBody>
          <a:bodyPr>
            <a:normAutofit fontScale="90000"/>
          </a:bodyPr>
          <a:lstStyle/>
          <a:p>
            <a:r>
              <a:rPr lang="en-ID" dirty="0"/>
              <a:t>Benefits of cloud computing</a:t>
            </a:r>
            <a:br>
              <a:rPr lang="en-ID" dirty="0"/>
            </a:br>
            <a:endParaRPr lang="en-US" dirty="0"/>
          </a:p>
        </p:txBody>
      </p:sp>
      <p:sp>
        <p:nvSpPr>
          <p:cNvPr id="3" name="Text Placeholder 2">
            <a:extLst>
              <a:ext uri="{FF2B5EF4-FFF2-40B4-BE49-F238E27FC236}">
                <a16:creationId xmlns:a16="http://schemas.microsoft.com/office/drawing/2014/main" id="{268CEB44-3029-DCCF-4DB2-B2875C923598}"/>
              </a:ext>
            </a:extLst>
          </p:cNvPr>
          <p:cNvSpPr>
            <a:spLocks noGrp="1"/>
          </p:cNvSpPr>
          <p:nvPr>
            <p:ph type="body" sz="quarter" idx="10"/>
          </p:nvPr>
        </p:nvSpPr>
        <p:spPr/>
        <p:txBody>
          <a:bodyPr/>
          <a:lstStyle/>
          <a:p>
            <a:endParaRPr lang="en-US" dirty="0"/>
          </a:p>
        </p:txBody>
      </p:sp>
      <p:sp>
        <p:nvSpPr>
          <p:cNvPr id="5" name="Content Placeholder 2">
            <a:extLst>
              <a:ext uri="{FF2B5EF4-FFF2-40B4-BE49-F238E27FC236}">
                <a16:creationId xmlns:a16="http://schemas.microsoft.com/office/drawing/2014/main" id="{E8BF39E4-A31E-7A39-8568-8AFD0F321FC9}"/>
              </a:ext>
            </a:extLst>
          </p:cNvPr>
          <p:cNvSpPr>
            <a:spLocks noGrp="1"/>
          </p:cNvSpPr>
          <p:nvPr>
            <p:ph sz="quarter" idx="11"/>
          </p:nvPr>
        </p:nvSpPr>
        <p:spPr>
          <a:xfrm>
            <a:off x="1978429" y="3574473"/>
            <a:ext cx="19767666" cy="9207249"/>
          </a:xfrm>
        </p:spPr>
        <p:txBody>
          <a:bodyPr>
            <a:noAutofit/>
          </a:bodyPr>
          <a:lstStyle/>
          <a:p>
            <a:pPr marL="1028700" indent="-1028700">
              <a:spcBef>
                <a:spcPts val="1800"/>
              </a:spcBef>
              <a:buFont typeface="+mj-lt"/>
              <a:buAutoNum type="arabicPeriod"/>
            </a:pPr>
            <a:r>
              <a:rPr lang="en-ID" sz="3200" b="1" dirty="0">
                <a:highlight>
                  <a:srgbClr val="FFFF00"/>
                </a:highlight>
              </a:rPr>
              <a:t>Agility</a:t>
            </a:r>
          </a:p>
          <a:p>
            <a:pPr marL="1441450" indent="0">
              <a:spcBef>
                <a:spcPts val="1800"/>
              </a:spcBef>
              <a:buNone/>
            </a:pPr>
            <a:r>
              <a:rPr lang="en-ID" sz="3200" b="1" dirty="0"/>
              <a:t>The cloud gives you easy access to a broad range of technologies so that you can innovate faster and build nearly anything that you can imagine. </a:t>
            </a:r>
          </a:p>
          <a:p>
            <a:pPr marL="1028700" indent="-1028700">
              <a:spcBef>
                <a:spcPts val="1800"/>
              </a:spcBef>
              <a:buFont typeface="+mj-lt"/>
              <a:buAutoNum type="arabicPeriod" startAt="2"/>
            </a:pPr>
            <a:r>
              <a:rPr lang="en-ID" sz="3200" b="1" dirty="0">
                <a:highlight>
                  <a:srgbClr val="FFFF00"/>
                </a:highlight>
              </a:rPr>
              <a:t>Elasticity</a:t>
            </a:r>
          </a:p>
          <a:p>
            <a:pPr marL="1441450" indent="0">
              <a:spcBef>
                <a:spcPts val="1800"/>
              </a:spcBef>
              <a:buNone/>
            </a:pPr>
            <a:r>
              <a:rPr lang="en-ID" sz="3200" b="1" dirty="0"/>
              <a:t>With cloud computing, you don’t have to over-provision resources up front to handle peak levels of business activity in the future. Instead, you provision the amount of resources that you actually need</a:t>
            </a:r>
          </a:p>
          <a:p>
            <a:pPr marL="1028700" indent="-1028700">
              <a:spcBef>
                <a:spcPts val="1800"/>
              </a:spcBef>
              <a:buFont typeface="+mj-lt"/>
              <a:buAutoNum type="arabicPeriod" startAt="3"/>
            </a:pPr>
            <a:r>
              <a:rPr lang="en-ID" sz="3200" b="1" dirty="0">
                <a:highlight>
                  <a:srgbClr val="FFFF00"/>
                </a:highlight>
              </a:rPr>
              <a:t>Cost Savings</a:t>
            </a:r>
          </a:p>
          <a:p>
            <a:pPr marL="1441450" indent="0">
              <a:spcBef>
                <a:spcPts val="1800"/>
              </a:spcBef>
              <a:buNone/>
            </a:pPr>
            <a:r>
              <a:rPr lang="en-ID" sz="3200" b="1" dirty="0"/>
              <a:t>The cloud allows you to trade capital expenses (such as data </a:t>
            </a:r>
            <a:r>
              <a:rPr lang="en-ID" sz="3200" b="1" dirty="0" err="1"/>
              <a:t>centers</a:t>
            </a:r>
            <a:r>
              <a:rPr lang="en-ID" sz="3200" b="1" dirty="0"/>
              <a:t> and physical servers) for variable expenses, and only pay for IT as you consume it</a:t>
            </a:r>
          </a:p>
          <a:p>
            <a:pPr marL="1028700" indent="-1028700">
              <a:spcBef>
                <a:spcPts val="1800"/>
              </a:spcBef>
              <a:buFont typeface="+mj-lt"/>
              <a:buAutoNum type="arabicPeriod" startAt="4"/>
            </a:pPr>
            <a:r>
              <a:rPr lang="en-ID" sz="3200" b="1" dirty="0">
                <a:highlight>
                  <a:srgbClr val="FFFF00"/>
                </a:highlight>
              </a:rPr>
              <a:t>Deploy globally in minutes</a:t>
            </a:r>
          </a:p>
          <a:p>
            <a:pPr marL="1441450" indent="0">
              <a:spcBef>
                <a:spcPts val="1800"/>
              </a:spcBef>
              <a:buNone/>
            </a:pPr>
            <a:r>
              <a:rPr lang="en-ID" sz="3200" b="1" dirty="0"/>
              <a:t>With the cloud, you can expand to new geographic regions and deploy globally in minutes. For example, AWS has infrastructure all over the world, so you can deploy your application in multiple physical locations with just a few clicks</a:t>
            </a:r>
            <a:br>
              <a:rPr lang="en-ID" sz="3200" b="1" dirty="0"/>
            </a:br>
            <a:endParaRPr lang="en-US" sz="3200" b="1" dirty="0"/>
          </a:p>
        </p:txBody>
      </p:sp>
    </p:spTree>
    <p:extLst>
      <p:ext uri="{BB962C8B-B14F-4D97-AF65-F5344CB8AC3E}">
        <p14:creationId xmlns:p14="http://schemas.microsoft.com/office/powerpoint/2010/main" val="388175711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1CB9-FC0A-51A5-25B5-95CA9539582B}"/>
              </a:ext>
            </a:extLst>
          </p:cNvPr>
          <p:cNvSpPr>
            <a:spLocks noGrp="1"/>
          </p:cNvSpPr>
          <p:nvPr>
            <p:ph type="title"/>
          </p:nvPr>
        </p:nvSpPr>
        <p:spPr/>
        <p:txBody>
          <a:bodyPr>
            <a:normAutofit fontScale="90000"/>
          </a:bodyPr>
          <a:lstStyle/>
          <a:p>
            <a:r>
              <a:rPr lang="en-US" dirty="0"/>
              <a:t>Type Of Cloud Computing</a:t>
            </a:r>
          </a:p>
        </p:txBody>
      </p:sp>
      <p:sp>
        <p:nvSpPr>
          <p:cNvPr id="3" name="Text Placeholder 2">
            <a:extLst>
              <a:ext uri="{FF2B5EF4-FFF2-40B4-BE49-F238E27FC236}">
                <a16:creationId xmlns:a16="http://schemas.microsoft.com/office/drawing/2014/main" id="{7A8231DF-711E-61A2-043C-B3FE073832E7}"/>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F13B9FC2-A4DA-F8BA-0FBC-AC91E9C9A709}"/>
              </a:ext>
            </a:extLst>
          </p:cNvPr>
          <p:cNvSpPr txBox="1">
            <a:spLocks/>
          </p:cNvSpPr>
          <p:nvPr/>
        </p:nvSpPr>
        <p:spPr>
          <a:xfrm>
            <a:off x="2865119" y="4081187"/>
            <a:ext cx="19895127" cy="6215752"/>
          </a:xfrm>
          <a:prstGeom prst="rect">
            <a:avLst/>
          </a:prstGeom>
        </p:spPr>
        <p:txBody>
          <a:bodyPr>
            <a:no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1028700" indent="-1028700">
              <a:spcBef>
                <a:spcPts val="1200"/>
              </a:spcBef>
              <a:buFont typeface="+mj-lt"/>
              <a:buAutoNum type="arabicPeriod"/>
            </a:pPr>
            <a:r>
              <a:rPr lang="en-ID" sz="3200" b="1" dirty="0">
                <a:highlight>
                  <a:srgbClr val="FFFF00"/>
                </a:highlight>
                <a:latin typeface="Open Sans Light" panose="020B0306030504020204" pitchFamily="34" charset="0"/>
                <a:ea typeface="Open Sans Light" panose="020B0306030504020204" pitchFamily="34" charset="0"/>
                <a:cs typeface="Open Sans Light" panose="020B0306030504020204" pitchFamily="34" charset="0"/>
              </a:rPr>
              <a:t>Infrastructure as a Service (IaaS)</a:t>
            </a:r>
          </a:p>
          <a:p>
            <a:pPr marL="1069976" indent="0">
              <a:spcBef>
                <a:spcPts val="1200"/>
              </a:spcBef>
              <a:buFontTx/>
              <a:buNone/>
            </a:pPr>
            <a:r>
              <a:rPr lang="en-ID" sz="3200" b="1" dirty="0">
                <a:latin typeface="Open Sans Light" panose="020B0306030504020204" pitchFamily="34" charset="0"/>
                <a:ea typeface="Open Sans Light" panose="020B0306030504020204" pitchFamily="34" charset="0"/>
                <a:cs typeface="Open Sans Light" panose="020B0306030504020204" pitchFamily="34" charset="0"/>
              </a:rPr>
              <a:t>IaaS contains the basic building blocks for cloud IT. It typically provides access to networking features, computers (virtual or on dedicated hardware), and data storage space. </a:t>
            </a:r>
          </a:p>
          <a:p>
            <a:pPr marL="1028700" indent="-1028700">
              <a:spcBef>
                <a:spcPts val="1200"/>
              </a:spcBef>
              <a:buFont typeface="+mj-lt"/>
              <a:buAutoNum type="arabicPeriod" startAt="2"/>
            </a:pPr>
            <a:r>
              <a:rPr lang="en-ID" sz="3200" b="1" dirty="0">
                <a:highlight>
                  <a:srgbClr val="FFFF00"/>
                </a:highlight>
                <a:latin typeface="Open Sans Light" panose="020B0306030504020204" pitchFamily="34" charset="0"/>
                <a:ea typeface="Open Sans Light" panose="020B0306030504020204" pitchFamily="34" charset="0"/>
                <a:cs typeface="Open Sans Light" panose="020B0306030504020204" pitchFamily="34" charset="0"/>
              </a:rPr>
              <a:t>Platform as a Service (PaaS)</a:t>
            </a:r>
          </a:p>
          <a:p>
            <a:pPr marL="1069976" indent="0">
              <a:spcBef>
                <a:spcPts val="1200"/>
              </a:spcBef>
              <a:buFontTx/>
              <a:buNone/>
            </a:pPr>
            <a:r>
              <a:rPr lang="en-ID" sz="3200" b="1" dirty="0">
                <a:latin typeface="Open Sans Light" panose="020B0306030504020204" pitchFamily="34" charset="0"/>
                <a:ea typeface="Open Sans Light" panose="020B0306030504020204" pitchFamily="34" charset="0"/>
                <a:cs typeface="Open Sans Light" panose="020B0306030504020204" pitchFamily="34" charset="0"/>
              </a:rPr>
              <a:t>PaaS removes the need for you to manage underlying infrastructure (usually hardware and operating systems), and allows you to focus on the deployment and management of your applications. </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1152524" indent="-1028700">
              <a:spcBef>
                <a:spcPts val="1200"/>
              </a:spcBef>
              <a:buFont typeface="+mj-lt"/>
              <a:buAutoNum type="arabicPeriod" startAt="3"/>
            </a:pPr>
            <a:r>
              <a:rPr lang="en-ID" sz="3200" b="1" dirty="0">
                <a:highlight>
                  <a:srgbClr val="FFFF00"/>
                </a:highlight>
                <a:latin typeface="Open Sans Light" panose="020B0306030504020204" pitchFamily="34" charset="0"/>
                <a:ea typeface="Open Sans Light" panose="020B0306030504020204" pitchFamily="34" charset="0"/>
                <a:cs typeface="Open Sans Light" panose="020B0306030504020204" pitchFamily="34" charset="0"/>
              </a:rPr>
              <a:t>Software as a Service (SaaS)</a:t>
            </a:r>
          </a:p>
          <a:p>
            <a:pPr marL="1069976" indent="0">
              <a:spcBef>
                <a:spcPts val="1200"/>
              </a:spcBef>
              <a:buFontTx/>
              <a:buNone/>
            </a:pPr>
            <a:r>
              <a:rPr lang="en-ID" sz="3200" b="1" dirty="0">
                <a:latin typeface="Open Sans Light" panose="020B0306030504020204" pitchFamily="34" charset="0"/>
                <a:ea typeface="Open Sans Light" panose="020B0306030504020204" pitchFamily="34" charset="0"/>
                <a:cs typeface="Open Sans Light" panose="020B0306030504020204" pitchFamily="34" charset="0"/>
              </a:rPr>
              <a:t>SaaS provides you with a complete product that is run and managed by the service provider. In most cases, people referring to SaaS are referring to end-user applications (such as web-based email). </a:t>
            </a:r>
          </a:p>
        </p:txBody>
      </p:sp>
    </p:spTree>
    <p:extLst>
      <p:ext uri="{BB962C8B-B14F-4D97-AF65-F5344CB8AC3E}">
        <p14:creationId xmlns:p14="http://schemas.microsoft.com/office/powerpoint/2010/main" val="157852594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573F8-4264-F38D-9883-D3FE982ED27A}"/>
              </a:ext>
            </a:extLst>
          </p:cNvPr>
          <p:cNvSpPr>
            <a:spLocks noGrp="1"/>
          </p:cNvSpPr>
          <p:nvPr>
            <p:ph type="title"/>
          </p:nvPr>
        </p:nvSpPr>
        <p:spPr/>
        <p:txBody>
          <a:bodyPr>
            <a:normAutofit fontScale="90000"/>
          </a:bodyPr>
          <a:lstStyle/>
          <a:p>
            <a:r>
              <a:rPr lang="en-US" dirty="0"/>
              <a:t>Cloud Service</a:t>
            </a:r>
          </a:p>
        </p:txBody>
      </p:sp>
      <p:sp>
        <p:nvSpPr>
          <p:cNvPr id="3" name="Text Placeholder 2">
            <a:extLst>
              <a:ext uri="{FF2B5EF4-FFF2-40B4-BE49-F238E27FC236}">
                <a16:creationId xmlns:a16="http://schemas.microsoft.com/office/drawing/2014/main" id="{728F93F1-992A-3540-F730-C56CDA98A8C1}"/>
              </a:ext>
            </a:extLst>
          </p:cNvPr>
          <p:cNvSpPr>
            <a:spLocks noGrp="1"/>
          </p:cNvSpPr>
          <p:nvPr>
            <p:ph type="body" sz="quarter" idx="10"/>
          </p:nvPr>
        </p:nvSpPr>
        <p:spPr/>
        <p:txBody>
          <a:bodyPr/>
          <a:lstStyle/>
          <a:p>
            <a:endParaRPr lang="en-US"/>
          </a:p>
        </p:txBody>
      </p:sp>
      <p:grpSp>
        <p:nvGrpSpPr>
          <p:cNvPr id="5" name="Group 4">
            <a:extLst>
              <a:ext uri="{FF2B5EF4-FFF2-40B4-BE49-F238E27FC236}">
                <a16:creationId xmlns:a16="http://schemas.microsoft.com/office/drawing/2014/main" id="{D43457B9-B9A8-F9E0-C440-AF07BBD17677}"/>
              </a:ext>
            </a:extLst>
          </p:cNvPr>
          <p:cNvGrpSpPr/>
          <p:nvPr/>
        </p:nvGrpSpPr>
        <p:grpSpPr>
          <a:xfrm>
            <a:off x="5522741" y="3895629"/>
            <a:ext cx="13964444" cy="6135931"/>
            <a:chOff x="5161815" y="4298906"/>
            <a:chExt cx="13964444" cy="6135931"/>
          </a:xfrm>
        </p:grpSpPr>
        <p:sp>
          <p:nvSpPr>
            <p:cNvPr id="6" name="Content Placeholder 6">
              <a:extLst>
                <a:ext uri="{FF2B5EF4-FFF2-40B4-BE49-F238E27FC236}">
                  <a16:creationId xmlns:a16="http://schemas.microsoft.com/office/drawing/2014/main" id="{8248F3AC-F793-0870-4B53-9EA994F9E31B}"/>
                </a:ext>
              </a:extLst>
            </p:cNvPr>
            <p:cNvSpPr txBox="1">
              <a:spLocks/>
            </p:cNvSpPr>
            <p:nvPr/>
          </p:nvSpPr>
          <p:spPr>
            <a:xfrm>
              <a:off x="5161815" y="4298906"/>
              <a:ext cx="3829786" cy="2161084"/>
            </a:xfrm>
            <a:prstGeom prst="round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vert="horz" lIns="243840" tIns="121920" rIns="243840" bIns="12192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IaaS</a:t>
              </a:r>
            </a:p>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r>
                <a:rPr lang="en-US" sz="32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infrastructure as a service</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7" name="TextBox 6">
              <a:extLst>
                <a:ext uri="{FF2B5EF4-FFF2-40B4-BE49-F238E27FC236}">
                  <a16:creationId xmlns:a16="http://schemas.microsoft.com/office/drawing/2014/main" id="{2EDD11AE-04E6-B72C-58B4-F0AE9A9555A7}"/>
                </a:ext>
              </a:extLst>
            </p:cNvPr>
            <p:cNvSpPr txBox="1"/>
            <p:nvPr/>
          </p:nvSpPr>
          <p:spPr>
            <a:xfrm>
              <a:off x="5958971" y="8865177"/>
              <a:ext cx="3045470" cy="1569660"/>
            </a:xfrm>
            <a:prstGeom prst="rect">
              <a:avLst/>
            </a:prstGeom>
            <a:noFill/>
          </p:spPr>
          <p:txBody>
            <a:bodyPr wrap="square" rtlCol="0">
              <a:spAutoFit/>
            </a:bodyPr>
            <a:lstStyle/>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More control</a:t>
              </a:r>
              <a:br>
                <a:rPr lang="en-US" sz="3200" b="1" dirty="0">
                  <a:latin typeface="Open Sans Light" panose="020B0306030504020204" pitchFamily="34" charset="0"/>
                  <a:ea typeface="Open Sans Light" panose="020B0306030504020204" pitchFamily="34" charset="0"/>
                  <a:cs typeface="Open Sans Light" panose="020B0306030504020204" pitchFamily="34" charset="0"/>
                </a:rPr>
              </a:b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over IT resources</a:t>
              </a:r>
            </a:p>
          </p:txBody>
        </p:sp>
        <p:sp>
          <p:nvSpPr>
            <p:cNvPr id="8" name="Content Placeholder 6">
              <a:extLst>
                <a:ext uri="{FF2B5EF4-FFF2-40B4-BE49-F238E27FC236}">
                  <a16:creationId xmlns:a16="http://schemas.microsoft.com/office/drawing/2014/main" id="{FD48A90D-97E0-1EBD-4BF1-E2C63F3F676A}"/>
                </a:ext>
              </a:extLst>
            </p:cNvPr>
            <p:cNvSpPr txBox="1">
              <a:spLocks/>
            </p:cNvSpPr>
            <p:nvPr/>
          </p:nvSpPr>
          <p:spPr>
            <a:xfrm>
              <a:off x="10279032" y="4317850"/>
              <a:ext cx="3825936" cy="2160236"/>
            </a:xfrm>
            <a:prstGeom prst="roundRect">
              <a:avLst/>
            </a:prstGeom>
            <a:ln w="28575">
              <a:solidFill>
                <a:schemeClr val="accent2"/>
              </a:solidFill>
            </a:ln>
          </p:spPr>
          <p:style>
            <a:lnRef idx="2">
              <a:schemeClr val="accent2"/>
            </a:lnRef>
            <a:fillRef idx="1">
              <a:schemeClr val="lt1"/>
            </a:fillRef>
            <a:effectRef idx="0">
              <a:schemeClr val="accent2"/>
            </a:effectRef>
            <a:fontRef idx="minor">
              <a:schemeClr val="dk1"/>
            </a:fontRef>
          </p:style>
          <p:txBody>
            <a:bodyPr vert="horz" lIns="243840" tIns="121920" rIns="243840" bIns="12192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PaaS</a:t>
              </a:r>
            </a:p>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r>
                <a:rPr lang="en-US" sz="32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platform as a service</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9" name="Content Placeholder 6">
              <a:extLst>
                <a:ext uri="{FF2B5EF4-FFF2-40B4-BE49-F238E27FC236}">
                  <a16:creationId xmlns:a16="http://schemas.microsoft.com/office/drawing/2014/main" id="{0B2CEEF7-9D60-0602-3151-9050B1370A9F}"/>
                </a:ext>
              </a:extLst>
            </p:cNvPr>
            <p:cNvSpPr txBox="1">
              <a:spLocks/>
            </p:cNvSpPr>
            <p:nvPr/>
          </p:nvSpPr>
          <p:spPr>
            <a:xfrm>
              <a:off x="15204396" y="4354792"/>
              <a:ext cx="3825936" cy="2160236"/>
            </a:xfrm>
            <a:prstGeom prst="roundRect">
              <a:avLst/>
            </a:prstGeom>
            <a:ln w="28575">
              <a:solidFill>
                <a:schemeClr val="accent6"/>
              </a:solidFill>
            </a:ln>
          </p:spPr>
          <p:style>
            <a:lnRef idx="2">
              <a:schemeClr val="accent4"/>
            </a:lnRef>
            <a:fillRef idx="1">
              <a:schemeClr val="lt1"/>
            </a:fillRef>
            <a:effectRef idx="0">
              <a:schemeClr val="accent4"/>
            </a:effectRef>
            <a:fontRef idx="minor">
              <a:schemeClr val="dk1"/>
            </a:fontRef>
          </p:style>
          <p:txBody>
            <a:bodyPr vert="horz" lIns="243840" tIns="121920" rIns="243840" bIns="12192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SaaS</a:t>
              </a:r>
            </a:p>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r>
                <a:rPr lang="en-US" sz="3200" b="1"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software as a service</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10" name="TextBox 9">
              <a:extLst>
                <a:ext uri="{FF2B5EF4-FFF2-40B4-BE49-F238E27FC236}">
                  <a16:creationId xmlns:a16="http://schemas.microsoft.com/office/drawing/2014/main" id="{84CBD3EC-59A1-63FD-B8A0-9DBFB80D6C4C}"/>
                </a:ext>
              </a:extLst>
            </p:cNvPr>
            <p:cNvSpPr txBox="1"/>
            <p:nvPr/>
          </p:nvSpPr>
          <p:spPr>
            <a:xfrm>
              <a:off x="15945527" y="8672841"/>
              <a:ext cx="3045470" cy="1569660"/>
            </a:xfrm>
            <a:prstGeom prst="rect">
              <a:avLst/>
            </a:prstGeom>
            <a:noFill/>
          </p:spPr>
          <p:txBody>
            <a:bodyPr wrap="square" rtlCol="0">
              <a:spAutoFit/>
            </a:bodyPr>
            <a:lstStyle/>
            <a:p>
              <a:pPr algn="ct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Less control</a:t>
              </a:r>
              <a:br>
                <a:rPr lang="en-US" sz="3200" b="1" dirty="0">
                  <a:latin typeface="Open Sans Light" panose="020B0306030504020204" pitchFamily="34" charset="0"/>
                  <a:ea typeface="Open Sans Light" panose="020B0306030504020204" pitchFamily="34" charset="0"/>
                  <a:cs typeface="Open Sans Light" panose="020B0306030504020204" pitchFamily="34" charset="0"/>
                </a:rPr>
              </a:b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over IT resources</a:t>
              </a:r>
            </a:p>
          </p:txBody>
        </p:sp>
        <p:sp>
          <p:nvSpPr>
            <p:cNvPr id="11" name="Right Arrow 8" descr="Right-arrow going from iaas to saas.">
              <a:extLst>
                <a:ext uri="{FF2B5EF4-FFF2-40B4-BE49-F238E27FC236}">
                  <a16:creationId xmlns:a16="http://schemas.microsoft.com/office/drawing/2014/main" id="{39C89C53-B724-E805-FE6C-07DCD279426F}"/>
                </a:ext>
              </a:extLst>
            </p:cNvPr>
            <p:cNvSpPr/>
            <p:nvPr/>
          </p:nvSpPr>
          <p:spPr>
            <a:xfrm>
              <a:off x="5257741" y="6858001"/>
              <a:ext cx="13868518" cy="957438"/>
            </a:xfrm>
            <a:prstGeom prst="rightArrow">
              <a:avLst/>
            </a:prstGeom>
            <a:gradFill flip="none" rotWithShape="1">
              <a:gsLst>
                <a:gs pos="0">
                  <a:schemeClr val="accent3"/>
                </a:gs>
                <a:gs pos="50000">
                  <a:schemeClr val="accent2"/>
                </a:gs>
                <a:gs pos="100000">
                  <a:schemeClr val="accent6"/>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86544526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1B34D-94DB-98EB-C84A-321A18819A80}"/>
              </a:ext>
            </a:extLst>
          </p:cNvPr>
          <p:cNvSpPr>
            <a:spLocks noGrp="1"/>
          </p:cNvSpPr>
          <p:nvPr>
            <p:ph type="title"/>
          </p:nvPr>
        </p:nvSpPr>
        <p:spPr/>
        <p:txBody>
          <a:bodyPr>
            <a:normAutofit fontScale="90000"/>
          </a:bodyPr>
          <a:lstStyle/>
          <a:p>
            <a:r>
              <a:rPr lang="en-US" dirty="0"/>
              <a:t>Amazon Web Services</a:t>
            </a:r>
          </a:p>
        </p:txBody>
      </p:sp>
      <p:sp>
        <p:nvSpPr>
          <p:cNvPr id="3" name="Text Placeholder 2">
            <a:extLst>
              <a:ext uri="{FF2B5EF4-FFF2-40B4-BE49-F238E27FC236}">
                <a16:creationId xmlns:a16="http://schemas.microsoft.com/office/drawing/2014/main" id="{680BB43F-64EF-61F8-140B-B1704DDCE1A8}"/>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F120A3CF-12F8-F4B2-5477-1E294EBB9FD9}"/>
              </a:ext>
            </a:extLst>
          </p:cNvPr>
          <p:cNvSpPr>
            <a:spLocks noGrp="1"/>
          </p:cNvSpPr>
          <p:nvPr>
            <p:ph sz="quarter" idx="11"/>
          </p:nvPr>
        </p:nvSpPr>
        <p:spPr>
          <a:xfrm>
            <a:off x="2876203" y="3970713"/>
            <a:ext cx="19451782" cy="6353694"/>
          </a:xfrm>
        </p:spPr>
        <p:txBody>
          <a:bodyPr>
            <a:normAutofit/>
          </a:bodyPr>
          <a:lstStyle/>
          <a:p>
            <a:r>
              <a:rPr lang="en-US" sz="3200" b="1" dirty="0"/>
              <a:t>In this course we use Amazon EC2 (Elastic Compute Cloud)</a:t>
            </a:r>
          </a:p>
          <a:p>
            <a:pPr lvl="1"/>
            <a:r>
              <a:rPr lang="en-ID" sz="3200" b="1" dirty="0"/>
              <a:t>Amazon Elastic Compute Cloud (Amazon EC2) provides scalable computing capacity in the Amazon Web Services (AWS) Cloud. Using Amazon EC2 eliminates your need to invest in hardware up front, so you can develop and deploy applications faster. </a:t>
            </a:r>
          </a:p>
          <a:p>
            <a:pPr lvl="1"/>
            <a:r>
              <a:rPr lang="en-ID" sz="3200" b="1" dirty="0"/>
              <a:t>We can use Amazon EC2 to launch as many or as few virtual servers as you need, configure security and networking, and manage storage. Amazon EC2 enables you to scale up or down to handle changes in requirements or spikes in popularity, reducing your need to forecast traffic.</a:t>
            </a:r>
            <a:br>
              <a:rPr lang="en-ID" sz="3200" b="1" dirty="0"/>
            </a:br>
            <a:endParaRPr lang="en-US" sz="3200" b="1" dirty="0"/>
          </a:p>
        </p:txBody>
      </p:sp>
    </p:spTree>
    <p:extLst>
      <p:ext uri="{BB962C8B-B14F-4D97-AF65-F5344CB8AC3E}">
        <p14:creationId xmlns:p14="http://schemas.microsoft.com/office/powerpoint/2010/main" val="280860525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F88C-8CD4-E115-CD78-A634BF25A768}"/>
              </a:ext>
            </a:extLst>
          </p:cNvPr>
          <p:cNvSpPr>
            <a:spLocks noGrp="1"/>
          </p:cNvSpPr>
          <p:nvPr>
            <p:ph type="title"/>
          </p:nvPr>
        </p:nvSpPr>
        <p:spPr/>
        <p:txBody>
          <a:bodyPr>
            <a:normAutofit fontScale="90000"/>
          </a:bodyPr>
          <a:lstStyle/>
          <a:p>
            <a:r>
              <a:rPr lang="en-US" dirty="0"/>
              <a:t>Feature AWS EC2</a:t>
            </a:r>
          </a:p>
        </p:txBody>
      </p:sp>
      <p:sp>
        <p:nvSpPr>
          <p:cNvPr id="3" name="Text Placeholder 2">
            <a:extLst>
              <a:ext uri="{FF2B5EF4-FFF2-40B4-BE49-F238E27FC236}">
                <a16:creationId xmlns:a16="http://schemas.microsoft.com/office/drawing/2014/main" id="{259A28DE-304D-2C88-CC80-1B2DDCD5739C}"/>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5EC86CC4-3EFA-10FD-D58E-9A116F66BE30}"/>
              </a:ext>
            </a:extLst>
          </p:cNvPr>
          <p:cNvSpPr>
            <a:spLocks noGrp="1"/>
          </p:cNvSpPr>
          <p:nvPr>
            <p:ph sz="quarter" idx="11"/>
          </p:nvPr>
        </p:nvSpPr>
        <p:spPr>
          <a:xfrm>
            <a:off x="2167377" y="3524596"/>
            <a:ext cx="21070310" cy="9754082"/>
          </a:xfrm>
        </p:spPr>
        <p:txBody>
          <a:bodyPr>
            <a:normAutofit/>
          </a:bodyPr>
          <a:lstStyle/>
          <a:p>
            <a:pPr marL="0" indent="0">
              <a:spcBef>
                <a:spcPts val="1200"/>
              </a:spcBef>
              <a:buNone/>
            </a:pPr>
            <a:r>
              <a:rPr lang="en-ID" sz="3200" b="1" dirty="0"/>
              <a:t>Amazon EC2 provides the following features:</a:t>
            </a:r>
          </a:p>
          <a:p>
            <a:pPr>
              <a:spcBef>
                <a:spcPts val="1200"/>
              </a:spcBef>
            </a:pPr>
            <a:r>
              <a:rPr lang="en-ID" sz="3200" b="1" dirty="0"/>
              <a:t>Virtual computing environments, known as </a:t>
            </a:r>
            <a:r>
              <a:rPr lang="en-ID" sz="3200" b="1" i="1" dirty="0"/>
              <a:t>instances</a:t>
            </a:r>
            <a:endParaRPr lang="en-ID" sz="3200" b="1" dirty="0"/>
          </a:p>
          <a:p>
            <a:pPr>
              <a:spcBef>
                <a:spcPts val="1200"/>
              </a:spcBef>
            </a:pPr>
            <a:r>
              <a:rPr lang="en-ID" sz="3200" b="1" dirty="0"/>
              <a:t>Preconfigured templates for your instances, known as </a:t>
            </a:r>
            <a:r>
              <a:rPr lang="en-ID" sz="3200" b="1" i="1" dirty="0"/>
              <a:t>Amazon Machine Images (AMIs)</a:t>
            </a:r>
            <a:r>
              <a:rPr lang="en-ID" sz="3200" b="1" dirty="0"/>
              <a:t>, that package the bits you need for your server (including the operating system and additional software)</a:t>
            </a:r>
          </a:p>
          <a:p>
            <a:pPr>
              <a:spcBef>
                <a:spcPts val="1200"/>
              </a:spcBef>
            </a:pPr>
            <a:r>
              <a:rPr lang="en-ID" sz="3200" b="1" dirty="0"/>
              <a:t>Various configurations of CPU, memory, storage, and networking capacity for your instances, known as </a:t>
            </a:r>
            <a:r>
              <a:rPr lang="en-ID" sz="3200" b="1" i="1" dirty="0"/>
              <a:t>instance types</a:t>
            </a:r>
            <a:endParaRPr lang="en-ID" sz="3200" b="1" dirty="0"/>
          </a:p>
          <a:p>
            <a:pPr>
              <a:spcBef>
                <a:spcPts val="1200"/>
              </a:spcBef>
            </a:pPr>
            <a:r>
              <a:rPr lang="en-ID" sz="3200" b="1" dirty="0"/>
              <a:t>Secure login information for your instances using </a:t>
            </a:r>
            <a:r>
              <a:rPr lang="en-ID" sz="3200" b="1" i="1" dirty="0"/>
              <a:t>key pairs</a:t>
            </a:r>
            <a:r>
              <a:rPr lang="en-ID" sz="3200" b="1" dirty="0"/>
              <a:t> (AWS stores the public key, and you store the private key in a secure place)</a:t>
            </a:r>
          </a:p>
          <a:p>
            <a:pPr>
              <a:spcBef>
                <a:spcPts val="1200"/>
              </a:spcBef>
            </a:pPr>
            <a:r>
              <a:rPr lang="en-ID" sz="3200" b="1" dirty="0"/>
              <a:t>Storage volumes for temporary data that's deleted when you stop, hibernate, or terminate your instance, known as </a:t>
            </a:r>
            <a:r>
              <a:rPr lang="en-ID" sz="3200" b="1" i="1" dirty="0"/>
              <a:t>instance store volumes</a:t>
            </a:r>
            <a:endParaRPr lang="en-ID" sz="3200" b="1" dirty="0"/>
          </a:p>
          <a:p>
            <a:pPr>
              <a:spcBef>
                <a:spcPts val="1200"/>
              </a:spcBef>
            </a:pPr>
            <a:r>
              <a:rPr lang="en-ID" sz="3200" b="1" dirty="0"/>
              <a:t>Persistent storage volumes for your data using Amazon Elastic Block Store (Amazon EBS), known as </a:t>
            </a:r>
            <a:r>
              <a:rPr lang="en-ID" sz="3200" b="1" i="1" dirty="0"/>
              <a:t>Amazon EBS volumes</a:t>
            </a:r>
            <a:endParaRPr lang="en-ID" sz="3200" b="1" dirty="0"/>
          </a:p>
          <a:p>
            <a:pPr>
              <a:spcBef>
                <a:spcPts val="1200"/>
              </a:spcBef>
            </a:pPr>
            <a:r>
              <a:rPr lang="en-ID" sz="3200" b="1" dirty="0"/>
              <a:t>Multiple physical locations for your resources, such as instances and Amazon EBS volumes, known as </a:t>
            </a:r>
            <a:r>
              <a:rPr lang="en-ID" sz="3200" b="1" i="1" dirty="0"/>
              <a:t>Regions</a:t>
            </a:r>
            <a:r>
              <a:rPr lang="en-ID" sz="3200" b="1" dirty="0"/>
              <a:t> and </a:t>
            </a:r>
            <a:r>
              <a:rPr lang="en-ID" sz="3200" b="1" i="1" dirty="0"/>
              <a:t>Availability Zones</a:t>
            </a:r>
            <a:endParaRPr lang="en-ID" sz="3200" b="1" dirty="0"/>
          </a:p>
          <a:p>
            <a:pPr>
              <a:spcBef>
                <a:spcPts val="1200"/>
              </a:spcBef>
            </a:pPr>
            <a:endParaRPr lang="en-US" sz="3200" b="1" dirty="0"/>
          </a:p>
        </p:txBody>
      </p:sp>
    </p:spTree>
    <p:extLst>
      <p:ext uri="{BB962C8B-B14F-4D97-AF65-F5344CB8AC3E}">
        <p14:creationId xmlns:p14="http://schemas.microsoft.com/office/powerpoint/2010/main" val="14705794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4948-8EA6-A557-B5AC-AA62ADB8D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417F6-21A2-DA5D-9036-1D67715BD921}"/>
              </a:ext>
            </a:extLst>
          </p:cNvPr>
          <p:cNvSpPr>
            <a:spLocks noGrp="1"/>
          </p:cNvSpPr>
          <p:nvPr>
            <p:ph type="title"/>
          </p:nvPr>
        </p:nvSpPr>
        <p:spPr/>
        <p:txBody>
          <a:bodyPr>
            <a:normAutofit fontScale="90000"/>
          </a:bodyPr>
          <a:lstStyle/>
          <a:p>
            <a:r>
              <a:rPr lang="en-US" dirty="0"/>
              <a:t>Feature AWS EC2</a:t>
            </a:r>
          </a:p>
        </p:txBody>
      </p:sp>
      <p:sp>
        <p:nvSpPr>
          <p:cNvPr id="3" name="Text Placeholder 2">
            <a:extLst>
              <a:ext uri="{FF2B5EF4-FFF2-40B4-BE49-F238E27FC236}">
                <a16:creationId xmlns:a16="http://schemas.microsoft.com/office/drawing/2014/main" id="{B6D4724A-4B34-4D51-237D-879C25B7F89A}"/>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82B5E4E-DE01-D008-77D7-1FD69CB0DFA2}"/>
              </a:ext>
            </a:extLst>
          </p:cNvPr>
          <p:cNvSpPr>
            <a:spLocks noGrp="1"/>
          </p:cNvSpPr>
          <p:nvPr>
            <p:ph sz="quarter" idx="11"/>
          </p:nvPr>
        </p:nvSpPr>
        <p:spPr>
          <a:xfrm>
            <a:off x="2167377" y="3524596"/>
            <a:ext cx="21070310" cy="9754082"/>
          </a:xfrm>
        </p:spPr>
        <p:txBody>
          <a:bodyPr>
            <a:normAutofit/>
          </a:bodyPr>
          <a:lstStyle/>
          <a:p>
            <a:pPr marL="0" indent="0">
              <a:spcBef>
                <a:spcPts val="1200"/>
              </a:spcBef>
              <a:buNone/>
            </a:pPr>
            <a:r>
              <a:rPr lang="en-ID" sz="3200" b="1" dirty="0"/>
              <a:t>Amazon EC2 provides the following features:</a:t>
            </a:r>
          </a:p>
          <a:p>
            <a:pPr>
              <a:spcBef>
                <a:spcPts val="1200"/>
              </a:spcBef>
            </a:pPr>
            <a:r>
              <a:rPr lang="en-ID" sz="3200" b="1" dirty="0"/>
              <a:t>A firewall that enables you to specify the protocols, ports, and source IP ranges that can reach your instances using </a:t>
            </a:r>
            <a:r>
              <a:rPr lang="en-ID" sz="3200" b="1" i="1" dirty="0"/>
              <a:t>security groups</a:t>
            </a:r>
            <a:endParaRPr lang="en-ID" sz="3200" b="1" dirty="0"/>
          </a:p>
          <a:p>
            <a:pPr>
              <a:spcBef>
                <a:spcPts val="1200"/>
              </a:spcBef>
            </a:pPr>
            <a:r>
              <a:rPr lang="en-ID" sz="3200" b="1" dirty="0"/>
              <a:t>Static IPv4 addresses for dynamic cloud computing, known as </a:t>
            </a:r>
            <a:r>
              <a:rPr lang="en-ID" sz="3200" b="1" i="1" dirty="0"/>
              <a:t>Elastic IP addresses</a:t>
            </a:r>
            <a:endParaRPr lang="en-ID" sz="3200" b="1" dirty="0"/>
          </a:p>
          <a:p>
            <a:pPr>
              <a:spcBef>
                <a:spcPts val="1200"/>
              </a:spcBef>
            </a:pPr>
            <a:r>
              <a:rPr lang="en-ID" sz="3200" b="1" dirty="0"/>
              <a:t>Metadata, known as </a:t>
            </a:r>
            <a:r>
              <a:rPr lang="en-ID" sz="3200" b="1" i="1" dirty="0"/>
              <a:t>tags</a:t>
            </a:r>
            <a:r>
              <a:rPr lang="en-ID" sz="3200" b="1" dirty="0"/>
              <a:t>, that you can create and assign to your Amazon EC2 resources</a:t>
            </a:r>
          </a:p>
          <a:p>
            <a:pPr>
              <a:spcBef>
                <a:spcPts val="1200"/>
              </a:spcBef>
            </a:pPr>
            <a:r>
              <a:rPr lang="en-ID" sz="3200" b="1" dirty="0"/>
              <a:t>Virtual networks you can create that are logically isolated from the rest of the AWS Cloud, and that you can optionally connect to your own network, known as </a:t>
            </a:r>
            <a:r>
              <a:rPr lang="en-ID" sz="3200" b="1" i="1" dirty="0"/>
              <a:t>virtual private clouds</a:t>
            </a:r>
            <a:r>
              <a:rPr lang="en-ID" sz="3200" b="1" dirty="0"/>
              <a:t> (VPCs)</a:t>
            </a:r>
          </a:p>
          <a:p>
            <a:pPr>
              <a:spcBef>
                <a:spcPts val="1200"/>
              </a:spcBef>
            </a:pPr>
            <a:endParaRPr lang="en-US" sz="3200" b="1" dirty="0"/>
          </a:p>
        </p:txBody>
      </p:sp>
    </p:spTree>
    <p:extLst>
      <p:ext uri="{BB962C8B-B14F-4D97-AF65-F5344CB8AC3E}">
        <p14:creationId xmlns:p14="http://schemas.microsoft.com/office/powerpoint/2010/main" val="324946537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47909-E218-5504-43F2-3C8FD4A38456}"/>
              </a:ext>
            </a:extLst>
          </p:cNvPr>
          <p:cNvSpPr>
            <a:spLocks noGrp="1"/>
          </p:cNvSpPr>
          <p:nvPr>
            <p:ph type="title"/>
          </p:nvPr>
        </p:nvSpPr>
        <p:spPr/>
        <p:txBody>
          <a:bodyPr>
            <a:normAutofit fontScale="90000"/>
          </a:bodyPr>
          <a:lstStyle/>
          <a:p>
            <a:r>
              <a:rPr lang="en-US" sz="4000" dirty="0"/>
              <a:t>AWS overview product</a:t>
            </a:r>
            <a:endParaRPr lang="en-US" dirty="0"/>
          </a:p>
        </p:txBody>
      </p:sp>
      <p:sp>
        <p:nvSpPr>
          <p:cNvPr id="3" name="Text Placeholder 2">
            <a:extLst>
              <a:ext uri="{FF2B5EF4-FFF2-40B4-BE49-F238E27FC236}">
                <a16:creationId xmlns:a16="http://schemas.microsoft.com/office/drawing/2014/main" id="{576B1C0A-7A9A-1C49-6906-F892F87CFFED}"/>
              </a:ext>
            </a:extLst>
          </p:cNvPr>
          <p:cNvSpPr>
            <a:spLocks noGrp="1"/>
          </p:cNvSpPr>
          <p:nvPr>
            <p:ph type="body" sz="quarter" idx="10"/>
          </p:nvPr>
        </p:nvSpPr>
        <p:spPr/>
        <p:txBody>
          <a:bodyPr/>
          <a:lstStyle/>
          <a:p>
            <a:endParaRPr lang="en-US"/>
          </a:p>
        </p:txBody>
      </p:sp>
      <p:pic>
        <p:nvPicPr>
          <p:cNvPr id="5" name="Content Placeholder 4">
            <a:extLst>
              <a:ext uri="{FF2B5EF4-FFF2-40B4-BE49-F238E27FC236}">
                <a16:creationId xmlns:a16="http://schemas.microsoft.com/office/drawing/2014/main" id="{25CCC3DF-8DA7-29D2-A22A-E28FDABD666C}"/>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4928448" y="2382339"/>
            <a:ext cx="9768875" cy="10026474"/>
          </a:xfrm>
          <a:prstGeom prst="rect">
            <a:avLst/>
          </a:prstGeom>
        </p:spPr>
      </p:pic>
    </p:spTree>
    <p:extLst>
      <p:ext uri="{BB962C8B-B14F-4D97-AF65-F5344CB8AC3E}">
        <p14:creationId xmlns:p14="http://schemas.microsoft.com/office/powerpoint/2010/main" val="298734386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6F94B-D21E-1D9D-A1E5-592BDCA8ED82}"/>
              </a:ext>
            </a:extLst>
          </p:cNvPr>
          <p:cNvSpPr>
            <a:spLocks noGrp="1"/>
          </p:cNvSpPr>
          <p:nvPr>
            <p:ph type="title"/>
          </p:nvPr>
        </p:nvSpPr>
        <p:spPr/>
        <p:txBody>
          <a:bodyPr>
            <a:normAutofit fontScale="90000"/>
          </a:bodyPr>
          <a:lstStyle/>
          <a:p>
            <a:r>
              <a:rPr lang="en-US" dirty="0"/>
              <a:t>Example of AWS EC2</a:t>
            </a:r>
          </a:p>
        </p:txBody>
      </p:sp>
      <p:sp>
        <p:nvSpPr>
          <p:cNvPr id="3" name="Text Placeholder 2">
            <a:extLst>
              <a:ext uri="{FF2B5EF4-FFF2-40B4-BE49-F238E27FC236}">
                <a16:creationId xmlns:a16="http://schemas.microsoft.com/office/drawing/2014/main" id="{5EB017C8-9891-0716-B7D1-C7D67D6DD412}"/>
              </a:ext>
            </a:extLst>
          </p:cNvPr>
          <p:cNvSpPr>
            <a:spLocks noGrp="1"/>
          </p:cNvSpPr>
          <p:nvPr>
            <p:ph type="body" sz="quarter" idx="10"/>
          </p:nvPr>
        </p:nvSpPr>
        <p:spPr/>
        <p:txBody>
          <a:bodyPr/>
          <a:lstStyle/>
          <a:p>
            <a:endParaRPr lang="en-US"/>
          </a:p>
        </p:txBody>
      </p:sp>
      <p:pic>
        <p:nvPicPr>
          <p:cNvPr id="5" name="Picture 2" descr="&#10;    A default VPC&#10;   ">
            <a:extLst>
              <a:ext uri="{FF2B5EF4-FFF2-40B4-BE49-F238E27FC236}">
                <a16:creationId xmlns:a16="http://schemas.microsoft.com/office/drawing/2014/main" id="{68DB3BCA-D00C-8FAE-FB8E-569B03A3F190}"/>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5170517" y="3694175"/>
            <a:ext cx="10249298" cy="8606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82705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8611E-FF78-855E-4BC0-7701796E2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6DFA9-A06C-6E7D-411F-E3D194AA57C3}"/>
              </a:ext>
            </a:extLst>
          </p:cNvPr>
          <p:cNvSpPr>
            <a:spLocks noGrp="1"/>
          </p:cNvSpPr>
          <p:nvPr>
            <p:ph type="title"/>
          </p:nvPr>
        </p:nvSpPr>
        <p:spPr/>
        <p:txBody>
          <a:bodyPr>
            <a:normAutofit fontScale="90000"/>
          </a:bodyPr>
          <a:lstStyle/>
          <a:p>
            <a:r>
              <a:rPr lang="en-US" dirty="0"/>
              <a:t>Example of AWS EC2</a:t>
            </a:r>
          </a:p>
        </p:txBody>
      </p:sp>
      <p:sp>
        <p:nvSpPr>
          <p:cNvPr id="3" name="Text Placeholder 2">
            <a:extLst>
              <a:ext uri="{FF2B5EF4-FFF2-40B4-BE49-F238E27FC236}">
                <a16:creationId xmlns:a16="http://schemas.microsoft.com/office/drawing/2014/main" id="{387F91F4-9D7A-70D3-5434-74AB4F70FF6E}"/>
              </a:ext>
            </a:extLst>
          </p:cNvPr>
          <p:cNvSpPr>
            <a:spLocks noGrp="1"/>
          </p:cNvSpPr>
          <p:nvPr>
            <p:ph type="body" sz="quarter" idx="10"/>
          </p:nvPr>
        </p:nvSpPr>
        <p:spPr/>
        <p:txBody>
          <a:bodyPr/>
          <a:lstStyle/>
          <a:p>
            <a:endParaRPr lang="en-US"/>
          </a:p>
        </p:txBody>
      </p:sp>
      <p:pic>
        <p:nvPicPr>
          <p:cNvPr id="5" name="Picture 2" descr="&#10;    A default VPC&#10;   ">
            <a:extLst>
              <a:ext uri="{FF2B5EF4-FFF2-40B4-BE49-F238E27FC236}">
                <a16:creationId xmlns:a16="http://schemas.microsoft.com/office/drawing/2014/main" id="{3531E71D-1508-F01A-C2CF-2EA4243573F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5170517" y="3694175"/>
            <a:ext cx="10249298" cy="8606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1115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28550-9786-52EE-6364-45F80611F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1DD39-3C58-03F5-6106-3718C0582C39}"/>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8B68D047-330E-3C1F-AB5D-A446807B8B3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F35AD67-93C3-E4B4-964F-B39C96414E69}"/>
              </a:ext>
            </a:extLst>
          </p:cNvPr>
          <p:cNvSpPr>
            <a:spLocks noGrp="1"/>
          </p:cNvSpPr>
          <p:nvPr>
            <p:ph sz="quarter" idx="11"/>
          </p:nvPr>
        </p:nvSpPr>
        <p:spPr>
          <a:xfrm>
            <a:off x="4012693" y="4401371"/>
            <a:ext cx="13714940" cy="4522264"/>
          </a:xfrm>
        </p:spPr>
        <p:txBody>
          <a:bodyPr>
            <a:normAutofit/>
          </a:bodyPr>
          <a:lstStyle/>
          <a:p>
            <a:pPr marL="514350" indent="-514350">
              <a:buFont typeface="+mj-lt"/>
              <a:buAutoNum type="arabicPeriod"/>
            </a:pPr>
            <a:r>
              <a:rPr lang="en-US" sz="3200" b="1" dirty="0"/>
              <a:t>Mention 5 core products in Cloud systems (AWS)?</a:t>
            </a:r>
          </a:p>
        </p:txBody>
      </p:sp>
    </p:spTree>
    <p:extLst>
      <p:ext uri="{BB962C8B-B14F-4D97-AF65-F5344CB8AC3E}">
        <p14:creationId xmlns:p14="http://schemas.microsoft.com/office/powerpoint/2010/main" val="374598135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959C-4953-F280-8F3E-E96B200A7CE2}"/>
              </a:ext>
            </a:extLst>
          </p:cNvPr>
          <p:cNvSpPr>
            <a:spLocks noGrp="1"/>
          </p:cNvSpPr>
          <p:nvPr>
            <p:ph type="title"/>
          </p:nvPr>
        </p:nvSpPr>
        <p:spPr/>
        <p:txBody>
          <a:bodyPr>
            <a:normAutofit fontScale="90000"/>
          </a:bodyPr>
          <a:lstStyle/>
          <a:p>
            <a:r>
              <a:rPr lang="en-US" dirty="0">
                <a:latin typeface="Open Sans ExtraBold" panose="020B0906030804020204" pitchFamily="34" charset="0"/>
                <a:ea typeface="Open Sans ExtraBold" panose="020B0906030804020204" pitchFamily="34" charset="0"/>
                <a:cs typeface="Open Sans ExtraBold" panose="020B0906030804020204" pitchFamily="34" charset="0"/>
              </a:rPr>
              <a:t>References</a:t>
            </a:r>
            <a:endParaRPr lang="en-US" dirty="0"/>
          </a:p>
        </p:txBody>
      </p:sp>
      <p:sp>
        <p:nvSpPr>
          <p:cNvPr id="3" name="Text Placeholder 2">
            <a:extLst>
              <a:ext uri="{FF2B5EF4-FFF2-40B4-BE49-F238E27FC236}">
                <a16:creationId xmlns:a16="http://schemas.microsoft.com/office/drawing/2014/main" id="{D0ED7752-5A55-6930-C9FA-43D826EC4531}"/>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6ADE253-2CB8-32FF-CDC2-9DA52CF50C57}"/>
              </a:ext>
            </a:extLst>
          </p:cNvPr>
          <p:cNvSpPr>
            <a:spLocks noGrp="1"/>
          </p:cNvSpPr>
          <p:nvPr>
            <p:ph sz="quarter" idx="11"/>
          </p:nvPr>
        </p:nvSpPr>
        <p:spPr>
          <a:xfrm>
            <a:off x="2916195" y="3603028"/>
            <a:ext cx="19053467" cy="8957939"/>
          </a:xfrm>
        </p:spPr>
        <p:txBody>
          <a:bodyPr>
            <a:noAutofit/>
          </a:bodyPr>
          <a:lstStyle/>
          <a:p>
            <a:pPr algn="just"/>
            <a:r>
              <a:rPr lang="en-US" sz="3200" b="1" dirty="0" err="1">
                <a:latin typeface="Open Sans Light" panose="020B0306030504020204" pitchFamily="34" charset="0"/>
                <a:ea typeface="Open Sans Light" panose="020B0306030504020204" pitchFamily="34" charset="0"/>
                <a:cs typeface="Open Sans Light" panose="020B0306030504020204" pitchFamily="34" charset="0"/>
              </a:rPr>
              <a:t>Forouzan</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 B. A. (2021). Data Communications and Networking with TCP/IP Protocol Suite. 6th Ed. New York: McGraw-Hill. ISBN: 978-1-26-436335-3.</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https://aws.amazon.com/what-is-cloud-computing/?nc1=f_cc</a:t>
            </a:r>
            <a:endParaRPr lang="id-ID" sz="3200" b="1" dirty="0">
              <a:latin typeface="Open Sans Light" panose="020B0306030504020204" pitchFamily="34" charset="0"/>
              <a:ea typeface="Open Sans Light" panose="020B0306030504020204" pitchFamily="34" charset="0"/>
              <a:cs typeface="Open Sans Light" panose="020B0306030504020204" pitchFamily="34" charset="0"/>
            </a:endParaRPr>
          </a:p>
          <a:p>
            <a:pPr algn="just"/>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43213615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E48F4F-144E-B982-E51F-76F732804B3A}"/>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B7D930EC-C957-C09C-7359-7312156E8E93}"/>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FDF18AEA-5401-B692-325F-9E8AD981816E}"/>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2813413609"/>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ppt binus template</Template>
  <TotalTime>3</TotalTime>
  <Words>939</Words>
  <Application>Microsoft Office PowerPoint</Application>
  <PresentationFormat>Custom</PresentationFormat>
  <Paragraphs>67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OCRB</vt:lpstr>
      <vt:lpstr>Arial</vt:lpstr>
      <vt:lpstr>Open Sans ExtraBold</vt:lpstr>
      <vt:lpstr>Open Sans Semibold</vt:lpstr>
      <vt:lpstr>Open Sans Light</vt:lpstr>
      <vt:lpstr>21_BasicWhite</vt:lpstr>
      <vt:lpstr>Computer network  session 06</vt:lpstr>
      <vt:lpstr>Cloud Computing</vt:lpstr>
      <vt:lpstr>Cloud Computing</vt:lpstr>
      <vt:lpstr>Benefits of cloud computing </vt:lpstr>
      <vt:lpstr>Type Of Cloud Computing</vt:lpstr>
      <vt:lpstr>Cloud Service</vt:lpstr>
      <vt:lpstr>Amazon Web Services</vt:lpstr>
      <vt:lpstr>Feature AWS EC2</vt:lpstr>
      <vt:lpstr>Feature AWS EC2</vt:lpstr>
      <vt:lpstr>AWS overview product</vt:lpstr>
      <vt:lpstr>Example of AWS EC2</vt:lpstr>
      <vt:lpstr>Example of AWS EC2</vt:lpstr>
      <vt:lpstr>EXERCISE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2024-12-13T13:08:04Z</dcterms:created>
  <dcterms:modified xsi:type="dcterms:W3CDTF">2024-12-14T01:59:52Z</dcterms:modified>
</cp:coreProperties>
</file>