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3"/>
  </p:notesMasterIdLst>
  <p:sldIdLst>
    <p:sldId id="258" r:id="rId2"/>
    <p:sldId id="259" r:id="rId3"/>
    <p:sldId id="260" r:id="rId4"/>
    <p:sldId id="407" r:id="rId5"/>
    <p:sldId id="408" r:id="rId6"/>
    <p:sldId id="409" r:id="rId7"/>
    <p:sldId id="410" r:id="rId8"/>
    <p:sldId id="411" r:id="rId9"/>
    <p:sldId id="412" r:id="rId10"/>
    <p:sldId id="413" r:id="rId11"/>
    <p:sldId id="414" r:id="rId12"/>
    <p:sldId id="415" r:id="rId13"/>
    <p:sldId id="416" r:id="rId14"/>
    <p:sldId id="417" r:id="rId15"/>
    <p:sldId id="418" r:id="rId16"/>
    <p:sldId id="420" r:id="rId17"/>
    <p:sldId id="422" r:id="rId18"/>
    <p:sldId id="423" r:id="rId19"/>
    <p:sldId id="421" r:id="rId20"/>
    <p:sldId id="424" r:id="rId21"/>
    <p:sldId id="425" r:id="rId22"/>
    <p:sldId id="426" r:id="rId23"/>
    <p:sldId id="427" r:id="rId24"/>
    <p:sldId id="428" r:id="rId25"/>
    <p:sldId id="429" r:id="rId26"/>
    <p:sldId id="430" r:id="rId27"/>
    <p:sldId id="431" r:id="rId28"/>
    <p:sldId id="432" r:id="rId29"/>
    <p:sldId id="443" r:id="rId30"/>
    <p:sldId id="444" r:id="rId31"/>
    <p:sldId id="445" r:id="rId32"/>
  </p:sldIdLst>
  <p:sldSz cx="24384000" cy="13716000"/>
  <p:notesSz cx="6858000" cy="9144000"/>
  <p:embeddedFontLst>
    <p:embeddedFont>
      <p:font typeface="OCRB" panose="020B0609020202020204" pitchFamily="49" charset="0"/>
      <p:regular r:id="rId34"/>
    </p:embeddedFont>
    <p:embeddedFont>
      <p:font typeface="Open Sans ExtraBold" panose="020B0906030804020204" pitchFamily="34" charset="0"/>
      <p:bold r:id="rId35"/>
      <p:italic r:id="rId36"/>
      <p:boldItalic r:id="rId37"/>
    </p:embeddedFont>
    <p:embeddedFont>
      <p:font typeface="Open Sans Light" panose="020B0306030504020204" pitchFamily="34" charset="0"/>
      <p:regular r:id="rId38"/>
      <p:italic r:id="rId39"/>
    </p:embeddedFont>
    <p:embeddedFont>
      <p:font typeface="Open Sans Semibold" panose="020B0706030804020204" pitchFamily="34" charset="0"/>
      <p:regular r:id="rId40"/>
      <p:bold r:id="rId41"/>
      <p:italic r:id="rId42"/>
      <p:boldItalic r:id="rId43"/>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6197"/>
  </p:normalViewPr>
  <p:slideViewPr>
    <p:cSldViewPr snapToGrid="0" snapToObjects="1">
      <p:cViewPr varScale="1">
        <p:scale>
          <a:sx n="41" d="100"/>
          <a:sy n="41" d="100"/>
        </p:scale>
        <p:origin x="490" y="72"/>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INTRODUCTION to networks</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COMPUTER NETWORKS</a:t>
            </a:r>
            <a:br>
              <a:rPr lang="en-US" dirty="0"/>
            </a:br>
            <a:r>
              <a:rPr lang="en-US" dirty="0"/>
              <a:t>SESSION 01</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Santoso Budijono</a:t>
            </a:r>
          </a:p>
        </p:txBody>
      </p:sp>
    </p:spTree>
    <p:extLst>
      <p:ext uri="{BB962C8B-B14F-4D97-AF65-F5344CB8AC3E}">
        <p14:creationId xmlns:p14="http://schemas.microsoft.com/office/powerpoint/2010/main" val="345121438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BB631-69A5-F762-9353-04A0C5FB25A4}"/>
              </a:ext>
            </a:extLst>
          </p:cNvPr>
          <p:cNvSpPr>
            <a:spLocks noGrp="1"/>
          </p:cNvSpPr>
          <p:nvPr>
            <p:ph type="title"/>
          </p:nvPr>
        </p:nvSpPr>
        <p:spPr/>
        <p:txBody>
          <a:bodyPr>
            <a:normAutofit fontScale="90000"/>
          </a:bodyPr>
          <a:lstStyle/>
          <a:p>
            <a:r>
              <a:rPr lang="en-US" dirty="0"/>
              <a:t>Learning outcomes</a:t>
            </a:r>
          </a:p>
        </p:txBody>
      </p:sp>
      <p:sp>
        <p:nvSpPr>
          <p:cNvPr id="3" name="Text Placeholder 2">
            <a:extLst>
              <a:ext uri="{FF2B5EF4-FFF2-40B4-BE49-F238E27FC236}">
                <a16:creationId xmlns:a16="http://schemas.microsoft.com/office/drawing/2014/main" id="{CEF87F28-4EF1-8898-DF4B-2EB677F1FA88}"/>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19FC1A27-A89D-104D-DA0B-474E66F0BD0D}"/>
              </a:ext>
            </a:extLst>
          </p:cNvPr>
          <p:cNvSpPr>
            <a:spLocks noGrp="1"/>
          </p:cNvSpPr>
          <p:nvPr>
            <p:ph sz="quarter" idx="11"/>
          </p:nvPr>
        </p:nvSpPr>
        <p:spPr/>
        <p:txBody>
          <a:bodyPr>
            <a:normAutofit/>
          </a:bodyPr>
          <a:lstStyle/>
          <a:p>
            <a:pPr marL="0" marR="0" indent="0" algn="l" rtl="0" eaLnBrk="1" fontAlgn="t" latinLnBrk="0" hangingPunct="1">
              <a:spcBef>
                <a:spcPts val="0"/>
              </a:spcBef>
              <a:spcAft>
                <a:spcPts val="0"/>
              </a:spcAft>
              <a:buNone/>
            </a:pPr>
            <a:r>
              <a:rPr lang="en-ID" sz="3200" b="1" i="0" u="none" strike="noStrike" kern="1200" dirty="0">
                <a:solidFill>
                  <a:srgbClr val="000000"/>
                </a:solidFill>
                <a:effectLst/>
                <a:latin typeface="Open Sans Light" panose="020B0306030504020204" pitchFamily="34" charset="0"/>
                <a:ea typeface="Open Sans Light" panose="020B0306030504020204" pitchFamily="34" charset="0"/>
                <a:cs typeface="Open Sans Light" panose="020B0306030504020204" pitchFamily="34" charset="0"/>
              </a:rPr>
              <a:t>LO 1: Describe basic structures of network</a:t>
            </a: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a:p>
            <a:pPr marL="0" marR="0" indent="0" algn="l" rtl="0" eaLnBrk="1" fontAlgn="t" latinLnBrk="0" hangingPunct="1">
              <a:spcBef>
                <a:spcPts val="0"/>
              </a:spcBef>
              <a:spcAft>
                <a:spcPts val="0"/>
              </a:spcAft>
              <a:buNone/>
            </a:pPr>
            <a:r>
              <a:rPr lang="en-ID" sz="3200" b="1" i="0" u="none" strike="noStrike" kern="1200" dirty="0">
                <a:solidFill>
                  <a:srgbClr val="000000"/>
                </a:solidFill>
                <a:effectLst/>
                <a:latin typeface="Open Sans Light" panose="020B0306030504020204" pitchFamily="34" charset="0"/>
                <a:ea typeface="Open Sans Light" panose="020B0306030504020204" pitchFamily="34" charset="0"/>
                <a:cs typeface="Open Sans Light" panose="020B0306030504020204" pitchFamily="34" charset="0"/>
              </a:rPr>
              <a:t>LO 2: Explain basic concepts of network</a:t>
            </a:r>
            <a:endParaRPr lang="en-US" sz="3200" b="1" i="0" u="none" strike="noStrike" dirty="0">
              <a:effectLst/>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362737665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CCCEA-4B7A-0083-FFDD-8BB7177B56E0}"/>
              </a:ext>
            </a:extLst>
          </p:cNvPr>
          <p:cNvSpPr>
            <a:spLocks noGrp="1"/>
          </p:cNvSpPr>
          <p:nvPr>
            <p:ph type="title"/>
          </p:nvPr>
        </p:nvSpPr>
        <p:spPr/>
        <p:txBody>
          <a:bodyPr>
            <a:normAutofit fontScale="90000"/>
          </a:bodyPr>
          <a:lstStyle/>
          <a:p>
            <a:r>
              <a:rPr lang="en-US" dirty="0"/>
              <a:t>Outline</a:t>
            </a:r>
          </a:p>
        </p:txBody>
      </p:sp>
      <p:sp>
        <p:nvSpPr>
          <p:cNvPr id="3" name="Text Placeholder 2">
            <a:extLst>
              <a:ext uri="{FF2B5EF4-FFF2-40B4-BE49-F238E27FC236}">
                <a16:creationId xmlns:a16="http://schemas.microsoft.com/office/drawing/2014/main" id="{629FDC97-E3CE-649A-13A1-EEF0E45FA98F}"/>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936D977A-AA13-C477-CA53-BAEB98C2F418}"/>
              </a:ext>
            </a:extLst>
          </p:cNvPr>
          <p:cNvSpPr>
            <a:spLocks noGrp="1"/>
          </p:cNvSpPr>
          <p:nvPr>
            <p:ph sz="quarter" idx="11"/>
          </p:nvPr>
        </p:nvSpPr>
        <p:spPr>
          <a:xfrm>
            <a:off x="2743200" y="3888018"/>
            <a:ext cx="16458670" cy="7955924"/>
          </a:xfrm>
        </p:spPr>
        <p:txBody>
          <a:bodyPr>
            <a:noAutofit/>
          </a:bodyPr>
          <a:lstStyle/>
          <a:p>
            <a:pPr marL="91440">
              <a:lnSpc>
                <a:spcPct val="150000"/>
              </a:lnSpc>
              <a:spcBef>
                <a:spcPts val="0"/>
              </a:spcBef>
              <a:spcAft>
                <a:spcPts val="600"/>
              </a:spcAft>
            </a:pPr>
            <a:r>
              <a:rPr lang="nl-NL" sz="3200" b="1" dirty="0">
                <a:latin typeface="Open Sans Light" panose="020B0306030504020204" pitchFamily="34" charset="0"/>
                <a:ea typeface="Open Sans Light" panose="020B0306030504020204" pitchFamily="34" charset="0"/>
                <a:cs typeface="Open Sans Light" panose="020B0306030504020204" pitchFamily="34" charset="0"/>
              </a:rPr>
              <a:t>Data Communications</a:t>
            </a:r>
          </a:p>
          <a:p>
            <a:pPr marL="91440">
              <a:lnSpc>
                <a:spcPct val="150000"/>
              </a:lnSpc>
              <a:spcBef>
                <a:spcPts val="0"/>
              </a:spcBef>
              <a:spcAft>
                <a:spcPts val="600"/>
              </a:spcAft>
            </a:pPr>
            <a:r>
              <a:rPr lang="nl-NL" sz="3200" b="1" dirty="0">
                <a:latin typeface="Open Sans Light" panose="020B0306030504020204" pitchFamily="34" charset="0"/>
                <a:ea typeface="Open Sans Light" panose="020B0306030504020204" pitchFamily="34" charset="0"/>
                <a:cs typeface="Open Sans Light" panose="020B0306030504020204" pitchFamily="34" charset="0"/>
              </a:rPr>
              <a:t>Networks</a:t>
            </a:r>
          </a:p>
          <a:p>
            <a:pPr marL="91440">
              <a:lnSpc>
                <a:spcPct val="150000"/>
              </a:lnSpc>
              <a:spcBef>
                <a:spcPts val="0"/>
              </a:spcBef>
              <a:spcAft>
                <a:spcPts val="600"/>
              </a:spcAft>
            </a:pPr>
            <a:r>
              <a:rPr lang="nl-NL" sz="3200" b="1" dirty="0">
                <a:latin typeface="Open Sans Light" panose="020B0306030504020204" pitchFamily="34" charset="0"/>
                <a:ea typeface="Open Sans Light" panose="020B0306030504020204" pitchFamily="34" charset="0"/>
                <a:cs typeface="Open Sans Light" panose="020B0306030504020204" pitchFamily="34" charset="0"/>
              </a:rPr>
              <a:t>Network Types</a:t>
            </a:r>
          </a:p>
          <a:p>
            <a:pPr marL="91440">
              <a:lnSpc>
                <a:spcPct val="150000"/>
              </a:lnSpc>
              <a:spcBef>
                <a:spcPts val="0"/>
              </a:spcBef>
              <a:spcAft>
                <a:spcPts val="600"/>
              </a:spcAft>
            </a:pPr>
            <a:r>
              <a:rPr lang="nl-NL" sz="3200" b="1" dirty="0">
                <a:latin typeface="Open Sans Light" panose="020B0306030504020204" pitchFamily="34" charset="0"/>
                <a:ea typeface="Open Sans Light" panose="020B0306030504020204" pitchFamily="34" charset="0"/>
                <a:cs typeface="Open Sans Light" panose="020B0306030504020204" pitchFamily="34" charset="0"/>
              </a:rPr>
              <a:t>The Internet</a:t>
            </a:r>
          </a:p>
          <a:p>
            <a:pPr marL="91440">
              <a:lnSpc>
                <a:spcPct val="150000"/>
              </a:lnSpc>
              <a:spcBef>
                <a:spcPts val="0"/>
              </a:spcBef>
              <a:spcAft>
                <a:spcPts val="600"/>
              </a:spcAft>
            </a:pPr>
            <a:r>
              <a:rPr lang="nl-NL" sz="3200" b="1" dirty="0">
                <a:latin typeface="Open Sans Light" panose="020B0306030504020204" pitchFamily="34" charset="0"/>
                <a:ea typeface="Open Sans Light" panose="020B0306030504020204" pitchFamily="34" charset="0"/>
                <a:cs typeface="Open Sans Light" panose="020B0306030504020204" pitchFamily="34" charset="0"/>
              </a:rPr>
              <a:t>Protocol Layering</a:t>
            </a:r>
          </a:p>
          <a:p>
            <a:pPr marL="91440">
              <a:lnSpc>
                <a:spcPct val="150000"/>
              </a:lnSpc>
              <a:spcBef>
                <a:spcPts val="0"/>
              </a:spcBef>
              <a:spcAft>
                <a:spcPts val="600"/>
              </a:spcAft>
            </a:pPr>
            <a:r>
              <a:rPr lang="nl-NL" sz="3200" b="1" dirty="0">
                <a:latin typeface="Open Sans Light" panose="020B0306030504020204" pitchFamily="34" charset="0"/>
                <a:ea typeface="Open Sans Light" panose="020B0306030504020204" pitchFamily="34" charset="0"/>
                <a:cs typeface="Open Sans Light" panose="020B0306030504020204" pitchFamily="34" charset="0"/>
              </a:rPr>
              <a:t>TCP/IP Protocol Suite</a:t>
            </a:r>
          </a:p>
          <a:p>
            <a:pPr marL="91440">
              <a:lnSpc>
                <a:spcPct val="150000"/>
              </a:lnSpc>
              <a:spcBef>
                <a:spcPts val="0"/>
              </a:spcBef>
              <a:spcAft>
                <a:spcPts val="600"/>
              </a:spcAft>
            </a:pPr>
            <a:r>
              <a:rPr lang="nl-NL" sz="3200" b="1" dirty="0">
                <a:latin typeface="Open Sans Light" panose="020B0306030504020204" pitchFamily="34" charset="0"/>
                <a:ea typeface="Open Sans Light" panose="020B0306030504020204" pitchFamily="34" charset="0"/>
                <a:cs typeface="Open Sans Light" panose="020B0306030504020204" pitchFamily="34" charset="0"/>
              </a:rPr>
              <a:t>OSI Model and TCP/IP Model</a:t>
            </a:r>
          </a:p>
          <a:p>
            <a:pPr marL="91440">
              <a:lnSpc>
                <a:spcPct val="150000"/>
              </a:lnSpc>
              <a:spcBef>
                <a:spcPts val="0"/>
              </a:spcBef>
              <a:spcAft>
                <a:spcPts val="600"/>
              </a:spcAft>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Network </a:t>
            </a:r>
            <a:r>
              <a:rPr lang="id-ID" sz="3200" b="1" dirty="0">
                <a:latin typeface="Open Sans Light" panose="020B0306030504020204" pitchFamily="34" charset="0"/>
                <a:ea typeface="Open Sans Light" panose="020B0306030504020204" pitchFamily="34" charset="0"/>
                <a:cs typeface="Open Sans Light" panose="020B0306030504020204" pitchFamily="34" charset="0"/>
              </a:rPr>
              <a:t>Devices</a:t>
            </a: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a:p>
            <a:pPr marL="91440">
              <a:lnSpc>
                <a:spcPct val="150000"/>
              </a:lnSpc>
              <a:spcBef>
                <a:spcPts val="0"/>
              </a:spcBef>
              <a:spcAft>
                <a:spcPts val="600"/>
              </a:spcAft>
            </a:pPr>
            <a:r>
              <a:rPr lang="id-ID" sz="3200" b="1" dirty="0">
                <a:latin typeface="Open Sans Light" panose="020B0306030504020204" pitchFamily="34" charset="0"/>
                <a:ea typeface="Open Sans Light" panose="020B0306030504020204" pitchFamily="34" charset="0"/>
                <a:cs typeface="Open Sans Light" panose="020B0306030504020204" pitchFamily="34" charset="0"/>
              </a:rPr>
              <a:t>Virtual LANs</a:t>
            </a: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a:p>
            <a:pPr marL="91440">
              <a:lnSpc>
                <a:spcPct val="150000"/>
              </a:lnSpc>
              <a:spcBef>
                <a:spcPts val="0"/>
              </a:spcBef>
              <a:spcAft>
                <a:spcPts val="600"/>
              </a:spcAft>
            </a:pPr>
            <a:endParaRPr lang="en-US" sz="3200" b="1" dirty="0"/>
          </a:p>
        </p:txBody>
      </p:sp>
    </p:spTree>
    <p:extLst>
      <p:ext uri="{BB962C8B-B14F-4D97-AF65-F5344CB8AC3E}">
        <p14:creationId xmlns:p14="http://schemas.microsoft.com/office/powerpoint/2010/main" val="161659830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81DF1-3621-4D9E-92F7-B946F553C645}"/>
              </a:ext>
            </a:extLst>
          </p:cNvPr>
          <p:cNvSpPr>
            <a:spLocks noGrp="1"/>
          </p:cNvSpPr>
          <p:nvPr>
            <p:ph type="title"/>
          </p:nvPr>
        </p:nvSpPr>
        <p:spPr/>
        <p:txBody>
          <a:bodyPr>
            <a:normAutofit fontScale="90000"/>
          </a:bodyPr>
          <a:lstStyle/>
          <a:p>
            <a:r>
              <a:rPr lang="en-US" sz="4000" dirty="0"/>
              <a:t>Data Communications</a:t>
            </a:r>
            <a:br>
              <a:rPr lang="en-US" sz="4000" dirty="0"/>
            </a:br>
            <a:endParaRPr lang="en-US" dirty="0"/>
          </a:p>
        </p:txBody>
      </p:sp>
      <p:sp>
        <p:nvSpPr>
          <p:cNvPr id="3" name="Text Placeholder 2">
            <a:extLst>
              <a:ext uri="{FF2B5EF4-FFF2-40B4-BE49-F238E27FC236}">
                <a16:creationId xmlns:a16="http://schemas.microsoft.com/office/drawing/2014/main" id="{98803450-9274-2CEE-60E5-6D29A4E65013}"/>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Data Communications</a:t>
            </a:r>
            <a:endParaRPr lang="en-US" dirty="0"/>
          </a:p>
        </p:txBody>
      </p:sp>
      <p:sp>
        <p:nvSpPr>
          <p:cNvPr id="4" name="Content Placeholder 3">
            <a:extLst>
              <a:ext uri="{FF2B5EF4-FFF2-40B4-BE49-F238E27FC236}">
                <a16:creationId xmlns:a16="http://schemas.microsoft.com/office/drawing/2014/main" id="{3F3107FA-AF3F-2E03-F636-EFD327EE950D}"/>
              </a:ext>
            </a:extLst>
          </p:cNvPr>
          <p:cNvSpPr>
            <a:spLocks noGrp="1"/>
          </p:cNvSpPr>
          <p:nvPr>
            <p:ph sz="quarter" idx="11"/>
          </p:nvPr>
        </p:nvSpPr>
        <p:spPr>
          <a:xfrm>
            <a:off x="2892490" y="3821790"/>
            <a:ext cx="19847194" cy="6633422"/>
          </a:xfrm>
        </p:spPr>
        <p:txBody>
          <a:bodyPr>
            <a:noAutofit/>
          </a:bodyPr>
          <a:lstStyle/>
          <a:p>
            <a:pPr algn="just">
              <a:lnSpc>
                <a:spcPct val="150000"/>
              </a:lnSpc>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Data communications is the exchange of data between two devices via some form of transmission medium such as a wire cable or Wireless. </a:t>
            </a:r>
          </a:p>
          <a:p>
            <a:pPr algn="just">
              <a:lnSpc>
                <a:spcPct val="150000"/>
              </a:lnSpc>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For data communications to occur, the communicating devices must be part of a communications system made up of a combination of hardware (physical equipment) and software (programs).</a:t>
            </a:r>
          </a:p>
          <a:p>
            <a:pPr algn="just">
              <a:lnSpc>
                <a:spcPct val="150000"/>
              </a:lnSpc>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The effectiveness of a data communications system depends on four fundamental characteristics: </a:t>
            </a:r>
          </a:p>
          <a:p>
            <a:pPr lvl="1" algn="just">
              <a:lnSpc>
                <a:spcPct val="150000"/>
              </a:lnSpc>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Delivery</a:t>
            </a:r>
          </a:p>
          <a:p>
            <a:pPr lvl="1" algn="just">
              <a:lnSpc>
                <a:spcPct val="150000"/>
              </a:lnSpc>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Accuracy</a:t>
            </a:r>
          </a:p>
          <a:p>
            <a:pPr lvl="1" algn="just">
              <a:lnSpc>
                <a:spcPct val="150000"/>
              </a:lnSpc>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Timeliness, and </a:t>
            </a:r>
          </a:p>
          <a:p>
            <a:pPr lvl="1" algn="just">
              <a:lnSpc>
                <a:spcPct val="150000"/>
              </a:lnSpc>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Jitter</a:t>
            </a:r>
          </a:p>
          <a:p>
            <a:pPr>
              <a:lnSpc>
                <a:spcPct val="150000"/>
              </a:lnSpc>
            </a:pP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247507658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06099-FD87-ACE5-9A3C-C143FD7F9C4F}"/>
              </a:ext>
            </a:extLst>
          </p:cNvPr>
          <p:cNvSpPr>
            <a:spLocks noGrp="1"/>
          </p:cNvSpPr>
          <p:nvPr>
            <p:ph type="title"/>
          </p:nvPr>
        </p:nvSpPr>
        <p:spPr/>
        <p:txBody>
          <a:bodyPr>
            <a:normAutofit fontScale="90000"/>
          </a:bodyPr>
          <a:lstStyle/>
          <a:p>
            <a:r>
              <a:rPr lang="en-US" sz="3600" dirty="0"/>
              <a:t>Data Communications</a:t>
            </a:r>
            <a:endParaRPr lang="en-US" dirty="0"/>
          </a:p>
        </p:txBody>
      </p:sp>
      <p:sp>
        <p:nvSpPr>
          <p:cNvPr id="3" name="Text Placeholder 2">
            <a:extLst>
              <a:ext uri="{FF2B5EF4-FFF2-40B4-BE49-F238E27FC236}">
                <a16:creationId xmlns:a16="http://schemas.microsoft.com/office/drawing/2014/main" id="{E08BE80E-B998-6162-19CB-BDF3E96AEF7D}"/>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Component</a:t>
            </a:r>
            <a:r>
              <a:rPr lang="en-US" dirty="0">
                <a:latin typeface="Open Sans ExtraBold" panose="020B0906030804020204" pitchFamily="34" charset="0"/>
                <a:ea typeface="Open Sans ExtraBold" panose="020B0906030804020204" pitchFamily="34" charset="0"/>
                <a:cs typeface="Open Sans ExtraBold" panose="020B0906030804020204" pitchFamily="34" charset="0"/>
              </a:rPr>
              <a:t>s</a:t>
            </a:r>
            <a:endParaRPr lang="en-US" dirty="0"/>
          </a:p>
        </p:txBody>
      </p:sp>
      <p:sp>
        <p:nvSpPr>
          <p:cNvPr id="4" name="Content Placeholder 3">
            <a:extLst>
              <a:ext uri="{FF2B5EF4-FFF2-40B4-BE49-F238E27FC236}">
                <a16:creationId xmlns:a16="http://schemas.microsoft.com/office/drawing/2014/main" id="{ECEAF800-48B6-DD67-E89C-93847664D0F1}"/>
              </a:ext>
            </a:extLst>
          </p:cNvPr>
          <p:cNvSpPr>
            <a:spLocks noGrp="1"/>
          </p:cNvSpPr>
          <p:nvPr>
            <p:ph sz="quarter" idx="11"/>
          </p:nvPr>
        </p:nvSpPr>
        <p:spPr>
          <a:xfrm>
            <a:off x="3526972" y="6262461"/>
            <a:ext cx="17989420" cy="4522264"/>
          </a:xfrm>
        </p:spPr>
        <p:txBody>
          <a:bodyPr>
            <a:normAutofit/>
          </a:bodyPr>
          <a:lstStyle/>
          <a:p>
            <a:pPr>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The message is the information (data) to be communicated. Popular forms of information include text, numbers, Figures, audio, and video.</a:t>
            </a:r>
          </a:p>
          <a:p>
            <a:pPr>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The sender is the device that sends the data message. It can be a computer, a telephone handset, a video camera, and so on.</a:t>
            </a:r>
          </a:p>
          <a:p>
            <a:pPr>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The receiver is the device that receives the message. It can be a computer, workstation, telephone handset, television, and so on.</a:t>
            </a:r>
          </a:p>
          <a:p>
            <a:pPr>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The transmission medium is the physical path by which a message travels from sender to receiver.</a:t>
            </a:r>
          </a:p>
          <a:p>
            <a:pPr>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A protocol is a set of rules that govern data communications</a:t>
            </a:r>
          </a:p>
        </p:txBody>
      </p:sp>
      <p:pic>
        <p:nvPicPr>
          <p:cNvPr id="5" name="Picture 4">
            <a:extLst>
              <a:ext uri="{FF2B5EF4-FFF2-40B4-BE49-F238E27FC236}">
                <a16:creationId xmlns:a16="http://schemas.microsoft.com/office/drawing/2014/main" id="{6FAA5F67-D572-26E3-A4D4-026E798F7247}"/>
              </a:ext>
            </a:extLst>
          </p:cNvPr>
          <p:cNvPicPr>
            <a:picLocks noChangeAspect="1"/>
          </p:cNvPicPr>
          <p:nvPr/>
        </p:nvPicPr>
        <p:blipFill>
          <a:blip r:embed="rId2"/>
          <a:stretch>
            <a:fillRect/>
          </a:stretch>
        </p:blipFill>
        <p:spPr>
          <a:xfrm>
            <a:off x="5799384" y="3260663"/>
            <a:ext cx="12273736" cy="3001814"/>
          </a:xfrm>
          <a:prstGeom prst="rect">
            <a:avLst/>
          </a:prstGeom>
        </p:spPr>
      </p:pic>
      <p:sp>
        <p:nvSpPr>
          <p:cNvPr id="6" name="TextBox 5">
            <a:extLst>
              <a:ext uri="{FF2B5EF4-FFF2-40B4-BE49-F238E27FC236}">
                <a16:creationId xmlns:a16="http://schemas.microsoft.com/office/drawing/2014/main" id="{B30E8C61-3C41-E8C8-A197-7F5748793F89}"/>
              </a:ext>
            </a:extLst>
          </p:cNvPr>
          <p:cNvSpPr txBox="1"/>
          <p:nvPr/>
        </p:nvSpPr>
        <p:spPr>
          <a:xfrm>
            <a:off x="5964080" y="13408223"/>
            <a:ext cx="8515350" cy="400110"/>
          </a:xfrm>
          <a:prstGeom prst="rect">
            <a:avLst/>
          </a:prstGeom>
          <a:noFill/>
        </p:spPr>
        <p:txBody>
          <a:bodyPr wrap="square" rtlCol="0">
            <a:spAutoFit/>
          </a:bodyPr>
          <a:lstStyle/>
          <a:p>
            <a:pPr algn="just"/>
            <a:r>
              <a:rPr lang="en-US" sz="1000" dirty="0"/>
              <a:t>Fig 1.1. Five components of a data communications system</a:t>
            </a:r>
          </a:p>
          <a:p>
            <a:pPr algn="just"/>
            <a:r>
              <a:rPr lang="en-US" sz="1000" dirty="0"/>
              <a:t>Source : Data Communications and Networking with TCP/IP Protocol Suite. </a:t>
            </a:r>
            <a:r>
              <a:rPr lang="en-US" sz="1000" dirty="0" err="1"/>
              <a:t>Forouzan</a:t>
            </a:r>
            <a:r>
              <a:rPr lang="en-US" sz="1000" dirty="0"/>
              <a:t>, B. A.</a:t>
            </a:r>
          </a:p>
        </p:txBody>
      </p:sp>
      <p:cxnSp>
        <p:nvCxnSpPr>
          <p:cNvPr id="8" name="Straight Arrow Connector 7">
            <a:extLst>
              <a:ext uri="{FF2B5EF4-FFF2-40B4-BE49-F238E27FC236}">
                <a16:creationId xmlns:a16="http://schemas.microsoft.com/office/drawing/2014/main" id="{9BEA8BFB-B507-CB58-FC22-43F03E75A178}"/>
              </a:ext>
            </a:extLst>
          </p:cNvPr>
          <p:cNvCxnSpPr>
            <a:endCxn id="5" idx="2"/>
          </p:cNvCxnSpPr>
          <p:nvPr/>
        </p:nvCxnSpPr>
        <p:spPr>
          <a:xfrm>
            <a:off x="11936252" y="5448300"/>
            <a:ext cx="0" cy="814177"/>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40034889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73D60-9244-DB80-C765-4FF197A37402}"/>
              </a:ext>
            </a:extLst>
          </p:cNvPr>
          <p:cNvSpPr>
            <a:spLocks noGrp="1"/>
          </p:cNvSpPr>
          <p:nvPr>
            <p:ph type="title"/>
          </p:nvPr>
        </p:nvSpPr>
        <p:spPr/>
        <p:txBody>
          <a:bodyPr>
            <a:normAutofit fontScale="90000"/>
          </a:bodyPr>
          <a:lstStyle/>
          <a:p>
            <a:r>
              <a:rPr lang="en-US" sz="4000" dirty="0"/>
              <a:t>Data Communications</a:t>
            </a:r>
            <a:endParaRPr lang="en-US" dirty="0"/>
          </a:p>
        </p:txBody>
      </p:sp>
      <p:sp>
        <p:nvSpPr>
          <p:cNvPr id="3" name="Text Placeholder 2">
            <a:extLst>
              <a:ext uri="{FF2B5EF4-FFF2-40B4-BE49-F238E27FC236}">
                <a16:creationId xmlns:a16="http://schemas.microsoft.com/office/drawing/2014/main" id="{410D7AD1-1C2A-81AB-0190-4BB9699B0419}"/>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Data Flow</a:t>
            </a:r>
            <a:endParaRPr lang="en-US" dirty="0"/>
          </a:p>
        </p:txBody>
      </p:sp>
      <p:pic>
        <p:nvPicPr>
          <p:cNvPr id="5" name="Content Placeholder 4">
            <a:extLst>
              <a:ext uri="{FF2B5EF4-FFF2-40B4-BE49-F238E27FC236}">
                <a16:creationId xmlns:a16="http://schemas.microsoft.com/office/drawing/2014/main" id="{C0577531-EA06-7AE6-2448-CD89D29B69D3}"/>
              </a:ext>
            </a:extLst>
          </p:cNvPr>
          <p:cNvPicPr>
            <a:picLocks noGrp="1" noChangeAspect="1"/>
          </p:cNvPicPr>
          <p:nvPr>
            <p:ph sz="quarter" idx="11"/>
          </p:nvPr>
        </p:nvPicPr>
        <p:blipFill>
          <a:blip r:embed="rId2"/>
          <a:stretch>
            <a:fillRect/>
          </a:stretch>
        </p:blipFill>
        <p:spPr>
          <a:xfrm>
            <a:off x="5469775" y="3870385"/>
            <a:ext cx="13150734" cy="7135132"/>
          </a:xfrm>
          <a:prstGeom prst="rect">
            <a:avLst/>
          </a:prstGeom>
        </p:spPr>
      </p:pic>
      <p:sp>
        <p:nvSpPr>
          <p:cNvPr id="6" name="TextBox 5">
            <a:extLst>
              <a:ext uri="{FF2B5EF4-FFF2-40B4-BE49-F238E27FC236}">
                <a16:creationId xmlns:a16="http://schemas.microsoft.com/office/drawing/2014/main" id="{50181D09-9A0B-5047-0C1D-D22C6C70CC83}"/>
              </a:ext>
            </a:extLst>
          </p:cNvPr>
          <p:cNvSpPr txBox="1"/>
          <p:nvPr/>
        </p:nvSpPr>
        <p:spPr>
          <a:xfrm>
            <a:off x="3733800" y="13069671"/>
            <a:ext cx="16916400" cy="584775"/>
          </a:xfrm>
          <a:prstGeom prst="rect">
            <a:avLst/>
          </a:prstGeom>
          <a:noFill/>
        </p:spPr>
        <p:txBody>
          <a:bodyPr wrap="square" rtlCol="0">
            <a:spAutoFit/>
          </a:bodyPr>
          <a:lstStyle/>
          <a:p>
            <a:pPr algn="just"/>
            <a:r>
              <a:rPr lang="en-US" sz="1600" dirty="0"/>
              <a:t>Fig. 1.2. Data flow (simplex, half-duplex, and full-duplex)</a:t>
            </a:r>
          </a:p>
          <a:p>
            <a:pPr algn="just"/>
            <a:r>
              <a:rPr lang="en-US" sz="1600" dirty="0"/>
              <a:t>Source : Data Communications and Networking with TCP/IP Protocol Suite. </a:t>
            </a:r>
            <a:r>
              <a:rPr lang="en-US" sz="1600" dirty="0" err="1"/>
              <a:t>Forouzan</a:t>
            </a:r>
            <a:r>
              <a:rPr lang="en-US" sz="1600" dirty="0"/>
              <a:t>, B. A.</a:t>
            </a:r>
          </a:p>
        </p:txBody>
      </p:sp>
    </p:spTree>
    <p:extLst>
      <p:ext uri="{BB962C8B-B14F-4D97-AF65-F5344CB8AC3E}">
        <p14:creationId xmlns:p14="http://schemas.microsoft.com/office/powerpoint/2010/main" val="78450758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7B009-D05F-56A6-DD5C-FD4311779420}"/>
              </a:ext>
            </a:extLst>
          </p:cNvPr>
          <p:cNvSpPr>
            <a:spLocks noGrp="1"/>
          </p:cNvSpPr>
          <p:nvPr>
            <p:ph type="title"/>
          </p:nvPr>
        </p:nvSpPr>
        <p:spPr/>
        <p:txBody>
          <a:bodyPr>
            <a:normAutofit fontScale="90000"/>
          </a:bodyPr>
          <a:lstStyle/>
          <a:p>
            <a:r>
              <a:rPr lang="en-US" sz="4000" dirty="0"/>
              <a:t>Networks</a:t>
            </a:r>
            <a:endParaRPr lang="en-US" dirty="0"/>
          </a:p>
        </p:txBody>
      </p:sp>
      <p:sp>
        <p:nvSpPr>
          <p:cNvPr id="3" name="Text Placeholder 2">
            <a:extLst>
              <a:ext uri="{FF2B5EF4-FFF2-40B4-BE49-F238E27FC236}">
                <a16:creationId xmlns:a16="http://schemas.microsoft.com/office/drawing/2014/main" id="{2EAA4254-9E22-7835-8C45-0DFEAB0BF900}"/>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25A8A539-57C6-9BBE-2DCD-AB2CA454E1E0}"/>
              </a:ext>
            </a:extLst>
          </p:cNvPr>
          <p:cNvSpPr>
            <a:spLocks noGrp="1"/>
          </p:cNvSpPr>
          <p:nvPr>
            <p:ph sz="quarter" idx="11"/>
          </p:nvPr>
        </p:nvSpPr>
        <p:spPr>
          <a:xfrm>
            <a:off x="3770098" y="4271948"/>
            <a:ext cx="15712712" cy="5790022"/>
          </a:xfrm>
        </p:spPr>
        <p:txBody>
          <a:bodyPr>
            <a:noAutofit/>
          </a:bodyPr>
          <a:lstStyle/>
          <a:p>
            <a:pPr algn="just">
              <a:spcBef>
                <a:spcPct val="0"/>
              </a:spcBef>
              <a:spcAft>
                <a:spcPts val="600"/>
              </a:spcAft>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Network is the interconnection of a set of devices capable of communication.</a:t>
            </a:r>
          </a:p>
          <a:p>
            <a:pPr algn="just">
              <a:spcBef>
                <a:spcPct val="0"/>
              </a:spcBef>
              <a:spcAft>
                <a:spcPts val="600"/>
              </a:spcAft>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A device can be a host, such as a large computer, desktop, laptop, workstation, cellular phone, or security system.</a:t>
            </a:r>
          </a:p>
          <a:p>
            <a:pPr algn="just">
              <a:spcBef>
                <a:spcPct val="0"/>
              </a:spcBef>
              <a:spcAft>
                <a:spcPts val="600"/>
              </a:spcAft>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A device in this definition can also be a connecting device such as a router that connects the network to other networks, a switch that connects devices together, or a modem (modulator-demodulator) that changes the form of data.</a:t>
            </a:r>
          </a:p>
        </p:txBody>
      </p:sp>
    </p:spTree>
    <p:extLst>
      <p:ext uri="{BB962C8B-B14F-4D97-AF65-F5344CB8AC3E}">
        <p14:creationId xmlns:p14="http://schemas.microsoft.com/office/powerpoint/2010/main" val="168849429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7B009-D05F-56A6-DD5C-FD4311779420}"/>
              </a:ext>
            </a:extLst>
          </p:cNvPr>
          <p:cNvSpPr>
            <a:spLocks noGrp="1"/>
          </p:cNvSpPr>
          <p:nvPr>
            <p:ph type="title"/>
          </p:nvPr>
        </p:nvSpPr>
        <p:spPr/>
        <p:txBody>
          <a:bodyPr>
            <a:normAutofit fontScale="90000"/>
          </a:bodyPr>
          <a:lstStyle/>
          <a:p>
            <a:r>
              <a:rPr lang="en-US" sz="4000" dirty="0"/>
              <a:t>Networks</a:t>
            </a:r>
            <a:endParaRPr lang="en-US" dirty="0"/>
          </a:p>
        </p:txBody>
      </p:sp>
      <p:sp>
        <p:nvSpPr>
          <p:cNvPr id="3" name="Text Placeholder 2">
            <a:extLst>
              <a:ext uri="{FF2B5EF4-FFF2-40B4-BE49-F238E27FC236}">
                <a16:creationId xmlns:a16="http://schemas.microsoft.com/office/drawing/2014/main" id="{2EAA4254-9E22-7835-8C45-0DFEAB0BF900}"/>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Network Criteria</a:t>
            </a:r>
            <a:endParaRPr lang="en-US" dirty="0"/>
          </a:p>
        </p:txBody>
      </p:sp>
      <p:sp>
        <p:nvSpPr>
          <p:cNvPr id="7" name="Rectangle 7">
            <a:extLst>
              <a:ext uri="{FF2B5EF4-FFF2-40B4-BE49-F238E27FC236}">
                <a16:creationId xmlns:a16="http://schemas.microsoft.com/office/drawing/2014/main" id="{D7C6B09D-4AAF-BC26-30B4-15677F987905}"/>
              </a:ext>
            </a:extLst>
          </p:cNvPr>
          <p:cNvSpPr txBox="1">
            <a:spLocks noGrp="1" noChangeArrowheads="1"/>
          </p:cNvSpPr>
          <p:nvPr>
            <p:ph sz="quarter" idx="11"/>
          </p:nvPr>
        </p:nvSpPr>
        <p:spPr>
          <a:xfrm>
            <a:off x="3547187" y="3537121"/>
            <a:ext cx="14715569" cy="6216316"/>
          </a:xfrm>
          <a:prstGeom prst="rect">
            <a:avLst/>
          </a:prstGeom>
        </p:spPr>
        <p:txBody>
          <a:bodyPr vert="horz" lIns="135732" tIns="66676" rIns="135732" bIns="66676"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ct val="0"/>
              </a:spcBef>
              <a:buNone/>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A network must be able to meet a certain number of criteria. The most important of these are : </a:t>
            </a:r>
          </a:p>
          <a:p>
            <a:pPr lvl="1" algn="just">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Performance</a:t>
            </a:r>
          </a:p>
          <a:p>
            <a:pPr lvl="2" algn="just">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Depends on Network Elements</a:t>
            </a:r>
          </a:p>
          <a:p>
            <a:pPr lvl="2" algn="just">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Measured in terms of Delay and Throughput</a:t>
            </a:r>
          </a:p>
          <a:p>
            <a:pPr lvl="1" algn="just">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Reliability</a:t>
            </a:r>
          </a:p>
          <a:p>
            <a:pPr lvl="2" algn="just">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Failure rate of network components</a:t>
            </a:r>
          </a:p>
          <a:p>
            <a:pPr lvl="2" algn="just">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Measured in terms of availability/robustness</a:t>
            </a:r>
          </a:p>
          <a:p>
            <a:pPr lvl="1" algn="just">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Security</a:t>
            </a:r>
          </a:p>
          <a:p>
            <a:pPr lvl="2" algn="just">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Data protection against corruption/loss of data due to:</a:t>
            </a:r>
          </a:p>
          <a:p>
            <a:pPr lvl="3" algn="just">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Errors</a:t>
            </a:r>
          </a:p>
          <a:p>
            <a:pPr lvl="3" algn="just">
              <a:spcBef>
                <a:spcPct val="0"/>
              </a:spcBef>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Malicious users</a:t>
            </a:r>
          </a:p>
        </p:txBody>
      </p:sp>
    </p:spTree>
    <p:extLst>
      <p:ext uri="{BB962C8B-B14F-4D97-AF65-F5344CB8AC3E}">
        <p14:creationId xmlns:p14="http://schemas.microsoft.com/office/powerpoint/2010/main" val="146913337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7B009-D05F-56A6-DD5C-FD4311779420}"/>
              </a:ext>
            </a:extLst>
          </p:cNvPr>
          <p:cNvSpPr>
            <a:spLocks noGrp="1"/>
          </p:cNvSpPr>
          <p:nvPr>
            <p:ph type="title"/>
          </p:nvPr>
        </p:nvSpPr>
        <p:spPr/>
        <p:txBody>
          <a:bodyPr>
            <a:normAutofit fontScale="90000"/>
          </a:bodyPr>
          <a:lstStyle/>
          <a:p>
            <a:r>
              <a:rPr lang="en-US" sz="4000" dirty="0"/>
              <a:t>Networks</a:t>
            </a:r>
            <a:endParaRPr lang="en-US" dirty="0"/>
          </a:p>
        </p:txBody>
      </p:sp>
      <p:sp>
        <p:nvSpPr>
          <p:cNvPr id="3" name="Text Placeholder 2">
            <a:extLst>
              <a:ext uri="{FF2B5EF4-FFF2-40B4-BE49-F238E27FC236}">
                <a16:creationId xmlns:a16="http://schemas.microsoft.com/office/drawing/2014/main" id="{2EAA4254-9E22-7835-8C45-0DFEAB0BF900}"/>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Physical Structures</a:t>
            </a:r>
            <a:endParaRPr lang="en-US" dirty="0"/>
          </a:p>
        </p:txBody>
      </p:sp>
      <p:sp>
        <p:nvSpPr>
          <p:cNvPr id="7" name="Rectangle 7">
            <a:extLst>
              <a:ext uri="{FF2B5EF4-FFF2-40B4-BE49-F238E27FC236}">
                <a16:creationId xmlns:a16="http://schemas.microsoft.com/office/drawing/2014/main" id="{D7C6B09D-4AAF-BC26-30B4-15677F987905}"/>
              </a:ext>
            </a:extLst>
          </p:cNvPr>
          <p:cNvSpPr txBox="1">
            <a:spLocks noGrp="1" noChangeArrowheads="1"/>
          </p:cNvSpPr>
          <p:nvPr>
            <p:ph sz="quarter" idx="11"/>
          </p:nvPr>
        </p:nvSpPr>
        <p:spPr>
          <a:xfrm>
            <a:off x="3321698" y="3749842"/>
            <a:ext cx="13716000" cy="6216316"/>
          </a:xfrm>
          <a:prstGeom prst="rect">
            <a:avLst/>
          </a:prstGeom>
        </p:spPr>
        <p:txBody>
          <a:bodyPr vert="horz" lIns="135732" tIns="66676" rIns="135732" bIns="66676"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ct val="0"/>
              </a:spcBef>
            </a:pPr>
            <a:r>
              <a:rPr lang="en-US" b="1" dirty="0">
                <a:latin typeface="Open Sans Light" panose="020B0306030504020204" pitchFamily="34" charset="0"/>
                <a:ea typeface="Open Sans Light" panose="020B0306030504020204" pitchFamily="34" charset="0"/>
                <a:cs typeface="Open Sans Light" panose="020B0306030504020204" pitchFamily="34" charset="0"/>
              </a:rPr>
              <a:t>Type of Connection</a:t>
            </a:r>
          </a:p>
          <a:p>
            <a:pPr lvl="1" algn="just">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Point to Point - single transmitter and receiver</a:t>
            </a:r>
          </a:p>
          <a:p>
            <a:pPr lvl="1" algn="just">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Multipoint - multiple recipients of single transmission</a:t>
            </a:r>
          </a:p>
          <a:p>
            <a:pPr algn="just">
              <a:spcBef>
                <a:spcPct val="0"/>
              </a:spcBef>
            </a:pPr>
            <a:r>
              <a:rPr lang="en-US" b="1" dirty="0">
                <a:latin typeface="Open Sans Light" panose="020B0306030504020204" pitchFamily="34" charset="0"/>
                <a:ea typeface="Open Sans Light" panose="020B0306030504020204" pitchFamily="34" charset="0"/>
                <a:cs typeface="Open Sans Light" panose="020B0306030504020204" pitchFamily="34" charset="0"/>
              </a:rPr>
              <a:t>Physical Topology</a:t>
            </a:r>
          </a:p>
          <a:p>
            <a:pPr lvl="1" algn="just">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Connection of devices</a:t>
            </a:r>
          </a:p>
          <a:p>
            <a:pPr lvl="1" algn="just">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The topology of a network</a:t>
            </a:r>
          </a:p>
        </p:txBody>
      </p:sp>
    </p:spTree>
    <p:extLst>
      <p:ext uri="{BB962C8B-B14F-4D97-AF65-F5344CB8AC3E}">
        <p14:creationId xmlns:p14="http://schemas.microsoft.com/office/powerpoint/2010/main" val="198674157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F9BF-FB61-B37B-4DD6-EC661338B1A7}"/>
              </a:ext>
            </a:extLst>
          </p:cNvPr>
          <p:cNvSpPr>
            <a:spLocks noGrp="1"/>
          </p:cNvSpPr>
          <p:nvPr>
            <p:ph type="title"/>
          </p:nvPr>
        </p:nvSpPr>
        <p:spPr/>
        <p:txBody>
          <a:bodyPr>
            <a:normAutofit fontScale="90000"/>
          </a:bodyPr>
          <a:lstStyle/>
          <a:p>
            <a:r>
              <a:rPr lang="en-US" sz="3600" dirty="0"/>
              <a:t>Networks</a:t>
            </a:r>
            <a:endParaRPr lang="en-US" dirty="0"/>
          </a:p>
        </p:txBody>
      </p:sp>
      <p:sp>
        <p:nvSpPr>
          <p:cNvPr id="3" name="Text Placeholder 2">
            <a:extLst>
              <a:ext uri="{FF2B5EF4-FFF2-40B4-BE49-F238E27FC236}">
                <a16:creationId xmlns:a16="http://schemas.microsoft.com/office/drawing/2014/main" id="{963E347C-82DA-269E-2F0C-7170DD685561}"/>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Types of connections</a:t>
            </a:r>
            <a:endParaRPr lang="en-US" dirty="0"/>
          </a:p>
        </p:txBody>
      </p:sp>
      <p:pic>
        <p:nvPicPr>
          <p:cNvPr id="5" name="Content Placeholder 4">
            <a:extLst>
              <a:ext uri="{FF2B5EF4-FFF2-40B4-BE49-F238E27FC236}">
                <a16:creationId xmlns:a16="http://schemas.microsoft.com/office/drawing/2014/main" id="{E5FC1334-97D8-C985-0968-CA1355812B16}"/>
              </a:ext>
            </a:extLst>
          </p:cNvPr>
          <p:cNvPicPr>
            <a:picLocks noGrp="1" noChangeAspect="1"/>
          </p:cNvPicPr>
          <p:nvPr>
            <p:ph sz="quarter" idx="11"/>
          </p:nvPr>
        </p:nvPicPr>
        <p:blipFill>
          <a:blip r:embed="rId2"/>
          <a:stretch>
            <a:fillRect/>
          </a:stretch>
        </p:blipFill>
        <p:spPr>
          <a:xfrm>
            <a:off x="4119564" y="3986725"/>
            <a:ext cx="13830880" cy="6889079"/>
          </a:xfrm>
          <a:prstGeom prst="rect">
            <a:avLst/>
          </a:prstGeom>
        </p:spPr>
      </p:pic>
      <p:sp>
        <p:nvSpPr>
          <p:cNvPr id="6" name="TextBox 5">
            <a:extLst>
              <a:ext uri="{FF2B5EF4-FFF2-40B4-BE49-F238E27FC236}">
                <a16:creationId xmlns:a16="http://schemas.microsoft.com/office/drawing/2014/main" id="{1CEC7329-8199-1123-0929-002F6FC62D4F}"/>
              </a:ext>
            </a:extLst>
          </p:cNvPr>
          <p:cNvSpPr txBox="1"/>
          <p:nvPr/>
        </p:nvSpPr>
        <p:spPr>
          <a:xfrm>
            <a:off x="5526838" y="13321126"/>
            <a:ext cx="7996646" cy="461665"/>
          </a:xfrm>
          <a:prstGeom prst="rect">
            <a:avLst/>
          </a:prstGeom>
          <a:noFill/>
        </p:spPr>
        <p:txBody>
          <a:bodyPr wrap="square" rtlCol="0">
            <a:spAutoFit/>
          </a:bodyPr>
          <a:lstStyle/>
          <a:p>
            <a:pPr algn="just"/>
            <a:r>
              <a:rPr lang="en-US" sz="1200" dirty="0"/>
              <a:t>Fig. 1.4. Categories of topology)</a:t>
            </a:r>
          </a:p>
          <a:p>
            <a:pPr algn="just"/>
            <a:r>
              <a:rPr lang="en-US" sz="1200" dirty="0"/>
              <a:t>Source : Data Communications and Networking with TCP/IP Protocol Suite. </a:t>
            </a:r>
            <a:r>
              <a:rPr lang="en-US" sz="1200" dirty="0" err="1"/>
              <a:t>Forouzan</a:t>
            </a:r>
            <a:r>
              <a:rPr lang="en-US" sz="1200" dirty="0"/>
              <a:t>, B. A.</a:t>
            </a:r>
          </a:p>
        </p:txBody>
      </p:sp>
    </p:spTree>
    <p:extLst>
      <p:ext uri="{BB962C8B-B14F-4D97-AF65-F5344CB8AC3E}">
        <p14:creationId xmlns:p14="http://schemas.microsoft.com/office/powerpoint/2010/main" val="80906467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F9BF-FB61-B37B-4DD6-EC661338B1A7}"/>
              </a:ext>
            </a:extLst>
          </p:cNvPr>
          <p:cNvSpPr>
            <a:spLocks noGrp="1"/>
          </p:cNvSpPr>
          <p:nvPr>
            <p:ph type="title"/>
          </p:nvPr>
        </p:nvSpPr>
        <p:spPr/>
        <p:txBody>
          <a:bodyPr>
            <a:normAutofit fontScale="90000"/>
          </a:bodyPr>
          <a:lstStyle/>
          <a:p>
            <a:r>
              <a:rPr lang="en-US" sz="3600" dirty="0"/>
              <a:t>Networks</a:t>
            </a:r>
            <a:endParaRPr lang="en-US" dirty="0"/>
          </a:p>
        </p:txBody>
      </p:sp>
      <p:sp>
        <p:nvSpPr>
          <p:cNvPr id="3" name="Text Placeholder 2">
            <a:extLst>
              <a:ext uri="{FF2B5EF4-FFF2-40B4-BE49-F238E27FC236}">
                <a16:creationId xmlns:a16="http://schemas.microsoft.com/office/drawing/2014/main" id="{963E347C-82DA-269E-2F0C-7170DD685561}"/>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Physical Topology</a:t>
            </a:r>
            <a:endParaRPr lang="en-US" dirty="0"/>
          </a:p>
        </p:txBody>
      </p:sp>
      <p:pic>
        <p:nvPicPr>
          <p:cNvPr id="7" name="Content Placeholder 6">
            <a:extLst>
              <a:ext uri="{FF2B5EF4-FFF2-40B4-BE49-F238E27FC236}">
                <a16:creationId xmlns:a16="http://schemas.microsoft.com/office/drawing/2014/main" id="{C6454E01-658A-6D3D-8281-B3E7605C30AC}"/>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3800568" y="4079956"/>
            <a:ext cx="12789362" cy="4361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812688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F9BF-FB61-B37B-4DD6-EC661338B1A7}"/>
              </a:ext>
            </a:extLst>
          </p:cNvPr>
          <p:cNvSpPr>
            <a:spLocks noGrp="1"/>
          </p:cNvSpPr>
          <p:nvPr>
            <p:ph type="title"/>
          </p:nvPr>
        </p:nvSpPr>
        <p:spPr/>
        <p:txBody>
          <a:bodyPr>
            <a:normAutofit fontScale="90000"/>
          </a:bodyPr>
          <a:lstStyle/>
          <a:p>
            <a:r>
              <a:rPr lang="en-US" sz="3600" dirty="0"/>
              <a:t>Networks</a:t>
            </a:r>
            <a:endParaRPr lang="en-US" dirty="0"/>
          </a:p>
        </p:txBody>
      </p:sp>
      <p:sp>
        <p:nvSpPr>
          <p:cNvPr id="3" name="Text Placeholder 2">
            <a:extLst>
              <a:ext uri="{FF2B5EF4-FFF2-40B4-BE49-F238E27FC236}">
                <a16:creationId xmlns:a16="http://schemas.microsoft.com/office/drawing/2014/main" id="{963E347C-82DA-269E-2F0C-7170DD685561}"/>
              </a:ext>
            </a:extLst>
          </p:cNvPr>
          <p:cNvSpPr>
            <a:spLocks noGrp="1"/>
          </p:cNvSpPr>
          <p:nvPr>
            <p:ph type="body" sz="quarter" idx="10"/>
          </p:nvPr>
        </p:nvSpPr>
        <p:spPr/>
        <p:txBody>
          <a:bodyPr/>
          <a:lstStyle/>
          <a:p>
            <a:r>
              <a:rPr lang="en-US" dirty="0">
                <a:latin typeface="Open Sans ExtraBold" panose="020B0906030804020204" pitchFamily="34" charset="0"/>
                <a:ea typeface="Open Sans ExtraBold" panose="020B0906030804020204" pitchFamily="34" charset="0"/>
                <a:cs typeface="Open Sans ExtraBold" panose="020B0906030804020204" pitchFamily="34" charset="0"/>
              </a:rPr>
              <a:t>Topology – mesh – star- bus - ring</a:t>
            </a:r>
            <a:endParaRPr lang="en-US" dirty="0"/>
          </a:p>
        </p:txBody>
      </p:sp>
      <p:pic>
        <p:nvPicPr>
          <p:cNvPr id="5" name="Picture 6">
            <a:extLst>
              <a:ext uri="{FF2B5EF4-FFF2-40B4-BE49-F238E27FC236}">
                <a16:creationId xmlns:a16="http://schemas.microsoft.com/office/drawing/2014/main" id="{F8642BBD-1965-7340-093C-9F91D9351BA9}"/>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167377" y="3072139"/>
            <a:ext cx="7385697" cy="5484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07B0CFFE-B8DB-C63D-8E29-03BBCB4C9005}"/>
              </a:ext>
            </a:extLst>
          </p:cNvPr>
          <p:cNvSpPr txBox="1"/>
          <p:nvPr/>
        </p:nvSpPr>
        <p:spPr>
          <a:xfrm>
            <a:off x="2167377" y="8590600"/>
            <a:ext cx="8903365" cy="553998"/>
          </a:xfrm>
          <a:prstGeom prst="rect">
            <a:avLst/>
          </a:prstGeom>
          <a:noFill/>
        </p:spPr>
        <p:txBody>
          <a:bodyPr wrap="square" rtlCol="0">
            <a:spAutoFit/>
          </a:bodyPr>
          <a:lstStyle/>
          <a:p>
            <a:pPr algn="just"/>
            <a:r>
              <a:rPr lang="en-US" sz="1500" dirty="0"/>
              <a:t>Fig. 1.5. A fully connected mesh topology (five devices)</a:t>
            </a:r>
          </a:p>
          <a:p>
            <a:pPr algn="just"/>
            <a:r>
              <a:rPr lang="en-US" sz="1500" dirty="0"/>
              <a:t>Source : Data Communications and Networking with TCP/IP Protocol Suite. </a:t>
            </a:r>
            <a:r>
              <a:rPr lang="en-US" sz="1500" dirty="0" err="1"/>
              <a:t>Forouzan</a:t>
            </a:r>
            <a:r>
              <a:rPr lang="en-US" sz="1500" dirty="0"/>
              <a:t>, B. A.</a:t>
            </a:r>
          </a:p>
        </p:txBody>
      </p:sp>
      <p:pic>
        <p:nvPicPr>
          <p:cNvPr id="8" name="Picture 7">
            <a:extLst>
              <a:ext uri="{FF2B5EF4-FFF2-40B4-BE49-F238E27FC236}">
                <a16:creationId xmlns:a16="http://schemas.microsoft.com/office/drawing/2014/main" id="{EE55400B-C250-4B1C-2818-9078FC3EB3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45382" y="2468944"/>
            <a:ext cx="8689258" cy="4631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a:extLst>
              <a:ext uri="{FF2B5EF4-FFF2-40B4-BE49-F238E27FC236}">
                <a16:creationId xmlns:a16="http://schemas.microsoft.com/office/drawing/2014/main" id="{44F15B2C-EEBF-4A7C-F20F-53C03837A453}"/>
              </a:ext>
            </a:extLst>
          </p:cNvPr>
          <p:cNvSpPr txBox="1"/>
          <p:nvPr/>
        </p:nvSpPr>
        <p:spPr>
          <a:xfrm>
            <a:off x="12945382" y="7116943"/>
            <a:ext cx="11658598" cy="553998"/>
          </a:xfrm>
          <a:prstGeom prst="rect">
            <a:avLst/>
          </a:prstGeom>
          <a:noFill/>
        </p:spPr>
        <p:txBody>
          <a:bodyPr wrap="square" rtlCol="0">
            <a:spAutoFit/>
          </a:bodyPr>
          <a:lstStyle/>
          <a:p>
            <a:pPr algn="just"/>
            <a:r>
              <a:rPr lang="en-US" sz="1500" dirty="0"/>
              <a:t>Fig 1.6. A star topology connecting four stations</a:t>
            </a:r>
          </a:p>
          <a:p>
            <a:pPr algn="just"/>
            <a:r>
              <a:rPr lang="en-US" sz="1500" dirty="0"/>
              <a:t>Source : Data Communications and Networking with TCP/IP Protocol Suite. </a:t>
            </a:r>
            <a:r>
              <a:rPr lang="en-US" sz="1500" dirty="0" err="1"/>
              <a:t>Forouzan</a:t>
            </a:r>
            <a:r>
              <a:rPr lang="en-US" sz="1500" dirty="0"/>
              <a:t>, B. A.</a:t>
            </a:r>
          </a:p>
        </p:txBody>
      </p:sp>
      <p:pic>
        <p:nvPicPr>
          <p:cNvPr id="10" name="Picture 6">
            <a:extLst>
              <a:ext uri="{FF2B5EF4-FFF2-40B4-BE49-F238E27FC236}">
                <a16:creationId xmlns:a16="http://schemas.microsoft.com/office/drawing/2014/main" id="{4B17CE22-065A-6A2F-321F-6468623580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6705" y="9737406"/>
            <a:ext cx="9768875" cy="3117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1908398C-01A6-F9EF-47B6-A1332776D6F8}"/>
              </a:ext>
            </a:extLst>
          </p:cNvPr>
          <p:cNvSpPr txBox="1"/>
          <p:nvPr/>
        </p:nvSpPr>
        <p:spPr>
          <a:xfrm>
            <a:off x="13842726" y="12734259"/>
            <a:ext cx="6894569" cy="784830"/>
          </a:xfrm>
          <a:prstGeom prst="rect">
            <a:avLst/>
          </a:prstGeom>
          <a:noFill/>
        </p:spPr>
        <p:txBody>
          <a:bodyPr wrap="square" rtlCol="0">
            <a:spAutoFit/>
          </a:bodyPr>
          <a:lstStyle/>
          <a:p>
            <a:pPr algn="just"/>
            <a:r>
              <a:rPr lang="en-US" sz="1500" dirty="0"/>
              <a:t>Fig 1.7. A bus topology connecting three stations</a:t>
            </a:r>
          </a:p>
          <a:p>
            <a:pPr algn="just"/>
            <a:r>
              <a:rPr lang="en-US" sz="1500" dirty="0"/>
              <a:t>Source : Data Communications and Networking with TCP/IP Protocol Suite. </a:t>
            </a:r>
            <a:r>
              <a:rPr lang="en-US" sz="1500" dirty="0" err="1"/>
              <a:t>Forouzan</a:t>
            </a:r>
            <a:r>
              <a:rPr lang="en-US" sz="1500" dirty="0"/>
              <a:t>, B. A.</a:t>
            </a:r>
          </a:p>
        </p:txBody>
      </p:sp>
      <p:sp>
        <p:nvSpPr>
          <p:cNvPr id="12" name="TextBox 11">
            <a:extLst>
              <a:ext uri="{FF2B5EF4-FFF2-40B4-BE49-F238E27FC236}">
                <a16:creationId xmlns:a16="http://schemas.microsoft.com/office/drawing/2014/main" id="{59464FBE-F7D2-F8EB-A1FE-E6DF14256BF9}"/>
              </a:ext>
            </a:extLst>
          </p:cNvPr>
          <p:cNvSpPr txBox="1"/>
          <p:nvPr/>
        </p:nvSpPr>
        <p:spPr>
          <a:xfrm>
            <a:off x="3352800" y="13089444"/>
            <a:ext cx="11246428" cy="553998"/>
          </a:xfrm>
          <a:prstGeom prst="rect">
            <a:avLst/>
          </a:prstGeom>
          <a:noFill/>
        </p:spPr>
        <p:txBody>
          <a:bodyPr wrap="square" rtlCol="0">
            <a:spAutoFit/>
          </a:bodyPr>
          <a:lstStyle/>
          <a:p>
            <a:pPr algn="just"/>
            <a:r>
              <a:rPr lang="en-US" sz="1500" dirty="0"/>
              <a:t>Fig 1.8. A ring topology connecting six stations</a:t>
            </a:r>
          </a:p>
          <a:p>
            <a:pPr algn="just"/>
            <a:r>
              <a:rPr lang="en-US" sz="1500" dirty="0"/>
              <a:t>Source : Data Communications and Networking with TCP/IP Protocol Suite. </a:t>
            </a:r>
            <a:r>
              <a:rPr lang="en-US" sz="1500" dirty="0" err="1"/>
              <a:t>Forouzan</a:t>
            </a:r>
            <a:r>
              <a:rPr lang="en-US" sz="1500" dirty="0"/>
              <a:t>, B. A.</a:t>
            </a:r>
          </a:p>
        </p:txBody>
      </p:sp>
      <p:pic>
        <p:nvPicPr>
          <p:cNvPr id="13" name="Picture 7">
            <a:extLst>
              <a:ext uri="{FF2B5EF4-FFF2-40B4-BE49-F238E27FC236}">
                <a16:creationId xmlns:a16="http://schemas.microsoft.com/office/drawing/2014/main" id="{51EB1582-665D-0D36-2C81-40E79C305B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00775" y="8260433"/>
            <a:ext cx="8966280" cy="4631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369399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F9BF-FB61-B37B-4DD6-EC661338B1A7}"/>
              </a:ext>
            </a:extLst>
          </p:cNvPr>
          <p:cNvSpPr>
            <a:spLocks noGrp="1"/>
          </p:cNvSpPr>
          <p:nvPr>
            <p:ph type="title"/>
          </p:nvPr>
        </p:nvSpPr>
        <p:spPr/>
        <p:txBody>
          <a:bodyPr>
            <a:normAutofit fontScale="90000"/>
          </a:bodyPr>
          <a:lstStyle/>
          <a:p>
            <a:r>
              <a:rPr lang="en-US" sz="3600" dirty="0"/>
              <a:t>Networks types</a:t>
            </a:r>
            <a:endParaRPr lang="en-US" dirty="0"/>
          </a:p>
        </p:txBody>
      </p:sp>
      <p:sp>
        <p:nvSpPr>
          <p:cNvPr id="5" name="Text Placeholder 4">
            <a:extLst>
              <a:ext uri="{FF2B5EF4-FFF2-40B4-BE49-F238E27FC236}">
                <a16:creationId xmlns:a16="http://schemas.microsoft.com/office/drawing/2014/main" id="{F9F59D5A-456C-7FBB-B816-DB9EC8C35D56}"/>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Categories of Networks</a:t>
            </a:r>
            <a:endParaRPr lang="en-US" dirty="0"/>
          </a:p>
        </p:txBody>
      </p:sp>
      <p:sp>
        <p:nvSpPr>
          <p:cNvPr id="8" name="Rectangle 7">
            <a:extLst>
              <a:ext uri="{FF2B5EF4-FFF2-40B4-BE49-F238E27FC236}">
                <a16:creationId xmlns:a16="http://schemas.microsoft.com/office/drawing/2014/main" id="{E4B5E2B1-0DB5-15C4-447D-32D15A96BACF}"/>
              </a:ext>
            </a:extLst>
          </p:cNvPr>
          <p:cNvSpPr txBox="1">
            <a:spLocks noGrp="1" noChangeArrowheads="1"/>
          </p:cNvSpPr>
          <p:nvPr>
            <p:ph sz="quarter" idx="11"/>
          </p:nvPr>
        </p:nvSpPr>
        <p:spPr>
          <a:xfrm>
            <a:off x="3383574" y="3908413"/>
            <a:ext cx="16579516" cy="4042610"/>
          </a:xfrm>
          <a:prstGeom prst="rect">
            <a:avLst/>
          </a:prstGeom>
        </p:spPr>
        <p:txBody>
          <a:bodyPr vert="horz" lIns="135732" tIns="66676" rIns="135732" bIns="66676"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ct val="0"/>
              </a:spcBef>
            </a:pPr>
            <a:r>
              <a:rPr lang="en-US" b="1" dirty="0">
                <a:latin typeface="Open Sans Light" panose="020B0306030504020204" pitchFamily="34" charset="0"/>
                <a:ea typeface="Open Sans Light" panose="020B0306030504020204" pitchFamily="34" charset="0"/>
                <a:cs typeface="Open Sans Light" panose="020B0306030504020204" pitchFamily="34" charset="0"/>
              </a:rPr>
              <a:t>Local Area Networks (LANs)</a:t>
            </a:r>
          </a:p>
          <a:p>
            <a:pPr lvl="1" algn="just">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Short distances</a:t>
            </a:r>
          </a:p>
          <a:p>
            <a:pPr lvl="1" algn="just">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Designed to provide local interconnectivity</a:t>
            </a:r>
          </a:p>
          <a:p>
            <a:pPr algn="just">
              <a:spcBef>
                <a:spcPct val="0"/>
              </a:spcBef>
            </a:pPr>
            <a:r>
              <a:rPr lang="en-US" b="1" dirty="0">
                <a:latin typeface="Open Sans Light" panose="020B0306030504020204" pitchFamily="34" charset="0"/>
                <a:ea typeface="Open Sans Light" panose="020B0306030504020204" pitchFamily="34" charset="0"/>
                <a:cs typeface="Open Sans Light" panose="020B0306030504020204" pitchFamily="34" charset="0"/>
              </a:rPr>
              <a:t>Wide Area Networks (WANs)</a:t>
            </a:r>
          </a:p>
          <a:p>
            <a:pPr lvl="1" algn="just">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Long distances</a:t>
            </a:r>
          </a:p>
          <a:p>
            <a:pPr lvl="1" algn="just">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Provide connectivity over large areas</a:t>
            </a:r>
          </a:p>
          <a:p>
            <a:pPr algn="just">
              <a:spcBef>
                <a:spcPct val="0"/>
              </a:spcBef>
            </a:pPr>
            <a:r>
              <a:rPr lang="en-US" b="1" dirty="0">
                <a:latin typeface="Open Sans Light" panose="020B0306030504020204" pitchFamily="34" charset="0"/>
                <a:ea typeface="Open Sans Light" panose="020B0306030504020204" pitchFamily="34" charset="0"/>
                <a:cs typeface="Open Sans Light" panose="020B0306030504020204" pitchFamily="34" charset="0"/>
              </a:rPr>
              <a:t>Metropolitan Area Networks (MANs)</a:t>
            </a:r>
          </a:p>
          <a:p>
            <a:pPr lvl="1" algn="just">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Provide connectivity over areas such as a city, a campus</a:t>
            </a:r>
          </a:p>
        </p:txBody>
      </p:sp>
    </p:spTree>
    <p:extLst>
      <p:ext uri="{BB962C8B-B14F-4D97-AF65-F5344CB8AC3E}">
        <p14:creationId xmlns:p14="http://schemas.microsoft.com/office/powerpoint/2010/main" val="106699333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F9BF-FB61-B37B-4DD6-EC661338B1A7}"/>
              </a:ext>
            </a:extLst>
          </p:cNvPr>
          <p:cNvSpPr>
            <a:spLocks noGrp="1"/>
          </p:cNvSpPr>
          <p:nvPr>
            <p:ph type="title"/>
          </p:nvPr>
        </p:nvSpPr>
        <p:spPr/>
        <p:txBody>
          <a:bodyPr>
            <a:normAutofit fontScale="90000"/>
          </a:bodyPr>
          <a:lstStyle/>
          <a:p>
            <a:r>
              <a:rPr lang="en-US" sz="3600" dirty="0"/>
              <a:t>Networks types</a:t>
            </a:r>
            <a:endParaRPr lang="en-US" dirty="0"/>
          </a:p>
        </p:txBody>
      </p:sp>
      <p:sp>
        <p:nvSpPr>
          <p:cNvPr id="5" name="Text Placeholder 4">
            <a:extLst>
              <a:ext uri="{FF2B5EF4-FFF2-40B4-BE49-F238E27FC236}">
                <a16:creationId xmlns:a16="http://schemas.microsoft.com/office/drawing/2014/main" id="{F9F59D5A-456C-7FBB-B816-DB9EC8C35D56}"/>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LAN</a:t>
            </a:r>
            <a:endParaRPr lang="en-US" dirty="0"/>
          </a:p>
        </p:txBody>
      </p:sp>
      <p:sp>
        <p:nvSpPr>
          <p:cNvPr id="4" name="Content Placeholder 3">
            <a:extLst>
              <a:ext uri="{FF2B5EF4-FFF2-40B4-BE49-F238E27FC236}">
                <a16:creationId xmlns:a16="http://schemas.microsoft.com/office/drawing/2014/main" id="{D51B6C2A-1887-7CEC-485B-01162F329464}"/>
              </a:ext>
            </a:extLst>
          </p:cNvPr>
          <p:cNvSpPr>
            <a:spLocks noGrp="1"/>
          </p:cNvSpPr>
          <p:nvPr>
            <p:ph sz="quarter" idx="11"/>
          </p:nvPr>
        </p:nvSpPr>
        <p:spPr/>
        <p:txBody>
          <a:bodyPr/>
          <a:lstStyle/>
          <a:p>
            <a:endParaRPr lang="en-US"/>
          </a:p>
        </p:txBody>
      </p:sp>
      <p:pic>
        <p:nvPicPr>
          <p:cNvPr id="6" name="Picture 5">
            <a:extLst>
              <a:ext uri="{FF2B5EF4-FFF2-40B4-BE49-F238E27FC236}">
                <a16:creationId xmlns:a16="http://schemas.microsoft.com/office/drawing/2014/main" id="{3784E76F-88EB-7273-5B84-FC896C7D373D}"/>
              </a:ext>
            </a:extLst>
          </p:cNvPr>
          <p:cNvPicPr>
            <a:picLocks noChangeAspect="1"/>
          </p:cNvPicPr>
          <p:nvPr/>
        </p:nvPicPr>
        <p:blipFill>
          <a:blip r:embed="rId2"/>
          <a:stretch>
            <a:fillRect/>
          </a:stretch>
        </p:blipFill>
        <p:spPr>
          <a:xfrm>
            <a:off x="5882306" y="4451684"/>
            <a:ext cx="13945735" cy="8004954"/>
          </a:xfrm>
          <a:prstGeom prst="rect">
            <a:avLst/>
          </a:prstGeom>
        </p:spPr>
      </p:pic>
    </p:spTree>
    <p:extLst>
      <p:ext uri="{BB962C8B-B14F-4D97-AF65-F5344CB8AC3E}">
        <p14:creationId xmlns:p14="http://schemas.microsoft.com/office/powerpoint/2010/main" val="14836540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F9BF-FB61-B37B-4DD6-EC661338B1A7}"/>
              </a:ext>
            </a:extLst>
          </p:cNvPr>
          <p:cNvSpPr>
            <a:spLocks noGrp="1"/>
          </p:cNvSpPr>
          <p:nvPr>
            <p:ph type="title"/>
          </p:nvPr>
        </p:nvSpPr>
        <p:spPr/>
        <p:txBody>
          <a:bodyPr>
            <a:normAutofit fontScale="90000"/>
          </a:bodyPr>
          <a:lstStyle/>
          <a:p>
            <a:r>
              <a:rPr lang="en-US" sz="3600" dirty="0"/>
              <a:t>Networks types</a:t>
            </a:r>
            <a:endParaRPr lang="en-US" dirty="0"/>
          </a:p>
        </p:txBody>
      </p:sp>
      <p:sp>
        <p:nvSpPr>
          <p:cNvPr id="5" name="Text Placeholder 4">
            <a:extLst>
              <a:ext uri="{FF2B5EF4-FFF2-40B4-BE49-F238E27FC236}">
                <a16:creationId xmlns:a16="http://schemas.microsoft.com/office/drawing/2014/main" id="{F9F59D5A-456C-7FBB-B816-DB9EC8C35D56}"/>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LAN</a:t>
            </a:r>
            <a:endParaRPr lang="en-US" dirty="0"/>
          </a:p>
        </p:txBody>
      </p:sp>
      <p:sp>
        <p:nvSpPr>
          <p:cNvPr id="4" name="Content Placeholder 3">
            <a:extLst>
              <a:ext uri="{FF2B5EF4-FFF2-40B4-BE49-F238E27FC236}">
                <a16:creationId xmlns:a16="http://schemas.microsoft.com/office/drawing/2014/main" id="{D51B6C2A-1887-7CEC-485B-01162F329464}"/>
              </a:ext>
            </a:extLst>
          </p:cNvPr>
          <p:cNvSpPr>
            <a:spLocks noGrp="1"/>
          </p:cNvSpPr>
          <p:nvPr>
            <p:ph sz="quarter" idx="11"/>
          </p:nvPr>
        </p:nvSpPr>
        <p:spPr/>
        <p:txBody>
          <a:bodyPr/>
          <a:lstStyle/>
          <a:p>
            <a:endParaRPr lang="en-US"/>
          </a:p>
        </p:txBody>
      </p:sp>
      <p:sp>
        <p:nvSpPr>
          <p:cNvPr id="3" name="TextBox 2">
            <a:extLst>
              <a:ext uri="{FF2B5EF4-FFF2-40B4-BE49-F238E27FC236}">
                <a16:creationId xmlns:a16="http://schemas.microsoft.com/office/drawing/2014/main" id="{24E98266-889F-97A0-CC2D-7354068BCBDD}"/>
              </a:ext>
            </a:extLst>
          </p:cNvPr>
          <p:cNvSpPr txBox="1"/>
          <p:nvPr/>
        </p:nvSpPr>
        <p:spPr>
          <a:xfrm>
            <a:off x="5193506" y="12792673"/>
            <a:ext cx="14301788" cy="553998"/>
          </a:xfrm>
          <a:prstGeom prst="rect">
            <a:avLst/>
          </a:prstGeom>
          <a:noFill/>
        </p:spPr>
        <p:txBody>
          <a:bodyPr wrap="square" rtlCol="0">
            <a:spAutoFit/>
          </a:bodyPr>
          <a:lstStyle/>
          <a:p>
            <a:pPr algn="just"/>
            <a:r>
              <a:rPr lang="en-US" sz="1500" dirty="0"/>
              <a:t>Fig 1.10. A point-to-point WAN</a:t>
            </a:r>
          </a:p>
          <a:p>
            <a:pPr algn="just"/>
            <a:r>
              <a:rPr lang="en-US" sz="1500" dirty="0"/>
              <a:t>Source : Data Communications and Networking with TCP/IP Protocol Suite. </a:t>
            </a:r>
            <a:r>
              <a:rPr lang="en-US" sz="1500" dirty="0" err="1"/>
              <a:t>Forouzan</a:t>
            </a:r>
            <a:r>
              <a:rPr lang="en-US" sz="1500" dirty="0"/>
              <a:t>, B. A.</a:t>
            </a:r>
          </a:p>
        </p:txBody>
      </p:sp>
      <p:pic>
        <p:nvPicPr>
          <p:cNvPr id="7" name="Picture 6">
            <a:extLst>
              <a:ext uri="{FF2B5EF4-FFF2-40B4-BE49-F238E27FC236}">
                <a16:creationId xmlns:a16="http://schemas.microsoft.com/office/drawing/2014/main" id="{D44619CF-0AD0-0DB5-6B6A-7076859883CD}"/>
              </a:ext>
            </a:extLst>
          </p:cNvPr>
          <p:cNvPicPr>
            <a:picLocks noChangeAspect="1"/>
          </p:cNvPicPr>
          <p:nvPr/>
        </p:nvPicPr>
        <p:blipFill>
          <a:blip r:embed="rId2"/>
          <a:stretch>
            <a:fillRect/>
          </a:stretch>
        </p:blipFill>
        <p:spPr>
          <a:xfrm>
            <a:off x="3914273" y="4786878"/>
            <a:ext cx="17669256" cy="4142243"/>
          </a:xfrm>
          <a:prstGeom prst="rect">
            <a:avLst/>
          </a:prstGeom>
        </p:spPr>
      </p:pic>
    </p:spTree>
    <p:extLst>
      <p:ext uri="{BB962C8B-B14F-4D97-AF65-F5344CB8AC3E}">
        <p14:creationId xmlns:p14="http://schemas.microsoft.com/office/powerpoint/2010/main" val="162008190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5878-6C24-D54B-AA6E-A71EA8E3EEE8}"/>
              </a:ext>
            </a:extLst>
          </p:cNvPr>
          <p:cNvSpPr>
            <a:spLocks noGrp="1"/>
          </p:cNvSpPr>
          <p:nvPr>
            <p:ph type="title"/>
          </p:nvPr>
        </p:nvSpPr>
        <p:spPr/>
        <p:txBody>
          <a:bodyPr>
            <a:normAutofit fontScale="90000"/>
          </a:bodyPr>
          <a:lstStyle/>
          <a:p>
            <a:r>
              <a:rPr lang="en-US" sz="4000" dirty="0"/>
              <a:t>Networks types</a:t>
            </a:r>
            <a:endParaRPr lang="en-US" dirty="0"/>
          </a:p>
        </p:txBody>
      </p:sp>
      <p:sp>
        <p:nvSpPr>
          <p:cNvPr id="3" name="Text Placeholder 2">
            <a:extLst>
              <a:ext uri="{FF2B5EF4-FFF2-40B4-BE49-F238E27FC236}">
                <a16:creationId xmlns:a16="http://schemas.microsoft.com/office/drawing/2014/main" id="{434B0EEE-86D8-A1BB-39A1-CF0010874EA3}"/>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WAN</a:t>
            </a:r>
            <a:endParaRPr lang="en-US" dirty="0"/>
          </a:p>
        </p:txBody>
      </p:sp>
      <p:pic>
        <p:nvPicPr>
          <p:cNvPr id="5" name="Content Placeholder 4">
            <a:extLst>
              <a:ext uri="{FF2B5EF4-FFF2-40B4-BE49-F238E27FC236}">
                <a16:creationId xmlns:a16="http://schemas.microsoft.com/office/drawing/2014/main" id="{2F644184-1D65-8B4D-F35A-EA086E8A4022}"/>
              </a:ext>
            </a:extLst>
          </p:cNvPr>
          <p:cNvPicPr>
            <a:picLocks noGrp="1" noChangeAspect="1"/>
          </p:cNvPicPr>
          <p:nvPr>
            <p:ph sz="quarter" idx="11"/>
          </p:nvPr>
        </p:nvPicPr>
        <p:blipFill>
          <a:blip r:embed="rId2"/>
          <a:stretch>
            <a:fillRect/>
          </a:stretch>
        </p:blipFill>
        <p:spPr>
          <a:xfrm>
            <a:off x="5110693" y="5688367"/>
            <a:ext cx="14162613" cy="3320173"/>
          </a:xfrm>
          <a:prstGeom prst="rect">
            <a:avLst/>
          </a:prstGeom>
        </p:spPr>
      </p:pic>
    </p:spTree>
    <p:extLst>
      <p:ext uri="{BB962C8B-B14F-4D97-AF65-F5344CB8AC3E}">
        <p14:creationId xmlns:p14="http://schemas.microsoft.com/office/powerpoint/2010/main" val="95650443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5878-6C24-D54B-AA6E-A71EA8E3EEE8}"/>
              </a:ext>
            </a:extLst>
          </p:cNvPr>
          <p:cNvSpPr>
            <a:spLocks noGrp="1"/>
          </p:cNvSpPr>
          <p:nvPr>
            <p:ph type="title"/>
          </p:nvPr>
        </p:nvSpPr>
        <p:spPr/>
        <p:txBody>
          <a:bodyPr>
            <a:normAutofit fontScale="90000"/>
          </a:bodyPr>
          <a:lstStyle/>
          <a:p>
            <a:r>
              <a:rPr lang="en-US" sz="4000" dirty="0"/>
              <a:t>Networks types</a:t>
            </a:r>
            <a:endParaRPr lang="en-US" dirty="0"/>
          </a:p>
        </p:txBody>
      </p:sp>
      <p:sp>
        <p:nvSpPr>
          <p:cNvPr id="3" name="Text Placeholder 2">
            <a:extLst>
              <a:ext uri="{FF2B5EF4-FFF2-40B4-BE49-F238E27FC236}">
                <a16:creationId xmlns:a16="http://schemas.microsoft.com/office/drawing/2014/main" id="{434B0EEE-86D8-A1BB-39A1-CF0010874EA3}"/>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WAN</a:t>
            </a:r>
            <a:endParaRPr lang="en-US" dirty="0"/>
          </a:p>
        </p:txBody>
      </p:sp>
      <p:pic>
        <p:nvPicPr>
          <p:cNvPr id="7" name="Content Placeholder 6">
            <a:extLst>
              <a:ext uri="{FF2B5EF4-FFF2-40B4-BE49-F238E27FC236}">
                <a16:creationId xmlns:a16="http://schemas.microsoft.com/office/drawing/2014/main" id="{9FCD31F6-5131-D51B-489F-1EDED88816F0}"/>
              </a:ext>
            </a:extLst>
          </p:cNvPr>
          <p:cNvPicPr>
            <a:picLocks noGrp="1" noChangeAspect="1"/>
          </p:cNvPicPr>
          <p:nvPr>
            <p:ph sz="quarter" idx="11"/>
          </p:nvPr>
        </p:nvPicPr>
        <p:blipFill>
          <a:blip r:embed="rId2"/>
          <a:stretch>
            <a:fillRect/>
          </a:stretch>
        </p:blipFill>
        <p:spPr>
          <a:xfrm>
            <a:off x="5919537" y="4636837"/>
            <a:ext cx="14075945" cy="5243053"/>
          </a:xfrm>
          <a:prstGeom prst="rect">
            <a:avLst/>
          </a:prstGeom>
        </p:spPr>
      </p:pic>
    </p:spTree>
    <p:extLst>
      <p:ext uri="{BB962C8B-B14F-4D97-AF65-F5344CB8AC3E}">
        <p14:creationId xmlns:p14="http://schemas.microsoft.com/office/powerpoint/2010/main" val="307702668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5878-6C24-D54B-AA6E-A71EA8E3EEE8}"/>
              </a:ext>
            </a:extLst>
          </p:cNvPr>
          <p:cNvSpPr>
            <a:spLocks noGrp="1"/>
          </p:cNvSpPr>
          <p:nvPr>
            <p:ph type="title"/>
          </p:nvPr>
        </p:nvSpPr>
        <p:spPr>
          <a:xfrm>
            <a:off x="2167377" y="1872058"/>
            <a:ext cx="14715569" cy="510281"/>
          </a:xfrm>
        </p:spPr>
        <p:txBody>
          <a:bodyPr>
            <a:normAutofit/>
          </a:bodyPr>
          <a:lstStyle/>
          <a:p>
            <a:r>
              <a:rPr lang="en-US" sz="3200"/>
              <a:t>Networks types</a:t>
            </a:r>
          </a:p>
        </p:txBody>
      </p:sp>
      <p:sp>
        <p:nvSpPr>
          <p:cNvPr id="3" name="Text Placeholder 2">
            <a:extLst>
              <a:ext uri="{FF2B5EF4-FFF2-40B4-BE49-F238E27FC236}">
                <a16:creationId xmlns:a16="http://schemas.microsoft.com/office/drawing/2014/main" id="{434B0EEE-86D8-A1BB-39A1-CF0010874EA3}"/>
              </a:ext>
            </a:extLst>
          </p:cNvPr>
          <p:cNvSpPr>
            <a:spLocks noGrp="1"/>
          </p:cNvSpPr>
          <p:nvPr>
            <p:ph type="body" sz="quarter" idx="10"/>
          </p:nvPr>
        </p:nvSpPr>
        <p:spPr>
          <a:xfrm>
            <a:off x="2167377" y="2419728"/>
            <a:ext cx="9768875" cy="803546"/>
          </a:xfrm>
        </p:spPr>
        <p:txBody>
          <a:bodyPr>
            <a:normAutofit/>
          </a:bodyPr>
          <a:lstStyle/>
          <a:p>
            <a:r>
              <a:rPr lang="id-ID"/>
              <a:t>WAN</a:t>
            </a:r>
            <a:endParaRPr lang="en-US" dirty="0"/>
          </a:p>
        </p:txBody>
      </p:sp>
      <p:pic>
        <p:nvPicPr>
          <p:cNvPr id="8" name="Content Placeholder 7">
            <a:extLst>
              <a:ext uri="{FF2B5EF4-FFF2-40B4-BE49-F238E27FC236}">
                <a16:creationId xmlns:a16="http://schemas.microsoft.com/office/drawing/2014/main" id="{F8524447-3FA5-B19F-8F02-D20FBF7CCBCC}"/>
              </a:ext>
            </a:extLst>
          </p:cNvPr>
          <p:cNvPicPr>
            <a:picLocks noGrp="1" noChangeAspect="1"/>
          </p:cNvPicPr>
          <p:nvPr>
            <p:ph sz="quarter" idx="11"/>
          </p:nvPr>
        </p:nvPicPr>
        <p:blipFill>
          <a:blip r:embed="rId2"/>
          <a:stretch>
            <a:fillRect/>
          </a:stretch>
        </p:blipFill>
        <p:spPr>
          <a:xfrm>
            <a:off x="5486930" y="6086921"/>
            <a:ext cx="13714940" cy="3017286"/>
          </a:xfrm>
          <a:prstGeom prst="rect">
            <a:avLst/>
          </a:prstGeom>
          <a:noFill/>
        </p:spPr>
      </p:pic>
    </p:spTree>
    <p:extLst>
      <p:ext uri="{BB962C8B-B14F-4D97-AF65-F5344CB8AC3E}">
        <p14:creationId xmlns:p14="http://schemas.microsoft.com/office/powerpoint/2010/main" val="168842913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2FC3F-987C-4E80-C386-5BFCB3CFA9C6}"/>
              </a:ext>
            </a:extLst>
          </p:cNvPr>
          <p:cNvSpPr>
            <a:spLocks noGrp="1"/>
          </p:cNvSpPr>
          <p:nvPr>
            <p:ph type="title"/>
          </p:nvPr>
        </p:nvSpPr>
        <p:spPr/>
        <p:txBody>
          <a:bodyPr>
            <a:normAutofit fontScale="90000"/>
          </a:bodyPr>
          <a:lstStyle/>
          <a:p>
            <a:r>
              <a:rPr lang="en-US" sz="4000" dirty="0"/>
              <a:t>The Internet</a:t>
            </a:r>
            <a:br>
              <a:rPr lang="en-US" sz="4000" dirty="0"/>
            </a:br>
            <a:endParaRPr lang="en-US" dirty="0"/>
          </a:p>
        </p:txBody>
      </p:sp>
      <p:sp>
        <p:nvSpPr>
          <p:cNvPr id="3" name="Text Placeholder 2">
            <a:extLst>
              <a:ext uri="{FF2B5EF4-FFF2-40B4-BE49-F238E27FC236}">
                <a16:creationId xmlns:a16="http://schemas.microsoft.com/office/drawing/2014/main" id="{646289C4-2A3B-B78B-43B3-4C4B2C567BC9}"/>
              </a:ext>
            </a:extLst>
          </p:cNvPr>
          <p:cNvSpPr>
            <a:spLocks noGrp="1"/>
          </p:cNvSpPr>
          <p:nvPr>
            <p:ph type="body" sz="quarter" idx="10"/>
          </p:nvPr>
        </p:nvSpPr>
        <p:spPr/>
        <p:txBody>
          <a:bodyPr/>
          <a:lstStyle/>
          <a:p>
            <a:endParaRPr lang="en-US" dirty="0"/>
          </a:p>
        </p:txBody>
      </p:sp>
      <p:sp>
        <p:nvSpPr>
          <p:cNvPr id="7" name="Rectangle 7">
            <a:extLst>
              <a:ext uri="{FF2B5EF4-FFF2-40B4-BE49-F238E27FC236}">
                <a16:creationId xmlns:a16="http://schemas.microsoft.com/office/drawing/2014/main" id="{5D4FFDDC-681A-46BF-A631-8D5DDCF2F7CB}"/>
              </a:ext>
            </a:extLst>
          </p:cNvPr>
          <p:cNvSpPr txBox="1">
            <a:spLocks noGrp="1" noChangeArrowheads="1"/>
          </p:cNvSpPr>
          <p:nvPr>
            <p:ph sz="quarter" idx="11"/>
          </p:nvPr>
        </p:nvSpPr>
        <p:spPr>
          <a:xfrm>
            <a:off x="3128212" y="3433011"/>
            <a:ext cx="17594178" cy="2654968"/>
          </a:xfrm>
          <a:prstGeom prst="rect">
            <a:avLst/>
          </a:prstGeom>
        </p:spPr>
        <p:txBody>
          <a:bodyPr vert="horz" lIns="135732" tIns="66676" rIns="135732" bIns="66676"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ct val="0"/>
              </a:spcBef>
              <a:buNone/>
            </a:pPr>
            <a:r>
              <a:rPr lang="en-US" b="1" dirty="0">
                <a:latin typeface="Open Sans Light" panose="020B0306030504020204" pitchFamily="34" charset="0"/>
                <a:ea typeface="Open Sans Light" panose="020B0306030504020204" pitchFamily="34" charset="0"/>
                <a:cs typeface="Open Sans Light" panose="020B0306030504020204" pitchFamily="34" charset="0"/>
              </a:rPr>
              <a:t>The Internet has revolutionized many aspects of our daily lives. It has affected the way we do business as well as the way we spend our leisure time. The Internet is a communication system that has brought a wealth of information to our fingertips and organized it for our use. </a:t>
            </a:r>
          </a:p>
          <a:p>
            <a:pPr algn="just">
              <a:spcBef>
                <a:spcPct val="0"/>
              </a:spcBef>
            </a:pPr>
            <a:endParaRPr lang="en-US" b="1"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8" name="Picture 7">
            <a:extLst>
              <a:ext uri="{FF2B5EF4-FFF2-40B4-BE49-F238E27FC236}">
                <a16:creationId xmlns:a16="http://schemas.microsoft.com/office/drawing/2014/main" id="{955262D8-A9EC-7590-54AF-6CC53FFADD15}"/>
              </a:ext>
            </a:extLst>
          </p:cNvPr>
          <p:cNvPicPr>
            <a:picLocks noChangeAspect="1"/>
          </p:cNvPicPr>
          <p:nvPr/>
        </p:nvPicPr>
        <p:blipFill>
          <a:blip r:embed="rId2"/>
          <a:stretch>
            <a:fillRect/>
          </a:stretch>
        </p:blipFill>
        <p:spPr>
          <a:xfrm>
            <a:off x="2050026" y="7004154"/>
            <a:ext cx="9144000" cy="5715000"/>
          </a:xfrm>
          <a:prstGeom prst="rect">
            <a:avLst/>
          </a:prstGeom>
        </p:spPr>
      </p:pic>
      <p:pic>
        <p:nvPicPr>
          <p:cNvPr id="9" name="Picture 8">
            <a:extLst>
              <a:ext uri="{FF2B5EF4-FFF2-40B4-BE49-F238E27FC236}">
                <a16:creationId xmlns:a16="http://schemas.microsoft.com/office/drawing/2014/main" id="{F59AF9B6-8087-1B8E-BE2C-24DED115893F}"/>
              </a:ext>
            </a:extLst>
          </p:cNvPr>
          <p:cNvPicPr>
            <a:picLocks noChangeAspect="1"/>
          </p:cNvPicPr>
          <p:nvPr/>
        </p:nvPicPr>
        <p:blipFill>
          <a:blip r:embed="rId3"/>
          <a:stretch>
            <a:fillRect/>
          </a:stretch>
        </p:blipFill>
        <p:spPr>
          <a:xfrm>
            <a:off x="12778869" y="6858000"/>
            <a:ext cx="9353550" cy="5751736"/>
          </a:xfrm>
          <a:prstGeom prst="rect">
            <a:avLst/>
          </a:prstGeom>
        </p:spPr>
      </p:pic>
    </p:spTree>
    <p:extLst>
      <p:ext uri="{BB962C8B-B14F-4D97-AF65-F5344CB8AC3E}">
        <p14:creationId xmlns:p14="http://schemas.microsoft.com/office/powerpoint/2010/main" val="299501194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2FC3F-987C-4E80-C386-5BFCB3CFA9C6}"/>
              </a:ext>
            </a:extLst>
          </p:cNvPr>
          <p:cNvSpPr>
            <a:spLocks noGrp="1"/>
          </p:cNvSpPr>
          <p:nvPr>
            <p:ph type="title"/>
          </p:nvPr>
        </p:nvSpPr>
        <p:spPr/>
        <p:txBody>
          <a:bodyPr>
            <a:normAutofit fontScale="90000"/>
          </a:bodyPr>
          <a:lstStyle/>
          <a:p>
            <a:r>
              <a:rPr lang="en-US" sz="4000" dirty="0"/>
              <a:t>The Internet</a:t>
            </a:r>
            <a:br>
              <a:rPr lang="en-US" sz="4000" dirty="0"/>
            </a:br>
            <a:endParaRPr lang="en-US" dirty="0"/>
          </a:p>
        </p:txBody>
      </p:sp>
      <p:sp>
        <p:nvSpPr>
          <p:cNvPr id="3" name="Text Placeholder 2">
            <a:extLst>
              <a:ext uri="{FF2B5EF4-FFF2-40B4-BE49-F238E27FC236}">
                <a16:creationId xmlns:a16="http://schemas.microsoft.com/office/drawing/2014/main" id="{646289C4-2A3B-B78B-43B3-4C4B2C567BC9}"/>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Accessing the Internet</a:t>
            </a:r>
            <a:endParaRPr lang="en-US" dirty="0"/>
          </a:p>
        </p:txBody>
      </p:sp>
      <p:sp>
        <p:nvSpPr>
          <p:cNvPr id="6" name="Rectangle 7">
            <a:extLst>
              <a:ext uri="{FF2B5EF4-FFF2-40B4-BE49-F238E27FC236}">
                <a16:creationId xmlns:a16="http://schemas.microsoft.com/office/drawing/2014/main" id="{46799CF0-6A71-884E-3003-7D92DD901F29}"/>
              </a:ext>
            </a:extLst>
          </p:cNvPr>
          <p:cNvSpPr txBox="1">
            <a:spLocks noGrp="1" noChangeArrowheads="1"/>
          </p:cNvSpPr>
          <p:nvPr>
            <p:ph sz="quarter" idx="11"/>
          </p:nvPr>
        </p:nvSpPr>
        <p:spPr>
          <a:xfrm>
            <a:off x="3104148" y="3981450"/>
            <a:ext cx="16747958" cy="4522788"/>
          </a:xfrm>
          <a:prstGeom prst="rect">
            <a:avLst/>
          </a:prstGeom>
        </p:spPr>
        <p:txBody>
          <a:bodyPr vert="horz" lIns="135732" tIns="66676" rIns="135732" bIns="66676"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ct val="0"/>
              </a:spcBef>
            </a:pPr>
            <a:r>
              <a:rPr lang="en-US" b="1" dirty="0">
                <a:latin typeface="Open Sans Light" panose="020B0306030504020204" pitchFamily="34" charset="0"/>
                <a:ea typeface="Open Sans Light" panose="020B0306030504020204" pitchFamily="34" charset="0"/>
                <a:cs typeface="Open Sans Light" panose="020B0306030504020204" pitchFamily="34" charset="0"/>
              </a:rPr>
              <a:t>The Internet today is an internetwork that allows any user to become part of it. The user, however, needs to be physically connected to an ISP.</a:t>
            </a:r>
          </a:p>
          <a:p>
            <a:pPr algn="just">
              <a:spcBef>
                <a:spcPct val="0"/>
              </a:spcBef>
            </a:pPr>
            <a:r>
              <a:rPr lang="en-US" b="1" dirty="0">
                <a:latin typeface="Open Sans Light" panose="020B0306030504020204" pitchFamily="34" charset="0"/>
                <a:ea typeface="Open Sans Light" panose="020B0306030504020204" pitchFamily="34" charset="0"/>
                <a:cs typeface="Open Sans Light" panose="020B0306030504020204" pitchFamily="34" charset="0"/>
              </a:rPr>
              <a:t>The physical connection is normally done through a point-to-point WAN (such as a</a:t>
            </a:r>
          </a:p>
          <a:p>
            <a:pPr lvl="1" algn="just">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Telephone network, </a:t>
            </a:r>
          </a:p>
          <a:p>
            <a:pPr lvl="1" algn="just">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Cable network, </a:t>
            </a:r>
          </a:p>
          <a:p>
            <a:pPr lvl="1" algn="just">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Wireless network, or </a:t>
            </a:r>
          </a:p>
          <a:p>
            <a:pPr lvl="1" algn="just">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Other types of networks).</a:t>
            </a:r>
          </a:p>
        </p:txBody>
      </p:sp>
    </p:spTree>
    <p:extLst>
      <p:ext uri="{BB962C8B-B14F-4D97-AF65-F5344CB8AC3E}">
        <p14:creationId xmlns:p14="http://schemas.microsoft.com/office/powerpoint/2010/main" val="239689277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1DC7F-29F5-9596-4A7D-7CABE4BB4BBF}"/>
              </a:ext>
            </a:extLst>
          </p:cNvPr>
          <p:cNvSpPr>
            <a:spLocks noGrp="1"/>
          </p:cNvSpPr>
          <p:nvPr>
            <p:ph type="title"/>
          </p:nvPr>
        </p:nvSpPr>
        <p:spPr/>
        <p:txBody>
          <a:bodyPr>
            <a:normAutofit fontScale="90000"/>
          </a:bodyPr>
          <a:lstStyle/>
          <a:p>
            <a:r>
              <a:rPr lang="en-US" sz="4000" dirty="0"/>
              <a:t>Protocol Layering</a:t>
            </a:r>
            <a:br>
              <a:rPr lang="en-US" sz="4000" dirty="0"/>
            </a:br>
            <a:endParaRPr lang="en-US" dirty="0"/>
          </a:p>
        </p:txBody>
      </p:sp>
      <p:sp>
        <p:nvSpPr>
          <p:cNvPr id="3" name="Text Placeholder 2">
            <a:extLst>
              <a:ext uri="{FF2B5EF4-FFF2-40B4-BE49-F238E27FC236}">
                <a16:creationId xmlns:a16="http://schemas.microsoft.com/office/drawing/2014/main" id="{B096A474-A313-8A87-5AF2-4DC3007854FD}"/>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5B590A5D-5668-DB65-8A6C-DF7BA3224500}"/>
              </a:ext>
            </a:extLst>
          </p:cNvPr>
          <p:cNvSpPr>
            <a:spLocks noGrp="1"/>
          </p:cNvSpPr>
          <p:nvPr>
            <p:ph sz="quarter" idx="11"/>
          </p:nvPr>
        </p:nvSpPr>
        <p:spPr>
          <a:xfrm>
            <a:off x="3431005" y="3867582"/>
            <a:ext cx="15953874" cy="4522264"/>
          </a:xfrm>
        </p:spPr>
        <p:txBody>
          <a:bodyPr/>
          <a:lstStyle/>
          <a:p>
            <a:pPr algn="just" defTabSz="914400">
              <a:spcBef>
                <a:spcPct val="0"/>
              </a:spcBef>
              <a:buFont typeface="Arial" pitchFamily="34" charset="0"/>
            </a:pPr>
            <a:r>
              <a:rPr lang="en-US" sz="3200" b="1" kern="12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In data communications and networking, a protocol defines the rules that both the sender and receiver and all intermediate devices need to follow to be able to communicate effectively.</a:t>
            </a:r>
          </a:p>
          <a:p>
            <a:pPr algn="just" defTabSz="914400">
              <a:spcBef>
                <a:spcPct val="0"/>
              </a:spcBef>
              <a:buFont typeface="Arial" pitchFamily="34" charset="0"/>
            </a:pPr>
            <a:r>
              <a:rPr lang="en-US" sz="3200" b="1" kern="12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Communication is simple, we may need only one simple protocol; when the communication is complex, we may need to divide the task between different layers, in which case we need a protocol at each layer, or protocol layering.</a:t>
            </a:r>
          </a:p>
          <a:p>
            <a:pPr marL="0" indent="0">
              <a:buNone/>
            </a:pPr>
            <a:endParaRPr lang="en-US" b="1" dirty="0">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374136027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67C46-A0C4-79B5-AB3A-5CCAB0065E99}"/>
              </a:ext>
            </a:extLst>
          </p:cNvPr>
          <p:cNvSpPr>
            <a:spLocks noGrp="1"/>
          </p:cNvSpPr>
          <p:nvPr>
            <p:ph type="title"/>
          </p:nvPr>
        </p:nvSpPr>
        <p:spPr/>
        <p:txBody>
          <a:bodyPr>
            <a:normAutofit fontScale="90000"/>
          </a:bodyPr>
          <a:lstStyle/>
          <a:p>
            <a:r>
              <a:rPr lang="en-US" sz="3600" dirty="0"/>
              <a:t>Protocol Layering</a:t>
            </a:r>
            <a:endParaRPr lang="en-US" dirty="0"/>
          </a:p>
        </p:txBody>
      </p:sp>
      <p:sp>
        <p:nvSpPr>
          <p:cNvPr id="3" name="Text Placeholder 2">
            <a:extLst>
              <a:ext uri="{FF2B5EF4-FFF2-40B4-BE49-F238E27FC236}">
                <a16:creationId xmlns:a16="http://schemas.microsoft.com/office/drawing/2014/main" id="{5D9A862F-FE03-0A3D-1C6C-0CDB3A55A661}"/>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C3E6E5C4-4ED8-C8AE-786F-39D7300BEA45}"/>
              </a:ext>
            </a:extLst>
          </p:cNvPr>
          <p:cNvPicPr>
            <a:picLocks noChangeAspect="1"/>
          </p:cNvPicPr>
          <p:nvPr/>
        </p:nvPicPr>
        <p:blipFill>
          <a:blip r:embed="rId2"/>
          <a:stretch>
            <a:fillRect/>
          </a:stretch>
        </p:blipFill>
        <p:spPr>
          <a:xfrm>
            <a:off x="3816526" y="3952569"/>
            <a:ext cx="10089980" cy="1761742"/>
          </a:xfrm>
          <a:prstGeom prst="rect">
            <a:avLst/>
          </a:prstGeom>
        </p:spPr>
      </p:pic>
      <p:pic>
        <p:nvPicPr>
          <p:cNvPr id="6" name="Picture 5">
            <a:extLst>
              <a:ext uri="{FF2B5EF4-FFF2-40B4-BE49-F238E27FC236}">
                <a16:creationId xmlns:a16="http://schemas.microsoft.com/office/drawing/2014/main" id="{0F00012F-D626-0483-32BD-DE049A4BF0F9}"/>
              </a:ext>
            </a:extLst>
          </p:cNvPr>
          <p:cNvPicPr>
            <a:picLocks noChangeAspect="1"/>
          </p:cNvPicPr>
          <p:nvPr/>
        </p:nvPicPr>
        <p:blipFill>
          <a:blip r:embed="rId3"/>
          <a:stretch>
            <a:fillRect/>
          </a:stretch>
        </p:blipFill>
        <p:spPr>
          <a:xfrm>
            <a:off x="4267202" y="6128307"/>
            <a:ext cx="9333780" cy="5375166"/>
          </a:xfrm>
          <a:prstGeom prst="rect">
            <a:avLst/>
          </a:prstGeom>
        </p:spPr>
      </p:pic>
      <p:sp>
        <p:nvSpPr>
          <p:cNvPr id="7" name="Rectangle 7">
            <a:extLst>
              <a:ext uri="{FF2B5EF4-FFF2-40B4-BE49-F238E27FC236}">
                <a16:creationId xmlns:a16="http://schemas.microsoft.com/office/drawing/2014/main" id="{AA66648A-5FC2-A843-D22C-E30E654168D7}"/>
              </a:ext>
            </a:extLst>
          </p:cNvPr>
          <p:cNvSpPr txBox="1">
            <a:spLocks noChangeArrowheads="1"/>
          </p:cNvSpPr>
          <p:nvPr/>
        </p:nvSpPr>
        <p:spPr>
          <a:xfrm>
            <a:off x="14081607" y="4412860"/>
            <a:ext cx="5299178" cy="685800"/>
          </a:xfrm>
          <a:prstGeom prst="rect">
            <a:avLst/>
          </a:prstGeom>
        </p:spPr>
        <p:txBody>
          <a:bodyPr vert="horz" lIns="135732" tIns="66676" rIns="135732" bIns="66676"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ct val="0"/>
              </a:spcBef>
              <a:buNone/>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Single-layer protocol</a:t>
            </a:r>
          </a:p>
        </p:txBody>
      </p:sp>
      <p:sp>
        <p:nvSpPr>
          <p:cNvPr id="8" name="Rectangle 7">
            <a:extLst>
              <a:ext uri="{FF2B5EF4-FFF2-40B4-BE49-F238E27FC236}">
                <a16:creationId xmlns:a16="http://schemas.microsoft.com/office/drawing/2014/main" id="{1302ED42-1616-F4E2-8F2A-8BB7F129B8FE}"/>
              </a:ext>
            </a:extLst>
          </p:cNvPr>
          <p:cNvSpPr txBox="1">
            <a:spLocks noChangeArrowheads="1"/>
          </p:cNvSpPr>
          <p:nvPr/>
        </p:nvSpPr>
        <p:spPr>
          <a:xfrm>
            <a:off x="14372335" y="8352190"/>
            <a:ext cx="5154526" cy="685800"/>
          </a:xfrm>
          <a:prstGeom prst="rect">
            <a:avLst/>
          </a:prstGeom>
        </p:spPr>
        <p:txBody>
          <a:bodyPr vert="horz" lIns="135732" tIns="66676" rIns="135732" bIns="66676"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ct val="0"/>
              </a:spcBef>
              <a:buNone/>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Three-layer protocol</a:t>
            </a:r>
          </a:p>
        </p:txBody>
      </p:sp>
      <p:sp>
        <p:nvSpPr>
          <p:cNvPr id="9" name="TextBox 8">
            <a:extLst>
              <a:ext uri="{FF2B5EF4-FFF2-40B4-BE49-F238E27FC236}">
                <a16:creationId xmlns:a16="http://schemas.microsoft.com/office/drawing/2014/main" id="{657D45A8-FDE3-F7A6-09CE-85C094D19DB6}"/>
              </a:ext>
            </a:extLst>
          </p:cNvPr>
          <p:cNvSpPr txBox="1"/>
          <p:nvPr/>
        </p:nvSpPr>
        <p:spPr>
          <a:xfrm>
            <a:off x="14522655" y="9052221"/>
            <a:ext cx="3899734" cy="646331"/>
          </a:xfrm>
          <a:prstGeom prst="rect">
            <a:avLst/>
          </a:prstGeom>
          <a:noFill/>
        </p:spPr>
        <p:txBody>
          <a:bodyPr wrap="square" rtlCol="0">
            <a:spAutoFit/>
          </a:bodyPr>
          <a:lstStyle/>
          <a:p>
            <a:pPr algn="just"/>
            <a:r>
              <a:rPr lang="en-US" sz="1200" b="1" dirty="0">
                <a:latin typeface="Open Sans Light" panose="020B0306030504020204" pitchFamily="34" charset="0"/>
                <a:ea typeface="Open Sans Light" panose="020B0306030504020204" pitchFamily="34" charset="0"/>
                <a:cs typeface="Open Sans Light" panose="020B0306030504020204" pitchFamily="34" charset="0"/>
              </a:rPr>
              <a:t>Fig 1.16. A three-layer protocol</a:t>
            </a:r>
          </a:p>
          <a:p>
            <a:pPr algn="just"/>
            <a:r>
              <a:rPr lang="en-US" sz="1200" b="1" dirty="0">
                <a:latin typeface="Open Sans Light" panose="020B0306030504020204" pitchFamily="34" charset="0"/>
                <a:ea typeface="Open Sans Light" panose="020B0306030504020204" pitchFamily="34" charset="0"/>
                <a:cs typeface="Open Sans Light" panose="020B0306030504020204" pitchFamily="34" charset="0"/>
              </a:rPr>
              <a:t>Source : Data Communications and Networking with TCP/IP Protocol Suite. </a:t>
            </a:r>
            <a:r>
              <a:rPr lang="en-US" sz="1200" b="1" dirty="0" err="1">
                <a:latin typeface="Open Sans Light" panose="020B0306030504020204" pitchFamily="34" charset="0"/>
                <a:ea typeface="Open Sans Light" panose="020B0306030504020204" pitchFamily="34" charset="0"/>
                <a:cs typeface="Open Sans Light" panose="020B0306030504020204" pitchFamily="34" charset="0"/>
              </a:rPr>
              <a:t>Forouzan</a:t>
            </a:r>
            <a:r>
              <a:rPr lang="en-US" sz="1200" b="1" dirty="0">
                <a:latin typeface="Open Sans Light" panose="020B0306030504020204" pitchFamily="34" charset="0"/>
                <a:ea typeface="Open Sans Light" panose="020B0306030504020204" pitchFamily="34" charset="0"/>
                <a:cs typeface="Open Sans Light" panose="020B0306030504020204" pitchFamily="34" charset="0"/>
              </a:rPr>
              <a:t>, B. A.</a:t>
            </a:r>
          </a:p>
        </p:txBody>
      </p:sp>
      <p:sp>
        <p:nvSpPr>
          <p:cNvPr id="10" name="TextBox 9">
            <a:extLst>
              <a:ext uri="{FF2B5EF4-FFF2-40B4-BE49-F238E27FC236}">
                <a16:creationId xmlns:a16="http://schemas.microsoft.com/office/drawing/2014/main" id="{2F56CE51-4839-75D2-897E-E35EB068709D}"/>
              </a:ext>
            </a:extLst>
          </p:cNvPr>
          <p:cNvSpPr txBox="1"/>
          <p:nvPr/>
        </p:nvSpPr>
        <p:spPr>
          <a:xfrm>
            <a:off x="14372335" y="5103261"/>
            <a:ext cx="3899734" cy="646331"/>
          </a:xfrm>
          <a:prstGeom prst="rect">
            <a:avLst/>
          </a:prstGeom>
          <a:noFill/>
        </p:spPr>
        <p:txBody>
          <a:bodyPr wrap="square" rtlCol="0">
            <a:spAutoFit/>
          </a:bodyPr>
          <a:lstStyle/>
          <a:p>
            <a:pPr algn="just"/>
            <a:r>
              <a:rPr lang="en-US" sz="1200" b="1" dirty="0">
                <a:latin typeface="Open Sans Light" panose="020B0306030504020204" pitchFamily="34" charset="0"/>
                <a:ea typeface="Open Sans Light" panose="020B0306030504020204" pitchFamily="34" charset="0"/>
                <a:cs typeface="Open Sans Light" panose="020B0306030504020204" pitchFamily="34" charset="0"/>
              </a:rPr>
              <a:t>Fig 1.15. A single-layer protocol</a:t>
            </a:r>
          </a:p>
          <a:p>
            <a:pPr algn="just"/>
            <a:r>
              <a:rPr lang="en-US" sz="1200" b="1" dirty="0">
                <a:latin typeface="Open Sans Light" panose="020B0306030504020204" pitchFamily="34" charset="0"/>
                <a:ea typeface="Open Sans Light" panose="020B0306030504020204" pitchFamily="34" charset="0"/>
                <a:cs typeface="Open Sans Light" panose="020B0306030504020204" pitchFamily="34" charset="0"/>
              </a:rPr>
              <a:t>Source : Data Communications and Networking with TCP/IP Protocol Suite. </a:t>
            </a:r>
            <a:r>
              <a:rPr lang="en-US" sz="1200" b="1" dirty="0" err="1">
                <a:latin typeface="Open Sans Light" panose="020B0306030504020204" pitchFamily="34" charset="0"/>
                <a:ea typeface="Open Sans Light" panose="020B0306030504020204" pitchFamily="34" charset="0"/>
                <a:cs typeface="Open Sans Light" panose="020B0306030504020204" pitchFamily="34" charset="0"/>
              </a:rPr>
              <a:t>Forouzan</a:t>
            </a:r>
            <a:r>
              <a:rPr lang="en-US" sz="1200" b="1" dirty="0">
                <a:latin typeface="Open Sans Light" panose="020B0306030504020204" pitchFamily="34" charset="0"/>
                <a:ea typeface="Open Sans Light" panose="020B0306030504020204" pitchFamily="34" charset="0"/>
                <a:cs typeface="Open Sans Light" panose="020B0306030504020204" pitchFamily="34" charset="0"/>
              </a:rPr>
              <a:t>, B. A.</a:t>
            </a:r>
          </a:p>
        </p:txBody>
      </p:sp>
      <p:sp>
        <p:nvSpPr>
          <p:cNvPr id="12" name="TextBox 11">
            <a:extLst>
              <a:ext uri="{FF2B5EF4-FFF2-40B4-BE49-F238E27FC236}">
                <a16:creationId xmlns:a16="http://schemas.microsoft.com/office/drawing/2014/main" id="{5875BBD4-FB64-2B1D-15EE-ACA342E0C34A}"/>
              </a:ext>
            </a:extLst>
          </p:cNvPr>
          <p:cNvSpPr txBox="1"/>
          <p:nvPr/>
        </p:nvSpPr>
        <p:spPr>
          <a:xfrm>
            <a:off x="6093995" y="6651231"/>
            <a:ext cx="12187988"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t>TCP/IP Protocol Suite</a:t>
            </a:r>
          </a:p>
        </p:txBody>
      </p:sp>
    </p:spTree>
    <p:extLst>
      <p:ext uri="{BB962C8B-B14F-4D97-AF65-F5344CB8AC3E}">
        <p14:creationId xmlns:p14="http://schemas.microsoft.com/office/powerpoint/2010/main" val="93894996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A8DD8-A4A4-A9E6-0C2F-076FE8BC3BAB}"/>
              </a:ext>
            </a:extLst>
          </p:cNvPr>
          <p:cNvSpPr>
            <a:spLocks noGrp="1"/>
          </p:cNvSpPr>
          <p:nvPr>
            <p:ph type="title"/>
          </p:nvPr>
        </p:nvSpPr>
        <p:spPr/>
        <p:txBody>
          <a:bodyPr>
            <a:normAutofit fontScale="90000"/>
          </a:bodyPr>
          <a:lstStyle/>
          <a:p>
            <a:r>
              <a:rPr lang="en-US" sz="4000" dirty="0"/>
              <a:t>TCP/IP Protocol Suite</a:t>
            </a:r>
            <a:br>
              <a:rPr lang="en-US" sz="4000" dirty="0"/>
            </a:br>
            <a:endParaRPr lang="en-US" dirty="0"/>
          </a:p>
        </p:txBody>
      </p:sp>
      <p:sp>
        <p:nvSpPr>
          <p:cNvPr id="3" name="Text Placeholder 2">
            <a:extLst>
              <a:ext uri="{FF2B5EF4-FFF2-40B4-BE49-F238E27FC236}">
                <a16:creationId xmlns:a16="http://schemas.microsoft.com/office/drawing/2014/main" id="{77990225-F872-3211-0896-1248224CB570}"/>
              </a:ext>
            </a:extLst>
          </p:cNvPr>
          <p:cNvSpPr>
            <a:spLocks noGrp="1"/>
          </p:cNvSpPr>
          <p:nvPr>
            <p:ph type="body" sz="quarter" idx="10"/>
          </p:nvPr>
        </p:nvSpPr>
        <p:spPr/>
        <p:txBody>
          <a:bodyPr/>
          <a:lstStyle/>
          <a:p>
            <a:endParaRPr lang="en-US"/>
          </a:p>
        </p:txBody>
      </p:sp>
      <p:sp>
        <p:nvSpPr>
          <p:cNvPr id="7" name="Rectangle 7">
            <a:extLst>
              <a:ext uri="{FF2B5EF4-FFF2-40B4-BE49-F238E27FC236}">
                <a16:creationId xmlns:a16="http://schemas.microsoft.com/office/drawing/2014/main" id="{BA567EA3-48EE-5B36-10B7-4354D5C3749E}"/>
              </a:ext>
            </a:extLst>
          </p:cNvPr>
          <p:cNvSpPr txBox="1">
            <a:spLocks noChangeArrowheads="1"/>
          </p:cNvSpPr>
          <p:nvPr/>
        </p:nvSpPr>
        <p:spPr>
          <a:xfrm>
            <a:off x="1160206" y="3870815"/>
            <a:ext cx="11228440" cy="3877006"/>
          </a:xfrm>
          <a:prstGeom prst="rect">
            <a:avLst/>
          </a:prstGeom>
        </p:spPr>
        <p:txBody>
          <a:bodyPr vert="horz" lIns="135732" tIns="66676" rIns="135732" bIns="66676"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ct val="0"/>
              </a:spcBef>
              <a:buNone/>
            </a:pPr>
            <a:r>
              <a:rPr lang="en-US" b="1" dirty="0">
                <a:latin typeface="Open Sans Light" panose="020B0306030504020204" pitchFamily="34" charset="0"/>
                <a:ea typeface="Open Sans Light" panose="020B0306030504020204" pitchFamily="34" charset="0"/>
                <a:cs typeface="Open Sans Light" panose="020B0306030504020204" pitchFamily="34" charset="0"/>
              </a:rPr>
              <a:t>TCP/IP is a protocol suite (a set of protocols organized in different layers) used in the Internet today. It is a hierarchical protocol made up of interactive modules, each of which provides a specific functionality. The term hierarchical means that each upper-level protocol is supported by the services provided by one or more lower-level protocols. The TCP/IP protocol suite is defined as five layers.</a:t>
            </a:r>
          </a:p>
          <a:p>
            <a:pPr algn="just">
              <a:spcBef>
                <a:spcPct val="0"/>
              </a:spcBef>
            </a:pPr>
            <a:endParaRPr lang="en-US" sz="4000" b="1"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8" name="Picture 7">
            <a:extLst>
              <a:ext uri="{FF2B5EF4-FFF2-40B4-BE49-F238E27FC236}">
                <a16:creationId xmlns:a16="http://schemas.microsoft.com/office/drawing/2014/main" id="{A754B7B0-B1A8-A02D-B0A1-063D4606D43B}"/>
              </a:ext>
            </a:extLst>
          </p:cNvPr>
          <p:cNvPicPr>
            <a:picLocks noChangeAspect="1"/>
          </p:cNvPicPr>
          <p:nvPr/>
        </p:nvPicPr>
        <p:blipFill>
          <a:blip r:embed="rId2"/>
          <a:stretch>
            <a:fillRect/>
          </a:stretch>
        </p:blipFill>
        <p:spPr>
          <a:xfrm>
            <a:off x="14009124" y="3852841"/>
            <a:ext cx="7408060" cy="6526926"/>
          </a:xfrm>
          <a:prstGeom prst="rect">
            <a:avLst/>
          </a:prstGeom>
        </p:spPr>
      </p:pic>
      <p:sp>
        <p:nvSpPr>
          <p:cNvPr id="9" name="TextBox 8">
            <a:extLst>
              <a:ext uri="{FF2B5EF4-FFF2-40B4-BE49-F238E27FC236}">
                <a16:creationId xmlns:a16="http://schemas.microsoft.com/office/drawing/2014/main" id="{A6A40B28-6C63-6ABE-5FAD-7D2E427A7999}"/>
              </a:ext>
            </a:extLst>
          </p:cNvPr>
          <p:cNvSpPr txBox="1"/>
          <p:nvPr/>
        </p:nvSpPr>
        <p:spPr>
          <a:xfrm>
            <a:off x="3333751" y="12728144"/>
            <a:ext cx="15868650" cy="553998"/>
          </a:xfrm>
          <a:prstGeom prst="rect">
            <a:avLst/>
          </a:prstGeom>
          <a:noFill/>
        </p:spPr>
        <p:txBody>
          <a:bodyPr wrap="square" rtlCol="0">
            <a:spAutoFit/>
          </a:bodyPr>
          <a:lstStyle/>
          <a:p>
            <a:pPr algn="just"/>
            <a:r>
              <a:rPr lang="en-US" sz="1500" dirty="0"/>
              <a:t>Fig 1.17. Layers in the TCP/IP protocol suite</a:t>
            </a:r>
          </a:p>
          <a:p>
            <a:pPr algn="just"/>
            <a:r>
              <a:rPr lang="en-US" sz="1500" dirty="0"/>
              <a:t>Source : Data Communications and Networking with TCP/IP Protocol Suite. </a:t>
            </a:r>
            <a:r>
              <a:rPr lang="en-US" sz="1500" dirty="0" err="1"/>
              <a:t>Forouzan</a:t>
            </a:r>
            <a:r>
              <a:rPr lang="en-US" sz="1500" dirty="0"/>
              <a:t>, B. A.</a:t>
            </a:r>
          </a:p>
        </p:txBody>
      </p:sp>
    </p:spTree>
    <p:extLst>
      <p:ext uri="{BB962C8B-B14F-4D97-AF65-F5344CB8AC3E}">
        <p14:creationId xmlns:p14="http://schemas.microsoft.com/office/powerpoint/2010/main" val="110149047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2F504-9CC1-388C-3FFB-87F153722B24}"/>
              </a:ext>
            </a:extLst>
          </p:cNvPr>
          <p:cNvSpPr>
            <a:spLocks noGrp="1"/>
          </p:cNvSpPr>
          <p:nvPr>
            <p:ph type="title"/>
          </p:nvPr>
        </p:nvSpPr>
        <p:spPr/>
        <p:txBody>
          <a:bodyPr>
            <a:normAutofit fontScale="90000"/>
          </a:bodyPr>
          <a:lstStyle/>
          <a:p>
            <a:r>
              <a:rPr lang="en-US" sz="3600" dirty="0"/>
              <a:t>TCP/IP Protocol Suite</a:t>
            </a:r>
            <a:endParaRPr lang="en-US" dirty="0"/>
          </a:p>
        </p:txBody>
      </p:sp>
      <p:sp>
        <p:nvSpPr>
          <p:cNvPr id="3" name="Text Placeholder 2">
            <a:extLst>
              <a:ext uri="{FF2B5EF4-FFF2-40B4-BE49-F238E27FC236}">
                <a16:creationId xmlns:a16="http://schemas.microsoft.com/office/drawing/2014/main" id="{C187A337-FAF3-700F-7AC0-836C1CA5487B}"/>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Layered Architecture</a:t>
            </a:r>
            <a:endParaRPr lang="en-US" dirty="0"/>
          </a:p>
        </p:txBody>
      </p:sp>
      <p:sp>
        <p:nvSpPr>
          <p:cNvPr id="6" name="TextBox 5">
            <a:extLst>
              <a:ext uri="{FF2B5EF4-FFF2-40B4-BE49-F238E27FC236}">
                <a16:creationId xmlns:a16="http://schemas.microsoft.com/office/drawing/2014/main" id="{8434FAC6-D830-56D5-EFFE-281B00B12D94}"/>
              </a:ext>
            </a:extLst>
          </p:cNvPr>
          <p:cNvSpPr txBox="1"/>
          <p:nvPr/>
        </p:nvSpPr>
        <p:spPr>
          <a:xfrm>
            <a:off x="3333751" y="12728144"/>
            <a:ext cx="14954250" cy="553998"/>
          </a:xfrm>
          <a:prstGeom prst="rect">
            <a:avLst/>
          </a:prstGeom>
          <a:noFill/>
        </p:spPr>
        <p:txBody>
          <a:bodyPr wrap="square" rtlCol="0">
            <a:spAutoFit/>
          </a:bodyPr>
          <a:lstStyle/>
          <a:p>
            <a:pPr algn="just"/>
            <a:r>
              <a:rPr lang="en-US" sz="1500" dirty="0"/>
              <a:t>Fig 1.18. Communication through an internet</a:t>
            </a:r>
          </a:p>
          <a:p>
            <a:pPr algn="just"/>
            <a:r>
              <a:rPr lang="en-US" sz="1500" dirty="0"/>
              <a:t>Source : Data Communications and Networking with TCP/IP Protocol Suite. </a:t>
            </a:r>
            <a:r>
              <a:rPr lang="en-US" sz="1500" dirty="0" err="1"/>
              <a:t>Forouzan</a:t>
            </a:r>
            <a:r>
              <a:rPr lang="en-US" sz="1500" dirty="0"/>
              <a:t>, B. A.</a:t>
            </a:r>
          </a:p>
        </p:txBody>
      </p:sp>
      <p:pic>
        <p:nvPicPr>
          <p:cNvPr id="7" name="Picture 6">
            <a:extLst>
              <a:ext uri="{FF2B5EF4-FFF2-40B4-BE49-F238E27FC236}">
                <a16:creationId xmlns:a16="http://schemas.microsoft.com/office/drawing/2014/main" id="{795FD895-47D0-513B-E2CD-7B003ADFA03C}"/>
              </a:ext>
            </a:extLst>
          </p:cNvPr>
          <p:cNvPicPr>
            <a:picLocks noChangeAspect="1"/>
          </p:cNvPicPr>
          <p:nvPr/>
        </p:nvPicPr>
        <p:blipFill>
          <a:blip r:embed="rId2"/>
          <a:stretch>
            <a:fillRect/>
          </a:stretch>
        </p:blipFill>
        <p:spPr>
          <a:xfrm>
            <a:off x="3550319" y="3890028"/>
            <a:ext cx="16153786" cy="8171362"/>
          </a:xfrm>
          <a:prstGeom prst="rect">
            <a:avLst/>
          </a:prstGeom>
        </p:spPr>
      </p:pic>
    </p:spTree>
    <p:extLst>
      <p:ext uri="{BB962C8B-B14F-4D97-AF65-F5344CB8AC3E}">
        <p14:creationId xmlns:p14="http://schemas.microsoft.com/office/powerpoint/2010/main" val="10790543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E612E-19F2-9475-97F5-A82EEFFD8C3B}"/>
              </a:ext>
            </a:extLst>
          </p:cNvPr>
          <p:cNvSpPr>
            <a:spLocks noGrp="1"/>
          </p:cNvSpPr>
          <p:nvPr>
            <p:ph type="title"/>
          </p:nvPr>
        </p:nvSpPr>
        <p:spPr/>
        <p:txBody>
          <a:bodyPr>
            <a:normAutofit fontScale="90000"/>
          </a:bodyPr>
          <a:lstStyle/>
          <a:p>
            <a:r>
              <a:rPr lang="en-US" sz="4000" dirty="0"/>
              <a:t>TCP/IP Protocol Suite</a:t>
            </a:r>
            <a:endParaRPr lang="en-US" dirty="0"/>
          </a:p>
        </p:txBody>
      </p:sp>
      <p:sp>
        <p:nvSpPr>
          <p:cNvPr id="3" name="Text Placeholder 2">
            <a:extLst>
              <a:ext uri="{FF2B5EF4-FFF2-40B4-BE49-F238E27FC236}">
                <a16:creationId xmlns:a16="http://schemas.microsoft.com/office/drawing/2014/main" id="{610E6488-3E8B-1605-BEAE-A854719E5A27}"/>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Brief Description of Layers</a:t>
            </a:r>
            <a:endParaRPr lang="en-US" dirty="0"/>
          </a:p>
        </p:txBody>
      </p:sp>
      <p:sp>
        <p:nvSpPr>
          <p:cNvPr id="5" name="Rectangle 2">
            <a:extLst>
              <a:ext uri="{FF2B5EF4-FFF2-40B4-BE49-F238E27FC236}">
                <a16:creationId xmlns:a16="http://schemas.microsoft.com/office/drawing/2014/main" id="{B7EF33AA-B562-1A5E-3F50-4E5CC14641B5}"/>
              </a:ext>
            </a:extLst>
          </p:cNvPr>
          <p:cNvSpPr>
            <a:spLocks noChangeArrowheads="1"/>
          </p:cNvSpPr>
          <p:nvPr/>
        </p:nvSpPr>
        <p:spPr bwMode="auto">
          <a:xfrm>
            <a:off x="6362700" y="11087100"/>
            <a:ext cx="28575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id-ID" sz="2700"/>
          </a:p>
        </p:txBody>
      </p:sp>
      <p:sp>
        <p:nvSpPr>
          <p:cNvPr id="6" name="TextBox 5">
            <a:extLst>
              <a:ext uri="{FF2B5EF4-FFF2-40B4-BE49-F238E27FC236}">
                <a16:creationId xmlns:a16="http://schemas.microsoft.com/office/drawing/2014/main" id="{F186488C-DBB2-AD45-53F1-87DE6E7F4976}"/>
              </a:ext>
            </a:extLst>
          </p:cNvPr>
          <p:cNvSpPr txBox="1"/>
          <p:nvPr/>
        </p:nvSpPr>
        <p:spPr>
          <a:xfrm>
            <a:off x="3094895" y="12843560"/>
            <a:ext cx="16783050" cy="553998"/>
          </a:xfrm>
          <a:prstGeom prst="rect">
            <a:avLst/>
          </a:prstGeom>
          <a:noFill/>
        </p:spPr>
        <p:txBody>
          <a:bodyPr wrap="square" rtlCol="0">
            <a:spAutoFit/>
          </a:bodyPr>
          <a:lstStyle/>
          <a:p>
            <a:pPr algn="just"/>
            <a:r>
              <a:rPr lang="en-US" sz="1500" dirty="0"/>
              <a:t>Fig 1.19. Logical connections between layers of the TCP/IP protocol suite</a:t>
            </a:r>
          </a:p>
          <a:p>
            <a:pPr algn="just"/>
            <a:r>
              <a:rPr lang="en-US" sz="1500" dirty="0"/>
              <a:t>Source : Data Communications and Networking with TCP/IP Protocol Suite. </a:t>
            </a:r>
            <a:r>
              <a:rPr lang="en-US" sz="1500" dirty="0" err="1"/>
              <a:t>Forouzan</a:t>
            </a:r>
            <a:r>
              <a:rPr lang="en-US" sz="1500" dirty="0"/>
              <a:t>, B. A.</a:t>
            </a:r>
          </a:p>
        </p:txBody>
      </p:sp>
      <p:pic>
        <p:nvPicPr>
          <p:cNvPr id="7" name="Picture 6">
            <a:extLst>
              <a:ext uri="{FF2B5EF4-FFF2-40B4-BE49-F238E27FC236}">
                <a16:creationId xmlns:a16="http://schemas.microsoft.com/office/drawing/2014/main" id="{D42ED256-BA5C-75DE-2403-0A32D0B91DBF}"/>
              </a:ext>
            </a:extLst>
          </p:cNvPr>
          <p:cNvPicPr>
            <a:picLocks noChangeAspect="1"/>
          </p:cNvPicPr>
          <p:nvPr/>
        </p:nvPicPr>
        <p:blipFill>
          <a:blip r:embed="rId2"/>
          <a:stretch>
            <a:fillRect/>
          </a:stretch>
        </p:blipFill>
        <p:spPr>
          <a:xfrm>
            <a:off x="3940468" y="4175024"/>
            <a:ext cx="15505468" cy="6912076"/>
          </a:xfrm>
          <a:prstGeom prst="rect">
            <a:avLst/>
          </a:prstGeom>
        </p:spPr>
      </p:pic>
    </p:spTree>
    <p:extLst>
      <p:ext uri="{BB962C8B-B14F-4D97-AF65-F5344CB8AC3E}">
        <p14:creationId xmlns:p14="http://schemas.microsoft.com/office/powerpoint/2010/main" val="322597581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E612E-19F2-9475-97F5-A82EEFFD8C3B}"/>
              </a:ext>
            </a:extLst>
          </p:cNvPr>
          <p:cNvSpPr>
            <a:spLocks noGrp="1"/>
          </p:cNvSpPr>
          <p:nvPr>
            <p:ph type="title"/>
          </p:nvPr>
        </p:nvSpPr>
        <p:spPr/>
        <p:txBody>
          <a:bodyPr>
            <a:normAutofit fontScale="90000"/>
          </a:bodyPr>
          <a:lstStyle/>
          <a:p>
            <a:r>
              <a:rPr lang="en-US" sz="4000" dirty="0"/>
              <a:t>TCP/IP Protocol Suite</a:t>
            </a:r>
            <a:endParaRPr lang="en-US" dirty="0"/>
          </a:p>
        </p:txBody>
      </p:sp>
      <p:sp>
        <p:nvSpPr>
          <p:cNvPr id="3" name="Text Placeholder 2">
            <a:extLst>
              <a:ext uri="{FF2B5EF4-FFF2-40B4-BE49-F238E27FC236}">
                <a16:creationId xmlns:a16="http://schemas.microsoft.com/office/drawing/2014/main" id="{610E6488-3E8B-1605-BEAE-A854719E5A27}"/>
              </a:ext>
            </a:extLst>
          </p:cNvPr>
          <p:cNvSpPr>
            <a:spLocks noGrp="1"/>
          </p:cNvSpPr>
          <p:nvPr>
            <p:ph type="body" sz="quarter" idx="10"/>
          </p:nvPr>
        </p:nvSpPr>
        <p:spPr/>
        <p:txBody>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Brief Description of Layers</a:t>
            </a:r>
            <a:endParaRPr lang="en-US" dirty="0"/>
          </a:p>
        </p:txBody>
      </p:sp>
      <p:sp>
        <p:nvSpPr>
          <p:cNvPr id="5" name="Rectangle 2">
            <a:extLst>
              <a:ext uri="{FF2B5EF4-FFF2-40B4-BE49-F238E27FC236}">
                <a16:creationId xmlns:a16="http://schemas.microsoft.com/office/drawing/2014/main" id="{B7EF33AA-B562-1A5E-3F50-4E5CC14641B5}"/>
              </a:ext>
            </a:extLst>
          </p:cNvPr>
          <p:cNvSpPr>
            <a:spLocks noChangeArrowheads="1"/>
          </p:cNvSpPr>
          <p:nvPr/>
        </p:nvSpPr>
        <p:spPr bwMode="auto">
          <a:xfrm>
            <a:off x="6362700" y="11087100"/>
            <a:ext cx="28575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id-ID" sz="2700"/>
          </a:p>
        </p:txBody>
      </p:sp>
      <p:sp>
        <p:nvSpPr>
          <p:cNvPr id="4" name="Rectangle 2">
            <a:extLst>
              <a:ext uri="{FF2B5EF4-FFF2-40B4-BE49-F238E27FC236}">
                <a16:creationId xmlns:a16="http://schemas.microsoft.com/office/drawing/2014/main" id="{FBCF36AF-E856-27E5-8469-302FD82A1F66}"/>
              </a:ext>
            </a:extLst>
          </p:cNvPr>
          <p:cNvSpPr>
            <a:spLocks noChangeArrowheads="1"/>
          </p:cNvSpPr>
          <p:nvPr/>
        </p:nvSpPr>
        <p:spPr bwMode="auto">
          <a:xfrm>
            <a:off x="6362700" y="11087100"/>
            <a:ext cx="28575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id-ID" sz="2700"/>
          </a:p>
        </p:txBody>
      </p:sp>
      <p:sp>
        <p:nvSpPr>
          <p:cNvPr id="8" name="TextBox 7">
            <a:extLst>
              <a:ext uri="{FF2B5EF4-FFF2-40B4-BE49-F238E27FC236}">
                <a16:creationId xmlns:a16="http://schemas.microsoft.com/office/drawing/2014/main" id="{C646FFA6-E34E-F9BD-DB47-C67CC6C653FC}"/>
              </a:ext>
            </a:extLst>
          </p:cNvPr>
          <p:cNvSpPr txBox="1"/>
          <p:nvPr/>
        </p:nvSpPr>
        <p:spPr>
          <a:xfrm>
            <a:off x="3096984" y="12728144"/>
            <a:ext cx="13362216" cy="553998"/>
          </a:xfrm>
          <a:prstGeom prst="rect">
            <a:avLst/>
          </a:prstGeom>
          <a:noFill/>
        </p:spPr>
        <p:txBody>
          <a:bodyPr wrap="square" rtlCol="0">
            <a:spAutoFit/>
          </a:bodyPr>
          <a:lstStyle/>
          <a:p>
            <a:pPr algn="just"/>
            <a:r>
              <a:rPr lang="en-US" sz="1500" dirty="0"/>
              <a:t>Fig 1.20. Identical objects in the TCP/IP protocol suite</a:t>
            </a:r>
          </a:p>
          <a:p>
            <a:pPr algn="just"/>
            <a:r>
              <a:rPr lang="en-US" sz="1500" dirty="0"/>
              <a:t>Source : Data Communications and Networking with TCP/IP Protocol Suite. </a:t>
            </a:r>
            <a:r>
              <a:rPr lang="en-US" sz="1500" dirty="0" err="1"/>
              <a:t>Forouzan</a:t>
            </a:r>
            <a:r>
              <a:rPr lang="en-US" sz="1500" dirty="0"/>
              <a:t>, B. A.</a:t>
            </a:r>
          </a:p>
        </p:txBody>
      </p:sp>
      <p:pic>
        <p:nvPicPr>
          <p:cNvPr id="9" name="Picture 8">
            <a:extLst>
              <a:ext uri="{FF2B5EF4-FFF2-40B4-BE49-F238E27FC236}">
                <a16:creationId xmlns:a16="http://schemas.microsoft.com/office/drawing/2014/main" id="{FEA4882E-582F-E7EA-C9EE-39B19F61B5F3}"/>
              </a:ext>
            </a:extLst>
          </p:cNvPr>
          <p:cNvPicPr>
            <a:picLocks noChangeAspect="1"/>
          </p:cNvPicPr>
          <p:nvPr/>
        </p:nvPicPr>
        <p:blipFill>
          <a:blip r:embed="rId2"/>
          <a:stretch>
            <a:fillRect/>
          </a:stretch>
        </p:blipFill>
        <p:spPr>
          <a:xfrm>
            <a:off x="4827721" y="4248437"/>
            <a:ext cx="14728558" cy="7116630"/>
          </a:xfrm>
          <a:prstGeom prst="rect">
            <a:avLst/>
          </a:prstGeom>
        </p:spPr>
      </p:pic>
    </p:spTree>
    <p:extLst>
      <p:ext uri="{BB962C8B-B14F-4D97-AF65-F5344CB8AC3E}">
        <p14:creationId xmlns:p14="http://schemas.microsoft.com/office/powerpoint/2010/main" val="268629806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883BB-1CDD-98B4-83B0-06A8B0A24561}"/>
              </a:ext>
            </a:extLst>
          </p:cNvPr>
          <p:cNvSpPr>
            <a:spLocks noGrp="1"/>
          </p:cNvSpPr>
          <p:nvPr>
            <p:ph type="title"/>
          </p:nvPr>
        </p:nvSpPr>
        <p:spPr/>
        <p:txBody>
          <a:bodyPr>
            <a:normAutofit fontScale="90000"/>
          </a:bodyPr>
          <a:lstStyle/>
          <a:p>
            <a:r>
              <a:rPr lang="en-US" sz="4000" dirty="0"/>
              <a:t>OSI Model and TCP/IP Model</a:t>
            </a:r>
            <a:br>
              <a:rPr lang="en-US" sz="4000" dirty="0"/>
            </a:br>
            <a:endParaRPr lang="en-US" dirty="0"/>
          </a:p>
        </p:txBody>
      </p:sp>
      <p:sp>
        <p:nvSpPr>
          <p:cNvPr id="3" name="Text Placeholder 2">
            <a:extLst>
              <a:ext uri="{FF2B5EF4-FFF2-40B4-BE49-F238E27FC236}">
                <a16:creationId xmlns:a16="http://schemas.microsoft.com/office/drawing/2014/main" id="{96D08AD4-11FE-22EA-F3AA-9DA914999973}"/>
              </a:ext>
            </a:extLst>
          </p:cNvPr>
          <p:cNvSpPr>
            <a:spLocks noGrp="1"/>
          </p:cNvSpPr>
          <p:nvPr>
            <p:ph type="body" sz="quarter" idx="10"/>
          </p:nvPr>
        </p:nvSpPr>
        <p:spPr/>
        <p:txBody>
          <a:bodyPr>
            <a:normAutofit fontScale="92500" lnSpcReduction="20000"/>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International Organization for Standardization (ISO)</a:t>
            </a:r>
            <a:endParaRPr lang="en-US" dirty="0"/>
          </a:p>
        </p:txBody>
      </p:sp>
      <p:sp>
        <p:nvSpPr>
          <p:cNvPr id="5" name="Rectangle 2">
            <a:extLst>
              <a:ext uri="{FF2B5EF4-FFF2-40B4-BE49-F238E27FC236}">
                <a16:creationId xmlns:a16="http://schemas.microsoft.com/office/drawing/2014/main" id="{111EABCF-A761-ACA1-462F-578BB425FD01}"/>
              </a:ext>
            </a:extLst>
          </p:cNvPr>
          <p:cNvSpPr>
            <a:spLocks noChangeArrowheads="1"/>
          </p:cNvSpPr>
          <p:nvPr/>
        </p:nvSpPr>
        <p:spPr bwMode="auto">
          <a:xfrm>
            <a:off x="6362700" y="11087100"/>
            <a:ext cx="28575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id-ID" sz="2700"/>
          </a:p>
        </p:txBody>
      </p:sp>
      <p:sp>
        <p:nvSpPr>
          <p:cNvPr id="6" name="Rectangle 7">
            <a:extLst>
              <a:ext uri="{FF2B5EF4-FFF2-40B4-BE49-F238E27FC236}">
                <a16:creationId xmlns:a16="http://schemas.microsoft.com/office/drawing/2014/main" id="{14F0DFE8-4BB1-5740-9DAD-A07F23C7A431}"/>
              </a:ext>
            </a:extLst>
          </p:cNvPr>
          <p:cNvSpPr txBox="1">
            <a:spLocks noChangeArrowheads="1"/>
          </p:cNvSpPr>
          <p:nvPr/>
        </p:nvSpPr>
        <p:spPr>
          <a:xfrm>
            <a:off x="1248696" y="3677263"/>
            <a:ext cx="12005188" cy="8095638"/>
          </a:xfrm>
          <a:prstGeom prst="rect">
            <a:avLst/>
          </a:prstGeom>
        </p:spPr>
        <p:txBody>
          <a:bodyPr vert="horz" lIns="135732" tIns="66676" rIns="135732" bIns="66676"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International Organization for Standardization (ISO) is a multinational body dedicated to worldwide agreement on international standards.</a:t>
            </a:r>
          </a:p>
          <a:p>
            <a:pPr>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ISO standard that covers all aspects of network communications is the Open Systems Interconnection (OSI) model. It was first introduced in the late 1970s.</a:t>
            </a:r>
          </a:p>
          <a:p>
            <a:pPr>
              <a:spcBef>
                <a:spcPct val="0"/>
              </a:spcBef>
            </a:pPr>
            <a:r>
              <a:rPr lang="en-US"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OSI model is a layered framework for the design of network systems that allows communication between all types of computer systems.</a:t>
            </a:r>
          </a:p>
        </p:txBody>
      </p:sp>
      <p:sp>
        <p:nvSpPr>
          <p:cNvPr id="7" name="TextBox 6">
            <a:extLst>
              <a:ext uri="{FF2B5EF4-FFF2-40B4-BE49-F238E27FC236}">
                <a16:creationId xmlns:a16="http://schemas.microsoft.com/office/drawing/2014/main" id="{5D7CC12F-6848-3E4E-85CE-861DC059379D}"/>
              </a:ext>
            </a:extLst>
          </p:cNvPr>
          <p:cNvSpPr txBox="1"/>
          <p:nvPr/>
        </p:nvSpPr>
        <p:spPr>
          <a:xfrm>
            <a:off x="3352800" y="13069672"/>
            <a:ext cx="11125200" cy="553998"/>
          </a:xfrm>
          <a:prstGeom prst="rect">
            <a:avLst/>
          </a:prstGeom>
          <a:noFill/>
        </p:spPr>
        <p:txBody>
          <a:bodyPr wrap="square" rtlCol="0">
            <a:spAutoFit/>
          </a:bodyPr>
          <a:lstStyle/>
          <a:p>
            <a:pPr algn="just"/>
            <a:r>
              <a:rPr lang="en-US" sz="1500" dirty="0"/>
              <a:t>Fig 1.21. The OSI model</a:t>
            </a:r>
          </a:p>
          <a:p>
            <a:pPr algn="just"/>
            <a:r>
              <a:rPr lang="en-US" sz="1500" dirty="0"/>
              <a:t>Source : Data Communications and Networking with TCP/IP Protocol Suite. </a:t>
            </a:r>
            <a:r>
              <a:rPr lang="en-US" sz="1500" dirty="0" err="1"/>
              <a:t>Forouzan</a:t>
            </a:r>
            <a:r>
              <a:rPr lang="en-US" sz="1500" dirty="0"/>
              <a:t>, B. A.</a:t>
            </a:r>
          </a:p>
        </p:txBody>
      </p:sp>
      <p:pic>
        <p:nvPicPr>
          <p:cNvPr id="8" name="Picture 7">
            <a:extLst>
              <a:ext uri="{FF2B5EF4-FFF2-40B4-BE49-F238E27FC236}">
                <a16:creationId xmlns:a16="http://schemas.microsoft.com/office/drawing/2014/main" id="{1751C917-B96E-361A-60B8-793C2F1EFBBA}"/>
              </a:ext>
            </a:extLst>
          </p:cNvPr>
          <p:cNvPicPr>
            <a:picLocks noChangeAspect="1"/>
          </p:cNvPicPr>
          <p:nvPr/>
        </p:nvPicPr>
        <p:blipFill>
          <a:blip r:embed="rId2"/>
          <a:stretch>
            <a:fillRect/>
          </a:stretch>
        </p:blipFill>
        <p:spPr>
          <a:xfrm>
            <a:off x="14314600" y="3978180"/>
            <a:ext cx="9114456" cy="6541824"/>
          </a:xfrm>
          <a:prstGeom prst="rect">
            <a:avLst/>
          </a:prstGeom>
        </p:spPr>
      </p:pic>
    </p:spTree>
    <p:extLst>
      <p:ext uri="{BB962C8B-B14F-4D97-AF65-F5344CB8AC3E}">
        <p14:creationId xmlns:p14="http://schemas.microsoft.com/office/powerpoint/2010/main" val="266712809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883BB-1CDD-98B4-83B0-06A8B0A24561}"/>
              </a:ext>
            </a:extLst>
          </p:cNvPr>
          <p:cNvSpPr>
            <a:spLocks noGrp="1"/>
          </p:cNvSpPr>
          <p:nvPr>
            <p:ph type="title"/>
          </p:nvPr>
        </p:nvSpPr>
        <p:spPr/>
        <p:txBody>
          <a:bodyPr>
            <a:normAutofit fontScale="90000"/>
          </a:bodyPr>
          <a:lstStyle/>
          <a:p>
            <a:r>
              <a:rPr lang="en-US" sz="4000" dirty="0"/>
              <a:t>OSI Model and TCP/IP Model</a:t>
            </a:r>
            <a:br>
              <a:rPr lang="en-US" sz="4000" dirty="0"/>
            </a:br>
            <a:endParaRPr lang="en-US" dirty="0"/>
          </a:p>
        </p:txBody>
      </p:sp>
      <p:sp>
        <p:nvSpPr>
          <p:cNvPr id="3" name="Text Placeholder 2">
            <a:extLst>
              <a:ext uri="{FF2B5EF4-FFF2-40B4-BE49-F238E27FC236}">
                <a16:creationId xmlns:a16="http://schemas.microsoft.com/office/drawing/2014/main" id="{96D08AD4-11FE-22EA-F3AA-9DA914999973}"/>
              </a:ext>
            </a:extLst>
          </p:cNvPr>
          <p:cNvSpPr>
            <a:spLocks noGrp="1"/>
          </p:cNvSpPr>
          <p:nvPr>
            <p:ph type="body" sz="quarter" idx="10"/>
          </p:nvPr>
        </p:nvSpPr>
        <p:spPr/>
        <p:txBody>
          <a:bodyPr>
            <a:normAutofit/>
          </a:bodyPr>
          <a:lstStyle/>
          <a:p>
            <a:r>
              <a:rPr lang="id-ID" dirty="0">
                <a:latin typeface="Open Sans ExtraBold" panose="020B0906030804020204" pitchFamily="34" charset="0"/>
                <a:ea typeface="Open Sans ExtraBold" panose="020B0906030804020204" pitchFamily="34" charset="0"/>
                <a:cs typeface="Open Sans ExtraBold" panose="020B0906030804020204" pitchFamily="34" charset="0"/>
              </a:rPr>
              <a:t>OSI versus TCP/IP</a:t>
            </a:r>
            <a:endParaRPr lang="en-US" dirty="0"/>
          </a:p>
        </p:txBody>
      </p:sp>
      <p:sp>
        <p:nvSpPr>
          <p:cNvPr id="4" name="Rectangle 2">
            <a:extLst>
              <a:ext uri="{FF2B5EF4-FFF2-40B4-BE49-F238E27FC236}">
                <a16:creationId xmlns:a16="http://schemas.microsoft.com/office/drawing/2014/main" id="{D2CB804B-5680-2E07-0617-73B02FDA153C}"/>
              </a:ext>
            </a:extLst>
          </p:cNvPr>
          <p:cNvSpPr>
            <a:spLocks noChangeArrowheads="1"/>
          </p:cNvSpPr>
          <p:nvPr/>
        </p:nvSpPr>
        <p:spPr bwMode="auto">
          <a:xfrm>
            <a:off x="6362700" y="11087100"/>
            <a:ext cx="28575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id-ID" sz="2700"/>
          </a:p>
        </p:txBody>
      </p:sp>
      <p:sp>
        <p:nvSpPr>
          <p:cNvPr id="9" name="TextBox 8">
            <a:extLst>
              <a:ext uri="{FF2B5EF4-FFF2-40B4-BE49-F238E27FC236}">
                <a16:creationId xmlns:a16="http://schemas.microsoft.com/office/drawing/2014/main" id="{479D43E0-D217-9432-DAEC-753F795508D9}"/>
              </a:ext>
            </a:extLst>
          </p:cNvPr>
          <p:cNvSpPr txBox="1"/>
          <p:nvPr/>
        </p:nvSpPr>
        <p:spPr>
          <a:xfrm>
            <a:off x="3333751" y="12686438"/>
            <a:ext cx="13125450" cy="553998"/>
          </a:xfrm>
          <a:prstGeom prst="rect">
            <a:avLst/>
          </a:prstGeom>
          <a:noFill/>
        </p:spPr>
        <p:txBody>
          <a:bodyPr wrap="square" rtlCol="0">
            <a:spAutoFit/>
          </a:bodyPr>
          <a:lstStyle/>
          <a:p>
            <a:pPr algn="just"/>
            <a:r>
              <a:rPr lang="en-US" sz="1500" dirty="0"/>
              <a:t>Fig 1.22. TCP/IP and OSI model </a:t>
            </a:r>
          </a:p>
          <a:p>
            <a:pPr algn="just"/>
            <a:r>
              <a:rPr lang="en-US" sz="1500" dirty="0"/>
              <a:t>Source : Data Communications and Networking with TCP/IP Protocol Suite. </a:t>
            </a:r>
            <a:r>
              <a:rPr lang="en-US" sz="1500" dirty="0" err="1"/>
              <a:t>Forouzan</a:t>
            </a:r>
            <a:r>
              <a:rPr lang="en-US" sz="1500" dirty="0"/>
              <a:t>, B. A.</a:t>
            </a:r>
          </a:p>
        </p:txBody>
      </p:sp>
      <p:pic>
        <p:nvPicPr>
          <p:cNvPr id="10" name="Picture 9">
            <a:extLst>
              <a:ext uri="{FF2B5EF4-FFF2-40B4-BE49-F238E27FC236}">
                <a16:creationId xmlns:a16="http://schemas.microsoft.com/office/drawing/2014/main" id="{816E6338-863A-36E4-5B30-BF085DCEECA9}"/>
              </a:ext>
            </a:extLst>
          </p:cNvPr>
          <p:cNvPicPr>
            <a:picLocks noChangeAspect="1"/>
          </p:cNvPicPr>
          <p:nvPr/>
        </p:nvPicPr>
        <p:blipFill>
          <a:blip r:embed="rId2"/>
          <a:stretch>
            <a:fillRect/>
          </a:stretch>
        </p:blipFill>
        <p:spPr>
          <a:xfrm>
            <a:off x="5874774" y="3751315"/>
            <a:ext cx="11920652" cy="7335786"/>
          </a:xfrm>
          <a:prstGeom prst="rect">
            <a:avLst/>
          </a:prstGeom>
        </p:spPr>
      </p:pic>
    </p:spTree>
    <p:extLst>
      <p:ext uri="{BB962C8B-B14F-4D97-AF65-F5344CB8AC3E}">
        <p14:creationId xmlns:p14="http://schemas.microsoft.com/office/powerpoint/2010/main" val="361913167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F959C-4953-F280-8F3E-E96B200A7CE2}"/>
              </a:ext>
            </a:extLst>
          </p:cNvPr>
          <p:cNvSpPr>
            <a:spLocks noGrp="1"/>
          </p:cNvSpPr>
          <p:nvPr>
            <p:ph type="title"/>
          </p:nvPr>
        </p:nvSpPr>
        <p:spPr/>
        <p:txBody>
          <a:bodyPr>
            <a:normAutofit fontScale="90000"/>
          </a:bodyPr>
          <a:lstStyle/>
          <a:p>
            <a:r>
              <a:rPr lang="en-US" dirty="0">
                <a:latin typeface="Open Sans ExtraBold" panose="020B0906030804020204" pitchFamily="34" charset="0"/>
                <a:ea typeface="Open Sans ExtraBold" panose="020B0906030804020204" pitchFamily="34" charset="0"/>
                <a:cs typeface="Open Sans ExtraBold" panose="020B0906030804020204" pitchFamily="34" charset="0"/>
              </a:rPr>
              <a:t>References</a:t>
            </a:r>
            <a:endParaRPr lang="en-US" dirty="0"/>
          </a:p>
        </p:txBody>
      </p:sp>
      <p:sp>
        <p:nvSpPr>
          <p:cNvPr id="3" name="Text Placeholder 2">
            <a:extLst>
              <a:ext uri="{FF2B5EF4-FFF2-40B4-BE49-F238E27FC236}">
                <a16:creationId xmlns:a16="http://schemas.microsoft.com/office/drawing/2014/main" id="{D0ED7752-5A55-6930-C9FA-43D826EC4531}"/>
              </a:ext>
            </a:extLst>
          </p:cNvPr>
          <p:cNvSpPr>
            <a:spLocks noGrp="1"/>
          </p:cNvSpPr>
          <p:nvPr>
            <p:ph type="body" sz="quarter" idx="10"/>
          </p:nvPr>
        </p:nvSpPr>
        <p:spPr/>
        <p:txBody>
          <a:bodyPr/>
          <a:lstStyle/>
          <a:p>
            <a:endParaRPr lang="en-US"/>
          </a:p>
        </p:txBody>
      </p:sp>
      <p:sp>
        <p:nvSpPr>
          <p:cNvPr id="5" name="Content Placeholder 2">
            <a:extLst>
              <a:ext uri="{FF2B5EF4-FFF2-40B4-BE49-F238E27FC236}">
                <a16:creationId xmlns:a16="http://schemas.microsoft.com/office/drawing/2014/main" id="{E6ADE253-2CB8-32FF-CDC2-9DA52CF50C57}"/>
              </a:ext>
            </a:extLst>
          </p:cNvPr>
          <p:cNvSpPr>
            <a:spLocks noGrp="1"/>
          </p:cNvSpPr>
          <p:nvPr>
            <p:ph sz="quarter" idx="11"/>
          </p:nvPr>
        </p:nvSpPr>
        <p:spPr>
          <a:xfrm>
            <a:off x="3489157" y="3603028"/>
            <a:ext cx="18480505" cy="8957939"/>
          </a:xfrm>
        </p:spPr>
        <p:txBody>
          <a:bodyPr>
            <a:noAutofit/>
          </a:bodyPr>
          <a:lstStyle/>
          <a:p>
            <a:pPr algn="just"/>
            <a:r>
              <a:rPr lang="en-US" sz="3200" b="1" dirty="0" err="1">
                <a:latin typeface="Open Sans Light" panose="020B0306030504020204" pitchFamily="34" charset="0"/>
                <a:ea typeface="Open Sans Light" panose="020B0306030504020204" pitchFamily="34" charset="0"/>
                <a:cs typeface="Open Sans Light" panose="020B0306030504020204" pitchFamily="34" charset="0"/>
              </a:rPr>
              <a:t>Forouzan</a:t>
            </a: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 B. A. (2021). Data Communications and Networking with TCP/IP Protocol Suite. 6th Ed. New York: McGraw-Hill. ISBN: 978-1-26-436335-3. Chapter 1 and 6.</a:t>
            </a:r>
          </a:p>
          <a:p>
            <a:pPr algn="just"/>
            <a:r>
              <a:rPr lang="en-US" sz="3200" b="1" dirty="0">
                <a:latin typeface="Open Sans Light" panose="020B0306030504020204" pitchFamily="34" charset="0"/>
                <a:ea typeface="Open Sans Light" panose="020B0306030504020204" pitchFamily="34" charset="0"/>
                <a:cs typeface="Open Sans Light" panose="020B0306030504020204" pitchFamily="34" charset="0"/>
              </a:rPr>
              <a:t>https://ecomputernotes.com/computernetworkingnotes/communication-networks/what-is-data-communication</a:t>
            </a:r>
          </a:p>
          <a:p>
            <a:pPr algn="just"/>
            <a:r>
              <a:rPr lang="en-US" sz="3200" b="1" dirty="0">
                <a:latin typeface="Open Sans Light" panose="020B0306030504020204" pitchFamily="34" charset="0"/>
                <a:ea typeface="Open Sans Light" panose="020B0306030504020204" pitchFamily="34" charset="0"/>
                <a:cs typeface="Open Sans Light" panose="020B0306030504020204" pitchFamily="34" charset="0"/>
              </a:rPr>
              <a:t>https://beginnersbook.com/2019/03/computer-network-topology-mesh-star-bus-ring-and-hybrid/</a:t>
            </a:r>
          </a:p>
          <a:p>
            <a:pPr algn="just"/>
            <a:r>
              <a:rPr lang="en-US" sz="3200" b="1" dirty="0">
                <a:latin typeface="Open Sans Light" panose="020B0306030504020204" pitchFamily="34" charset="0"/>
                <a:ea typeface="Open Sans Light" panose="020B0306030504020204" pitchFamily="34" charset="0"/>
                <a:cs typeface="Open Sans Light" panose="020B0306030504020204" pitchFamily="34" charset="0"/>
              </a:rPr>
              <a:t>https://study-ccna.com/osi-tcp-ip-models/</a:t>
            </a:r>
          </a:p>
          <a:p>
            <a:pPr algn="just"/>
            <a:r>
              <a:rPr lang="en-US" sz="3200" b="1" dirty="0">
                <a:latin typeface="Open Sans Light" panose="020B0306030504020204" pitchFamily="34" charset="0"/>
                <a:ea typeface="Open Sans Light" panose="020B0306030504020204" pitchFamily="34" charset="0"/>
                <a:cs typeface="Open Sans Light" panose="020B0306030504020204" pitchFamily="34" charset="0"/>
              </a:rPr>
              <a:t>https://www.youtube.com/watch?v=kCuyS7ihr_E</a:t>
            </a:r>
          </a:p>
          <a:p>
            <a:pPr algn="just"/>
            <a:r>
              <a:rPr lang="en-US" sz="3200" b="1" dirty="0">
                <a:latin typeface="Open Sans Light" panose="020B0306030504020204" pitchFamily="34" charset="0"/>
                <a:ea typeface="Open Sans Light" panose="020B0306030504020204" pitchFamily="34" charset="0"/>
                <a:cs typeface="Open Sans Light" panose="020B0306030504020204" pitchFamily="34" charset="0"/>
              </a:rPr>
              <a:t>https://www.youtube.com/watch?v=Ilk7UXzV_Qc</a:t>
            </a:r>
          </a:p>
          <a:p>
            <a:pPr algn="just"/>
            <a:r>
              <a:rPr lang="en-US" sz="3200" b="1" dirty="0">
                <a:latin typeface="Open Sans Light" panose="020B0306030504020204" pitchFamily="34" charset="0"/>
                <a:ea typeface="Open Sans Light" panose="020B0306030504020204" pitchFamily="34" charset="0"/>
                <a:cs typeface="Open Sans Light" panose="020B0306030504020204" pitchFamily="34" charset="0"/>
              </a:rPr>
              <a:t>https://www.youtube.com/watch?v=2QGgEk20RXM</a:t>
            </a:r>
          </a:p>
        </p:txBody>
      </p:sp>
    </p:spTree>
    <p:extLst>
      <p:ext uri="{BB962C8B-B14F-4D97-AF65-F5344CB8AC3E}">
        <p14:creationId xmlns:p14="http://schemas.microsoft.com/office/powerpoint/2010/main" val="243213615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6EFF-01FA-381F-9102-FFFD76A6EC07}"/>
              </a:ext>
            </a:extLst>
          </p:cNvPr>
          <p:cNvSpPr>
            <a:spLocks noGrp="1"/>
          </p:cNvSpPr>
          <p:nvPr>
            <p:ph type="title"/>
          </p:nvPr>
        </p:nvSpPr>
        <p:spPr/>
        <p:txBody>
          <a:bodyPr>
            <a:normAutofit fontScale="90000"/>
          </a:bodyPr>
          <a:lstStyle/>
          <a:p>
            <a:r>
              <a:rPr lang="en-US" dirty="0"/>
              <a:t>Review Questions</a:t>
            </a:r>
          </a:p>
        </p:txBody>
      </p:sp>
      <p:sp>
        <p:nvSpPr>
          <p:cNvPr id="3" name="Text Placeholder 2">
            <a:extLst>
              <a:ext uri="{FF2B5EF4-FFF2-40B4-BE49-F238E27FC236}">
                <a16:creationId xmlns:a16="http://schemas.microsoft.com/office/drawing/2014/main" id="{106F2E4D-5B98-8BBF-C482-9ABA1F5DD07F}"/>
              </a:ext>
            </a:extLst>
          </p:cNvPr>
          <p:cNvSpPr>
            <a:spLocks noGrp="1"/>
          </p:cNvSpPr>
          <p:nvPr>
            <p:ph type="body" sz="quarter" idx="10"/>
          </p:nvPr>
        </p:nvSpPr>
        <p:spPr/>
        <p:txBody>
          <a:bodyPr/>
          <a:lstStyle/>
          <a:p>
            <a:endParaRPr lang="en-US"/>
          </a:p>
        </p:txBody>
      </p:sp>
      <p:sp>
        <p:nvSpPr>
          <p:cNvPr id="5" name="Content Placeholder 2">
            <a:extLst>
              <a:ext uri="{FF2B5EF4-FFF2-40B4-BE49-F238E27FC236}">
                <a16:creationId xmlns:a16="http://schemas.microsoft.com/office/drawing/2014/main" id="{E1350433-C7E4-BD0D-F3C8-8C04457AFF9C}"/>
              </a:ext>
            </a:extLst>
          </p:cNvPr>
          <p:cNvSpPr txBox="1">
            <a:spLocks/>
          </p:cNvSpPr>
          <p:nvPr/>
        </p:nvSpPr>
        <p:spPr>
          <a:xfrm>
            <a:off x="3104147" y="3651250"/>
            <a:ext cx="18721137" cy="8817840"/>
          </a:xfrm>
          <a:prstGeom prst="rect">
            <a:avLst/>
          </a:prstGeom>
        </p:spPr>
        <p:txBody>
          <a:bodyPr>
            <a:normAutofit/>
          </a:bodyPr>
          <a:lst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914400" indent="-914400">
              <a:buFont typeface="+mj-lt"/>
              <a:buAutoNum type="alphaUcPeriod"/>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For each of the following four networks, discuss the consequences if a connection fails.</a:t>
            </a:r>
          </a:p>
          <a:p>
            <a:pPr marL="914400" lvl="1" indent="0">
              <a:buFontTx/>
              <a:buNone/>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a. Five devices arranged in a mesh topology</a:t>
            </a:r>
          </a:p>
          <a:p>
            <a:pPr marL="914400" lvl="1" indent="0">
              <a:buFontTx/>
              <a:buNone/>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b. Five devices arranged in a star topology (not counting the hub)</a:t>
            </a:r>
          </a:p>
          <a:p>
            <a:pPr marL="914400" lvl="1" indent="0">
              <a:buFontTx/>
              <a:buNone/>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c. Five devices arranged in a bus topology</a:t>
            </a:r>
          </a:p>
          <a:p>
            <a:pPr marL="914400" lvl="1" indent="0">
              <a:buFontTx/>
              <a:buNone/>
            </a:pPr>
            <a:r>
              <a:rPr lang="en-US" sz="3200" b="1" dirty="0">
                <a:solidFill>
                  <a:schemeClr val="bg2">
                    <a:lumMod val="10000"/>
                  </a:schemeClr>
                </a:solidFill>
                <a:latin typeface="Open Sans Light" panose="020B0306030504020204" pitchFamily="34" charset="0"/>
                <a:ea typeface="Open Sans Light" panose="020B0306030504020204" pitchFamily="34" charset="0"/>
                <a:cs typeface="Open Sans Light" panose="020B0306030504020204" pitchFamily="34" charset="0"/>
              </a:rPr>
              <a:t>d. Five devices arranged in a ring topology</a:t>
            </a:r>
          </a:p>
          <a:p>
            <a:pPr marL="914400" lvl="1" indent="0">
              <a:buFontTx/>
              <a:buNone/>
            </a:pP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a:p>
            <a:pPr marL="0" indent="0">
              <a:buFontTx/>
              <a:buNone/>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B. What is the difference between half-duplex and full-duplex transmission modes?</a:t>
            </a:r>
          </a:p>
        </p:txBody>
      </p:sp>
    </p:spTree>
    <p:extLst>
      <p:ext uri="{BB962C8B-B14F-4D97-AF65-F5344CB8AC3E}">
        <p14:creationId xmlns:p14="http://schemas.microsoft.com/office/powerpoint/2010/main" val="1290410836"/>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E48F4F-144E-B982-E51F-76F732804B3A}"/>
              </a:ext>
            </a:extLst>
          </p:cNvPr>
          <p:cNvSpPr>
            <a:spLocks noGrp="1"/>
          </p:cNvSpPr>
          <p:nvPr>
            <p:ph type="body" sz="quarter" idx="1"/>
          </p:nvPr>
        </p:nvSpPr>
        <p:spPr/>
        <p:txBody>
          <a:bodyPr/>
          <a:lstStyle/>
          <a:p>
            <a:endParaRPr lang="en-US"/>
          </a:p>
        </p:txBody>
      </p:sp>
      <p:sp>
        <p:nvSpPr>
          <p:cNvPr id="3" name="Title 2">
            <a:extLst>
              <a:ext uri="{FF2B5EF4-FFF2-40B4-BE49-F238E27FC236}">
                <a16:creationId xmlns:a16="http://schemas.microsoft.com/office/drawing/2014/main" id="{B7D930EC-C957-C09C-7359-7312156E8E93}"/>
              </a:ext>
            </a:extLst>
          </p:cNvPr>
          <p:cNvSpPr>
            <a:spLocks noGrp="1"/>
          </p:cNvSpPr>
          <p:nvPr>
            <p:ph type="title"/>
          </p:nvPr>
        </p:nvSpPr>
        <p:spPr/>
        <p:txBody>
          <a:bodyPr/>
          <a:lstStyle/>
          <a:p>
            <a:r>
              <a:rPr lang="en-US" dirty="0"/>
              <a:t>Thank you</a:t>
            </a:r>
          </a:p>
        </p:txBody>
      </p:sp>
      <p:sp>
        <p:nvSpPr>
          <p:cNvPr id="4" name="Text Placeholder 3">
            <a:extLst>
              <a:ext uri="{FF2B5EF4-FFF2-40B4-BE49-F238E27FC236}">
                <a16:creationId xmlns:a16="http://schemas.microsoft.com/office/drawing/2014/main" id="{FDF18AEA-5401-B692-325F-9E8AD981816E}"/>
              </a:ext>
            </a:extLst>
          </p:cNvPr>
          <p:cNvSpPr>
            <a:spLocks noGrp="1"/>
          </p:cNvSpPr>
          <p:nvPr>
            <p:ph type="body" sz="quarter" idx="10"/>
          </p:nvPr>
        </p:nvSpPr>
        <p:spPr/>
        <p:txBody>
          <a:bodyPr>
            <a:normAutofit lnSpcReduction="10000"/>
          </a:bodyPr>
          <a:lstStyle/>
          <a:p>
            <a:r>
              <a:rPr lang="en-US" dirty="0"/>
              <a:t>December 2024</a:t>
            </a:r>
          </a:p>
        </p:txBody>
      </p:sp>
    </p:spTree>
    <p:extLst>
      <p:ext uri="{BB962C8B-B14F-4D97-AF65-F5344CB8AC3E}">
        <p14:creationId xmlns:p14="http://schemas.microsoft.com/office/powerpoint/2010/main" val="2813413609"/>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2" id="{A9A1C811-4046-44EA-8E0F-7354A0AD2552}" vid="{C3965A57-E83B-4BEA-A297-9AFB7752D311}"/>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ppt binus template</Template>
  <TotalTime>5</TotalTime>
  <Words>1563</Words>
  <Application>Microsoft Office PowerPoint</Application>
  <PresentationFormat>Custom</PresentationFormat>
  <Paragraphs>167</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Open Sans ExtraBold</vt:lpstr>
      <vt:lpstr>Arial</vt:lpstr>
      <vt:lpstr>OCRB</vt:lpstr>
      <vt:lpstr>Open Sans Semibold</vt:lpstr>
      <vt:lpstr>Open Sans Light</vt:lpstr>
      <vt:lpstr>21_BasicWhite</vt:lpstr>
      <vt:lpstr>COMPUTER NETWORKS SESSION 01</vt:lpstr>
      <vt:lpstr>Learning outcomes</vt:lpstr>
      <vt:lpstr>Outline</vt:lpstr>
      <vt:lpstr>Data Communications </vt:lpstr>
      <vt:lpstr>Data Communications</vt:lpstr>
      <vt:lpstr>Data Communications</vt:lpstr>
      <vt:lpstr>Networks</vt:lpstr>
      <vt:lpstr>Networks</vt:lpstr>
      <vt:lpstr>Networks</vt:lpstr>
      <vt:lpstr>Networks</vt:lpstr>
      <vt:lpstr>Networks</vt:lpstr>
      <vt:lpstr>Networks</vt:lpstr>
      <vt:lpstr>Networks types</vt:lpstr>
      <vt:lpstr>Networks types</vt:lpstr>
      <vt:lpstr>Networks types</vt:lpstr>
      <vt:lpstr>Networks types</vt:lpstr>
      <vt:lpstr>Networks types</vt:lpstr>
      <vt:lpstr>Networks types</vt:lpstr>
      <vt:lpstr>The Internet </vt:lpstr>
      <vt:lpstr>The Internet </vt:lpstr>
      <vt:lpstr>Protocol Layering </vt:lpstr>
      <vt:lpstr>Protocol Layering</vt:lpstr>
      <vt:lpstr>TCP/IP Protocol Suite </vt:lpstr>
      <vt:lpstr>TCP/IP Protocol Suite</vt:lpstr>
      <vt:lpstr>TCP/IP Protocol Suite</vt:lpstr>
      <vt:lpstr>TCP/IP Protocol Suite</vt:lpstr>
      <vt:lpstr>OSI Model and TCP/IP Model </vt:lpstr>
      <vt:lpstr>OSI Model and TCP/IP Model </vt:lpstr>
      <vt:lpstr>References</vt:lpstr>
      <vt:lpstr>Review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 Santoso Budijono, M.M.</dc:creator>
  <cp:lastModifiedBy>Ir. Santoso Budijono, M.M.</cp:lastModifiedBy>
  <cp:revision>1</cp:revision>
  <dcterms:created xsi:type="dcterms:W3CDTF">2024-12-13T12:37:16Z</dcterms:created>
  <dcterms:modified xsi:type="dcterms:W3CDTF">2024-12-13T12:42:45Z</dcterms:modified>
</cp:coreProperties>
</file>